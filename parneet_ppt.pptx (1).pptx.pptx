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TT Commons Pro Bold" charset="1" panose="020B0103030102020204"/>
      <p:regular r:id="rId22"/>
    </p:embeddedFont>
    <p:embeddedFont>
      <p:font typeface="TT Commons Pro Bold Italics" charset="1" panose="020B0103030102020204"/>
      <p:regular r:id="rId23"/>
    </p:embeddedFont>
    <p:embeddedFont>
      <p:font typeface="TT Commons Pro" charset="1" panose="020B0103030102020204"/>
      <p:regular r:id="rId24"/>
    </p:embeddedFont>
    <p:embeddedFont>
      <p:font typeface="Consolas Bold" charset="1" panose="020B0709020204030204"/>
      <p:regular r:id="rId29"/>
    </p:embeddedFont>
    <p:embeddedFont>
      <p:font typeface="Georgia Bold" charset="1" panose="020408020504050202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notesSlides/notesSlide2.xml" Type="http://schemas.openxmlformats.org/officeDocument/2006/relationships/notesSlide"/><Relationship Id="rId26" Target="notesSlides/notesSlide3.xml" Type="http://schemas.openxmlformats.org/officeDocument/2006/relationships/notesSlide"/><Relationship Id="rId27" Target="notesSlides/notesSlide4.xml" Type="http://schemas.openxmlformats.org/officeDocument/2006/relationships/notesSlide"/><Relationship Id="rId28" Target="notesSlides/notesSlide5.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13" Target="../media/image11.png" Type="http://schemas.openxmlformats.org/officeDocument/2006/relationships/image"/><Relationship Id="rId14" Target="../media/image12.png" Type="http://schemas.openxmlformats.org/officeDocument/2006/relationships/image"/><Relationship Id="rId15" Target="../media/image13.png" Type="http://schemas.openxmlformats.org/officeDocument/2006/relationships/image"/><Relationship Id="rId16" Target="../media/image14.png" Type="http://schemas.openxmlformats.org/officeDocument/2006/relationships/image"/><Relationship Id="rId17" Target="../media/image15.png" Type="http://schemas.openxmlformats.org/officeDocument/2006/relationships/image"/><Relationship Id="rId18" Target="../media/image16.png" Type="http://schemas.openxmlformats.org/officeDocument/2006/relationships/image"/><Relationship Id="rId19" Target="../media/image17.png" Type="http://schemas.openxmlformats.org/officeDocument/2006/relationships/image"/><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jpe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jpeg" Type="http://schemas.openxmlformats.org/officeDocument/2006/relationships/image"/><Relationship Id="rId11" Target="../media/image7.jpeg" Type="http://schemas.openxmlformats.org/officeDocument/2006/relationships/image"/><Relationship Id="rId12" Target="../media/image25.png" Type="http://schemas.openxmlformats.org/officeDocument/2006/relationships/image"/><Relationship Id="rId13" Target="../media/image26.png" Type="http://schemas.openxmlformats.org/officeDocument/2006/relationships/image"/><Relationship Id="rId14" Target="../media/image27.png" Type="http://schemas.openxmlformats.org/officeDocument/2006/relationships/image"/><Relationship Id="rId15" Target="../media/image28.png" Type="http://schemas.openxmlformats.org/officeDocument/2006/relationships/image"/><Relationship Id="rId16" Target="../media/image29.png" Type="http://schemas.openxmlformats.org/officeDocument/2006/relationships/image"/><Relationship Id="rId17" Target="../media/image30.png" Type="http://schemas.openxmlformats.org/officeDocument/2006/relationships/image"/><Relationship Id="rId18" Target="../media/image31.png" Type="http://schemas.openxmlformats.org/officeDocument/2006/relationships/image"/><Relationship Id="rId19" Target="../media/image32.png" Type="http://schemas.openxmlformats.org/officeDocument/2006/relationships/image"/><Relationship Id="rId2" Target="../notesSlides/notesSlide2.xml" Type="http://schemas.openxmlformats.org/officeDocument/2006/relationships/notesSlide"/><Relationship Id="rId20" Target="../media/image33.png" Type="http://schemas.openxmlformats.org/officeDocument/2006/relationships/image"/><Relationship Id="rId21" Target="../media/image34.png" Type="http://schemas.openxmlformats.org/officeDocument/2006/relationships/image"/><Relationship Id="rId22" Target="../media/image35.png" Type="http://schemas.openxmlformats.org/officeDocument/2006/relationships/image"/><Relationship Id="rId23" Target="../media/image36.png" Type="http://schemas.openxmlformats.org/officeDocument/2006/relationships/image"/><Relationship Id="rId24" Target="../media/image37.png" Type="http://schemas.openxmlformats.org/officeDocument/2006/relationships/image"/><Relationship Id="rId25" Target="../media/image38.jpeg" Type="http://schemas.openxmlformats.org/officeDocument/2006/relationships/image"/><Relationship Id="rId26" Target="../media/image39.png" Type="http://schemas.openxmlformats.org/officeDocument/2006/relationships/image"/><Relationship Id="rId27" Target="../media/image40.png" Type="http://schemas.openxmlformats.org/officeDocument/2006/relationships/image"/><Relationship Id="rId28" Target="../media/image41.png" Type="http://schemas.openxmlformats.org/officeDocument/2006/relationships/image"/><Relationship Id="rId29" Target="../media/image42.png" Type="http://schemas.openxmlformats.org/officeDocument/2006/relationships/image"/><Relationship Id="rId3" Target="../media/image18.jpeg" Type="http://schemas.openxmlformats.org/officeDocument/2006/relationships/image"/><Relationship Id="rId30" Target="../media/image43.png" Type="http://schemas.openxmlformats.org/officeDocument/2006/relationships/image"/><Relationship Id="rId31" Target="../media/image44.png" Type="http://schemas.openxmlformats.org/officeDocument/2006/relationships/image"/><Relationship Id="rId32" Target="../media/image45.png" Type="http://schemas.openxmlformats.org/officeDocument/2006/relationships/image"/><Relationship Id="rId33" Target="../media/image46.png" Type="http://schemas.openxmlformats.org/officeDocument/2006/relationships/image"/><Relationship Id="rId34" Target="../media/image47.png" Type="http://schemas.openxmlformats.org/officeDocument/2006/relationships/image"/><Relationship Id="rId35" Target="../media/image48.png" Type="http://schemas.openxmlformats.org/officeDocument/2006/relationships/image"/><Relationship Id="rId36" Target="../media/image49.png" Type="http://schemas.openxmlformats.org/officeDocument/2006/relationships/image"/><Relationship Id="rId37" Target="../media/image50.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8.png" Type="http://schemas.openxmlformats.org/officeDocument/2006/relationships/image"/><Relationship Id="rId11" Target="../media/image59.svg" Type="http://schemas.openxmlformats.org/officeDocument/2006/relationships/image"/><Relationship Id="rId12" Target="../media/image60.png" Type="http://schemas.openxmlformats.org/officeDocument/2006/relationships/image"/><Relationship Id="rId13" Target="../media/image4.jpeg" Type="http://schemas.openxmlformats.org/officeDocument/2006/relationships/image"/><Relationship Id="rId14" Target="../media/image7.jpeg" Type="http://schemas.openxmlformats.org/officeDocument/2006/relationships/image"/><Relationship Id="rId15" Target="../media/image61.png" Type="http://schemas.openxmlformats.org/officeDocument/2006/relationships/image"/><Relationship Id="rId16" Target="../media/image62.svg" Type="http://schemas.openxmlformats.org/officeDocument/2006/relationships/image"/><Relationship Id="rId17" Target="../media/image63.png" Type="http://schemas.openxmlformats.org/officeDocument/2006/relationships/image"/><Relationship Id="rId18" Target="../media/image64.png" Type="http://schemas.openxmlformats.org/officeDocument/2006/relationships/image"/><Relationship Id="rId19" Target="../media/image65.svg" Type="http://schemas.openxmlformats.org/officeDocument/2006/relationships/image"/><Relationship Id="rId2" Target="../notesSlides/notesSlide3.xml" Type="http://schemas.openxmlformats.org/officeDocument/2006/relationships/notesSlide"/><Relationship Id="rId20" Target="../media/image66.png" Type="http://schemas.openxmlformats.org/officeDocument/2006/relationships/image"/><Relationship Id="rId21" Target="../media/image67.png" Type="http://schemas.openxmlformats.org/officeDocument/2006/relationships/image"/><Relationship Id="rId22" Target="../media/image68.svg" Type="http://schemas.openxmlformats.org/officeDocument/2006/relationships/image"/><Relationship Id="rId23" Target="../media/image69.png" Type="http://schemas.openxmlformats.org/officeDocument/2006/relationships/image"/><Relationship Id="rId24" Target="../media/image70.png" Type="http://schemas.openxmlformats.org/officeDocument/2006/relationships/image"/><Relationship Id="rId25" Target="../media/image71.svg" Type="http://schemas.openxmlformats.org/officeDocument/2006/relationships/image"/><Relationship Id="rId26" Target="../media/image72.png" Type="http://schemas.openxmlformats.org/officeDocument/2006/relationships/image"/><Relationship Id="rId27" Target="../media/image73.png" Type="http://schemas.openxmlformats.org/officeDocument/2006/relationships/image"/><Relationship Id="rId28" Target="../media/image74.svg" Type="http://schemas.openxmlformats.org/officeDocument/2006/relationships/image"/><Relationship Id="rId29" Target="../media/image75.png" Type="http://schemas.openxmlformats.org/officeDocument/2006/relationships/image"/><Relationship Id="rId3" Target="../media/image51.jpeg" Type="http://schemas.openxmlformats.org/officeDocument/2006/relationships/image"/><Relationship Id="rId30" Target="../media/image76.png" Type="http://schemas.openxmlformats.org/officeDocument/2006/relationships/image"/><Relationship Id="rId31" Target="../media/image77.svg" Type="http://schemas.openxmlformats.org/officeDocument/2006/relationships/image"/><Relationship Id="rId32" Target="../media/image78.png" Type="http://schemas.openxmlformats.org/officeDocument/2006/relationships/image"/><Relationship Id="rId33" Target="../media/image79.png" Type="http://schemas.openxmlformats.org/officeDocument/2006/relationships/image"/><Relationship Id="rId34" Target="../media/image80.svg" Type="http://schemas.openxmlformats.org/officeDocument/2006/relationships/image"/><Relationship Id="rId35" Target="../media/image81.png" Type="http://schemas.openxmlformats.org/officeDocument/2006/relationships/image"/><Relationship Id="rId36" Target="../media/image82.png" Type="http://schemas.openxmlformats.org/officeDocument/2006/relationships/image"/><Relationship Id="rId37" Target="../media/image83.svg" Type="http://schemas.openxmlformats.org/officeDocument/2006/relationships/image"/><Relationship Id="rId38" Target="../media/image84.png" Type="http://schemas.openxmlformats.org/officeDocument/2006/relationships/image"/><Relationship Id="rId39" Target="../media/image85.png" Type="http://schemas.openxmlformats.org/officeDocument/2006/relationships/image"/><Relationship Id="rId4" Target="../media/image52.jpeg" Type="http://schemas.openxmlformats.org/officeDocument/2006/relationships/image"/><Relationship Id="rId40" Target="../media/image86.jpeg" Type="http://schemas.openxmlformats.org/officeDocument/2006/relationships/image"/><Relationship Id="rId41" Target="../media/image87.png" Type="http://schemas.openxmlformats.org/officeDocument/2006/relationships/image"/><Relationship Id="rId42" Target="../media/image88.svg" Type="http://schemas.openxmlformats.org/officeDocument/2006/relationships/image"/><Relationship Id="rId43" Target="../media/image89.jpeg" Type="http://schemas.openxmlformats.org/officeDocument/2006/relationships/image"/><Relationship Id="rId44" Target="../media/image90.jpeg" Type="http://schemas.openxmlformats.org/officeDocument/2006/relationships/image"/><Relationship Id="rId45" Target="../media/image91.png" Type="http://schemas.openxmlformats.org/officeDocument/2006/relationships/image"/><Relationship Id="rId46" Target="../media/image92.png" Type="http://schemas.openxmlformats.org/officeDocument/2006/relationships/image"/><Relationship Id="rId47" Target="../media/image93.png" Type="http://schemas.openxmlformats.org/officeDocument/2006/relationships/image"/><Relationship Id="rId48" Target="../media/image94.png" Type="http://schemas.openxmlformats.org/officeDocument/2006/relationships/image"/><Relationship Id="rId49" Target="../media/image95.png" Type="http://schemas.openxmlformats.org/officeDocument/2006/relationships/image"/><Relationship Id="rId5" Target="../media/image53.jpeg" Type="http://schemas.openxmlformats.org/officeDocument/2006/relationships/image"/><Relationship Id="rId50" Target="../media/image96.jpeg" Type="http://schemas.openxmlformats.org/officeDocument/2006/relationships/image"/><Relationship Id="rId51" Target="../media/image97.png" Type="http://schemas.openxmlformats.org/officeDocument/2006/relationships/image"/><Relationship Id="rId52" Target="../media/image98.png" Type="http://schemas.openxmlformats.org/officeDocument/2006/relationships/image"/><Relationship Id="rId53" Target="../media/image99.png" Type="http://schemas.openxmlformats.org/officeDocument/2006/relationships/image"/><Relationship Id="rId54" Target="../media/image100.png" Type="http://schemas.openxmlformats.org/officeDocument/2006/relationships/image"/><Relationship Id="rId55" Target="../media/image101.png" Type="http://schemas.openxmlformats.org/officeDocument/2006/relationships/image"/><Relationship Id="rId56" Target="../media/image102.jpeg" Type="http://schemas.openxmlformats.org/officeDocument/2006/relationships/image"/><Relationship Id="rId57" Target="../media/image103.png" Type="http://schemas.openxmlformats.org/officeDocument/2006/relationships/image"/><Relationship Id="rId58" Target="../media/image104.png" Type="http://schemas.openxmlformats.org/officeDocument/2006/relationships/image"/><Relationship Id="rId59" Target="../media/image105.png" Type="http://schemas.openxmlformats.org/officeDocument/2006/relationships/image"/><Relationship Id="rId6" Target="../media/image54.png" Type="http://schemas.openxmlformats.org/officeDocument/2006/relationships/image"/><Relationship Id="rId60" Target="../media/image106.png" Type="http://schemas.openxmlformats.org/officeDocument/2006/relationships/image"/><Relationship Id="rId61" Target="../media/image107.png" Type="http://schemas.openxmlformats.org/officeDocument/2006/relationships/image"/><Relationship Id="rId62" Target="../media/image108.png" Type="http://schemas.openxmlformats.org/officeDocument/2006/relationships/image"/><Relationship Id="rId63" Target="../media/image50.png" Type="http://schemas.openxmlformats.org/officeDocument/2006/relationships/image"/><Relationship Id="rId7" Target="../media/image55.png" Type="http://schemas.openxmlformats.org/officeDocument/2006/relationships/image"/><Relationship Id="rId8" Target="../media/image56.jpeg" Type="http://schemas.openxmlformats.org/officeDocument/2006/relationships/image"/><Relationship Id="rId9" Target="../media/image5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6.png" Type="http://schemas.openxmlformats.org/officeDocument/2006/relationships/image"/><Relationship Id="rId11" Target="../media/image117.svg" Type="http://schemas.openxmlformats.org/officeDocument/2006/relationships/image"/><Relationship Id="rId12" Target="../media/image4.jpeg" Type="http://schemas.openxmlformats.org/officeDocument/2006/relationships/image"/><Relationship Id="rId13" Target="../media/image7.jpeg" Type="http://schemas.openxmlformats.org/officeDocument/2006/relationships/image"/><Relationship Id="rId14" Target="../media/image118.png" Type="http://schemas.openxmlformats.org/officeDocument/2006/relationships/image"/><Relationship Id="rId15" Target="../media/image119.png" Type="http://schemas.openxmlformats.org/officeDocument/2006/relationships/image"/><Relationship Id="rId16" Target="../media/image120.png" Type="http://schemas.openxmlformats.org/officeDocument/2006/relationships/image"/><Relationship Id="rId17" Target="../media/image121.png" Type="http://schemas.openxmlformats.org/officeDocument/2006/relationships/image"/><Relationship Id="rId18" Target="../media/image122.png" Type="http://schemas.openxmlformats.org/officeDocument/2006/relationships/image"/><Relationship Id="rId19" Target="../media/image123.png" Type="http://schemas.openxmlformats.org/officeDocument/2006/relationships/image"/><Relationship Id="rId2" Target="../notesSlides/notesSlide4.xml" Type="http://schemas.openxmlformats.org/officeDocument/2006/relationships/notesSlide"/><Relationship Id="rId20" Target="../media/image124.png" Type="http://schemas.openxmlformats.org/officeDocument/2006/relationships/image"/><Relationship Id="rId21" Target="../media/image125.png" Type="http://schemas.openxmlformats.org/officeDocument/2006/relationships/image"/><Relationship Id="rId22" Target="../media/image126.jpeg" Type="http://schemas.openxmlformats.org/officeDocument/2006/relationships/image"/><Relationship Id="rId23" Target="../media/image127.png" Type="http://schemas.openxmlformats.org/officeDocument/2006/relationships/image"/><Relationship Id="rId24" Target="../media/image128.png" Type="http://schemas.openxmlformats.org/officeDocument/2006/relationships/image"/><Relationship Id="rId25" Target="../media/image129.png" Type="http://schemas.openxmlformats.org/officeDocument/2006/relationships/image"/><Relationship Id="rId26" Target="../media/image130.png" Type="http://schemas.openxmlformats.org/officeDocument/2006/relationships/image"/><Relationship Id="rId27" Target="../media/image131.png" Type="http://schemas.openxmlformats.org/officeDocument/2006/relationships/image"/><Relationship Id="rId28" Target="../media/image132.png" Type="http://schemas.openxmlformats.org/officeDocument/2006/relationships/image"/><Relationship Id="rId29" Target="../media/image133.png" Type="http://schemas.openxmlformats.org/officeDocument/2006/relationships/image"/><Relationship Id="rId3" Target="../media/image109.jpeg" Type="http://schemas.openxmlformats.org/officeDocument/2006/relationships/image"/><Relationship Id="rId30" Target="../media/image134.png" Type="http://schemas.openxmlformats.org/officeDocument/2006/relationships/image"/><Relationship Id="rId31" Target="../media/image135.svg" Type="http://schemas.openxmlformats.org/officeDocument/2006/relationships/image"/><Relationship Id="rId32" Target="../media/image136.png" Type="http://schemas.openxmlformats.org/officeDocument/2006/relationships/image"/><Relationship Id="rId33" Target="../media/image137.png" Type="http://schemas.openxmlformats.org/officeDocument/2006/relationships/image"/><Relationship Id="rId34" Target="../media/image138.png" Type="http://schemas.openxmlformats.org/officeDocument/2006/relationships/image"/><Relationship Id="rId35" Target="../media/image139.svg" Type="http://schemas.openxmlformats.org/officeDocument/2006/relationships/image"/><Relationship Id="rId36" Target="../media/image140.png" Type="http://schemas.openxmlformats.org/officeDocument/2006/relationships/image"/><Relationship Id="rId37" Target="../media/image141.png" Type="http://schemas.openxmlformats.org/officeDocument/2006/relationships/image"/><Relationship Id="rId38" Target="../media/image142.png" Type="http://schemas.openxmlformats.org/officeDocument/2006/relationships/image"/><Relationship Id="rId39" Target="../media/image143.png" Type="http://schemas.openxmlformats.org/officeDocument/2006/relationships/image"/><Relationship Id="rId4" Target="../media/image110.jpeg" Type="http://schemas.openxmlformats.org/officeDocument/2006/relationships/image"/><Relationship Id="rId40" Target="../media/image144.png" Type="http://schemas.openxmlformats.org/officeDocument/2006/relationships/image"/><Relationship Id="rId41" Target="../media/image145.png" Type="http://schemas.openxmlformats.org/officeDocument/2006/relationships/image"/><Relationship Id="rId42" Target="../media/image146.png" Type="http://schemas.openxmlformats.org/officeDocument/2006/relationships/image"/><Relationship Id="rId43" Target="../media/image147.png" Type="http://schemas.openxmlformats.org/officeDocument/2006/relationships/image"/><Relationship Id="rId44" Target="../media/image148.png" Type="http://schemas.openxmlformats.org/officeDocument/2006/relationships/image"/><Relationship Id="rId45" Target="../media/image149.svg" Type="http://schemas.openxmlformats.org/officeDocument/2006/relationships/image"/><Relationship Id="rId46" Target="../media/image150.png" Type="http://schemas.openxmlformats.org/officeDocument/2006/relationships/image"/><Relationship Id="rId47" Target="../media/image151.png" Type="http://schemas.openxmlformats.org/officeDocument/2006/relationships/image"/><Relationship Id="rId48" Target="../media/image152.png" Type="http://schemas.openxmlformats.org/officeDocument/2006/relationships/image"/><Relationship Id="rId49" Target="../media/image153.png" Type="http://schemas.openxmlformats.org/officeDocument/2006/relationships/image"/><Relationship Id="rId5" Target="../media/image111.png" Type="http://schemas.openxmlformats.org/officeDocument/2006/relationships/image"/><Relationship Id="rId50" Target="../media/image154.jpeg" Type="http://schemas.openxmlformats.org/officeDocument/2006/relationships/image"/><Relationship Id="rId51" Target="../media/image155.png" Type="http://schemas.openxmlformats.org/officeDocument/2006/relationships/image"/><Relationship Id="rId52" Target="../media/image156.png" Type="http://schemas.openxmlformats.org/officeDocument/2006/relationships/image"/><Relationship Id="rId53" Target="../media/image157.png" Type="http://schemas.openxmlformats.org/officeDocument/2006/relationships/image"/><Relationship Id="rId54" Target="../media/image158.png" Type="http://schemas.openxmlformats.org/officeDocument/2006/relationships/image"/><Relationship Id="rId55" Target="../media/image159.png" Type="http://schemas.openxmlformats.org/officeDocument/2006/relationships/image"/><Relationship Id="rId6" Target="../media/image112.svg" Type="http://schemas.openxmlformats.org/officeDocument/2006/relationships/image"/><Relationship Id="rId7" Target="../media/image113.png" Type="http://schemas.openxmlformats.org/officeDocument/2006/relationships/image"/><Relationship Id="rId8" Target="../media/image114.png" Type="http://schemas.openxmlformats.org/officeDocument/2006/relationships/image"/><Relationship Id="rId9" Target="../media/image1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7.png" Type="http://schemas.openxmlformats.org/officeDocument/2006/relationships/image"/><Relationship Id="rId11" Target="../media/image168.png" Type="http://schemas.openxmlformats.org/officeDocument/2006/relationships/image"/><Relationship Id="rId12" Target="../media/image169.png" Type="http://schemas.openxmlformats.org/officeDocument/2006/relationships/image"/><Relationship Id="rId13" Target="../media/image170.png" Type="http://schemas.openxmlformats.org/officeDocument/2006/relationships/image"/><Relationship Id="rId14" Target="../media/image171.svg" Type="http://schemas.openxmlformats.org/officeDocument/2006/relationships/image"/><Relationship Id="rId15" Target="../media/image172.png" Type="http://schemas.openxmlformats.org/officeDocument/2006/relationships/image"/><Relationship Id="rId16" Target="../media/image173.png" Type="http://schemas.openxmlformats.org/officeDocument/2006/relationships/image"/><Relationship Id="rId17" Target="../media/image174.png" Type="http://schemas.openxmlformats.org/officeDocument/2006/relationships/image"/><Relationship Id="rId18" Target="../media/image175.png" Type="http://schemas.openxmlformats.org/officeDocument/2006/relationships/image"/><Relationship Id="rId19" Target="../media/image176.png" Type="http://schemas.openxmlformats.org/officeDocument/2006/relationships/image"/><Relationship Id="rId2" Target="../notesSlides/notesSlide5.xml" Type="http://schemas.openxmlformats.org/officeDocument/2006/relationships/notesSlide"/><Relationship Id="rId20" Target="../media/image177.png" Type="http://schemas.openxmlformats.org/officeDocument/2006/relationships/image"/><Relationship Id="rId21" Target="../media/image178.png" Type="http://schemas.openxmlformats.org/officeDocument/2006/relationships/image"/><Relationship Id="rId22" Target="../media/image4.jpeg" Type="http://schemas.openxmlformats.org/officeDocument/2006/relationships/image"/><Relationship Id="rId23" Target="../media/image7.jpeg" Type="http://schemas.openxmlformats.org/officeDocument/2006/relationships/image"/><Relationship Id="rId24" Target="../media/image179.jpeg" Type="http://schemas.openxmlformats.org/officeDocument/2006/relationships/image"/><Relationship Id="rId25" Target="../media/image180.png" Type="http://schemas.openxmlformats.org/officeDocument/2006/relationships/image"/><Relationship Id="rId26" Target="../media/image181.png" Type="http://schemas.openxmlformats.org/officeDocument/2006/relationships/image"/><Relationship Id="rId27" Target="../media/image182.png" Type="http://schemas.openxmlformats.org/officeDocument/2006/relationships/image"/><Relationship Id="rId28" Target="../media/image183.png" Type="http://schemas.openxmlformats.org/officeDocument/2006/relationships/image"/><Relationship Id="rId29" Target="../media/image184.png" Type="http://schemas.openxmlformats.org/officeDocument/2006/relationships/image"/><Relationship Id="rId3" Target="../media/image160.jpeg" Type="http://schemas.openxmlformats.org/officeDocument/2006/relationships/image"/><Relationship Id="rId30" Target="../media/image185.png" Type="http://schemas.openxmlformats.org/officeDocument/2006/relationships/image"/><Relationship Id="rId31" Target="../media/image186.png" Type="http://schemas.openxmlformats.org/officeDocument/2006/relationships/image"/><Relationship Id="rId32" Target="../media/image187.png" Type="http://schemas.openxmlformats.org/officeDocument/2006/relationships/image"/><Relationship Id="rId33" Target="../media/image188.png" Type="http://schemas.openxmlformats.org/officeDocument/2006/relationships/image"/><Relationship Id="rId34" Target="../media/image189.png" Type="http://schemas.openxmlformats.org/officeDocument/2006/relationships/image"/><Relationship Id="rId35" Target="../media/image190.png" Type="http://schemas.openxmlformats.org/officeDocument/2006/relationships/image"/><Relationship Id="rId36" Target="../media/image191.png" Type="http://schemas.openxmlformats.org/officeDocument/2006/relationships/image"/><Relationship Id="rId37" Target="../media/image192.png" Type="http://schemas.openxmlformats.org/officeDocument/2006/relationships/image"/><Relationship Id="rId38" Target="../media/image193.png" Type="http://schemas.openxmlformats.org/officeDocument/2006/relationships/image"/><Relationship Id="rId39" Target="../media/image50.png" Type="http://schemas.openxmlformats.org/officeDocument/2006/relationships/image"/><Relationship Id="rId4" Target="../media/image161.png" Type="http://schemas.openxmlformats.org/officeDocument/2006/relationships/image"/><Relationship Id="rId5" Target="../media/image162.png" Type="http://schemas.openxmlformats.org/officeDocument/2006/relationships/image"/><Relationship Id="rId6" Target="../media/image163.png" Type="http://schemas.openxmlformats.org/officeDocument/2006/relationships/image"/><Relationship Id="rId7" Target="../media/image164.png" Type="http://schemas.openxmlformats.org/officeDocument/2006/relationships/image"/><Relationship Id="rId8" Target="../media/image165.png" Type="http://schemas.openxmlformats.org/officeDocument/2006/relationships/image"/><Relationship Id="rId9" Target="../media/image16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2.png" Type="http://schemas.openxmlformats.org/officeDocument/2006/relationships/image"/><Relationship Id="rId11" Target="../media/image203.png" Type="http://schemas.openxmlformats.org/officeDocument/2006/relationships/image"/><Relationship Id="rId12" Target="../media/image204.png" Type="http://schemas.openxmlformats.org/officeDocument/2006/relationships/image"/><Relationship Id="rId13" Target="../media/image205.png" Type="http://schemas.openxmlformats.org/officeDocument/2006/relationships/image"/><Relationship Id="rId14" Target="../media/image206.png" Type="http://schemas.openxmlformats.org/officeDocument/2006/relationships/image"/><Relationship Id="rId15" Target="../media/image207.png" Type="http://schemas.openxmlformats.org/officeDocument/2006/relationships/image"/><Relationship Id="rId16" Target="../media/image208.svg" Type="http://schemas.openxmlformats.org/officeDocument/2006/relationships/image"/><Relationship Id="rId17" Target="../media/image4.jpeg" Type="http://schemas.openxmlformats.org/officeDocument/2006/relationships/image"/><Relationship Id="rId18" Target="../media/image7.jpeg" Type="http://schemas.openxmlformats.org/officeDocument/2006/relationships/image"/><Relationship Id="rId19" Target="../media/image209.png" Type="http://schemas.openxmlformats.org/officeDocument/2006/relationships/image"/><Relationship Id="rId2" Target="../media/image194.jpeg" Type="http://schemas.openxmlformats.org/officeDocument/2006/relationships/image"/><Relationship Id="rId20" Target="../media/image210.png" Type="http://schemas.openxmlformats.org/officeDocument/2006/relationships/image"/><Relationship Id="rId21" Target="../media/image211.png" Type="http://schemas.openxmlformats.org/officeDocument/2006/relationships/image"/><Relationship Id="rId22" Target="../media/image212.png" Type="http://schemas.openxmlformats.org/officeDocument/2006/relationships/image"/><Relationship Id="rId23" Target="../media/image213.png" Type="http://schemas.openxmlformats.org/officeDocument/2006/relationships/image"/><Relationship Id="rId24" Target="../media/image214.png" Type="http://schemas.openxmlformats.org/officeDocument/2006/relationships/image"/><Relationship Id="rId25" Target="../media/image215.png" Type="http://schemas.openxmlformats.org/officeDocument/2006/relationships/image"/><Relationship Id="rId26" Target="../media/image216.png" Type="http://schemas.openxmlformats.org/officeDocument/2006/relationships/image"/><Relationship Id="rId27" Target="../media/image217.svg" Type="http://schemas.openxmlformats.org/officeDocument/2006/relationships/image"/><Relationship Id="rId28" Target="../media/image218.png" Type="http://schemas.openxmlformats.org/officeDocument/2006/relationships/image"/><Relationship Id="rId29" Target="../media/image219.png" Type="http://schemas.openxmlformats.org/officeDocument/2006/relationships/image"/><Relationship Id="rId3" Target="../media/image195.png" Type="http://schemas.openxmlformats.org/officeDocument/2006/relationships/image"/><Relationship Id="rId30" Target="../media/image220.svg" Type="http://schemas.openxmlformats.org/officeDocument/2006/relationships/image"/><Relationship Id="rId31" Target="../media/image221.png" Type="http://schemas.openxmlformats.org/officeDocument/2006/relationships/image"/><Relationship Id="rId32" Target="../media/image222.png" Type="http://schemas.openxmlformats.org/officeDocument/2006/relationships/image"/><Relationship Id="rId33" Target="../media/image223.png" Type="http://schemas.openxmlformats.org/officeDocument/2006/relationships/image"/><Relationship Id="rId34" Target="../media/image224.png" Type="http://schemas.openxmlformats.org/officeDocument/2006/relationships/image"/><Relationship Id="rId35" Target="../media/image225.svg" Type="http://schemas.openxmlformats.org/officeDocument/2006/relationships/image"/><Relationship Id="rId36" Target="../media/image226.png" Type="http://schemas.openxmlformats.org/officeDocument/2006/relationships/image"/><Relationship Id="rId37" Target="../media/image227.png" Type="http://schemas.openxmlformats.org/officeDocument/2006/relationships/image"/><Relationship Id="rId38" Target="../media/image228.png" Type="http://schemas.openxmlformats.org/officeDocument/2006/relationships/image"/><Relationship Id="rId39" Target="../media/image229.png" Type="http://schemas.openxmlformats.org/officeDocument/2006/relationships/image"/><Relationship Id="rId4" Target="../media/image196.png" Type="http://schemas.openxmlformats.org/officeDocument/2006/relationships/image"/><Relationship Id="rId40" Target="../media/image230.png" Type="http://schemas.openxmlformats.org/officeDocument/2006/relationships/image"/><Relationship Id="rId41" Target="../media/image231.jpeg" Type="http://schemas.openxmlformats.org/officeDocument/2006/relationships/image"/><Relationship Id="rId42" Target="../media/image232.png" Type="http://schemas.openxmlformats.org/officeDocument/2006/relationships/image"/><Relationship Id="rId43" Target="../media/image233.png" Type="http://schemas.openxmlformats.org/officeDocument/2006/relationships/image"/><Relationship Id="rId44" Target="../media/image234.png" Type="http://schemas.openxmlformats.org/officeDocument/2006/relationships/image"/><Relationship Id="rId45" Target="../media/image235.png" Type="http://schemas.openxmlformats.org/officeDocument/2006/relationships/image"/><Relationship Id="rId46" Target="../media/image236.png" Type="http://schemas.openxmlformats.org/officeDocument/2006/relationships/image"/><Relationship Id="rId47" Target="../media/image237.png" Type="http://schemas.openxmlformats.org/officeDocument/2006/relationships/image"/><Relationship Id="rId48" Target="../media/image238.png" Type="http://schemas.openxmlformats.org/officeDocument/2006/relationships/image"/><Relationship Id="rId49" Target="../media/image239.png" Type="http://schemas.openxmlformats.org/officeDocument/2006/relationships/image"/><Relationship Id="rId5" Target="../media/image197.png" Type="http://schemas.openxmlformats.org/officeDocument/2006/relationships/image"/><Relationship Id="rId50" Target="../media/image240.png" Type="http://schemas.openxmlformats.org/officeDocument/2006/relationships/image"/><Relationship Id="rId51" Target="../media/image241.png" Type="http://schemas.openxmlformats.org/officeDocument/2006/relationships/image"/><Relationship Id="rId52" Target="../media/image242.png" Type="http://schemas.openxmlformats.org/officeDocument/2006/relationships/image"/><Relationship Id="rId53" Target="../media/image243.png" Type="http://schemas.openxmlformats.org/officeDocument/2006/relationships/image"/><Relationship Id="rId54" Target="../media/image244.png" Type="http://schemas.openxmlformats.org/officeDocument/2006/relationships/image"/><Relationship Id="rId55" Target="../media/image245.jpeg" Type="http://schemas.openxmlformats.org/officeDocument/2006/relationships/image"/><Relationship Id="rId56" Target="../media/image246.png" Type="http://schemas.openxmlformats.org/officeDocument/2006/relationships/image"/><Relationship Id="rId57" Target="../media/image247.png" Type="http://schemas.openxmlformats.org/officeDocument/2006/relationships/image"/><Relationship Id="rId58" Target="../media/image248.png" Type="http://schemas.openxmlformats.org/officeDocument/2006/relationships/image"/><Relationship Id="rId59" Target="../media/image249.png" Type="http://schemas.openxmlformats.org/officeDocument/2006/relationships/image"/><Relationship Id="rId6" Target="../media/image198.png" Type="http://schemas.openxmlformats.org/officeDocument/2006/relationships/image"/><Relationship Id="rId60" Target="../media/image250.png" Type="http://schemas.openxmlformats.org/officeDocument/2006/relationships/image"/><Relationship Id="rId61" Target="../media/image251.png" Type="http://schemas.openxmlformats.org/officeDocument/2006/relationships/image"/><Relationship Id="rId62" Target="../media/image252.png" Type="http://schemas.openxmlformats.org/officeDocument/2006/relationships/image"/><Relationship Id="rId63" Target="../media/image253.png" Type="http://schemas.openxmlformats.org/officeDocument/2006/relationships/image"/><Relationship Id="rId64" Target="../media/image254.png" Type="http://schemas.openxmlformats.org/officeDocument/2006/relationships/image"/><Relationship Id="rId65" Target="../media/image255.png" Type="http://schemas.openxmlformats.org/officeDocument/2006/relationships/image"/><Relationship Id="rId66" Target="../media/image256.png" Type="http://schemas.openxmlformats.org/officeDocument/2006/relationships/image"/><Relationship Id="rId67" Target="../media/image257.png" Type="http://schemas.openxmlformats.org/officeDocument/2006/relationships/image"/><Relationship Id="rId68" Target="../media/image258.png" Type="http://schemas.openxmlformats.org/officeDocument/2006/relationships/image"/><Relationship Id="rId69" Target="../media/image259.jpeg" Type="http://schemas.openxmlformats.org/officeDocument/2006/relationships/image"/><Relationship Id="rId7" Target="../media/image199.png" Type="http://schemas.openxmlformats.org/officeDocument/2006/relationships/image"/><Relationship Id="rId70" Target="../media/image260.png" Type="http://schemas.openxmlformats.org/officeDocument/2006/relationships/image"/><Relationship Id="rId71" Target="../media/image261.png" Type="http://schemas.openxmlformats.org/officeDocument/2006/relationships/image"/><Relationship Id="rId72" Target="../media/image262.png" Type="http://schemas.openxmlformats.org/officeDocument/2006/relationships/image"/><Relationship Id="rId73" Target="../media/image263.png" Type="http://schemas.openxmlformats.org/officeDocument/2006/relationships/image"/><Relationship Id="rId74" Target="../media/image264.png" Type="http://schemas.openxmlformats.org/officeDocument/2006/relationships/image"/><Relationship Id="rId75" Target="../media/image265.png" Type="http://schemas.openxmlformats.org/officeDocument/2006/relationships/image"/><Relationship Id="rId76" Target="../media/image266.png" Type="http://schemas.openxmlformats.org/officeDocument/2006/relationships/image"/><Relationship Id="rId77" Target="../media/image267.png" Type="http://schemas.openxmlformats.org/officeDocument/2006/relationships/image"/><Relationship Id="rId78" Target="../media/image268.png" Type="http://schemas.openxmlformats.org/officeDocument/2006/relationships/image"/><Relationship Id="rId79" Target="../media/image269.png" Type="http://schemas.openxmlformats.org/officeDocument/2006/relationships/image"/><Relationship Id="rId8" Target="../media/image200.png" Type="http://schemas.openxmlformats.org/officeDocument/2006/relationships/image"/><Relationship Id="rId80" Target="../media/image270.png" Type="http://schemas.openxmlformats.org/officeDocument/2006/relationships/image"/><Relationship Id="rId9" Target="../media/image20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7.png" Type="http://schemas.openxmlformats.org/officeDocument/2006/relationships/image"/><Relationship Id="rId11" Target="../media/image278.png" Type="http://schemas.openxmlformats.org/officeDocument/2006/relationships/image"/><Relationship Id="rId12" Target="../media/image279.png" Type="http://schemas.openxmlformats.org/officeDocument/2006/relationships/image"/><Relationship Id="rId13" Target="../media/image280.png" Type="http://schemas.openxmlformats.org/officeDocument/2006/relationships/image"/><Relationship Id="rId14" Target="../media/image281.png" Type="http://schemas.openxmlformats.org/officeDocument/2006/relationships/image"/><Relationship Id="rId15" Target="../media/image282.jpeg" Type="http://schemas.openxmlformats.org/officeDocument/2006/relationships/image"/><Relationship Id="rId16" Target="../media/image283.png" Type="http://schemas.openxmlformats.org/officeDocument/2006/relationships/image"/><Relationship Id="rId17" Target="../media/image284.png" Type="http://schemas.openxmlformats.org/officeDocument/2006/relationships/image"/><Relationship Id="rId18" Target="../media/image285.png" Type="http://schemas.openxmlformats.org/officeDocument/2006/relationships/image"/><Relationship Id="rId19" Target="../media/image286.png" Type="http://schemas.openxmlformats.org/officeDocument/2006/relationships/image"/><Relationship Id="rId2" Target="../media/image271.jpeg" Type="http://schemas.openxmlformats.org/officeDocument/2006/relationships/image"/><Relationship Id="rId20" Target="../media/image287.png" Type="http://schemas.openxmlformats.org/officeDocument/2006/relationships/image"/><Relationship Id="rId21" Target="../media/image288.png" Type="http://schemas.openxmlformats.org/officeDocument/2006/relationships/image"/><Relationship Id="rId22" Target="../media/image289.png" Type="http://schemas.openxmlformats.org/officeDocument/2006/relationships/image"/><Relationship Id="rId23" Target="../media/image290.png" Type="http://schemas.openxmlformats.org/officeDocument/2006/relationships/image"/><Relationship Id="rId24" Target="../media/image291.svg" Type="http://schemas.openxmlformats.org/officeDocument/2006/relationships/image"/><Relationship Id="rId25" Target="../media/image292.png" Type="http://schemas.openxmlformats.org/officeDocument/2006/relationships/image"/><Relationship Id="rId26" Target="../media/image293.png" Type="http://schemas.openxmlformats.org/officeDocument/2006/relationships/image"/><Relationship Id="rId27" Target="../media/image294.jpeg" Type="http://schemas.openxmlformats.org/officeDocument/2006/relationships/image"/><Relationship Id="rId28" Target="../media/image295.png" Type="http://schemas.openxmlformats.org/officeDocument/2006/relationships/image"/><Relationship Id="rId29" Target="../media/image296.jpeg" Type="http://schemas.openxmlformats.org/officeDocument/2006/relationships/image"/><Relationship Id="rId3" Target="../media/image272.png" Type="http://schemas.openxmlformats.org/officeDocument/2006/relationships/image"/><Relationship Id="rId30" Target="../media/image297.png" Type="http://schemas.openxmlformats.org/officeDocument/2006/relationships/image"/><Relationship Id="rId31" Target="../media/image298.png" Type="http://schemas.openxmlformats.org/officeDocument/2006/relationships/image"/><Relationship Id="rId32" Target="../media/image299.png" Type="http://schemas.openxmlformats.org/officeDocument/2006/relationships/image"/><Relationship Id="rId33" Target="../media/image300.png" Type="http://schemas.openxmlformats.org/officeDocument/2006/relationships/image"/><Relationship Id="rId34" Target="../media/image301.png" Type="http://schemas.openxmlformats.org/officeDocument/2006/relationships/image"/><Relationship Id="rId35" Target="../media/image302.png" Type="http://schemas.openxmlformats.org/officeDocument/2006/relationships/image"/><Relationship Id="rId36" Target="../media/image303.png" Type="http://schemas.openxmlformats.org/officeDocument/2006/relationships/image"/><Relationship Id="rId37" Target="../media/image304.png" Type="http://schemas.openxmlformats.org/officeDocument/2006/relationships/image"/><Relationship Id="rId38" Target="../media/image305.png" Type="http://schemas.openxmlformats.org/officeDocument/2006/relationships/image"/><Relationship Id="rId39" Target="../media/image306.png" Type="http://schemas.openxmlformats.org/officeDocument/2006/relationships/image"/><Relationship Id="rId4" Target="../media/image273.png" Type="http://schemas.openxmlformats.org/officeDocument/2006/relationships/image"/><Relationship Id="rId40" Target="../media/image307.png" Type="http://schemas.openxmlformats.org/officeDocument/2006/relationships/image"/><Relationship Id="rId41" Target="../media/image308.png" Type="http://schemas.openxmlformats.org/officeDocument/2006/relationships/image"/><Relationship Id="rId42" Target="../media/image309.svg" Type="http://schemas.openxmlformats.org/officeDocument/2006/relationships/image"/><Relationship Id="rId43" Target="../media/image310.jpeg" Type="http://schemas.openxmlformats.org/officeDocument/2006/relationships/image"/><Relationship Id="rId44" Target="../media/image311.png" Type="http://schemas.openxmlformats.org/officeDocument/2006/relationships/image"/><Relationship Id="rId45" Target="../media/image312.png" Type="http://schemas.openxmlformats.org/officeDocument/2006/relationships/image"/><Relationship Id="rId46" Target="../media/image313.svg" Type="http://schemas.openxmlformats.org/officeDocument/2006/relationships/image"/><Relationship Id="rId47" Target="../media/image314.png" Type="http://schemas.openxmlformats.org/officeDocument/2006/relationships/image"/><Relationship Id="rId48" Target="../media/image315.png" Type="http://schemas.openxmlformats.org/officeDocument/2006/relationships/image"/><Relationship Id="rId49" Target="../media/image316.png" Type="http://schemas.openxmlformats.org/officeDocument/2006/relationships/image"/><Relationship Id="rId5" Target="../media/image4.jpeg" Type="http://schemas.openxmlformats.org/officeDocument/2006/relationships/image"/><Relationship Id="rId50" Target="../media/image317.svg" Type="http://schemas.openxmlformats.org/officeDocument/2006/relationships/image"/><Relationship Id="rId51" Target="../media/image318.jpeg" Type="http://schemas.openxmlformats.org/officeDocument/2006/relationships/image"/><Relationship Id="rId52" Target="../media/image319.png" Type="http://schemas.openxmlformats.org/officeDocument/2006/relationships/image"/><Relationship Id="rId53" Target="../media/image320.png" Type="http://schemas.openxmlformats.org/officeDocument/2006/relationships/image"/><Relationship Id="rId54" Target="../media/image321.svg" Type="http://schemas.openxmlformats.org/officeDocument/2006/relationships/image"/><Relationship Id="rId55" Target="../media/image322.png" Type="http://schemas.openxmlformats.org/officeDocument/2006/relationships/image"/><Relationship Id="rId56" Target="../media/image323.jpeg" Type="http://schemas.openxmlformats.org/officeDocument/2006/relationships/image"/><Relationship Id="rId57" Target="../media/image324.png" Type="http://schemas.openxmlformats.org/officeDocument/2006/relationships/image"/><Relationship Id="rId58" Target="../media/image325.jpeg" Type="http://schemas.openxmlformats.org/officeDocument/2006/relationships/image"/><Relationship Id="rId59" Target="../media/image326.png" Type="http://schemas.openxmlformats.org/officeDocument/2006/relationships/image"/><Relationship Id="rId6" Target="../media/image7.jpeg" Type="http://schemas.openxmlformats.org/officeDocument/2006/relationships/image"/><Relationship Id="rId60" Target="../media/image327.jpeg" Type="http://schemas.openxmlformats.org/officeDocument/2006/relationships/image"/><Relationship Id="rId61" Target="../media/image328.png" Type="http://schemas.openxmlformats.org/officeDocument/2006/relationships/image"/><Relationship Id="rId62" Target="../media/image329.jpeg" Type="http://schemas.openxmlformats.org/officeDocument/2006/relationships/image"/><Relationship Id="rId63" Target="../media/image330.png" Type="http://schemas.openxmlformats.org/officeDocument/2006/relationships/image"/><Relationship Id="rId64" Target="../media/image331.jpeg" Type="http://schemas.openxmlformats.org/officeDocument/2006/relationships/image"/><Relationship Id="rId65" Target="../media/image332.png" Type="http://schemas.openxmlformats.org/officeDocument/2006/relationships/image"/><Relationship Id="rId66" Target="../media/image333.jpeg" Type="http://schemas.openxmlformats.org/officeDocument/2006/relationships/image"/><Relationship Id="rId67" Target="../media/image334.png" Type="http://schemas.openxmlformats.org/officeDocument/2006/relationships/image"/><Relationship Id="rId68" Target="../media/image335.jpeg" Type="http://schemas.openxmlformats.org/officeDocument/2006/relationships/image"/><Relationship Id="rId69" Target="../media/image336.png" Type="http://schemas.openxmlformats.org/officeDocument/2006/relationships/image"/><Relationship Id="rId7" Target="../media/image274.png" Type="http://schemas.openxmlformats.org/officeDocument/2006/relationships/image"/><Relationship Id="rId70" Target="../media/image337.jpeg" Type="http://schemas.openxmlformats.org/officeDocument/2006/relationships/image"/><Relationship Id="rId71" Target="../media/image338.png" Type="http://schemas.openxmlformats.org/officeDocument/2006/relationships/image"/><Relationship Id="rId72" Target="../media/image339.svg" Type="http://schemas.openxmlformats.org/officeDocument/2006/relationships/image"/><Relationship Id="rId73" Target="../media/image340.jpeg" Type="http://schemas.openxmlformats.org/officeDocument/2006/relationships/image"/><Relationship Id="rId74" Target="../media/image341.png" Type="http://schemas.openxmlformats.org/officeDocument/2006/relationships/image"/><Relationship Id="rId75" Target="../media/image342.jpeg" Type="http://schemas.openxmlformats.org/officeDocument/2006/relationships/image"/><Relationship Id="rId76" Target="../media/image343.jpeg" Type="http://schemas.openxmlformats.org/officeDocument/2006/relationships/image"/><Relationship Id="rId77" Target="../media/image344.png" Type="http://schemas.openxmlformats.org/officeDocument/2006/relationships/image"/><Relationship Id="rId78" Target="../media/image345.png" Type="http://schemas.openxmlformats.org/officeDocument/2006/relationships/image"/><Relationship Id="rId79" Target="../media/image346.png" Type="http://schemas.openxmlformats.org/officeDocument/2006/relationships/image"/><Relationship Id="rId8" Target="../media/image275.png" Type="http://schemas.openxmlformats.org/officeDocument/2006/relationships/image"/><Relationship Id="rId80" Target="../media/image347.png" Type="http://schemas.openxmlformats.org/officeDocument/2006/relationships/image"/><Relationship Id="rId81" Target="../media/image348.png" Type="http://schemas.openxmlformats.org/officeDocument/2006/relationships/image"/><Relationship Id="rId82" Target="../media/image349.png" Type="http://schemas.openxmlformats.org/officeDocument/2006/relationships/image"/><Relationship Id="rId9" Target="../media/image27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6.png" Type="http://schemas.openxmlformats.org/officeDocument/2006/relationships/image"/><Relationship Id="rId11" Target="../media/image357.png" Type="http://schemas.openxmlformats.org/officeDocument/2006/relationships/image"/><Relationship Id="rId12" Target="../media/image358.svg" Type="http://schemas.openxmlformats.org/officeDocument/2006/relationships/image"/><Relationship Id="rId13" Target="../media/image359.png" Type="http://schemas.openxmlformats.org/officeDocument/2006/relationships/image"/><Relationship Id="rId14" Target="../media/image360.png" Type="http://schemas.openxmlformats.org/officeDocument/2006/relationships/image"/><Relationship Id="rId15" Target="../media/image361.png" Type="http://schemas.openxmlformats.org/officeDocument/2006/relationships/image"/><Relationship Id="rId16" Target="../media/image362.png" Type="http://schemas.openxmlformats.org/officeDocument/2006/relationships/image"/><Relationship Id="rId17" Target="../media/image363.png" Type="http://schemas.openxmlformats.org/officeDocument/2006/relationships/image"/><Relationship Id="rId18" Target="../media/image364.png" Type="http://schemas.openxmlformats.org/officeDocument/2006/relationships/image"/><Relationship Id="rId19" Target="../media/image365.png" Type="http://schemas.openxmlformats.org/officeDocument/2006/relationships/image"/><Relationship Id="rId2" Target="../media/image350.jpeg" Type="http://schemas.openxmlformats.org/officeDocument/2006/relationships/image"/><Relationship Id="rId20" Target="../media/image366.png" Type="http://schemas.openxmlformats.org/officeDocument/2006/relationships/image"/><Relationship Id="rId21" Target="../media/image367.png" Type="http://schemas.openxmlformats.org/officeDocument/2006/relationships/image"/><Relationship Id="rId22" Target="../media/image368.svg" Type="http://schemas.openxmlformats.org/officeDocument/2006/relationships/image"/><Relationship Id="rId23" Target="../media/image369.png" Type="http://schemas.openxmlformats.org/officeDocument/2006/relationships/image"/><Relationship Id="rId24" Target="../media/image370.png" Type="http://schemas.openxmlformats.org/officeDocument/2006/relationships/image"/><Relationship Id="rId25" Target="../media/image371.svg" Type="http://schemas.openxmlformats.org/officeDocument/2006/relationships/image"/><Relationship Id="rId26" Target="../media/image372.png" Type="http://schemas.openxmlformats.org/officeDocument/2006/relationships/image"/><Relationship Id="rId27" Target="../media/image373.png" Type="http://schemas.openxmlformats.org/officeDocument/2006/relationships/image"/><Relationship Id="rId28" Target="../media/image374.jpeg" Type="http://schemas.openxmlformats.org/officeDocument/2006/relationships/image"/><Relationship Id="rId29" Target="../media/image375.png" Type="http://schemas.openxmlformats.org/officeDocument/2006/relationships/image"/><Relationship Id="rId3" Target="../media/image351.png" Type="http://schemas.openxmlformats.org/officeDocument/2006/relationships/image"/><Relationship Id="rId30" Target="../media/image376.png" Type="http://schemas.openxmlformats.org/officeDocument/2006/relationships/image"/><Relationship Id="rId31" Target="../media/image377.png" Type="http://schemas.openxmlformats.org/officeDocument/2006/relationships/image"/><Relationship Id="rId32" Target="../media/image378.png" Type="http://schemas.openxmlformats.org/officeDocument/2006/relationships/image"/><Relationship Id="rId33" Target="../media/image379.png" Type="http://schemas.openxmlformats.org/officeDocument/2006/relationships/image"/><Relationship Id="rId34" Target="../media/image380.png" Type="http://schemas.openxmlformats.org/officeDocument/2006/relationships/image"/><Relationship Id="rId35" Target="../media/image381.jpeg" Type="http://schemas.openxmlformats.org/officeDocument/2006/relationships/image"/><Relationship Id="rId36" Target="../media/image382.png" Type="http://schemas.openxmlformats.org/officeDocument/2006/relationships/image"/><Relationship Id="rId37" Target="../media/image383.png" Type="http://schemas.openxmlformats.org/officeDocument/2006/relationships/image"/><Relationship Id="rId38" Target="../media/image384.png" Type="http://schemas.openxmlformats.org/officeDocument/2006/relationships/image"/><Relationship Id="rId39" Target="../media/image385.png" Type="http://schemas.openxmlformats.org/officeDocument/2006/relationships/image"/><Relationship Id="rId4" Target="../media/image4.jpeg" Type="http://schemas.openxmlformats.org/officeDocument/2006/relationships/image"/><Relationship Id="rId40" Target="../media/image386.svg" Type="http://schemas.openxmlformats.org/officeDocument/2006/relationships/image"/><Relationship Id="rId41" Target="../media/image387.png" Type="http://schemas.openxmlformats.org/officeDocument/2006/relationships/image"/><Relationship Id="rId42" Target="../media/image388.svg" Type="http://schemas.openxmlformats.org/officeDocument/2006/relationships/image"/><Relationship Id="rId43" Target="../media/image389.png" Type="http://schemas.openxmlformats.org/officeDocument/2006/relationships/image"/><Relationship Id="rId44" Target="../media/image390.png" Type="http://schemas.openxmlformats.org/officeDocument/2006/relationships/image"/><Relationship Id="rId45" Target="../media/image391.png" Type="http://schemas.openxmlformats.org/officeDocument/2006/relationships/image"/><Relationship Id="rId46" Target="../media/image392.svg" Type="http://schemas.openxmlformats.org/officeDocument/2006/relationships/image"/><Relationship Id="rId47" Target="../media/image393.jpeg" Type="http://schemas.openxmlformats.org/officeDocument/2006/relationships/image"/><Relationship Id="rId48" Target="../media/image394.png" Type="http://schemas.openxmlformats.org/officeDocument/2006/relationships/image"/><Relationship Id="rId49" Target="../media/image395.png" Type="http://schemas.openxmlformats.org/officeDocument/2006/relationships/image"/><Relationship Id="rId5" Target="../media/image7.jpeg" Type="http://schemas.openxmlformats.org/officeDocument/2006/relationships/image"/><Relationship Id="rId50" Target="../media/image396.png" Type="http://schemas.openxmlformats.org/officeDocument/2006/relationships/image"/><Relationship Id="rId51" Target="../media/image397.png" Type="http://schemas.openxmlformats.org/officeDocument/2006/relationships/image"/><Relationship Id="rId52" Target="../media/image398.png" Type="http://schemas.openxmlformats.org/officeDocument/2006/relationships/image"/><Relationship Id="rId53" Target="../media/image399.png" Type="http://schemas.openxmlformats.org/officeDocument/2006/relationships/image"/><Relationship Id="rId54" Target="../media/image400.png" Type="http://schemas.openxmlformats.org/officeDocument/2006/relationships/image"/><Relationship Id="rId55" Target="../media/image401.png" Type="http://schemas.openxmlformats.org/officeDocument/2006/relationships/image"/><Relationship Id="rId56" Target="../media/image402.png" Type="http://schemas.openxmlformats.org/officeDocument/2006/relationships/image"/><Relationship Id="rId57" Target="../media/image403.png" Type="http://schemas.openxmlformats.org/officeDocument/2006/relationships/image"/><Relationship Id="rId58" Target="../media/image404.svg" Type="http://schemas.openxmlformats.org/officeDocument/2006/relationships/image"/><Relationship Id="rId59" Target="../media/image405.png" Type="http://schemas.openxmlformats.org/officeDocument/2006/relationships/image"/><Relationship Id="rId6" Target="../media/image352.png" Type="http://schemas.openxmlformats.org/officeDocument/2006/relationships/image"/><Relationship Id="rId60" Target="../media/image406.png" Type="http://schemas.openxmlformats.org/officeDocument/2006/relationships/image"/><Relationship Id="rId61" Target="../media/image407.png" Type="http://schemas.openxmlformats.org/officeDocument/2006/relationships/image"/><Relationship Id="rId62" Target="../media/image408.svg" Type="http://schemas.openxmlformats.org/officeDocument/2006/relationships/image"/><Relationship Id="rId63" Target="../media/image409.png" Type="http://schemas.openxmlformats.org/officeDocument/2006/relationships/image"/><Relationship Id="rId64" Target="../media/image410.png" Type="http://schemas.openxmlformats.org/officeDocument/2006/relationships/image"/><Relationship Id="rId65" Target="../media/image411.png" Type="http://schemas.openxmlformats.org/officeDocument/2006/relationships/image"/><Relationship Id="rId66" Target="../media/image412.jpeg" Type="http://schemas.openxmlformats.org/officeDocument/2006/relationships/image"/><Relationship Id="rId67" Target="../media/image413.png" Type="http://schemas.openxmlformats.org/officeDocument/2006/relationships/image"/><Relationship Id="rId68" Target="../media/image414.png" Type="http://schemas.openxmlformats.org/officeDocument/2006/relationships/image"/><Relationship Id="rId69" Target="../media/image415.png" Type="http://schemas.openxmlformats.org/officeDocument/2006/relationships/image"/><Relationship Id="rId7" Target="../media/image353.png" Type="http://schemas.openxmlformats.org/officeDocument/2006/relationships/image"/><Relationship Id="rId70" Target="../media/image416.png" Type="http://schemas.openxmlformats.org/officeDocument/2006/relationships/image"/><Relationship Id="rId71" Target="../media/image417.png" Type="http://schemas.openxmlformats.org/officeDocument/2006/relationships/image"/><Relationship Id="rId72" Target="../media/image418.png" Type="http://schemas.openxmlformats.org/officeDocument/2006/relationships/image"/><Relationship Id="rId73" Target="../media/image419.png" Type="http://schemas.openxmlformats.org/officeDocument/2006/relationships/image"/><Relationship Id="rId74" Target="../media/image420.png" Type="http://schemas.openxmlformats.org/officeDocument/2006/relationships/image"/><Relationship Id="rId75" Target="../media/image421.png" Type="http://schemas.openxmlformats.org/officeDocument/2006/relationships/image"/><Relationship Id="rId8" Target="../media/image354.png" Type="http://schemas.openxmlformats.org/officeDocument/2006/relationships/image"/><Relationship Id="rId9" Target="../media/image35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8.png" Type="http://schemas.openxmlformats.org/officeDocument/2006/relationships/image"/><Relationship Id="rId11" Target="../media/image429.png" Type="http://schemas.openxmlformats.org/officeDocument/2006/relationships/image"/><Relationship Id="rId12" Target="../media/image430.png" Type="http://schemas.openxmlformats.org/officeDocument/2006/relationships/image"/><Relationship Id="rId13" Target="../media/image431.png" Type="http://schemas.openxmlformats.org/officeDocument/2006/relationships/image"/><Relationship Id="rId14" Target="../media/image432.png" Type="http://schemas.openxmlformats.org/officeDocument/2006/relationships/image"/><Relationship Id="rId15" Target="../media/image433.png" Type="http://schemas.openxmlformats.org/officeDocument/2006/relationships/image"/><Relationship Id="rId16" Target="../media/image434.png" Type="http://schemas.openxmlformats.org/officeDocument/2006/relationships/image"/><Relationship Id="rId17" Target="../media/image435.png" Type="http://schemas.openxmlformats.org/officeDocument/2006/relationships/image"/><Relationship Id="rId18" Target="../media/image436.png" Type="http://schemas.openxmlformats.org/officeDocument/2006/relationships/image"/><Relationship Id="rId19" Target="../media/image437.png" Type="http://schemas.openxmlformats.org/officeDocument/2006/relationships/image"/><Relationship Id="rId2" Target="../media/image422.jpeg" Type="http://schemas.openxmlformats.org/officeDocument/2006/relationships/image"/><Relationship Id="rId20" Target="../media/image438.png" Type="http://schemas.openxmlformats.org/officeDocument/2006/relationships/image"/><Relationship Id="rId21" Target="../media/image439.png" Type="http://schemas.openxmlformats.org/officeDocument/2006/relationships/image"/><Relationship Id="rId22" Target="../media/image440.svg" Type="http://schemas.openxmlformats.org/officeDocument/2006/relationships/image"/><Relationship Id="rId23" Target="../media/image441.png" Type="http://schemas.openxmlformats.org/officeDocument/2006/relationships/image"/><Relationship Id="rId24" Target="../media/image442.png" Type="http://schemas.openxmlformats.org/officeDocument/2006/relationships/image"/><Relationship Id="rId25" Target="../media/image443.png" Type="http://schemas.openxmlformats.org/officeDocument/2006/relationships/image"/><Relationship Id="rId26" Target="../media/image444.svg" Type="http://schemas.openxmlformats.org/officeDocument/2006/relationships/image"/><Relationship Id="rId27" Target="../media/image445.png" Type="http://schemas.openxmlformats.org/officeDocument/2006/relationships/image"/><Relationship Id="rId28" Target="../media/image446.png" Type="http://schemas.openxmlformats.org/officeDocument/2006/relationships/image"/><Relationship Id="rId29" Target="../media/image447.jpeg" Type="http://schemas.openxmlformats.org/officeDocument/2006/relationships/image"/><Relationship Id="rId3" Target="../media/image4.jpeg" Type="http://schemas.openxmlformats.org/officeDocument/2006/relationships/image"/><Relationship Id="rId30" Target="../media/image448.png" Type="http://schemas.openxmlformats.org/officeDocument/2006/relationships/image"/><Relationship Id="rId31" Target="../media/image449.png" Type="http://schemas.openxmlformats.org/officeDocument/2006/relationships/image"/><Relationship Id="rId32" Target="../media/image450.png" Type="http://schemas.openxmlformats.org/officeDocument/2006/relationships/image"/><Relationship Id="rId33" Target="../media/image451.png" Type="http://schemas.openxmlformats.org/officeDocument/2006/relationships/image"/><Relationship Id="rId34" Target="../media/image452.png" Type="http://schemas.openxmlformats.org/officeDocument/2006/relationships/image"/><Relationship Id="rId35" Target="../media/image453.png" Type="http://schemas.openxmlformats.org/officeDocument/2006/relationships/image"/><Relationship Id="rId36" Target="../media/image454.png" Type="http://schemas.openxmlformats.org/officeDocument/2006/relationships/image"/><Relationship Id="rId37" Target="../media/image455.png" Type="http://schemas.openxmlformats.org/officeDocument/2006/relationships/image"/><Relationship Id="rId38" Target="../media/image456.png" Type="http://schemas.openxmlformats.org/officeDocument/2006/relationships/image"/><Relationship Id="rId39" Target="../media/image457.jpeg" Type="http://schemas.openxmlformats.org/officeDocument/2006/relationships/image"/><Relationship Id="rId4" Target="../media/image7.jpeg" Type="http://schemas.openxmlformats.org/officeDocument/2006/relationships/image"/><Relationship Id="rId40" Target="../media/image458.png" Type="http://schemas.openxmlformats.org/officeDocument/2006/relationships/image"/><Relationship Id="rId41" Target="../media/image459.svg" Type="http://schemas.openxmlformats.org/officeDocument/2006/relationships/image"/><Relationship Id="rId42" Target="../media/image460.png" Type="http://schemas.openxmlformats.org/officeDocument/2006/relationships/image"/><Relationship Id="rId43" Target="../media/image461.png" Type="http://schemas.openxmlformats.org/officeDocument/2006/relationships/image"/><Relationship Id="rId44" Target="../media/image462.png" Type="http://schemas.openxmlformats.org/officeDocument/2006/relationships/image"/><Relationship Id="rId45" Target="../media/image463.svg" Type="http://schemas.openxmlformats.org/officeDocument/2006/relationships/image"/><Relationship Id="rId46" Target="../media/image464.png" Type="http://schemas.openxmlformats.org/officeDocument/2006/relationships/image"/><Relationship Id="rId47" Target="../media/image465.png" Type="http://schemas.openxmlformats.org/officeDocument/2006/relationships/image"/><Relationship Id="rId48" Target="../media/image466.png" Type="http://schemas.openxmlformats.org/officeDocument/2006/relationships/image"/><Relationship Id="rId49" Target="../media/image467.svg" Type="http://schemas.openxmlformats.org/officeDocument/2006/relationships/image"/><Relationship Id="rId5" Target="../media/image423.png" Type="http://schemas.openxmlformats.org/officeDocument/2006/relationships/image"/><Relationship Id="rId50" Target="../media/image468.png" Type="http://schemas.openxmlformats.org/officeDocument/2006/relationships/image"/><Relationship Id="rId51" Target="../media/image469.png" Type="http://schemas.openxmlformats.org/officeDocument/2006/relationships/image"/><Relationship Id="rId52" Target="../media/image470.png" Type="http://schemas.openxmlformats.org/officeDocument/2006/relationships/image"/><Relationship Id="rId53" Target="../media/image471.jpeg" Type="http://schemas.openxmlformats.org/officeDocument/2006/relationships/image"/><Relationship Id="rId54" Target="../media/image472.png" Type="http://schemas.openxmlformats.org/officeDocument/2006/relationships/image"/><Relationship Id="rId55" Target="../media/image473.png" Type="http://schemas.openxmlformats.org/officeDocument/2006/relationships/image"/><Relationship Id="rId6" Target="../media/image424.png" Type="http://schemas.openxmlformats.org/officeDocument/2006/relationships/image"/><Relationship Id="rId7" Target="../media/image425.png" Type="http://schemas.openxmlformats.org/officeDocument/2006/relationships/image"/><Relationship Id="rId8" Target="../media/image426.png" Type="http://schemas.openxmlformats.org/officeDocument/2006/relationships/image"/><Relationship Id="rId9" Target="../media/image42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4.png" Type="http://schemas.openxmlformats.org/officeDocument/2006/relationships/image"/><Relationship Id="rId3" Target="../media/image475.png" Type="http://schemas.openxmlformats.org/officeDocument/2006/relationships/image"/><Relationship Id="rId4" Target="../media/image476.png" Type="http://schemas.openxmlformats.org/officeDocument/2006/relationships/image"/><Relationship Id="rId5" Target="../media/image477.png" Type="http://schemas.openxmlformats.org/officeDocument/2006/relationships/image"/><Relationship Id="rId6" Target="../media/image47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5.png" Type="http://schemas.openxmlformats.org/officeDocument/2006/relationships/image"/><Relationship Id="rId11" Target="../media/image486.png" Type="http://schemas.openxmlformats.org/officeDocument/2006/relationships/image"/><Relationship Id="rId12" Target="../media/image487.png" Type="http://schemas.openxmlformats.org/officeDocument/2006/relationships/image"/><Relationship Id="rId13" Target="../media/image488.png" Type="http://schemas.openxmlformats.org/officeDocument/2006/relationships/image"/><Relationship Id="rId14" Target="../media/image489.png" Type="http://schemas.openxmlformats.org/officeDocument/2006/relationships/image"/><Relationship Id="rId15" Target="../media/image490.png" Type="http://schemas.openxmlformats.org/officeDocument/2006/relationships/image"/><Relationship Id="rId16" Target="../media/image491.png" Type="http://schemas.openxmlformats.org/officeDocument/2006/relationships/image"/><Relationship Id="rId17" Target="../media/image492.png" Type="http://schemas.openxmlformats.org/officeDocument/2006/relationships/image"/><Relationship Id="rId18" Target="../media/image493.png" Type="http://schemas.openxmlformats.org/officeDocument/2006/relationships/image"/><Relationship Id="rId19" Target="../media/image494.png" Type="http://schemas.openxmlformats.org/officeDocument/2006/relationships/image"/><Relationship Id="rId2" Target="../media/image479.png" Type="http://schemas.openxmlformats.org/officeDocument/2006/relationships/image"/><Relationship Id="rId20" Target="../media/image495.svg" Type="http://schemas.openxmlformats.org/officeDocument/2006/relationships/image"/><Relationship Id="rId21" Target="../media/image496.png" Type="http://schemas.openxmlformats.org/officeDocument/2006/relationships/image"/><Relationship Id="rId22" Target="../media/image497.png" Type="http://schemas.openxmlformats.org/officeDocument/2006/relationships/image"/><Relationship Id="rId23" Target="../media/image498.png" Type="http://schemas.openxmlformats.org/officeDocument/2006/relationships/image"/><Relationship Id="rId24" Target="../media/image499.png" Type="http://schemas.openxmlformats.org/officeDocument/2006/relationships/image"/><Relationship Id="rId25" Target="../media/image500.png" Type="http://schemas.openxmlformats.org/officeDocument/2006/relationships/image"/><Relationship Id="rId26" Target="../media/image501.png" Type="http://schemas.openxmlformats.org/officeDocument/2006/relationships/image"/><Relationship Id="rId27" Target="../media/image502.png" Type="http://schemas.openxmlformats.org/officeDocument/2006/relationships/image"/><Relationship Id="rId28" Target="../media/image503.svg" Type="http://schemas.openxmlformats.org/officeDocument/2006/relationships/image"/><Relationship Id="rId29" Target="../media/image504.jpeg" Type="http://schemas.openxmlformats.org/officeDocument/2006/relationships/image"/><Relationship Id="rId3" Target="../media/image480.png" Type="http://schemas.openxmlformats.org/officeDocument/2006/relationships/image"/><Relationship Id="rId30" Target="../media/image505.png" Type="http://schemas.openxmlformats.org/officeDocument/2006/relationships/image"/><Relationship Id="rId31" Target="../media/image506.png" Type="http://schemas.openxmlformats.org/officeDocument/2006/relationships/image"/><Relationship Id="rId32" Target="../media/image507.png" Type="http://schemas.openxmlformats.org/officeDocument/2006/relationships/image"/><Relationship Id="rId33" Target="../media/image508.png" Type="http://schemas.openxmlformats.org/officeDocument/2006/relationships/image"/><Relationship Id="rId34" Target="../media/image509.png" Type="http://schemas.openxmlformats.org/officeDocument/2006/relationships/image"/><Relationship Id="rId35" Target="../media/image510.png" Type="http://schemas.openxmlformats.org/officeDocument/2006/relationships/image"/><Relationship Id="rId36" Target="../media/image511.png" Type="http://schemas.openxmlformats.org/officeDocument/2006/relationships/image"/><Relationship Id="rId37" Target="../media/image512.svg" Type="http://schemas.openxmlformats.org/officeDocument/2006/relationships/image"/><Relationship Id="rId38" Target="../media/image513.png" Type="http://schemas.openxmlformats.org/officeDocument/2006/relationships/image"/><Relationship Id="rId39" Target="../media/image514.png" Type="http://schemas.openxmlformats.org/officeDocument/2006/relationships/image"/><Relationship Id="rId4" Target="../media/image481.png" Type="http://schemas.openxmlformats.org/officeDocument/2006/relationships/image"/><Relationship Id="rId40" Target="../media/image515.svg" Type="http://schemas.openxmlformats.org/officeDocument/2006/relationships/image"/><Relationship Id="rId41" Target="../media/image516.png" Type="http://schemas.openxmlformats.org/officeDocument/2006/relationships/image"/><Relationship Id="rId42" Target="../media/image517.jpeg" Type="http://schemas.openxmlformats.org/officeDocument/2006/relationships/image"/><Relationship Id="rId43" Target="../media/image518.png" Type="http://schemas.openxmlformats.org/officeDocument/2006/relationships/image"/><Relationship Id="rId44" Target="../media/image519.png" Type="http://schemas.openxmlformats.org/officeDocument/2006/relationships/image"/><Relationship Id="rId45" Target="../media/image520.svg" Type="http://schemas.openxmlformats.org/officeDocument/2006/relationships/image"/><Relationship Id="rId46" Target="../media/image521.png" Type="http://schemas.openxmlformats.org/officeDocument/2006/relationships/image"/><Relationship Id="rId47" Target="../media/image522.png" Type="http://schemas.openxmlformats.org/officeDocument/2006/relationships/image"/><Relationship Id="rId48" Target="../media/image523.svg" Type="http://schemas.openxmlformats.org/officeDocument/2006/relationships/image"/><Relationship Id="rId49" Target="../media/image524.jpeg" Type="http://schemas.openxmlformats.org/officeDocument/2006/relationships/image"/><Relationship Id="rId5" Target="../media/image482.jpeg" Type="http://schemas.openxmlformats.org/officeDocument/2006/relationships/image"/><Relationship Id="rId50" Target="../media/image525.png" Type="http://schemas.openxmlformats.org/officeDocument/2006/relationships/image"/><Relationship Id="rId51" Target="../media/image526.svg" Type="http://schemas.openxmlformats.org/officeDocument/2006/relationships/image"/><Relationship Id="rId52" Target="../media/image527.jpeg" Type="http://schemas.openxmlformats.org/officeDocument/2006/relationships/image"/><Relationship Id="rId53" Target="../media/image528.png" Type="http://schemas.openxmlformats.org/officeDocument/2006/relationships/image"/><Relationship Id="rId54" Target="../media/image529.png" Type="http://schemas.openxmlformats.org/officeDocument/2006/relationships/image"/><Relationship Id="rId55" Target="../media/image530.svg" Type="http://schemas.openxmlformats.org/officeDocument/2006/relationships/image"/><Relationship Id="rId56" Target="../media/image531.png" Type="http://schemas.openxmlformats.org/officeDocument/2006/relationships/image"/><Relationship Id="rId57" Target="../media/image532.png" Type="http://schemas.openxmlformats.org/officeDocument/2006/relationships/image"/><Relationship Id="rId58" Target="../media/image533.png" Type="http://schemas.openxmlformats.org/officeDocument/2006/relationships/image"/><Relationship Id="rId59" Target="../media/image534.jpeg" Type="http://schemas.openxmlformats.org/officeDocument/2006/relationships/image"/><Relationship Id="rId6" Target="../media/image483.png" Type="http://schemas.openxmlformats.org/officeDocument/2006/relationships/image"/><Relationship Id="rId60" Target="../media/image535.png" Type="http://schemas.openxmlformats.org/officeDocument/2006/relationships/image"/><Relationship Id="rId61" Target="../media/image536.png" Type="http://schemas.openxmlformats.org/officeDocument/2006/relationships/image"/><Relationship Id="rId62" Target="../media/image537.png" Type="http://schemas.openxmlformats.org/officeDocument/2006/relationships/image"/><Relationship Id="rId63" Target="../media/image538.png" Type="http://schemas.openxmlformats.org/officeDocument/2006/relationships/image"/><Relationship Id="rId64" Target="../media/image539.png" Type="http://schemas.openxmlformats.org/officeDocument/2006/relationships/image"/><Relationship Id="rId65" Target="../media/image540.png" Type="http://schemas.openxmlformats.org/officeDocument/2006/relationships/image"/><Relationship Id="rId66" Target="../media/image541.png" Type="http://schemas.openxmlformats.org/officeDocument/2006/relationships/image"/><Relationship Id="rId67" Target="../media/image542.png" Type="http://schemas.openxmlformats.org/officeDocument/2006/relationships/image"/><Relationship Id="rId68" Target="../media/image543.png" Type="http://schemas.openxmlformats.org/officeDocument/2006/relationships/image"/><Relationship Id="rId69" Target="../media/image544.png" Type="http://schemas.openxmlformats.org/officeDocument/2006/relationships/image"/><Relationship Id="rId7" Target="../media/image484.jpeg" Type="http://schemas.openxmlformats.org/officeDocument/2006/relationships/image"/><Relationship Id="rId70" Target="../media/image545.svg" Type="http://schemas.openxmlformats.org/officeDocument/2006/relationships/image"/><Relationship Id="rId71" Target="../media/image546.png" Type="http://schemas.openxmlformats.org/officeDocument/2006/relationships/image"/><Relationship Id="rId72" Target="../media/image547.png" Type="http://schemas.openxmlformats.org/officeDocument/2006/relationships/image"/><Relationship Id="rId73" Target="../media/image548.png" Type="http://schemas.openxmlformats.org/officeDocument/2006/relationships/image"/><Relationship Id="rId74" Target="../media/image549.png" Type="http://schemas.openxmlformats.org/officeDocument/2006/relationships/image"/><Relationship Id="rId75" Target="../media/image550.png" Type="http://schemas.openxmlformats.org/officeDocument/2006/relationships/image"/><Relationship Id="rId76" Target="../media/image551.png" Type="http://schemas.openxmlformats.org/officeDocument/2006/relationships/image"/><Relationship Id="rId77" Target="../media/image552.png" Type="http://schemas.openxmlformats.org/officeDocument/2006/relationships/image"/><Relationship Id="rId78" Target="../media/image553.png" Type="http://schemas.openxmlformats.org/officeDocument/2006/relationships/image"/><Relationship Id="rId8" Target="../media/image4.jpeg" Type="http://schemas.openxmlformats.org/officeDocument/2006/relationships/image"/><Relationship Id="rId9" Target="../media/image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0.png" Type="http://schemas.openxmlformats.org/officeDocument/2006/relationships/image"/><Relationship Id="rId11" Target="../media/image561.png" Type="http://schemas.openxmlformats.org/officeDocument/2006/relationships/image"/><Relationship Id="rId12" Target="../media/image562.png" Type="http://schemas.openxmlformats.org/officeDocument/2006/relationships/image"/><Relationship Id="rId13" Target="../media/image563.png" Type="http://schemas.openxmlformats.org/officeDocument/2006/relationships/image"/><Relationship Id="rId14" Target="../media/image564.png" Type="http://schemas.openxmlformats.org/officeDocument/2006/relationships/image"/><Relationship Id="rId15" Target="../media/image553.png" Type="http://schemas.openxmlformats.org/officeDocument/2006/relationships/image"/><Relationship Id="rId16" Target="../media/image565.png" Type="http://schemas.openxmlformats.org/officeDocument/2006/relationships/image"/><Relationship Id="rId17" Target="../media/image566.png" Type="http://schemas.openxmlformats.org/officeDocument/2006/relationships/image"/><Relationship Id="rId18" Target="../media/image567.png" Type="http://schemas.openxmlformats.org/officeDocument/2006/relationships/image"/><Relationship Id="rId19" Target="../media/image568.svg" Type="http://schemas.openxmlformats.org/officeDocument/2006/relationships/image"/><Relationship Id="rId2" Target="../media/image554.jpeg" Type="http://schemas.openxmlformats.org/officeDocument/2006/relationships/image"/><Relationship Id="rId20" Target="../media/image569.png" Type="http://schemas.openxmlformats.org/officeDocument/2006/relationships/image"/><Relationship Id="rId21" Target="../media/image570.png" Type="http://schemas.openxmlformats.org/officeDocument/2006/relationships/image"/><Relationship Id="rId22" Target="../media/image571.png" Type="http://schemas.openxmlformats.org/officeDocument/2006/relationships/image"/><Relationship Id="rId23" Target="../media/image572.svg" Type="http://schemas.openxmlformats.org/officeDocument/2006/relationships/image"/><Relationship Id="rId24" Target="../media/image573.png" Type="http://schemas.openxmlformats.org/officeDocument/2006/relationships/image"/><Relationship Id="rId25" Target="../media/image574.png" Type="http://schemas.openxmlformats.org/officeDocument/2006/relationships/image"/><Relationship Id="rId26" Target="../media/image575.png" Type="http://schemas.openxmlformats.org/officeDocument/2006/relationships/image"/><Relationship Id="rId27" Target="../media/image576.png" Type="http://schemas.openxmlformats.org/officeDocument/2006/relationships/image"/><Relationship Id="rId28" Target="../media/image577.png" Type="http://schemas.openxmlformats.org/officeDocument/2006/relationships/image"/><Relationship Id="rId29" Target="../media/image578.svg" Type="http://schemas.openxmlformats.org/officeDocument/2006/relationships/image"/><Relationship Id="rId3" Target="../media/image555.png" Type="http://schemas.openxmlformats.org/officeDocument/2006/relationships/image"/><Relationship Id="rId30" Target="../media/image579.png" Type="http://schemas.openxmlformats.org/officeDocument/2006/relationships/image"/><Relationship Id="rId31" Target="../media/image580.png" Type="http://schemas.openxmlformats.org/officeDocument/2006/relationships/image"/><Relationship Id="rId32" Target="../media/image581.png" Type="http://schemas.openxmlformats.org/officeDocument/2006/relationships/image"/><Relationship Id="rId33" Target="../media/image582.svg" Type="http://schemas.openxmlformats.org/officeDocument/2006/relationships/image"/><Relationship Id="rId34" Target="../media/image583.png" Type="http://schemas.openxmlformats.org/officeDocument/2006/relationships/image"/><Relationship Id="rId35" Target="../media/image584.png" Type="http://schemas.openxmlformats.org/officeDocument/2006/relationships/image"/><Relationship Id="rId36" Target="../media/image585.png" Type="http://schemas.openxmlformats.org/officeDocument/2006/relationships/image"/><Relationship Id="rId37" Target="../media/image586.jpeg" Type="http://schemas.openxmlformats.org/officeDocument/2006/relationships/image"/><Relationship Id="rId38" Target="../media/image587.png" Type="http://schemas.openxmlformats.org/officeDocument/2006/relationships/image"/><Relationship Id="rId39" Target="../media/image588.png" Type="http://schemas.openxmlformats.org/officeDocument/2006/relationships/image"/><Relationship Id="rId4" Target="../media/image4.jpeg" Type="http://schemas.openxmlformats.org/officeDocument/2006/relationships/image"/><Relationship Id="rId40" Target="../media/image589.png" Type="http://schemas.openxmlformats.org/officeDocument/2006/relationships/image"/><Relationship Id="rId41" Target="../media/image590.png" Type="http://schemas.openxmlformats.org/officeDocument/2006/relationships/image"/><Relationship Id="rId42" Target="../media/image591.png" Type="http://schemas.openxmlformats.org/officeDocument/2006/relationships/image"/><Relationship Id="rId43" Target="../media/image592.png" Type="http://schemas.openxmlformats.org/officeDocument/2006/relationships/image"/><Relationship Id="rId44" Target="../media/image593.png" Type="http://schemas.openxmlformats.org/officeDocument/2006/relationships/image"/><Relationship Id="rId45" Target="../media/image594.png" Type="http://schemas.openxmlformats.org/officeDocument/2006/relationships/image"/><Relationship Id="rId46" Target="../media/image595.png" Type="http://schemas.openxmlformats.org/officeDocument/2006/relationships/image"/><Relationship Id="rId47" Target="../media/image596.png" Type="http://schemas.openxmlformats.org/officeDocument/2006/relationships/image"/><Relationship Id="rId48" Target="../media/image597.png" Type="http://schemas.openxmlformats.org/officeDocument/2006/relationships/image"/><Relationship Id="rId49" Target="../media/image598.png" Type="http://schemas.openxmlformats.org/officeDocument/2006/relationships/image"/><Relationship Id="rId5" Target="../media/image7.jpeg" Type="http://schemas.openxmlformats.org/officeDocument/2006/relationships/image"/><Relationship Id="rId50" Target="../media/image599.jpeg" Type="http://schemas.openxmlformats.org/officeDocument/2006/relationships/image"/><Relationship Id="rId51" Target="../media/image600.png" Type="http://schemas.openxmlformats.org/officeDocument/2006/relationships/image"/><Relationship Id="rId52" Target="../media/image601.jpeg" Type="http://schemas.openxmlformats.org/officeDocument/2006/relationships/image"/><Relationship Id="rId53" Target="../media/image602.jpeg" Type="http://schemas.openxmlformats.org/officeDocument/2006/relationships/image"/><Relationship Id="rId54" Target="../media/image603.png" Type="http://schemas.openxmlformats.org/officeDocument/2006/relationships/image"/><Relationship Id="rId55" Target="../media/image604.png" Type="http://schemas.openxmlformats.org/officeDocument/2006/relationships/image"/><Relationship Id="rId56" Target="../media/image605.png" Type="http://schemas.openxmlformats.org/officeDocument/2006/relationships/image"/><Relationship Id="rId57" Target="../media/image606.png" Type="http://schemas.openxmlformats.org/officeDocument/2006/relationships/image"/><Relationship Id="rId58" Target="../media/image607.png" Type="http://schemas.openxmlformats.org/officeDocument/2006/relationships/image"/><Relationship Id="rId59" Target="../media/image608.png" Type="http://schemas.openxmlformats.org/officeDocument/2006/relationships/image"/><Relationship Id="rId6" Target="../media/image556.png" Type="http://schemas.openxmlformats.org/officeDocument/2006/relationships/image"/><Relationship Id="rId60" Target="../media/image609.png" Type="http://schemas.openxmlformats.org/officeDocument/2006/relationships/image"/><Relationship Id="rId61" Target="../media/image610.svg" Type="http://schemas.openxmlformats.org/officeDocument/2006/relationships/image"/><Relationship Id="rId62" Target="../media/image611.png" Type="http://schemas.openxmlformats.org/officeDocument/2006/relationships/image"/><Relationship Id="rId63" Target="../media/image612.png" Type="http://schemas.openxmlformats.org/officeDocument/2006/relationships/image"/><Relationship Id="rId64" Target="../media/image613.png" Type="http://schemas.openxmlformats.org/officeDocument/2006/relationships/image"/><Relationship Id="rId65" Target="../media/image614.png" Type="http://schemas.openxmlformats.org/officeDocument/2006/relationships/image"/><Relationship Id="rId66" Target="../media/image615.png" Type="http://schemas.openxmlformats.org/officeDocument/2006/relationships/image"/><Relationship Id="rId67" Target="../media/image616.png" Type="http://schemas.openxmlformats.org/officeDocument/2006/relationships/image"/><Relationship Id="rId68" Target="../media/image617.png" Type="http://schemas.openxmlformats.org/officeDocument/2006/relationships/image"/><Relationship Id="rId69" Target="../media/image618.png" Type="http://schemas.openxmlformats.org/officeDocument/2006/relationships/image"/><Relationship Id="rId7" Target="../media/image557.png" Type="http://schemas.openxmlformats.org/officeDocument/2006/relationships/image"/><Relationship Id="rId70" Target="../media/image619.png" Type="http://schemas.openxmlformats.org/officeDocument/2006/relationships/image"/><Relationship Id="rId8" Target="../media/image558.png" Type="http://schemas.openxmlformats.org/officeDocument/2006/relationships/image"/><Relationship Id="rId9" Target="../media/image55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8.png" Type="http://schemas.openxmlformats.org/officeDocument/2006/relationships/image"/><Relationship Id="rId11" Target="../media/image629.png" Type="http://schemas.openxmlformats.org/officeDocument/2006/relationships/image"/><Relationship Id="rId12" Target="../media/image4.jpeg" Type="http://schemas.openxmlformats.org/officeDocument/2006/relationships/image"/><Relationship Id="rId13" Target="../media/image7.jpeg" Type="http://schemas.openxmlformats.org/officeDocument/2006/relationships/image"/><Relationship Id="rId14" Target="../media/image630.png" Type="http://schemas.openxmlformats.org/officeDocument/2006/relationships/image"/><Relationship Id="rId15" Target="../media/image631.png" Type="http://schemas.openxmlformats.org/officeDocument/2006/relationships/image"/><Relationship Id="rId16" Target="../media/image632.svg" Type="http://schemas.openxmlformats.org/officeDocument/2006/relationships/image"/><Relationship Id="rId17" Target="../media/image633.png" Type="http://schemas.openxmlformats.org/officeDocument/2006/relationships/image"/><Relationship Id="rId18" Target="../media/image634.png" Type="http://schemas.openxmlformats.org/officeDocument/2006/relationships/image"/><Relationship Id="rId19" Target="../media/image635.png" Type="http://schemas.openxmlformats.org/officeDocument/2006/relationships/image"/><Relationship Id="rId2" Target="../media/image620.jpeg" Type="http://schemas.openxmlformats.org/officeDocument/2006/relationships/image"/><Relationship Id="rId20" Target="../media/image636.png" Type="http://schemas.openxmlformats.org/officeDocument/2006/relationships/image"/><Relationship Id="rId21" Target="../media/image637.png" Type="http://schemas.openxmlformats.org/officeDocument/2006/relationships/image"/><Relationship Id="rId22" Target="../media/image638.png" Type="http://schemas.openxmlformats.org/officeDocument/2006/relationships/image"/><Relationship Id="rId23" Target="../media/image639.png" Type="http://schemas.openxmlformats.org/officeDocument/2006/relationships/image"/><Relationship Id="rId24" Target="../media/image640.png" Type="http://schemas.openxmlformats.org/officeDocument/2006/relationships/image"/><Relationship Id="rId25" Target="../media/image641.png" Type="http://schemas.openxmlformats.org/officeDocument/2006/relationships/image"/><Relationship Id="rId26" Target="../media/image642.png" Type="http://schemas.openxmlformats.org/officeDocument/2006/relationships/image"/><Relationship Id="rId27" Target="../media/image643.png" Type="http://schemas.openxmlformats.org/officeDocument/2006/relationships/image"/><Relationship Id="rId28" Target="../media/image644.png" Type="http://schemas.openxmlformats.org/officeDocument/2006/relationships/image"/><Relationship Id="rId29" Target="../media/image645.png" Type="http://schemas.openxmlformats.org/officeDocument/2006/relationships/image"/><Relationship Id="rId3" Target="../media/image621.jpeg" Type="http://schemas.openxmlformats.org/officeDocument/2006/relationships/image"/><Relationship Id="rId30" Target="../media/image646.png" Type="http://schemas.openxmlformats.org/officeDocument/2006/relationships/image"/><Relationship Id="rId31" Target="../media/image647.png" Type="http://schemas.openxmlformats.org/officeDocument/2006/relationships/image"/><Relationship Id="rId32" Target="../media/image648.png" Type="http://schemas.openxmlformats.org/officeDocument/2006/relationships/image"/><Relationship Id="rId33" Target="../media/image649.png" Type="http://schemas.openxmlformats.org/officeDocument/2006/relationships/image"/><Relationship Id="rId34" Target="../media/image650.svg" Type="http://schemas.openxmlformats.org/officeDocument/2006/relationships/image"/><Relationship Id="rId35" Target="../media/image651.png" Type="http://schemas.openxmlformats.org/officeDocument/2006/relationships/image"/><Relationship Id="rId36" Target="../media/image652.png" Type="http://schemas.openxmlformats.org/officeDocument/2006/relationships/image"/><Relationship Id="rId37" Target="../media/image653.png" Type="http://schemas.openxmlformats.org/officeDocument/2006/relationships/image"/><Relationship Id="rId38" Target="../media/image654.png" Type="http://schemas.openxmlformats.org/officeDocument/2006/relationships/image"/><Relationship Id="rId39" Target="../media/image655.png" Type="http://schemas.openxmlformats.org/officeDocument/2006/relationships/image"/><Relationship Id="rId4" Target="../media/image622.png" Type="http://schemas.openxmlformats.org/officeDocument/2006/relationships/image"/><Relationship Id="rId40" Target="../media/image656.svg" Type="http://schemas.openxmlformats.org/officeDocument/2006/relationships/image"/><Relationship Id="rId41" Target="../media/image657.png" Type="http://schemas.openxmlformats.org/officeDocument/2006/relationships/image"/><Relationship Id="rId42" Target="../media/image658.png" Type="http://schemas.openxmlformats.org/officeDocument/2006/relationships/image"/><Relationship Id="rId43" Target="../media/image659.png" Type="http://schemas.openxmlformats.org/officeDocument/2006/relationships/image"/><Relationship Id="rId44" Target="../media/image660.png" Type="http://schemas.openxmlformats.org/officeDocument/2006/relationships/image"/><Relationship Id="rId45" Target="../media/image661.png" Type="http://schemas.openxmlformats.org/officeDocument/2006/relationships/image"/><Relationship Id="rId46" Target="../media/image662.png" Type="http://schemas.openxmlformats.org/officeDocument/2006/relationships/image"/><Relationship Id="rId47" Target="../media/image663.png" Type="http://schemas.openxmlformats.org/officeDocument/2006/relationships/image"/><Relationship Id="rId48" Target="../media/image664.png" Type="http://schemas.openxmlformats.org/officeDocument/2006/relationships/image"/><Relationship Id="rId49" Target="../media/image665.png" Type="http://schemas.openxmlformats.org/officeDocument/2006/relationships/image"/><Relationship Id="rId5" Target="../media/image623.svg" Type="http://schemas.openxmlformats.org/officeDocument/2006/relationships/image"/><Relationship Id="rId50" Target="../media/image666.png" Type="http://schemas.openxmlformats.org/officeDocument/2006/relationships/image"/><Relationship Id="rId51" Target="../media/image667.png" Type="http://schemas.openxmlformats.org/officeDocument/2006/relationships/image"/><Relationship Id="rId52" Target="../media/image668.png" Type="http://schemas.openxmlformats.org/officeDocument/2006/relationships/image"/><Relationship Id="rId53" Target="../media/image669.png" Type="http://schemas.openxmlformats.org/officeDocument/2006/relationships/image"/><Relationship Id="rId54" Target="../media/image670.png" Type="http://schemas.openxmlformats.org/officeDocument/2006/relationships/image"/><Relationship Id="rId55" Target="../media/image671.png" Type="http://schemas.openxmlformats.org/officeDocument/2006/relationships/image"/><Relationship Id="rId56" Target="../media/image672.png" Type="http://schemas.openxmlformats.org/officeDocument/2006/relationships/image"/><Relationship Id="rId57" Target="../media/image673.png" Type="http://schemas.openxmlformats.org/officeDocument/2006/relationships/image"/><Relationship Id="rId58" Target="../media/image674.png" Type="http://schemas.openxmlformats.org/officeDocument/2006/relationships/image"/><Relationship Id="rId59" Target="../media/image675.jpeg" Type="http://schemas.openxmlformats.org/officeDocument/2006/relationships/image"/><Relationship Id="rId6" Target="../media/image624.png" Type="http://schemas.openxmlformats.org/officeDocument/2006/relationships/image"/><Relationship Id="rId60" Target="../media/image676.png" Type="http://schemas.openxmlformats.org/officeDocument/2006/relationships/image"/><Relationship Id="rId61" Target="../media/image677.png" Type="http://schemas.openxmlformats.org/officeDocument/2006/relationships/image"/><Relationship Id="rId62" Target="../media/image678.png" Type="http://schemas.openxmlformats.org/officeDocument/2006/relationships/image"/><Relationship Id="rId63" Target="../media/image679.png" Type="http://schemas.openxmlformats.org/officeDocument/2006/relationships/image"/><Relationship Id="rId64" Target="../media/image680.png" Type="http://schemas.openxmlformats.org/officeDocument/2006/relationships/image"/><Relationship Id="rId65" Target="../media/image681.png" Type="http://schemas.openxmlformats.org/officeDocument/2006/relationships/image"/><Relationship Id="rId7" Target="../media/image625.png" Type="http://schemas.openxmlformats.org/officeDocument/2006/relationships/image"/><Relationship Id="rId8" Target="../media/image626.png" Type="http://schemas.openxmlformats.org/officeDocument/2006/relationships/image"/><Relationship Id="rId9" Target="../media/image6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8810"/>
            <a:chOff x="0" y="0"/>
            <a:chExt cx="24384000" cy="13718413"/>
          </a:xfrm>
        </p:grpSpPr>
        <p:sp>
          <p:nvSpPr>
            <p:cNvPr name="Freeform 3" id="3" descr="preencoded.png"/>
            <p:cNvSpPr/>
            <p:nvPr/>
          </p:nvSpPr>
          <p:spPr>
            <a:xfrm flipH="false" flipV="false" rot="0">
              <a:off x="0" y="0"/>
              <a:ext cx="24384000" cy="13718412"/>
            </a:xfrm>
            <a:custGeom>
              <a:avLst/>
              <a:gdLst/>
              <a:ahLst/>
              <a:cxnLst/>
              <a:rect r="r" b="b" t="t" l="l"/>
              <a:pathLst>
                <a:path h="13718412" w="24384000">
                  <a:moveTo>
                    <a:pt x="0" y="0"/>
                  </a:moveTo>
                  <a:lnTo>
                    <a:pt x="24384000" y="0"/>
                  </a:lnTo>
                  <a:lnTo>
                    <a:pt x="24384000" y="13718412"/>
                  </a:lnTo>
                  <a:lnTo>
                    <a:pt x="0" y="13718412"/>
                  </a:lnTo>
                  <a:lnTo>
                    <a:pt x="0" y="0"/>
                  </a:lnTo>
                  <a:close/>
                </a:path>
              </a:pathLst>
            </a:custGeom>
            <a:blipFill>
              <a:blip r:embed="rId3"/>
              <a:stretch>
                <a:fillRect l="-13" t="0" r="-13" b="0"/>
              </a:stretch>
            </a:blipFill>
          </p:spPr>
        </p:sp>
      </p:grpSp>
      <p:grpSp>
        <p:nvGrpSpPr>
          <p:cNvPr name="Group 4" id="4"/>
          <p:cNvGrpSpPr/>
          <p:nvPr/>
        </p:nvGrpSpPr>
        <p:grpSpPr>
          <a:xfrm rot="0">
            <a:off x="14262887" y="6088704"/>
            <a:ext cx="4025074" cy="4200144"/>
            <a:chOff x="0" y="0"/>
            <a:chExt cx="5366766" cy="5600192"/>
          </a:xfrm>
        </p:grpSpPr>
        <p:sp>
          <p:nvSpPr>
            <p:cNvPr name="Freeform 5" id="5" descr="preencoded.png"/>
            <p:cNvSpPr/>
            <p:nvPr/>
          </p:nvSpPr>
          <p:spPr>
            <a:xfrm flipH="false" flipV="false" rot="0">
              <a:off x="0" y="0"/>
              <a:ext cx="5366766" cy="5600192"/>
            </a:xfrm>
            <a:custGeom>
              <a:avLst/>
              <a:gdLst/>
              <a:ahLst/>
              <a:cxnLst/>
              <a:rect r="r" b="b" t="t" l="l"/>
              <a:pathLst>
                <a:path h="5600192" w="5366766">
                  <a:moveTo>
                    <a:pt x="0" y="0"/>
                  </a:moveTo>
                  <a:lnTo>
                    <a:pt x="5366766" y="0"/>
                  </a:lnTo>
                  <a:lnTo>
                    <a:pt x="5366766" y="5600192"/>
                  </a:lnTo>
                  <a:lnTo>
                    <a:pt x="0" y="5600192"/>
                  </a:lnTo>
                  <a:lnTo>
                    <a:pt x="0" y="0"/>
                  </a:lnTo>
                  <a:close/>
                </a:path>
              </a:pathLst>
            </a:custGeom>
            <a:blipFill>
              <a:blip r:embed="rId4"/>
              <a:stretch>
                <a:fillRect l="0" t="-36" r="0" b="-36"/>
              </a:stretch>
            </a:blipFill>
          </p:spPr>
        </p:sp>
      </p:grpSp>
      <p:grpSp>
        <p:nvGrpSpPr>
          <p:cNvPr name="Group 6" id="6"/>
          <p:cNvGrpSpPr/>
          <p:nvPr/>
        </p:nvGrpSpPr>
        <p:grpSpPr>
          <a:xfrm rot="0">
            <a:off x="9355465" y="5680367"/>
            <a:ext cx="8750236" cy="1684401"/>
            <a:chOff x="0" y="0"/>
            <a:chExt cx="11666982" cy="2245868"/>
          </a:xfrm>
        </p:grpSpPr>
        <p:sp>
          <p:nvSpPr>
            <p:cNvPr name="Freeform 7" id="7" descr="preencoded.png"/>
            <p:cNvSpPr/>
            <p:nvPr/>
          </p:nvSpPr>
          <p:spPr>
            <a:xfrm flipH="false" flipV="false" rot="0">
              <a:off x="0" y="0"/>
              <a:ext cx="11666982" cy="2245868"/>
            </a:xfrm>
            <a:custGeom>
              <a:avLst/>
              <a:gdLst/>
              <a:ahLst/>
              <a:cxnLst/>
              <a:rect r="r" b="b" t="t" l="l"/>
              <a:pathLst>
                <a:path h="2245868" w="11666982">
                  <a:moveTo>
                    <a:pt x="0" y="0"/>
                  </a:moveTo>
                  <a:lnTo>
                    <a:pt x="11666982" y="0"/>
                  </a:lnTo>
                  <a:lnTo>
                    <a:pt x="11666982" y="2245868"/>
                  </a:lnTo>
                  <a:lnTo>
                    <a:pt x="0" y="2245868"/>
                  </a:lnTo>
                  <a:lnTo>
                    <a:pt x="0" y="0"/>
                  </a:lnTo>
                  <a:close/>
                </a:path>
              </a:pathLst>
            </a:custGeom>
            <a:blipFill>
              <a:blip r:embed="rId5"/>
              <a:stretch>
                <a:fillRect l="0" t="-24" r="0" b="-24"/>
              </a:stretch>
            </a:blipFill>
          </p:spPr>
        </p:sp>
      </p:grpSp>
      <p:grpSp>
        <p:nvGrpSpPr>
          <p:cNvPr name="Group 8" id="8"/>
          <p:cNvGrpSpPr/>
          <p:nvPr/>
        </p:nvGrpSpPr>
        <p:grpSpPr>
          <a:xfrm rot="0">
            <a:off x="513055" y="6088704"/>
            <a:ext cx="7208368" cy="758352"/>
            <a:chOff x="0" y="0"/>
            <a:chExt cx="9611157" cy="1011136"/>
          </a:xfrm>
        </p:grpSpPr>
        <p:sp>
          <p:nvSpPr>
            <p:cNvPr name="Freeform 9" id="9"/>
            <p:cNvSpPr/>
            <p:nvPr/>
          </p:nvSpPr>
          <p:spPr>
            <a:xfrm flipH="false" flipV="false" rot="0">
              <a:off x="0" y="0"/>
              <a:ext cx="9611106" cy="1011174"/>
            </a:xfrm>
            <a:custGeom>
              <a:avLst/>
              <a:gdLst/>
              <a:ahLst/>
              <a:cxnLst/>
              <a:rect r="r" b="b" t="t" l="l"/>
              <a:pathLst>
                <a:path h="1011174" w="9611106">
                  <a:moveTo>
                    <a:pt x="0" y="0"/>
                  </a:moveTo>
                  <a:lnTo>
                    <a:pt x="9611106" y="0"/>
                  </a:lnTo>
                  <a:lnTo>
                    <a:pt x="9611106" y="1011174"/>
                  </a:lnTo>
                  <a:lnTo>
                    <a:pt x="0" y="1011174"/>
                  </a:lnTo>
                  <a:close/>
                </a:path>
              </a:pathLst>
            </a:custGeom>
            <a:blipFill>
              <a:blip r:embed="rId6">
                <a:alphaModFix amt="0"/>
              </a:blip>
              <a:stretch>
                <a:fillRect l="0" t="-135076" r="0" b="-135074"/>
              </a:stretch>
            </a:blipFill>
          </p:spPr>
        </p:sp>
      </p:grpSp>
      <p:grpSp>
        <p:nvGrpSpPr>
          <p:cNvPr name="Group 10" id="10"/>
          <p:cNvGrpSpPr/>
          <p:nvPr/>
        </p:nvGrpSpPr>
        <p:grpSpPr>
          <a:xfrm rot="0">
            <a:off x="714604" y="6522577"/>
            <a:ext cx="1020890" cy="73123"/>
            <a:chOff x="0" y="0"/>
            <a:chExt cx="1361186" cy="97498"/>
          </a:xfrm>
        </p:grpSpPr>
        <p:sp>
          <p:nvSpPr>
            <p:cNvPr name="Freeform 11" id="11" descr="preencoded.png"/>
            <p:cNvSpPr/>
            <p:nvPr/>
          </p:nvSpPr>
          <p:spPr>
            <a:xfrm flipH="false" flipV="false" rot="0">
              <a:off x="0" y="0"/>
              <a:ext cx="1361186" cy="97536"/>
            </a:xfrm>
            <a:custGeom>
              <a:avLst/>
              <a:gdLst/>
              <a:ahLst/>
              <a:cxnLst/>
              <a:rect r="r" b="b" t="t" l="l"/>
              <a:pathLst>
                <a:path h="97536" w="1361186">
                  <a:moveTo>
                    <a:pt x="0" y="0"/>
                  </a:moveTo>
                  <a:lnTo>
                    <a:pt x="1361186" y="0"/>
                  </a:lnTo>
                  <a:lnTo>
                    <a:pt x="1361186" y="97536"/>
                  </a:lnTo>
                  <a:lnTo>
                    <a:pt x="0" y="97536"/>
                  </a:lnTo>
                  <a:lnTo>
                    <a:pt x="0" y="0"/>
                  </a:lnTo>
                  <a:close/>
                </a:path>
              </a:pathLst>
            </a:custGeom>
            <a:blipFill>
              <a:blip r:embed="rId7"/>
              <a:stretch>
                <a:fillRect l="-50277" t="0" r="-50277" b="39"/>
              </a:stretch>
            </a:blipFill>
          </p:spPr>
        </p:sp>
      </p:grpSp>
      <p:grpSp>
        <p:nvGrpSpPr>
          <p:cNvPr name="Group 12" id="12"/>
          <p:cNvGrpSpPr/>
          <p:nvPr/>
        </p:nvGrpSpPr>
        <p:grpSpPr>
          <a:xfrm rot="0">
            <a:off x="9421092" y="211465"/>
            <a:ext cx="8633555" cy="5468874"/>
            <a:chOff x="0" y="0"/>
            <a:chExt cx="11511407" cy="7291832"/>
          </a:xfrm>
        </p:grpSpPr>
        <p:sp>
          <p:nvSpPr>
            <p:cNvPr name="Freeform 13" id="13" descr="preencoded.png"/>
            <p:cNvSpPr/>
            <p:nvPr/>
          </p:nvSpPr>
          <p:spPr>
            <a:xfrm flipH="false" flipV="false" rot="0">
              <a:off x="0" y="0"/>
              <a:ext cx="11511407" cy="7291832"/>
            </a:xfrm>
            <a:custGeom>
              <a:avLst/>
              <a:gdLst/>
              <a:ahLst/>
              <a:cxnLst/>
              <a:rect r="r" b="b" t="t" l="l"/>
              <a:pathLst>
                <a:path h="7291832" w="11511407">
                  <a:moveTo>
                    <a:pt x="0" y="0"/>
                  </a:moveTo>
                  <a:lnTo>
                    <a:pt x="11511407" y="0"/>
                  </a:lnTo>
                  <a:lnTo>
                    <a:pt x="11511407" y="7291832"/>
                  </a:lnTo>
                  <a:lnTo>
                    <a:pt x="0" y="7291832"/>
                  </a:lnTo>
                  <a:lnTo>
                    <a:pt x="0" y="0"/>
                  </a:lnTo>
                  <a:close/>
                </a:path>
              </a:pathLst>
            </a:custGeom>
            <a:blipFill>
              <a:blip r:embed="rId8"/>
              <a:stretch>
                <a:fillRect l="-18" t="0" r="-18" b="0"/>
              </a:stretch>
            </a:blipFill>
          </p:spPr>
        </p:sp>
      </p:grpSp>
      <p:grpSp>
        <p:nvGrpSpPr>
          <p:cNvPr name="Group 14" id="14"/>
          <p:cNvGrpSpPr/>
          <p:nvPr/>
        </p:nvGrpSpPr>
        <p:grpSpPr>
          <a:xfrm rot="0">
            <a:off x="10478414" y="4200115"/>
            <a:ext cx="860441" cy="344005"/>
            <a:chOff x="0" y="0"/>
            <a:chExt cx="1147254" cy="458673"/>
          </a:xfrm>
        </p:grpSpPr>
        <p:sp>
          <p:nvSpPr>
            <p:cNvPr name="Freeform 15" id="15"/>
            <p:cNvSpPr/>
            <p:nvPr/>
          </p:nvSpPr>
          <p:spPr>
            <a:xfrm flipH="false" flipV="false" rot="0">
              <a:off x="0" y="0"/>
              <a:ext cx="1147318" cy="458724"/>
            </a:xfrm>
            <a:custGeom>
              <a:avLst/>
              <a:gdLst/>
              <a:ahLst/>
              <a:cxnLst/>
              <a:rect r="r" b="b" t="t" l="l"/>
              <a:pathLst>
                <a:path h="458724" w="1147318">
                  <a:moveTo>
                    <a:pt x="0" y="0"/>
                  </a:moveTo>
                  <a:lnTo>
                    <a:pt x="1147318" y="0"/>
                  </a:lnTo>
                  <a:lnTo>
                    <a:pt x="1147318" y="458724"/>
                  </a:lnTo>
                  <a:lnTo>
                    <a:pt x="0" y="458724"/>
                  </a:lnTo>
                  <a:close/>
                </a:path>
              </a:pathLst>
            </a:custGeom>
            <a:blipFill>
              <a:blip r:embed="rId6">
                <a:alphaModFix amt="0"/>
              </a:blip>
              <a:stretch>
                <a:fillRect l="-1330" t="0" r="-1326" b="11"/>
              </a:stretch>
            </a:blipFill>
          </p:spPr>
        </p:sp>
      </p:grpSp>
      <p:grpSp>
        <p:nvGrpSpPr>
          <p:cNvPr name="Group 16" id="16"/>
          <p:cNvGrpSpPr/>
          <p:nvPr/>
        </p:nvGrpSpPr>
        <p:grpSpPr>
          <a:xfrm rot="0">
            <a:off x="10478414" y="4228690"/>
            <a:ext cx="860441" cy="315420"/>
            <a:chOff x="0" y="0"/>
            <a:chExt cx="1147254" cy="420560"/>
          </a:xfrm>
        </p:grpSpPr>
        <p:sp>
          <p:nvSpPr>
            <p:cNvPr name="Freeform 17" id="17"/>
            <p:cNvSpPr/>
            <p:nvPr/>
          </p:nvSpPr>
          <p:spPr>
            <a:xfrm flipH="false" flipV="false" rot="0">
              <a:off x="0" y="0"/>
              <a:ext cx="1147255" cy="420565"/>
            </a:xfrm>
            <a:custGeom>
              <a:avLst/>
              <a:gdLst/>
              <a:ahLst/>
              <a:cxnLst/>
              <a:rect r="r" b="b" t="t" l="l"/>
              <a:pathLst>
                <a:path h="420565" w="1147255">
                  <a:moveTo>
                    <a:pt x="0" y="0"/>
                  </a:moveTo>
                  <a:lnTo>
                    <a:pt x="1147255" y="0"/>
                  </a:lnTo>
                  <a:lnTo>
                    <a:pt x="1147255" y="420565"/>
                  </a:lnTo>
                  <a:lnTo>
                    <a:pt x="0" y="420565"/>
                  </a:lnTo>
                  <a:close/>
                </a:path>
              </a:pathLst>
            </a:custGeom>
            <a:blipFill>
              <a:blip r:embed="rId9">
                <a:alphaModFix amt="0"/>
              </a:blip>
              <a:stretch>
                <a:fillRect l="0" t="-3153" r="0" b="-3152"/>
              </a:stretch>
            </a:blipFill>
          </p:spPr>
        </p:sp>
        <p:sp>
          <p:nvSpPr>
            <p:cNvPr name="TextBox 18" id="18"/>
            <p:cNvSpPr txBox="true"/>
            <p:nvPr/>
          </p:nvSpPr>
          <p:spPr>
            <a:xfrm>
              <a:off x="0" y="38100"/>
              <a:ext cx="1147254" cy="382460"/>
            </a:xfrm>
            <a:prstGeom prst="rect">
              <a:avLst/>
            </a:prstGeom>
          </p:spPr>
          <p:txBody>
            <a:bodyPr anchor="ctr" rtlCol="false" tIns="0" lIns="0" bIns="0" rIns="0"/>
            <a:lstStyle/>
            <a:p>
              <a:pPr algn="l">
                <a:lnSpc>
                  <a:spcPts val="1431"/>
                </a:lnSpc>
              </a:pPr>
              <a:r>
                <a:rPr lang="en-US" sz="1590" b="true">
                  <a:solidFill>
                    <a:srgbClr val="BE8B75"/>
                  </a:solidFill>
                  <a:latin typeface="TT Commons Pro Bold"/>
                  <a:ea typeface="TT Commons Pro Bold"/>
                  <a:cs typeface="TT Commons Pro Bold"/>
                  <a:sym typeface="TT Commons Pro Bold"/>
                </a:rPr>
                <a:t>SWIGGY</a:t>
              </a:r>
            </a:p>
          </p:txBody>
        </p:sp>
      </p:grpSp>
      <p:grpSp>
        <p:nvGrpSpPr>
          <p:cNvPr name="Group 19" id="19"/>
          <p:cNvGrpSpPr/>
          <p:nvPr/>
        </p:nvGrpSpPr>
        <p:grpSpPr>
          <a:xfrm rot="0">
            <a:off x="16224399" y="3667811"/>
            <a:ext cx="1225029" cy="570900"/>
            <a:chOff x="0" y="0"/>
            <a:chExt cx="1633372" cy="761200"/>
          </a:xfrm>
        </p:grpSpPr>
        <p:sp>
          <p:nvSpPr>
            <p:cNvPr name="Freeform 20" id="20"/>
            <p:cNvSpPr/>
            <p:nvPr/>
          </p:nvSpPr>
          <p:spPr>
            <a:xfrm flipH="false" flipV="false" rot="0">
              <a:off x="0" y="0"/>
              <a:ext cx="1633347" cy="761238"/>
            </a:xfrm>
            <a:custGeom>
              <a:avLst/>
              <a:gdLst/>
              <a:ahLst/>
              <a:cxnLst/>
              <a:rect r="r" b="b" t="t" l="l"/>
              <a:pathLst>
                <a:path h="761238" w="1633347">
                  <a:moveTo>
                    <a:pt x="0" y="0"/>
                  </a:moveTo>
                  <a:lnTo>
                    <a:pt x="1633347" y="0"/>
                  </a:lnTo>
                  <a:lnTo>
                    <a:pt x="1633347" y="761238"/>
                  </a:lnTo>
                  <a:lnTo>
                    <a:pt x="0" y="761238"/>
                  </a:lnTo>
                  <a:close/>
                </a:path>
              </a:pathLst>
            </a:custGeom>
            <a:blipFill>
              <a:blip r:embed="rId6">
                <a:alphaModFix amt="0"/>
              </a:blip>
              <a:stretch>
                <a:fillRect l="-9834" t="0" r="-9836" b="5"/>
              </a:stretch>
            </a:blipFill>
          </p:spPr>
        </p:sp>
      </p:grpSp>
      <p:grpSp>
        <p:nvGrpSpPr>
          <p:cNvPr name="Group 21" id="21"/>
          <p:cNvGrpSpPr/>
          <p:nvPr/>
        </p:nvGrpSpPr>
        <p:grpSpPr>
          <a:xfrm rot="0">
            <a:off x="16224399" y="3732105"/>
            <a:ext cx="1225029" cy="506606"/>
            <a:chOff x="0" y="0"/>
            <a:chExt cx="1633372" cy="675475"/>
          </a:xfrm>
        </p:grpSpPr>
        <p:sp>
          <p:nvSpPr>
            <p:cNvPr name="Freeform 22" id="22"/>
            <p:cNvSpPr/>
            <p:nvPr/>
          </p:nvSpPr>
          <p:spPr>
            <a:xfrm flipH="false" flipV="false" rot="0">
              <a:off x="0" y="0"/>
              <a:ext cx="1633372" cy="675470"/>
            </a:xfrm>
            <a:custGeom>
              <a:avLst/>
              <a:gdLst/>
              <a:ahLst/>
              <a:cxnLst/>
              <a:rect r="r" b="b" t="t" l="l"/>
              <a:pathLst>
                <a:path h="675470" w="1633372">
                  <a:moveTo>
                    <a:pt x="0" y="0"/>
                  </a:moveTo>
                  <a:lnTo>
                    <a:pt x="1633372" y="0"/>
                  </a:lnTo>
                  <a:lnTo>
                    <a:pt x="1633372" y="675470"/>
                  </a:lnTo>
                  <a:lnTo>
                    <a:pt x="0" y="675470"/>
                  </a:lnTo>
                  <a:close/>
                </a:path>
              </a:pathLst>
            </a:custGeom>
            <a:blipFill>
              <a:blip r:embed="rId9">
                <a:alphaModFix amt="0"/>
              </a:blip>
              <a:stretch>
                <a:fillRect l="-3059" t="0" r="-3059" b="0"/>
              </a:stretch>
            </a:blipFill>
          </p:spPr>
        </p:sp>
        <p:sp>
          <p:nvSpPr>
            <p:cNvPr name="TextBox 23" id="23"/>
            <p:cNvSpPr txBox="true"/>
            <p:nvPr/>
          </p:nvSpPr>
          <p:spPr>
            <a:xfrm>
              <a:off x="0" y="85725"/>
              <a:ext cx="1633372" cy="589750"/>
            </a:xfrm>
            <a:prstGeom prst="rect">
              <a:avLst/>
            </a:prstGeom>
          </p:spPr>
          <p:txBody>
            <a:bodyPr anchor="ctr" rtlCol="false" tIns="0" lIns="0" bIns="0" rIns="0"/>
            <a:lstStyle/>
            <a:p>
              <a:pPr algn="l">
                <a:lnSpc>
                  <a:spcPts val="2233"/>
                </a:lnSpc>
              </a:pPr>
              <a:r>
                <a:rPr lang="en-US" b="true" sz="2669" i="true">
                  <a:solidFill>
                    <a:srgbClr val="B38C8A"/>
                  </a:solidFill>
                  <a:latin typeface="TT Commons Pro Bold Italics"/>
                  <a:ea typeface="TT Commons Pro Bold Italics"/>
                  <a:cs typeface="TT Commons Pro Bold Italics"/>
                  <a:sym typeface="TT Commons Pro Bold Italics"/>
                </a:rPr>
                <a:t>zomato</a:t>
              </a:r>
            </a:p>
          </p:txBody>
        </p:sp>
      </p:grpSp>
      <p:grpSp>
        <p:nvGrpSpPr>
          <p:cNvPr name="Group 24" id="24"/>
          <p:cNvGrpSpPr/>
          <p:nvPr/>
        </p:nvGrpSpPr>
        <p:grpSpPr>
          <a:xfrm rot="0">
            <a:off x="11783654" y="3558435"/>
            <a:ext cx="1006278" cy="393592"/>
            <a:chOff x="0" y="0"/>
            <a:chExt cx="1341704" cy="524789"/>
          </a:xfrm>
        </p:grpSpPr>
        <p:sp>
          <p:nvSpPr>
            <p:cNvPr name="Freeform 25" id="25"/>
            <p:cNvSpPr/>
            <p:nvPr/>
          </p:nvSpPr>
          <p:spPr>
            <a:xfrm flipH="false" flipV="false" rot="0">
              <a:off x="0" y="0"/>
              <a:ext cx="1341755" cy="524764"/>
            </a:xfrm>
            <a:custGeom>
              <a:avLst/>
              <a:gdLst/>
              <a:ahLst/>
              <a:cxnLst/>
              <a:rect r="r" b="b" t="t" l="l"/>
              <a:pathLst>
                <a:path h="524764" w="1341755">
                  <a:moveTo>
                    <a:pt x="0" y="0"/>
                  </a:moveTo>
                  <a:lnTo>
                    <a:pt x="1341755" y="0"/>
                  </a:lnTo>
                  <a:lnTo>
                    <a:pt x="1341755" y="524764"/>
                  </a:lnTo>
                  <a:lnTo>
                    <a:pt x="0" y="524764"/>
                  </a:lnTo>
                  <a:close/>
                </a:path>
              </a:pathLst>
            </a:custGeom>
            <a:blipFill>
              <a:blip r:embed="rId6">
                <a:alphaModFix amt="0"/>
              </a:blip>
              <a:stretch>
                <a:fillRect l="-219" t="0" r="-215" b="-4"/>
              </a:stretch>
            </a:blipFill>
          </p:spPr>
        </p:sp>
      </p:grpSp>
      <p:grpSp>
        <p:nvGrpSpPr>
          <p:cNvPr name="Group 26" id="26"/>
          <p:cNvGrpSpPr/>
          <p:nvPr/>
        </p:nvGrpSpPr>
        <p:grpSpPr>
          <a:xfrm rot="0">
            <a:off x="11783654" y="3594154"/>
            <a:ext cx="1006278" cy="357873"/>
            <a:chOff x="0" y="0"/>
            <a:chExt cx="1341704" cy="477164"/>
          </a:xfrm>
        </p:grpSpPr>
        <p:sp>
          <p:nvSpPr>
            <p:cNvPr name="Freeform 27" id="27"/>
            <p:cNvSpPr/>
            <p:nvPr/>
          </p:nvSpPr>
          <p:spPr>
            <a:xfrm flipH="false" flipV="false" rot="0">
              <a:off x="0" y="0"/>
              <a:ext cx="1341704" cy="477166"/>
            </a:xfrm>
            <a:custGeom>
              <a:avLst/>
              <a:gdLst/>
              <a:ahLst/>
              <a:cxnLst/>
              <a:rect r="r" b="b" t="t" l="l"/>
              <a:pathLst>
                <a:path h="477166" w="1341704">
                  <a:moveTo>
                    <a:pt x="0" y="0"/>
                  </a:moveTo>
                  <a:lnTo>
                    <a:pt x="1341704" y="0"/>
                  </a:lnTo>
                  <a:lnTo>
                    <a:pt x="1341704" y="477166"/>
                  </a:lnTo>
                  <a:lnTo>
                    <a:pt x="0" y="477166"/>
                  </a:lnTo>
                  <a:close/>
                </a:path>
              </a:pathLst>
            </a:custGeom>
            <a:blipFill>
              <a:blip r:embed="rId9">
                <a:alphaModFix amt="0"/>
              </a:blip>
              <a:stretch>
                <a:fillRect l="0" t="-4788" r="0" b="-4788"/>
              </a:stretch>
            </a:blipFill>
          </p:spPr>
        </p:sp>
        <p:sp>
          <p:nvSpPr>
            <p:cNvPr name="TextBox 28" id="28"/>
            <p:cNvSpPr txBox="true"/>
            <p:nvPr/>
          </p:nvSpPr>
          <p:spPr>
            <a:xfrm>
              <a:off x="0" y="47625"/>
              <a:ext cx="1341704" cy="429539"/>
            </a:xfrm>
            <a:prstGeom prst="rect">
              <a:avLst/>
            </a:prstGeom>
          </p:spPr>
          <p:txBody>
            <a:bodyPr anchor="ctr" rtlCol="false" tIns="0" lIns="0" bIns="0" rIns="0"/>
            <a:lstStyle/>
            <a:p>
              <a:pPr algn="l">
                <a:lnSpc>
                  <a:spcPts val="1779"/>
                </a:lnSpc>
              </a:pPr>
              <a:r>
                <a:rPr lang="en-US" sz="1848" b="true">
                  <a:solidFill>
                    <a:srgbClr val="FBC9B0"/>
                  </a:solidFill>
                  <a:latin typeface="TT Commons Pro Bold"/>
                  <a:ea typeface="TT Commons Pro Bold"/>
                  <a:cs typeface="TT Commons Pro Bold"/>
                  <a:sym typeface="TT Commons Pro Bold"/>
                </a:rPr>
                <a:t>SWIGGY</a:t>
              </a:r>
            </a:p>
          </p:txBody>
        </p:sp>
      </p:grpSp>
      <p:grpSp>
        <p:nvGrpSpPr>
          <p:cNvPr name="Group 29" id="29"/>
          <p:cNvGrpSpPr/>
          <p:nvPr/>
        </p:nvGrpSpPr>
        <p:grpSpPr>
          <a:xfrm rot="0">
            <a:off x="287474" y="3360506"/>
            <a:ext cx="9067990" cy="2847718"/>
            <a:chOff x="0" y="0"/>
            <a:chExt cx="12090654" cy="3796957"/>
          </a:xfrm>
        </p:grpSpPr>
        <p:sp>
          <p:nvSpPr>
            <p:cNvPr name="Freeform 30" id="30"/>
            <p:cNvSpPr/>
            <p:nvPr/>
          </p:nvSpPr>
          <p:spPr>
            <a:xfrm flipH="false" flipV="false" rot="0">
              <a:off x="0" y="0"/>
              <a:ext cx="12090654" cy="3796919"/>
            </a:xfrm>
            <a:custGeom>
              <a:avLst/>
              <a:gdLst/>
              <a:ahLst/>
              <a:cxnLst/>
              <a:rect r="r" b="b" t="t" l="l"/>
              <a:pathLst>
                <a:path h="3796919" w="12090654">
                  <a:moveTo>
                    <a:pt x="0" y="0"/>
                  </a:moveTo>
                  <a:lnTo>
                    <a:pt x="12090654" y="0"/>
                  </a:lnTo>
                  <a:lnTo>
                    <a:pt x="12090654" y="3796919"/>
                  </a:lnTo>
                  <a:lnTo>
                    <a:pt x="0" y="3796919"/>
                  </a:lnTo>
                  <a:close/>
                </a:path>
              </a:pathLst>
            </a:custGeom>
            <a:blipFill>
              <a:blip r:embed="rId6">
                <a:alphaModFix amt="0"/>
              </a:blip>
              <a:stretch>
                <a:fillRect l="0" t="-12003" r="0" b="-12004"/>
              </a:stretch>
            </a:blipFill>
          </p:spPr>
        </p:sp>
      </p:grpSp>
      <p:grpSp>
        <p:nvGrpSpPr>
          <p:cNvPr name="Group 31" id="31"/>
          <p:cNvGrpSpPr/>
          <p:nvPr/>
        </p:nvGrpSpPr>
        <p:grpSpPr>
          <a:xfrm rot="0">
            <a:off x="287474" y="3389081"/>
            <a:ext cx="9067990" cy="2819162"/>
            <a:chOff x="0" y="0"/>
            <a:chExt cx="12090654" cy="3758883"/>
          </a:xfrm>
        </p:grpSpPr>
        <p:sp>
          <p:nvSpPr>
            <p:cNvPr name="Freeform 32" id="32"/>
            <p:cNvSpPr/>
            <p:nvPr/>
          </p:nvSpPr>
          <p:spPr>
            <a:xfrm flipH="false" flipV="false" rot="0">
              <a:off x="0" y="0"/>
              <a:ext cx="12090656" cy="3758879"/>
            </a:xfrm>
            <a:custGeom>
              <a:avLst/>
              <a:gdLst/>
              <a:ahLst/>
              <a:cxnLst/>
              <a:rect r="r" b="b" t="t" l="l"/>
              <a:pathLst>
                <a:path h="3758879" w="12090656">
                  <a:moveTo>
                    <a:pt x="0" y="0"/>
                  </a:moveTo>
                  <a:lnTo>
                    <a:pt x="12090656" y="0"/>
                  </a:lnTo>
                  <a:lnTo>
                    <a:pt x="12090656" y="3758879"/>
                  </a:lnTo>
                  <a:lnTo>
                    <a:pt x="0" y="3758879"/>
                  </a:lnTo>
                  <a:close/>
                </a:path>
              </a:pathLst>
            </a:custGeom>
            <a:blipFill>
              <a:blip r:embed="rId9">
                <a:alphaModFix amt="0"/>
              </a:blip>
              <a:stretch>
                <a:fillRect l="0" t="-12674" r="0" b="-12674"/>
              </a:stretch>
            </a:blipFill>
          </p:spPr>
        </p:sp>
        <p:sp>
          <p:nvSpPr>
            <p:cNvPr name="TextBox 33" id="33"/>
            <p:cNvSpPr txBox="true"/>
            <p:nvPr/>
          </p:nvSpPr>
          <p:spPr>
            <a:xfrm>
              <a:off x="0" y="38100"/>
              <a:ext cx="12090654" cy="3720783"/>
            </a:xfrm>
            <a:prstGeom prst="rect">
              <a:avLst/>
            </a:prstGeom>
          </p:spPr>
          <p:txBody>
            <a:bodyPr anchor="ctr" rtlCol="false" tIns="0" lIns="0" bIns="0" rIns="0"/>
            <a:lstStyle/>
            <a:p>
              <a:pPr algn="l">
                <a:lnSpc>
                  <a:spcPts val="6916"/>
                </a:lnSpc>
              </a:pPr>
              <a:r>
                <a:rPr lang="en-US" sz="6176" b="true">
                  <a:solidFill>
                    <a:srgbClr val="E87208"/>
                  </a:solidFill>
                  <a:latin typeface="TT Commons Pro Bold"/>
                  <a:ea typeface="TT Commons Pro Bold"/>
                  <a:cs typeface="TT Commons Pro Bold"/>
                  <a:sym typeface="TT Commons Pro Bold"/>
                </a:rPr>
                <a:t>SWIGGY </a:t>
              </a:r>
              <a:r>
                <a:rPr lang="en-US" sz="6176" b="true">
                  <a:solidFill>
                    <a:srgbClr val="EBEBEA"/>
                  </a:solidFill>
                  <a:latin typeface="TT Commons Pro Bold"/>
                  <a:ea typeface="TT Commons Pro Bold"/>
                  <a:cs typeface="TT Commons Pro Bold"/>
                  <a:sym typeface="TT Commons Pro Bold"/>
                </a:rPr>
                <a:t>VS </a:t>
              </a:r>
              <a:r>
                <a:rPr lang="en-US" sz="6176" b="true">
                  <a:solidFill>
                    <a:srgbClr val="CE1C2F"/>
                  </a:solidFill>
                  <a:latin typeface="TT Commons Pro Bold"/>
                  <a:ea typeface="TT Commons Pro Bold"/>
                  <a:cs typeface="TT Commons Pro Bold"/>
                  <a:sym typeface="TT Commons Pro Bold"/>
                </a:rPr>
                <a:t>ZOMATO</a:t>
              </a:r>
              <a:r>
                <a:rPr lang="en-US" sz="6176" b="true">
                  <a:solidFill>
                    <a:srgbClr val="F2EFEB"/>
                  </a:solidFill>
                  <a:latin typeface="TT Commons Pro Bold"/>
                  <a:ea typeface="TT Commons Pro Bold"/>
                  <a:cs typeface="TT Commons Pro Bold"/>
                  <a:sym typeface="TT Commons Pro Bold"/>
                </a:rPr>
                <a:t>:</a:t>
              </a:r>
            </a:p>
            <a:p>
              <a:pPr algn="l">
                <a:lnSpc>
                  <a:spcPts val="4256"/>
                </a:lnSpc>
              </a:pPr>
              <a:r>
                <a:rPr lang="en-US" sz="3800" b="true">
                  <a:solidFill>
                    <a:srgbClr val="F2EFEB"/>
                  </a:solidFill>
                  <a:latin typeface="TT Commons Pro Bold"/>
                  <a:ea typeface="TT Commons Pro Bold"/>
                  <a:cs typeface="TT Commons Pro Bold"/>
                  <a:sym typeface="TT Commons Pro Bold"/>
                </a:rPr>
                <a:t>Restaurant Performance and Customer Insights Analysis</a:t>
              </a:r>
            </a:p>
            <a:p>
              <a:pPr algn="l">
                <a:lnSpc>
                  <a:spcPts val="4256"/>
                </a:lnSpc>
              </a:pPr>
            </a:p>
          </p:txBody>
        </p:sp>
      </p:grpSp>
      <p:grpSp>
        <p:nvGrpSpPr>
          <p:cNvPr name="Group 34" id="34"/>
          <p:cNvGrpSpPr/>
          <p:nvPr/>
        </p:nvGrpSpPr>
        <p:grpSpPr>
          <a:xfrm rot="0">
            <a:off x="816693" y="2556119"/>
            <a:ext cx="6882860" cy="820674"/>
            <a:chOff x="0" y="0"/>
            <a:chExt cx="9177147" cy="1094232"/>
          </a:xfrm>
        </p:grpSpPr>
        <p:sp>
          <p:nvSpPr>
            <p:cNvPr name="Freeform 35" id="35"/>
            <p:cNvSpPr/>
            <p:nvPr/>
          </p:nvSpPr>
          <p:spPr>
            <a:xfrm flipH="false" flipV="false" rot="0">
              <a:off x="0" y="0"/>
              <a:ext cx="9177147" cy="1094232"/>
            </a:xfrm>
            <a:custGeom>
              <a:avLst/>
              <a:gdLst/>
              <a:ahLst/>
              <a:cxnLst/>
              <a:rect r="r" b="b" t="t" l="l"/>
              <a:pathLst>
                <a:path h="1094232" w="9177147">
                  <a:moveTo>
                    <a:pt x="0" y="0"/>
                  </a:moveTo>
                  <a:lnTo>
                    <a:pt x="9177147" y="0"/>
                  </a:lnTo>
                  <a:lnTo>
                    <a:pt x="9177147" y="1094232"/>
                  </a:lnTo>
                  <a:lnTo>
                    <a:pt x="0" y="1094232"/>
                  </a:lnTo>
                  <a:close/>
                </a:path>
              </a:pathLst>
            </a:custGeom>
            <a:blipFill>
              <a:blip r:embed="rId6">
                <a:alphaModFix amt="0"/>
              </a:blip>
              <a:stretch>
                <a:fillRect l="0" t="-113304" r="0" b="-113304"/>
              </a:stretch>
            </a:blipFill>
          </p:spPr>
        </p:sp>
      </p:grpSp>
      <p:grpSp>
        <p:nvGrpSpPr>
          <p:cNvPr name="Group 36" id="36"/>
          <p:cNvGrpSpPr/>
          <p:nvPr/>
        </p:nvGrpSpPr>
        <p:grpSpPr>
          <a:xfrm rot="0">
            <a:off x="816693" y="2506113"/>
            <a:ext cx="6882860" cy="870680"/>
            <a:chOff x="0" y="0"/>
            <a:chExt cx="9177147" cy="1160907"/>
          </a:xfrm>
        </p:grpSpPr>
        <p:sp>
          <p:nvSpPr>
            <p:cNvPr name="Freeform 37" id="37"/>
            <p:cNvSpPr/>
            <p:nvPr/>
          </p:nvSpPr>
          <p:spPr>
            <a:xfrm flipH="false" flipV="false" rot="0">
              <a:off x="0" y="0"/>
              <a:ext cx="9177141" cy="1160907"/>
            </a:xfrm>
            <a:custGeom>
              <a:avLst/>
              <a:gdLst/>
              <a:ahLst/>
              <a:cxnLst/>
              <a:rect r="r" b="b" t="t" l="l"/>
              <a:pathLst>
                <a:path h="1160907" w="9177141">
                  <a:moveTo>
                    <a:pt x="0" y="0"/>
                  </a:moveTo>
                  <a:lnTo>
                    <a:pt x="9177141" y="0"/>
                  </a:lnTo>
                  <a:lnTo>
                    <a:pt x="9177141" y="1160907"/>
                  </a:lnTo>
                  <a:lnTo>
                    <a:pt x="0" y="1160907"/>
                  </a:lnTo>
                  <a:close/>
                </a:path>
              </a:pathLst>
            </a:custGeom>
            <a:blipFill>
              <a:blip r:embed="rId9">
                <a:alphaModFix amt="0"/>
              </a:blip>
              <a:stretch>
                <a:fillRect l="0" t="-104032" r="0" b="-104032"/>
              </a:stretch>
            </a:blipFill>
          </p:spPr>
        </p:sp>
        <p:sp>
          <p:nvSpPr>
            <p:cNvPr name="TextBox 38" id="38"/>
            <p:cNvSpPr txBox="true"/>
            <p:nvPr/>
          </p:nvSpPr>
          <p:spPr>
            <a:xfrm>
              <a:off x="0" y="-66675"/>
              <a:ext cx="9177147" cy="1227582"/>
            </a:xfrm>
            <a:prstGeom prst="rect">
              <a:avLst/>
            </a:prstGeom>
          </p:spPr>
          <p:txBody>
            <a:bodyPr anchor="ctr" rtlCol="false" tIns="0" lIns="0" bIns="0" rIns="0"/>
            <a:lstStyle/>
            <a:p>
              <a:pPr algn="l">
                <a:lnSpc>
                  <a:spcPts val="3099"/>
                </a:lnSpc>
              </a:pPr>
              <a:r>
                <a:rPr lang="en-US" sz="1999" spc="229">
                  <a:solidFill>
                    <a:srgbClr val="F5F4F4"/>
                  </a:solidFill>
                  <a:latin typeface="TT Commons Pro"/>
                  <a:ea typeface="TT Commons Pro"/>
                  <a:cs typeface="TT Commons Pro"/>
                  <a:sym typeface="TT Commons Pro"/>
                </a:rPr>
                <a:t>A COMPARATIVE STUDY OF INDIA'S LEADING</a:t>
              </a:r>
            </a:p>
            <a:p>
              <a:pPr algn="l">
                <a:lnSpc>
                  <a:spcPts val="3099"/>
                </a:lnSpc>
              </a:pPr>
              <a:r>
                <a:rPr lang="en-US" sz="1999" spc="229">
                  <a:solidFill>
                    <a:srgbClr val="F5F4F4"/>
                  </a:solidFill>
                  <a:latin typeface="TT Commons Pro"/>
                  <a:ea typeface="TT Commons Pro"/>
                  <a:cs typeface="TT Commons Pro"/>
                  <a:sym typeface="TT Commons Pro"/>
                </a:rPr>
                <a:t>FOOD DELIVERY PLATFORMS</a:t>
              </a:r>
            </a:p>
          </p:txBody>
        </p:sp>
      </p:grpSp>
      <p:grpSp>
        <p:nvGrpSpPr>
          <p:cNvPr name="Group 39" id="39"/>
          <p:cNvGrpSpPr/>
          <p:nvPr/>
        </p:nvGrpSpPr>
        <p:grpSpPr>
          <a:xfrm rot="0">
            <a:off x="2399024" y="940651"/>
            <a:ext cx="1378172" cy="1400080"/>
            <a:chOff x="0" y="0"/>
            <a:chExt cx="1837563" cy="1866773"/>
          </a:xfrm>
        </p:grpSpPr>
        <p:sp>
          <p:nvSpPr>
            <p:cNvPr name="Freeform 40" id="40" descr="preencoded.png"/>
            <p:cNvSpPr/>
            <p:nvPr/>
          </p:nvSpPr>
          <p:spPr>
            <a:xfrm flipH="false" flipV="false" rot="0">
              <a:off x="0" y="0"/>
              <a:ext cx="1837563" cy="1866773"/>
            </a:xfrm>
            <a:custGeom>
              <a:avLst/>
              <a:gdLst/>
              <a:ahLst/>
              <a:cxnLst/>
              <a:rect r="r" b="b" t="t" l="l"/>
              <a:pathLst>
                <a:path h="1866773" w="1837563">
                  <a:moveTo>
                    <a:pt x="0" y="0"/>
                  </a:moveTo>
                  <a:lnTo>
                    <a:pt x="1837563" y="0"/>
                  </a:lnTo>
                  <a:lnTo>
                    <a:pt x="1837563" y="1866773"/>
                  </a:lnTo>
                  <a:lnTo>
                    <a:pt x="0" y="1866773"/>
                  </a:lnTo>
                  <a:lnTo>
                    <a:pt x="0" y="0"/>
                  </a:lnTo>
                  <a:close/>
                </a:path>
              </a:pathLst>
            </a:custGeom>
            <a:blipFill>
              <a:blip r:embed="rId10"/>
              <a:stretch>
                <a:fillRect l="-207" t="0" r="-208" b="0"/>
              </a:stretch>
            </a:blipFill>
          </p:spPr>
        </p:sp>
      </p:grpSp>
      <p:grpSp>
        <p:nvGrpSpPr>
          <p:cNvPr name="Group 41" id="41"/>
          <p:cNvGrpSpPr/>
          <p:nvPr/>
        </p:nvGrpSpPr>
        <p:grpSpPr>
          <a:xfrm rot="0">
            <a:off x="2143811" y="940651"/>
            <a:ext cx="21908" cy="1392746"/>
            <a:chOff x="0" y="0"/>
            <a:chExt cx="29210" cy="1856994"/>
          </a:xfrm>
        </p:grpSpPr>
        <p:sp>
          <p:nvSpPr>
            <p:cNvPr name="Freeform 42" id="42" descr="preencoded.png"/>
            <p:cNvSpPr/>
            <p:nvPr/>
          </p:nvSpPr>
          <p:spPr>
            <a:xfrm flipH="false" flipV="false" rot="0">
              <a:off x="0" y="0"/>
              <a:ext cx="29210" cy="1856994"/>
            </a:xfrm>
            <a:custGeom>
              <a:avLst/>
              <a:gdLst/>
              <a:ahLst/>
              <a:cxnLst/>
              <a:rect r="r" b="b" t="t" l="l"/>
              <a:pathLst>
                <a:path h="1856994" w="29210">
                  <a:moveTo>
                    <a:pt x="0" y="0"/>
                  </a:moveTo>
                  <a:lnTo>
                    <a:pt x="29210" y="0"/>
                  </a:lnTo>
                  <a:lnTo>
                    <a:pt x="29210" y="1856994"/>
                  </a:lnTo>
                  <a:lnTo>
                    <a:pt x="0" y="1856994"/>
                  </a:lnTo>
                  <a:lnTo>
                    <a:pt x="0" y="0"/>
                  </a:lnTo>
                  <a:close/>
                </a:path>
              </a:pathLst>
            </a:custGeom>
            <a:blipFill>
              <a:blip r:embed="rId11"/>
              <a:stretch>
                <a:fillRect l="-5434" t="0" r="-5434" b="0"/>
              </a:stretch>
            </a:blipFill>
          </p:spPr>
        </p:sp>
      </p:grpSp>
      <p:grpSp>
        <p:nvGrpSpPr>
          <p:cNvPr name="Group 43" id="43"/>
          <p:cNvGrpSpPr/>
          <p:nvPr/>
        </p:nvGrpSpPr>
        <p:grpSpPr>
          <a:xfrm rot="0">
            <a:off x="838562" y="2063601"/>
            <a:ext cx="1101071" cy="428758"/>
            <a:chOff x="0" y="0"/>
            <a:chExt cx="1468095" cy="571678"/>
          </a:xfrm>
        </p:grpSpPr>
        <p:sp>
          <p:nvSpPr>
            <p:cNvPr name="Freeform 44" id="44"/>
            <p:cNvSpPr/>
            <p:nvPr/>
          </p:nvSpPr>
          <p:spPr>
            <a:xfrm flipH="false" flipV="false" rot="0">
              <a:off x="0" y="0"/>
              <a:ext cx="1468120" cy="571627"/>
            </a:xfrm>
            <a:custGeom>
              <a:avLst/>
              <a:gdLst/>
              <a:ahLst/>
              <a:cxnLst/>
              <a:rect r="r" b="b" t="t" l="l"/>
              <a:pathLst>
                <a:path h="571627" w="1468120">
                  <a:moveTo>
                    <a:pt x="0" y="0"/>
                  </a:moveTo>
                  <a:lnTo>
                    <a:pt x="1468120" y="0"/>
                  </a:lnTo>
                  <a:lnTo>
                    <a:pt x="1468120" y="571627"/>
                  </a:lnTo>
                  <a:lnTo>
                    <a:pt x="0" y="571627"/>
                  </a:lnTo>
                  <a:close/>
                </a:path>
              </a:pathLst>
            </a:custGeom>
            <a:blipFill>
              <a:blip r:embed="rId6">
                <a:alphaModFix amt="0"/>
              </a:blip>
              <a:stretch>
                <a:fillRect l="0" t="-2" r="1" b="-13"/>
              </a:stretch>
            </a:blipFill>
          </p:spPr>
        </p:sp>
      </p:grpSp>
      <p:grpSp>
        <p:nvGrpSpPr>
          <p:cNvPr name="Group 45" id="45"/>
          <p:cNvGrpSpPr/>
          <p:nvPr/>
        </p:nvGrpSpPr>
        <p:grpSpPr>
          <a:xfrm rot="0">
            <a:off x="838562" y="2113607"/>
            <a:ext cx="1101071" cy="378752"/>
            <a:chOff x="0" y="0"/>
            <a:chExt cx="1468095" cy="505003"/>
          </a:xfrm>
        </p:grpSpPr>
        <p:sp>
          <p:nvSpPr>
            <p:cNvPr name="Freeform 46" id="46"/>
            <p:cNvSpPr/>
            <p:nvPr/>
          </p:nvSpPr>
          <p:spPr>
            <a:xfrm flipH="false" flipV="false" rot="0">
              <a:off x="0" y="0"/>
              <a:ext cx="1468095" cy="505008"/>
            </a:xfrm>
            <a:custGeom>
              <a:avLst/>
              <a:gdLst/>
              <a:ahLst/>
              <a:cxnLst/>
              <a:rect r="r" b="b" t="t" l="l"/>
              <a:pathLst>
                <a:path h="505008" w="1468095">
                  <a:moveTo>
                    <a:pt x="0" y="0"/>
                  </a:moveTo>
                  <a:lnTo>
                    <a:pt x="1468095" y="0"/>
                  </a:lnTo>
                  <a:lnTo>
                    <a:pt x="1468095" y="505008"/>
                  </a:lnTo>
                  <a:lnTo>
                    <a:pt x="0" y="505008"/>
                  </a:lnTo>
                  <a:close/>
                </a:path>
              </a:pathLst>
            </a:custGeom>
            <a:blipFill>
              <a:blip r:embed="rId9">
                <a:alphaModFix amt="0"/>
              </a:blip>
              <a:stretch>
                <a:fillRect l="0" t="-6644" r="0" b="-6643"/>
              </a:stretch>
            </a:blipFill>
          </p:spPr>
        </p:sp>
        <p:sp>
          <p:nvSpPr>
            <p:cNvPr name="TextBox 47" id="47"/>
            <p:cNvSpPr txBox="true"/>
            <p:nvPr/>
          </p:nvSpPr>
          <p:spPr>
            <a:xfrm>
              <a:off x="0" y="66675"/>
              <a:ext cx="1468095" cy="438328"/>
            </a:xfrm>
            <a:prstGeom prst="rect">
              <a:avLst/>
            </a:prstGeom>
          </p:spPr>
          <p:txBody>
            <a:bodyPr anchor="ctr" rtlCol="false" tIns="0" lIns="0" bIns="0" rIns="0"/>
            <a:lstStyle/>
            <a:p>
              <a:pPr algn="l">
                <a:lnSpc>
                  <a:spcPts val="1607"/>
                </a:lnSpc>
              </a:pPr>
              <a:r>
                <a:rPr lang="en-US" sz="1998" b="true">
                  <a:solidFill>
                    <a:srgbClr val="BB640E"/>
                  </a:solidFill>
                  <a:latin typeface="TT Commons Pro Bold"/>
                  <a:ea typeface="TT Commons Pro Bold"/>
                  <a:cs typeface="TT Commons Pro Bold"/>
                  <a:sym typeface="TT Commons Pro Bold"/>
                </a:rPr>
                <a:t>SWIGGY</a:t>
              </a:r>
            </a:p>
          </p:txBody>
        </p:sp>
      </p:grpSp>
      <p:grpSp>
        <p:nvGrpSpPr>
          <p:cNvPr name="Group 48" id="48"/>
          <p:cNvGrpSpPr/>
          <p:nvPr/>
        </p:nvGrpSpPr>
        <p:grpSpPr>
          <a:xfrm rot="0">
            <a:off x="977113" y="947947"/>
            <a:ext cx="758380" cy="1086517"/>
            <a:chOff x="0" y="0"/>
            <a:chExt cx="1011174" cy="1448689"/>
          </a:xfrm>
        </p:grpSpPr>
        <p:sp>
          <p:nvSpPr>
            <p:cNvPr name="Freeform 49" id="49" descr="preencoded.png"/>
            <p:cNvSpPr/>
            <p:nvPr/>
          </p:nvSpPr>
          <p:spPr>
            <a:xfrm flipH="false" flipV="false" rot="0">
              <a:off x="0" y="0"/>
              <a:ext cx="1011174" cy="1448689"/>
            </a:xfrm>
            <a:custGeom>
              <a:avLst/>
              <a:gdLst/>
              <a:ahLst/>
              <a:cxnLst/>
              <a:rect r="r" b="b" t="t" l="l"/>
              <a:pathLst>
                <a:path h="1448689" w="1011174">
                  <a:moveTo>
                    <a:pt x="0" y="0"/>
                  </a:moveTo>
                  <a:lnTo>
                    <a:pt x="1011174" y="0"/>
                  </a:lnTo>
                  <a:lnTo>
                    <a:pt x="1011174" y="1448689"/>
                  </a:lnTo>
                  <a:lnTo>
                    <a:pt x="0" y="1448689"/>
                  </a:lnTo>
                  <a:lnTo>
                    <a:pt x="0" y="0"/>
                  </a:lnTo>
                  <a:close/>
                </a:path>
              </a:pathLst>
            </a:custGeom>
            <a:blipFill>
              <a:blip r:embed="rId12"/>
              <a:stretch>
                <a:fillRect l="0" t="-121" r="0" b="-121"/>
              </a:stretch>
            </a:blipFill>
          </p:spPr>
        </p:sp>
      </p:grpSp>
      <p:grpSp>
        <p:nvGrpSpPr>
          <p:cNvPr name="Group 50" id="50"/>
          <p:cNvGrpSpPr/>
          <p:nvPr/>
        </p:nvGrpSpPr>
        <p:grpSpPr>
          <a:xfrm rot="0">
            <a:off x="2486530" y="1443790"/>
            <a:ext cx="1239622" cy="577244"/>
            <a:chOff x="0" y="0"/>
            <a:chExt cx="1652829" cy="769658"/>
          </a:xfrm>
        </p:grpSpPr>
        <p:sp>
          <p:nvSpPr>
            <p:cNvPr name="Freeform 51" id="51"/>
            <p:cNvSpPr/>
            <p:nvPr/>
          </p:nvSpPr>
          <p:spPr>
            <a:xfrm flipH="false" flipV="false" rot="0">
              <a:off x="0" y="0"/>
              <a:ext cx="1652778" cy="769620"/>
            </a:xfrm>
            <a:custGeom>
              <a:avLst/>
              <a:gdLst/>
              <a:ahLst/>
              <a:cxnLst/>
              <a:rect r="r" b="b" t="t" l="l"/>
              <a:pathLst>
                <a:path h="769620" w="1652778">
                  <a:moveTo>
                    <a:pt x="0" y="0"/>
                  </a:moveTo>
                  <a:lnTo>
                    <a:pt x="1652778" y="0"/>
                  </a:lnTo>
                  <a:lnTo>
                    <a:pt x="1652778" y="769620"/>
                  </a:lnTo>
                  <a:lnTo>
                    <a:pt x="0" y="769620"/>
                  </a:lnTo>
                  <a:close/>
                </a:path>
              </a:pathLst>
            </a:custGeom>
            <a:blipFill>
              <a:blip r:embed="rId6">
                <a:alphaModFix amt="0"/>
              </a:blip>
              <a:stretch>
                <a:fillRect l="-9787" t="0" r="-9790" b="-4"/>
              </a:stretch>
            </a:blipFill>
          </p:spPr>
        </p:sp>
      </p:grpSp>
      <p:grpSp>
        <p:nvGrpSpPr>
          <p:cNvPr name="Group 52" id="52"/>
          <p:cNvGrpSpPr/>
          <p:nvPr/>
        </p:nvGrpSpPr>
        <p:grpSpPr>
          <a:xfrm rot="0">
            <a:off x="2486530" y="1522371"/>
            <a:ext cx="1239622" cy="498662"/>
            <a:chOff x="0" y="0"/>
            <a:chExt cx="1652829" cy="664883"/>
          </a:xfrm>
        </p:grpSpPr>
        <p:sp>
          <p:nvSpPr>
            <p:cNvPr name="Freeform 53" id="53"/>
            <p:cNvSpPr/>
            <p:nvPr/>
          </p:nvSpPr>
          <p:spPr>
            <a:xfrm flipH="false" flipV="false" rot="0">
              <a:off x="0" y="0"/>
              <a:ext cx="1652829" cy="664885"/>
            </a:xfrm>
            <a:custGeom>
              <a:avLst/>
              <a:gdLst/>
              <a:ahLst/>
              <a:cxnLst/>
              <a:rect r="r" b="b" t="t" l="l"/>
              <a:pathLst>
                <a:path h="664885" w="1652829">
                  <a:moveTo>
                    <a:pt x="0" y="0"/>
                  </a:moveTo>
                  <a:lnTo>
                    <a:pt x="1652829" y="0"/>
                  </a:lnTo>
                  <a:lnTo>
                    <a:pt x="1652829" y="664885"/>
                  </a:lnTo>
                  <a:lnTo>
                    <a:pt x="0" y="664885"/>
                  </a:lnTo>
                  <a:close/>
                </a:path>
              </a:pathLst>
            </a:custGeom>
            <a:blipFill>
              <a:blip r:embed="rId9">
                <a:alphaModFix amt="0"/>
              </a:blip>
              <a:stretch>
                <a:fillRect l="-1612" t="0" r="-1612" b="0"/>
              </a:stretch>
            </a:blipFill>
          </p:spPr>
        </p:sp>
        <p:sp>
          <p:nvSpPr>
            <p:cNvPr name="TextBox 54" id="54"/>
            <p:cNvSpPr txBox="true"/>
            <p:nvPr/>
          </p:nvSpPr>
          <p:spPr>
            <a:xfrm>
              <a:off x="0" y="104775"/>
              <a:ext cx="1652829" cy="560108"/>
            </a:xfrm>
            <a:prstGeom prst="rect">
              <a:avLst/>
            </a:prstGeom>
          </p:spPr>
          <p:txBody>
            <a:bodyPr anchor="ctr" rtlCol="false" tIns="0" lIns="0" bIns="0" rIns="0"/>
            <a:lstStyle/>
            <a:p>
              <a:pPr algn="l">
                <a:lnSpc>
                  <a:spcPts val="2086"/>
                </a:lnSpc>
              </a:pPr>
              <a:r>
                <a:rPr lang="en-US" b="true" sz="2700" i="true">
                  <a:solidFill>
                    <a:srgbClr val="F6C9CB"/>
                  </a:solidFill>
                  <a:latin typeface="TT Commons Pro Bold Italics"/>
                  <a:ea typeface="TT Commons Pro Bold Italics"/>
                  <a:cs typeface="TT Commons Pro Bold Italics"/>
                  <a:sym typeface="TT Commons Pro Bold Italics"/>
                </a:rPr>
                <a:t>zomato</a:t>
              </a:r>
            </a:p>
          </p:txBody>
        </p:sp>
      </p:grpSp>
      <p:grpSp>
        <p:nvGrpSpPr>
          <p:cNvPr name="Group 55" id="55"/>
          <p:cNvGrpSpPr/>
          <p:nvPr/>
        </p:nvGrpSpPr>
        <p:grpSpPr>
          <a:xfrm rot="0">
            <a:off x="962530" y="7321029"/>
            <a:ext cx="16355663" cy="2450021"/>
            <a:chOff x="0" y="0"/>
            <a:chExt cx="21807551" cy="3266694"/>
          </a:xfrm>
        </p:grpSpPr>
        <p:sp>
          <p:nvSpPr>
            <p:cNvPr name="Freeform 56" id="56" descr="preencoded.png"/>
            <p:cNvSpPr/>
            <p:nvPr/>
          </p:nvSpPr>
          <p:spPr>
            <a:xfrm flipH="false" flipV="false" rot="0">
              <a:off x="0" y="0"/>
              <a:ext cx="21807551" cy="3266694"/>
            </a:xfrm>
            <a:custGeom>
              <a:avLst/>
              <a:gdLst/>
              <a:ahLst/>
              <a:cxnLst/>
              <a:rect r="r" b="b" t="t" l="l"/>
              <a:pathLst>
                <a:path h="3266694" w="21807551">
                  <a:moveTo>
                    <a:pt x="0" y="0"/>
                  </a:moveTo>
                  <a:lnTo>
                    <a:pt x="21807551" y="0"/>
                  </a:lnTo>
                  <a:lnTo>
                    <a:pt x="21807551" y="3266694"/>
                  </a:lnTo>
                  <a:lnTo>
                    <a:pt x="0" y="3266694"/>
                  </a:lnTo>
                  <a:lnTo>
                    <a:pt x="0" y="0"/>
                  </a:lnTo>
                  <a:close/>
                </a:path>
              </a:pathLst>
            </a:custGeom>
            <a:blipFill>
              <a:blip r:embed="rId13"/>
              <a:stretch>
                <a:fillRect l="0" t="-92" r="0" b="-92"/>
              </a:stretch>
            </a:blipFill>
          </p:spPr>
        </p:sp>
      </p:grpSp>
      <p:grpSp>
        <p:nvGrpSpPr>
          <p:cNvPr name="Group 57" id="57"/>
          <p:cNvGrpSpPr/>
          <p:nvPr/>
        </p:nvGrpSpPr>
        <p:grpSpPr>
          <a:xfrm rot="0">
            <a:off x="9978009" y="9037358"/>
            <a:ext cx="6353013" cy="497710"/>
            <a:chOff x="0" y="0"/>
            <a:chExt cx="8470684" cy="663613"/>
          </a:xfrm>
        </p:grpSpPr>
        <p:sp>
          <p:nvSpPr>
            <p:cNvPr name="Freeform 58" id="58"/>
            <p:cNvSpPr/>
            <p:nvPr/>
          </p:nvSpPr>
          <p:spPr>
            <a:xfrm flipH="false" flipV="false" rot="0">
              <a:off x="0" y="0"/>
              <a:ext cx="8470646" cy="663575"/>
            </a:xfrm>
            <a:custGeom>
              <a:avLst/>
              <a:gdLst/>
              <a:ahLst/>
              <a:cxnLst/>
              <a:rect r="r" b="b" t="t" l="l"/>
              <a:pathLst>
                <a:path h="663575" w="8470646">
                  <a:moveTo>
                    <a:pt x="0" y="0"/>
                  </a:moveTo>
                  <a:lnTo>
                    <a:pt x="8470646" y="0"/>
                  </a:lnTo>
                  <a:lnTo>
                    <a:pt x="8470646" y="663575"/>
                  </a:lnTo>
                  <a:lnTo>
                    <a:pt x="0" y="663575"/>
                  </a:lnTo>
                  <a:close/>
                </a:path>
              </a:pathLst>
            </a:custGeom>
            <a:solidFill>
              <a:srgbClr val="FCFDFC"/>
            </a:solidFill>
            <a:ln w="21876" cap="sq">
              <a:solidFill>
                <a:srgbClr val="9C9C9C"/>
              </a:solidFill>
              <a:prstDash val="solid"/>
              <a:miter/>
            </a:ln>
          </p:spPr>
        </p:sp>
      </p:grpSp>
      <p:grpSp>
        <p:nvGrpSpPr>
          <p:cNvPr name="Group 59" id="59"/>
          <p:cNvGrpSpPr/>
          <p:nvPr/>
        </p:nvGrpSpPr>
        <p:grpSpPr>
          <a:xfrm rot="0">
            <a:off x="10106530" y="9129417"/>
            <a:ext cx="1254204" cy="433187"/>
            <a:chOff x="0" y="0"/>
            <a:chExt cx="1672273" cy="577583"/>
          </a:xfrm>
        </p:grpSpPr>
        <p:sp>
          <p:nvSpPr>
            <p:cNvPr name="Freeform 60" id="60"/>
            <p:cNvSpPr/>
            <p:nvPr/>
          </p:nvSpPr>
          <p:spPr>
            <a:xfrm flipH="false" flipV="false" rot="0">
              <a:off x="0" y="0"/>
              <a:ext cx="1672209" cy="577596"/>
            </a:xfrm>
            <a:custGeom>
              <a:avLst/>
              <a:gdLst/>
              <a:ahLst/>
              <a:cxnLst/>
              <a:rect r="r" b="b" t="t" l="l"/>
              <a:pathLst>
                <a:path h="577596" w="1672209">
                  <a:moveTo>
                    <a:pt x="0" y="0"/>
                  </a:moveTo>
                  <a:lnTo>
                    <a:pt x="1672209" y="0"/>
                  </a:lnTo>
                  <a:lnTo>
                    <a:pt x="1672209" y="577596"/>
                  </a:lnTo>
                  <a:lnTo>
                    <a:pt x="0" y="577596"/>
                  </a:lnTo>
                  <a:close/>
                </a:path>
              </a:pathLst>
            </a:custGeom>
            <a:blipFill>
              <a:blip r:embed="rId6">
                <a:alphaModFix amt="0"/>
              </a:blip>
              <a:stretch>
                <a:fillRect l="0" t="-6376" r="-3" b="-6372"/>
              </a:stretch>
            </a:blipFill>
          </p:spPr>
        </p:sp>
      </p:grpSp>
      <p:grpSp>
        <p:nvGrpSpPr>
          <p:cNvPr name="Group 61" id="61"/>
          <p:cNvGrpSpPr/>
          <p:nvPr/>
        </p:nvGrpSpPr>
        <p:grpSpPr>
          <a:xfrm rot="0">
            <a:off x="10106530" y="9186567"/>
            <a:ext cx="1254204" cy="376037"/>
            <a:chOff x="0" y="0"/>
            <a:chExt cx="1672273" cy="501383"/>
          </a:xfrm>
        </p:grpSpPr>
        <p:sp>
          <p:nvSpPr>
            <p:cNvPr name="Freeform 62" id="62"/>
            <p:cNvSpPr/>
            <p:nvPr/>
          </p:nvSpPr>
          <p:spPr>
            <a:xfrm flipH="false" flipV="false" rot="0">
              <a:off x="0" y="0"/>
              <a:ext cx="1672272" cy="501381"/>
            </a:xfrm>
            <a:custGeom>
              <a:avLst/>
              <a:gdLst/>
              <a:ahLst/>
              <a:cxnLst/>
              <a:rect r="r" b="b" t="t" l="l"/>
              <a:pathLst>
                <a:path h="501381" w="1672272">
                  <a:moveTo>
                    <a:pt x="0" y="0"/>
                  </a:moveTo>
                  <a:lnTo>
                    <a:pt x="1672272" y="0"/>
                  </a:lnTo>
                  <a:lnTo>
                    <a:pt x="1672272" y="501381"/>
                  </a:lnTo>
                  <a:lnTo>
                    <a:pt x="0" y="501381"/>
                  </a:lnTo>
                  <a:close/>
                </a:path>
              </a:pathLst>
            </a:custGeom>
            <a:blipFill>
              <a:blip r:embed="rId9">
                <a:alphaModFix amt="0"/>
              </a:blip>
              <a:stretch>
                <a:fillRect l="0" t="-14988" r="0" b="-14989"/>
              </a:stretch>
            </a:blipFill>
          </p:spPr>
        </p:sp>
        <p:sp>
          <p:nvSpPr>
            <p:cNvPr name="TextBox 63" id="63"/>
            <p:cNvSpPr txBox="true"/>
            <p:nvPr/>
          </p:nvSpPr>
          <p:spPr>
            <a:xfrm>
              <a:off x="0" y="76200"/>
              <a:ext cx="1672273" cy="425183"/>
            </a:xfrm>
            <a:prstGeom prst="rect">
              <a:avLst/>
            </a:prstGeom>
          </p:spPr>
          <p:txBody>
            <a:bodyPr anchor="ctr" rtlCol="false" tIns="0" lIns="0" bIns="0" rIns="0"/>
            <a:lstStyle/>
            <a:p>
              <a:pPr algn="l">
                <a:lnSpc>
                  <a:spcPts val="1576"/>
                </a:lnSpc>
              </a:pPr>
              <a:r>
                <a:rPr lang="en-US" sz="2000" b="true">
                  <a:solidFill>
                    <a:srgbClr val="434343"/>
                  </a:solidFill>
                  <a:latin typeface="TT Commons Pro Bold"/>
                  <a:ea typeface="TT Commons Pro Bold"/>
                  <a:cs typeface="TT Commons Pro Bold"/>
                  <a:sym typeface="TT Commons Pro Bold"/>
                </a:rPr>
                <a:t>24801076</a:t>
              </a:r>
            </a:p>
          </p:txBody>
        </p:sp>
      </p:grpSp>
      <p:grpSp>
        <p:nvGrpSpPr>
          <p:cNvPr name="Group 64" id="64"/>
          <p:cNvGrpSpPr/>
          <p:nvPr/>
        </p:nvGrpSpPr>
        <p:grpSpPr>
          <a:xfrm rot="0">
            <a:off x="9399213" y="5709533"/>
            <a:ext cx="8757571" cy="3274028"/>
            <a:chOff x="0" y="0"/>
            <a:chExt cx="11676761" cy="4365371"/>
          </a:xfrm>
        </p:grpSpPr>
        <p:sp>
          <p:nvSpPr>
            <p:cNvPr name="Freeform 65" id="65" descr="preencoded.png"/>
            <p:cNvSpPr/>
            <p:nvPr/>
          </p:nvSpPr>
          <p:spPr>
            <a:xfrm flipH="false" flipV="false" rot="0">
              <a:off x="0" y="0"/>
              <a:ext cx="11676761" cy="4365371"/>
            </a:xfrm>
            <a:custGeom>
              <a:avLst/>
              <a:gdLst/>
              <a:ahLst/>
              <a:cxnLst/>
              <a:rect r="r" b="b" t="t" l="l"/>
              <a:pathLst>
                <a:path h="4365371" w="11676761">
                  <a:moveTo>
                    <a:pt x="0" y="0"/>
                  </a:moveTo>
                  <a:lnTo>
                    <a:pt x="11676761" y="0"/>
                  </a:lnTo>
                  <a:lnTo>
                    <a:pt x="11676761" y="4365371"/>
                  </a:lnTo>
                  <a:lnTo>
                    <a:pt x="0" y="4365371"/>
                  </a:lnTo>
                  <a:lnTo>
                    <a:pt x="0" y="0"/>
                  </a:lnTo>
                  <a:close/>
                </a:path>
              </a:pathLst>
            </a:custGeom>
            <a:blipFill>
              <a:blip r:embed="rId14"/>
              <a:stretch>
                <a:fillRect l="0" t="-107" r="0" b="-107"/>
              </a:stretch>
            </a:blipFill>
          </p:spPr>
        </p:sp>
      </p:grpSp>
      <p:grpSp>
        <p:nvGrpSpPr>
          <p:cNvPr name="Group 66" id="66"/>
          <p:cNvGrpSpPr/>
          <p:nvPr/>
        </p:nvGrpSpPr>
        <p:grpSpPr>
          <a:xfrm rot="0">
            <a:off x="9020042" y="8764819"/>
            <a:ext cx="721900" cy="743807"/>
            <a:chOff x="0" y="0"/>
            <a:chExt cx="962533" cy="991743"/>
          </a:xfrm>
        </p:grpSpPr>
        <p:sp>
          <p:nvSpPr>
            <p:cNvPr name="Freeform 67" id="67" descr="preencoded.png"/>
            <p:cNvSpPr/>
            <p:nvPr/>
          </p:nvSpPr>
          <p:spPr>
            <a:xfrm flipH="false" flipV="false" rot="0">
              <a:off x="0" y="0"/>
              <a:ext cx="962533" cy="991743"/>
            </a:xfrm>
            <a:custGeom>
              <a:avLst/>
              <a:gdLst/>
              <a:ahLst/>
              <a:cxnLst/>
              <a:rect r="r" b="b" t="t" l="l"/>
              <a:pathLst>
                <a:path h="991743" w="962533">
                  <a:moveTo>
                    <a:pt x="0" y="0"/>
                  </a:moveTo>
                  <a:lnTo>
                    <a:pt x="962533" y="0"/>
                  </a:lnTo>
                  <a:lnTo>
                    <a:pt x="962533" y="991743"/>
                  </a:lnTo>
                  <a:lnTo>
                    <a:pt x="0" y="991743"/>
                  </a:lnTo>
                  <a:lnTo>
                    <a:pt x="0" y="0"/>
                  </a:lnTo>
                  <a:close/>
                </a:path>
              </a:pathLst>
            </a:custGeom>
            <a:blipFill>
              <a:blip r:embed="rId15"/>
              <a:stretch>
                <a:fillRect l="0" t="-158" r="0" b="-158"/>
              </a:stretch>
            </a:blipFill>
          </p:spPr>
        </p:sp>
      </p:grpSp>
      <p:grpSp>
        <p:nvGrpSpPr>
          <p:cNvPr name="Group 68" id="68"/>
          <p:cNvGrpSpPr/>
          <p:nvPr/>
        </p:nvGrpSpPr>
        <p:grpSpPr>
          <a:xfrm rot="0">
            <a:off x="9978009" y="7928991"/>
            <a:ext cx="6353013" cy="490376"/>
            <a:chOff x="0" y="0"/>
            <a:chExt cx="8470684" cy="653834"/>
          </a:xfrm>
        </p:grpSpPr>
        <p:sp>
          <p:nvSpPr>
            <p:cNvPr name="Freeform 69" id="69"/>
            <p:cNvSpPr/>
            <p:nvPr/>
          </p:nvSpPr>
          <p:spPr>
            <a:xfrm flipH="false" flipV="false" rot="0">
              <a:off x="0" y="0"/>
              <a:ext cx="8470646" cy="653796"/>
            </a:xfrm>
            <a:custGeom>
              <a:avLst/>
              <a:gdLst/>
              <a:ahLst/>
              <a:cxnLst/>
              <a:rect r="r" b="b" t="t" l="l"/>
              <a:pathLst>
                <a:path h="653796" w="8470646">
                  <a:moveTo>
                    <a:pt x="0" y="0"/>
                  </a:moveTo>
                  <a:lnTo>
                    <a:pt x="8470646" y="0"/>
                  </a:lnTo>
                  <a:lnTo>
                    <a:pt x="8470646" y="653796"/>
                  </a:lnTo>
                  <a:lnTo>
                    <a:pt x="0" y="653796"/>
                  </a:lnTo>
                  <a:close/>
                </a:path>
              </a:pathLst>
            </a:custGeom>
            <a:solidFill>
              <a:srgbClr val="FBFDFC"/>
            </a:solidFill>
            <a:ln w="21876" cap="sq">
              <a:solidFill>
                <a:srgbClr val="A0A0A0"/>
              </a:solidFill>
              <a:prstDash val="solid"/>
              <a:miter/>
            </a:ln>
          </p:spPr>
        </p:sp>
      </p:grpSp>
      <p:grpSp>
        <p:nvGrpSpPr>
          <p:cNvPr name="Group 70" id="70"/>
          <p:cNvGrpSpPr/>
          <p:nvPr/>
        </p:nvGrpSpPr>
        <p:grpSpPr>
          <a:xfrm rot="0">
            <a:off x="10106530" y="8021050"/>
            <a:ext cx="5184515" cy="430768"/>
            <a:chOff x="0" y="0"/>
            <a:chExt cx="6912686" cy="574358"/>
          </a:xfrm>
        </p:grpSpPr>
        <p:sp>
          <p:nvSpPr>
            <p:cNvPr name="Freeform 71" id="71"/>
            <p:cNvSpPr/>
            <p:nvPr/>
          </p:nvSpPr>
          <p:spPr>
            <a:xfrm flipH="false" flipV="false" rot="0">
              <a:off x="0" y="0"/>
              <a:ext cx="6912737" cy="574421"/>
            </a:xfrm>
            <a:custGeom>
              <a:avLst/>
              <a:gdLst/>
              <a:ahLst/>
              <a:cxnLst/>
              <a:rect r="r" b="b" t="t" l="l"/>
              <a:pathLst>
                <a:path h="574421" w="6912737">
                  <a:moveTo>
                    <a:pt x="0" y="0"/>
                  </a:moveTo>
                  <a:lnTo>
                    <a:pt x="6912737" y="0"/>
                  </a:lnTo>
                  <a:lnTo>
                    <a:pt x="6912737" y="574421"/>
                  </a:lnTo>
                  <a:lnTo>
                    <a:pt x="0" y="574421"/>
                  </a:lnTo>
                  <a:close/>
                </a:path>
              </a:pathLst>
            </a:custGeom>
            <a:blipFill>
              <a:blip r:embed="rId6">
                <a:alphaModFix amt="0"/>
              </a:blip>
              <a:stretch>
                <a:fillRect l="0" t="-184328" r="0" b="-184317"/>
              </a:stretch>
            </a:blipFill>
          </p:spPr>
        </p:sp>
      </p:grpSp>
      <p:grpSp>
        <p:nvGrpSpPr>
          <p:cNvPr name="Group 72" id="72"/>
          <p:cNvGrpSpPr/>
          <p:nvPr/>
        </p:nvGrpSpPr>
        <p:grpSpPr>
          <a:xfrm rot="0">
            <a:off x="10106530" y="8035338"/>
            <a:ext cx="5184515" cy="416481"/>
            <a:chOff x="0" y="0"/>
            <a:chExt cx="6912686" cy="555308"/>
          </a:xfrm>
        </p:grpSpPr>
        <p:sp>
          <p:nvSpPr>
            <p:cNvPr name="Freeform 73" id="73"/>
            <p:cNvSpPr/>
            <p:nvPr/>
          </p:nvSpPr>
          <p:spPr>
            <a:xfrm flipH="false" flipV="false" rot="0">
              <a:off x="0" y="0"/>
              <a:ext cx="6912687" cy="555309"/>
            </a:xfrm>
            <a:custGeom>
              <a:avLst/>
              <a:gdLst/>
              <a:ahLst/>
              <a:cxnLst/>
              <a:rect r="r" b="b" t="t" l="l"/>
              <a:pathLst>
                <a:path h="555309" w="6912687">
                  <a:moveTo>
                    <a:pt x="0" y="0"/>
                  </a:moveTo>
                  <a:lnTo>
                    <a:pt x="6912687" y="0"/>
                  </a:lnTo>
                  <a:lnTo>
                    <a:pt x="6912687" y="555309"/>
                  </a:lnTo>
                  <a:lnTo>
                    <a:pt x="0" y="555309"/>
                  </a:lnTo>
                  <a:close/>
                </a:path>
              </a:pathLst>
            </a:custGeom>
            <a:blipFill>
              <a:blip r:embed="rId9">
                <a:alphaModFix amt="0"/>
              </a:blip>
              <a:stretch>
                <a:fillRect l="0" t="-192557" r="0" b="-192556"/>
              </a:stretch>
            </a:blipFill>
          </p:spPr>
        </p:sp>
        <p:sp>
          <p:nvSpPr>
            <p:cNvPr name="TextBox 74" id="74"/>
            <p:cNvSpPr txBox="true"/>
            <p:nvPr/>
          </p:nvSpPr>
          <p:spPr>
            <a:xfrm>
              <a:off x="0" y="19050"/>
              <a:ext cx="6912686" cy="536258"/>
            </a:xfrm>
            <a:prstGeom prst="rect">
              <a:avLst/>
            </a:prstGeom>
          </p:spPr>
          <p:txBody>
            <a:bodyPr anchor="ctr" rtlCol="false" tIns="0" lIns="0" bIns="0" rIns="0"/>
            <a:lstStyle/>
            <a:p>
              <a:pPr algn="l">
                <a:lnSpc>
                  <a:spcPts val="2195"/>
                </a:lnSpc>
              </a:pPr>
              <a:r>
                <a:rPr lang="en-US" b="true" sz="2000" i="true">
                  <a:solidFill>
                    <a:srgbClr val="515151"/>
                  </a:solidFill>
                  <a:latin typeface="TT Commons Pro Bold Italics"/>
                  <a:ea typeface="TT Commons Pro Bold Italics"/>
                  <a:cs typeface="TT Commons Pro Bold Italics"/>
                  <a:sym typeface="TT Commons Pro Bold Italics"/>
                </a:rPr>
                <a:t>Sant Baba Bhag Singh University Jalandhar</a:t>
              </a:r>
            </a:p>
          </p:txBody>
        </p:sp>
      </p:grpSp>
      <p:grpSp>
        <p:nvGrpSpPr>
          <p:cNvPr name="Group 75" id="75"/>
          <p:cNvGrpSpPr/>
          <p:nvPr/>
        </p:nvGrpSpPr>
        <p:grpSpPr>
          <a:xfrm rot="0">
            <a:off x="9027328" y="7678331"/>
            <a:ext cx="714566" cy="736473"/>
            <a:chOff x="0" y="0"/>
            <a:chExt cx="952754" cy="981964"/>
          </a:xfrm>
        </p:grpSpPr>
        <p:sp>
          <p:nvSpPr>
            <p:cNvPr name="Freeform 76" id="76" descr="preencoded.png"/>
            <p:cNvSpPr/>
            <p:nvPr/>
          </p:nvSpPr>
          <p:spPr>
            <a:xfrm flipH="false" flipV="false" rot="0">
              <a:off x="0" y="0"/>
              <a:ext cx="952754" cy="981964"/>
            </a:xfrm>
            <a:custGeom>
              <a:avLst/>
              <a:gdLst/>
              <a:ahLst/>
              <a:cxnLst/>
              <a:rect r="r" b="b" t="t" l="l"/>
              <a:pathLst>
                <a:path h="981964" w="952754">
                  <a:moveTo>
                    <a:pt x="0" y="0"/>
                  </a:moveTo>
                  <a:lnTo>
                    <a:pt x="952754" y="0"/>
                  </a:lnTo>
                  <a:lnTo>
                    <a:pt x="952754" y="981964"/>
                  </a:lnTo>
                  <a:lnTo>
                    <a:pt x="0" y="981964"/>
                  </a:lnTo>
                  <a:lnTo>
                    <a:pt x="0" y="0"/>
                  </a:lnTo>
                  <a:close/>
                </a:path>
              </a:pathLst>
            </a:custGeom>
            <a:blipFill>
              <a:blip r:embed="rId16"/>
              <a:stretch>
                <a:fillRect l="-243" t="0" r="-245" b="0"/>
              </a:stretch>
            </a:blipFill>
          </p:spPr>
        </p:sp>
      </p:grpSp>
      <p:grpSp>
        <p:nvGrpSpPr>
          <p:cNvPr name="Group 77" id="77"/>
          <p:cNvGrpSpPr/>
          <p:nvPr/>
        </p:nvGrpSpPr>
        <p:grpSpPr>
          <a:xfrm rot="0">
            <a:off x="9202331" y="7970006"/>
            <a:ext cx="350006" cy="440865"/>
            <a:chOff x="0" y="0"/>
            <a:chExt cx="466674" cy="587820"/>
          </a:xfrm>
        </p:grpSpPr>
        <p:sp>
          <p:nvSpPr>
            <p:cNvPr name="Freeform 78" id="78"/>
            <p:cNvSpPr/>
            <p:nvPr/>
          </p:nvSpPr>
          <p:spPr>
            <a:xfrm flipH="false" flipV="false" rot="0">
              <a:off x="0" y="0"/>
              <a:ext cx="466725" cy="587883"/>
            </a:xfrm>
            <a:custGeom>
              <a:avLst/>
              <a:gdLst/>
              <a:ahLst/>
              <a:cxnLst/>
              <a:rect r="r" b="b" t="t" l="l"/>
              <a:pathLst>
                <a:path h="587883" w="466725">
                  <a:moveTo>
                    <a:pt x="0" y="0"/>
                  </a:moveTo>
                  <a:lnTo>
                    <a:pt x="466725" y="0"/>
                  </a:lnTo>
                  <a:lnTo>
                    <a:pt x="466725" y="587883"/>
                  </a:lnTo>
                  <a:lnTo>
                    <a:pt x="0" y="587883"/>
                  </a:lnTo>
                  <a:close/>
                </a:path>
              </a:pathLst>
            </a:custGeom>
            <a:blipFill>
              <a:blip r:embed="rId6">
                <a:alphaModFix amt="0"/>
              </a:blip>
              <a:stretch>
                <a:fillRect l="-111708" t="0" r="-111700" b="10"/>
              </a:stretch>
            </a:blipFill>
          </p:spPr>
        </p:sp>
      </p:grpSp>
      <p:grpSp>
        <p:nvGrpSpPr>
          <p:cNvPr name="Group 79" id="79"/>
          <p:cNvGrpSpPr/>
          <p:nvPr/>
        </p:nvGrpSpPr>
        <p:grpSpPr>
          <a:xfrm rot="0">
            <a:off x="9202331" y="8020012"/>
            <a:ext cx="350006" cy="390858"/>
            <a:chOff x="0" y="0"/>
            <a:chExt cx="466674" cy="521144"/>
          </a:xfrm>
        </p:grpSpPr>
        <p:sp>
          <p:nvSpPr>
            <p:cNvPr name="Freeform 80" id="80"/>
            <p:cNvSpPr/>
            <p:nvPr/>
          </p:nvSpPr>
          <p:spPr>
            <a:xfrm flipH="false" flipV="false" rot="0">
              <a:off x="0" y="0"/>
              <a:ext cx="466675" cy="521144"/>
            </a:xfrm>
            <a:custGeom>
              <a:avLst/>
              <a:gdLst/>
              <a:ahLst/>
              <a:cxnLst/>
              <a:rect r="r" b="b" t="t" l="l"/>
              <a:pathLst>
                <a:path h="521144" w="466675">
                  <a:moveTo>
                    <a:pt x="0" y="0"/>
                  </a:moveTo>
                  <a:lnTo>
                    <a:pt x="466675" y="0"/>
                  </a:lnTo>
                  <a:lnTo>
                    <a:pt x="466675" y="521144"/>
                  </a:lnTo>
                  <a:lnTo>
                    <a:pt x="0" y="521144"/>
                  </a:lnTo>
                  <a:close/>
                </a:path>
              </a:pathLst>
            </a:custGeom>
            <a:blipFill>
              <a:blip r:embed="rId9">
                <a:alphaModFix amt="0"/>
              </a:blip>
              <a:stretch>
                <a:fillRect l="-93279" t="0" r="-93278" b="0"/>
              </a:stretch>
            </a:blipFill>
          </p:spPr>
        </p:sp>
        <p:sp>
          <p:nvSpPr>
            <p:cNvPr name="TextBox 81" id="81"/>
            <p:cNvSpPr txBox="true"/>
            <p:nvPr/>
          </p:nvSpPr>
          <p:spPr>
            <a:xfrm>
              <a:off x="0" y="66675"/>
              <a:ext cx="466674" cy="454469"/>
            </a:xfrm>
            <a:prstGeom prst="rect">
              <a:avLst/>
            </a:prstGeom>
          </p:spPr>
          <p:txBody>
            <a:bodyPr anchor="ctr" rtlCol="false" tIns="0" lIns="0" bIns="0" rIns="0"/>
            <a:lstStyle/>
            <a:p>
              <a:pPr algn="l">
                <a:lnSpc>
                  <a:spcPts val="1779"/>
                </a:lnSpc>
              </a:pPr>
              <a:r>
                <a:rPr lang="en-US" sz="2066" b="true">
                  <a:solidFill>
                    <a:srgbClr val="F5C5C5"/>
                  </a:solidFill>
                  <a:latin typeface="TT Commons Pro Bold"/>
                  <a:ea typeface="TT Commons Pro Bold"/>
                  <a:cs typeface="TT Commons Pro Bold"/>
                  <a:sym typeface="TT Commons Pro Bold"/>
                </a:rPr>
                <a:t>IHI</a:t>
              </a:r>
            </a:p>
          </p:txBody>
        </p:sp>
      </p:grpSp>
      <p:grpSp>
        <p:nvGrpSpPr>
          <p:cNvPr name="Group 82" id="82"/>
          <p:cNvGrpSpPr/>
          <p:nvPr/>
        </p:nvGrpSpPr>
        <p:grpSpPr>
          <a:xfrm rot="0">
            <a:off x="2533012" y="9037358"/>
            <a:ext cx="5952001" cy="497710"/>
            <a:chOff x="0" y="0"/>
            <a:chExt cx="7936001" cy="663613"/>
          </a:xfrm>
        </p:grpSpPr>
        <p:sp>
          <p:nvSpPr>
            <p:cNvPr name="Freeform 83" id="83"/>
            <p:cNvSpPr/>
            <p:nvPr/>
          </p:nvSpPr>
          <p:spPr>
            <a:xfrm flipH="false" flipV="false" rot="0">
              <a:off x="0" y="0"/>
              <a:ext cx="7935976" cy="663575"/>
            </a:xfrm>
            <a:custGeom>
              <a:avLst/>
              <a:gdLst/>
              <a:ahLst/>
              <a:cxnLst/>
              <a:rect r="r" b="b" t="t" l="l"/>
              <a:pathLst>
                <a:path h="663575" w="7935976">
                  <a:moveTo>
                    <a:pt x="0" y="0"/>
                  </a:moveTo>
                  <a:lnTo>
                    <a:pt x="7935976" y="0"/>
                  </a:lnTo>
                  <a:lnTo>
                    <a:pt x="7935976" y="663575"/>
                  </a:lnTo>
                  <a:lnTo>
                    <a:pt x="0" y="663575"/>
                  </a:lnTo>
                  <a:close/>
                </a:path>
              </a:pathLst>
            </a:custGeom>
            <a:solidFill>
              <a:srgbClr val="FCFCFC"/>
            </a:solidFill>
            <a:ln w="21876" cap="sq">
              <a:solidFill>
                <a:srgbClr val="8E8E8E"/>
              </a:solidFill>
              <a:prstDash val="solid"/>
              <a:miter/>
            </a:ln>
          </p:spPr>
        </p:sp>
      </p:grpSp>
      <p:grpSp>
        <p:nvGrpSpPr>
          <p:cNvPr name="Group 84" id="84"/>
          <p:cNvGrpSpPr/>
          <p:nvPr/>
        </p:nvGrpSpPr>
        <p:grpSpPr>
          <a:xfrm rot="0">
            <a:off x="2661533" y="9136704"/>
            <a:ext cx="2683412" cy="424463"/>
            <a:chOff x="0" y="0"/>
            <a:chExt cx="3577882" cy="565950"/>
          </a:xfrm>
        </p:grpSpPr>
        <p:sp>
          <p:nvSpPr>
            <p:cNvPr name="Freeform 85" id="85"/>
            <p:cNvSpPr/>
            <p:nvPr/>
          </p:nvSpPr>
          <p:spPr>
            <a:xfrm flipH="false" flipV="false" rot="0">
              <a:off x="0" y="0"/>
              <a:ext cx="3577844" cy="565912"/>
            </a:xfrm>
            <a:custGeom>
              <a:avLst/>
              <a:gdLst/>
              <a:ahLst/>
              <a:cxnLst/>
              <a:rect r="r" b="b" t="t" l="l"/>
              <a:pathLst>
                <a:path h="565912" w="3577844">
                  <a:moveTo>
                    <a:pt x="0" y="0"/>
                  </a:moveTo>
                  <a:lnTo>
                    <a:pt x="3577844" y="0"/>
                  </a:lnTo>
                  <a:lnTo>
                    <a:pt x="3577844" y="565912"/>
                  </a:lnTo>
                  <a:lnTo>
                    <a:pt x="0" y="565912"/>
                  </a:lnTo>
                  <a:close/>
                </a:path>
              </a:pathLst>
            </a:custGeom>
            <a:blipFill>
              <a:blip r:embed="rId6">
                <a:alphaModFix amt="0"/>
              </a:blip>
              <a:stretch>
                <a:fillRect l="0" t="-73101" r="-1" b="-73108"/>
              </a:stretch>
            </a:blipFill>
          </p:spPr>
        </p:sp>
      </p:grpSp>
      <p:grpSp>
        <p:nvGrpSpPr>
          <p:cNvPr name="Group 86" id="86"/>
          <p:cNvGrpSpPr/>
          <p:nvPr/>
        </p:nvGrpSpPr>
        <p:grpSpPr>
          <a:xfrm rot="0">
            <a:off x="2661533" y="9179566"/>
            <a:ext cx="2683402" cy="381600"/>
            <a:chOff x="0" y="0"/>
            <a:chExt cx="3577869" cy="508800"/>
          </a:xfrm>
        </p:grpSpPr>
        <p:sp>
          <p:nvSpPr>
            <p:cNvPr name="Freeform 87" id="87"/>
            <p:cNvSpPr/>
            <p:nvPr/>
          </p:nvSpPr>
          <p:spPr>
            <a:xfrm flipH="false" flipV="false" rot="0">
              <a:off x="0" y="0"/>
              <a:ext cx="3577869" cy="508803"/>
            </a:xfrm>
            <a:custGeom>
              <a:avLst/>
              <a:gdLst/>
              <a:ahLst/>
              <a:cxnLst/>
              <a:rect r="r" b="b" t="t" l="l"/>
              <a:pathLst>
                <a:path h="508803" w="3577869">
                  <a:moveTo>
                    <a:pt x="0" y="0"/>
                  </a:moveTo>
                  <a:lnTo>
                    <a:pt x="3577869" y="0"/>
                  </a:lnTo>
                  <a:lnTo>
                    <a:pt x="3577869" y="508803"/>
                  </a:lnTo>
                  <a:lnTo>
                    <a:pt x="0" y="508803"/>
                  </a:lnTo>
                  <a:close/>
                </a:path>
              </a:pathLst>
            </a:custGeom>
            <a:blipFill>
              <a:blip r:embed="rId9">
                <a:alphaModFix amt="0"/>
              </a:blip>
              <a:stretch>
                <a:fillRect l="0" t="-87017" r="0" b="-87017"/>
              </a:stretch>
            </a:blipFill>
          </p:spPr>
        </p:sp>
        <p:sp>
          <p:nvSpPr>
            <p:cNvPr name="TextBox 88" id="88"/>
            <p:cNvSpPr txBox="true"/>
            <p:nvPr/>
          </p:nvSpPr>
          <p:spPr>
            <a:xfrm>
              <a:off x="0" y="57150"/>
              <a:ext cx="3577869" cy="451650"/>
            </a:xfrm>
            <a:prstGeom prst="rect">
              <a:avLst/>
            </a:prstGeom>
          </p:spPr>
          <p:txBody>
            <a:bodyPr anchor="ctr" rtlCol="false" tIns="0" lIns="0" bIns="0" rIns="0"/>
            <a:lstStyle/>
            <a:p>
              <a:pPr algn="l">
                <a:lnSpc>
                  <a:spcPts val="1719"/>
                </a:lnSpc>
              </a:pPr>
              <a:r>
                <a:rPr lang="en-US" b="true" sz="2000" i="true">
                  <a:solidFill>
                    <a:srgbClr val="4A4A4A"/>
                  </a:solidFill>
                  <a:latin typeface="TT Commons Pro Bold Italics"/>
                  <a:ea typeface="TT Commons Pro Bold Italics"/>
                  <a:cs typeface="TT Commons Pro Bold Italics"/>
                  <a:sym typeface="TT Commons Pro Bold Italics"/>
                </a:rPr>
                <a:t>B.Tech CSE AI and ML</a:t>
              </a:r>
            </a:p>
          </p:txBody>
        </p:sp>
      </p:grpSp>
      <p:grpSp>
        <p:nvGrpSpPr>
          <p:cNvPr name="Group 89" id="89"/>
          <p:cNvGrpSpPr/>
          <p:nvPr/>
        </p:nvGrpSpPr>
        <p:grpSpPr>
          <a:xfrm rot="0">
            <a:off x="1553166" y="8757533"/>
            <a:ext cx="743807" cy="751046"/>
            <a:chOff x="0" y="0"/>
            <a:chExt cx="991743" cy="1001395"/>
          </a:xfrm>
        </p:grpSpPr>
        <p:sp>
          <p:nvSpPr>
            <p:cNvPr name="Freeform 90" id="90" descr="preencoded.png"/>
            <p:cNvSpPr/>
            <p:nvPr/>
          </p:nvSpPr>
          <p:spPr>
            <a:xfrm flipH="false" flipV="false" rot="0">
              <a:off x="0" y="0"/>
              <a:ext cx="991743" cy="1001395"/>
            </a:xfrm>
            <a:custGeom>
              <a:avLst/>
              <a:gdLst/>
              <a:ahLst/>
              <a:cxnLst/>
              <a:rect r="r" b="b" t="t" l="l"/>
              <a:pathLst>
                <a:path h="1001395" w="991743">
                  <a:moveTo>
                    <a:pt x="0" y="0"/>
                  </a:moveTo>
                  <a:lnTo>
                    <a:pt x="991743" y="0"/>
                  </a:lnTo>
                  <a:lnTo>
                    <a:pt x="991743" y="1001395"/>
                  </a:lnTo>
                  <a:lnTo>
                    <a:pt x="0" y="1001395"/>
                  </a:lnTo>
                  <a:lnTo>
                    <a:pt x="0" y="0"/>
                  </a:lnTo>
                  <a:close/>
                </a:path>
              </a:pathLst>
            </a:custGeom>
            <a:blipFill>
              <a:blip r:embed="rId17"/>
              <a:stretch>
                <a:fillRect l="-75" t="0" r="-76" b="0"/>
              </a:stretch>
            </a:blipFill>
          </p:spPr>
        </p:sp>
      </p:grpSp>
      <p:grpSp>
        <p:nvGrpSpPr>
          <p:cNvPr name="Group 91" id="91"/>
          <p:cNvGrpSpPr/>
          <p:nvPr/>
        </p:nvGrpSpPr>
        <p:grpSpPr>
          <a:xfrm rot="0">
            <a:off x="2533012" y="7928991"/>
            <a:ext cx="5959250" cy="490376"/>
            <a:chOff x="0" y="0"/>
            <a:chExt cx="7945666" cy="653834"/>
          </a:xfrm>
        </p:grpSpPr>
        <p:sp>
          <p:nvSpPr>
            <p:cNvPr name="Freeform 92" id="92"/>
            <p:cNvSpPr/>
            <p:nvPr/>
          </p:nvSpPr>
          <p:spPr>
            <a:xfrm flipH="false" flipV="false" rot="0">
              <a:off x="0" y="0"/>
              <a:ext cx="7945628" cy="653796"/>
            </a:xfrm>
            <a:custGeom>
              <a:avLst/>
              <a:gdLst/>
              <a:ahLst/>
              <a:cxnLst/>
              <a:rect r="r" b="b" t="t" l="l"/>
              <a:pathLst>
                <a:path h="653796" w="7945628">
                  <a:moveTo>
                    <a:pt x="0" y="0"/>
                  </a:moveTo>
                  <a:lnTo>
                    <a:pt x="7945628" y="0"/>
                  </a:lnTo>
                  <a:lnTo>
                    <a:pt x="7945628" y="653796"/>
                  </a:lnTo>
                  <a:lnTo>
                    <a:pt x="0" y="653796"/>
                  </a:lnTo>
                  <a:close/>
                </a:path>
              </a:pathLst>
            </a:custGeom>
            <a:solidFill>
              <a:srgbClr val="FDFDFD"/>
            </a:solidFill>
            <a:ln w="21876" cap="sq">
              <a:solidFill>
                <a:srgbClr val="969696"/>
              </a:solidFill>
              <a:prstDash val="solid"/>
              <a:miter/>
            </a:ln>
          </p:spPr>
        </p:sp>
      </p:grpSp>
      <p:grpSp>
        <p:nvGrpSpPr>
          <p:cNvPr name="Group 93" id="93"/>
          <p:cNvGrpSpPr/>
          <p:nvPr/>
        </p:nvGrpSpPr>
        <p:grpSpPr>
          <a:xfrm rot="0">
            <a:off x="2661533" y="7992742"/>
            <a:ext cx="1742761" cy="424043"/>
            <a:chOff x="0" y="0"/>
            <a:chExt cx="2323681" cy="565391"/>
          </a:xfrm>
        </p:grpSpPr>
        <p:sp>
          <p:nvSpPr>
            <p:cNvPr name="Freeform 94" id="94"/>
            <p:cNvSpPr/>
            <p:nvPr/>
          </p:nvSpPr>
          <p:spPr>
            <a:xfrm flipH="false" flipV="false" rot="0">
              <a:off x="0" y="0"/>
              <a:ext cx="2323719" cy="565404"/>
            </a:xfrm>
            <a:custGeom>
              <a:avLst/>
              <a:gdLst/>
              <a:ahLst/>
              <a:cxnLst/>
              <a:rect r="r" b="b" t="t" l="l"/>
              <a:pathLst>
                <a:path h="565404" w="2323719">
                  <a:moveTo>
                    <a:pt x="0" y="0"/>
                  </a:moveTo>
                  <a:lnTo>
                    <a:pt x="2323719" y="0"/>
                  </a:lnTo>
                  <a:lnTo>
                    <a:pt x="2323719" y="565404"/>
                  </a:lnTo>
                  <a:lnTo>
                    <a:pt x="0" y="565404"/>
                  </a:lnTo>
                  <a:close/>
                </a:path>
              </a:pathLst>
            </a:custGeom>
            <a:blipFill>
              <a:blip r:embed="rId6">
                <a:alphaModFix amt="0"/>
              </a:blip>
              <a:stretch>
                <a:fillRect l="0" t="-30024" r="1" b="-30022"/>
              </a:stretch>
            </a:blipFill>
          </p:spPr>
        </p:sp>
      </p:grpSp>
      <p:grpSp>
        <p:nvGrpSpPr>
          <p:cNvPr name="Group 95" id="95"/>
          <p:cNvGrpSpPr/>
          <p:nvPr/>
        </p:nvGrpSpPr>
        <p:grpSpPr>
          <a:xfrm rot="0">
            <a:off x="2661533" y="8049892"/>
            <a:ext cx="1742761" cy="366903"/>
            <a:chOff x="0" y="0"/>
            <a:chExt cx="2323681" cy="489204"/>
          </a:xfrm>
        </p:grpSpPr>
        <p:sp>
          <p:nvSpPr>
            <p:cNvPr name="Freeform 96" id="96"/>
            <p:cNvSpPr/>
            <p:nvPr/>
          </p:nvSpPr>
          <p:spPr>
            <a:xfrm flipH="false" flipV="false" rot="0">
              <a:off x="0" y="0"/>
              <a:ext cx="2323681" cy="489199"/>
            </a:xfrm>
            <a:custGeom>
              <a:avLst/>
              <a:gdLst/>
              <a:ahLst/>
              <a:cxnLst/>
              <a:rect r="r" b="b" t="t" l="l"/>
              <a:pathLst>
                <a:path h="489199" w="2323681">
                  <a:moveTo>
                    <a:pt x="0" y="0"/>
                  </a:moveTo>
                  <a:lnTo>
                    <a:pt x="2323681" y="0"/>
                  </a:lnTo>
                  <a:lnTo>
                    <a:pt x="2323681" y="489199"/>
                  </a:lnTo>
                  <a:lnTo>
                    <a:pt x="0" y="489199"/>
                  </a:lnTo>
                  <a:close/>
                </a:path>
              </a:pathLst>
            </a:custGeom>
            <a:blipFill>
              <a:blip r:embed="rId9">
                <a:alphaModFix amt="0"/>
              </a:blip>
              <a:stretch>
                <a:fillRect l="0" t="-42552" r="0" b="-42553"/>
              </a:stretch>
            </a:blipFill>
          </p:spPr>
        </p:sp>
        <p:sp>
          <p:nvSpPr>
            <p:cNvPr name="TextBox 97" id="97"/>
            <p:cNvSpPr txBox="true"/>
            <p:nvPr/>
          </p:nvSpPr>
          <p:spPr>
            <a:xfrm>
              <a:off x="0" y="76200"/>
              <a:ext cx="2323681" cy="413004"/>
            </a:xfrm>
            <a:prstGeom prst="rect">
              <a:avLst/>
            </a:prstGeom>
          </p:spPr>
          <p:txBody>
            <a:bodyPr anchor="ctr" rtlCol="false" tIns="0" lIns="0" bIns="0" rIns="0"/>
            <a:lstStyle/>
            <a:p>
              <a:pPr algn="l">
                <a:lnSpc>
                  <a:spcPts val="1573"/>
                </a:lnSpc>
              </a:pPr>
              <a:r>
                <a:rPr lang="en-US" b="true" sz="2000" i="true">
                  <a:solidFill>
                    <a:srgbClr val="444444"/>
                  </a:solidFill>
                  <a:latin typeface="TT Commons Pro Bold Italics"/>
                  <a:ea typeface="TT Commons Pro Bold Italics"/>
                  <a:cs typeface="TT Commons Pro Bold Italics"/>
                  <a:sym typeface="TT Commons Pro Bold Italics"/>
                </a:rPr>
                <a:t>Parneet Kaur</a:t>
              </a:r>
            </a:p>
          </p:txBody>
        </p:sp>
      </p:grpSp>
      <p:grpSp>
        <p:nvGrpSpPr>
          <p:cNvPr name="Group 98" id="98"/>
          <p:cNvGrpSpPr/>
          <p:nvPr/>
        </p:nvGrpSpPr>
        <p:grpSpPr>
          <a:xfrm rot="0">
            <a:off x="1553166" y="7678331"/>
            <a:ext cx="743807" cy="736473"/>
            <a:chOff x="0" y="0"/>
            <a:chExt cx="991743" cy="981964"/>
          </a:xfrm>
        </p:grpSpPr>
        <p:sp>
          <p:nvSpPr>
            <p:cNvPr name="Freeform 99" id="99" descr="preencoded.png"/>
            <p:cNvSpPr/>
            <p:nvPr/>
          </p:nvSpPr>
          <p:spPr>
            <a:xfrm flipH="false" flipV="false" rot="0">
              <a:off x="0" y="0"/>
              <a:ext cx="991743" cy="981964"/>
            </a:xfrm>
            <a:custGeom>
              <a:avLst/>
              <a:gdLst/>
              <a:ahLst/>
              <a:cxnLst/>
              <a:rect r="r" b="b" t="t" l="l"/>
              <a:pathLst>
                <a:path h="981964" w="991743">
                  <a:moveTo>
                    <a:pt x="0" y="0"/>
                  </a:moveTo>
                  <a:lnTo>
                    <a:pt x="991743" y="0"/>
                  </a:lnTo>
                  <a:lnTo>
                    <a:pt x="991743" y="981964"/>
                  </a:lnTo>
                  <a:lnTo>
                    <a:pt x="0" y="981964"/>
                  </a:lnTo>
                  <a:lnTo>
                    <a:pt x="0" y="0"/>
                  </a:lnTo>
                  <a:close/>
                </a:path>
              </a:pathLst>
            </a:custGeom>
            <a:blipFill>
              <a:blip r:embed="rId18"/>
              <a:stretch>
                <a:fillRect l="0" t="-84" r="0" b="-84"/>
              </a:stretch>
            </a:blipFill>
          </p:spPr>
        </p:sp>
      </p:grpSp>
      <p:grpSp>
        <p:nvGrpSpPr>
          <p:cNvPr name="Group 100" id="100"/>
          <p:cNvGrpSpPr/>
          <p:nvPr/>
        </p:nvGrpSpPr>
        <p:grpSpPr>
          <a:xfrm rot="0">
            <a:off x="10019024" y="8713784"/>
            <a:ext cx="1057323" cy="365684"/>
            <a:chOff x="0" y="0"/>
            <a:chExt cx="1409764" cy="487578"/>
          </a:xfrm>
        </p:grpSpPr>
        <p:sp>
          <p:nvSpPr>
            <p:cNvPr name="Freeform 101" id="101"/>
            <p:cNvSpPr/>
            <p:nvPr/>
          </p:nvSpPr>
          <p:spPr>
            <a:xfrm flipH="false" flipV="false" rot="0">
              <a:off x="0" y="0"/>
              <a:ext cx="1409700" cy="487553"/>
            </a:xfrm>
            <a:custGeom>
              <a:avLst/>
              <a:gdLst/>
              <a:ahLst/>
              <a:cxnLst/>
              <a:rect r="r" b="b" t="t" l="l"/>
              <a:pathLst>
                <a:path h="487553" w="1409700">
                  <a:moveTo>
                    <a:pt x="0" y="0"/>
                  </a:moveTo>
                  <a:lnTo>
                    <a:pt x="1409700" y="0"/>
                  </a:lnTo>
                  <a:lnTo>
                    <a:pt x="1409700" y="487553"/>
                  </a:lnTo>
                  <a:lnTo>
                    <a:pt x="0" y="487553"/>
                  </a:lnTo>
                  <a:close/>
                </a:path>
              </a:pathLst>
            </a:custGeom>
            <a:blipFill>
              <a:blip r:embed="rId6">
                <a:alphaModFix amt="0"/>
              </a:blip>
              <a:stretch>
                <a:fillRect l="0" t="-6298" r="-4" b="-6306"/>
              </a:stretch>
            </a:blipFill>
          </p:spPr>
        </p:sp>
      </p:grpSp>
      <p:grpSp>
        <p:nvGrpSpPr>
          <p:cNvPr name="Group 102" id="102"/>
          <p:cNvGrpSpPr/>
          <p:nvPr/>
        </p:nvGrpSpPr>
        <p:grpSpPr>
          <a:xfrm rot="0">
            <a:off x="10019024" y="8770934"/>
            <a:ext cx="1057323" cy="308543"/>
            <a:chOff x="0" y="0"/>
            <a:chExt cx="1409764" cy="411391"/>
          </a:xfrm>
        </p:grpSpPr>
        <p:sp>
          <p:nvSpPr>
            <p:cNvPr name="Freeform 103" id="103"/>
            <p:cNvSpPr/>
            <p:nvPr/>
          </p:nvSpPr>
          <p:spPr>
            <a:xfrm flipH="false" flipV="false" rot="0">
              <a:off x="0" y="0"/>
              <a:ext cx="1409764" cy="411392"/>
            </a:xfrm>
            <a:custGeom>
              <a:avLst/>
              <a:gdLst/>
              <a:ahLst/>
              <a:cxnLst/>
              <a:rect r="r" b="b" t="t" l="l"/>
              <a:pathLst>
                <a:path h="411392" w="1409764">
                  <a:moveTo>
                    <a:pt x="0" y="0"/>
                  </a:moveTo>
                  <a:lnTo>
                    <a:pt x="1409764" y="0"/>
                  </a:lnTo>
                  <a:lnTo>
                    <a:pt x="1409764" y="411392"/>
                  </a:lnTo>
                  <a:lnTo>
                    <a:pt x="0" y="411392"/>
                  </a:lnTo>
                  <a:close/>
                </a:path>
              </a:pathLst>
            </a:custGeom>
            <a:blipFill>
              <a:blip r:embed="rId9">
                <a:alphaModFix amt="0"/>
              </a:blip>
              <a:stretch>
                <a:fillRect l="0" t="-16771" r="0" b="-16771"/>
              </a:stretch>
            </a:blipFill>
          </p:spPr>
        </p:sp>
        <p:sp>
          <p:nvSpPr>
            <p:cNvPr name="TextBox 104" id="104"/>
            <p:cNvSpPr txBox="true"/>
            <p:nvPr/>
          </p:nvSpPr>
          <p:spPr>
            <a:xfrm>
              <a:off x="0" y="76200"/>
              <a:ext cx="1409764" cy="335191"/>
            </a:xfrm>
            <a:prstGeom prst="rect">
              <a:avLst/>
            </a:prstGeom>
          </p:spPr>
          <p:txBody>
            <a:bodyPr anchor="ctr" rtlCol="false" tIns="0" lIns="0" bIns="0" rIns="0"/>
            <a:lstStyle/>
            <a:p>
              <a:pPr algn="l">
                <a:lnSpc>
                  <a:spcPts val="1279"/>
                </a:lnSpc>
              </a:pPr>
              <a:r>
                <a:rPr lang="en-US" sz="1689" b="true">
                  <a:solidFill>
                    <a:srgbClr val="D9545C"/>
                  </a:solidFill>
                  <a:latin typeface="TT Commons Pro Bold"/>
                  <a:ea typeface="TT Commons Pro Bold"/>
                  <a:cs typeface="TT Commons Pro Bold"/>
                  <a:sym typeface="TT Commons Pro Bold"/>
                </a:rPr>
                <a:t>ROLL NO.</a:t>
              </a:r>
            </a:p>
          </p:txBody>
        </p:sp>
      </p:grpSp>
      <p:grpSp>
        <p:nvGrpSpPr>
          <p:cNvPr name="Group 105" id="105"/>
          <p:cNvGrpSpPr/>
          <p:nvPr/>
        </p:nvGrpSpPr>
        <p:grpSpPr>
          <a:xfrm rot="0">
            <a:off x="10019024" y="7612704"/>
            <a:ext cx="1720882" cy="348834"/>
            <a:chOff x="0" y="0"/>
            <a:chExt cx="2294509" cy="465112"/>
          </a:xfrm>
        </p:grpSpPr>
        <p:sp>
          <p:nvSpPr>
            <p:cNvPr name="Freeform 106" id="106"/>
            <p:cNvSpPr/>
            <p:nvPr/>
          </p:nvSpPr>
          <p:spPr>
            <a:xfrm flipH="false" flipV="false" rot="0">
              <a:off x="0" y="0"/>
              <a:ext cx="2294509" cy="465074"/>
            </a:xfrm>
            <a:custGeom>
              <a:avLst/>
              <a:gdLst/>
              <a:ahLst/>
              <a:cxnLst/>
              <a:rect r="r" b="b" t="t" l="l"/>
              <a:pathLst>
                <a:path h="465074" w="2294509">
                  <a:moveTo>
                    <a:pt x="0" y="0"/>
                  </a:moveTo>
                  <a:lnTo>
                    <a:pt x="2294509" y="0"/>
                  </a:lnTo>
                  <a:lnTo>
                    <a:pt x="2294509" y="465074"/>
                  </a:lnTo>
                  <a:lnTo>
                    <a:pt x="0" y="465074"/>
                  </a:lnTo>
                  <a:close/>
                </a:path>
              </a:pathLst>
            </a:custGeom>
            <a:blipFill>
              <a:blip r:embed="rId6">
                <a:alphaModFix amt="0"/>
              </a:blip>
              <a:stretch>
                <a:fillRect l="0" t="-46059" r="0" b="-46070"/>
              </a:stretch>
            </a:blipFill>
          </p:spPr>
        </p:sp>
      </p:grpSp>
      <p:grpSp>
        <p:nvGrpSpPr>
          <p:cNvPr name="Group 107" id="107"/>
          <p:cNvGrpSpPr/>
          <p:nvPr/>
        </p:nvGrpSpPr>
        <p:grpSpPr>
          <a:xfrm rot="0">
            <a:off x="10019024" y="7676998"/>
            <a:ext cx="1720882" cy="284550"/>
            <a:chOff x="0" y="0"/>
            <a:chExt cx="2294509" cy="379400"/>
          </a:xfrm>
        </p:grpSpPr>
        <p:sp>
          <p:nvSpPr>
            <p:cNvPr name="Freeform 108" id="108"/>
            <p:cNvSpPr/>
            <p:nvPr/>
          </p:nvSpPr>
          <p:spPr>
            <a:xfrm flipH="false" flipV="false" rot="0">
              <a:off x="0" y="0"/>
              <a:ext cx="2294509" cy="379402"/>
            </a:xfrm>
            <a:custGeom>
              <a:avLst/>
              <a:gdLst/>
              <a:ahLst/>
              <a:cxnLst/>
              <a:rect r="r" b="b" t="t" l="l"/>
              <a:pathLst>
                <a:path h="379402" w="2294509">
                  <a:moveTo>
                    <a:pt x="0" y="0"/>
                  </a:moveTo>
                  <a:lnTo>
                    <a:pt x="2294509" y="0"/>
                  </a:lnTo>
                  <a:lnTo>
                    <a:pt x="2294509" y="379402"/>
                  </a:lnTo>
                  <a:lnTo>
                    <a:pt x="0" y="379402"/>
                  </a:lnTo>
                  <a:close/>
                </a:path>
              </a:pathLst>
            </a:custGeom>
            <a:blipFill>
              <a:blip r:embed="rId9">
                <a:alphaModFix amt="0"/>
              </a:blip>
              <a:stretch>
                <a:fillRect l="0" t="-67840" r="0" b="-67839"/>
              </a:stretch>
            </a:blipFill>
          </p:spPr>
        </p:sp>
        <p:sp>
          <p:nvSpPr>
            <p:cNvPr name="TextBox 109" id="109"/>
            <p:cNvSpPr txBox="true"/>
            <p:nvPr/>
          </p:nvSpPr>
          <p:spPr>
            <a:xfrm>
              <a:off x="0" y="85725"/>
              <a:ext cx="2294509" cy="293675"/>
            </a:xfrm>
            <a:prstGeom prst="rect">
              <a:avLst/>
            </a:prstGeom>
          </p:spPr>
          <p:txBody>
            <a:bodyPr anchor="ctr" rtlCol="false" tIns="0" lIns="0" bIns="0" rIns="0"/>
            <a:lstStyle/>
            <a:p>
              <a:pPr algn="l">
                <a:lnSpc>
                  <a:spcPts val="1161"/>
                </a:lnSpc>
              </a:pPr>
              <a:r>
                <a:rPr lang="en-US" sz="1630" b="true">
                  <a:solidFill>
                    <a:srgbClr val="DA575C"/>
                  </a:solidFill>
                  <a:latin typeface="TT Commons Pro Bold"/>
                  <a:ea typeface="TT Commons Pro Bold"/>
                  <a:cs typeface="TT Commons Pro Bold"/>
                  <a:sym typeface="TT Commons Pro Bold"/>
                </a:rPr>
                <a:t>COLLEGE NAME</a:t>
              </a:r>
            </a:p>
          </p:txBody>
        </p:sp>
      </p:grpSp>
      <p:grpSp>
        <p:nvGrpSpPr>
          <p:cNvPr name="Group 110" id="110"/>
          <p:cNvGrpSpPr/>
          <p:nvPr/>
        </p:nvGrpSpPr>
        <p:grpSpPr>
          <a:xfrm rot="0">
            <a:off x="2566740" y="8691905"/>
            <a:ext cx="2107349" cy="330737"/>
            <a:chOff x="0" y="0"/>
            <a:chExt cx="2809799" cy="440982"/>
          </a:xfrm>
        </p:grpSpPr>
        <p:sp>
          <p:nvSpPr>
            <p:cNvPr name="Freeform 111" id="111"/>
            <p:cNvSpPr/>
            <p:nvPr/>
          </p:nvSpPr>
          <p:spPr>
            <a:xfrm flipH="false" flipV="false" rot="0">
              <a:off x="0" y="0"/>
              <a:ext cx="2809748" cy="440944"/>
            </a:xfrm>
            <a:custGeom>
              <a:avLst/>
              <a:gdLst/>
              <a:ahLst/>
              <a:cxnLst/>
              <a:rect r="r" b="b" t="t" l="l"/>
              <a:pathLst>
                <a:path h="440944" w="2809748">
                  <a:moveTo>
                    <a:pt x="0" y="0"/>
                  </a:moveTo>
                  <a:lnTo>
                    <a:pt x="2809748" y="0"/>
                  </a:lnTo>
                  <a:lnTo>
                    <a:pt x="2809748" y="440944"/>
                  </a:lnTo>
                  <a:lnTo>
                    <a:pt x="0" y="440944"/>
                  </a:lnTo>
                  <a:close/>
                </a:path>
              </a:pathLst>
            </a:custGeom>
            <a:blipFill>
              <a:blip r:embed="rId6">
                <a:alphaModFix amt="0"/>
              </a:blip>
              <a:stretch>
                <a:fillRect l="0" t="-74072" r="-1" b="-74081"/>
              </a:stretch>
            </a:blipFill>
          </p:spPr>
        </p:sp>
      </p:grpSp>
      <p:grpSp>
        <p:nvGrpSpPr>
          <p:cNvPr name="Group 112" id="112"/>
          <p:cNvGrpSpPr/>
          <p:nvPr/>
        </p:nvGrpSpPr>
        <p:grpSpPr>
          <a:xfrm rot="0">
            <a:off x="2566740" y="8720480"/>
            <a:ext cx="2107349" cy="302162"/>
            <a:chOff x="0" y="0"/>
            <a:chExt cx="2809799" cy="402882"/>
          </a:xfrm>
        </p:grpSpPr>
        <p:sp>
          <p:nvSpPr>
            <p:cNvPr name="Freeform 113" id="113"/>
            <p:cNvSpPr/>
            <p:nvPr/>
          </p:nvSpPr>
          <p:spPr>
            <a:xfrm flipH="false" flipV="false" rot="0">
              <a:off x="0" y="0"/>
              <a:ext cx="2809799" cy="402888"/>
            </a:xfrm>
            <a:custGeom>
              <a:avLst/>
              <a:gdLst/>
              <a:ahLst/>
              <a:cxnLst/>
              <a:rect r="r" b="b" t="t" l="l"/>
              <a:pathLst>
                <a:path h="402888" w="2809799">
                  <a:moveTo>
                    <a:pt x="0" y="0"/>
                  </a:moveTo>
                  <a:lnTo>
                    <a:pt x="2809799" y="0"/>
                  </a:lnTo>
                  <a:lnTo>
                    <a:pt x="2809799" y="402888"/>
                  </a:lnTo>
                  <a:lnTo>
                    <a:pt x="0" y="402888"/>
                  </a:lnTo>
                  <a:close/>
                </a:path>
              </a:pathLst>
            </a:custGeom>
            <a:blipFill>
              <a:blip r:embed="rId9">
                <a:alphaModFix amt="0"/>
              </a:blip>
              <a:stretch>
                <a:fillRect l="0" t="-85892" r="0" b="-85890"/>
              </a:stretch>
            </a:blipFill>
          </p:spPr>
        </p:sp>
        <p:sp>
          <p:nvSpPr>
            <p:cNvPr name="TextBox 114" id="114"/>
            <p:cNvSpPr txBox="true"/>
            <p:nvPr/>
          </p:nvSpPr>
          <p:spPr>
            <a:xfrm>
              <a:off x="0" y="38100"/>
              <a:ext cx="2809799" cy="364782"/>
            </a:xfrm>
            <a:prstGeom prst="rect">
              <a:avLst/>
            </a:prstGeom>
          </p:spPr>
          <p:txBody>
            <a:bodyPr anchor="ctr" rtlCol="false" tIns="0" lIns="0" bIns="0" rIns="0"/>
            <a:lstStyle/>
            <a:p>
              <a:pPr algn="l">
                <a:lnSpc>
                  <a:spcPts val="1435"/>
                </a:lnSpc>
              </a:pPr>
              <a:r>
                <a:rPr lang="en-US" sz="1532" b="true">
                  <a:solidFill>
                    <a:srgbClr val="F19357"/>
                  </a:solidFill>
                  <a:latin typeface="TT Commons Pro Bold"/>
                  <a:ea typeface="TT Commons Pro Bold"/>
                  <a:cs typeface="TT Commons Pro Bold"/>
                  <a:sym typeface="TT Commons Pro Bold"/>
                </a:rPr>
                <a:t>STREAM/COURSE</a:t>
              </a:r>
            </a:p>
          </p:txBody>
        </p:sp>
      </p:grpSp>
      <p:grpSp>
        <p:nvGrpSpPr>
          <p:cNvPr name="Group 115" id="115"/>
          <p:cNvGrpSpPr/>
          <p:nvPr/>
        </p:nvGrpSpPr>
        <p:grpSpPr>
          <a:xfrm rot="0">
            <a:off x="2566740" y="7620000"/>
            <a:ext cx="648976" cy="350082"/>
            <a:chOff x="0" y="0"/>
            <a:chExt cx="865302" cy="466776"/>
          </a:xfrm>
        </p:grpSpPr>
        <p:sp>
          <p:nvSpPr>
            <p:cNvPr name="Freeform 116" id="116"/>
            <p:cNvSpPr/>
            <p:nvPr/>
          </p:nvSpPr>
          <p:spPr>
            <a:xfrm flipH="false" flipV="false" rot="0">
              <a:off x="0" y="0"/>
              <a:ext cx="865251" cy="466725"/>
            </a:xfrm>
            <a:custGeom>
              <a:avLst/>
              <a:gdLst/>
              <a:ahLst/>
              <a:cxnLst/>
              <a:rect r="r" b="b" t="t" l="l"/>
              <a:pathLst>
                <a:path h="466725" w="865251">
                  <a:moveTo>
                    <a:pt x="0" y="0"/>
                  </a:moveTo>
                  <a:lnTo>
                    <a:pt x="865251" y="0"/>
                  </a:lnTo>
                  <a:lnTo>
                    <a:pt x="865251" y="466725"/>
                  </a:lnTo>
                  <a:lnTo>
                    <a:pt x="0" y="466725"/>
                  </a:lnTo>
                  <a:close/>
                </a:path>
              </a:pathLst>
            </a:custGeom>
            <a:blipFill>
              <a:blip r:embed="rId6">
                <a:alphaModFix amt="0"/>
              </a:blip>
              <a:stretch>
                <a:fillRect l="-19260" t="0" r="-19267" b="-10"/>
              </a:stretch>
            </a:blipFill>
          </p:spPr>
        </p:sp>
      </p:grpSp>
      <p:grpSp>
        <p:nvGrpSpPr>
          <p:cNvPr name="Group 117" id="117"/>
          <p:cNvGrpSpPr/>
          <p:nvPr/>
        </p:nvGrpSpPr>
        <p:grpSpPr>
          <a:xfrm rot="0">
            <a:off x="2566740" y="7677150"/>
            <a:ext cx="648976" cy="292922"/>
            <a:chOff x="0" y="0"/>
            <a:chExt cx="865302" cy="390563"/>
          </a:xfrm>
        </p:grpSpPr>
        <p:sp>
          <p:nvSpPr>
            <p:cNvPr name="Freeform 118" id="118"/>
            <p:cNvSpPr/>
            <p:nvPr/>
          </p:nvSpPr>
          <p:spPr>
            <a:xfrm flipH="false" flipV="false" rot="0">
              <a:off x="0" y="0"/>
              <a:ext cx="865301" cy="390569"/>
            </a:xfrm>
            <a:custGeom>
              <a:avLst/>
              <a:gdLst/>
              <a:ahLst/>
              <a:cxnLst/>
              <a:rect r="r" b="b" t="t" l="l"/>
              <a:pathLst>
                <a:path h="390569" w="865301">
                  <a:moveTo>
                    <a:pt x="0" y="0"/>
                  </a:moveTo>
                  <a:lnTo>
                    <a:pt x="865301" y="0"/>
                  </a:lnTo>
                  <a:lnTo>
                    <a:pt x="865301" y="390569"/>
                  </a:lnTo>
                  <a:lnTo>
                    <a:pt x="0" y="390569"/>
                  </a:lnTo>
                  <a:close/>
                </a:path>
              </a:pathLst>
            </a:custGeom>
            <a:blipFill>
              <a:blip r:embed="rId9">
                <a:alphaModFix amt="0"/>
              </a:blip>
              <a:stretch>
                <a:fillRect l="-7911" t="0" r="-7911" b="1"/>
              </a:stretch>
            </a:blipFill>
          </p:spPr>
        </p:sp>
        <p:sp>
          <p:nvSpPr>
            <p:cNvPr name="TextBox 119" id="119"/>
            <p:cNvSpPr txBox="true"/>
            <p:nvPr/>
          </p:nvSpPr>
          <p:spPr>
            <a:xfrm>
              <a:off x="0" y="76200"/>
              <a:ext cx="865302" cy="314363"/>
            </a:xfrm>
            <a:prstGeom prst="rect">
              <a:avLst/>
            </a:prstGeom>
          </p:spPr>
          <p:txBody>
            <a:bodyPr anchor="ctr" rtlCol="false" tIns="0" lIns="0" bIns="0" rIns="0"/>
            <a:lstStyle/>
            <a:p>
              <a:pPr algn="l">
                <a:lnSpc>
                  <a:spcPts val="1205"/>
                </a:lnSpc>
              </a:pPr>
              <a:r>
                <a:rPr lang="en-US" sz="1618" b="true">
                  <a:solidFill>
                    <a:srgbClr val="ED5E40"/>
                  </a:solidFill>
                  <a:latin typeface="TT Commons Pro Bold"/>
                  <a:ea typeface="TT Commons Pro Bold"/>
                  <a:cs typeface="TT Commons Pro Bold"/>
                  <a:sym typeface="TT Commons Pro Bold"/>
                </a:rPr>
                <a:t>NAME</a:t>
              </a:r>
            </a:p>
          </p:txBody>
        </p:sp>
      </p:grpSp>
      <p:grpSp>
        <p:nvGrpSpPr>
          <p:cNvPr name="Group 120" id="120"/>
          <p:cNvGrpSpPr/>
          <p:nvPr/>
        </p:nvGrpSpPr>
        <p:grpSpPr>
          <a:xfrm rot="0">
            <a:off x="12044010" y="2718826"/>
            <a:ext cx="485537" cy="772897"/>
            <a:chOff x="0" y="0"/>
            <a:chExt cx="647382" cy="1030529"/>
          </a:xfrm>
        </p:grpSpPr>
        <p:sp>
          <p:nvSpPr>
            <p:cNvPr name="Freeform 121" id="121" descr="preencoded.png"/>
            <p:cNvSpPr/>
            <p:nvPr/>
          </p:nvSpPr>
          <p:spPr>
            <a:xfrm flipH="false" flipV="false" rot="0">
              <a:off x="0" y="0"/>
              <a:ext cx="647319" cy="1030478"/>
            </a:xfrm>
            <a:custGeom>
              <a:avLst/>
              <a:gdLst/>
              <a:ahLst/>
              <a:cxnLst/>
              <a:rect r="r" b="b" t="t" l="l"/>
              <a:pathLst>
                <a:path h="1030478" w="647319">
                  <a:moveTo>
                    <a:pt x="0" y="0"/>
                  </a:moveTo>
                  <a:lnTo>
                    <a:pt x="647319" y="0"/>
                  </a:lnTo>
                  <a:lnTo>
                    <a:pt x="647319" y="1030478"/>
                  </a:lnTo>
                  <a:lnTo>
                    <a:pt x="0" y="1030478"/>
                  </a:lnTo>
                  <a:lnTo>
                    <a:pt x="0" y="0"/>
                  </a:lnTo>
                  <a:close/>
                </a:path>
              </a:pathLst>
            </a:custGeom>
            <a:blipFill>
              <a:blip r:embed="rId19"/>
              <a:stretch>
                <a:fillRect l="0" t="-175" r="-9" b="-178"/>
              </a:stretch>
            </a:blipFill>
          </p:spPr>
        </p:sp>
      </p:grpSp>
      <p:grpSp>
        <p:nvGrpSpPr>
          <p:cNvPr name="Group 122" id="122"/>
          <p:cNvGrpSpPr/>
          <p:nvPr/>
        </p:nvGrpSpPr>
        <p:grpSpPr>
          <a:xfrm rot="0">
            <a:off x="10636682" y="3360506"/>
            <a:ext cx="485537" cy="772897"/>
            <a:chOff x="0" y="0"/>
            <a:chExt cx="647382" cy="1030529"/>
          </a:xfrm>
        </p:grpSpPr>
        <p:sp>
          <p:nvSpPr>
            <p:cNvPr name="Freeform 123" id="123" descr="preencoded.png"/>
            <p:cNvSpPr/>
            <p:nvPr/>
          </p:nvSpPr>
          <p:spPr>
            <a:xfrm flipH="false" flipV="false" rot="0">
              <a:off x="0" y="0"/>
              <a:ext cx="647319" cy="1030478"/>
            </a:xfrm>
            <a:custGeom>
              <a:avLst/>
              <a:gdLst/>
              <a:ahLst/>
              <a:cxnLst/>
              <a:rect r="r" b="b" t="t" l="l"/>
              <a:pathLst>
                <a:path h="1030478" w="647319">
                  <a:moveTo>
                    <a:pt x="0" y="0"/>
                  </a:moveTo>
                  <a:lnTo>
                    <a:pt x="647319" y="0"/>
                  </a:lnTo>
                  <a:lnTo>
                    <a:pt x="647319" y="1030478"/>
                  </a:lnTo>
                  <a:lnTo>
                    <a:pt x="0" y="1030478"/>
                  </a:lnTo>
                  <a:lnTo>
                    <a:pt x="0" y="0"/>
                  </a:lnTo>
                  <a:close/>
                </a:path>
              </a:pathLst>
            </a:custGeom>
            <a:blipFill>
              <a:blip r:embed="rId19"/>
              <a:stretch>
                <a:fillRect l="0" t="-175" r="-9" b="-178"/>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7497"/>
            <a:ext cx="18288000" cy="10288810"/>
            <a:chOff x="0" y="0"/>
            <a:chExt cx="24384000" cy="13718413"/>
          </a:xfrm>
        </p:grpSpPr>
        <p:sp>
          <p:nvSpPr>
            <p:cNvPr name="Freeform 3" id="3" descr="preencoded.png"/>
            <p:cNvSpPr/>
            <p:nvPr/>
          </p:nvSpPr>
          <p:spPr>
            <a:xfrm flipH="false" flipV="false" rot="0">
              <a:off x="0" y="0"/>
              <a:ext cx="24384000" cy="13718412"/>
            </a:xfrm>
            <a:custGeom>
              <a:avLst/>
              <a:gdLst/>
              <a:ahLst/>
              <a:cxnLst/>
              <a:rect r="r" b="b" t="t" l="l"/>
              <a:pathLst>
                <a:path h="13718412" w="24384000">
                  <a:moveTo>
                    <a:pt x="0" y="0"/>
                  </a:moveTo>
                  <a:lnTo>
                    <a:pt x="24384000" y="0"/>
                  </a:lnTo>
                  <a:lnTo>
                    <a:pt x="24384000" y="13718412"/>
                  </a:lnTo>
                  <a:lnTo>
                    <a:pt x="0" y="13718412"/>
                  </a:lnTo>
                  <a:lnTo>
                    <a:pt x="0" y="0"/>
                  </a:lnTo>
                  <a:close/>
                </a:path>
              </a:pathLst>
            </a:custGeom>
            <a:blipFill>
              <a:blip r:embed="rId3"/>
              <a:stretch>
                <a:fillRect l="-13" t="0" r="-13" b="0"/>
              </a:stretch>
            </a:blipFill>
          </p:spPr>
        </p:sp>
      </p:grpSp>
      <p:grpSp>
        <p:nvGrpSpPr>
          <p:cNvPr name="Group 4" id="4"/>
          <p:cNvGrpSpPr/>
          <p:nvPr/>
        </p:nvGrpSpPr>
        <p:grpSpPr>
          <a:xfrm rot="0">
            <a:off x="9771097" y="6985606"/>
            <a:ext cx="7014782" cy="2012537"/>
            <a:chOff x="0" y="0"/>
            <a:chExt cx="9353042" cy="2683383"/>
          </a:xfrm>
        </p:grpSpPr>
        <p:sp>
          <p:nvSpPr>
            <p:cNvPr name="Freeform 5" id="5" descr="preencoded.png"/>
            <p:cNvSpPr/>
            <p:nvPr/>
          </p:nvSpPr>
          <p:spPr>
            <a:xfrm flipH="false" flipV="false" rot="0">
              <a:off x="0" y="0"/>
              <a:ext cx="9353042" cy="2683383"/>
            </a:xfrm>
            <a:custGeom>
              <a:avLst/>
              <a:gdLst/>
              <a:ahLst/>
              <a:cxnLst/>
              <a:rect r="r" b="b" t="t" l="l"/>
              <a:pathLst>
                <a:path h="2683383" w="9353042">
                  <a:moveTo>
                    <a:pt x="0" y="0"/>
                  </a:moveTo>
                  <a:lnTo>
                    <a:pt x="9353042" y="0"/>
                  </a:lnTo>
                  <a:lnTo>
                    <a:pt x="9353042" y="2683383"/>
                  </a:lnTo>
                  <a:lnTo>
                    <a:pt x="0" y="2683383"/>
                  </a:lnTo>
                  <a:lnTo>
                    <a:pt x="0" y="0"/>
                  </a:lnTo>
                  <a:close/>
                </a:path>
              </a:pathLst>
            </a:custGeom>
            <a:blipFill>
              <a:blip r:embed="rId4"/>
              <a:stretch>
                <a:fillRect l="0" t="-109" r="0" b="-109"/>
              </a:stretch>
            </a:blipFill>
          </p:spPr>
        </p:sp>
      </p:grpSp>
      <p:grpSp>
        <p:nvGrpSpPr>
          <p:cNvPr name="Group 6" id="6"/>
          <p:cNvGrpSpPr/>
          <p:nvPr/>
        </p:nvGrpSpPr>
        <p:grpSpPr>
          <a:xfrm rot="0">
            <a:off x="11914908" y="8378352"/>
            <a:ext cx="160401" cy="233362"/>
            <a:chOff x="0" y="0"/>
            <a:chExt cx="213868" cy="311150"/>
          </a:xfrm>
        </p:grpSpPr>
        <p:sp>
          <p:nvSpPr>
            <p:cNvPr name="Freeform 7" id="7" descr="preencoded.png"/>
            <p:cNvSpPr/>
            <p:nvPr/>
          </p:nvSpPr>
          <p:spPr>
            <a:xfrm flipH="false" flipV="false" rot="0">
              <a:off x="0" y="0"/>
              <a:ext cx="213868" cy="311150"/>
            </a:xfrm>
            <a:custGeom>
              <a:avLst/>
              <a:gdLst/>
              <a:ahLst/>
              <a:cxnLst/>
              <a:rect r="r" b="b" t="t" l="l"/>
              <a:pathLst>
                <a:path h="311150" w="213868">
                  <a:moveTo>
                    <a:pt x="0" y="0"/>
                  </a:moveTo>
                  <a:lnTo>
                    <a:pt x="213868" y="0"/>
                  </a:lnTo>
                  <a:lnTo>
                    <a:pt x="213868" y="311150"/>
                  </a:lnTo>
                  <a:lnTo>
                    <a:pt x="0" y="311150"/>
                  </a:lnTo>
                  <a:lnTo>
                    <a:pt x="0" y="0"/>
                  </a:lnTo>
                  <a:close/>
                </a:path>
              </a:pathLst>
            </a:custGeom>
            <a:blipFill>
              <a:blip r:embed="rId5"/>
              <a:stretch>
                <a:fillRect l="0" t="-228" r="0" b="-228"/>
              </a:stretch>
            </a:blipFill>
          </p:spPr>
        </p:sp>
      </p:grpSp>
      <p:grpSp>
        <p:nvGrpSpPr>
          <p:cNvPr name="Group 8" id="8"/>
          <p:cNvGrpSpPr/>
          <p:nvPr/>
        </p:nvGrpSpPr>
        <p:grpSpPr>
          <a:xfrm rot="0">
            <a:off x="14897281" y="8159601"/>
            <a:ext cx="2829211" cy="2129218"/>
            <a:chOff x="0" y="0"/>
            <a:chExt cx="3772281" cy="2838958"/>
          </a:xfrm>
        </p:grpSpPr>
        <p:sp>
          <p:nvSpPr>
            <p:cNvPr name="Freeform 9" id="9" descr="preencoded.png"/>
            <p:cNvSpPr/>
            <p:nvPr/>
          </p:nvSpPr>
          <p:spPr>
            <a:xfrm flipH="false" flipV="false" rot="0">
              <a:off x="0" y="0"/>
              <a:ext cx="3772281" cy="2838958"/>
            </a:xfrm>
            <a:custGeom>
              <a:avLst/>
              <a:gdLst/>
              <a:ahLst/>
              <a:cxnLst/>
              <a:rect r="r" b="b" t="t" l="l"/>
              <a:pathLst>
                <a:path h="2838958" w="3772281">
                  <a:moveTo>
                    <a:pt x="0" y="0"/>
                  </a:moveTo>
                  <a:lnTo>
                    <a:pt x="3772281" y="0"/>
                  </a:lnTo>
                  <a:lnTo>
                    <a:pt x="3772281" y="2838958"/>
                  </a:lnTo>
                  <a:lnTo>
                    <a:pt x="0" y="2838958"/>
                  </a:lnTo>
                  <a:lnTo>
                    <a:pt x="0" y="0"/>
                  </a:lnTo>
                  <a:close/>
                </a:path>
              </a:pathLst>
            </a:custGeom>
            <a:blipFill>
              <a:blip r:embed="rId6"/>
              <a:stretch>
                <a:fillRect l="-76" t="0" r="-77" b="0"/>
              </a:stretch>
            </a:blipFill>
          </p:spPr>
        </p:sp>
      </p:grpSp>
      <p:grpSp>
        <p:nvGrpSpPr>
          <p:cNvPr name="Group 10" id="10"/>
          <p:cNvGrpSpPr/>
          <p:nvPr/>
        </p:nvGrpSpPr>
        <p:grpSpPr>
          <a:xfrm rot="0">
            <a:off x="11907622" y="7918971"/>
            <a:ext cx="167735" cy="240602"/>
            <a:chOff x="0" y="0"/>
            <a:chExt cx="223647" cy="320802"/>
          </a:xfrm>
        </p:grpSpPr>
        <p:sp>
          <p:nvSpPr>
            <p:cNvPr name="Freeform 11" id="11" descr="preencoded.png"/>
            <p:cNvSpPr/>
            <p:nvPr/>
          </p:nvSpPr>
          <p:spPr>
            <a:xfrm flipH="false" flipV="false" rot="0">
              <a:off x="0" y="0"/>
              <a:ext cx="223647" cy="320802"/>
            </a:xfrm>
            <a:custGeom>
              <a:avLst/>
              <a:gdLst/>
              <a:ahLst/>
              <a:cxnLst/>
              <a:rect r="r" b="b" t="t" l="l"/>
              <a:pathLst>
                <a:path h="320802" w="223647">
                  <a:moveTo>
                    <a:pt x="0" y="0"/>
                  </a:moveTo>
                  <a:lnTo>
                    <a:pt x="223647" y="0"/>
                  </a:lnTo>
                  <a:lnTo>
                    <a:pt x="223647" y="320802"/>
                  </a:lnTo>
                  <a:lnTo>
                    <a:pt x="0" y="320802"/>
                  </a:lnTo>
                  <a:lnTo>
                    <a:pt x="0" y="0"/>
                  </a:lnTo>
                  <a:close/>
                </a:path>
              </a:pathLst>
            </a:custGeom>
            <a:blipFill>
              <a:blip r:embed="rId7"/>
              <a:stretch>
                <a:fillRect l="0" t="-348" r="0" b="-352"/>
              </a:stretch>
            </a:blipFill>
          </p:spPr>
        </p:sp>
      </p:grpSp>
      <p:grpSp>
        <p:nvGrpSpPr>
          <p:cNvPr name="Group 12" id="12"/>
          <p:cNvGrpSpPr/>
          <p:nvPr/>
        </p:nvGrpSpPr>
        <p:grpSpPr>
          <a:xfrm rot="0">
            <a:off x="11601355" y="7306447"/>
            <a:ext cx="21908" cy="1370838"/>
            <a:chOff x="0" y="0"/>
            <a:chExt cx="29210" cy="1827784"/>
          </a:xfrm>
        </p:grpSpPr>
        <p:sp>
          <p:nvSpPr>
            <p:cNvPr name="Freeform 13" id="13" descr="preencoded.png"/>
            <p:cNvSpPr/>
            <p:nvPr/>
          </p:nvSpPr>
          <p:spPr>
            <a:xfrm flipH="false" flipV="false" rot="0">
              <a:off x="0" y="0"/>
              <a:ext cx="29210" cy="1827784"/>
            </a:xfrm>
            <a:custGeom>
              <a:avLst/>
              <a:gdLst/>
              <a:ahLst/>
              <a:cxnLst/>
              <a:rect r="r" b="b" t="t" l="l"/>
              <a:pathLst>
                <a:path h="1827784" w="29210">
                  <a:moveTo>
                    <a:pt x="0" y="0"/>
                  </a:moveTo>
                  <a:lnTo>
                    <a:pt x="29210" y="0"/>
                  </a:lnTo>
                  <a:lnTo>
                    <a:pt x="29210" y="1827784"/>
                  </a:lnTo>
                  <a:lnTo>
                    <a:pt x="0" y="1827784"/>
                  </a:lnTo>
                  <a:lnTo>
                    <a:pt x="0" y="0"/>
                  </a:lnTo>
                  <a:close/>
                </a:path>
              </a:pathLst>
            </a:custGeom>
            <a:blipFill>
              <a:blip r:embed="rId8"/>
              <a:stretch>
                <a:fillRect l="-5217" t="0" r="-5217" b="0"/>
              </a:stretch>
            </a:blipFill>
          </p:spPr>
        </p:sp>
      </p:grpSp>
      <p:grpSp>
        <p:nvGrpSpPr>
          <p:cNvPr name="Group 14" id="14"/>
          <p:cNvGrpSpPr/>
          <p:nvPr/>
        </p:nvGrpSpPr>
        <p:grpSpPr>
          <a:xfrm rot="0">
            <a:off x="10223192" y="7313743"/>
            <a:ext cx="1122902" cy="1130236"/>
            <a:chOff x="0" y="0"/>
            <a:chExt cx="1497203" cy="1506982"/>
          </a:xfrm>
        </p:grpSpPr>
        <p:sp>
          <p:nvSpPr>
            <p:cNvPr name="Freeform 15" id="15" descr="preencoded.png"/>
            <p:cNvSpPr/>
            <p:nvPr/>
          </p:nvSpPr>
          <p:spPr>
            <a:xfrm flipH="false" flipV="false" rot="0">
              <a:off x="0" y="0"/>
              <a:ext cx="1497203" cy="1506982"/>
            </a:xfrm>
            <a:custGeom>
              <a:avLst/>
              <a:gdLst/>
              <a:ahLst/>
              <a:cxnLst/>
              <a:rect r="r" b="b" t="t" l="l"/>
              <a:pathLst>
                <a:path h="1506982" w="1497203">
                  <a:moveTo>
                    <a:pt x="0" y="0"/>
                  </a:moveTo>
                  <a:lnTo>
                    <a:pt x="1497203" y="0"/>
                  </a:lnTo>
                  <a:lnTo>
                    <a:pt x="1497203" y="1506982"/>
                  </a:lnTo>
                  <a:lnTo>
                    <a:pt x="0" y="1506982"/>
                  </a:lnTo>
                  <a:lnTo>
                    <a:pt x="0" y="0"/>
                  </a:lnTo>
                  <a:close/>
                </a:path>
              </a:pathLst>
            </a:custGeom>
            <a:blipFill>
              <a:blip r:embed="rId9"/>
              <a:stretch>
                <a:fillRect l="0" t="-32" r="0" b="-32"/>
              </a:stretch>
            </a:blipFill>
          </p:spPr>
        </p:sp>
      </p:grpSp>
      <p:grpSp>
        <p:nvGrpSpPr>
          <p:cNvPr name="Group 16" id="16"/>
          <p:cNvGrpSpPr/>
          <p:nvPr/>
        </p:nvGrpSpPr>
        <p:grpSpPr>
          <a:xfrm rot="0">
            <a:off x="11922204" y="7313743"/>
            <a:ext cx="1421911" cy="494100"/>
            <a:chOff x="0" y="0"/>
            <a:chExt cx="1895881" cy="658800"/>
          </a:xfrm>
        </p:grpSpPr>
        <p:sp>
          <p:nvSpPr>
            <p:cNvPr name="Freeform 17" id="17"/>
            <p:cNvSpPr/>
            <p:nvPr/>
          </p:nvSpPr>
          <p:spPr>
            <a:xfrm flipH="false" flipV="false" rot="0">
              <a:off x="0" y="0"/>
              <a:ext cx="1895856" cy="658749"/>
            </a:xfrm>
            <a:custGeom>
              <a:avLst/>
              <a:gdLst/>
              <a:ahLst/>
              <a:cxnLst/>
              <a:rect r="r" b="b" t="t" l="l"/>
              <a:pathLst>
                <a:path h="658749" w="1895856">
                  <a:moveTo>
                    <a:pt x="0" y="0"/>
                  </a:moveTo>
                  <a:lnTo>
                    <a:pt x="1895856" y="0"/>
                  </a:lnTo>
                  <a:lnTo>
                    <a:pt x="1895856" y="658749"/>
                  </a:lnTo>
                  <a:lnTo>
                    <a:pt x="0" y="658749"/>
                  </a:lnTo>
                  <a:close/>
                </a:path>
              </a:pathLst>
            </a:custGeom>
            <a:blipFill>
              <a:blip r:embed="rId10">
                <a:alphaModFix amt="0"/>
              </a:blip>
              <a:stretch>
                <a:fillRect l="0" t="-6036" r="-1" b="-6042"/>
              </a:stretch>
            </a:blipFill>
          </p:spPr>
        </p:sp>
      </p:grpSp>
      <p:grpSp>
        <p:nvGrpSpPr>
          <p:cNvPr name="Group 18" id="18"/>
          <p:cNvGrpSpPr/>
          <p:nvPr/>
        </p:nvGrpSpPr>
        <p:grpSpPr>
          <a:xfrm rot="0">
            <a:off x="11922204" y="7363749"/>
            <a:ext cx="1421911" cy="444094"/>
            <a:chOff x="0" y="0"/>
            <a:chExt cx="1895881" cy="592125"/>
          </a:xfrm>
        </p:grpSpPr>
        <p:sp>
          <p:nvSpPr>
            <p:cNvPr name="Freeform 19" id="19"/>
            <p:cNvSpPr/>
            <p:nvPr/>
          </p:nvSpPr>
          <p:spPr>
            <a:xfrm flipH="false" flipV="false" rot="0">
              <a:off x="0" y="0"/>
              <a:ext cx="1895881" cy="592126"/>
            </a:xfrm>
            <a:custGeom>
              <a:avLst/>
              <a:gdLst/>
              <a:ahLst/>
              <a:cxnLst/>
              <a:rect r="r" b="b" t="t" l="l"/>
              <a:pathLst>
                <a:path h="592126" w="1895881">
                  <a:moveTo>
                    <a:pt x="0" y="0"/>
                  </a:moveTo>
                  <a:lnTo>
                    <a:pt x="1895881" y="0"/>
                  </a:lnTo>
                  <a:lnTo>
                    <a:pt x="1895881" y="592126"/>
                  </a:lnTo>
                  <a:lnTo>
                    <a:pt x="0" y="592126"/>
                  </a:lnTo>
                  <a:close/>
                </a:path>
              </a:pathLst>
            </a:custGeom>
            <a:blipFill>
              <a:blip r:embed="rId11">
                <a:alphaModFix amt="0"/>
              </a:blip>
              <a:stretch>
                <a:fillRect l="0" t="-12387" r="0" b="-12387"/>
              </a:stretch>
            </a:blipFill>
          </p:spPr>
        </p:sp>
        <p:sp>
          <p:nvSpPr>
            <p:cNvPr name="TextBox 20" id="20"/>
            <p:cNvSpPr txBox="true"/>
            <p:nvPr/>
          </p:nvSpPr>
          <p:spPr>
            <a:xfrm>
              <a:off x="0" y="66675"/>
              <a:ext cx="1895881" cy="525450"/>
            </a:xfrm>
            <a:prstGeom prst="rect">
              <a:avLst/>
            </a:prstGeom>
          </p:spPr>
          <p:txBody>
            <a:bodyPr anchor="ctr" rtlCol="false" tIns="0" lIns="0" bIns="0" rIns="0"/>
            <a:lstStyle/>
            <a:p>
              <a:pPr algn="l">
                <a:lnSpc>
                  <a:spcPts val="1906"/>
                </a:lnSpc>
              </a:pPr>
              <a:r>
                <a:rPr lang="en-US" sz="2299" b="true">
                  <a:solidFill>
                    <a:srgbClr val="C33F48"/>
                  </a:solidFill>
                  <a:latin typeface="TT Commons Pro Bold"/>
                  <a:ea typeface="TT Commons Pro Bold"/>
                  <a:cs typeface="TT Commons Pro Bold"/>
                  <a:sym typeface="TT Commons Pro Bold"/>
                </a:rPr>
                <a:t>Locations</a:t>
              </a:r>
            </a:p>
          </p:txBody>
        </p:sp>
      </p:grpSp>
      <p:grpSp>
        <p:nvGrpSpPr>
          <p:cNvPr name="Group 21" id="21"/>
          <p:cNvGrpSpPr/>
          <p:nvPr/>
        </p:nvGrpSpPr>
        <p:grpSpPr>
          <a:xfrm rot="0">
            <a:off x="13927465" y="9442971"/>
            <a:ext cx="1115663" cy="517684"/>
            <a:chOff x="0" y="0"/>
            <a:chExt cx="1487551" cy="690245"/>
          </a:xfrm>
        </p:grpSpPr>
        <p:sp>
          <p:nvSpPr>
            <p:cNvPr name="Freeform 22" id="22" descr="preencoded.png"/>
            <p:cNvSpPr/>
            <p:nvPr/>
          </p:nvSpPr>
          <p:spPr>
            <a:xfrm flipH="false" flipV="false" rot="0">
              <a:off x="0" y="0"/>
              <a:ext cx="1487551" cy="690245"/>
            </a:xfrm>
            <a:custGeom>
              <a:avLst/>
              <a:gdLst/>
              <a:ahLst/>
              <a:cxnLst/>
              <a:rect r="r" b="b" t="t" l="l"/>
              <a:pathLst>
                <a:path h="690245" w="1487551">
                  <a:moveTo>
                    <a:pt x="0" y="0"/>
                  </a:moveTo>
                  <a:lnTo>
                    <a:pt x="1487551" y="0"/>
                  </a:lnTo>
                  <a:lnTo>
                    <a:pt x="1487551" y="690245"/>
                  </a:lnTo>
                  <a:lnTo>
                    <a:pt x="0" y="690245"/>
                  </a:lnTo>
                  <a:lnTo>
                    <a:pt x="0" y="0"/>
                  </a:lnTo>
                  <a:close/>
                </a:path>
              </a:pathLst>
            </a:custGeom>
            <a:blipFill>
              <a:blip r:embed="rId12"/>
              <a:stretch>
                <a:fillRect l="-26" t="0" r="-26" b="0"/>
              </a:stretch>
            </a:blipFill>
          </p:spPr>
        </p:sp>
      </p:grpSp>
      <p:grpSp>
        <p:nvGrpSpPr>
          <p:cNvPr name="Group 23" id="23"/>
          <p:cNvGrpSpPr/>
          <p:nvPr/>
        </p:nvGrpSpPr>
        <p:grpSpPr>
          <a:xfrm rot="0">
            <a:off x="12337837" y="9406509"/>
            <a:ext cx="1341692" cy="875062"/>
            <a:chOff x="0" y="0"/>
            <a:chExt cx="1788922" cy="1166749"/>
          </a:xfrm>
        </p:grpSpPr>
        <p:sp>
          <p:nvSpPr>
            <p:cNvPr name="Freeform 24" id="24" descr="preencoded.png"/>
            <p:cNvSpPr/>
            <p:nvPr/>
          </p:nvSpPr>
          <p:spPr>
            <a:xfrm flipH="false" flipV="false" rot="0">
              <a:off x="0" y="0"/>
              <a:ext cx="1788922" cy="1166749"/>
            </a:xfrm>
            <a:custGeom>
              <a:avLst/>
              <a:gdLst/>
              <a:ahLst/>
              <a:cxnLst/>
              <a:rect r="r" b="b" t="t" l="l"/>
              <a:pathLst>
                <a:path h="1166749" w="1788922">
                  <a:moveTo>
                    <a:pt x="0" y="0"/>
                  </a:moveTo>
                  <a:lnTo>
                    <a:pt x="1788922" y="0"/>
                  </a:lnTo>
                  <a:lnTo>
                    <a:pt x="1788922" y="1166749"/>
                  </a:lnTo>
                  <a:lnTo>
                    <a:pt x="0" y="1166749"/>
                  </a:lnTo>
                  <a:lnTo>
                    <a:pt x="0" y="0"/>
                  </a:lnTo>
                  <a:close/>
                </a:path>
              </a:pathLst>
            </a:custGeom>
            <a:blipFill>
              <a:blip r:embed="rId13"/>
              <a:stretch>
                <a:fillRect l="-123" t="0" r="-123" b="0"/>
              </a:stretch>
            </a:blipFill>
          </p:spPr>
        </p:sp>
      </p:grpSp>
      <p:grpSp>
        <p:nvGrpSpPr>
          <p:cNvPr name="Group 25" id="25"/>
          <p:cNvGrpSpPr/>
          <p:nvPr/>
        </p:nvGrpSpPr>
        <p:grpSpPr>
          <a:xfrm rot="0">
            <a:off x="6023077" y="9370047"/>
            <a:ext cx="794766" cy="787527"/>
            <a:chOff x="0" y="0"/>
            <a:chExt cx="1059688" cy="1050036"/>
          </a:xfrm>
        </p:grpSpPr>
        <p:sp>
          <p:nvSpPr>
            <p:cNvPr name="Freeform 26" id="26" descr="preencoded.png"/>
            <p:cNvSpPr/>
            <p:nvPr/>
          </p:nvSpPr>
          <p:spPr>
            <a:xfrm flipH="false" flipV="false" rot="0">
              <a:off x="0" y="0"/>
              <a:ext cx="1059688" cy="1050036"/>
            </a:xfrm>
            <a:custGeom>
              <a:avLst/>
              <a:gdLst/>
              <a:ahLst/>
              <a:cxnLst/>
              <a:rect r="r" b="b" t="t" l="l"/>
              <a:pathLst>
                <a:path h="1050036" w="1059688">
                  <a:moveTo>
                    <a:pt x="0" y="0"/>
                  </a:moveTo>
                  <a:lnTo>
                    <a:pt x="1059688" y="0"/>
                  </a:lnTo>
                  <a:lnTo>
                    <a:pt x="1059688" y="1050036"/>
                  </a:lnTo>
                  <a:lnTo>
                    <a:pt x="0" y="1050036"/>
                  </a:lnTo>
                  <a:lnTo>
                    <a:pt x="0" y="0"/>
                  </a:lnTo>
                  <a:close/>
                </a:path>
              </a:pathLst>
            </a:custGeom>
            <a:blipFill>
              <a:blip r:embed="rId14"/>
              <a:stretch>
                <a:fillRect l="0" t="-71" r="0" b="-71"/>
              </a:stretch>
            </a:blipFill>
          </p:spPr>
        </p:sp>
      </p:grpSp>
      <p:grpSp>
        <p:nvGrpSpPr>
          <p:cNvPr name="Group 27" id="27"/>
          <p:cNvGrpSpPr/>
          <p:nvPr/>
        </p:nvGrpSpPr>
        <p:grpSpPr>
          <a:xfrm rot="0">
            <a:off x="4929302" y="9216923"/>
            <a:ext cx="612553" cy="955262"/>
            <a:chOff x="0" y="0"/>
            <a:chExt cx="816737" cy="1273683"/>
          </a:xfrm>
        </p:grpSpPr>
        <p:sp>
          <p:nvSpPr>
            <p:cNvPr name="Freeform 28" id="28" descr="preencoded.png"/>
            <p:cNvSpPr/>
            <p:nvPr/>
          </p:nvSpPr>
          <p:spPr>
            <a:xfrm flipH="false" flipV="false" rot="0">
              <a:off x="0" y="0"/>
              <a:ext cx="816737" cy="1273683"/>
            </a:xfrm>
            <a:custGeom>
              <a:avLst/>
              <a:gdLst/>
              <a:ahLst/>
              <a:cxnLst/>
              <a:rect r="r" b="b" t="t" l="l"/>
              <a:pathLst>
                <a:path h="1273683" w="816737">
                  <a:moveTo>
                    <a:pt x="0" y="0"/>
                  </a:moveTo>
                  <a:lnTo>
                    <a:pt x="816737" y="0"/>
                  </a:lnTo>
                  <a:lnTo>
                    <a:pt x="816737" y="1273683"/>
                  </a:lnTo>
                  <a:lnTo>
                    <a:pt x="0" y="1273683"/>
                  </a:lnTo>
                  <a:lnTo>
                    <a:pt x="0" y="0"/>
                  </a:lnTo>
                  <a:close/>
                </a:path>
              </a:pathLst>
            </a:custGeom>
            <a:blipFill>
              <a:blip r:embed="rId15"/>
              <a:stretch>
                <a:fillRect l="-220" t="0" r="-220" b="0"/>
              </a:stretch>
            </a:blipFill>
          </p:spPr>
        </p:sp>
      </p:grpSp>
      <p:grpSp>
        <p:nvGrpSpPr>
          <p:cNvPr name="Group 29" id="29"/>
          <p:cNvGrpSpPr/>
          <p:nvPr/>
        </p:nvGrpSpPr>
        <p:grpSpPr>
          <a:xfrm rot="0">
            <a:off x="3573018" y="9472136"/>
            <a:ext cx="751046" cy="641699"/>
            <a:chOff x="0" y="0"/>
            <a:chExt cx="1001395" cy="855599"/>
          </a:xfrm>
        </p:grpSpPr>
        <p:sp>
          <p:nvSpPr>
            <p:cNvPr name="Freeform 30" id="30" descr="preencoded.png"/>
            <p:cNvSpPr/>
            <p:nvPr/>
          </p:nvSpPr>
          <p:spPr>
            <a:xfrm flipH="false" flipV="false" rot="0">
              <a:off x="0" y="0"/>
              <a:ext cx="1001395" cy="855599"/>
            </a:xfrm>
            <a:custGeom>
              <a:avLst/>
              <a:gdLst/>
              <a:ahLst/>
              <a:cxnLst/>
              <a:rect r="r" b="b" t="t" l="l"/>
              <a:pathLst>
                <a:path h="855599" w="1001395">
                  <a:moveTo>
                    <a:pt x="0" y="0"/>
                  </a:moveTo>
                  <a:lnTo>
                    <a:pt x="1001395" y="0"/>
                  </a:lnTo>
                  <a:lnTo>
                    <a:pt x="1001395" y="855599"/>
                  </a:lnTo>
                  <a:lnTo>
                    <a:pt x="0" y="855599"/>
                  </a:lnTo>
                  <a:lnTo>
                    <a:pt x="0" y="0"/>
                  </a:lnTo>
                  <a:close/>
                </a:path>
              </a:pathLst>
            </a:custGeom>
            <a:blipFill>
              <a:blip r:embed="rId16"/>
              <a:stretch>
                <a:fillRect l="0" t="-25" r="0" b="-25"/>
              </a:stretch>
            </a:blipFill>
          </p:spPr>
        </p:sp>
      </p:grpSp>
      <p:grpSp>
        <p:nvGrpSpPr>
          <p:cNvPr name="Group 31" id="31"/>
          <p:cNvGrpSpPr/>
          <p:nvPr/>
        </p:nvGrpSpPr>
        <p:grpSpPr>
          <a:xfrm rot="0">
            <a:off x="422929" y="8524189"/>
            <a:ext cx="2479262" cy="1764602"/>
            <a:chOff x="0" y="0"/>
            <a:chExt cx="3305683" cy="2352802"/>
          </a:xfrm>
        </p:grpSpPr>
        <p:sp>
          <p:nvSpPr>
            <p:cNvPr name="Freeform 32" id="32" descr="preencoded.png"/>
            <p:cNvSpPr/>
            <p:nvPr/>
          </p:nvSpPr>
          <p:spPr>
            <a:xfrm flipH="false" flipV="false" rot="0">
              <a:off x="0" y="0"/>
              <a:ext cx="3305683" cy="2352802"/>
            </a:xfrm>
            <a:custGeom>
              <a:avLst/>
              <a:gdLst/>
              <a:ahLst/>
              <a:cxnLst/>
              <a:rect r="r" b="b" t="t" l="l"/>
              <a:pathLst>
                <a:path h="2352802" w="3305683">
                  <a:moveTo>
                    <a:pt x="0" y="0"/>
                  </a:moveTo>
                  <a:lnTo>
                    <a:pt x="3305683" y="0"/>
                  </a:lnTo>
                  <a:lnTo>
                    <a:pt x="3305683" y="2352802"/>
                  </a:lnTo>
                  <a:lnTo>
                    <a:pt x="0" y="2352802"/>
                  </a:lnTo>
                  <a:lnTo>
                    <a:pt x="0" y="0"/>
                  </a:lnTo>
                  <a:close/>
                </a:path>
              </a:pathLst>
            </a:custGeom>
            <a:blipFill>
              <a:blip r:embed="rId17"/>
              <a:stretch>
                <a:fillRect l="0" t="-47" r="0" b="-46"/>
              </a:stretch>
            </a:blipFill>
          </p:spPr>
        </p:sp>
      </p:grpSp>
      <p:grpSp>
        <p:nvGrpSpPr>
          <p:cNvPr name="Group 33" id="33"/>
          <p:cNvGrpSpPr/>
          <p:nvPr/>
        </p:nvGrpSpPr>
        <p:grpSpPr>
          <a:xfrm rot="0">
            <a:off x="809396" y="9100252"/>
            <a:ext cx="561499" cy="554164"/>
            <a:chOff x="0" y="0"/>
            <a:chExt cx="748665" cy="738886"/>
          </a:xfrm>
        </p:grpSpPr>
        <p:sp>
          <p:nvSpPr>
            <p:cNvPr name="Freeform 34" id="34" descr="preencoded.png"/>
            <p:cNvSpPr/>
            <p:nvPr/>
          </p:nvSpPr>
          <p:spPr>
            <a:xfrm flipH="false" flipV="false" rot="0">
              <a:off x="0" y="0"/>
              <a:ext cx="748665" cy="738886"/>
            </a:xfrm>
            <a:custGeom>
              <a:avLst/>
              <a:gdLst/>
              <a:ahLst/>
              <a:cxnLst/>
              <a:rect r="r" b="b" t="t" l="l"/>
              <a:pathLst>
                <a:path h="738886" w="748665">
                  <a:moveTo>
                    <a:pt x="0" y="0"/>
                  </a:moveTo>
                  <a:lnTo>
                    <a:pt x="748665" y="0"/>
                  </a:lnTo>
                  <a:lnTo>
                    <a:pt x="748665" y="738886"/>
                  </a:lnTo>
                  <a:lnTo>
                    <a:pt x="0" y="738886"/>
                  </a:lnTo>
                  <a:lnTo>
                    <a:pt x="0" y="0"/>
                  </a:lnTo>
                  <a:close/>
                </a:path>
              </a:pathLst>
            </a:custGeom>
            <a:blipFill>
              <a:blip r:embed="rId18"/>
              <a:stretch>
                <a:fillRect l="0" t="-116" r="0" b="-116"/>
              </a:stretch>
            </a:blipFill>
          </p:spPr>
        </p:sp>
      </p:grpSp>
      <p:grpSp>
        <p:nvGrpSpPr>
          <p:cNvPr name="Group 35" id="35"/>
          <p:cNvGrpSpPr/>
          <p:nvPr/>
        </p:nvGrpSpPr>
        <p:grpSpPr>
          <a:xfrm rot="0">
            <a:off x="16975465" y="5381396"/>
            <a:ext cx="1312545" cy="1327118"/>
            <a:chOff x="0" y="0"/>
            <a:chExt cx="1750060" cy="1769491"/>
          </a:xfrm>
        </p:grpSpPr>
        <p:sp>
          <p:nvSpPr>
            <p:cNvPr name="Freeform 36" id="36" descr="preencoded.png"/>
            <p:cNvSpPr/>
            <p:nvPr/>
          </p:nvSpPr>
          <p:spPr>
            <a:xfrm flipH="false" flipV="false" rot="0">
              <a:off x="0" y="0"/>
              <a:ext cx="1750060" cy="1769491"/>
            </a:xfrm>
            <a:custGeom>
              <a:avLst/>
              <a:gdLst/>
              <a:ahLst/>
              <a:cxnLst/>
              <a:rect r="r" b="b" t="t" l="l"/>
              <a:pathLst>
                <a:path h="1769491" w="1750060">
                  <a:moveTo>
                    <a:pt x="0" y="0"/>
                  </a:moveTo>
                  <a:lnTo>
                    <a:pt x="1750060" y="0"/>
                  </a:lnTo>
                  <a:lnTo>
                    <a:pt x="1750060" y="1769491"/>
                  </a:lnTo>
                  <a:lnTo>
                    <a:pt x="0" y="1769491"/>
                  </a:lnTo>
                  <a:lnTo>
                    <a:pt x="0" y="0"/>
                  </a:lnTo>
                  <a:close/>
                </a:path>
              </a:pathLst>
            </a:custGeom>
            <a:blipFill>
              <a:blip r:embed="rId19"/>
              <a:stretch>
                <a:fillRect l="0" t="-61" r="0" b="-61"/>
              </a:stretch>
            </a:blipFill>
          </p:spPr>
        </p:sp>
      </p:grpSp>
      <p:grpSp>
        <p:nvGrpSpPr>
          <p:cNvPr name="Group 37" id="37"/>
          <p:cNvGrpSpPr/>
          <p:nvPr/>
        </p:nvGrpSpPr>
        <p:grpSpPr>
          <a:xfrm rot="0">
            <a:off x="16917133" y="1822971"/>
            <a:ext cx="1370838" cy="2296954"/>
            <a:chOff x="0" y="0"/>
            <a:chExt cx="1827784" cy="3062605"/>
          </a:xfrm>
        </p:grpSpPr>
        <p:sp>
          <p:nvSpPr>
            <p:cNvPr name="Freeform 38" id="38" descr="preencoded.png"/>
            <p:cNvSpPr/>
            <p:nvPr/>
          </p:nvSpPr>
          <p:spPr>
            <a:xfrm flipH="false" flipV="false" rot="0">
              <a:off x="0" y="0"/>
              <a:ext cx="1827784" cy="3062605"/>
            </a:xfrm>
            <a:custGeom>
              <a:avLst/>
              <a:gdLst/>
              <a:ahLst/>
              <a:cxnLst/>
              <a:rect r="r" b="b" t="t" l="l"/>
              <a:pathLst>
                <a:path h="3062605" w="1827784">
                  <a:moveTo>
                    <a:pt x="0" y="0"/>
                  </a:moveTo>
                  <a:lnTo>
                    <a:pt x="1827784" y="0"/>
                  </a:lnTo>
                  <a:lnTo>
                    <a:pt x="1827784" y="3062605"/>
                  </a:lnTo>
                  <a:lnTo>
                    <a:pt x="0" y="3062605"/>
                  </a:lnTo>
                  <a:lnTo>
                    <a:pt x="0" y="0"/>
                  </a:lnTo>
                  <a:close/>
                </a:path>
              </a:pathLst>
            </a:custGeom>
            <a:blipFill>
              <a:blip r:embed="rId20"/>
              <a:stretch>
                <a:fillRect l="-149" t="0" r="-149" b="0"/>
              </a:stretch>
            </a:blipFill>
          </p:spPr>
        </p:sp>
      </p:grpSp>
      <p:grpSp>
        <p:nvGrpSpPr>
          <p:cNvPr name="Group 39" id="39"/>
          <p:cNvGrpSpPr/>
          <p:nvPr/>
        </p:nvGrpSpPr>
        <p:grpSpPr>
          <a:xfrm rot="0">
            <a:off x="9778394" y="3711559"/>
            <a:ext cx="6971062" cy="3011519"/>
            <a:chOff x="0" y="0"/>
            <a:chExt cx="9294749" cy="4015359"/>
          </a:xfrm>
        </p:grpSpPr>
        <p:sp>
          <p:nvSpPr>
            <p:cNvPr name="Freeform 40" id="40" descr="preencoded.png"/>
            <p:cNvSpPr/>
            <p:nvPr/>
          </p:nvSpPr>
          <p:spPr>
            <a:xfrm flipH="false" flipV="false" rot="0">
              <a:off x="0" y="0"/>
              <a:ext cx="9294749" cy="4015359"/>
            </a:xfrm>
            <a:custGeom>
              <a:avLst/>
              <a:gdLst/>
              <a:ahLst/>
              <a:cxnLst/>
              <a:rect r="r" b="b" t="t" l="l"/>
              <a:pathLst>
                <a:path h="4015359" w="9294749">
                  <a:moveTo>
                    <a:pt x="0" y="0"/>
                  </a:moveTo>
                  <a:lnTo>
                    <a:pt x="9294749" y="0"/>
                  </a:lnTo>
                  <a:lnTo>
                    <a:pt x="9294749" y="4015359"/>
                  </a:lnTo>
                  <a:lnTo>
                    <a:pt x="0" y="4015359"/>
                  </a:lnTo>
                  <a:lnTo>
                    <a:pt x="0" y="0"/>
                  </a:lnTo>
                  <a:close/>
                </a:path>
              </a:pathLst>
            </a:custGeom>
            <a:blipFill>
              <a:blip r:embed="rId21"/>
              <a:stretch>
                <a:fillRect l="0" t="-6" r="0" b="-6"/>
              </a:stretch>
            </a:blipFill>
          </p:spPr>
        </p:sp>
      </p:grpSp>
      <p:grpSp>
        <p:nvGrpSpPr>
          <p:cNvPr name="Group 41" id="41"/>
          <p:cNvGrpSpPr/>
          <p:nvPr/>
        </p:nvGrpSpPr>
        <p:grpSpPr>
          <a:xfrm rot="0">
            <a:off x="11594068" y="4046982"/>
            <a:ext cx="29146" cy="2369820"/>
            <a:chOff x="0" y="0"/>
            <a:chExt cx="38862" cy="3159760"/>
          </a:xfrm>
        </p:grpSpPr>
        <p:sp>
          <p:nvSpPr>
            <p:cNvPr name="Freeform 42" id="42" descr="preencoded.png"/>
            <p:cNvSpPr/>
            <p:nvPr/>
          </p:nvSpPr>
          <p:spPr>
            <a:xfrm flipH="false" flipV="false" rot="0">
              <a:off x="0" y="0"/>
              <a:ext cx="38862" cy="3159760"/>
            </a:xfrm>
            <a:custGeom>
              <a:avLst/>
              <a:gdLst/>
              <a:ahLst/>
              <a:cxnLst/>
              <a:rect r="r" b="b" t="t" l="l"/>
              <a:pathLst>
                <a:path h="3159760" w="38862">
                  <a:moveTo>
                    <a:pt x="0" y="0"/>
                  </a:moveTo>
                  <a:lnTo>
                    <a:pt x="38862" y="0"/>
                  </a:lnTo>
                  <a:lnTo>
                    <a:pt x="38862" y="3159760"/>
                  </a:lnTo>
                  <a:lnTo>
                    <a:pt x="0" y="3159760"/>
                  </a:lnTo>
                  <a:lnTo>
                    <a:pt x="0" y="0"/>
                  </a:lnTo>
                  <a:close/>
                </a:path>
              </a:pathLst>
            </a:custGeom>
            <a:blipFill>
              <a:blip r:embed="rId22"/>
              <a:stretch>
                <a:fillRect l="-5490" t="0" r="-5522" b="0"/>
              </a:stretch>
            </a:blipFill>
          </p:spPr>
        </p:sp>
      </p:grpSp>
      <p:grpSp>
        <p:nvGrpSpPr>
          <p:cNvPr name="Group 43" id="43"/>
          <p:cNvGrpSpPr/>
          <p:nvPr/>
        </p:nvGrpSpPr>
        <p:grpSpPr>
          <a:xfrm rot="0">
            <a:off x="10223192" y="4127192"/>
            <a:ext cx="1122902" cy="1130236"/>
            <a:chOff x="0" y="0"/>
            <a:chExt cx="1497203" cy="1506982"/>
          </a:xfrm>
        </p:grpSpPr>
        <p:sp>
          <p:nvSpPr>
            <p:cNvPr name="Freeform 44" id="44" descr="preencoded.png"/>
            <p:cNvSpPr/>
            <p:nvPr/>
          </p:nvSpPr>
          <p:spPr>
            <a:xfrm flipH="false" flipV="false" rot="0">
              <a:off x="0" y="0"/>
              <a:ext cx="1497203" cy="1506982"/>
            </a:xfrm>
            <a:custGeom>
              <a:avLst/>
              <a:gdLst/>
              <a:ahLst/>
              <a:cxnLst/>
              <a:rect r="r" b="b" t="t" l="l"/>
              <a:pathLst>
                <a:path h="1506982" w="1497203">
                  <a:moveTo>
                    <a:pt x="0" y="0"/>
                  </a:moveTo>
                  <a:lnTo>
                    <a:pt x="1497203" y="0"/>
                  </a:lnTo>
                  <a:lnTo>
                    <a:pt x="1497203" y="1506982"/>
                  </a:lnTo>
                  <a:lnTo>
                    <a:pt x="0" y="1506982"/>
                  </a:lnTo>
                  <a:lnTo>
                    <a:pt x="0" y="0"/>
                  </a:lnTo>
                  <a:close/>
                </a:path>
              </a:pathLst>
            </a:custGeom>
            <a:blipFill>
              <a:blip r:embed="rId23"/>
              <a:stretch>
                <a:fillRect l="0" t="-32" r="0" b="-32"/>
              </a:stretch>
            </a:blipFill>
          </p:spPr>
        </p:sp>
      </p:grpSp>
      <p:grpSp>
        <p:nvGrpSpPr>
          <p:cNvPr name="Group 45" id="45"/>
          <p:cNvGrpSpPr/>
          <p:nvPr/>
        </p:nvGrpSpPr>
        <p:grpSpPr>
          <a:xfrm rot="0">
            <a:off x="11914908" y="4213965"/>
            <a:ext cx="2570378" cy="515026"/>
            <a:chOff x="0" y="0"/>
            <a:chExt cx="3427171" cy="686702"/>
          </a:xfrm>
        </p:grpSpPr>
        <p:sp>
          <p:nvSpPr>
            <p:cNvPr name="Freeform 46" id="46"/>
            <p:cNvSpPr/>
            <p:nvPr/>
          </p:nvSpPr>
          <p:spPr>
            <a:xfrm flipH="false" flipV="false" rot="0">
              <a:off x="0" y="0"/>
              <a:ext cx="3427222" cy="686689"/>
            </a:xfrm>
            <a:custGeom>
              <a:avLst/>
              <a:gdLst/>
              <a:ahLst/>
              <a:cxnLst/>
              <a:rect r="r" b="b" t="t" l="l"/>
              <a:pathLst>
                <a:path h="686689" w="3427222">
                  <a:moveTo>
                    <a:pt x="0" y="0"/>
                  </a:moveTo>
                  <a:lnTo>
                    <a:pt x="3427222" y="0"/>
                  </a:lnTo>
                  <a:lnTo>
                    <a:pt x="3427222" y="686689"/>
                  </a:lnTo>
                  <a:lnTo>
                    <a:pt x="0" y="686689"/>
                  </a:lnTo>
                  <a:close/>
                </a:path>
              </a:pathLst>
            </a:custGeom>
            <a:blipFill>
              <a:blip r:embed="rId10">
                <a:alphaModFix amt="0"/>
              </a:blip>
              <a:stretch>
                <a:fillRect l="0" t="-47177" r="1" b="-47181"/>
              </a:stretch>
            </a:blipFill>
          </p:spPr>
        </p:sp>
      </p:grpSp>
      <p:grpSp>
        <p:nvGrpSpPr>
          <p:cNvPr name="Group 47" id="47"/>
          <p:cNvGrpSpPr/>
          <p:nvPr/>
        </p:nvGrpSpPr>
        <p:grpSpPr>
          <a:xfrm rot="0">
            <a:off x="11914908" y="4235396"/>
            <a:ext cx="2570378" cy="493595"/>
            <a:chOff x="0" y="0"/>
            <a:chExt cx="3427171" cy="658127"/>
          </a:xfrm>
        </p:grpSpPr>
        <p:sp>
          <p:nvSpPr>
            <p:cNvPr name="Freeform 48" id="48"/>
            <p:cNvSpPr/>
            <p:nvPr/>
          </p:nvSpPr>
          <p:spPr>
            <a:xfrm flipH="false" flipV="false" rot="0">
              <a:off x="0" y="0"/>
              <a:ext cx="3427177" cy="658129"/>
            </a:xfrm>
            <a:custGeom>
              <a:avLst/>
              <a:gdLst/>
              <a:ahLst/>
              <a:cxnLst/>
              <a:rect r="r" b="b" t="t" l="l"/>
              <a:pathLst>
                <a:path h="658129" w="3427177">
                  <a:moveTo>
                    <a:pt x="0" y="0"/>
                  </a:moveTo>
                  <a:lnTo>
                    <a:pt x="3427177" y="0"/>
                  </a:lnTo>
                  <a:lnTo>
                    <a:pt x="3427177" y="658129"/>
                  </a:lnTo>
                  <a:lnTo>
                    <a:pt x="0" y="658129"/>
                  </a:lnTo>
                  <a:close/>
                </a:path>
              </a:pathLst>
            </a:custGeom>
            <a:blipFill>
              <a:blip r:embed="rId11">
                <a:alphaModFix amt="0"/>
              </a:blip>
              <a:stretch>
                <a:fillRect l="0" t="-51467" r="0" b="-51467"/>
              </a:stretch>
            </a:blipFill>
          </p:spPr>
        </p:sp>
        <p:sp>
          <p:nvSpPr>
            <p:cNvPr name="TextBox 49" id="49"/>
            <p:cNvSpPr txBox="true"/>
            <p:nvPr/>
          </p:nvSpPr>
          <p:spPr>
            <a:xfrm>
              <a:off x="0" y="28575"/>
              <a:ext cx="3427171" cy="629552"/>
            </a:xfrm>
            <a:prstGeom prst="rect">
              <a:avLst/>
            </a:prstGeom>
          </p:spPr>
          <p:txBody>
            <a:bodyPr anchor="ctr" rtlCol="false" tIns="0" lIns="0" bIns="0" rIns="0"/>
            <a:lstStyle/>
            <a:p>
              <a:pPr algn="l">
                <a:lnSpc>
                  <a:spcPts val="2439"/>
                </a:lnSpc>
              </a:pPr>
              <a:r>
                <a:rPr lang="en-US" sz="2400" b="true">
                  <a:solidFill>
                    <a:srgbClr val="C43E47"/>
                  </a:solidFill>
                  <a:latin typeface="TT Commons Pro Bold"/>
                  <a:ea typeface="TT Commons Pro Bold"/>
                  <a:cs typeface="TT Commons Pro Bold"/>
                  <a:sym typeface="TT Commons Pro Bold"/>
                </a:rPr>
                <a:t>Specializations</a:t>
              </a:r>
            </a:p>
          </p:txBody>
        </p:sp>
      </p:grpSp>
      <p:grpSp>
        <p:nvGrpSpPr>
          <p:cNvPr name="Group 50" id="50"/>
          <p:cNvGrpSpPr/>
          <p:nvPr/>
        </p:nvGrpSpPr>
        <p:grpSpPr>
          <a:xfrm rot="0">
            <a:off x="9778394" y="1553166"/>
            <a:ext cx="6971062" cy="1874044"/>
            <a:chOff x="0" y="0"/>
            <a:chExt cx="9294749" cy="2498725"/>
          </a:xfrm>
        </p:grpSpPr>
        <p:sp>
          <p:nvSpPr>
            <p:cNvPr name="Freeform 51" id="51" descr="preencoded.png"/>
            <p:cNvSpPr/>
            <p:nvPr/>
          </p:nvSpPr>
          <p:spPr>
            <a:xfrm flipH="false" flipV="false" rot="0">
              <a:off x="0" y="0"/>
              <a:ext cx="9294749" cy="2498725"/>
            </a:xfrm>
            <a:custGeom>
              <a:avLst/>
              <a:gdLst/>
              <a:ahLst/>
              <a:cxnLst/>
              <a:rect r="r" b="b" t="t" l="l"/>
              <a:pathLst>
                <a:path h="2498725" w="9294749">
                  <a:moveTo>
                    <a:pt x="0" y="0"/>
                  </a:moveTo>
                  <a:lnTo>
                    <a:pt x="9294749" y="0"/>
                  </a:lnTo>
                  <a:lnTo>
                    <a:pt x="9294749" y="2498725"/>
                  </a:lnTo>
                  <a:lnTo>
                    <a:pt x="0" y="2498725"/>
                  </a:lnTo>
                  <a:lnTo>
                    <a:pt x="0" y="0"/>
                  </a:lnTo>
                  <a:close/>
                </a:path>
              </a:pathLst>
            </a:custGeom>
            <a:blipFill>
              <a:blip r:embed="rId24"/>
              <a:stretch>
                <a:fillRect l="0" t="-115" r="0" b="-115"/>
              </a:stretch>
            </a:blipFill>
          </p:spPr>
        </p:sp>
      </p:grpSp>
      <p:grpSp>
        <p:nvGrpSpPr>
          <p:cNvPr name="Group 52" id="52"/>
          <p:cNvGrpSpPr/>
          <p:nvPr/>
        </p:nvGrpSpPr>
        <p:grpSpPr>
          <a:xfrm rot="0">
            <a:off x="11594068" y="1895885"/>
            <a:ext cx="29146" cy="1181290"/>
            <a:chOff x="0" y="0"/>
            <a:chExt cx="38862" cy="1575054"/>
          </a:xfrm>
        </p:grpSpPr>
        <p:sp>
          <p:nvSpPr>
            <p:cNvPr name="Freeform 53" id="53" descr="preencoded.png"/>
            <p:cNvSpPr/>
            <p:nvPr/>
          </p:nvSpPr>
          <p:spPr>
            <a:xfrm flipH="false" flipV="false" rot="0">
              <a:off x="0" y="0"/>
              <a:ext cx="38862" cy="1575054"/>
            </a:xfrm>
            <a:custGeom>
              <a:avLst/>
              <a:gdLst/>
              <a:ahLst/>
              <a:cxnLst/>
              <a:rect r="r" b="b" t="t" l="l"/>
              <a:pathLst>
                <a:path h="1575054" w="38862">
                  <a:moveTo>
                    <a:pt x="0" y="0"/>
                  </a:moveTo>
                  <a:lnTo>
                    <a:pt x="38862" y="0"/>
                  </a:lnTo>
                  <a:lnTo>
                    <a:pt x="38862" y="1575054"/>
                  </a:lnTo>
                  <a:lnTo>
                    <a:pt x="0" y="1575054"/>
                  </a:lnTo>
                  <a:lnTo>
                    <a:pt x="0" y="0"/>
                  </a:lnTo>
                  <a:close/>
                </a:path>
              </a:pathLst>
            </a:custGeom>
            <a:blipFill>
              <a:blip r:embed="rId25"/>
              <a:stretch>
                <a:fillRect l="-5522" t="0" r="-5522" b="0"/>
              </a:stretch>
            </a:blipFill>
          </p:spPr>
        </p:sp>
      </p:grpSp>
      <p:grpSp>
        <p:nvGrpSpPr>
          <p:cNvPr name="Group 54" id="54"/>
          <p:cNvGrpSpPr/>
          <p:nvPr/>
        </p:nvGrpSpPr>
        <p:grpSpPr>
          <a:xfrm rot="0">
            <a:off x="10223192" y="1910467"/>
            <a:ext cx="1122902" cy="1152144"/>
            <a:chOff x="0" y="0"/>
            <a:chExt cx="1497203" cy="1536192"/>
          </a:xfrm>
        </p:grpSpPr>
        <p:sp>
          <p:nvSpPr>
            <p:cNvPr name="Freeform 55" id="55" descr="preencoded.png"/>
            <p:cNvSpPr/>
            <p:nvPr/>
          </p:nvSpPr>
          <p:spPr>
            <a:xfrm flipH="false" flipV="false" rot="0">
              <a:off x="0" y="0"/>
              <a:ext cx="1497203" cy="1536192"/>
            </a:xfrm>
            <a:custGeom>
              <a:avLst/>
              <a:gdLst/>
              <a:ahLst/>
              <a:cxnLst/>
              <a:rect r="r" b="b" t="t" l="l"/>
              <a:pathLst>
                <a:path h="1536192" w="1497203">
                  <a:moveTo>
                    <a:pt x="0" y="0"/>
                  </a:moveTo>
                  <a:lnTo>
                    <a:pt x="1497203" y="0"/>
                  </a:lnTo>
                  <a:lnTo>
                    <a:pt x="1497203" y="1536192"/>
                  </a:lnTo>
                  <a:lnTo>
                    <a:pt x="0" y="1536192"/>
                  </a:lnTo>
                  <a:lnTo>
                    <a:pt x="0" y="0"/>
                  </a:lnTo>
                  <a:close/>
                </a:path>
              </a:pathLst>
            </a:custGeom>
            <a:blipFill>
              <a:blip r:embed="rId26"/>
              <a:stretch>
                <a:fillRect l="0" t="-133" r="0" b="-133"/>
              </a:stretch>
            </a:blipFill>
          </p:spPr>
        </p:sp>
      </p:grpSp>
      <p:grpSp>
        <p:nvGrpSpPr>
          <p:cNvPr name="Group 56" id="56"/>
          <p:cNvGrpSpPr/>
          <p:nvPr/>
        </p:nvGrpSpPr>
        <p:grpSpPr>
          <a:xfrm rot="0">
            <a:off x="11907622" y="2049018"/>
            <a:ext cx="1006278" cy="516426"/>
            <a:chOff x="0" y="0"/>
            <a:chExt cx="1341704" cy="688569"/>
          </a:xfrm>
        </p:grpSpPr>
        <p:sp>
          <p:nvSpPr>
            <p:cNvPr name="Freeform 57" id="57"/>
            <p:cNvSpPr/>
            <p:nvPr/>
          </p:nvSpPr>
          <p:spPr>
            <a:xfrm flipH="false" flipV="false" rot="0">
              <a:off x="0" y="0"/>
              <a:ext cx="1341755" cy="688594"/>
            </a:xfrm>
            <a:custGeom>
              <a:avLst/>
              <a:gdLst/>
              <a:ahLst/>
              <a:cxnLst/>
              <a:rect r="r" b="b" t="t" l="l"/>
              <a:pathLst>
                <a:path h="688594" w="1341755">
                  <a:moveTo>
                    <a:pt x="0" y="0"/>
                  </a:moveTo>
                  <a:lnTo>
                    <a:pt x="1341755" y="0"/>
                  </a:lnTo>
                  <a:lnTo>
                    <a:pt x="1341755" y="688594"/>
                  </a:lnTo>
                  <a:lnTo>
                    <a:pt x="0" y="688594"/>
                  </a:lnTo>
                  <a:close/>
                </a:path>
              </a:pathLst>
            </a:custGeom>
            <a:blipFill>
              <a:blip r:embed="rId10">
                <a:alphaModFix amt="0"/>
              </a:blip>
              <a:stretch>
                <a:fillRect l="-15892" t="0" r="-15887" b="3"/>
              </a:stretch>
            </a:blipFill>
          </p:spPr>
        </p:sp>
      </p:grpSp>
      <p:grpSp>
        <p:nvGrpSpPr>
          <p:cNvPr name="Group 58" id="58"/>
          <p:cNvGrpSpPr/>
          <p:nvPr/>
        </p:nvGrpSpPr>
        <p:grpSpPr>
          <a:xfrm rot="0">
            <a:off x="11907622" y="2106168"/>
            <a:ext cx="1006278" cy="459276"/>
            <a:chOff x="0" y="0"/>
            <a:chExt cx="1341704" cy="612369"/>
          </a:xfrm>
        </p:grpSpPr>
        <p:sp>
          <p:nvSpPr>
            <p:cNvPr name="Freeform 59" id="59"/>
            <p:cNvSpPr/>
            <p:nvPr/>
          </p:nvSpPr>
          <p:spPr>
            <a:xfrm flipH="false" flipV="false" rot="0">
              <a:off x="0" y="0"/>
              <a:ext cx="1341704" cy="612373"/>
            </a:xfrm>
            <a:custGeom>
              <a:avLst/>
              <a:gdLst/>
              <a:ahLst/>
              <a:cxnLst/>
              <a:rect r="r" b="b" t="t" l="l"/>
              <a:pathLst>
                <a:path h="612373" w="1341704">
                  <a:moveTo>
                    <a:pt x="0" y="0"/>
                  </a:moveTo>
                  <a:lnTo>
                    <a:pt x="1341704" y="0"/>
                  </a:lnTo>
                  <a:lnTo>
                    <a:pt x="1341704" y="612373"/>
                  </a:lnTo>
                  <a:lnTo>
                    <a:pt x="0" y="612373"/>
                  </a:lnTo>
                  <a:close/>
                </a:path>
              </a:pathLst>
            </a:custGeom>
            <a:blipFill>
              <a:blip r:embed="rId11">
                <a:alphaModFix amt="0"/>
              </a:blip>
              <a:stretch>
                <a:fillRect l="-8559" t="0" r="-8559" b="0"/>
              </a:stretch>
            </a:blipFill>
          </p:spPr>
        </p:sp>
        <p:sp>
          <p:nvSpPr>
            <p:cNvPr name="TextBox 60" id="60"/>
            <p:cNvSpPr txBox="true"/>
            <p:nvPr/>
          </p:nvSpPr>
          <p:spPr>
            <a:xfrm>
              <a:off x="0" y="76200"/>
              <a:ext cx="1341704" cy="536169"/>
            </a:xfrm>
            <a:prstGeom prst="rect">
              <a:avLst/>
            </a:prstGeom>
          </p:spPr>
          <p:txBody>
            <a:bodyPr anchor="ctr" rtlCol="false" tIns="0" lIns="0" bIns="0" rIns="0"/>
            <a:lstStyle/>
            <a:p>
              <a:pPr algn="l">
                <a:lnSpc>
                  <a:spcPts val="1977"/>
                </a:lnSpc>
              </a:pPr>
              <a:r>
                <a:rPr lang="en-US" sz="2400" b="true">
                  <a:solidFill>
                    <a:srgbClr val="EB6934"/>
                  </a:solidFill>
                  <a:latin typeface="TT Commons Pro Bold"/>
                  <a:ea typeface="TT Commons Pro Bold"/>
                  <a:cs typeface="TT Commons Pro Bold"/>
                  <a:sym typeface="TT Commons Pro Bold"/>
                </a:rPr>
                <a:t>About</a:t>
              </a:r>
            </a:p>
          </p:txBody>
        </p:sp>
      </p:grpSp>
      <p:grpSp>
        <p:nvGrpSpPr>
          <p:cNvPr name="Group 61" id="61"/>
          <p:cNvGrpSpPr/>
          <p:nvPr/>
        </p:nvGrpSpPr>
        <p:grpSpPr>
          <a:xfrm rot="0">
            <a:off x="539601" y="3164672"/>
            <a:ext cx="8560689" cy="5228272"/>
            <a:chOff x="0" y="0"/>
            <a:chExt cx="11414252" cy="6971030"/>
          </a:xfrm>
        </p:grpSpPr>
        <p:sp>
          <p:nvSpPr>
            <p:cNvPr name="Freeform 62" id="62" descr="preencoded.png"/>
            <p:cNvSpPr/>
            <p:nvPr/>
          </p:nvSpPr>
          <p:spPr>
            <a:xfrm flipH="false" flipV="false" rot="0">
              <a:off x="0" y="0"/>
              <a:ext cx="11414252" cy="6971030"/>
            </a:xfrm>
            <a:custGeom>
              <a:avLst/>
              <a:gdLst/>
              <a:ahLst/>
              <a:cxnLst/>
              <a:rect r="r" b="b" t="t" l="l"/>
              <a:pathLst>
                <a:path h="6971030" w="11414252">
                  <a:moveTo>
                    <a:pt x="0" y="0"/>
                  </a:moveTo>
                  <a:lnTo>
                    <a:pt x="11414252" y="0"/>
                  </a:lnTo>
                  <a:lnTo>
                    <a:pt x="11414252" y="6971030"/>
                  </a:lnTo>
                  <a:lnTo>
                    <a:pt x="0" y="6971030"/>
                  </a:lnTo>
                  <a:lnTo>
                    <a:pt x="0" y="0"/>
                  </a:lnTo>
                  <a:close/>
                </a:path>
              </a:pathLst>
            </a:custGeom>
            <a:blipFill>
              <a:blip r:embed="rId27"/>
              <a:stretch>
                <a:fillRect l="0" t="-35" r="0" b="-35"/>
              </a:stretch>
            </a:blipFill>
          </p:spPr>
        </p:sp>
      </p:grpSp>
      <p:grpSp>
        <p:nvGrpSpPr>
          <p:cNvPr name="Group 63" id="63"/>
          <p:cNvGrpSpPr/>
          <p:nvPr/>
        </p:nvGrpSpPr>
        <p:grpSpPr>
          <a:xfrm rot="0">
            <a:off x="3769890" y="7430414"/>
            <a:ext cx="415671" cy="510445"/>
            <a:chOff x="0" y="0"/>
            <a:chExt cx="554228" cy="680593"/>
          </a:xfrm>
        </p:grpSpPr>
        <p:sp>
          <p:nvSpPr>
            <p:cNvPr name="Freeform 64" id="64" descr="preencoded.png"/>
            <p:cNvSpPr/>
            <p:nvPr/>
          </p:nvSpPr>
          <p:spPr>
            <a:xfrm flipH="false" flipV="false" rot="0">
              <a:off x="0" y="0"/>
              <a:ext cx="554228" cy="680593"/>
            </a:xfrm>
            <a:custGeom>
              <a:avLst/>
              <a:gdLst/>
              <a:ahLst/>
              <a:cxnLst/>
              <a:rect r="r" b="b" t="t" l="l"/>
              <a:pathLst>
                <a:path h="680593" w="554228">
                  <a:moveTo>
                    <a:pt x="0" y="0"/>
                  </a:moveTo>
                  <a:lnTo>
                    <a:pt x="554228" y="0"/>
                  </a:lnTo>
                  <a:lnTo>
                    <a:pt x="554228" y="680593"/>
                  </a:lnTo>
                  <a:lnTo>
                    <a:pt x="0" y="680593"/>
                  </a:lnTo>
                  <a:lnTo>
                    <a:pt x="0" y="0"/>
                  </a:lnTo>
                  <a:close/>
                </a:path>
              </a:pathLst>
            </a:custGeom>
            <a:blipFill>
              <a:blip r:embed="rId28"/>
              <a:stretch>
                <a:fillRect l="-435" t="0" r="-435" b="0"/>
              </a:stretch>
            </a:blipFill>
          </p:spPr>
        </p:sp>
      </p:grpSp>
      <p:grpSp>
        <p:nvGrpSpPr>
          <p:cNvPr name="Group 65" id="65"/>
          <p:cNvGrpSpPr/>
          <p:nvPr/>
        </p:nvGrpSpPr>
        <p:grpSpPr>
          <a:xfrm rot="0">
            <a:off x="7627296" y="5133470"/>
            <a:ext cx="1122902" cy="576072"/>
            <a:chOff x="0" y="0"/>
            <a:chExt cx="1497203" cy="768096"/>
          </a:xfrm>
        </p:grpSpPr>
        <p:sp>
          <p:nvSpPr>
            <p:cNvPr name="Freeform 66" id="66" descr="preencoded.png"/>
            <p:cNvSpPr/>
            <p:nvPr/>
          </p:nvSpPr>
          <p:spPr>
            <a:xfrm flipH="false" flipV="false" rot="0">
              <a:off x="0" y="0"/>
              <a:ext cx="1497203" cy="768096"/>
            </a:xfrm>
            <a:custGeom>
              <a:avLst/>
              <a:gdLst/>
              <a:ahLst/>
              <a:cxnLst/>
              <a:rect r="r" b="b" t="t" l="l"/>
              <a:pathLst>
                <a:path h="768096" w="1497203">
                  <a:moveTo>
                    <a:pt x="0" y="0"/>
                  </a:moveTo>
                  <a:lnTo>
                    <a:pt x="1497203" y="0"/>
                  </a:lnTo>
                  <a:lnTo>
                    <a:pt x="1497203" y="768096"/>
                  </a:lnTo>
                  <a:lnTo>
                    <a:pt x="0" y="768096"/>
                  </a:lnTo>
                  <a:lnTo>
                    <a:pt x="0" y="0"/>
                  </a:lnTo>
                  <a:close/>
                </a:path>
              </a:pathLst>
            </a:custGeom>
            <a:blipFill>
              <a:blip r:embed="rId29"/>
              <a:stretch>
                <a:fillRect l="0" t="-484" r="0" b="-482"/>
              </a:stretch>
            </a:blipFill>
          </p:spPr>
        </p:sp>
      </p:grpSp>
      <p:grpSp>
        <p:nvGrpSpPr>
          <p:cNvPr name="Group 67" id="67"/>
          <p:cNvGrpSpPr/>
          <p:nvPr/>
        </p:nvGrpSpPr>
        <p:grpSpPr>
          <a:xfrm rot="0">
            <a:off x="6343926" y="4579296"/>
            <a:ext cx="699992" cy="692753"/>
            <a:chOff x="0" y="0"/>
            <a:chExt cx="933323" cy="923671"/>
          </a:xfrm>
        </p:grpSpPr>
        <p:sp>
          <p:nvSpPr>
            <p:cNvPr name="Freeform 68" id="68" descr="preencoded.png"/>
            <p:cNvSpPr/>
            <p:nvPr/>
          </p:nvSpPr>
          <p:spPr>
            <a:xfrm flipH="false" flipV="false" rot="0">
              <a:off x="0" y="0"/>
              <a:ext cx="933323" cy="923671"/>
            </a:xfrm>
            <a:custGeom>
              <a:avLst/>
              <a:gdLst/>
              <a:ahLst/>
              <a:cxnLst/>
              <a:rect r="r" b="b" t="t" l="l"/>
              <a:pathLst>
                <a:path h="923671" w="933323">
                  <a:moveTo>
                    <a:pt x="0" y="0"/>
                  </a:moveTo>
                  <a:lnTo>
                    <a:pt x="933323" y="0"/>
                  </a:lnTo>
                  <a:lnTo>
                    <a:pt x="933323" y="923671"/>
                  </a:lnTo>
                  <a:lnTo>
                    <a:pt x="0" y="923671"/>
                  </a:lnTo>
                  <a:lnTo>
                    <a:pt x="0" y="0"/>
                  </a:lnTo>
                  <a:close/>
                </a:path>
              </a:pathLst>
            </a:custGeom>
            <a:blipFill>
              <a:blip r:embed="rId30"/>
              <a:stretch>
                <a:fillRect l="0" t="-82" r="0" b="-83"/>
              </a:stretch>
            </a:blipFill>
          </p:spPr>
        </p:sp>
      </p:grpSp>
      <p:grpSp>
        <p:nvGrpSpPr>
          <p:cNvPr name="Group 69" id="69"/>
          <p:cNvGrpSpPr/>
          <p:nvPr/>
        </p:nvGrpSpPr>
        <p:grpSpPr>
          <a:xfrm rot="0">
            <a:off x="7634583" y="3893858"/>
            <a:ext cx="1115663" cy="853154"/>
            <a:chOff x="0" y="0"/>
            <a:chExt cx="1487551" cy="1137539"/>
          </a:xfrm>
        </p:grpSpPr>
        <p:sp>
          <p:nvSpPr>
            <p:cNvPr name="Freeform 70" id="70" descr="preencoded.png"/>
            <p:cNvSpPr/>
            <p:nvPr/>
          </p:nvSpPr>
          <p:spPr>
            <a:xfrm flipH="false" flipV="false" rot="0">
              <a:off x="0" y="0"/>
              <a:ext cx="1487551" cy="1137539"/>
            </a:xfrm>
            <a:custGeom>
              <a:avLst/>
              <a:gdLst/>
              <a:ahLst/>
              <a:cxnLst/>
              <a:rect r="r" b="b" t="t" l="l"/>
              <a:pathLst>
                <a:path h="1137539" w="1487551">
                  <a:moveTo>
                    <a:pt x="0" y="0"/>
                  </a:moveTo>
                  <a:lnTo>
                    <a:pt x="1487551" y="0"/>
                  </a:lnTo>
                  <a:lnTo>
                    <a:pt x="1487551" y="1137539"/>
                  </a:lnTo>
                  <a:lnTo>
                    <a:pt x="0" y="1137539"/>
                  </a:lnTo>
                  <a:lnTo>
                    <a:pt x="0" y="0"/>
                  </a:lnTo>
                  <a:close/>
                </a:path>
              </a:pathLst>
            </a:custGeom>
            <a:blipFill>
              <a:blip r:embed="rId31"/>
              <a:stretch>
                <a:fillRect l="0" t="-223" r="0" b="-222"/>
              </a:stretch>
            </a:blipFill>
          </p:spPr>
        </p:sp>
      </p:grpSp>
      <p:grpSp>
        <p:nvGrpSpPr>
          <p:cNvPr name="Group 71" id="71"/>
          <p:cNvGrpSpPr/>
          <p:nvPr/>
        </p:nvGrpSpPr>
        <p:grpSpPr>
          <a:xfrm rot="0">
            <a:off x="3740725" y="4579296"/>
            <a:ext cx="721900" cy="554164"/>
            <a:chOff x="0" y="0"/>
            <a:chExt cx="962533" cy="738886"/>
          </a:xfrm>
        </p:grpSpPr>
        <p:sp>
          <p:nvSpPr>
            <p:cNvPr name="Freeform 72" id="72" descr="preencoded.png"/>
            <p:cNvSpPr/>
            <p:nvPr/>
          </p:nvSpPr>
          <p:spPr>
            <a:xfrm flipH="false" flipV="false" rot="0">
              <a:off x="0" y="0"/>
              <a:ext cx="962533" cy="738886"/>
            </a:xfrm>
            <a:custGeom>
              <a:avLst/>
              <a:gdLst/>
              <a:ahLst/>
              <a:cxnLst/>
              <a:rect r="r" b="b" t="t" l="l"/>
              <a:pathLst>
                <a:path h="738886" w="962533">
                  <a:moveTo>
                    <a:pt x="0" y="0"/>
                  </a:moveTo>
                  <a:lnTo>
                    <a:pt x="962533" y="0"/>
                  </a:lnTo>
                  <a:lnTo>
                    <a:pt x="962533" y="738886"/>
                  </a:lnTo>
                  <a:lnTo>
                    <a:pt x="0" y="738886"/>
                  </a:lnTo>
                  <a:lnTo>
                    <a:pt x="0" y="0"/>
                  </a:lnTo>
                  <a:close/>
                </a:path>
              </a:pathLst>
            </a:custGeom>
            <a:blipFill>
              <a:blip r:embed="rId32"/>
              <a:stretch>
                <a:fillRect l="0" t="-355" r="0" b="-355"/>
              </a:stretch>
            </a:blipFill>
          </p:spPr>
        </p:sp>
      </p:grpSp>
      <p:grpSp>
        <p:nvGrpSpPr>
          <p:cNvPr name="Group 73" id="73"/>
          <p:cNvGrpSpPr/>
          <p:nvPr/>
        </p:nvGrpSpPr>
        <p:grpSpPr>
          <a:xfrm rot="0">
            <a:off x="16990047" y="488556"/>
            <a:ext cx="926020" cy="787527"/>
            <a:chOff x="0" y="0"/>
            <a:chExt cx="1234694" cy="1050036"/>
          </a:xfrm>
        </p:grpSpPr>
        <p:sp>
          <p:nvSpPr>
            <p:cNvPr name="Freeform 74" id="74" descr="preencoded.png"/>
            <p:cNvSpPr/>
            <p:nvPr/>
          </p:nvSpPr>
          <p:spPr>
            <a:xfrm flipH="false" flipV="false" rot="0">
              <a:off x="0" y="0"/>
              <a:ext cx="1234694" cy="1050036"/>
            </a:xfrm>
            <a:custGeom>
              <a:avLst/>
              <a:gdLst/>
              <a:ahLst/>
              <a:cxnLst/>
              <a:rect r="r" b="b" t="t" l="l"/>
              <a:pathLst>
                <a:path h="1050036" w="1234694">
                  <a:moveTo>
                    <a:pt x="0" y="0"/>
                  </a:moveTo>
                  <a:lnTo>
                    <a:pt x="1234694" y="0"/>
                  </a:lnTo>
                  <a:lnTo>
                    <a:pt x="1234694" y="1050036"/>
                  </a:lnTo>
                  <a:lnTo>
                    <a:pt x="0" y="1050036"/>
                  </a:lnTo>
                  <a:lnTo>
                    <a:pt x="0" y="0"/>
                  </a:lnTo>
                  <a:close/>
                </a:path>
              </a:pathLst>
            </a:custGeom>
            <a:blipFill>
              <a:blip r:embed="rId33"/>
              <a:stretch>
                <a:fillRect l="0" t="-101" r="0" b="-101"/>
              </a:stretch>
            </a:blipFill>
          </p:spPr>
        </p:sp>
      </p:grpSp>
      <p:grpSp>
        <p:nvGrpSpPr>
          <p:cNvPr name="Group 75" id="75"/>
          <p:cNvGrpSpPr/>
          <p:nvPr/>
        </p:nvGrpSpPr>
        <p:grpSpPr>
          <a:xfrm rot="0">
            <a:off x="10077355" y="1093784"/>
            <a:ext cx="6096000" cy="43720"/>
            <a:chOff x="0" y="0"/>
            <a:chExt cx="8128000" cy="58293"/>
          </a:xfrm>
        </p:grpSpPr>
        <p:sp>
          <p:nvSpPr>
            <p:cNvPr name="Freeform 76" id="76" descr="preencoded.png"/>
            <p:cNvSpPr/>
            <p:nvPr/>
          </p:nvSpPr>
          <p:spPr>
            <a:xfrm flipH="false" flipV="false" rot="0">
              <a:off x="0" y="0"/>
              <a:ext cx="8128000" cy="58293"/>
            </a:xfrm>
            <a:custGeom>
              <a:avLst/>
              <a:gdLst/>
              <a:ahLst/>
              <a:cxnLst/>
              <a:rect r="r" b="b" t="t" l="l"/>
              <a:pathLst>
                <a:path h="58293" w="8128000">
                  <a:moveTo>
                    <a:pt x="0" y="0"/>
                  </a:moveTo>
                  <a:lnTo>
                    <a:pt x="8128000" y="0"/>
                  </a:lnTo>
                  <a:lnTo>
                    <a:pt x="8128000" y="58293"/>
                  </a:lnTo>
                  <a:lnTo>
                    <a:pt x="0" y="58293"/>
                  </a:lnTo>
                  <a:lnTo>
                    <a:pt x="0" y="0"/>
                  </a:lnTo>
                  <a:close/>
                </a:path>
              </a:pathLst>
            </a:custGeom>
            <a:blipFill>
              <a:blip r:embed="rId34"/>
              <a:stretch>
                <a:fillRect l="0" t="-43" r="0" b="-21"/>
              </a:stretch>
            </a:blipFill>
          </p:spPr>
        </p:sp>
      </p:grpSp>
      <p:grpSp>
        <p:nvGrpSpPr>
          <p:cNvPr name="Group 77" id="77"/>
          <p:cNvGrpSpPr/>
          <p:nvPr/>
        </p:nvGrpSpPr>
        <p:grpSpPr>
          <a:xfrm rot="0">
            <a:off x="10077355" y="262509"/>
            <a:ext cx="6059538" cy="858041"/>
            <a:chOff x="0" y="0"/>
            <a:chExt cx="8079384" cy="1144054"/>
          </a:xfrm>
        </p:grpSpPr>
        <p:sp>
          <p:nvSpPr>
            <p:cNvPr name="Freeform 78" id="78"/>
            <p:cNvSpPr/>
            <p:nvPr/>
          </p:nvSpPr>
          <p:spPr>
            <a:xfrm flipH="false" flipV="false" rot="0">
              <a:off x="0" y="0"/>
              <a:ext cx="8079359" cy="1144016"/>
            </a:xfrm>
            <a:custGeom>
              <a:avLst/>
              <a:gdLst/>
              <a:ahLst/>
              <a:cxnLst/>
              <a:rect r="r" b="b" t="t" l="l"/>
              <a:pathLst>
                <a:path h="1144016" w="8079359">
                  <a:moveTo>
                    <a:pt x="0" y="0"/>
                  </a:moveTo>
                  <a:lnTo>
                    <a:pt x="8079359" y="0"/>
                  </a:lnTo>
                  <a:lnTo>
                    <a:pt x="8079359" y="1144016"/>
                  </a:lnTo>
                  <a:lnTo>
                    <a:pt x="0" y="1144016"/>
                  </a:lnTo>
                  <a:close/>
                </a:path>
              </a:pathLst>
            </a:custGeom>
            <a:blipFill>
              <a:blip r:embed="rId10">
                <a:alphaModFix amt="0"/>
              </a:blip>
              <a:stretch>
                <a:fillRect l="0" t="-87512" r="0" b="-87514"/>
              </a:stretch>
            </a:blipFill>
          </p:spPr>
        </p:sp>
      </p:grpSp>
      <p:grpSp>
        <p:nvGrpSpPr>
          <p:cNvPr name="Group 79" id="79"/>
          <p:cNvGrpSpPr/>
          <p:nvPr/>
        </p:nvGrpSpPr>
        <p:grpSpPr>
          <a:xfrm rot="0">
            <a:off x="10077355" y="291084"/>
            <a:ext cx="6059538" cy="829466"/>
            <a:chOff x="0" y="0"/>
            <a:chExt cx="8079384" cy="1105954"/>
          </a:xfrm>
        </p:grpSpPr>
        <p:sp>
          <p:nvSpPr>
            <p:cNvPr name="Freeform 80" id="80"/>
            <p:cNvSpPr/>
            <p:nvPr/>
          </p:nvSpPr>
          <p:spPr>
            <a:xfrm flipH="false" flipV="false" rot="0">
              <a:off x="0" y="0"/>
              <a:ext cx="8079384" cy="1105952"/>
            </a:xfrm>
            <a:custGeom>
              <a:avLst/>
              <a:gdLst/>
              <a:ahLst/>
              <a:cxnLst/>
              <a:rect r="r" b="b" t="t" l="l"/>
              <a:pathLst>
                <a:path h="1105952" w="8079384">
                  <a:moveTo>
                    <a:pt x="0" y="0"/>
                  </a:moveTo>
                  <a:lnTo>
                    <a:pt x="8079384" y="0"/>
                  </a:lnTo>
                  <a:lnTo>
                    <a:pt x="8079384" y="1105952"/>
                  </a:lnTo>
                  <a:lnTo>
                    <a:pt x="0" y="1105952"/>
                  </a:lnTo>
                  <a:close/>
                </a:path>
              </a:pathLst>
            </a:custGeom>
            <a:blipFill>
              <a:blip r:embed="rId11">
                <a:alphaModFix amt="0"/>
              </a:blip>
              <a:stretch>
                <a:fillRect l="0" t="-92345" r="0" b="-92345"/>
              </a:stretch>
            </a:blipFill>
          </p:spPr>
        </p:sp>
        <p:sp>
          <p:nvSpPr>
            <p:cNvPr name="TextBox 81" id="81"/>
            <p:cNvSpPr txBox="true"/>
            <p:nvPr/>
          </p:nvSpPr>
          <p:spPr>
            <a:xfrm>
              <a:off x="0" y="38100"/>
              <a:ext cx="8079384" cy="1067854"/>
            </a:xfrm>
            <a:prstGeom prst="rect">
              <a:avLst/>
            </a:prstGeom>
          </p:spPr>
          <p:txBody>
            <a:bodyPr anchor="ctr" rtlCol="false" tIns="0" lIns="0" bIns="0" rIns="0"/>
            <a:lstStyle/>
            <a:p>
              <a:pPr algn="l">
                <a:lnSpc>
                  <a:spcPts val="4305"/>
                </a:lnSpc>
              </a:pPr>
              <a:r>
                <a:rPr lang="en-US" sz="3978" b="true">
                  <a:solidFill>
                    <a:srgbClr val="D8D2D2"/>
                  </a:solidFill>
                  <a:latin typeface="TT Commons Pro Bold"/>
                  <a:ea typeface="TT Commons Pro Bold"/>
                  <a:cs typeface="TT Commons Pro Bold"/>
                  <a:sym typeface="TT Commons Pro Bold"/>
                </a:rPr>
                <a:t>07 Services IT Company</a:t>
              </a:r>
            </a:p>
          </p:txBody>
        </p:sp>
      </p:grpSp>
      <p:grpSp>
        <p:nvGrpSpPr>
          <p:cNvPr name="Group 82" id="82"/>
          <p:cNvGrpSpPr/>
          <p:nvPr/>
        </p:nvGrpSpPr>
        <p:grpSpPr>
          <a:xfrm rot="0">
            <a:off x="6023077" y="328136"/>
            <a:ext cx="459391" cy="364617"/>
            <a:chOff x="0" y="0"/>
            <a:chExt cx="612521" cy="486156"/>
          </a:xfrm>
        </p:grpSpPr>
        <p:sp>
          <p:nvSpPr>
            <p:cNvPr name="Freeform 83" id="83" descr="preencoded.png"/>
            <p:cNvSpPr/>
            <p:nvPr/>
          </p:nvSpPr>
          <p:spPr>
            <a:xfrm flipH="false" flipV="false" rot="0">
              <a:off x="0" y="0"/>
              <a:ext cx="612521" cy="486156"/>
            </a:xfrm>
            <a:custGeom>
              <a:avLst/>
              <a:gdLst/>
              <a:ahLst/>
              <a:cxnLst/>
              <a:rect r="r" b="b" t="t" l="l"/>
              <a:pathLst>
                <a:path h="486156" w="612521">
                  <a:moveTo>
                    <a:pt x="0" y="0"/>
                  </a:moveTo>
                  <a:lnTo>
                    <a:pt x="612521" y="0"/>
                  </a:lnTo>
                  <a:lnTo>
                    <a:pt x="612521" y="486156"/>
                  </a:lnTo>
                  <a:lnTo>
                    <a:pt x="0" y="486156"/>
                  </a:lnTo>
                  <a:lnTo>
                    <a:pt x="0" y="0"/>
                  </a:lnTo>
                  <a:close/>
                </a:path>
              </a:pathLst>
            </a:custGeom>
            <a:blipFill>
              <a:blip r:embed="rId35"/>
              <a:stretch>
                <a:fillRect l="-445" t="0" r="-447" b="0"/>
              </a:stretch>
            </a:blipFill>
          </p:spPr>
        </p:sp>
      </p:grpSp>
      <p:grpSp>
        <p:nvGrpSpPr>
          <p:cNvPr name="Group 84" id="84"/>
          <p:cNvGrpSpPr/>
          <p:nvPr/>
        </p:nvGrpSpPr>
        <p:grpSpPr>
          <a:xfrm rot="0">
            <a:off x="787517" y="277092"/>
            <a:ext cx="1954244" cy="1742789"/>
            <a:chOff x="0" y="0"/>
            <a:chExt cx="2605659" cy="2323719"/>
          </a:xfrm>
        </p:grpSpPr>
        <p:sp>
          <p:nvSpPr>
            <p:cNvPr name="Freeform 85" id="85" descr="preencoded.png"/>
            <p:cNvSpPr/>
            <p:nvPr/>
          </p:nvSpPr>
          <p:spPr>
            <a:xfrm flipH="false" flipV="false" rot="0">
              <a:off x="0" y="0"/>
              <a:ext cx="2605659" cy="2323719"/>
            </a:xfrm>
            <a:custGeom>
              <a:avLst/>
              <a:gdLst/>
              <a:ahLst/>
              <a:cxnLst/>
              <a:rect r="r" b="b" t="t" l="l"/>
              <a:pathLst>
                <a:path h="2323719" w="2605659">
                  <a:moveTo>
                    <a:pt x="0" y="0"/>
                  </a:moveTo>
                  <a:lnTo>
                    <a:pt x="2605659" y="0"/>
                  </a:lnTo>
                  <a:lnTo>
                    <a:pt x="2605659" y="2323719"/>
                  </a:lnTo>
                  <a:lnTo>
                    <a:pt x="0" y="2323719"/>
                  </a:lnTo>
                  <a:lnTo>
                    <a:pt x="0" y="0"/>
                  </a:lnTo>
                  <a:close/>
                </a:path>
              </a:pathLst>
            </a:custGeom>
            <a:blipFill>
              <a:blip r:embed="rId36"/>
              <a:stretch>
                <a:fillRect l="0" t="-42" r="0" b="-43"/>
              </a:stretch>
            </a:blipFill>
          </p:spPr>
        </p:sp>
      </p:grpSp>
      <p:grpSp>
        <p:nvGrpSpPr>
          <p:cNvPr name="Group 86" id="86"/>
          <p:cNvGrpSpPr/>
          <p:nvPr/>
        </p:nvGrpSpPr>
        <p:grpSpPr>
          <a:xfrm rot="0">
            <a:off x="16866089" y="9034624"/>
            <a:ext cx="678142" cy="318802"/>
            <a:chOff x="0" y="0"/>
            <a:chExt cx="904189" cy="425069"/>
          </a:xfrm>
        </p:grpSpPr>
        <p:sp>
          <p:nvSpPr>
            <p:cNvPr name="Freeform 87" id="87"/>
            <p:cNvSpPr/>
            <p:nvPr/>
          </p:nvSpPr>
          <p:spPr>
            <a:xfrm flipH="false" flipV="false" rot="0">
              <a:off x="0" y="0"/>
              <a:ext cx="904240" cy="425069"/>
            </a:xfrm>
            <a:custGeom>
              <a:avLst/>
              <a:gdLst/>
              <a:ahLst/>
              <a:cxnLst/>
              <a:rect r="r" b="b" t="t" l="l"/>
              <a:pathLst>
                <a:path h="425069" w="904240">
                  <a:moveTo>
                    <a:pt x="0" y="0"/>
                  </a:moveTo>
                  <a:lnTo>
                    <a:pt x="904240" y="0"/>
                  </a:lnTo>
                  <a:lnTo>
                    <a:pt x="904240" y="425069"/>
                  </a:lnTo>
                  <a:lnTo>
                    <a:pt x="0" y="425069"/>
                  </a:lnTo>
                  <a:close/>
                </a:path>
              </a:pathLst>
            </a:custGeom>
            <a:blipFill>
              <a:blip r:embed="rId10">
                <a:alphaModFix amt="0"/>
              </a:blip>
              <a:stretch>
                <a:fillRect l="-10358" t="0" r="-10352" b="0"/>
              </a:stretch>
            </a:blipFill>
          </p:spPr>
        </p:sp>
      </p:grpSp>
      <p:grpSp>
        <p:nvGrpSpPr>
          <p:cNvPr name="Group 88" id="88"/>
          <p:cNvGrpSpPr/>
          <p:nvPr/>
        </p:nvGrpSpPr>
        <p:grpSpPr>
          <a:xfrm rot="0">
            <a:off x="16866089" y="9070343"/>
            <a:ext cx="678142" cy="283073"/>
            <a:chOff x="0" y="0"/>
            <a:chExt cx="904189" cy="377431"/>
          </a:xfrm>
        </p:grpSpPr>
        <p:sp>
          <p:nvSpPr>
            <p:cNvPr name="Freeform 89" id="89"/>
            <p:cNvSpPr/>
            <p:nvPr/>
          </p:nvSpPr>
          <p:spPr>
            <a:xfrm flipH="false" flipV="false" rot="0">
              <a:off x="0" y="0"/>
              <a:ext cx="904189" cy="377438"/>
            </a:xfrm>
            <a:custGeom>
              <a:avLst/>
              <a:gdLst/>
              <a:ahLst/>
              <a:cxnLst/>
              <a:rect r="r" b="b" t="t" l="l"/>
              <a:pathLst>
                <a:path h="377438" w="904189">
                  <a:moveTo>
                    <a:pt x="0" y="0"/>
                  </a:moveTo>
                  <a:lnTo>
                    <a:pt x="904189" y="0"/>
                  </a:lnTo>
                  <a:lnTo>
                    <a:pt x="904189" y="377438"/>
                  </a:lnTo>
                  <a:lnTo>
                    <a:pt x="0" y="377438"/>
                  </a:lnTo>
                  <a:close/>
                </a:path>
              </a:pathLst>
            </a:custGeom>
            <a:blipFill>
              <a:blip r:embed="rId11">
                <a:alphaModFix amt="0"/>
              </a:blip>
              <a:stretch>
                <a:fillRect l="-3557" t="0" r="-3557" b="1"/>
              </a:stretch>
            </a:blipFill>
          </p:spPr>
        </p:sp>
        <p:sp>
          <p:nvSpPr>
            <p:cNvPr name="TextBox 90" id="90"/>
            <p:cNvSpPr txBox="true"/>
            <p:nvPr/>
          </p:nvSpPr>
          <p:spPr>
            <a:xfrm>
              <a:off x="0" y="47625"/>
              <a:ext cx="904189" cy="329806"/>
            </a:xfrm>
            <a:prstGeom prst="rect">
              <a:avLst/>
            </a:prstGeom>
          </p:spPr>
          <p:txBody>
            <a:bodyPr anchor="ctr" rtlCol="false" tIns="0" lIns="0" bIns="0" rIns="0"/>
            <a:lstStyle/>
            <a:p>
              <a:pPr algn="l">
                <a:lnSpc>
                  <a:spcPts val="1206"/>
                </a:lnSpc>
              </a:pPr>
              <a:r>
                <a:rPr lang="en-US" b="true" sz="1474" i="true">
                  <a:solidFill>
                    <a:srgbClr val="ECB8B7"/>
                  </a:solidFill>
                  <a:latin typeface="TT Commons Pro Bold Italics"/>
                  <a:ea typeface="TT Commons Pro Bold Italics"/>
                  <a:cs typeface="TT Commons Pro Bold Italics"/>
                  <a:sym typeface="TT Commons Pro Bold Italics"/>
                </a:rPr>
                <a:t>zomato</a:t>
              </a:r>
            </a:p>
          </p:txBody>
        </p:sp>
      </p:grpSp>
      <p:grpSp>
        <p:nvGrpSpPr>
          <p:cNvPr name="Group 91" id="91"/>
          <p:cNvGrpSpPr/>
          <p:nvPr/>
        </p:nvGrpSpPr>
        <p:grpSpPr>
          <a:xfrm rot="0">
            <a:off x="2916746" y="1618793"/>
            <a:ext cx="5775160" cy="580463"/>
            <a:chOff x="0" y="0"/>
            <a:chExt cx="7700213" cy="773951"/>
          </a:xfrm>
        </p:grpSpPr>
        <p:sp>
          <p:nvSpPr>
            <p:cNvPr name="Freeform 92" id="92"/>
            <p:cNvSpPr/>
            <p:nvPr/>
          </p:nvSpPr>
          <p:spPr>
            <a:xfrm flipH="false" flipV="false" rot="0">
              <a:off x="0" y="0"/>
              <a:ext cx="7700264" cy="773938"/>
            </a:xfrm>
            <a:custGeom>
              <a:avLst/>
              <a:gdLst/>
              <a:ahLst/>
              <a:cxnLst/>
              <a:rect r="r" b="b" t="t" l="l"/>
              <a:pathLst>
                <a:path h="773938" w="7700264">
                  <a:moveTo>
                    <a:pt x="0" y="0"/>
                  </a:moveTo>
                  <a:lnTo>
                    <a:pt x="7700264" y="0"/>
                  </a:lnTo>
                  <a:lnTo>
                    <a:pt x="7700264" y="773938"/>
                  </a:lnTo>
                  <a:lnTo>
                    <a:pt x="0" y="773938"/>
                  </a:lnTo>
                  <a:close/>
                </a:path>
              </a:pathLst>
            </a:custGeom>
            <a:blipFill>
              <a:blip r:embed="rId10">
                <a:alphaModFix amt="0"/>
              </a:blip>
              <a:stretch>
                <a:fillRect l="0" t="-143728" r="0" b="-143729"/>
              </a:stretch>
            </a:blipFill>
          </p:spPr>
        </p:sp>
      </p:grpSp>
      <p:grpSp>
        <p:nvGrpSpPr>
          <p:cNvPr name="Group 93" id="93"/>
          <p:cNvGrpSpPr/>
          <p:nvPr/>
        </p:nvGrpSpPr>
        <p:grpSpPr>
          <a:xfrm rot="0">
            <a:off x="2916746" y="1647368"/>
            <a:ext cx="5775160" cy="551888"/>
            <a:chOff x="0" y="0"/>
            <a:chExt cx="7700213" cy="735851"/>
          </a:xfrm>
        </p:grpSpPr>
        <p:sp>
          <p:nvSpPr>
            <p:cNvPr name="Freeform 94" id="94"/>
            <p:cNvSpPr/>
            <p:nvPr/>
          </p:nvSpPr>
          <p:spPr>
            <a:xfrm flipH="false" flipV="false" rot="0">
              <a:off x="0" y="0"/>
              <a:ext cx="7700214" cy="735851"/>
            </a:xfrm>
            <a:custGeom>
              <a:avLst/>
              <a:gdLst/>
              <a:ahLst/>
              <a:cxnLst/>
              <a:rect r="r" b="b" t="t" l="l"/>
              <a:pathLst>
                <a:path h="735851" w="7700214">
                  <a:moveTo>
                    <a:pt x="0" y="0"/>
                  </a:moveTo>
                  <a:lnTo>
                    <a:pt x="7700214" y="0"/>
                  </a:lnTo>
                  <a:lnTo>
                    <a:pt x="7700214" y="735851"/>
                  </a:lnTo>
                  <a:lnTo>
                    <a:pt x="0" y="735851"/>
                  </a:lnTo>
                  <a:close/>
                </a:path>
              </a:pathLst>
            </a:custGeom>
            <a:blipFill>
              <a:blip r:embed="rId11">
                <a:alphaModFix amt="0"/>
              </a:blip>
              <a:stretch>
                <a:fillRect l="0" t="-153898" r="0" b="-153898"/>
              </a:stretch>
            </a:blipFill>
          </p:spPr>
        </p:sp>
        <p:sp>
          <p:nvSpPr>
            <p:cNvPr name="TextBox 95" id="95"/>
            <p:cNvSpPr txBox="true"/>
            <p:nvPr/>
          </p:nvSpPr>
          <p:spPr>
            <a:xfrm>
              <a:off x="0" y="38100"/>
              <a:ext cx="7700213" cy="697751"/>
            </a:xfrm>
            <a:prstGeom prst="rect">
              <a:avLst/>
            </a:prstGeom>
          </p:spPr>
          <p:txBody>
            <a:bodyPr anchor="ctr" rtlCol="false" tIns="0" lIns="0" bIns="0" rIns="0"/>
            <a:lstStyle/>
            <a:p>
              <a:pPr algn="l">
                <a:lnSpc>
                  <a:spcPts val="1916"/>
                </a:lnSpc>
              </a:pPr>
              <a:r>
                <a:rPr lang="en-US" sz="2000" b="true">
                  <a:solidFill>
                    <a:srgbClr val="C3C2C1"/>
                  </a:solidFill>
                  <a:latin typeface="TT Commons Pro Bold"/>
                  <a:ea typeface="TT Commons Pro Bold"/>
                  <a:cs typeface="TT Commons Pro Bold"/>
                  <a:sym typeface="TT Commons Pro Bold"/>
                </a:rPr>
                <a:t>An IT Company With Learning Hub</a:t>
              </a:r>
            </a:p>
          </p:txBody>
        </p:sp>
      </p:grpSp>
      <p:grpSp>
        <p:nvGrpSpPr>
          <p:cNvPr name="Group 96" id="96"/>
          <p:cNvGrpSpPr/>
          <p:nvPr/>
        </p:nvGrpSpPr>
        <p:grpSpPr>
          <a:xfrm rot="0">
            <a:off x="2938624" y="429768"/>
            <a:ext cx="5811622" cy="1493787"/>
            <a:chOff x="0" y="0"/>
            <a:chExt cx="7748829" cy="1991716"/>
          </a:xfrm>
        </p:grpSpPr>
        <p:sp>
          <p:nvSpPr>
            <p:cNvPr name="Freeform 97" id="97"/>
            <p:cNvSpPr/>
            <p:nvPr/>
          </p:nvSpPr>
          <p:spPr>
            <a:xfrm flipH="false" flipV="false" rot="0">
              <a:off x="0" y="0"/>
              <a:ext cx="7748778" cy="1991741"/>
            </a:xfrm>
            <a:custGeom>
              <a:avLst/>
              <a:gdLst/>
              <a:ahLst/>
              <a:cxnLst/>
              <a:rect r="r" b="b" t="t" l="l"/>
              <a:pathLst>
                <a:path h="1991741" w="7748778">
                  <a:moveTo>
                    <a:pt x="0" y="0"/>
                  </a:moveTo>
                  <a:lnTo>
                    <a:pt x="7748778" y="0"/>
                  </a:lnTo>
                  <a:lnTo>
                    <a:pt x="7748778" y="1991741"/>
                  </a:lnTo>
                  <a:lnTo>
                    <a:pt x="0" y="1991741"/>
                  </a:lnTo>
                  <a:close/>
                </a:path>
              </a:pathLst>
            </a:custGeom>
            <a:blipFill>
              <a:blip r:embed="rId10">
                <a:alphaModFix amt="0"/>
              </a:blip>
              <a:stretch>
                <a:fillRect l="0" t="-25754" r="0" b="-25752"/>
              </a:stretch>
            </a:blipFill>
          </p:spPr>
        </p:sp>
      </p:grpSp>
      <p:grpSp>
        <p:nvGrpSpPr>
          <p:cNvPr name="Group 98" id="98"/>
          <p:cNvGrpSpPr/>
          <p:nvPr/>
        </p:nvGrpSpPr>
        <p:grpSpPr>
          <a:xfrm rot="0">
            <a:off x="2938624" y="579787"/>
            <a:ext cx="5811622" cy="1343768"/>
            <a:chOff x="0" y="0"/>
            <a:chExt cx="7748829" cy="1791691"/>
          </a:xfrm>
        </p:grpSpPr>
        <p:sp>
          <p:nvSpPr>
            <p:cNvPr name="Freeform 99" id="99"/>
            <p:cNvSpPr/>
            <p:nvPr/>
          </p:nvSpPr>
          <p:spPr>
            <a:xfrm flipH="false" flipV="false" rot="0">
              <a:off x="0" y="0"/>
              <a:ext cx="7748829" cy="1791686"/>
            </a:xfrm>
            <a:custGeom>
              <a:avLst/>
              <a:gdLst/>
              <a:ahLst/>
              <a:cxnLst/>
              <a:rect r="r" b="b" t="t" l="l"/>
              <a:pathLst>
                <a:path h="1791686" w="7748829">
                  <a:moveTo>
                    <a:pt x="0" y="0"/>
                  </a:moveTo>
                  <a:lnTo>
                    <a:pt x="7748829" y="0"/>
                  </a:lnTo>
                  <a:lnTo>
                    <a:pt x="7748829" y="1791686"/>
                  </a:lnTo>
                  <a:lnTo>
                    <a:pt x="0" y="1791686"/>
                  </a:lnTo>
                  <a:close/>
                </a:path>
              </a:pathLst>
            </a:custGeom>
            <a:blipFill>
              <a:blip r:embed="rId11">
                <a:alphaModFix amt="0"/>
              </a:blip>
              <a:stretch>
                <a:fillRect l="0" t="-34270" r="0" b="-34270"/>
              </a:stretch>
            </a:blipFill>
          </p:spPr>
        </p:sp>
        <p:sp>
          <p:nvSpPr>
            <p:cNvPr name="TextBox 100" id="100"/>
            <p:cNvSpPr txBox="true"/>
            <p:nvPr/>
          </p:nvSpPr>
          <p:spPr>
            <a:xfrm>
              <a:off x="0" y="209550"/>
              <a:ext cx="7748829" cy="1582141"/>
            </a:xfrm>
            <a:prstGeom prst="rect">
              <a:avLst/>
            </a:prstGeom>
          </p:spPr>
          <p:txBody>
            <a:bodyPr anchor="b" rtlCol="false" tIns="0" lIns="0" bIns="0" rIns="0"/>
            <a:lstStyle/>
            <a:p>
              <a:pPr algn="l">
                <a:lnSpc>
                  <a:spcPts val="6199"/>
                </a:lnSpc>
              </a:pPr>
              <a:r>
                <a:rPr lang="en-US" sz="6923" b="true">
                  <a:solidFill>
                    <a:srgbClr val="EBEBEA"/>
                  </a:solidFill>
                  <a:latin typeface="TT Commons Pro Bold"/>
                  <a:ea typeface="TT Commons Pro Bold"/>
                  <a:cs typeface="TT Commons Pro Bold"/>
                  <a:sym typeface="TT Commons Pro Bold"/>
                </a:rPr>
                <a:t>SERVICES</a:t>
              </a:r>
            </a:p>
          </p:txBody>
        </p:sp>
      </p:grpSp>
      <p:grpSp>
        <p:nvGrpSpPr>
          <p:cNvPr name="Group 101" id="101"/>
          <p:cNvGrpSpPr/>
          <p:nvPr/>
        </p:nvGrpSpPr>
        <p:grpSpPr>
          <a:xfrm rot="0">
            <a:off x="6479286" y="429768"/>
            <a:ext cx="2620966" cy="329546"/>
            <a:chOff x="0" y="0"/>
            <a:chExt cx="3494621" cy="439395"/>
          </a:xfrm>
        </p:grpSpPr>
        <p:sp>
          <p:nvSpPr>
            <p:cNvPr name="Freeform 102" id="102"/>
            <p:cNvSpPr/>
            <p:nvPr/>
          </p:nvSpPr>
          <p:spPr>
            <a:xfrm flipH="false" flipV="false" rot="0">
              <a:off x="0" y="0"/>
              <a:ext cx="3494659" cy="439420"/>
            </a:xfrm>
            <a:custGeom>
              <a:avLst/>
              <a:gdLst/>
              <a:ahLst/>
              <a:cxnLst/>
              <a:rect r="r" b="b" t="t" l="l"/>
              <a:pathLst>
                <a:path h="439420" w="3494659">
                  <a:moveTo>
                    <a:pt x="0" y="0"/>
                  </a:moveTo>
                  <a:lnTo>
                    <a:pt x="3494659" y="0"/>
                  </a:lnTo>
                  <a:lnTo>
                    <a:pt x="3494659" y="439420"/>
                  </a:lnTo>
                  <a:lnTo>
                    <a:pt x="0" y="439420"/>
                  </a:lnTo>
                  <a:close/>
                </a:path>
              </a:pathLst>
            </a:custGeom>
            <a:blipFill>
              <a:blip r:embed="rId10">
                <a:alphaModFix amt="0"/>
              </a:blip>
              <a:stretch>
                <a:fillRect l="0" t="-104855" r="1" b="-104849"/>
              </a:stretch>
            </a:blipFill>
          </p:spPr>
        </p:sp>
      </p:grpSp>
      <p:grpSp>
        <p:nvGrpSpPr>
          <p:cNvPr name="Group 103" id="103"/>
          <p:cNvGrpSpPr/>
          <p:nvPr/>
        </p:nvGrpSpPr>
        <p:grpSpPr>
          <a:xfrm rot="0">
            <a:off x="6479286" y="451199"/>
            <a:ext cx="2620966" cy="308124"/>
            <a:chOff x="0" y="0"/>
            <a:chExt cx="3494621" cy="410832"/>
          </a:xfrm>
        </p:grpSpPr>
        <p:sp>
          <p:nvSpPr>
            <p:cNvPr name="Freeform 104" id="104"/>
            <p:cNvSpPr/>
            <p:nvPr/>
          </p:nvSpPr>
          <p:spPr>
            <a:xfrm flipH="false" flipV="false" rot="0">
              <a:off x="0" y="0"/>
              <a:ext cx="3494621" cy="410830"/>
            </a:xfrm>
            <a:custGeom>
              <a:avLst/>
              <a:gdLst/>
              <a:ahLst/>
              <a:cxnLst/>
              <a:rect r="r" b="b" t="t" l="l"/>
              <a:pathLst>
                <a:path h="410830" w="3494621">
                  <a:moveTo>
                    <a:pt x="0" y="0"/>
                  </a:moveTo>
                  <a:lnTo>
                    <a:pt x="3494621" y="0"/>
                  </a:lnTo>
                  <a:lnTo>
                    <a:pt x="3494621" y="410830"/>
                  </a:lnTo>
                  <a:lnTo>
                    <a:pt x="0" y="410830"/>
                  </a:lnTo>
                  <a:close/>
                </a:path>
              </a:pathLst>
            </a:custGeom>
            <a:blipFill>
              <a:blip r:embed="rId11">
                <a:alphaModFix amt="0"/>
              </a:blip>
              <a:stretch>
                <a:fillRect l="0" t="-115744" r="0" b="-115744"/>
              </a:stretch>
            </a:blipFill>
          </p:spPr>
        </p:sp>
        <p:sp>
          <p:nvSpPr>
            <p:cNvPr name="TextBox 105" id="105"/>
            <p:cNvSpPr txBox="true"/>
            <p:nvPr/>
          </p:nvSpPr>
          <p:spPr>
            <a:xfrm>
              <a:off x="0" y="28575"/>
              <a:ext cx="3494621" cy="382257"/>
            </a:xfrm>
            <a:prstGeom prst="rect">
              <a:avLst/>
            </a:prstGeom>
          </p:spPr>
          <p:txBody>
            <a:bodyPr anchor="ctr" rtlCol="false" tIns="0" lIns="0" bIns="0" rIns="0"/>
            <a:lstStyle/>
            <a:p>
              <a:pPr algn="l">
                <a:lnSpc>
                  <a:spcPts val="1587"/>
                </a:lnSpc>
              </a:pPr>
              <a:r>
                <a:rPr lang="en-US" b="true" sz="1528" i="true">
                  <a:solidFill>
                    <a:srgbClr val="8F9091"/>
                  </a:solidFill>
                  <a:latin typeface="TT Commons Pro Bold Italics"/>
                  <a:ea typeface="TT Commons Pro Bold Italics"/>
                  <a:cs typeface="TT Commons Pro Bold Italics"/>
                  <a:sym typeface="TT Commons Pro Bold Italics"/>
                </a:rPr>
                <a:t>A Step Towards Success</a:t>
              </a:r>
            </a:p>
          </p:txBody>
        </p:sp>
      </p:grpSp>
      <p:sp>
        <p:nvSpPr>
          <p:cNvPr name="TextBox 106" id="106"/>
          <p:cNvSpPr txBox="true"/>
          <p:nvPr/>
        </p:nvSpPr>
        <p:spPr>
          <a:xfrm rot="0">
            <a:off x="11612289" y="4684938"/>
            <a:ext cx="7014772" cy="1700527"/>
          </a:xfrm>
          <a:prstGeom prst="rect">
            <a:avLst/>
          </a:prstGeom>
        </p:spPr>
        <p:txBody>
          <a:bodyPr anchor="t" rtlCol="false" tIns="0" lIns="0" bIns="0" rIns="0">
            <a:spAutoFit/>
          </a:bodyPr>
          <a:lstStyle/>
          <a:p>
            <a:pPr algn="l" marL="457201" indent="-152400" lvl="2">
              <a:lnSpc>
                <a:spcPts val="3259"/>
              </a:lnSpc>
              <a:buFont typeface="Arial"/>
              <a:buChar char="⚬"/>
            </a:pPr>
            <a:r>
              <a:rPr lang="en-US" b="true" sz="2000">
                <a:solidFill>
                  <a:srgbClr val="5C5C5C"/>
                </a:solidFill>
                <a:latin typeface="TT Commons Pro Bold"/>
                <a:ea typeface="TT Commons Pro Bold"/>
                <a:cs typeface="TT Commons Pro Bold"/>
                <a:sym typeface="TT Commons Pro Bold"/>
              </a:rPr>
              <a:t>Web &amp; Mobile Development</a:t>
            </a:r>
          </a:p>
          <a:p>
            <a:pPr algn="l" marL="457201" indent="-152400" lvl="2">
              <a:lnSpc>
                <a:spcPts val="3259"/>
              </a:lnSpc>
              <a:buFont typeface="Arial"/>
              <a:buChar char="⚬"/>
            </a:pPr>
            <a:r>
              <a:rPr lang="en-US" b="true" sz="2000">
                <a:solidFill>
                  <a:srgbClr val="5C5C5C"/>
                </a:solidFill>
                <a:latin typeface="TT Commons Pro Bold"/>
                <a:ea typeface="TT Commons Pro Bold"/>
                <a:cs typeface="TT Commons Pro Bold"/>
                <a:sym typeface="TT Commons Pro Bold"/>
              </a:rPr>
              <a:t>Software Development</a:t>
            </a:r>
          </a:p>
          <a:p>
            <a:pPr algn="l" marL="457201" indent="-152400" lvl="2">
              <a:lnSpc>
                <a:spcPts val="3259"/>
              </a:lnSpc>
              <a:buFont typeface="Arial"/>
              <a:buChar char="⚬"/>
            </a:pPr>
            <a:r>
              <a:rPr lang="en-US" b="true" sz="2000">
                <a:solidFill>
                  <a:srgbClr val="5C5C5C"/>
                </a:solidFill>
                <a:latin typeface="TT Commons Pro Bold"/>
                <a:ea typeface="TT Commons Pro Bold"/>
                <a:cs typeface="TT Commons Pro Bold"/>
                <a:sym typeface="TT Commons Pro Bold"/>
              </a:rPr>
              <a:t>Digital Marketing</a:t>
            </a:r>
          </a:p>
          <a:p>
            <a:pPr algn="l" marL="457201" indent="-152400" lvl="2">
              <a:lnSpc>
                <a:spcPts val="3259"/>
              </a:lnSpc>
              <a:buFont typeface="Arial"/>
              <a:buChar char="⚬"/>
            </a:pPr>
            <a:r>
              <a:rPr lang="en-US" b="true" sz="2000">
                <a:solidFill>
                  <a:srgbClr val="5C5C5C"/>
                </a:solidFill>
                <a:latin typeface="TT Commons Pro Bold"/>
                <a:ea typeface="TT Commons Pro Bold"/>
                <a:cs typeface="TT Commons Pro Bold"/>
                <a:sym typeface="TT Commons Pro Bold"/>
              </a:rPr>
              <a:t>IT Integration</a:t>
            </a:r>
          </a:p>
        </p:txBody>
      </p:sp>
      <p:sp>
        <p:nvSpPr>
          <p:cNvPr name="TextBox 107" id="107"/>
          <p:cNvSpPr txBox="true"/>
          <p:nvPr/>
        </p:nvSpPr>
        <p:spPr>
          <a:xfrm rot="0">
            <a:off x="11963791" y="2454831"/>
            <a:ext cx="2726169" cy="471802"/>
          </a:xfrm>
          <a:prstGeom prst="rect">
            <a:avLst/>
          </a:prstGeom>
        </p:spPr>
        <p:txBody>
          <a:bodyPr anchor="t" rtlCol="false" tIns="0" lIns="0" bIns="0" rIns="0">
            <a:spAutoFit/>
          </a:bodyPr>
          <a:lstStyle/>
          <a:p>
            <a:pPr algn="ctr">
              <a:lnSpc>
                <a:spcPts val="3259"/>
              </a:lnSpc>
            </a:pPr>
            <a:r>
              <a:rPr lang="en-US" sz="2000" b="true">
                <a:solidFill>
                  <a:srgbClr val="5C5C5C"/>
                </a:solidFill>
                <a:latin typeface="TT Commons Pro Bold"/>
                <a:ea typeface="TT Commons Pro Bold"/>
                <a:cs typeface="TT Commons Pro Bold"/>
                <a:sym typeface="TT Commons Pro Bold"/>
              </a:rPr>
              <a:t>ISO 9001:2015 Certified</a:t>
            </a:r>
          </a:p>
        </p:txBody>
      </p:sp>
      <p:sp>
        <p:nvSpPr>
          <p:cNvPr name="TextBox 108" id="108"/>
          <p:cNvSpPr txBox="true"/>
          <p:nvPr/>
        </p:nvSpPr>
        <p:spPr>
          <a:xfrm rot="0">
            <a:off x="12349896" y="7693866"/>
            <a:ext cx="2859053" cy="471802"/>
          </a:xfrm>
          <a:prstGeom prst="rect">
            <a:avLst/>
          </a:prstGeom>
        </p:spPr>
        <p:txBody>
          <a:bodyPr anchor="t" rtlCol="false" tIns="0" lIns="0" bIns="0" rIns="0">
            <a:spAutoFit/>
          </a:bodyPr>
          <a:lstStyle/>
          <a:p>
            <a:pPr algn="ctr">
              <a:lnSpc>
                <a:spcPts val="3259"/>
              </a:lnSpc>
            </a:pPr>
            <a:r>
              <a:rPr lang="en-US" sz="2000" b="true">
                <a:solidFill>
                  <a:srgbClr val="5C5C5C"/>
                </a:solidFill>
                <a:latin typeface="TT Commons Pro Bold"/>
                <a:ea typeface="TT Commons Pro Bold"/>
                <a:cs typeface="TT Commons Pro Bold"/>
                <a:sym typeface="TT Commons Pro Bold"/>
              </a:rPr>
              <a:t>Headquarters: Jalandhar</a:t>
            </a:r>
          </a:p>
        </p:txBody>
      </p:sp>
      <p:sp>
        <p:nvSpPr>
          <p:cNvPr name="TextBox 109" id="109"/>
          <p:cNvSpPr txBox="true"/>
          <p:nvPr/>
        </p:nvSpPr>
        <p:spPr>
          <a:xfrm rot="0">
            <a:off x="12355554" y="8139894"/>
            <a:ext cx="3020016" cy="471802"/>
          </a:xfrm>
          <a:prstGeom prst="rect">
            <a:avLst/>
          </a:prstGeom>
        </p:spPr>
        <p:txBody>
          <a:bodyPr anchor="t" rtlCol="false" tIns="0" lIns="0" bIns="0" rIns="0">
            <a:spAutoFit/>
          </a:bodyPr>
          <a:lstStyle/>
          <a:p>
            <a:pPr algn="ctr">
              <a:lnSpc>
                <a:spcPts val="3259"/>
              </a:lnSpc>
            </a:pPr>
            <a:r>
              <a:rPr lang="en-US" sz="2000" b="true">
                <a:solidFill>
                  <a:srgbClr val="5C5C5C"/>
                </a:solidFill>
                <a:latin typeface="TT Commons Pro Bold"/>
                <a:ea typeface="TT Commons Pro Bold"/>
                <a:cs typeface="TT Commons Pro Bold"/>
                <a:sym typeface="TT Commons Pro Bold"/>
              </a:rPr>
              <a:t>Branch Office: Hoshiarpur</a:t>
            </a:r>
          </a:p>
        </p:txBody>
      </p:sp>
      <p:grpSp>
        <p:nvGrpSpPr>
          <p:cNvPr name="Group 110" id="110"/>
          <p:cNvGrpSpPr/>
          <p:nvPr/>
        </p:nvGrpSpPr>
        <p:grpSpPr>
          <a:xfrm rot="0">
            <a:off x="4550121" y="9763801"/>
            <a:ext cx="7885605" cy="676627"/>
            <a:chOff x="0" y="0"/>
            <a:chExt cx="10514140" cy="902170"/>
          </a:xfrm>
        </p:grpSpPr>
        <p:sp>
          <p:nvSpPr>
            <p:cNvPr name="Freeform 111" id="111"/>
            <p:cNvSpPr/>
            <p:nvPr/>
          </p:nvSpPr>
          <p:spPr>
            <a:xfrm flipH="false" flipV="false" rot="0">
              <a:off x="0" y="0"/>
              <a:ext cx="10514076" cy="902208"/>
            </a:xfrm>
            <a:custGeom>
              <a:avLst/>
              <a:gdLst/>
              <a:ahLst/>
              <a:cxnLst/>
              <a:rect r="r" b="b" t="t" l="l"/>
              <a:pathLst>
                <a:path h="902208" w="10514076">
                  <a:moveTo>
                    <a:pt x="0" y="0"/>
                  </a:moveTo>
                  <a:lnTo>
                    <a:pt x="10514076" y="0"/>
                  </a:lnTo>
                  <a:lnTo>
                    <a:pt x="10514076" y="902208"/>
                  </a:lnTo>
                  <a:lnTo>
                    <a:pt x="0" y="902208"/>
                  </a:lnTo>
                  <a:close/>
                </a:path>
              </a:pathLst>
            </a:custGeom>
            <a:blipFill>
              <a:blip r:embed="rId10">
                <a:alphaModFix amt="0"/>
              </a:blip>
              <a:stretch>
                <a:fillRect l="0" t="-176918" r="0" b="-176914"/>
              </a:stretch>
            </a:blipFill>
          </p:spPr>
        </p:sp>
      </p:grpSp>
      <p:grpSp>
        <p:nvGrpSpPr>
          <p:cNvPr name="Group 112" id="112"/>
          <p:cNvGrpSpPr/>
          <p:nvPr/>
        </p:nvGrpSpPr>
        <p:grpSpPr>
          <a:xfrm rot="0">
            <a:off x="4550121" y="9770945"/>
            <a:ext cx="7885605" cy="669484"/>
            <a:chOff x="0" y="0"/>
            <a:chExt cx="10514140" cy="892645"/>
          </a:xfrm>
        </p:grpSpPr>
        <p:sp>
          <p:nvSpPr>
            <p:cNvPr name="Freeform 113" id="113"/>
            <p:cNvSpPr/>
            <p:nvPr/>
          </p:nvSpPr>
          <p:spPr>
            <a:xfrm flipH="false" flipV="false" rot="0">
              <a:off x="0" y="0"/>
              <a:ext cx="10514140" cy="892650"/>
            </a:xfrm>
            <a:custGeom>
              <a:avLst/>
              <a:gdLst/>
              <a:ahLst/>
              <a:cxnLst/>
              <a:rect r="r" b="b" t="t" l="l"/>
              <a:pathLst>
                <a:path h="892650" w="10514140">
                  <a:moveTo>
                    <a:pt x="0" y="0"/>
                  </a:moveTo>
                  <a:lnTo>
                    <a:pt x="10514140" y="0"/>
                  </a:lnTo>
                  <a:lnTo>
                    <a:pt x="10514140" y="892650"/>
                  </a:lnTo>
                  <a:lnTo>
                    <a:pt x="0" y="892650"/>
                  </a:lnTo>
                  <a:close/>
                </a:path>
              </a:pathLst>
            </a:custGeom>
            <a:blipFill>
              <a:blip r:embed="rId11">
                <a:alphaModFix amt="0"/>
              </a:blip>
              <a:stretch>
                <a:fillRect l="0" t="-179506" r="0" b="-179505"/>
              </a:stretch>
            </a:blipFill>
          </p:spPr>
        </p:sp>
        <p:sp>
          <p:nvSpPr>
            <p:cNvPr name="TextBox 114" id="114"/>
            <p:cNvSpPr txBox="true"/>
            <p:nvPr/>
          </p:nvSpPr>
          <p:spPr>
            <a:xfrm>
              <a:off x="0" y="9525"/>
              <a:ext cx="10514140" cy="883120"/>
            </a:xfrm>
            <a:prstGeom prst="rect">
              <a:avLst/>
            </a:prstGeom>
          </p:spPr>
          <p:txBody>
            <a:bodyPr anchor="ctr" rtlCol="false" tIns="0" lIns="0" bIns="0" rIns="0"/>
            <a:lstStyle/>
            <a:p>
              <a:pPr algn="l">
                <a:lnSpc>
                  <a:spcPts val="1903"/>
                </a:lnSpc>
              </a:pPr>
              <a:r>
                <a:rPr lang="en-US" sz="1699" b="true">
                  <a:solidFill>
                    <a:srgbClr val="E87208"/>
                  </a:solidFill>
                  <a:latin typeface="TT Commons Pro Bold"/>
                  <a:ea typeface="TT Commons Pro Bold"/>
                  <a:cs typeface="TT Commons Pro Bold"/>
                  <a:sym typeface="TT Commons Pro Bold"/>
                </a:rPr>
                <a:t>SWIGGY </a:t>
              </a:r>
              <a:r>
                <a:rPr lang="en-US" sz="1699" b="true">
                  <a:solidFill>
                    <a:srgbClr val="EBEBEA"/>
                  </a:solidFill>
                  <a:latin typeface="TT Commons Pro Bold"/>
                  <a:ea typeface="TT Commons Pro Bold"/>
                  <a:cs typeface="TT Commons Pro Bold"/>
                  <a:sym typeface="TT Commons Pro Bold"/>
                </a:rPr>
                <a:t>VS </a:t>
              </a:r>
              <a:r>
                <a:rPr lang="en-US" sz="1699" b="true">
                  <a:solidFill>
                    <a:srgbClr val="CE1C2F"/>
                  </a:solidFill>
                  <a:latin typeface="TT Commons Pro Bold"/>
                  <a:ea typeface="TT Commons Pro Bold"/>
                  <a:cs typeface="TT Commons Pro Bold"/>
                  <a:sym typeface="TT Commons Pro Bold"/>
                </a:rPr>
                <a:t>ZOMATO</a:t>
              </a:r>
              <a:r>
                <a:rPr lang="en-US" sz="1699" b="true">
                  <a:solidFill>
                    <a:srgbClr val="F2EFEB"/>
                  </a:solidFill>
                  <a:latin typeface="TT Commons Pro Bold"/>
                  <a:ea typeface="TT Commons Pro Bold"/>
                  <a:cs typeface="TT Commons Pro Bold"/>
                  <a:sym typeface="TT Commons Pro Bold"/>
                </a:rPr>
                <a:t>: Restaurant Performance and Customer Insights Analysis</a:t>
              </a:r>
            </a:p>
            <a:p>
              <a:pPr algn="l">
                <a:lnSpc>
                  <a:spcPts val="1903"/>
                </a:lnSpc>
              </a:pPr>
            </a:p>
          </p:txBody>
        </p:sp>
      </p:grpSp>
      <p:grpSp>
        <p:nvGrpSpPr>
          <p:cNvPr name="Group 115" id="115"/>
          <p:cNvGrpSpPr/>
          <p:nvPr/>
        </p:nvGrpSpPr>
        <p:grpSpPr>
          <a:xfrm rot="0">
            <a:off x="3653219" y="9778803"/>
            <a:ext cx="896903" cy="393354"/>
            <a:chOff x="0" y="0"/>
            <a:chExt cx="1195870" cy="524472"/>
          </a:xfrm>
        </p:grpSpPr>
        <p:sp>
          <p:nvSpPr>
            <p:cNvPr name="Freeform 116" id="116"/>
            <p:cNvSpPr/>
            <p:nvPr/>
          </p:nvSpPr>
          <p:spPr>
            <a:xfrm flipH="false" flipV="false" rot="0">
              <a:off x="0" y="0"/>
              <a:ext cx="1195832" cy="524510"/>
            </a:xfrm>
            <a:custGeom>
              <a:avLst/>
              <a:gdLst/>
              <a:ahLst/>
              <a:cxnLst/>
              <a:rect r="r" b="b" t="t" l="l"/>
              <a:pathLst>
                <a:path h="524510" w="1195832">
                  <a:moveTo>
                    <a:pt x="0" y="0"/>
                  </a:moveTo>
                  <a:lnTo>
                    <a:pt x="1195832" y="0"/>
                  </a:lnTo>
                  <a:lnTo>
                    <a:pt x="1195832" y="524510"/>
                  </a:lnTo>
                  <a:lnTo>
                    <a:pt x="0" y="524510"/>
                  </a:lnTo>
                  <a:close/>
                </a:path>
              </a:pathLst>
            </a:custGeom>
            <a:blipFill>
              <a:blip r:embed="rId10">
                <a:alphaModFix amt="0"/>
              </a:blip>
              <a:stretch>
                <a:fillRect l="-6309" t="0" r="-6312" b="7"/>
              </a:stretch>
            </a:blipFill>
          </p:spPr>
        </p:sp>
      </p:grpSp>
      <p:grpSp>
        <p:nvGrpSpPr>
          <p:cNvPr name="Group 117" id="117"/>
          <p:cNvGrpSpPr/>
          <p:nvPr/>
        </p:nvGrpSpPr>
        <p:grpSpPr>
          <a:xfrm rot="0">
            <a:off x="3653219" y="9814522"/>
            <a:ext cx="896903" cy="357635"/>
            <a:chOff x="0" y="0"/>
            <a:chExt cx="1195870" cy="476847"/>
          </a:xfrm>
        </p:grpSpPr>
        <p:sp>
          <p:nvSpPr>
            <p:cNvPr name="Freeform 118" id="118"/>
            <p:cNvSpPr/>
            <p:nvPr/>
          </p:nvSpPr>
          <p:spPr>
            <a:xfrm flipH="false" flipV="false" rot="0">
              <a:off x="0" y="0"/>
              <a:ext cx="1195871" cy="476844"/>
            </a:xfrm>
            <a:custGeom>
              <a:avLst/>
              <a:gdLst/>
              <a:ahLst/>
              <a:cxnLst/>
              <a:rect r="r" b="b" t="t" l="l"/>
              <a:pathLst>
                <a:path h="476844" w="1195871">
                  <a:moveTo>
                    <a:pt x="0" y="0"/>
                  </a:moveTo>
                  <a:lnTo>
                    <a:pt x="1195871" y="0"/>
                  </a:lnTo>
                  <a:lnTo>
                    <a:pt x="1195871" y="476844"/>
                  </a:lnTo>
                  <a:lnTo>
                    <a:pt x="0" y="476844"/>
                  </a:lnTo>
                  <a:close/>
                </a:path>
              </a:pathLst>
            </a:custGeom>
            <a:blipFill>
              <a:blip r:embed="rId11">
                <a:alphaModFix amt="0"/>
              </a:blip>
              <a:stretch>
                <a:fillRect l="-1160" t="0" r="-1160" b="0"/>
              </a:stretch>
            </a:blipFill>
          </p:spPr>
        </p:sp>
        <p:sp>
          <p:nvSpPr>
            <p:cNvPr name="TextBox 119" id="119"/>
            <p:cNvSpPr txBox="true"/>
            <p:nvPr/>
          </p:nvSpPr>
          <p:spPr>
            <a:xfrm>
              <a:off x="0" y="47625"/>
              <a:ext cx="1195870" cy="429222"/>
            </a:xfrm>
            <a:prstGeom prst="rect">
              <a:avLst/>
            </a:prstGeom>
          </p:spPr>
          <p:txBody>
            <a:bodyPr anchor="ctr" rtlCol="false" tIns="0" lIns="0" bIns="0" rIns="0"/>
            <a:lstStyle/>
            <a:p>
              <a:pPr algn="l">
                <a:lnSpc>
                  <a:spcPts val="1765"/>
                </a:lnSpc>
              </a:pPr>
              <a:r>
                <a:rPr lang="en-US" sz="1839" b="true">
                  <a:solidFill>
                    <a:srgbClr val="949494"/>
                  </a:solidFill>
                  <a:latin typeface="TT Commons Pro Bold"/>
                  <a:ea typeface="TT Commons Pro Bold"/>
                  <a:cs typeface="TT Commons Pro Bold"/>
                  <a:sym typeface="TT Commons Pro Bold"/>
                </a:rPr>
                <a:t>Project:</a:t>
              </a:r>
            </a:p>
          </p:txBody>
        </p:sp>
      </p:grpSp>
      <p:grpSp>
        <p:nvGrpSpPr>
          <p:cNvPr name="Group 120" id="120"/>
          <p:cNvGrpSpPr/>
          <p:nvPr/>
        </p:nvGrpSpPr>
        <p:grpSpPr>
          <a:xfrm rot="0">
            <a:off x="3085052" y="9690887"/>
            <a:ext cx="459391" cy="539591"/>
            <a:chOff x="0" y="0"/>
            <a:chExt cx="612521" cy="719455"/>
          </a:xfrm>
        </p:grpSpPr>
        <p:sp>
          <p:nvSpPr>
            <p:cNvPr name="Freeform 121" id="121" descr="preencoded.png"/>
            <p:cNvSpPr/>
            <p:nvPr/>
          </p:nvSpPr>
          <p:spPr>
            <a:xfrm flipH="false" flipV="false" rot="0">
              <a:off x="0" y="0"/>
              <a:ext cx="612521" cy="719455"/>
            </a:xfrm>
            <a:custGeom>
              <a:avLst/>
              <a:gdLst/>
              <a:ahLst/>
              <a:cxnLst/>
              <a:rect r="r" b="b" t="t" l="l"/>
              <a:pathLst>
                <a:path h="719455" w="612521">
                  <a:moveTo>
                    <a:pt x="0" y="0"/>
                  </a:moveTo>
                  <a:lnTo>
                    <a:pt x="612521" y="0"/>
                  </a:lnTo>
                  <a:lnTo>
                    <a:pt x="612521" y="719455"/>
                  </a:lnTo>
                  <a:lnTo>
                    <a:pt x="0" y="719455"/>
                  </a:lnTo>
                  <a:lnTo>
                    <a:pt x="0" y="0"/>
                  </a:lnTo>
                  <a:close/>
                </a:path>
              </a:pathLst>
            </a:custGeom>
            <a:blipFill>
              <a:blip r:embed="rId37"/>
              <a:stretch>
                <a:fillRect l="-267" t="0" r="-269"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76231" y="0"/>
            <a:ext cx="11411807" cy="10288810"/>
            <a:chOff x="0" y="0"/>
            <a:chExt cx="15215743" cy="13718413"/>
          </a:xfrm>
        </p:grpSpPr>
        <p:sp>
          <p:nvSpPr>
            <p:cNvPr name="Freeform 3" id="3" descr="preencoded.png"/>
            <p:cNvSpPr/>
            <p:nvPr/>
          </p:nvSpPr>
          <p:spPr>
            <a:xfrm flipH="false" flipV="false" rot="0">
              <a:off x="0" y="0"/>
              <a:ext cx="15215743" cy="13718412"/>
            </a:xfrm>
            <a:custGeom>
              <a:avLst/>
              <a:gdLst/>
              <a:ahLst/>
              <a:cxnLst/>
              <a:rect r="r" b="b" t="t" l="l"/>
              <a:pathLst>
                <a:path h="13718412" w="15215743">
                  <a:moveTo>
                    <a:pt x="0" y="0"/>
                  </a:moveTo>
                  <a:lnTo>
                    <a:pt x="15215743" y="0"/>
                  </a:lnTo>
                  <a:lnTo>
                    <a:pt x="15215743" y="13718412"/>
                  </a:lnTo>
                  <a:lnTo>
                    <a:pt x="0" y="13718412"/>
                  </a:lnTo>
                  <a:lnTo>
                    <a:pt x="0" y="0"/>
                  </a:lnTo>
                  <a:close/>
                </a:path>
              </a:pathLst>
            </a:custGeom>
            <a:blipFill>
              <a:blip r:embed="rId3"/>
              <a:stretch>
                <a:fillRect l="-13" t="0" r="-13" b="0"/>
              </a:stretch>
            </a:blipFill>
          </p:spPr>
        </p:sp>
      </p:grpSp>
      <p:grpSp>
        <p:nvGrpSpPr>
          <p:cNvPr name="Group 4" id="4"/>
          <p:cNvGrpSpPr/>
          <p:nvPr/>
        </p:nvGrpSpPr>
        <p:grpSpPr>
          <a:xfrm rot="0">
            <a:off x="0" y="9814855"/>
            <a:ext cx="6825234" cy="473964"/>
            <a:chOff x="0" y="0"/>
            <a:chExt cx="9100312" cy="631952"/>
          </a:xfrm>
        </p:grpSpPr>
        <p:sp>
          <p:nvSpPr>
            <p:cNvPr name="Freeform 5" id="5" descr="preencoded.png"/>
            <p:cNvSpPr/>
            <p:nvPr/>
          </p:nvSpPr>
          <p:spPr>
            <a:xfrm flipH="false" flipV="false" rot="0">
              <a:off x="0" y="0"/>
              <a:ext cx="9100312" cy="631952"/>
            </a:xfrm>
            <a:custGeom>
              <a:avLst/>
              <a:gdLst/>
              <a:ahLst/>
              <a:cxnLst/>
              <a:rect r="r" b="b" t="t" l="l"/>
              <a:pathLst>
                <a:path h="631952" w="9100312">
                  <a:moveTo>
                    <a:pt x="0" y="0"/>
                  </a:moveTo>
                  <a:lnTo>
                    <a:pt x="9100312" y="0"/>
                  </a:lnTo>
                  <a:lnTo>
                    <a:pt x="9100312" y="631952"/>
                  </a:lnTo>
                  <a:lnTo>
                    <a:pt x="0" y="631952"/>
                  </a:lnTo>
                  <a:lnTo>
                    <a:pt x="0" y="0"/>
                  </a:lnTo>
                  <a:close/>
                </a:path>
              </a:pathLst>
            </a:custGeom>
            <a:blipFill>
              <a:blip r:embed="rId4"/>
              <a:stretch>
                <a:fillRect l="0" t="-391" r="0" b="-393"/>
              </a:stretch>
            </a:blipFill>
          </p:spPr>
        </p:sp>
      </p:grpSp>
      <p:grpSp>
        <p:nvGrpSpPr>
          <p:cNvPr name="Group 6" id="6"/>
          <p:cNvGrpSpPr/>
          <p:nvPr/>
        </p:nvGrpSpPr>
        <p:grpSpPr>
          <a:xfrm rot="0">
            <a:off x="12490971" y="7977302"/>
            <a:ext cx="5578316" cy="2304193"/>
            <a:chOff x="0" y="0"/>
            <a:chExt cx="7437755" cy="3072257"/>
          </a:xfrm>
        </p:grpSpPr>
        <p:sp>
          <p:nvSpPr>
            <p:cNvPr name="Freeform 7" id="7" descr="preencoded.png"/>
            <p:cNvSpPr/>
            <p:nvPr/>
          </p:nvSpPr>
          <p:spPr>
            <a:xfrm flipH="false" flipV="false" rot="0">
              <a:off x="0" y="0"/>
              <a:ext cx="7437755" cy="3072257"/>
            </a:xfrm>
            <a:custGeom>
              <a:avLst/>
              <a:gdLst/>
              <a:ahLst/>
              <a:cxnLst/>
              <a:rect r="r" b="b" t="t" l="l"/>
              <a:pathLst>
                <a:path h="3072257" w="7437755">
                  <a:moveTo>
                    <a:pt x="0" y="0"/>
                  </a:moveTo>
                  <a:lnTo>
                    <a:pt x="7437755" y="0"/>
                  </a:lnTo>
                  <a:lnTo>
                    <a:pt x="7437755" y="3072257"/>
                  </a:lnTo>
                  <a:lnTo>
                    <a:pt x="0" y="3072257"/>
                  </a:lnTo>
                  <a:lnTo>
                    <a:pt x="0" y="0"/>
                  </a:lnTo>
                  <a:close/>
                </a:path>
              </a:pathLst>
            </a:custGeom>
            <a:blipFill>
              <a:blip r:embed="rId5"/>
              <a:stretch>
                <a:fillRect l="0" t="-70" r="0" b="-70"/>
              </a:stretch>
            </a:blipFill>
          </p:spPr>
        </p:sp>
      </p:grpSp>
      <p:grpSp>
        <p:nvGrpSpPr>
          <p:cNvPr name="Group 8" id="8"/>
          <p:cNvGrpSpPr/>
          <p:nvPr/>
        </p:nvGrpSpPr>
        <p:grpSpPr>
          <a:xfrm rot="0">
            <a:off x="12629512" y="9391926"/>
            <a:ext cx="393764" cy="371856"/>
            <a:chOff x="0" y="0"/>
            <a:chExt cx="525018" cy="495808"/>
          </a:xfrm>
        </p:grpSpPr>
        <p:sp>
          <p:nvSpPr>
            <p:cNvPr name="Freeform 9" id="9" descr="preencoded.png"/>
            <p:cNvSpPr/>
            <p:nvPr/>
          </p:nvSpPr>
          <p:spPr>
            <a:xfrm flipH="false" flipV="false" rot="0">
              <a:off x="0" y="0"/>
              <a:ext cx="525018" cy="495808"/>
            </a:xfrm>
            <a:custGeom>
              <a:avLst/>
              <a:gdLst/>
              <a:ahLst/>
              <a:cxnLst/>
              <a:rect r="r" b="b" t="t" l="l"/>
              <a:pathLst>
                <a:path h="495808" w="525018">
                  <a:moveTo>
                    <a:pt x="0" y="0"/>
                  </a:moveTo>
                  <a:lnTo>
                    <a:pt x="525018" y="0"/>
                  </a:lnTo>
                  <a:lnTo>
                    <a:pt x="525018" y="495808"/>
                  </a:lnTo>
                  <a:lnTo>
                    <a:pt x="0" y="495808"/>
                  </a:lnTo>
                  <a:lnTo>
                    <a:pt x="0" y="0"/>
                  </a:lnTo>
                  <a:close/>
                </a:path>
              </a:pathLst>
            </a:custGeom>
            <a:blipFill>
              <a:blip r:embed="rId6"/>
              <a:stretch>
                <a:fillRect l="-314" t="0" r="-314" b="0"/>
              </a:stretch>
            </a:blipFill>
          </p:spPr>
        </p:sp>
      </p:grpSp>
      <p:grpSp>
        <p:nvGrpSpPr>
          <p:cNvPr name="Group 10" id="10"/>
          <p:cNvGrpSpPr/>
          <p:nvPr/>
        </p:nvGrpSpPr>
        <p:grpSpPr>
          <a:xfrm rot="0">
            <a:off x="17602562" y="8633565"/>
            <a:ext cx="284416" cy="473964"/>
            <a:chOff x="0" y="0"/>
            <a:chExt cx="379222" cy="631952"/>
          </a:xfrm>
        </p:grpSpPr>
        <p:sp>
          <p:nvSpPr>
            <p:cNvPr name="Freeform 11" id="11" descr="preencoded.png"/>
            <p:cNvSpPr/>
            <p:nvPr/>
          </p:nvSpPr>
          <p:spPr>
            <a:xfrm flipH="false" flipV="false" rot="0">
              <a:off x="0" y="0"/>
              <a:ext cx="379222" cy="631952"/>
            </a:xfrm>
            <a:custGeom>
              <a:avLst/>
              <a:gdLst/>
              <a:ahLst/>
              <a:cxnLst/>
              <a:rect r="r" b="b" t="t" l="l"/>
              <a:pathLst>
                <a:path h="631952" w="379222">
                  <a:moveTo>
                    <a:pt x="0" y="0"/>
                  </a:moveTo>
                  <a:lnTo>
                    <a:pt x="379222" y="0"/>
                  </a:lnTo>
                  <a:lnTo>
                    <a:pt x="379222" y="631952"/>
                  </a:lnTo>
                  <a:lnTo>
                    <a:pt x="0" y="631952"/>
                  </a:lnTo>
                  <a:lnTo>
                    <a:pt x="0" y="0"/>
                  </a:lnTo>
                  <a:close/>
                </a:path>
              </a:pathLst>
            </a:custGeom>
            <a:blipFill>
              <a:blip r:embed="rId7"/>
              <a:stretch>
                <a:fillRect l="-207" t="0" r="-207" b="0"/>
              </a:stretch>
            </a:blipFill>
          </p:spPr>
        </p:sp>
      </p:grpSp>
      <p:grpSp>
        <p:nvGrpSpPr>
          <p:cNvPr name="Group 12" id="12"/>
          <p:cNvGrpSpPr/>
          <p:nvPr/>
        </p:nvGrpSpPr>
        <p:grpSpPr>
          <a:xfrm rot="0">
            <a:off x="6774142" y="9464840"/>
            <a:ext cx="5585555" cy="824008"/>
            <a:chOff x="0" y="0"/>
            <a:chExt cx="7447407" cy="1098677"/>
          </a:xfrm>
        </p:grpSpPr>
        <p:sp>
          <p:nvSpPr>
            <p:cNvPr name="Freeform 13" id="13" descr="preencoded.png"/>
            <p:cNvSpPr/>
            <p:nvPr/>
          </p:nvSpPr>
          <p:spPr>
            <a:xfrm flipH="false" flipV="false" rot="0">
              <a:off x="0" y="0"/>
              <a:ext cx="7447407" cy="1098677"/>
            </a:xfrm>
            <a:custGeom>
              <a:avLst/>
              <a:gdLst/>
              <a:ahLst/>
              <a:cxnLst/>
              <a:rect r="r" b="b" t="t" l="l"/>
              <a:pathLst>
                <a:path h="1098677" w="7447407">
                  <a:moveTo>
                    <a:pt x="0" y="0"/>
                  </a:moveTo>
                  <a:lnTo>
                    <a:pt x="7447407" y="0"/>
                  </a:lnTo>
                  <a:lnTo>
                    <a:pt x="7447407" y="1098677"/>
                  </a:lnTo>
                  <a:lnTo>
                    <a:pt x="0" y="1098677"/>
                  </a:lnTo>
                  <a:lnTo>
                    <a:pt x="0" y="0"/>
                  </a:lnTo>
                  <a:close/>
                </a:path>
              </a:pathLst>
            </a:custGeom>
            <a:blipFill>
              <a:blip r:embed="rId8"/>
              <a:stretch>
                <a:fillRect l="0" t="-101" r="0" b="-102"/>
              </a:stretch>
            </a:blipFill>
          </p:spPr>
        </p:sp>
      </p:grpSp>
      <p:grpSp>
        <p:nvGrpSpPr>
          <p:cNvPr name="Group 14" id="14"/>
          <p:cNvGrpSpPr/>
          <p:nvPr/>
        </p:nvGrpSpPr>
        <p:grpSpPr>
          <a:xfrm rot="0">
            <a:off x="6854352" y="9464840"/>
            <a:ext cx="3485483" cy="816673"/>
            <a:chOff x="0" y="0"/>
            <a:chExt cx="4647311" cy="1088898"/>
          </a:xfrm>
        </p:grpSpPr>
        <p:sp>
          <p:nvSpPr>
            <p:cNvPr name="Freeform 15" id="15" descr="preencoded.png"/>
            <p:cNvSpPr/>
            <p:nvPr/>
          </p:nvSpPr>
          <p:spPr>
            <a:xfrm flipH="false" flipV="false" rot="0">
              <a:off x="0" y="0"/>
              <a:ext cx="4647311" cy="1088898"/>
            </a:xfrm>
            <a:custGeom>
              <a:avLst/>
              <a:gdLst/>
              <a:ahLst/>
              <a:cxnLst/>
              <a:rect r="r" b="b" t="t" l="l"/>
              <a:pathLst>
                <a:path h="1088898" w="4647311">
                  <a:moveTo>
                    <a:pt x="0" y="0"/>
                  </a:moveTo>
                  <a:lnTo>
                    <a:pt x="4647311" y="0"/>
                  </a:lnTo>
                  <a:lnTo>
                    <a:pt x="4647311" y="1088898"/>
                  </a:lnTo>
                  <a:lnTo>
                    <a:pt x="0" y="1088898"/>
                  </a:lnTo>
                  <a:lnTo>
                    <a:pt x="0" y="0"/>
                  </a:lnTo>
                  <a:close/>
                </a:path>
              </a:pathLst>
            </a:custGeom>
            <a:blipFill>
              <a:blip r:embed="rId9"/>
              <a:stretch>
                <a:fillRect l="0" t="-6" r="0" b="-7"/>
              </a:stretch>
            </a:blipFill>
          </p:spPr>
        </p:sp>
      </p:grpSp>
      <p:sp>
        <p:nvSpPr>
          <p:cNvPr name="Freeform 16" id="16"/>
          <p:cNvSpPr/>
          <p:nvPr/>
        </p:nvSpPr>
        <p:spPr>
          <a:xfrm flipH="false" flipV="false" rot="0">
            <a:off x="7122328" y="7973663"/>
            <a:ext cx="5169951" cy="1429198"/>
          </a:xfrm>
          <a:custGeom>
            <a:avLst/>
            <a:gdLst/>
            <a:ahLst/>
            <a:cxnLst/>
            <a:rect r="r" b="b" t="t" l="l"/>
            <a:pathLst>
              <a:path h="1429198" w="5169951">
                <a:moveTo>
                  <a:pt x="0" y="0"/>
                </a:moveTo>
                <a:lnTo>
                  <a:pt x="5169951" y="0"/>
                </a:lnTo>
                <a:lnTo>
                  <a:pt x="5169951" y="1429198"/>
                </a:lnTo>
                <a:lnTo>
                  <a:pt x="0" y="14291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7" id="17"/>
          <p:cNvGrpSpPr/>
          <p:nvPr/>
        </p:nvGrpSpPr>
        <p:grpSpPr>
          <a:xfrm rot="0">
            <a:off x="8363769" y="8327307"/>
            <a:ext cx="21908" cy="678180"/>
            <a:chOff x="0" y="0"/>
            <a:chExt cx="29210" cy="904240"/>
          </a:xfrm>
        </p:grpSpPr>
        <p:sp>
          <p:nvSpPr>
            <p:cNvPr name="Freeform 18" id="18" descr="preencoded.png"/>
            <p:cNvSpPr/>
            <p:nvPr/>
          </p:nvSpPr>
          <p:spPr>
            <a:xfrm flipH="false" flipV="false" rot="0">
              <a:off x="0" y="0"/>
              <a:ext cx="29210" cy="904240"/>
            </a:xfrm>
            <a:custGeom>
              <a:avLst/>
              <a:gdLst/>
              <a:ahLst/>
              <a:cxnLst/>
              <a:rect r="r" b="b" t="t" l="l"/>
              <a:pathLst>
                <a:path h="904240" w="29210">
                  <a:moveTo>
                    <a:pt x="0" y="0"/>
                  </a:moveTo>
                  <a:lnTo>
                    <a:pt x="29210" y="0"/>
                  </a:lnTo>
                  <a:lnTo>
                    <a:pt x="29210" y="904240"/>
                  </a:lnTo>
                  <a:lnTo>
                    <a:pt x="0" y="904240"/>
                  </a:lnTo>
                  <a:lnTo>
                    <a:pt x="0" y="0"/>
                  </a:lnTo>
                  <a:close/>
                </a:path>
              </a:pathLst>
            </a:custGeom>
            <a:blipFill>
              <a:blip r:embed="rId12"/>
              <a:stretch>
                <a:fillRect l="-5260" t="0" r="-5304" b="0"/>
              </a:stretch>
            </a:blipFill>
          </p:spPr>
        </p:sp>
      </p:grpSp>
      <p:grpSp>
        <p:nvGrpSpPr>
          <p:cNvPr name="Group 19" id="19"/>
          <p:cNvGrpSpPr/>
          <p:nvPr/>
        </p:nvGrpSpPr>
        <p:grpSpPr>
          <a:xfrm rot="0">
            <a:off x="8631746" y="8556641"/>
            <a:ext cx="2151097" cy="426387"/>
            <a:chOff x="0" y="0"/>
            <a:chExt cx="2868130" cy="568516"/>
          </a:xfrm>
        </p:grpSpPr>
        <p:sp>
          <p:nvSpPr>
            <p:cNvPr name="Freeform 20" id="20"/>
            <p:cNvSpPr/>
            <p:nvPr/>
          </p:nvSpPr>
          <p:spPr>
            <a:xfrm flipH="false" flipV="false" rot="0">
              <a:off x="0" y="0"/>
              <a:ext cx="2868168" cy="568579"/>
            </a:xfrm>
            <a:custGeom>
              <a:avLst/>
              <a:gdLst/>
              <a:ahLst/>
              <a:cxnLst/>
              <a:rect r="r" b="b" t="t" l="l"/>
              <a:pathLst>
                <a:path h="568579" w="2868168">
                  <a:moveTo>
                    <a:pt x="0" y="0"/>
                  </a:moveTo>
                  <a:lnTo>
                    <a:pt x="2868168" y="0"/>
                  </a:lnTo>
                  <a:lnTo>
                    <a:pt x="2868168" y="568579"/>
                  </a:lnTo>
                  <a:lnTo>
                    <a:pt x="0" y="568579"/>
                  </a:lnTo>
                  <a:close/>
                </a:path>
              </a:pathLst>
            </a:custGeom>
            <a:blipFill>
              <a:blip r:embed="rId13">
                <a:alphaModFix amt="0"/>
              </a:blip>
              <a:stretch>
                <a:fillRect l="0" t="-48226" r="1" b="-48217"/>
              </a:stretch>
            </a:blipFill>
          </p:spPr>
        </p:sp>
      </p:grpSp>
      <p:grpSp>
        <p:nvGrpSpPr>
          <p:cNvPr name="Group 21" id="21"/>
          <p:cNvGrpSpPr/>
          <p:nvPr/>
        </p:nvGrpSpPr>
        <p:grpSpPr>
          <a:xfrm rot="0">
            <a:off x="8631746" y="8578072"/>
            <a:ext cx="2151097" cy="404955"/>
            <a:chOff x="0" y="0"/>
            <a:chExt cx="2868130" cy="539940"/>
          </a:xfrm>
        </p:grpSpPr>
        <p:sp>
          <p:nvSpPr>
            <p:cNvPr name="Freeform 22" id="22"/>
            <p:cNvSpPr/>
            <p:nvPr/>
          </p:nvSpPr>
          <p:spPr>
            <a:xfrm flipH="false" flipV="false" rot="0">
              <a:off x="0" y="0"/>
              <a:ext cx="2868129" cy="539942"/>
            </a:xfrm>
            <a:custGeom>
              <a:avLst/>
              <a:gdLst/>
              <a:ahLst/>
              <a:cxnLst/>
              <a:rect r="r" b="b" t="t" l="l"/>
              <a:pathLst>
                <a:path h="539942" w="2868129">
                  <a:moveTo>
                    <a:pt x="0" y="0"/>
                  </a:moveTo>
                  <a:lnTo>
                    <a:pt x="2868129" y="0"/>
                  </a:lnTo>
                  <a:lnTo>
                    <a:pt x="2868129" y="539942"/>
                  </a:lnTo>
                  <a:lnTo>
                    <a:pt x="0" y="539942"/>
                  </a:lnTo>
                  <a:close/>
                </a:path>
              </a:pathLst>
            </a:custGeom>
            <a:blipFill>
              <a:blip r:embed="rId14">
                <a:alphaModFix amt="0"/>
              </a:blip>
              <a:stretch>
                <a:fillRect l="0" t="-53503" r="0" b="-53502"/>
              </a:stretch>
            </a:blipFill>
          </p:spPr>
        </p:sp>
        <p:sp>
          <p:nvSpPr>
            <p:cNvPr name="TextBox 23" id="23"/>
            <p:cNvSpPr txBox="true"/>
            <p:nvPr/>
          </p:nvSpPr>
          <p:spPr>
            <a:xfrm>
              <a:off x="0" y="28575"/>
              <a:ext cx="2868130" cy="511365"/>
            </a:xfrm>
            <a:prstGeom prst="rect">
              <a:avLst/>
            </a:prstGeom>
          </p:spPr>
          <p:txBody>
            <a:bodyPr anchor="ctr" rtlCol="false" tIns="0" lIns="0" bIns="0" rIns="0"/>
            <a:lstStyle/>
            <a:p>
              <a:pPr algn="l">
                <a:lnSpc>
                  <a:spcPts val="2004"/>
                </a:lnSpc>
              </a:pPr>
              <a:r>
                <a:rPr lang="en-US" sz="2000" b="true">
                  <a:solidFill>
                    <a:srgbClr val="444444"/>
                  </a:solidFill>
                  <a:latin typeface="TT Commons Pro Bold"/>
                  <a:ea typeface="TT Commons Pro Bold"/>
                  <a:cs typeface="TT Commons Pro Bold"/>
                  <a:sym typeface="TT Commons Pro Bold"/>
                </a:rPr>
                <a:t>Technology Used</a:t>
              </a:r>
            </a:p>
          </p:txBody>
        </p:sp>
      </p:grpSp>
      <p:grpSp>
        <p:nvGrpSpPr>
          <p:cNvPr name="Group 24" id="24"/>
          <p:cNvGrpSpPr/>
          <p:nvPr/>
        </p:nvGrpSpPr>
        <p:grpSpPr>
          <a:xfrm rot="0">
            <a:off x="7554373" y="8407517"/>
            <a:ext cx="576053" cy="808101"/>
            <a:chOff x="0" y="0"/>
            <a:chExt cx="768071" cy="1077468"/>
          </a:xfrm>
        </p:grpSpPr>
        <p:sp>
          <p:nvSpPr>
            <p:cNvPr name="Freeform 25" id="25"/>
            <p:cNvSpPr/>
            <p:nvPr/>
          </p:nvSpPr>
          <p:spPr>
            <a:xfrm flipH="false" flipV="false" rot="0">
              <a:off x="0" y="0"/>
              <a:ext cx="768096" cy="1077468"/>
            </a:xfrm>
            <a:custGeom>
              <a:avLst/>
              <a:gdLst/>
              <a:ahLst/>
              <a:cxnLst/>
              <a:rect r="r" b="b" t="t" l="l"/>
              <a:pathLst>
                <a:path h="1077468" w="768096">
                  <a:moveTo>
                    <a:pt x="0" y="0"/>
                  </a:moveTo>
                  <a:lnTo>
                    <a:pt x="768096" y="0"/>
                  </a:lnTo>
                  <a:lnTo>
                    <a:pt x="768096" y="1077468"/>
                  </a:lnTo>
                  <a:lnTo>
                    <a:pt x="0" y="1077468"/>
                  </a:lnTo>
                  <a:close/>
                </a:path>
              </a:pathLst>
            </a:custGeom>
            <a:blipFill>
              <a:blip r:embed="rId13">
                <a:alphaModFix amt="0"/>
              </a:blip>
              <a:stretch>
                <a:fillRect l="-130109" t="0" r="-130105" b="0"/>
              </a:stretch>
            </a:blipFill>
          </p:spPr>
        </p:sp>
      </p:grpSp>
      <p:grpSp>
        <p:nvGrpSpPr>
          <p:cNvPr name="Group 26" id="26"/>
          <p:cNvGrpSpPr/>
          <p:nvPr/>
        </p:nvGrpSpPr>
        <p:grpSpPr>
          <a:xfrm rot="0">
            <a:off x="7554373" y="8514674"/>
            <a:ext cx="576053" cy="700945"/>
            <a:chOff x="0" y="0"/>
            <a:chExt cx="768071" cy="934593"/>
          </a:xfrm>
        </p:grpSpPr>
        <p:sp>
          <p:nvSpPr>
            <p:cNvPr name="Freeform 27" id="27"/>
            <p:cNvSpPr/>
            <p:nvPr/>
          </p:nvSpPr>
          <p:spPr>
            <a:xfrm flipH="false" flipV="false" rot="0">
              <a:off x="0" y="0"/>
              <a:ext cx="768071" cy="934594"/>
            </a:xfrm>
            <a:custGeom>
              <a:avLst/>
              <a:gdLst/>
              <a:ahLst/>
              <a:cxnLst/>
              <a:rect r="r" b="b" t="t" l="l"/>
              <a:pathLst>
                <a:path h="934594" w="768071">
                  <a:moveTo>
                    <a:pt x="0" y="0"/>
                  </a:moveTo>
                  <a:lnTo>
                    <a:pt x="768071" y="0"/>
                  </a:lnTo>
                  <a:lnTo>
                    <a:pt x="768071" y="934594"/>
                  </a:lnTo>
                  <a:lnTo>
                    <a:pt x="0" y="934594"/>
                  </a:lnTo>
                  <a:close/>
                </a:path>
              </a:pathLst>
            </a:custGeom>
            <a:blipFill>
              <a:blip r:embed="rId14">
                <a:alphaModFix amt="0"/>
              </a:blip>
              <a:stretch>
                <a:fillRect l="-106120" t="0" r="-106120" b="0"/>
              </a:stretch>
            </a:blipFill>
          </p:spPr>
        </p:sp>
        <p:sp>
          <p:nvSpPr>
            <p:cNvPr name="TextBox 28" id="28"/>
            <p:cNvSpPr txBox="true"/>
            <p:nvPr/>
          </p:nvSpPr>
          <p:spPr>
            <a:xfrm>
              <a:off x="0" y="142875"/>
              <a:ext cx="768071" cy="791718"/>
            </a:xfrm>
            <a:prstGeom prst="rect">
              <a:avLst/>
            </a:prstGeom>
          </p:spPr>
          <p:txBody>
            <a:bodyPr anchor="ctr" rtlCol="false" tIns="0" lIns="0" bIns="0" rIns="0"/>
            <a:lstStyle/>
            <a:p>
              <a:pPr algn="l">
                <a:lnSpc>
                  <a:spcPts val="3042"/>
                </a:lnSpc>
              </a:pPr>
              <a:r>
                <a:rPr lang="en-US" sz="3755" b="true">
                  <a:solidFill>
                    <a:srgbClr val="EC7826"/>
                  </a:solidFill>
                  <a:latin typeface="TT Commons Pro Bold"/>
                  <a:ea typeface="TT Commons Pro Bold"/>
                  <a:cs typeface="TT Commons Pro Bold"/>
                  <a:sym typeface="TT Commons Pro Bold"/>
                </a:rPr>
                <a:t>05</a:t>
              </a:r>
            </a:p>
          </p:txBody>
        </p:sp>
      </p:grpSp>
      <p:sp>
        <p:nvSpPr>
          <p:cNvPr name="Freeform 29" id="29"/>
          <p:cNvSpPr/>
          <p:nvPr/>
        </p:nvSpPr>
        <p:spPr>
          <a:xfrm flipH="false" flipV="false" rot="0">
            <a:off x="12588497" y="6317494"/>
            <a:ext cx="5230101" cy="1409157"/>
          </a:xfrm>
          <a:custGeom>
            <a:avLst/>
            <a:gdLst/>
            <a:ahLst/>
            <a:cxnLst/>
            <a:rect r="r" b="b" t="t" l="l"/>
            <a:pathLst>
              <a:path h="1409157" w="5230101">
                <a:moveTo>
                  <a:pt x="0" y="0"/>
                </a:moveTo>
                <a:lnTo>
                  <a:pt x="5230101" y="0"/>
                </a:lnTo>
                <a:lnTo>
                  <a:pt x="5230101" y="1409157"/>
                </a:lnTo>
                <a:lnTo>
                  <a:pt x="0" y="140915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0" id="30"/>
          <p:cNvGrpSpPr/>
          <p:nvPr/>
        </p:nvGrpSpPr>
        <p:grpSpPr>
          <a:xfrm rot="0">
            <a:off x="13701417" y="6686645"/>
            <a:ext cx="29146" cy="678180"/>
            <a:chOff x="0" y="0"/>
            <a:chExt cx="38862" cy="904240"/>
          </a:xfrm>
        </p:grpSpPr>
        <p:sp>
          <p:nvSpPr>
            <p:cNvPr name="Freeform 31" id="31" descr="preencoded.png"/>
            <p:cNvSpPr/>
            <p:nvPr/>
          </p:nvSpPr>
          <p:spPr>
            <a:xfrm flipH="false" flipV="false" rot="0">
              <a:off x="0" y="0"/>
              <a:ext cx="38862" cy="904240"/>
            </a:xfrm>
            <a:custGeom>
              <a:avLst/>
              <a:gdLst/>
              <a:ahLst/>
              <a:cxnLst/>
              <a:rect r="r" b="b" t="t" l="l"/>
              <a:pathLst>
                <a:path h="904240" w="38862">
                  <a:moveTo>
                    <a:pt x="0" y="0"/>
                  </a:moveTo>
                  <a:lnTo>
                    <a:pt x="38862" y="0"/>
                  </a:lnTo>
                  <a:lnTo>
                    <a:pt x="38862" y="904240"/>
                  </a:lnTo>
                  <a:lnTo>
                    <a:pt x="0" y="904240"/>
                  </a:lnTo>
                  <a:lnTo>
                    <a:pt x="0" y="0"/>
                  </a:lnTo>
                  <a:close/>
                </a:path>
              </a:pathLst>
            </a:custGeom>
            <a:blipFill>
              <a:blip r:embed="rId17"/>
              <a:stretch>
                <a:fillRect l="0" t="-3007" r="0" b="-3007"/>
              </a:stretch>
            </a:blipFill>
          </p:spPr>
        </p:sp>
      </p:grpSp>
      <p:grpSp>
        <p:nvGrpSpPr>
          <p:cNvPr name="Group 32" id="32"/>
          <p:cNvGrpSpPr/>
          <p:nvPr/>
        </p:nvGrpSpPr>
        <p:grpSpPr>
          <a:xfrm rot="0">
            <a:off x="13985796" y="6919979"/>
            <a:ext cx="1821056" cy="424644"/>
            <a:chOff x="0" y="0"/>
            <a:chExt cx="2428075" cy="566191"/>
          </a:xfrm>
        </p:grpSpPr>
        <p:sp>
          <p:nvSpPr>
            <p:cNvPr name="Freeform 33" id="33"/>
            <p:cNvSpPr/>
            <p:nvPr/>
          </p:nvSpPr>
          <p:spPr>
            <a:xfrm flipH="false" flipV="false" rot="0">
              <a:off x="0" y="0"/>
              <a:ext cx="2428113" cy="566166"/>
            </a:xfrm>
            <a:custGeom>
              <a:avLst/>
              <a:gdLst/>
              <a:ahLst/>
              <a:cxnLst/>
              <a:rect r="r" b="b" t="t" l="l"/>
              <a:pathLst>
                <a:path h="566166" w="2428113">
                  <a:moveTo>
                    <a:pt x="0" y="0"/>
                  </a:moveTo>
                  <a:lnTo>
                    <a:pt x="2428113" y="0"/>
                  </a:lnTo>
                  <a:lnTo>
                    <a:pt x="2428113" y="566166"/>
                  </a:lnTo>
                  <a:lnTo>
                    <a:pt x="0" y="566166"/>
                  </a:lnTo>
                  <a:close/>
                </a:path>
              </a:pathLst>
            </a:custGeom>
            <a:blipFill>
              <a:blip r:embed="rId13">
                <a:alphaModFix amt="0"/>
              </a:blip>
              <a:stretch>
                <a:fillRect l="0" t="-33503" r="1" b="-33508"/>
              </a:stretch>
            </a:blipFill>
          </p:spPr>
        </p:sp>
      </p:grpSp>
      <p:grpSp>
        <p:nvGrpSpPr>
          <p:cNvPr name="Group 34" id="34"/>
          <p:cNvGrpSpPr/>
          <p:nvPr/>
        </p:nvGrpSpPr>
        <p:grpSpPr>
          <a:xfrm rot="0">
            <a:off x="13985796" y="6941410"/>
            <a:ext cx="1821056" cy="403212"/>
            <a:chOff x="0" y="0"/>
            <a:chExt cx="2428075" cy="537616"/>
          </a:xfrm>
        </p:grpSpPr>
        <p:sp>
          <p:nvSpPr>
            <p:cNvPr name="Freeform 35" id="35"/>
            <p:cNvSpPr/>
            <p:nvPr/>
          </p:nvSpPr>
          <p:spPr>
            <a:xfrm flipH="false" flipV="false" rot="0">
              <a:off x="0" y="0"/>
              <a:ext cx="2428075" cy="537616"/>
            </a:xfrm>
            <a:custGeom>
              <a:avLst/>
              <a:gdLst/>
              <a:ahLst/>
              <a:cxnLst/>
              <a:rect r="r" b="b" t="t" l="l"/>
              <a:pathLst>
                <a:path h="537616" w="2428075">
                  <a:moveTo>
                    <a:pt x="0" y="0"/>
                  </a:moveTo>
                  <a:lnTo>
                    <a:pt x="2428075" y="0"/>
                  </a:lnTo>
                  <a:lnTo>
                    <a:pt x="2428075" y="537616"/>
                  </a:lnTo>
                  <a:lnTo>
                    <a:pt x="0" y="537616"/>
                  </a:lnTo>
                  <a:close/>
                </a:path>
              </a:pathLst>
            </a:custGeom>
            <a:blipFill>
              <a:blip r:embed="rId14">
                <a:alphaModFix amt="0"/>
              </a:blip>
              <a:stretch>
                <a:fillRect l="0" t="-38001" r="0" b="-38001"/>
              </a:stretch>
            </a:blipFill>
          </p:spPr>
        </p:sp>
        <p:sp>
          <p:nvSpPr>
            <p:cNvPr name="TextBox 36" id="36"/>
            <p:cNvSpPr txBox="true"/>
            <p:nvPr/>
          </p:nvSpPr>
          <p:spPr>
            <a:xfrm>
              <a:off x="0" y="28575"/>
              <a:ext cx="2428075" cy="509041"/>
            </a:xfrm>
            <a:prstGeom prst="rect">
              <a:avLst/>
            </a:prstGeom>
          </p:spPr>
          <p:txBody>
            <a:bodyPr anchor="ctr" rtlCol="false" tIns="0" lIns="0" bIns="0" rIns="0"/>
            <a:lstStyle/>
            <a:p>
              <a:pPr algn="l">
                <a:lnSpc>
                  <a:spcPts val="2093"/>
                </a:lnSpc>
              </a:pPr>
              <a:r>
                <a:rPr lang="en-US" sz="2000" b="true">
                  <a:solidFill>
                    <a:srgbClr val="4E4E4E"/>
                  </a:solidFill>
                  <a:latin typeface="TT Commons Pro Bold"/>
                  <a:ea typeface="TT Commons Pro Bold"/>
                  <a:cs typeface="TT Commons Pro Bold"/>
                  <a:sym typeface="TT Commons Pro Bold"/>
                </a:rPr>
                <a:t>Future Scope</a:t>
              </a:r>
            </a:p>
          </p:txBody>
        </p:sp>
      </p:grpSp>
      <p:grpSp>
        <p:nvGrpSpPr>
          <p:cNvPr name="Group 37" id="37"/>
          <p:cNvGrpSpPr/>
          <p:nvPr/>
        </p:nvGrpSpPr>
        <p:grpSpPr>
          <a:xfrm rot="0">
            <a:off x="12819964" y="6679349"/>
            <a:ext cx="583349" cy="819207"/>
            <a:chOff x="0" y="0"/>
            <a:chExt cx="777799" cy="1092276"/>
          </a:xfrm>
        </p:grpSpPr>
        <p:sp>
          <p:nvSpPr>
            <p:cNvPr name="Freeform 38" id="38"/>
            <p:cNvSpPr/>
            <p:nvPr/>
          </p:nvSpPr>
          <p:spPr>
            <a:xfrm flipH="false" flipV="false" rot="0">
              <a:off x="0" y="0"/>
              <a:ext cx="777748" cy="1092327"/>
            </a:xfrm>
            <a:custGeom>
              <a:avLst/>
              <a:gdLst/>
              <a:ahLst/>
              <a:cxnLst/>
              <a:rect r="r" b="b" t="t" l="l"/>
              <a:pathLst>
                <a:path h="1092327" w="777748">
                  <a:moveTo>
                    <a:pt x="0" y="0"/>
                  </a:moveTo>
                  <a:lnTo>
                    <a:pt x="777748" y="0"/>
                  </a:lnTo>
                  <a:lnTo>
                    <a:pt x="777748" y="1092327"/>
                  </a:lnTo>
                  <a:lnTo>
                    <a:pt x="0" y="1092327"/>
                  </a:lnTo>
                  <a:close/>
                </a:path>
              </a:pathLst>
            </a:custGeom>
            <a:blipFill>
              <a:blip r:embed="rId13">
                <a:alphaModFix amt="0"/>
              </a:blip>
              <a:stretch>
                <a:fillRect l="-130313" t="0" r="-130320" b="4"/>
              </a:stretch>
            </a:blipFill>
          </p:spPr>
        </p:sp>
      </p:grpSp>
      <p:grpSp>
        <p:nvGrpSpPr>
          <p:cNvPr name="Group 39" id="39"/>
          <p:cNvGrpSpPr/>
          <p:nvPr/>
        </p:nvGrpSpPr>
        <p:grpSpPr>
          <a:xfrm rot="0">
            <a:off x="12819964" y="6793649"/>
            <a:ext cx="583349" cy="704917"/>
            <a:chOff x="0" y="0"/>
            <a:chExt cx="777799" cy="939889"/>
          </a:xfrm>
        </p:grpSpPr>
        <p:sp>
          <p:nvSpPr>
            <p:cNvPr name="Freeform 40" id="40"/>
            <p:cNvSpPr/>
            <p:nvPr/>
          </p:nvSpPr>
          <p:spPr>
            <a:xfrm flipH="false" flipV="false" rot="0">
              <a:off x="0" y="0"/>
              <a:ext cx="777799" cy="939887"/>
            </a:xfrm>
            <a:custGeom>
              <a:avLst/>
              <a:gdLst/>
              <a:ahLst/>
              <a:cxnLst/>
              <a:rect r="r" b="b" t="t" l="l"/>
              <a:pathLst>
                <a:path h="939887" w="777799">
                  <a:moveTo>
                    <a:pt x="0" y="0"/>
                  </a:moveTo>
                  <a:lnTo>
                    <a:pt x="777799" y="0"/>
                  </a:lnTo>
                  <a:lnTo>
                    <a:pt x="777799" y="939887"/>
                  </a:lnTo>
                  <a:lnTo>
                    <a:pt x="0" y="939887"/>
                  </a:lnTo>
                  <a:close/>
                </a:path>
              </a:pathLst>
            </a:custGeom>
            <a:blipFill>
              <a:blip r:embed="rId14">
                <a:alphaModFix amt="0"/>
              </a:blip>
              <a:stretch>
                <a:fillRect l="-105041" t="0" r="-105041" b="0"/>
              </a:stretch>
            </a:blipFill>
          </p:spPr>
        </p:sp>
        <p:sp>
          <p:nvSpPr>
            <p:cNvPr name="TextBox 41" id="41"/>
            <p:cNvSpPr txBox="true"/>
            <p:nvPr/>
          </p:nvSpPr>
          <p:spPr>
            <a:xfrm>
              <a:off x="0" y="152400"/>
              <a:ext cx="777799" cy="787489"/>
            </a:xfrm>
            <a:prstGeom prst="rect">
              <a:avLst/>
            </a:prstGeom>
          </p:spPr>
          <p:txBody>
            <a:bodyPr anchor="ctr" rtlCol="false" tIns="0" lIns="0" bIns="0" rIns="0"/>
            <a:lstStyle/>
            <a:p>
              <a:pPr algn="l">
                <a:lnSpc>
                  <a:spcPts val="3042"/>
                </a:lnSpc>
              </a:pPr>
              <a:r>
                <a:rPr lang="en-US" sz="3806" b="true">
                  <a:solidFill>
                    <a:srgbClr val="C72632"/>
                  </a:solidFill>
                  <a:latin typeface="TT Commons Pro Bold"/>
                  <a:ea typeface="TT Commons Pro Bold"/>
                  <a:cs typeface="TT Commons Pro Bold"/>
                  <a:sym typeface="TT Commons Pro Bold"/>
                </a:rPr>
                <a:t>09</a:t>
              </a:r>
            </a:p>
          </p:txBody>
        </p:sp>
      </p:grpSp>
      <p:sp>
        <p:nvSpPr>
          <p:cNvPr name="Freeform 42" id="42"/>
          <p:cNvSpPr/>
          <p:nvPr/>
        </p:nvSpPr>
        <p:spPr>
          <a:xfrm flipH="false" flipV="false" rot="0">
            <a:off x="7192518" y="6310198"/>
            <a:ext cx="5149901" cy="1416491"/>
          </a:xfrm>
          <a:custGeom>
            <a:avLst/>
            <a:gdLst/>
            <a:ahLst/>
            <a:cxnLst/>
            <a:rect r="r" b="b" t="t" l="l"/>
            <a:pathLst>
              <a:path h="1416491" w="5149901">
                <a:moveTo>
                  <a:pt x="0" y="0"/>
                </a:moveTo>
                <a:lnTo>
                  <a:pt x="5149901" y="0"/>
                </a:lnTo>
                <a:lnTo>
                  <a:pt x="5149901" y="1416492"/>
                </a:lnTo>
                <a:lnTo>
                  <a:pt x="0" y="141649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43" id="43"/>
          <p:cNvGrpSpPr/>
          <p:nvPr/>
        </p:nvGrpSpPr>
        <p:grpSpPr>
          <a:xfrm rot="0">
            <a:off x="8363769" y="6679349"/>
            <a:ext cx="21908" cy="685419"/>
            <a:chOff x="0" y="0"/>
            <a:chExt cx="29210" cy="913892"/>
          </a:xfrm>
        </p:grpSpPr>
        <p:sp>
          <p:nvSpPr>
            <p:cNvPr name="Freeform 44" id="44" descr="preencoded.png"/>
            <p:cNvSpPr/>
            <p:nvPr/>
          </p:nvSpPr>
          <p:spPr>
            <a:xfrm flipH="false" flipV="false" rot="0">
              <a:off x="0" y="0"/>
              <a:ext cx="29210" cy="913892"/>
            </a:xfrm>
            <a:custGeom>
              <a:avLst/>
              <a:gdLst/>
              <a:ahLst/>
              <a:cxnLst/>
              <a:rect r="r" b="b" t="t" l="l"/>
              <a:pathLst>
                <a:path h="913892" w="29210">
                  <a:moveTo>
                    <a:pt x="0" y="0"/>
                  </a:moveTo>
                  <a:lnTo>
                    <a:pt x="29210" y="0"/>
                  </a:lnTo>
                  <a:lnTo>
                    <a:pt x="29210" y="913892"/>
                  </a:lnTo>
                  <a:lnTo>
                    <a:pt x="0" y="913892"/>
                  </a:lnTo>
                  <a:lnTo>
                    <a:pt x="0" y="0"/>
                  </a:lnTo>
                  <a:close/>
                </a:path>
              </a:pathLst>
            </a:custGeom>
            <a:blipFill>
              <a:blip r:embed="rId20"/>
              <a:stretch>
                <a:fillRect l="-2478" t="0" r="-2521" b="0"/>
              </a:stretch>
            </a:blipFill>
          </p:spPr>
        </p:sp>
      </p:grpSp>
      <p:grpSp>
        <p:nvGrpSpPr>
          <p:cNvPr name="Group 45" id="45"/>
          <p:cNvGrpSpPr/>
          <p:nvPr/>
        </p:nvGrpSpPr>
        <p:grpSpPr>
          <a:xfrm rot="0">
            <a:off x="8640861" y="6919979"/>
            <a:ext cx="2496598" cy="430282"/>
            <a:chOff x="0" y="0"/>
            <a:chExt cx="3328797" cy="573710"/>
          </a:xfrm>
        </p:grpSpPr>
        <p:sp>
          <p:nvSpPr>
            <p:cNvPr name="Freeform 46" id="46"/>
            <p:cNvSpPr/>
            <p:nvPr/>
          </p:nvSpPr>
          <p:spPr>
            <a:xfrm flipH="false" flipV="false" rot="0">
              <a:off x="0" y="0"/>
              <a:ext cx="3328797" cy="573659"/>
            </a:xfrm>
            <a:custGeom>
              <a:avLst/>
              <a:gdLst/>
              <a:ahLst/>
              <a:cxnLst/>
              <a:rect r="r" b="b" t="t" l="l"/>
              <a:pathLst>
                <a:path h="573659" w="3328797">
                  <a:moveTo>
                    <a:pt x="0" y="0"/>
                  </a:moveTo>
                  <a:lnTo>
                    <a:pt x="3328797" y="0"/>
                  </a:lnTo>
                  <a:lnTo>
                    <a:pt x="3328797" y="573659"/>
                  </a:lnTo>
                  <a:lnTo>
                    <a:pt x="0" y="573659"/>
                  </a:lnTo>
                  <a:close/>
                </a:path>
              </a:pathLst>
            </a:custGeom>
            <a:blipFill>
              <a:blip r:embed="rId13">
                <a:alphaModFix amt="0"/>
              </a:blip>
              <a:stretch>
                <a:fillRect l="0" t="-62984" r="0" b="-62990"/>
              </a:stretch>
            </a:blipFill>
          </p:spPr>
        </p:sp>
      </p:grpSp>
      <p:grpSp>
        <p:nvGrpSpPr>
          <p:cNvPr name="Group 47" id="47"/>
          <p:cNvGrpSpPr/>
          <p:nvPr/>
        </p:nvGrpSpPr>
        <p:grpSpPr>
          <a:xfrm rot="0">
            <a:off x="8640861" y="6962842"/>
            <a:ext cx="2496598" cy="387420"/>
            <a:chOff x="0" y="0"/>
            <a:chExt cx="3328797" cy="516560"/>
          </a:xfrm>
        </p:grpSpPr>
        <p:sp>
          <p:nvSpPr>
            <p:cNvPr name="Freeform 48" id="48"/>
            <p:cNvSpPr/>
            <p:nvPr/>
          </p:nvSpPr>
          <p:spPr>
            <a:xfrm flipH="false" flipV="false" rot="0">
              <a:off x="0" y="0"/>
              <a:ext cx="3328799" cy="516563"/>
            </a:xfrm>
            <a:custGeom>
              <a:avLst/>
              <a:gdLst/>
              <a:ahLst/>
              <a:cxnLst/>
              <a:rect r="r" b="b" t="t" l="l"/>
              <a:pathLst>
                <a:path h="516563" w="3328799">
                  <a:moveTo>
                    <a:pt x="0" y="0"/>
                  </a:moveTo>
                  <a:lnTo>
                    <a:pt x="3328799" y="0"/>
                  </a:lnTo>
                  <a:lnTo>
                    <a:pt x="3328799" y="516563"/>
                  </a:lnTo>
                  <a:lnTo>
                    <a:pt x="0" y="516563"/>
                  </a:lnTo>
                  <a:close/>
                </a:path>
              </a:pathLst>
            </a:custGeom>
            <a:blipFill>
              <a:blip r:embed="rId14">
                <a:alphaModFix amt="0"/>
              </a:blip>
              <a:stretch>
                <a:fillRect l="0" t="-75564" r="0" b="-75563"/>
              </a:stretch>
            </a:blipFill>
          </p:spPr>
        </p:sp>
        <p:sp>
          <p:nvSpPr>
            <p:cNvPr name="TextBox 49" id="49"/>
            <p:cNvSpPr txBox="true"/>
            <p:nvPr/>
          </p:nvSpPr>
          <p:spPr>
            <a:xfrm>
              <a:off x="0" y="57150"/>
              <a:ext cx="3328797" cy="459410"/>
            </a:xfrm>
            <a:prstGeom prst="rect">
              <a:avLst/>
            </a:prstGeom>
          </p:spPr>
          <p:txBody>
            <a:bodyPr anchor="ctr" rtlCol="false" tIns="0" lIns="0" bIns="0" rIns="0"/>
            <a:lstStyle/>
            <a:p>
              <a:pPr algn="l">
                <a:lnSpc>
                  <a:spcPts val="1748"/>
                </a:lnSpc>
              </a:pPr>
              <a:r>
                <a:rPr lang="en-US" sz="2000" b="true">
                  <a:solidFill>
                    <a:srgbClr val="525252"/>
                  </a:solidFill>
                  <a:latin typeface="TT Commons Pro Bold"/>
                  <a:ea typeface="TT Commons Pro Bold"/>
                  <a:cs typeface="TT Commons Pro Bold"/>
                  <a:sym typeface="TT Commons Pro Bold"/>
                </a:rPr>
                <a:t>Dataset Overview</a:t>
              </a:r>
            </a:p>
          </p:txBody>
        </p:sp>
      </p:grpSp>
      <p:grpSp>
        <p:nvGrpSpPr>
          <p:cNvPr name="Group 50" id="50"/>
          <p:cNvGrpSpPr/>
          <p:nvPr/>
        </p:nvGrpSpPr>
        <p:grpSpPr>
          <a:xfrm rot="0">
            <a:off x="7416470" y="6679349"/>
            <a:ext cx="816683" cy="869394"/>
            <a:chOff x="0" y="0"/>
            <a:chExt cx="1088911" cy="1159192"/>
          </a:xfrm>
        </p:grpSpPr>
        <p:sp>
          <p:nvSpPr>
            <p:cNvPr name="Freeform 51" id="51"/>
            <p:cNvSpPr/>
            <p:nvPr/>
          </p:nvSpPr>
          <p:spPr>
            <a:xfrm flipH="false" flipV="false" rot="0">
              <a:off x="0" y="0"/>
              <a:ext cx="1088898" cy="1159256"/>
            </a:xfrm>
            <a:custGeom>
              <a:avLst/>
              <a:gdLst/>
              <a:ahLst/>
              <a:cxnLst/>
              <a:rect r="r" b="b" t="t" l="l"/>
              <a:pathLst>
                <a:path h="1159256" w="1088898">
                  <a:moveTo>
                    <a:pt x="0" y="0"/>
                  </a:moveTo>
                  <a:lnTo>
                    <a:pt x="1088898" y="0"/>
                  </a:lnTo>
                  <a:lnTo>
                    <a:pt x="1088898" y="1159256"/>
                  </a:lnTo>
                  <a:lnTo>
                    <a:pt x="0" y="1159256"/>
                  </a:lnTo>
                  <a:close/>
                </a:path>
              </a:pathLst>
            </a:custGeom>
            <a:blipFill>
              <a:blip r:embed="rId13">
                <a:alphaModFix amt="0"/>
              </a:blip>
              <a:stretch>
                <a:fillRect l="-86680" t="0" r="-86682" b="5"/>
              </a:stretch>
            </a:blipFill>
          </p:spPr>
        </p:sp>
      </p:grpSp>
      <p:grpSp>
        <p:nvGrpSpPr>
          <p:cNvPr name="Group 52" id="52"/>
          <p:cNvGrpSpPr/>
          <p:nvPr/>
        </p:nvGrpSpPr>
        <p:grpSpPr>
          <a:xfrm rot="0">
            <a:off x="7416470" y="6815080"/>
            <a:ext cx="816693" cy="733663"/>
            <a:chOff x="0" y="0"/>
            <a:chExt cx="1088923" cy="978218"/>
          </a:xfrm>
        </p:grpSpPr>
        <p:sp>
          <p:nvSpPr>
            <p:cNvPr name="Freeform 53" id="53"/>
            <p:cNvSpPr/>
            <p:nvPr/>
          </p:nvSpPr>
          <p:spPr>
            <a:xfrm flipH="false" flipV="false" rot="0">
              <a:off x="0" y="0"/>
              <a:ext cx="1088924" cy="978220"/>
            </a:xfrm>
            <a:custGeom>
              <a:avLst/>
              <a:gdLst/>
              <a:ahLst/>
              <a:cxnLst/>
              <a:rect r="r" b="b" t="t" l="l"/>
              <a:pathLst>
                <a:path h="978220" w="1088924">
                  <a:moveTo>
                    <a:pt x="0" y="0"/>
                  </a:moveTo>
                  <a:lnTo>
                    <a:pt x="1088924" y="0"/>
                  </a:lnTo>
                  <a:lnTo>
                    <a:pt x="1088924" y="978220"/>
                  </a:lnTo>
                  <a:lnTo>
                    <a:pt x="0" y="978220"/>
                  </a:lnTo>
                  <a:close/>
                </a:path>
              </a:pathLst>
            </a:custGeom>
            <a:blipFill>
              <a:blip r:embed="rId14">
                <a:alphaModFix amt="0"/>
              </a:blip>
              <a:stretch>
                <a:fillRect l="-65259" t="0" r="-65259" b="0"/>
              </a:stretch>
            </a:blipFill>
          </p:spPr>
        </p:sp>
        <p:sp>
          <p:nvSpPr>
            <p:cNvPr name="TextBox 54" id="54"/>
            <p:cNvSpPr txBox="true"/>
            <p:nvPr/>
          </p:nvSpPr>
          <p:spPr>
            <a:xfrm>
              <a:off x="0" y="180975"/>
              <a:ext cx="1088923" cy="797243"/>
            </a:xfrm>
            <a:prstGeom prst="rect">
              <a:avLst/>
            </a:prstGeom>
          </p:spPr>
          <p:txBody>
            <a:bodyPr anchor="ctr" rtlCol="false" tIns="0" lIns="0" bIns="0" rIns="0"/>
            <a:lstStyle/>
            <a:p>
              <a:pPr algn="l">
                <a:lnSpc>
                  <a:spcPts val="2985"/>
                </a:lnSpc>
              </a:pPr>
              <a:r>
                <a:rPr lang="en-US" sz="4048" b="true">
                  <a:solidFill>
                    <a:srgbClr val="EB7521"/>
                  </a:solidFill>
                  <a:latin typeface="TT Commons Pro Bold"/>
                  <a:ea typeface="TT Commons Pro Bold"/>
                  <a:cs typeface="TT Commons Pro Bold"/>
                  <a:sym typeface="TT Commons Pro Bold"/>
                </a:rPr>
                <a:t>04</a:t>
              </a:r>
            </a:p>
          </p:txBody>
        </p:sp>
      </p:grpSp>
      <p:sp>
        <p:nvSpPr>
          <p:cNvPr name="Freeform 55" id="55"/>
          <p:cNvSpPr/>
          <p:nvPr/>
        </p:nvSpPr>
        <p:spPr>
          <a:xfrm flipH="false" flipV="false" rot="0">
            <a:off x="12588497" y="4669526"/>
            <a:ext cx="5230006" cy="1416396"/>
          </a:xfrm>
          <a:custGeom>
            <a:avLst/>
            <a:gdLst/>
            <a:ahLst/>
            <a:cxnLst/>
            <a:rect r="r" b="b" t="t" l="l"/>
            <a:pathLst>
              <a:path h="1416396" w="5230006">
                <a:moveTo>
                  <a:pt x="0" y="0"/>
                </a:moveTo>
                <a:lnTo>
                  <a:pt x="5230006" y="0"/>
                </a:lnTo>
                <a:lnTo>
                  <a:pt x="5230006" y="1416397"/>
                </a:lnTo>
                <a:lnTo>
                  <a:pt x="0" y="141639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56" id="56"/>
          <p:cNvGrpSpPr/>
          <p:nvPr/>
        </p:nvGrpSpPr>
        <p:grpSpPr>
          <a:xfrm rot="0">
            <a:off x="13701417" y="5045974"/>
            <a:ext cx="29146" cy="685419"/>
            <a:chOff x="0" y="0"/>
            <a:chExt cx="38862" cy="913892"/>
          </a:xfrm>
        </p:grpSpPr>
        <p:sp>
          <p:nvSpPr>
            <p:cNvPr name="Freeform 57" id="57" descr="preencoded.png"/>
            <p:cNvSpPr/>
            <p:nvPr/>
          </p:nvSpPr>
          <p:spPr>
            <a:xfrm flipH="false" flipV="false" rot="0">
              <a:off x="0" y="0"/>
              <a:ext cx="38862" cy="913892"/>
            </a:xfrm>
            <a:custGeom>
              <a:avLst/>
              <a:gdLst/>
              <a:ahLst/>
              <a:cxnLst/>
              <a:rect r="r" b="b" t="t" l="l"/>
              <a:pathLst>
                <a:path h="913892" w="38862">
                  <a:moveTo>
                    <a:pt x="0" y="0"/>
                  </a:moveTo>
                  <a:lnTo>
                    <a:pt x="38862" y="0"/>
                  </a:lnTo>
                  <a:lnTo>
                    <a:pt x="38862" y="913892"/>
                  </a:lnTo>
                  <a:lnTo>
                    <a:pt x="0" y="913892"/>
                  </a:lnTo>
                  <a:lnTo>
                    <a:pt x="0" y="0"/>
                  </a:lnTo>
                  <a:close/>
                </a:path>
              </a:pathLst>
            </a:custGeom>
            <a:blipFill>
              <a:blip r:embed="rId23"/>
              <a:stretch>
                <a:fillRect l="-5326" t="0" r="-5326" b="0"/>
              </a:stretch>
            </a:blipFill>
          </p:spPr>
        </p:sp>
      </p:grpSp>
      <p:grpSp>
        <p:nvGrpSpPr>
          <p:cNvPr name="Group 58" id="58"/>
          <p:cNvGrpSpPr/>
          <p:nvPr/>
        </p:nvGrpSpPr>
        <p:grpSpPr>
          <a:xfrm rot="0">
            <a:off x="13949658" y="5333943"/>
            <a:ext cx="1407328" cy="431711"/>
            <a:chOff x="0" y="0"/>
            <a:chExt cx="1876438" cy="575615"/>
          </a:xfrm>
        </p:grpSpPr>
        <p:sp>
          <p:nvSpPr>
            <p:cNvPr name="Freeform 59" id="59"/>
            <p:cNvSpPr/>
            <p:nvPr/>
          </p:nvSpPr>
          <p:spPr>
            <a:xfrm flipH="false" flipV="false" rot="0">
              <a:off x="0" y="0"/>
              <a:ext cx="1876425" cy="575564"/>
            </a:xfrm>
            <a:custGeom>
              <a:avLst/>
              <a:gdLst/>
              <a:ahLst/>
              <a:cxnLst/>
              <a:rect r="r" b="b" t="t" l="l"/>
              <a:pathLst>
                <a:path h="575564" w="1876425">
                  <a:moveTo>
                    <a:pt x="0" y="0"/>
                  </a:moveTo>
                  <a:lnTo>
                    <a:pt x="1876425" y="0"/>
                  </a:lnTo>
                  <a:lnTo>
                    <a:pt x="1876425" y="575564"/>
                  </a:lnTo>
                  <a:lnTo>
                    <a:pt x="0" y="575564"/>
                  </a:lnTo>
                  <a:close/>
                </a:path>
              </a:pathLst>
            </a:custGeom>
            <a:blipFill>
              <a:blip r:embed="rId13">
                <a:alphaModFix amt="0"/>
              </a:blip>
              <a:stretch>
                <a:fillRect l="0" t="-13475" r="0" b="-13486"/>
              </a:stretch>
            </a:blipFill>
          </p:spPr>
        </p:sp>
      </p:grpSp>
      <p:grpSp>
        <p:nvGrpSpPr>
          <p:cNvPr name="Group 60" id="60"/>
          <p:cNvGrpSpPr/>
          <p:nvPr/>
        </p:nvGrpSpPr>
        <p:grpSpPr>
          <a:xfrm rot="0">
            <a:off x="13949658" y="5383949"/>
            <a:ext cx="1407328" cy="381714"/>
            <a:chOff x="0" y="0"/>
            <a:chExt cx="1876438" cy="508953"/>
          </a:xfrm>
        </p:grpSpPr>
        <p:sp>
          <p:nvSpPr>
            <p:cNvPr name="Freeform 61" id="61"/>
            <p:cNvSpPr/>
            <p:nvPr/>
          </p:nvSpPr>
          <p:spPr>
            <a:xfrm flipH="false" flipV="false" rot="0">
              <a:off x="0" y="0"/>
              <a:ext cx="1876437" cy="508946"/>
            </a:xfrm>
            <a:custGeom>
              <a:avLst/>
              <a:gdLst/>
              <a:ahLst/>
              <a:cxnLst/>
              <a:rect r="r" b="b" t="t" l="l"/>
              <a:pathLst>
                <a:path h="508946" w="1876437">
                  <a:moveTo>
                    <a:pt x="0" y="0"/>
                  </a:moveTo>
                  <a:lnTo>
                    <a:pt x="1876437" y="0"/>
                  </a:lnTo>
                  <a:lnTo>
                    <a:pt x="1876437" y="508946"/>
                  </a:lnTo>
                  <a:lnTo>
                    <a:pt x="0" y="508946"/>
                  </a:lnTo>
                  <a:close/>
                </a:path>
              </a:pathLst>
            </a:custGeom>
            <a:blipFill>
              <a:blip r:embed="rId14">
                <a:alphaModFix amt="0"/>
              </a:blip>
              <a:stretch>
                <a:fillRect l="0" t="-21838" r="0" b="-21840"/>
              </a:stretch>
            </a:blipFill>
          </p:spPr>
        </p:sp>
        <p:sp>
          <p:nvSpPr>
            <p:cNvPr name="TextBox 62" id="62"/>
            <p:cNvSpPr txBox="true"/>
            <p:nvPr/>
          </p:nvSpPr>
          <p:spPr>
            <a:xfrm>
              <a:off x="0" y="66675"/>
              <a:ext cx="1876438" cy="442278"/>
            </a:xfrm>
            <a:prstGeom prst="rect">
              <a:avLst/>
            </a:prstGeom>
          </p:spPr>
          <p:txBody>
            <a:bodyPr anchor="ctr" rtlCol="false" tIns="0" lIns="0" bIns="0" rIns="0"/>
            <a:lstStyle/>
            <a:p>
              <a:pPr algn="l">
                <a:lnSpc>
                  <a:spcPts val="1662"/>
                </a:lnSpc>
              </a:pPr>
              <a:r>
                <a:rPr lang="en-US" sz="2000" b="true">
                  <a:solidFill>
                    <a:srgbClr val="4A4A4A"/>
                  </a:solidFill>
                  <a:latin typeface="TT Commons Pro Bold"/>
                  <a:ea typeface="TT Commons Pro Bold"/>
                  <a:cs typeface="TT Commons Pro Bold"/>
                  <a:sym typeface="TT Commons Pro Bold"/>
                </a:rPr>
                <a:t>Conclusion</a:t>
              </a:r>
            </a:p>
          </p:txBody>
        </p:sp>
      </p:grpSp>
      <p:grpSp>
        <p:nvGrpSpPr>
          <p:cNvPr name="Group 63" id="63"/>
          <p:cNvGrpSpPr/>
          <p:nvPr/>
        </p:nvGrpSpPr>
        <p:grpSpPr>
          <a:xfrm rot="0">
            <a:off x="12884725" y="4892840"/>
            <a:ext cx="816693" cy="1266082"/>
            <a:chOff x="0" y="0"/>
            <a:chExt cx="1088923" cy="1688109"/>
          </a:xfrm>
        </p:grpSpPr>
        <p:sp>
          <p:nvSpPr>
            <p:cNvPr name="Freeform 64" id="64"/>
            <p:cNvSpPr/>
            <p:nvPr/>
          </p:nvSpPr>
          <p:spPr>
            <a:xfrm flipH="false" flipV="false" rot="0">
              <a:off x="0" y="0"/>
              <a:ext cx="1088898" cy="1688084"/>
            </a:xfrm>
            <a:custGeom>
              <a:avLst/>
              <a:gdLst/>
              <a:ahLst/>
              <a:cxnLst/>
              <a:rect r="r" b="b" t="t" l="l"/>
              <a:pathLst>
                <a:path h="1688084" w="1088898">
                  <a:moveTo>
                    <a:pt x="0" y="0"/>
                  </a:moveTo>
                  <a:lnTo>
                    <a:pt x="1088898" y="0"/>
                  </a:lnTo>
                  <a:lnTo>
                    <a:pt x="1088898" y="1688084"/>
                  </a:lnTo>
                  <a:lnTo>
                    <a:pt x="0" y="1688084"/>
                  </a:lnTo>
                  <a:close/>
                </a:path>
              </a:pathLst>
            </a:custGeom>
            <a:blipFill>
              <a:blip r:embed="rId13">
                <a:alphaModFix amt="0"/>
              </a:blip>
              <a:stretch>
                <a:fillRect l="-149044" t="0" r="-149047" b="-1"/>
              </a:stretch>
            </a:blipFill>
          </p:spPr>
        </p:sp>
      </p:grpSp>
      <p:grpSp>
        <p:nvGrpSpPr>
          <p:cNvPr name="Group 65" id="65"/>
          <p:cNvGrpSpPr/>
          <p:nvPr/>
        </p:nvGrpSpPr>
        <p:grpSpPr>
          <a:xfrm rot="0">
            <a:off x="12884725" y="5021428"/>
            <a:ext cx="816693" cy="1137495"/>
            <a:chOff x="0" y="0"/>
            <a:chExt cx="1088923" cy="1516659"/>
          </a:xfrm>
        </p:grpSpPr>
        <p:sp>
          <p:nvSpPr>
            <p:cNvPr name="Freeform 66" id="66"/>
            <p:cNvSpPr/>
            <p:nvPr/>
          </p:nvSpPr>
          <p:spPr>
            <a:xfrm flipH="false" flipV="false" rot="0">
              <a:off x="0" y="0"/>
              <a:ext cx="1088924" cy="1516663"/>
            </a:xfrm>
            <a:custGeom>
              <a:avLst/>
              <a:gdLst/>
              <a:ahLst/>
              <a:cxnLst/>
              <a:rect r="r" b="b" t="t" l="l"/>
              <a:pathLst>
                <a:path h="1516663" w="1088924">
                  <a:moveTo>
                    <a:pt x="0" y="0"/>
                  </a:moveTo>
                  <a:lnTo>
                    <a:pt x="1088924" y="0"/>
                  </a:lnTo>
                  <a:lnTo>
                    <a:pt x="1088924" y="1516663"/>
                  </a:lnTo>
                  <a:lnTo>
                    <a:pt x="0" y="1516663"/>
                  </a:lnTo>
                  <a:close/>
                </a:path>
              </a:pathLst>
            </a:custGeom>
            <a:blipFill>
              <a:blip r:embed="rId14">
                <a:alphaModFix amt="0"/>
              </a:blip>
              <a:stretch>
                <a:fillRect l="-128701" t="0" r="-128701" b="0"/>
              </a:stretch>
            </a:blipFill>
          </p:spPr>
        </p:sp>
        <p:sp>
          <p:nvSpPr>
            <p:cNvPr name="TextBox 67" id="67"/>
            <p:cNvSpPr txBox="true"/>
            <p:nvPr/>
          </p:nvSpPr>
          <p:spPr>
            <a:xfrm>
              <a:off x="0" y="171450"/>
              <a:ext cx="1088923" cy="1345209"/>
            </a:xfrm>
            <a:prstGeom prst="rect">
              <a:avLst/>
            </a:prstGeom>
          </p:spPr>
          <p:txBody>
            <a:bodyPr anchor="ctr" rtlCol="false" tIns="0" lIns="0" bIns="0" rIns="0"/>
            <a:lstStyle/>
            <a:p>
              <a:pPr algn="l">
                <a:lnSpc>
                  <a:spcPts val="2985"/>
                </a:lnSpc>
              </a:pPr>
              <a:r>
                <a:rPr lang="en-US" sz="3944" b="true">
                  <a:solidFill>
                    <a:srgbClr val="C62632"/>
                  </a:solidFill>
                  <a:latin typeface="TT Commons Pro Bold"/>
                  <a:ea typeface="TT Commons Pro Bold"/>
                  <a:cs typeface="TT Commons Pro Bold"/>
                  <a:sym typeface="TT Commons Pro Bold"/>
                </a:rPr>
                <a:t>08</a:t>
              </a:r>
            </a:p>
          </p:txBody>
        </p:sp>
      </p:grpSp>
      <p:sp>
        <p:nvSpPr>
          <p:cNvPr name="Freeform 68" id="68"/>
          <p:cNvSpPr/>
          <p:nvPr/>
        </p:nvSpPr>
        <p:spPr>
          <a:xfrm flipH="false" flipV="false" rot="0">
            <a:off x="7192518" y="4669526"/>
            <a:ext cx="5149901" cy="1416491"/>
          </a:xfrm>
          <a:custGeom>
            <a:avLst/>
            <a:gdLst/>
            <a:ahLst/>
            <a:cxnLst/>
            <a:rect r="r" b="b" t="t" l="l"/>
            <a:pathLst>
              <a:path h="1416491" w="5149901">
                <a:moveTo>
                  <a:pt x="0" y="0"/>
                </a:moveTo>
                <a:lnTo>
                  <a:pt x="5149901" y="0"/>
                </a:lnTo>
                <a:lnTo>
                  <a:pt x="5149901" y="1416492"/>
                </a:lnTo>
                <a:lnTo>
                  <a:pt x="0" y="1416492"/>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grpSp>
        <p:nvGrpSpPr>
          <p:cNvPr name="Group 69" id="69"/>
          <p:cNvGrpSpPr/>
          <p:nvPr/>
        </p:nvGrpSpPr>
        <p:grpSpPr>
          <a:xfrm rot="0">
            <a:off x="8363769" y="5045974"/>
            <a:ext cx="21908" cy="685419"/>
            <a:chOff x="0" y="0"/>
            <a:chExt cx="29210" cy="913892"/>
          </a:xfrm>
        </p:grpSpPr>
        <p:sp>
          <p:nvSpPr>
            <p:cNvPr name="Freeform 70" id="70" descr="preencoded.png"/>
            <p:cNvSpPr/>
            <p:nvPr/>
          </p:nvSpPr>
          <p:spPr>
            <a:xfrm flipH="false" flipV="false" rot="0">
              <a:off x="0" y="0"/>
              <a:ext cx="29210" cy="913892"/>
            </a:xfrm>
            <a:custGeom>
              <a:avLst/>
              <a:gdLst/>
              <a:ahLst/>
              <a:cxnLst/>
              <a:rect r="r" b="b" t="t" l="l"/>
              <a:pathLst>
                <a:path h="913892" w="29210">
                  <a:moveTo>
                    <a:pt x="0" y="0"/>
                  </a:moveTo>
                  <a:lnTo>
                    <a:pt x="29210" y="0"/>
                  </a:lnTo>
                  <a:lnTo>
                    <a:pt x="29210" y="913892"/>
                  </a:lnTo>
                  <a:lnTo>
                    <a:pt x="0" y="913892"/>
                  </a:lnTo>
                  <a:lnTo>
                    <a:pt x="0" y="0"/>
                  </a:lnTo>
                  <a:close/>
                </a:path>
              </a:pathLst>
            </a:custGeom>
            <a:blipFill>
              <a:blip r:embed="rId26"/>
              <a:stretch>
                <a:fillRect l="-2130" t="0" r="-2173" b="0"/>
              </a:stretch>
            </a:blipFill>
          </p:spPr>
        </p:sp>
      </p:grpSp>
      <p:grpSp>
        <p:nvGrpSpPr>
          <p:cNvPr name="Group 71" id="71"/>
          <p:cNvGrpSpPr/>
          <p:nvPr/>
        </p:nvGrpSpPr>
        <p:grpSpPr>
          <a:xfrm rot="0">
            <a:off x="8690448" y="5314921"/>
            <a:ext cx="2496598" cy="432778"/>
            <a:chOff x="0" y="0"/>
            <a:chExt cx="3328797" cy="577037"/>
          </a:xfrm>
        </p:grpSpPr>
        <p:sp>
          <p:nvSpPr>
            <p:cNvPr name="Freeform 72" id="72"/>
            <p:cNvSpPr/>
            <p:nvPr/>
          </p:nvSpPr>
          <p:spPr>
            <a:xfrm flipH="false" flipV="false" rot="0">
              <a:off x="0" y="0"/>
              <a:ext cx="3328797" cy="577088"/>
            </a:xfrm>
            <a:custGeom>
              <a:avLst/>
              <a:gdLst/>
              <a:ahLst/>
              <a:cxnLst/>
              <a:rect r="r" b="b" t="t" l="l"/>
              <a:pathLst>
                <a:path h="577088" w="3328797">
                  <a:moveTo>
                    <a:pt x="0" y="0"/>
                  </a:moveTo>
                  <a:lnTo>
                    <a:pt x="3328797" y="0"/>
                  </a:lnTo>
                  <a:lnTo>
                    <a:pt x="3328797" y="577088"/>
                  </a:lnTo>
                  <a:lnTo>
                    <a:pt x="0" y="577088"/>
                  </a:lnTo>
                  <a:close/>
                </a:path>
              </a:pathLst>
            </a:custGeom>
            <a:blipFill>
              <a:blip r:embed="rId13">
                <a:alphaModFix amt="0"/>
              </a:blip>
              <a:stretch>
                <a:fillRect l="0" t="-62321" r="0" b="-62310"/>
              </a:stretch>
            </a:blipFill>
          </p:spPr>
        </p:sp>
      </p:grpSp>
      <p:grpSp>
        <p:nvGrpSpPr>
          <p:cNvPr name="Group 73" id="73"/>
          <p:cNvGrpSpPr/>
          <p:nvPr/>
        </p:nvGrpSpPr>
        <p:grpSpPr>
          <a:xfrm rot="0">
            <a:off x="8690448" y="5322065"/>
            <a:ext cx="2496598" cy="425634"/>
            <a:chOff x="0" y="0"/>
            <a:chExt cx="3328797" cy="567512"/>
          </a:xfrm>
        </p:grpSpPr>
        <p:sp>
          <p:nvSpPr>
            <p:cNvPr name="Freeform 74" id="74"/>
            <p:cNvSpPr/>
            <p:nvPr/>
          </p:nvSpPr>
          <p:spPr>
            <a:xfrm flipH="false" flipV="false" rot="0">
              <a:off x="0" y="0"/>
              <a:ext cx="3328799" cy="567507"/>
            </a:xfrm>
            <a:custGeom>
              <a:avLst/>
              <a:gdLst/>
              <a:ahLst/>
              <a:cxnLst/>
              <a:rect r="r" b="b" t="t" l="l"/>
              <a:pathLst>
                <a:path h="567507" w="3328799">
                  <a:moveTo>
                    <a:pt x="0" y="0"/>
                  </a:moveTo>
                  <a:lnTo>
                    <a:pt x="3328799" y="0"/>
                  </a:lnTo>
                  <a:lnTo>
                    <a:pt x="3328799" y="567507"/>
                  </a:lnTo>
                  <a:lnTo>
                    <a:pt x="0" y="567507"/>
                  </a:lnTo>
                  <a:close/>
                </a:path>
              </a:pathLst>
            </a:custGeom>
            <a:blipFill>
              <a:blip r:embed="rId14">
                <a:alphaModFix amt="0"/>
              </a:blip>
              <a:stretch>
                <a:fillRect l="0" t="-64291" r="0" b="-64292"/>
              </a:stretch>
            </a:blipFill>
          </p:spPr>
        </p:sp>
        <p:sp>
          <p:nvSpPr>
            <p:cNvPr name="TextBox 75" id="75"/>
            <p:cNvSpPr txBox="true"/>
            <p:nvPr/>
          </p:nvSpPr>
          <p:spPr>
            <a:xfrm>
              <a:off x="0" y="9525"/>
              <a:ext cx="3328797" cy="557987"/>
            </a:xfrm>
            <a:prstGeom prst="rect">
              <a:avLst/>
            </a:prstGeom>
          </p:spPr>
          <p:txBody>
            <a:bodyPr anchor="ctr" rtlCol="false" tIns="0" lIns="0" bIns="0" rIns="0"/>
            <a:lstStyle/>
            <a:p>
              <a:pPr algn="l">
                <a:lnSpc>
                  <a:spcPts val="2254"/>
                </a:lnSpc>
              </a:pPr>
              <a:r>
                <a:rPr lang="en-US" sz="2000" b="true">
                  <a:solidFill>
                    <a:srgbClr val="484949"/>
                  </a:solidFill>
                  <a:latin typeface="TT Commons Pro Bold"/>
                  <a:ea typeface="TT Commons Pro Bold"/>
                  <a:cs typeface="TT Commons Pro Bold"/>
                  <a:sym typeface="TT Commons Pro Bold"/>
                </a:rPr>
                <a:t>Project Overview</a:t>
              </a:r>
            </a:p>
          </p:txBody>
        </p:sp>
      </p:grpSp>
      <p:grpSp>
        <p:nvGrpSpPr>
          <p:cNvPr name="Group 76" id="76"/>
          <p:cNvGrpSpPr/>
          <p:nvPr/>
        </p:nvGrpSpPr>
        <p:grpSpPr>
          <a:xfrm rot="0">
            <a:off x="7416470" y="5111039"/>
            <a:ext cx="820341" cy="840534"/>
            <a:chOff x="0" y="0"/>
            <a:chExt cx="1093788" cy="1120712"/>
          </a:xfrm>
        </p:grpSpPr>
        <p:sp>
          <p:nvSpPr>
            <p:cNvPr name="Freeform 77" id="77"/>
            <p:cNvSpPr/>
            <p:nvPr/>
          </p:nvSpPr>
          <p:spPr>
            <a:xfrm flipH="false" flipV="false" rot="0">
              <a:off x="0" y="0"/>
              <a:ext cx="1093724" cy="1120648"/>
            </a:xfrm>
            <a:custGeom>
              <a:avLst/>
              <a:gdLst/>
              <a:ahLst/>
              <a:cxnLst/>
              <a:rect r="r" b="b" t="t" l="l"/>
              <a:pathLst>
                <a:path h="1120648" w="1093724">
                  <a:moveTo>
                    <a:pt x="0" y="0"/>
                  </a:moveTo>
                  <a:lnTo>
                    <a:pt x="1093724" y="0"/>
                  </a:lnTo>
                  <a:lnTo>
                    <a:pt x="1093724" y="1120648"/>
                  </a:lnTo>
                  <a:lnTo>
                    <a:pt x="0" y="1120648"/>
                  </a:lnTo>
                  <a:close/>
                </a:path>
              </a:pathLst>
            </a:custGeom>
            <a:blipFill>
              <a:blip r:embed="rId13">
                <a:alphaModFix amt="0"/>
              </a:blip>
              <a:stretch>
                <a:fillRect l="-81557" t="0" r="-81564" b="-5"/>
              </a:stretch>
            </a:blipFill>
          </p:spPr>
        </p:sp>
      </p:grpSp>
      <p:grpSp>
        <p:nvGrpSpPr>
          <p:cNvPr name="Group 78" id="78"/>
          <p:cNvGrpSpPr/>
          <p:nvPr/>
        </p:nvGrpSpPr>
        <p:grpSpPr>
          <a:xfrm rot="0">
            <a:off x="7416470" y="5232483"/>
            <a:ext cx="820341" cy="719090"/>
            <a:chOff x="0" y="0"/>
            <a:chExt cx="1093788" cy="958786"/>
          </a:xfrm>
        </p:grpSpPr>
        <p:sp>
          <p:nvSpPr>
            <p:cNvPr name="Freeform 79" id="79"/>
            <p:cNvSpPr/>
            <p:nvPr/>
          </p:nvSpPr>
          <p:spPr>
            <a:xfrm flipH="false" flipV="false" rot="0">
              <a:off x="0" y="0"/>
              <a:ext cx="1093781" cy="958780"/>
            </a:xfrm>
            <a:custGeom>
              <a:avLst/>
              <a:gdLst/>
              <a:ahLst/>
              <a:cxnLst/>
              <a:rect r="r" b="b" t="t" l="l"/>
              <a:pathLst>
                <a:path h="958780" w="1093781">
                  <a:moveTo>
                    <a:pt x="0" y="0"/>
                  </a:moveTo>
                  <a:lnTo>
                    <a:pt x="1093781" y="0"/>
                  </a:lnTo>
                  <a:lnTo>
                    <a:pt x="1093781" y="958780"/>
                  </a:lnTo>
                  <a:lnTo>
                    <a:pt x="0" y="958780"/>
                  </a:lnTo>
                  <a:close/>
                </a:path>
              </a:pathLst>
            </a:custGeom>
            <a:blipFill>
              <a:blip r:embed="rId14">
                <a:alphaModFix amt="0"/>
              </a:blip>
              <a:stretch>
                <a:fillRect l="-62468" t="0" r="-62468" b="0"/>
              </a:stretch>
            </a:blipFill>
          </p:spPr>
        </p:sp>
        <p:sp>
          <p:nvSpPr>
            <p:cNvPr name="TextBox 80" id="80"/>
            <p:cNvSpPr txBox="true"/>
            <p:nvPr/>
          </p:nvSpPr>
          <p:spPr>
            <a:xfrm>
              <a:off x="0" y="161925"/>
              <a:ext cx="1093788" cy="796861"/>
            </a:xfrm>
            <a:prstGeom prst="rect">
              <a:avLst/>
            </a:prstGeom>
          </p:spPr>
          <p:txBody>
            <a:bodyPr anchor="ctr" rtlCol="false" tIns="0" lIns="0" bIns="0" rIns="0"/>
            <a:lstStyle/>
            <a:p>
              <a:pPr algn="l">
                <a:lnSpc>
                  <a:spcPts val="2927"/>
                </a:lnSpc>
              </a:pPr>
              <a:r>
                <a:rPr lang="en-US" sz="3881" b="true">
                  <a:solidFill>
                    <a:srgbClr val="EC7725"/>
                  </a:solidFill>
                  <a:latin typeface="TT Commons Pro Bold"/>
                  <a:ea typeface="TT Commons Pro Bold"/>
                  <a:cs typeface="TT Commons Pro Bold"/>
                  <a:sym typeface="TT Commons Pro Bold"/>
                </a:rPr>
                <a:t>03</a:t>
              </a:r>
            </a:p>
          </p:txBody>
        </p:sp>
      </p:grpSp>
      <p:sp>
        <p:nvSpPr>
          <p:cNvPr name="Freeform 81" id="81"/>
          <p:cNvSpPr/>
          <p:nvPr/>
        </p:nvSpPr>
        <p:spPr>
          <a:xfrm flipH="false" flipV="false" rot="0">
            <a:off x="12601261" y="3034332"/>
            <a:ext cx="5189925" cy="1390879"/>
          </a:xfrm>
          <a:custGeom>
            <a:avLst/>
            <a:gdLst/>
            <a:ahLst/>
            <a:cxnLst/>
            <a:rect r="r" b="b" t="t" l="l"/>
            <a:pathLst>
              <a:path h="1390879" w="5189925">
                <a:moveTo>
                  <a:pt x="0" y="0"/>
                </a:moveTo>
                <a:lnTo>
                  <a:pt x="5189925" y="0"/>
                </a:lnTo>
                <a:lnTo>
                  <a:pt x="5189925" y="1390878"/>
                </a:lnTo>
                <a:lnTo>
                  <a:pt x="0" y="1390878"/>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grpSp>
        <p:nvGrpSpPr>
          <p:cNvPr name="Group 82" id="82"/>
          <p:cNvGrpSpPr/>
          <p:nvPr/>
        </p:nvGrpSpPr>
        <p:grpSpPr>
          <a:xfrm rot="0">
            <a:off x="13701417" y="3398006"/>
            <a:ext cx="29146" cy="678180"/>
            <a:chOff x="0" y="0"/>
            <a:chExt cx="38862" cy="904240"/>
          </a:xfrm>
        </p:grpSpPr>
        <p:sp>
          <p:nvSpPr>
            <p:cNvPr name="Freeform 83" id="83" descr="preencoded.png"/>
            <p:cNvSpPr/>
            <p:nvPr/>
          </p:nvSpPr>
          <p:spPr>
            <a:xfrm flipH="false" flipV="false" rot="0">
              <a:off x="0" y="0"/>
              <a:ext cx="38862" cy="904240"/>
            </a:xfrm>
            <a:custGeom>
              <a:avLst/>
              <a:gdLst/>
              <a:ahLst/>
              <a:cxnLst/>
              <a:rect r="r" b="b" t="t" l="l"/>
              <a:pathLst>
                <a:path h="904240" w="38862">
                  <a:moveTo>
                    <a:pt x="0" y="0"/>
                  </a:moveTo>
                  <a:lnTo>
                    <a:pt x="38862" y="0"/>
                  </a:lnTo>
                  <a:lnTo>
                    <a:pt x="38862" y="904240"/>
                  </a:lnTo>
                  <a:lnTo>
                    <a:pt x="0" y="904240"/>
                  </a:lnTo>
                  <a:lnTo>
                    <a:pt x="0" y="0"/>
                  </a:lnTo>
                  <a:close/>
                </a:path>
              </a:pathLst>
            </a:custGeom>
            <a:blipFill>
              <a:blip r:embed="rId29"/>
              <a:stretch>
                <a:fillRect l="0" t="-3007" r="0" b="-3007"/>
              </a:stretch>
            </a:blipFill>
          </p:spPr>
        </p:sp>
      </p:grpSp>
      <p:grpSp>
        <p:nvGrpSpPr>
          <p:cNvPr name="Group 84" id="84"/>
          <p:cNvGrpSpPr/>
          <p:nvPr/>
        </p:nvGrpSpPr>
        <p:grpSpPr>
          <a:xfrm rot="0">
            <a:off x="14006808" y="3621881"/>
            <a:ext cx="1626079" cy="429397"/>
            <a:chOff x="0" y="0"/>
            <a:chExt cx="2168106" cy="572529"/>
          </a:xfrm>
        </p:grpSpPr>
        <p:sp>
          <p:nvSpPr>
            <p:cNvPr name="Freeform 85" id="85"/>
            <p:cNvSpPr/>
            <p:nvPr/>
          </p:nvSpPr>
          <p:spPr>
            <a:xfrm flipH="false" flipV="false" rot="0">
              <a:off x="0" y="0"/>
              <a:ext cx="2168144" cy="572516"/>
            </a:xfrm>
            <a:custGeom>
              <a:avLst/>
              <a:gdLst/>
              <a:ahLst/>
              <a:cxnLst/>
              <a:rect r="r" b="b" t="t" l="l"/>
              <a:pathLst>
                <a:path h="572516" w="2168144">
                  <a:moveTo>
                    <a:pt x="0" y="0"/>
                  </a:moveTo>
                  <a:lnTo>
                    <a:pt x="2168144" y="0"/>
                  </a:lnTo>
                  <a:lnTo>
                    <a:pt x="2168144" y="572516"/>
                  </a:lnTo>
                  <a:lnTo>
                    <a:pt x="0" y="572516"/>
                  </a:lnTo>
                  <a:close/>
                </a:path>
              </a:pathLst>
            </a:custGeom>
            <a:blipFill>
              <a:blip r:embed="rId13">
                <a:alphaModFix amt="0"/>
              </a:blip>
              <a:stretch>
                <a:fillRect l="0" t="-23737" r="1" b="-23737"/>
              </a:stretch>
            </a:blipFill>
          </p:spPr>
        </p:sp>
      </p:grpSp>
      <p:grpSp>
        <p:nvGrpSpPr>
          <p:cNvPr name="Group 86" id="86"/>
          <p:cNvGrpSpPr/>
          <p:nvPr/>
        </p:nvGrpSpPr>
        <p:grpSpPr>
          <a:xfrm rot="0">
            <a:off x="14006808" y="3636169"/>
            <a:ext cx="1626079" cy="415119"/>
            <a:chOff x="0" y="0"/>
            <a:chExt cx="2168106" cy="553491"/>
          </a:xfrm>
        </p:grpSpPr>
        <p:sp>
          <p:nvSpPr>
            <p:cNvPr name="Freeform 87" id="87"/>
            <p:cNvSpPr/>
            <p:nvPr/>
          </p:nvSpPr>
          <p:spPr>
            <a:xfrm flipH="false" flipV="false" rot="0">
              <a:off x="0" y="0"/>
              <a:ext cx="2168105" cy="553486"/>
            </a:xfrm>
            <a:custGeom>
              <a:avLst/>
              <a:gdLst/>
              <a:ahLst/>
              <a:cxnLst/>
              <a:rect r="r" b="b" t="t" l="l"/>
              <a:pathLst>
                <a:path h="553486" w="2168105">
                  <a:moveTo>
                    <a:pt x="0" y="0"/>
                  </a:moveTo>
                  <a:lnTo>
                    <a:pt x="2168105" y="0"/>
                  </a:lnTo>
                  <a:lnTo>
                    <a:pt x="2168105" y="553486"/>
                  </a:lnTo>
                  <a:lnTo>
                    <a:pt x="0" y="553486"/>
                  </a:lnTo>
                  <a:close/>
                </a:path>
              </a:pathLst>
            </a:custGeom>
            <a:blipFill>
              <a:blip r:embed="rId14">
                <a:alphaModFix amt="0"/>
              </a:blip>
              <a:stretch>
                <a:fillRect l="0" t="-26325" r="0" b="-26326"/>
              </a:stretch>
            </a:blipFill>
          </p:spPr>
        </p:sp>
        <p:sp>
          <p:nvSpPr>
            <p:cNvPr name="TextBox 88" id="88"/>
            <p:cNvSpPr txBox="true"/>
            <p:nvPr/>
          </p:nvSpPr>
          <p:spPr>
            <a:xfrm>
              <a:off x="0" y="9525"/>
              <a:ext cx="2168106" cy="543966"/>
            </a:xfrm>
            <a:prstGeom prst="rect">
              <a:avLst/>
            </a:prstGeom>
          </p:spPr>
          <p:txBody>
            <a:bodyPr anchor="ctr" rtlCol="false" tIns="0" lIns="0" bIns="0" rIns="0"/>
            <a:lstStyle/>
            <a:p>
              <a:pPr algn="l">
                <a:lnSpc>
                  <a:spcPts val="2283"/>
                </a:lnSpc>
              </a:pPr>
              <a:r>
                <a:rPr lang="en-US" sz="2000" b="true">
                  <a:solidFill>
                    <a:srgbClr val="484848"/>
                  </a:solidFill>
                  <a:latin typeface="TT Commons Pro Bold"/>
                  <a:ea typeface="TT Commons Pro Bold"/>
                  <a:cs typeface="TT Commons Pro Bold"/>
                  <a:sym typeface="TT Commons Pro Bold"/>
                </a:rPr>
                <a:t>Key Insights</a:t>
              </a:r>
            </a:p>
          </p:txBody>
        </p:sp>
      </p:grpSp>
      <p:grpSp>
        <p:nvGrpSpPr>
          <p:cNvPr name="Group 89" id="89"/>
          <p:cNvGrpSpPr/>
          <p:nvPr/>
        </p:nvGrpSpPr>
        <p:grpSpPr>
          <a:xfrm rot="0">
            <a:off x="12884725" y="3409683"/>
            <a:ext cx="568766" cy="837095"/>
            <a:chOff x="0" y="0"/>
            <a:chExt cx="758355" cy="1116127"/>
          </a:xfrm>
        </p:grpSpPr>
        <p:sp>
          <p:nvSpPr>
            <p:cNvPr name="Freeform 90" id="90"/>
            <p:cNvSpPr/>
            <p:nvPr/>
          </p:nvSpPr>
          <p:spPr>
            <a:xfrm flipH="false" flipV="false" rot="0">
              <a:off x="0" y="0"/>
              <a:ext cx="758317" cy="1116076"/>
            </a:xfrm>
            <a:custGeom>
              <a:avLst/>
              <a:gdLst/>
              <a:ahLst/>
              <a:cxnLst/>
              <a:rect r="r" b="b" t="t" l="l"/>
              <a:pathLst>
                <a:path h="1116076" w="758317">
                  <a:moveTo>
                    <a:pt x="0" y="0"/>
                  </a:moveTo>
                  <a:lnTo>
                    <a:pt x="758317" y="0"/>
                  </a:lnTo>
                  <a:lnTo>
                    <a:pt x="758317" y="1116076"/>
                  </a:lnTo>
                  <a:lnTo>
                    <a:pt x="0" y="1116076"/>
                  </a:lnTo>
                  <a:close/>
                </a:path>
              </a:pathLst>
            </a:custGeom>
            <a:blipFill>
              <a:blip r:embed="rId13">
                <a:alphaModFix amt="0"/>
              </a:blip>
              <a:stretch>
                <a:fillRect l="-138971" t="0" r="-138976" b="-4"/>
              </a:stretch>
            </a:blipFill>
          </p:spPr>
        </p:sp>
      </p:grpSp>
      <p:grpSp>
        <p:nvGrpSpPr>
          <p:cNvPr name="Group 91" id="91"/>
          <p:cNvGrpSpPr/>
          <p:nvPr/>
        </p:nvGrpSpPr>
        <p:grpSpPr>
          <a:xfrm rot="0">
            <a:off x="12884725" y="3538271"/>
            <a:ext cx="568766" cy="708498"/>
            <a:chOff x="0" y="0"/>
            <a:chExt cx="758355" cy="944664"/>
          </a:xfrm>
        </p:grpSpPr>
        <p:sp>
          <p:nvSpPr>
            <p:cNvPr name="Freeform 92" id="92"/>
            <p:cNvSpPr/>
            <p:nvPr/>
          </p:nvSpPr>
          <p:spPr>
            <a:xfrm flipH="false" flipV="false" rot="0">
              <a:off x="0" y="0"/>
              <a:ext cx="758355" cy="944669"/>
            </a:xfrm>
            <a:custGeom>
              <a:avLst/>
              <a:gdLst/>
              <a:ahLst/>
              <a:cxnLst/>
              <a:rect r="r" b="b" t="t" l="l"/>
              <a:pathLst>
                <a:path h="944669" w="758355">
                  <a:moveTo>
                    <a:pt x="0" y="0"/>
                  </a:moveTo>
                  <a:lnTo>
                    <a:pt x="758355" y="0"/>
                  </a:lnTo>
                  <a:lnTo>
                    <a:pt x="758355" y="944669"/>
                  </a:lnTo>
                  <a:lnTo>
                    <a:pt x="0" y="944669"/>
                  </a:lnTo>
                  <a:close/>
                </a:path>
              </a:pathLst>
            </a:custGeom>
            <a:blipFill>
              <a:blip r:embed="rId14">
                <a:alphaModFix amt="0"/>
              </a:blip>
              <a:stretch>
                <a:fillRect l="-109824" t="0" r="-109824" b="0"/>
              </a:stretch>
            </a:blipFill>
          </p:spPr>
        </p:sp>
        <p:sp>
          <p:nvSpPr>
            <p:cNvPr name="TextBox 93" id="93"/>
            <p:cNvSpPr txBox="true"/>
            <p:nvPr/>
          </p:nvSpPr>
          <p:spPr>
            <a:xfrm>
              <a:off x="0" y="171450"/>
              <a:ext cx="758355" cy="773214"/>
            </a:xfrm>
            <a:prstGeom prst="rect">
              <a:avLst/>
            </a:prstGeom>
          </p:spPr>
          <p:txBody>
            <a:bodyPr anchor="ctr" rtlCol="false" tIns="0" lIns="0" bIns="0" rIns="0"/>
            <a:lstStyle/>
            <a:p>
              <a:pPr algn="l">
                <a:lnSpc>
                  <a:spcPts val="2922"/>
                </a:lnSpc>
              </a:pPr>
              <a:r>
                <a:rPr lang="en-US" sz="3905" b="true">
                  <a:solidFill>
                    <a:srgbClr val="C62531"/>
                  </a:solidFill>
                  <a:latin typeface="TT Commons Pro Bold"/>
                  <a:ea typeface="TT Commons Pro Bold"/>
                  <a:cs typeface="TT Commons Pro Bold"/>
                  <a:sym typeface="TT Commons Pro Bold"/>
                </a:rPr>
                <a:t>07</a:t>
              </a:r>
            </a:p>
          </p:txBody>
        </p:sp>
      </p:grpSp>
      <p:sp>
        <p:nvSpPr>
          <p:cNvPr name="Freeform 94" id="94"/>
          <p:cNvSpPr/>
          <p:nvPr/>
        </p:nvSpPr>
        <p:spPr>
          <a:xfrm flipH="false" flipV="false" rot="0">
            <a:off x="7192518" y="3021568"/>
            <a:ext cx="5142576" cy="1416396"/>
          </a:xfrm>
          <a:custGeom>
            <a:avLst/>
            <a:gdLst/>
            <a:ahLst/>
            <a:cxnLst/>
            <a:rect r="r" b="b" t="t" l="l"/>
            <a:pathLst>
              <a:path h="1416396" w="5142576">
                <a:moveTo>
                  <a:pt x="0" y="0"/>
                </a:moveTo>
                <a:lnTo>
                  <a:pt x="5142576" y="0"/>
                </a:lnTo>
                <a:lnTo>
                  <a:pt x="5142576" y="1416396"/>
                </a:lnTo>
                <a:lnTo>
                  <a:pt x="0" y="1416396"/>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grpSp>
        <p:nvGrpSpPr>
          <p:cNvPr name="Group 95" id="95"/>
          <p:cNvGrpSpPr/>
          <p:nvPr/>
        </p:nvGrpSpPr>
        <p:grpSpPr>
          <a:xfrm rot="0">
            <a:off x="8363769" y="3390719"/>
            <a:ext cx="21908" cy="692753"/>
            <a:chOff x="0" y="0"/>
            <a:chExt cx="29210" cy="923671"/>
          </a:xfrm>
        </p:grpSpPr>
        <p:sp>
          <p:nvSpPr>
            <p:cNvPr name="Freeform 96" id="96" descr="preencoded.png"/>
            <p:cNvSpPr/>
            <p:nvPr/>
          </p:nvSpPr>
          <p:spPr>
            <a:xfrm flipH="false" flipV="false" rot="0">
              <a:off x="0" y="0"/>
              <a:ext cx="29210" cy="923671"/>
            </a:xfrm>
            <a:custGeom>
              <a:avLst/>
              <a:gdLst/>
              <a:ahLst/>
              <a:cxnLst/>
              <a:rect r="r" b="b" t="t" l="l"/>
              <a:pathLst>
                <a:path h="923671" w="29210">
                  <a:moveTo>
                    <a:pt x="0" y="0"/>
                  </a:moveTo>
                  <a:lnTo>
                    <a:pt x="29210" y="0"/>
                  </a:lnTo>
                  <a:lnTo>
                    <a:pt x="29210" y="923671"/>
                  </a:lnTo>
                  <a:lnTo>
                    <a:pt x="0" y="923671"/>
                  </a:lnTo>
                  <a:lnTo>
                    <a:pt x="0" y="0"/>
                  </a:lnTo>
                  <a:close/>
                </a:path>
              </a:pathLst>
            </a:custGeom>
            <a:blipFill>
              <a:blip r:embed="rId32"/>
              <a:stretch>
                <a:fillRect l="-2695" t="0" r="-2695" b="0"/>
              </a:stretch>
            </a:blipFill>
          </p:spPr>
        </p:sp>
      </p:grpSp>
      <p:grpSp>
        <p:nvGrpSpPr>
          <p:cNvPr name="Group 97" id="97"/>
          <p:cNvGrpSpPr/>
          <p:nvPr/>
        </p:nvGrpSpPr>
        <p:grpSpPr>
          <a:xfrm rot="0">
            <a:off x="8640861" y="3670497"/>
            <a:ext cx="2834792" cy="430711"/>
            <a:chOff x="0" y="0"/>
            <a:chExt cx="3779723" cy="574281"/>
          </a:xfrm>
        </p:grpSpPr>
        <p:sp>
          <p:nvSpPr>
            <p:cNvPr name="Freeform 98" id="98"/>
            <p:cNvSpPr/>
            <p:nvPr/>
          </p:nvSpPr>
          <p:spPr>
            <a:xfrm flipH="false" flipV="false" rot="0">
              <a:off x="0" y="0"/>
              <a:ext cx="3779774" cy="574294"/>
            </a:xfrm>
            <a:custGeom>
              <a:avLst/>
              <a:gdLst/>
              <a:ahLst/>
              <a:cxnLst/>
              <a:rect r="r" b="b" t="t" l="l"/>
              <a:pathLst>
                <a:path h="574294" w="3779774">
                  <a:moveTo>
                    <a:pt x="0" y="0"/>
                  </a:moveTo>
                  <a:lnTo>
                    <a:pt x="3779774" y="0"/>
                  </a:lnTo>
                  <a:lnTo>
                    <a:pt x="3779774" y="574294"/>
                  </a:lnTo>
                  <a:lnTo>
                    <a:pt x="0" y="574294"/>
                  </a:lnTo>
                  <a:close/>
                </a:path>
              </a:pathLst>
            </a:custGeom>
            <a:blipFill>
              <a:blip r:embed="rId13">
                <a:alphaModFix amt="0"/>
              </a:blip>
              <a:stretch>
                <a:fillRect l="0" t="-78153" r="1" b="-78151"/>
              </a:stretch>
            </a:blipFill>
          </p:spPr>
        </p:sp>
      </p:grpSp>
      <p:grpSp>
        <p:nvGrpSpPr>
          <p:cNvPr name="Group 99" id="99"/>
          <p:cNvGrpSpPr/>
          <p:nvPr/>
        </p:nvGrpSpPr>
        <p:grpSpPr>
          <a:xfrm rot="0">
            <a:off x="8640861" y="3720503"/>
            <a:ext cx="2834802" cy="380705"/>
            <a:chOff x="0" y="0"/>
            <a:chExt cx="3779736" cy="507606"/>
          </a:xfrm>
        </p:grpSpPr>
        <p:sp>
          <p:nvSpPr>
            <p:cNvPr name="Freeform 100" id="100"/>
            <p:cNvSpPr/>
            <p:nvPr/>
          </p:nvSpPr>
          <p:spPr>
            <a:xfrm flipH="false" flipV="false" rot="0">
              <a:off x="0" y="0"/>
              <a:ext cx="3779731" cy="507605"/>
            </a:xfrm>
            <a:custGeom>
              <a:avLst/>
              <a:gdLst/>
              <a:ahLst/>
              <a:cxnLst/>
              <a:rect r="r" b="b" t="t" l="l"/>
              <a:pathLst>
                <a:path h="507605" w="3779731">
                  <a:moveTo>
                    <a:pt x="0" y="0"/>
                  </a:moveTo>
                  <a:lnTo>
                    <a:pt x="3779731" y="0"/>
                  </a:lnTo>
                  <a:lnTo>
                    <a:pt x="3779731" y="507605"/>
                  </a:lnTo>
                  <a:lnTo>
                    <a:pt x="0" y="507605"/>
                  </a:lnTo>
                  <a:close/>
                </a:path>
              </a:pathLst>
            </a:custGeom>
            <a:blipFill>
              <a:blip r:embed="rId14">
                <a:alphaModFix amt="0"/>
              </a:blip>
              <a:stretch>
                <a:fillRect l="0" t="-95089" r="0" b="-95089"/>
              </a:stretch>
            </a:blipFill>
          </p:spPr>
        </p:sp>
        <p:sp>
          <p:nvSpPr>
            <p:cNvPr name="TextBox 101" id="101"/>
            <p:cNvSpPr txBox="true"/>
            <p:nvPr/>
          </p:nvSpPr>
          <p:spPr>
            <a:xfrm>
              <a:off x="0" y="66675"/>
              <a:ext cx="3779736" cy="440931"/>
            </a:xfrm>
            <a:prstGeom prst="rect">
              <a:avLst/>
            </a:prstGeom>
          </p:spPr>
          <p:txBody>
            <a:bodyPr anchor="ctr" rtlCol="false" tIns="0" lIns="0" bIns="0" rIns="0"/>
            <a:lstStyle/>
            <a:p>
              <a:pPr algn="l">
                <a:lnSpc>
                  <a:spcPts val="1670"/>
                </a:lnSpc>
              </a:pPr>
              <a:r>
                <a:rPr lang="en-US" sz="2000" b="true">
                  <a:solidFill>
                    <a:srgbClr val="4F4F4F"/>
                  </a:solidFill>
                  <a:latin typeface="TT Commons Pro Bold"/>
                  <a:ea typeface="TT Commons Pro Bold"/>
                  <a:cs typeface="TT Commons Pro Bold"/>
                  <a:sym typeface="TT Commons Pro Bold"/>
                </a:rPr>
                <a:t>Problem Statement</a:t>
              </a:r>
            </a:p>
          </p:txBody>
        </p:sp>
      </p:grpSp>
      <p:grpSp>
        <p:nvGrpSpPr>
          <p:cNvPr name="Group 102" id="102"/>
          <p:cNvGrpSpPr/>
          <p:nvPr/>
        </p:nvGrpSpPr>
        <p:grpSpPr>
          <a:xfrm rot="0">
            <a:off x="7554373" y="3485512"/>
            <a:ext cx="576053" cy="811835"/>
            <a:chOff x="0" y="0"/>
            <a:chExt cx="768071" cy="1082446"/>
          </a:xfrm>
        </p:grpSpPr>
        <p:sp>
          <p:nvSpPr>
            <p:cNvPr name="Freeform 103" id="103"/>
            <p:cNvSpPr/>
            <p:nvPr/>
          </p:nvSpPr>
          <p:spPr>
            <a:xfrm flipH="false" flipV="false" rot="0">
              <a:off x="0" y="0"/>
              <a:ext cx="768096" cy="1082421"/>
            </a:xfrm>
            <a:custGeom>
              <a:avLst/>
              <a:gdLst/>
              <a:ahLst/>
              <a:cxnLst/>
              <a:rect r="r" b="b" t="t" l="l"/>
              <a:pathLst>
                <a:path h="1082421" w="768096">
                  <a:moveTo>
                    <a:pt x="0" y="0"/>
                  </a:moveTo>
                  <a:lnTo>
                    <a:pt x="768096" y="0"/>
                  </a:lnTo>
                  <a:lnTo>
                    <a:pt x="768096" y="1082421"/>
                  </a:lnTo>
                  <a:lnTo>
                    <a:pt x="0" y="1082421"/>
                  </a:lnTo>
                  <a:close/>
                </a:path>
              </a:pathLst>
            </a:custGeom>
            <a:blipFill>
              <a:blip r:embed="rId13">
                <a:alphaModFix amt="0"/>
              </a:blip>
              <a:stretch>
                <a:fillRect l="-130939" t="0" r="-130935" b="-2"/>
              </a:stretch>
            </a:blipFill>
          </p:spPr>
        </p:sp>
      </p:grpSp>
      <p:grpSp>
        <p:nvGrpSpPr>
          <p:cNvPr name="Group 104" id="104"/>
          <p:cNvGrpSpPr/>
          <p:nvPr/>
        </p:nvGrpSpPr>
        <p:grpSpPr>
          <a:xfrm rot="0">
            <a:off x="7554373" y="3599812"/>
            <a:ext cx="576053" cy="697535"/>
            <a:chOff x="0" y="0"/>
            <a:chExt cx="768071" cy="930046"/>
          </a:xfrm>
        </p:grpSpPr>
        <p:sp>
          <p:nvSpPr>
            <p:cNvPr name="Freeform 105" id="105"/>
            <p:cNvSpPr/>
            <p:nvPr/>
          </p:nvSpPr>
          <p:spPr>
            <a:xfrm flipH="false" flipV="false" rot="0">
              <a:off x="0" y="0"/>
              <a:ext cx="768071" cy="930045"/>
            </a:xfrm>
            <a:custGeom>
              <a:avLst/>
              <a:gdLst/>
              <a:ahLst/>
              <a:cxnLst/>
              <a:rect r="r" b="b" t="t" l="l"/>
              <a:pathLst>
                <a:path h="930045" w="768071">
                  <a:moveTo>
                    <a:pt x="0" y="0"/>
                  </a:moveTo>
                  <a:lnTo>
                    <a:pt x="768071" y="0"/>
                  </a:lnTo>
                  <a:lnTo>
                    <a:pt x="768071" y="930045"/>
                  </a:lnTo>
                  <a:lnTo>
                    <a:pt x="0" y="930045"/>
                  </a:lnTo>
                  <a:close/>
                </a:path>
              </a:pathLst>
            </a:custGeom>
            <a:blipFill>
              <a:blip r:embed="rId14">
                <a:alphaModFix amt="0"/>
              </a:blip>
              <a:stretch>
                <a:fillRect l="-105361" t="0" r="-105361" b="0"/>
              </a:stretch>
            </a:blipFill>
          </p:spPr>
        </p:sp>
        <p:sp>
          <p:nvSpPr>
            <p:cNvPr name="TextBox 106" id="106"/>
            <p:cNvSpPr txBox="true"/>
            <p:nvPr/>
          </p:nvSpPr>
          <p:spPr>
            <a:xfrm>
              <a:off x="0" y="152400"/>
              <a:ext cx="768071" cy="777646"/>
            </a:xfrm>
            <a:prstGeom prst="rect">
              <a:avLst/>
            </a:prstGeom>
          </p:spPr>
          <p:txBody>
            <a:bodyPr anchor="ctr" rtlCol="false" tIns="0" lIns="0" bIns="0" rIns="0"/>
            <a:lstStyle/>
            <a:p>
              <a:pPr algn="l">
                <a:lnSpc>
                  <a:spcPts val="2928"/>
                </a:lnSpc>
              </a:pPr>
              <a:r>
                <a:rPr lang="en-US" sz="3748" b="true">
                  <a:solidFill>
                    <a:srgbClr val="EC7624"/>
                  </a:solidFill>
                  <a:latin typeface="TT Commons Pro Bold"/>
                  <a:ea typeface="TT Commons Pro Bold"/>
                  <a:cs typeface="TT Commons Pro Bold"/>
                  <a:sym typeface="TT Commons Pro Bold"/>
                </a:rPr>
                <a:t>02</a:t>
              </a:r>
            </a:p>
          </p:txBody>
        </p:sp>
      </p:grpSp>
      <p:sp>
        <p:nvSpPr>
          <p:cNvPr name="Freeform 107" id="107"/>
          <p:cNvSpPr/>
          <p:nvPr/>
        </p:nvSpPr>
        <p:spPr>
          <a:xfrm flipH="false" flipV="false" rot="0">
            <a:off x="12601261" y="1400947"/>
            <a:ext cx="5197259" cy="1390879"/>
          </a:xfrm>
          <a:custGeom>
            <a:avLst/>
            <a:gdLst/>
            <a:ahLst/>
            <a:cxnLst/>
            <a:rect r="r" b="b" t="t" l="l"/>
            <a:pathLst>
              <a:path h="1390879" w="5197259">
                <a:moveTo>
                  <a:pt x="0" y="0"/>
                </a:moveTo>
                <a:lnTo>
                  <a:pt x="5197259" y="0"/>
                </a:lnTo>
                <a:lnTo>
                  <a:pt x="5197259" y="1390878"/>
                </a:lnTo>
                <a:lnTo>
                  <a:pt x="0" y="1390878"/>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grpSp>
        <p:nvGrpSpPr>
          <p:cNvPr name="Group 108" id="108"/>
          <p:cNvGrpSpPr/>
          <p:nvPr/>
        </p:nvGrpSpPr>
        <p:grpSpPr>
          <a:xfrm rot="0">
            <a:off x="13701417" y="1764630"/>
            <a:ext cx="29146" cy="678180"/>
            <a:chOff x="0" y="0"/>
            <a:chExt cx="38862" cy="904240"/>
          </a:xfrm>
        </p:grpSpPr>
        <p:sp>
          <p:nvSpPr>
            <p:cNvPr name="Freeform 109" id="109" descr="preencoded.png"/>
            <p:cNvSpPr/>
            <p:nvPr/>
          </p:nvSpPr>
          <p:spPr>
            <a:xfrm flipH="false" flipV="false" rot="0">
              <a:off x="0" y="0"/>
              <a:ext cx="38862" cy="904240"/>
            </a:xfrm>
            <a:custGeom>
              <a:avLst/>
              <a:gdLst/>
              <a:ahLst/>
              <a:cxnLst/>
              <a:rect r="r" b="b" t="t" l="l"/>
              <a:pathLst>
                <a:path h="904240" w="38862">
                  <a:moveTo>
                    <a:pt x="0" y="0"/>
                  </a:moveTo>
                  <a:lnTo>
                    <a:pt x="38862" y="0"/>
                  </a:lnTo>
                  <a:lnTo>
                    <a:pt x="38862" y="904240"/>
                  </a:lnTo>
                  <a:lnTo>
                    <a:pt x="0" y="904240"/>
                  </a:lnTo>
                  <a:lnTo>
                    <a:pt x="0" y="0"/>
                  </a:lnTo>
                  <a:close/>
                </a:path>
              </a:pathLst>
            </a:custGeom>
            <a:blipFill>
              <a:blip r:embed="rId35"/>
              <a:stretch>
                <a:fillRect l="-5392" t="0" r="-5392" b="0"/>
              </a:stretch>
            </a:blipFill>
          </p:spPr>
        </p:sp>
      </p:grpSp>
      <p:grpSp>
        <p:nvGrpSpPr>
          <p:cNvPr name="Group 110" id="110"/>
          <p:cNvGrpSpPr/>
          <p:nvPr/>
        </p:nvGrpSpPr>
        <p:grpSpPr>
          <a:xfrm rot="0">
            <a:off x="13869124" y="1972770"/>
            <a:ext cx="3733438" cy="432873"/>
            <a:chOff x="0" y="0"/>
            <a:chExt cx="4977917" cy="577164"/>
          </a:xfrm>
        </p:grpSpPr>
        <p:sp>
          <p:nvSpPr>
            <p:cNvPr name="Freeform 111" id="111"/>
            <p:cNvSpPr/>
            <p:nvPr/>
          </p:nvSpPr>
          <p:spPr>
            <a:xfrm flipH="false" flipV="false" rot="0">
              <a:off x="0" y="0"/>
              <a:ext cx="4977892" cy="577215"/>
            </a:xfrm>
            <a:custGeom>
              <a:avLst/>
              <a:gdLst/>
              <a:ahLst/>
              <a:cxnLst/>
              <a:rect r="r" b="b" t="t" l="l"/>
              <a:pathLst>
                <a:path h="577215" w="4977892">
                  <a:moveTo>
                    <a:pt x="0" y="0"/>
                  </a:moveTo>
                  <a:lnTo>
                    <a:pt x="4977892" y="0"/>
                  </a:lnTo>
                  <a:lnTo>
                    <a:pt x="4977892" y="577215"/>
                  </a:lnTo>
                  <a:lnTo>
                    <a:pt x="0" y="577215"/>
                  </a:lnTo>
                  <a:close/>
                </a:path>
              </a:pathLst>
            </a:custGeom>
            <a:blipFill>
              <a:blip r:embed="rId13">
                <a:alphaModFix amt="0"/>
              </a:blip>
              <a:stretch>
                <a:fillRect l="0" t="-117927" r="0" b="-117918"/>
              </a:stretch>
            </a:blipFill>
          </p:spPr>
        </p:sp>
      </p:grpSp>
      <p:grpSp>
        <p:nvGrpSpPr>
          <p:cNvPr name="Group 112" id="112"/>
          <p:cNvGrpSpPr/>
          <p:nvPr/>
        </p:nvGrpSpPr>
        <p:grpSpPr>
          <a:xfrm rot="0">
            <a:off x="13869124" y="1972770"/>
            <a:ext cx="3733438" cy="432883"/>
            <a:chOff x="0" y="0"/>
            <a:chExt cx="4977917" cy="577177"/>
          </a:xfrm>
        </p:grpSpPr>
        <p:sp>
          <p:nvSpPr>
            <p:cNvPr name="Freeform 113" id="113"/>
            <p:cNvSpPr/>
            <p:nvPr/>
          </p:nvSpPr>
          <p:spPr>
            <a:xfrm flipH="false" flipV="false" rot="0">
              <a:off x="0" y="0"/>
              <a:ext cx="4977917" cy="577172"/>
            </a:xfrm>
            <a:custGeom>
              <a:avLst/>
              <a:gdLst/>
              <a:ahLst/>
              <a:cxnLst/>
              <a:rect r="r" b="b" t="t" l="l"/>
              <a:pathLst>
                <a:path h="577172" w="4977917">
                  <a:moveTo>
                    <a:pt x="0" y="0"/>
                  </a:moveTo>
                  <a:lnTo>
                    <a:pt x="4977917" y="0"/>
                  </a:lnTo>
                  <a:lnTo>
                    <a:pt x="4977917" y="577172"/>
                  </a:lnTo>
                  <a:lnTo>
                    <a:pt x="0" y="577172"/>
                  </a:lnTo>
                  <a:close/>
                </a:path>
              </a:pathLst>
            </a:custGeom>
            <a:blipFill>
              <a:blip r:embed="rId14">
                <a:alphaModFix amt="0"/>
              </a:blip>
              <a:stretch>
                <a:fillRect l="0" t="-118051" r="0" b="-118052"/>
              </a:stretch>
            </a:blipFill>
          </p:spPr>
        </p:sp>
        <p:sp>
          <p:nvSpPr>
            <p:cNvPr name="TextBox 114" id="114"/>
            <p:cNvSpPr txBox="true"/>
            <p:nvPr/>
          </p:nvSpPr>
          <p:spPr>
            <a:xfrm>
              <a:off x="0" y="0"/>
              <a:ext cx="4977917" cy="577177"/>
            </a:xfrm>
            <a:prstGeom prst="rect">
              <a:avLst/>
            </a:prstGeom>
          </p:spPr>
          <p:txBody>
            <a:bodyPr anchor="ctr" rtlCol="false" tIns="0" lIns="0" bIns="0" rIns="0"/>
            <a:lstStyle/>
            <a:p>
              <a:pPr algn="l">
                <a:lnSpc>
                  <a:spcPts val="2327"/>
                </a:lnSpc>
              </a:pPr>
              <a:r>
                <a:rPr lang="en-US" sz="2000" b="true">
                  <a:solidFill>
                    <a:srgbClr val="494A49"/>
                  </a:solidFill>
                  <a:latin typeface="TT Commons Pro Bold"/>
                  <a:ea typeface="TT Commons Pro Bold"/>
                  <a:cs typeface="TT Commons Pro Bold"/>
                  <a:sym typeface="TT Commons Pro Bold"/>
                </a:rPr>
                <a:t>Dashboard &amp; Visual Analysis</a:t>
              </a:r>
            </a:p>
          </p:txBody>
        </p:sp>
      </p:grpSp>
      <p:grpSp>
        <p:nvGrpSpPr>
          <p:cNvPr name="Group 115" id="115"/>
          <p:cNvGrpSpPr/>
          <p:nvPr/>
        </p:nvGrpSpPr>
        <p:grpSpPr>
          <a:xfrm rot="0">
            <a:off x="12884725" y="1844840"/>
            <a:ext cx="590645" cy="820626"/>
            <a:chOff x="0" y="0"/>
            <a:chExt cx="787527" cy="1094168"/>
          </a:xfrm>
        </p:grpSpPr>
        <p:sp>
          <p:nvSpPr>
            <p:cNvPr name="Freeform 116" id="116"/>
            <p:cNvSpPr/>
            <p:nvPr/>
          </p:nvSpPr>
          <p:spPr>
            <a:xfrm flipH="false" flipV="false" rot="0">
              <a:off x="0" y="0"/>
              <a:ext cx="787527" cy="1094232"/>
            </a:xfrm>
            <a:custGeom>
              <a:avLst/>
              <a:gdLst/>
              <a:ahLst/>
              <a:cxnLst/>
              <a:rect r="r" b="b" t="t" l="l"/>
              <a:pathLst>
                <a:path h="1094232" w="787527">
                  <a:moveTo>
                    <a:pt x="0" y="0"/>
                  </a:moveTo>
                  <a:lnTo>
                    <a:pt x="787527" y="0"/>
                  </a:lnTo>
                  <a:lnTo>
                    <a:pt x="787527" y="1094232"/>
                  </a:lnTo>
                  <a:lnTo>
                    <a:pt x="0" y="1094232"/>
                  </a:lnTo>
                  <a:close/>
                </a:path>
              </a:pathLst>
            </a:custGeom>
            <a:blipFill>
              <a:blip r:embed="rId13">
                <a:alphaModFix amt="0"/>
              </a:blip>
              <a:stretch>
                <a:fillRect l="-128385" t="0" r="-128385" b="5"/>
              </a:stretch>
            </a:blipFill>
          </p:spPr>
        </p:sp>
      </p:grpSp>
      <p:grpSp>
        <p:nvGrpSpPr>
          <p:cNvPr name="Group 117" id="117"/>
          <p:cNvGrpSpPr/>
          <p:nvPr/>
        </p:nvGrpSpPr>
        <p:grpSpPr>
          <a:xfrm rot="0">
            <a:off x="12884725" y="1959140"/>
            <a:ext cx="590645" cy="706326"/>
            <a:chOff x="0" y="0"/>
            <a:chExt cx="787527" cy="941768"/>
          </a:xfrm>
        </p:grpSpPr>
        <p:sp>
          <p:nvSpPr>
            <p:cNvPr name="Freeform 118" id="118"/>
            <p:cNvSpPr/>
            <p:nvPr/>
          </p:nvSpPr>
          <p:spPr>
            <a:xfrm flipH="false" flipV="false" rot="0">
              <a:off x="0" y="0"/>
              <a:ext cx="787527" cy="941767"/>
            </a:xfrm>
            <a:custGeom>
              <a:avLst/>
              <a:gdLst/>
              <a:ahLst/>
              <a:cxnLst/>
              <a:rect r="r" b="b" t="t" l="l"/>
              <a:pathLst>
                <a:path h="941767" w="787527">
                  <a:moveTo>
                    <a:pt x="0" y="0"/>
                  </a:moveTo>
                  <a:lnTo>
                    <a:pt x="787527" y="0"/>
                  </a:lnTo>
                  <a:lnTo>
                    <a:pt x="787527" y="941767"/>
                  </a:lnTo>
                  <a:lnTo>
                    <a:pt x="0" y="941767"/>
                  </a:lnTo>
                  <a:close/>
                </a:path>
              </a:pathLst>
            </a:custGeom>
            <a:blipFill>
              <a:blip r:embed="rId14">
                <a:alphaModFix amt="0"/>
              </a:blip>
              <a:stretch>
                <a:fillRect l="-103432" t="0" r="-103432" b="0"/>
              </a:stretch>
            </a:blipFill>
          </p:spPr>
        </p:sp>
        <p:sp>
          <p:nvSpPr>
            <p:cNvPr name="TextBox 119" id="119"/>
            <p:cNvSpPr txBox="true"/>
            <p:nvPr/>
          </p:nvSpPr>
          <p:spPr>
            <a:xfrm>
              <a:off x="0" y="152400"/>
              <a:ext cx="787527" cy="789368"/>
            </a:xfrm>
            <a:prstGeom prst="rect">
              <a:avLst/>
            </a:prstGeom>
          </p:spPr>
          <p:txBody>
            <a:bodyPr anchor="ctr" rtlCol="false" tIns="0" lIns="0" bIns="0" rIns="0"/>
            <a:lstStyle/>
            <a:p>
              <a:pPr algn="l">
                <a:lnSpc>
                  <a:spcPts val="2928"/>
                </a:lnSpc>
              </a:pPr>
              <a:r>
                <a:rPr lang="en-US" sz="3789" b="true">
                  <a:solidFill>
                    <a:srgbClr val="C62431"/>
                  </a:solidFill>
                  <a:latin typeface="TT Commons Pro Bold"/>
                  <a:ea typeface="TT Commons Pro Bold"/>
                  <a:cs typeface="TT Commons Pro Bold"/>
                  <a:sym typeface="TT Commons Pro Bold"/>
                </a:rPr>
                <a:t>06</a:t>
              </a:r>
            </a:p>
          </p:txBody>
        </p:sp>
      </p:grpSp>
      <p:sp>
        <p:nvSpPr>
          <p:cNvPr name="Freeform 120" id="120"/>
          <p:cNvSpPr/>
          <p:nvPr/>
        </p:nvSpPr>
        <p:spPr>
          <a:xfrm flipH="false" flipV="false" rot="0">
            <a:off x="7192518" y="1388193"/>
            <a:ext cx="5142671" cy="1416491"/>
          </a:xfrm>
          <a:custGeom>
            <a:avLst/>
            <a:gdLst/>
            <a:ahLst/>
            <a:cxnLst/>
            <a:rect r="r" b="b" t="t" l="l"/>
            <a:pathLst>
              <a:path h="1416491" w="5142671">
                <a:moveTo>
                  <a:pt x="0" y="0"/>
                </a:moveTo>
                <a:lnTo>
                  <a:pt x="5142671" y="0"/>
                </a:lnTo>
                <a:lnTo>
                  <a:pt x="5142671" y="1416491"/>
                </a:lnTo>
                <a:lnTo>
                  <a:pt x="0" y="1416491"/>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grpSp>
        <p:nvGrpSpPr>
          <p:cNvPr name="Group 121" id="121"/>
          <p:cNvGrpSpPr/>
          <p:nvPr/>
        </p:nvGrpSpPr>
        <p:grpSpPr>
          <a:xfrm rot="0">
            <a:off x="8363769" y="1764630"/>
            <a:ext cx="21908" cy="678180"/>
            <a:chOff x="0" y="0"/>
            <a:chExt cx="29210" cy="904240"/>
          </a:xfrm>
        </p:grpSpPr>
        <p:sp>
          <p:nvSpPr>
            <p:cNvPr name="Freeform 122" id="122" descr="preencoded.png"/>
            <p:cNvSpPr/>
            <p:nvPr/>
          </p:nvSpPr>
          <p:spPr>
            <a:xfrm flipH="false" flipV="false" rot="0">
              <a:off x="0" y="0"/>
              <a:ext cx="29210" cy="904240"/>
            </a:xfrm>
            <a:custGeom>
              <a:avLst/>
              <a:gdLst/>
              <a:ahLst/>
              <a:cxnLst/>
              <a:rect r="r" b="b" t="t" l="l"/>
              <a:pathLst>
                <a:path h="904240" w="29210">
                  <a:moveTo>
                    <a:pt x="0" y="0"/>
                  </a:moveTo>
                  <a:lnTo>
                    <a:pt x="29210" y="0"/>
                  </a:lnTo>
                  <a:lnTo>
                    <a:pt x="29210" y="904240"/>
                  </a:lnTo>
                  <a:lnTo>
                    <a:pt x="0" y="904240"/>
                  </a:lnTo>
                  <a:lnTo>
                    <a:pt x="0" y="0"/>
                  </a:lnTo>
                  <a:close/>
                </a:path>
              </a:pathLst>
            </a:custGeom>
            <a:blipFill>
              <a:blip r:embed="rId38"/>
              <a:stretch>
                <a:fillRect l="-5260" t="0" r="-5304" b="0"/>
              </a:stretch>
            </a:blipFill>
          </p:spPr>
        </p:sp>
      </p:grpSp>
      <p:grpSp>
        <p:nvGrpSpPr>
          <p:cNvPr name="Group 123" id="123"/>
          <p:cNvGrpSpPr/>
          <p:nvPr/>
        </p:nvGrpSpPr>
        <p:grpSpPr>
          <a:xfrm rot="0">
            <a:off x="8640861" y="2000726"/>
            <a:ext cx="1706299" cy="425520"/>
            <a:chOff x="0" y="0"/>
            <a:chExt cx="2275065" cy="567360"/>
          </a:xfrm>
        </p:grpSpPr>
        <p:sp>
          <p:nvSpPr>
            <p:cNvPr name="Freeform 124" id="124"/>
            <p:cNvSpPr/>
            <p:nvPr/>
          </p:nvSpPr>
          <p:spPr>
            <a:xfrm flipH="false" flipV="false" rot="0">
              <a:off x="0" y="0"/>
              <a:ext cx="2275078" cy="567309"/>
            </a:xfrm>
            <a:custGeom>
              <a:avLst/>
              <a:gdLst/>
              <a:ahLst/>
              <a:cxnLst/>
              <a:rect r="r" b="b" t="t" l="l"/>
              <a:pathLst>
                <a:path h="567309" w="2275078">
                  <a:moveTo>
                    <a:pt x="0" y="0"/>
                  </a:moveTo>
                  <a:lnTo>
                    <a:pt x="2275078" y="0"/>
                  </a:lnTo>
                  <a:lnTo>
                    <a:pt x="2275078" y="567309"/>
                  </a:lnTo>
                  <a:lnTo>
                    <a:pt x="0" y="567309"/>
                  </a:lnTo>
                  <a:close/>
                </a:path>
              </a:pathLst>
            </a:custGeom>
            <a:blipFill>
              <a:blip r:embed="rId13">
                <a:alphaModFix amt="0"/>
              </a:blip>
              <a:stretch>
                <a:fillRect l="0" t="-28081" r="0" b="-28090"/>
              </a:stretch>
            </a:blipFill>
          </p:spPr>
        </p:sp>
      </p:grpSp>
      <p:grpSp>
        <p:nvGrpSpPr>
          <p:cNvPr name="Group 125" id="125"/>
          <p:cNvGrpSpPr/>
          <p:nvPr/>
        </p:nvGrpSpPr>
        <p:grpSpPr>
          <a:xfrm rot="0">
            <a:off x="8640861" y="2036445"/>
            <a:ext cx="1706299" cy="389792"/>
            <a:chOff x="0" y="0"/>
            <a:chExt cx="2275065" cy="519722"/>
          </a:xfrm>
        </p:grpSpPr>
        <p:sp>
          <p:nvSpPr>
            <p:cNvPr name="Freeform 126" id="126"/>
            <p:cNvSpPr/>
            <p:nvPr/>
          </p:nvSpPr>
          <p:spPr>
            <a:xfrm flipH="false" flipV="false" rot="0">
              <a:off x="0" y="0"/>
              <a:ext cx="2275065" cy="519728"/>
            </a:xfrm>
            <a:custGeom>
              <a:avLst/>
              <a:gdLst/>
              <a:ahLst/>
              <a:cxnLst/>
              <a:rect r="r" b="b" t="t" l="l"/>
              <a:pathLst>
                <a:path h="519728" w="2275065">
                  <a:moveTo>
                    <a:pt x="0" y="0"/>
                  </a:moveTo>
                  <a:lnTo>
                    <a:pt x="2275065" y="0"/>
                  </a:lnTo>
                  <a:lnTo>
                    <a:pt x="2275065" y="519728"/>
                  </a:lnTo>
                  <a:lnTo>
                    <a:pt x="0" y="519728"/>
                  </a:lnTo>
                  <a:close/>
                </a:path>
              </a:pathLst>
            </a:custGeom>
            <a:blipFill>
              <a:blip r:embed="rId14">
                <a:alphaModFix amt="0"/>
              </a:blip>
              <a:stretch>
                <a:fillRect l="0" t="-35294" r="0" b="-35293"/>
              </a:stretch>
            </a:blipFill>
          </p:spPr>
        </p:sp>
        <p:sp>
          <p:nvSpPr>
            <p:cNvPr name="TextBox 127" id="127"/>
            <p:cNvSpPr txBox="true"/>
            <p:nvPr/>
          </p:nvSpPr>
          <p:spPr>
            <a:xfrm>
              <a:off x="0" y="47625"/>
              <a:ext cx="2275065" cy="472097"/>
            </a:xfrm>
            <a:prstGeom prst="rect">
              <a:avLst/>
            </a:prstGeom>
          </p:spPr>
          <p:txBody>
            <a:bodyPr anchor="ctr" rtlCol="false" tIns="0" lIns="0" bIns="0" rIns="0"/>
            <a:lstStyle/>
            <a:p>
              <a:pPr algn="l">
                <a:lnSpc>
                  <a:spcPts val="1861"/>
                </a:lnSpc>
              </a:pPr>
              <a:r>
                <a:rPr lang="en-US" sz="2000" b="true">
                  <a:solidFill>
                    <a:srgbClr val="474747"/>
                  </a:solidFill>
                  <a:latin typeface="TT Commons Pro Bold"/>
                  <a:ea typeface="TT Commons Pro Bold"/>
                  <a:cs typeface="TT Commons Pro Bold"/>
                  <a:sym typeface="TT Commons Pro Bold"/>
                </a:rPr>
                <a:t>Introduction</a:t>
              </a:r>
            </a:p>
          </p:txBody>
        </p:sp>
      </p:grpSp>
      <p:grpSp>
        <p:nvGrpSpPr>
          <p:cNvPr name="Group 128" id="128"/>
          <p:cNvGrpSpPr/>
          <p:nvPr/>
        </p:nvGrpSpPr>
        <p:grpSpPr>
          <a:xfrm rot="0">
            <a:off x="7590834" y="1844840"/>
            <a:ext cx="539601" cy="799186"/>
            <a:chOff x="0" y="0"/>
            <a:chExt cx="719468" cy="1065581"/>
          </a:xfrm>
        </p:grpSpPr>
        <p:sp>
          <p:nvSpPr>
            <p:cNvPr name="Freeform 129" id="129"/>
            <p:cNvSpPr/>
            <p:nvPr/>
          </p:nvSpPr>
          <p:spPr>
            <a:xfrm flipH="false" flipV="false" rot="0">
              <a:off x="0" y="0"/>
              <a:ext cx="719455" cy="1065530"/>
            </a:xfrm>
            <a:custGeom>
              <a:avLst/>
              <a:gdLst/>
              <a:ahLst/>
              <a:cxnLst/>
              <a:rect r="r" b="b" t="t" l="l"/>
              <a:pathLst>
                <a:path h="1065530" w="719455">
                  <a:moveTo>
                    <a:pt x="0" y="0"/>
                  </a:moveTo>
                  <a:lnTo>
                    <a:pt x="719455" y="0"/>
                  </a:lnTo>
                  <a:lnTo>
                    <a:pt x="719455" y="1065530"/>
                  </a:lnTo>
                  <a:lnTo>
                    <a:pt x="0" y="1065530"/>
                  </a:lnTo>
                  <a:close/>
                </a:path>
              </a:pathLst>
            </a:custGeom>
            <a:blipFill>
              <a:blip r:embed="rId13">
                <a:alphaModFix amt="0"/>
              </a:blip>
              <a:stretch>
                <a:fillRect l="-140160" t="0" r="-140164" b="-4"/>
              </a:stretch>
            </a:blipFill>
          </p:spPr>
        </p:sp>
      </p:grpSp>
      <p:grpSp>
        <p:nvGrpSpPr>
          <p:cNvPr name="Group 130" id="130"/>
          <p:cNvGrpSpPr/>
          <p:nvPr/>
        </p:nvGrpSpPr>
        <p:grpSpPr>
          <a:xfrm rot="0">
            <a:off x="7590834" y="1980571"/>
            <a:ext cx="539601" cy="663454"/>
            <a:chOff x="0" y="0"/>
            <a:chExt cx="719468" cy="884606"/>
          </a:xfrm>
        </p:grpSpPr>
        <p:sp>
          <p:nvSpPr>
            <p:cNvPr name="Freeform 131" id="131"/>
            <p:cNvSpPr/>
            <p:nvPr/>
          </p:nvSpPr>
          <p:spPr>
            <a:xfrm flipH="false" flipV="false" rot="0">
              <a:off x="0" y="0"/>
              <a:ext cx="719468" cy="884602"/>
            </a:xfrm>
            <a:custGeom>
              <a:avLst/>
              <a:gdLst/>
              <a:ahLst/>
              <a:cxnLst/>
              <a:rect r="r" b="b" t="t" l="l"/>
              <a:pathLst>
                <a:path h="884602" w="719468">
                  <a:moveTo>
                    <a:pt x="0" y="0"/>
                  </a:moveTo>
                  <a:lnTo>
                    <a:pt x="719468" y="0"/>
                  </a:lnTo>
                  <a:lnTo>
                    <a:pt x="719468" y="884602"/>
                  </a:lnTo>
                  <a:lnTo>
                    <a:pt x="0" y="884602"/>
                  </a:lnTo>
                  <a:close/>
                </a:path>
              </a:pathLst>
            </a:custGeom>
            <a:blipFill>
              <a:blip r:embed="rId14">
                <a:alphaModFix amt="0"/>
              </a:blip>
              <a:stretch>
                <a:fillRect l="-107752" t="0" r="-107752" b="0"/>
              </a:stretch>
            </a:blipFill>
          </p:spPr>
        </p:sp>
        <p:sp>
          <p:nvSpPr>
            <p:cNvPr name="TextBox 132" id="132"/>
            <p:cNvSpPr txBox="true"/>
            <p:nvPr/>
          </p:nvSpPr>
          <p:spPr>
            <a:xfrm>
              <a:off x="0" y="180975"/>
              <a:ext cx="719468" cy="703631"/>
            </a:xfrm>
            <a:prstGeom prst="rect">
              <a:avLst/>
            </a:prstGeom>
          </p:spPr>
          <p:txBody>
            <a:bodyPr anchor="ctr" rtlCol="false" tIns="0" lIns="0" bIns="0" rIns="0"/>
            <a:lstStyle/>
            <a:p>
              <a:pPr algn="l">
                <a:lnSpc>
                  <a:spcPts val="2652"/>
                </a:lnSpc>
              </a:pPr>
              <a:r>
                <a:rPr lang="en-US" sz="3705" b="true">
                  <a:solidFill>
                    <a:srgbClr val="EB7424"/>
                  </a:solidFill>
                  <a:latin typeface="TT Commons Pro Bold"/>
                  <a:ea typeface="TT Commons Pro Bold"/>
                  <a:cs typeface="TT Commons Pro Bold"/>
                  <a:sym typeface="TT Commons Pro Bold"/>
                </a:rPr>
                <a:t>01</a:t>
              </a:r>
            </a:p>
          </p:txBody>
        </p:sp>
      </p:grpSp>
      <p:grpSp>
        <p:nvGrpSpPr>
          <p:cNvPr name="Group 133" id="133"/>
          <p:cNvGrpSpPr/>
          <p:nvPr/>
        </p:nvGrpSpPr>
        <p:grpSpPr>
          <a:xfrm rot="0">
            <a:off x="17405680" y="7296"/>
            <a:ext cx="313563" cy="583311"/>
            <a:chOff x="0" y="0"/>
            <a:chExt cx="418084" cy="777748"/>
          </a:xfrm>
        </p:grpSpPr>
        <p:sp>
          <p:nvSpPr>
            <p:cNvPr name="Freeform 134" id="134" descr="preencoded.png"/>
            <p:cNvSpPr/>
            <p:nvPr/>
          </p:nvSpPr>
          <p:spPr>
            <a:xfrm flipH="false" flipV="false" rot="0">
              <a:off x="0" y="0"/>
              <a:ext cx="418084" cy="777748"/>
            </a:xfrm>
            <a:custGeom>
              <a:avLst/>
              <a:gdLst/>
              <a:ahLst/>
              <a:cxnLst/>
              <a:rect r="r" b="b" t="t" l="l"/>
              <a:pathLst>
                <a:path h="777748" w="418084">
                  <a:moveTo>
                    <a:pt x="0" y="0"/>
                  </a:moveTo>
                  <a:lnTo>
                    <a:pt x="418084" y="0"/>
                  </a:lnTo>
                  <a:lnTo>
                    <a:pt x="418084" y="777748"/>
                  </a:lnTo>
                  <a:lnTo>
                    <a:pt x="0" y="777748"/>
                  </a:lnTo>
                  <a:lnTo>
                    <a:pt x="0" y="0"/>
                  </a:lnTo>
                  <a:close/>
                </a:path>
              </a:pathLst>
            </a:custGeom>
            <a:blipFill>
              <a:blip r:embed="rId39"/>
              <a:stretch>
                <a:fillRect l="0" t="-594" r="0" b="-592"/>
              </a:stretch>
            </a:blipFill>
          </p:spPr>
        </p:sp>
      </p:grpSp>
      <p:grpSp>
        <p:nvGrpSpPr>
          <p:cNvPr name="Group 135" id="135"/>
          <p:cNvGrpSpPr/>
          <p:nvPr/>
        </p:nvGrpSpPr>
        <p:grpSpPr>
          <a:xfrm rot="0">
            <a:off x="11906107" y="-8458"/>
            <a:ext cx="4087101" cy="1449838"/>
            <a:chOff x="0" y="0"/>
            <a:chExt cx="5449468" cy="1933118"/>
          </a:xfrm>
        </p:grpSpPr>
        <p:sp>
          <p:nvSpPr>
            <p:cNvPr name="Freeform 136" id="136"/>
            <p:cNvSpPr/>
            <p:nvPr/>
          </p:nvSpPr>
          <p:spPr>
            <a:xfrm flipH="false" flipV="false" rot="0">
              <a:off x="0" y="0"/>
              <a:ext cx="5449443" cy="1933067"/>
            </a:xfrm>
            <a:custGeom>
              <a:avLst/>
              <a:gdLst/>
              <a:ahLst/>
              <a:cxnLst/>
              <a:rect r="r" b="b" t="t" l="l"/>
              <a:pathLst>
                <a:path h="1933067" w="5449443">
                  <a:moveTo>
                    <a:pt x="0" y="0"/>
                  </a:moveTo>
                  <a:lnTo>
                    <a:pt x="5449443" y="0"/>
                  </a:lnTo>
                  <a:lnTo>
                    <a:pt x="5449443" y="1933067"/>
                  </a:lnTo>
                  <a:lnTo>
                    <a:pt x="0" y="1933067"/>
                  </a:lnTo>
                  <a:close/>
                </a:path>
              </a:pathLst>
            </a:custGeom>
            <a:blipFill>
              <a:blip r:embed="rId13">
                <a:alphaModFix amt="0"/>
              </a:blip>
              <a:stretch>
                <a:fillRect l="0" t="-4889" r="0" b="-4893"/>
              </a:stretch>
            </a:blipFill>
          </p:spPr>
        </p:sp>
      </p:grpSp>
      <p:grpSp>
        <p:nvGrpSpPr>
          <p:cNvPr name="Group 137" id="137"/>
          <p:cNvGrpSpPr/>
          <p:nvPr/>
        </p:nvGrpSpPr>
        <p:grpSpPr>
          <a:xfrm rot="0">
            <a:off x="11906107" y="141561"/>
            <a:ext cx="4087101" cy="1299829"/>
            <a:chOff x="0" y="0"/>
            <a:chExt cx="5449468" cy="1733106"/>
          </a:xfrm>
        </p:grpSpPr>
        <p:sp>
          <p:nvSpPr>
            <p:cNvPr name="Freeform 138" id="138"/>
            <p:cNvSpPr/>
            <p:nvPr/>
          </p:nvSpPr>
          <p:spPr>
            <a:xfrm flipH="false" flipV="false" rot="0">
              <a:off x="0" y="0"/>
              <a:ext cx="5449463" cy="1733104"/>
            </a:xfrm>
            <a:custGeom>
              <a:avLst/>
              <a:gdLst/>
              <a:ahLst/>
              <a:cxnLst/>
              <a:rect r="r" b="b" t="t" l="l"/>
              <a:pathLst>
                <a:path h="1733104" w="5449463">
                  <a:moveTo>
                    <a:pt x="0" y="0"/>
                  </a:moveTo>
                  <a:lnTo>
                    <a:pt x="5449463" y="0"/>
                  </a:lnTo>
                  <a:lnTo>
                    <a:pt x="5449463" y="1733104"/>
                  </a:lnTo>
                  <a:lnTo>
                    <a:pt x="0" y="1733104"/>
                  </a:lnTo>
                  <a:close/>
                </a:path>
              </a:pathLst>
            </a:custGeom>
            <a:blipFill>
              <a:blip r:embed="rId14">
                <a:alphaModFix amt="0"/>
              </a:blip>
              <a:stretch>
                <a:fillRect l="0" t="-11267" r="0" b="-11267"/>
              </a:stretch>
            </a:blipFill>
          </p:spPr>
        </p:sp>
        <p:sp>
          <p:nvSpPr>
            <p:cNvPr name="TextBox 139" id="139"/>
            <p:cNvSpPr txBox="true"/>
            <p:nvPr/>
          </p:nvSpPr>
          <p:spPr>
            <a:xfrm>
              <a:off x="0" y="200025"/>
              <a:ext cx="5449468" cy="1533081"/>
            </a:xfrm>
            <a:prstGeom prst="rect">
              <a:avLst/>
            </a:prstGeom>
          </p:spPr>
          <p:txBody>
            <a:bodyPr anchor="ctr" rtlCol="false" tIns="0" lIns="0" bIns="0" rIns="0"/>
            <a:lstStyle/>
            <a:p>
              <a:pPr algn="l">
                <a:lnSpc>
                  <a:spcPts val="5913"/>
                </a:lnSpc>
              </a:pPr>
              <a:r>
                <a:rPr lang="en-US" sz="6728" b="true">
                  <a:solidFill>
                    <a:srgbClr val="D32414"/>
                  </a:solidFill>
                  <a:latin typeface="TT Commons Pro Bold"/>
                  <a:ea typeface="TT Commons Pro Bold"/>
                  <a:cs typeface="TT Commons Pro Bold"/>
                  <a:sym typeface="TT Commons Pro Bold"/>
                </a:rPr>
                <a:t>Contents</a:t>
              </a:r>
            </a:p>
          </p:txBody>
        </p:sp>
      </p:grpSp>
      <p:grpSp>
        <p:nvGrpSpPr>
          <p:cNvPr name="Group 140" id="140"/>
          <p:cNvGrpSpPr/>
          <p:nvPr/>
        </p:nvGrpSpPr>
        <p:grpSpPr>
          <a:xfrm rot="0">
            <a:off x="8189547" y="-19564"/>
            <a:ext cx="4392559" cy="1461316"/>
            <a:chOff x="0" y="0"/>
            <a:chExt cx="5856745" cy="1948421"/>
          </a:xfrm>
        </p:grpSpPr>
        <p:sp>
          <p:nvSpPr>
            <p:cNvPr name="Freeform 141" id="141"/>
            <p:cNvSpPr/>
            <p:nvPr/>
          </p:nvSpPr>
          <p:spPr>
            <a:xfrm flipH="false" flipV="false" rot="0">
              <a:off x="0" y="0"/>
              <a:ext cx="5856732" cy="1948434"/>
            </a:xfrm>
            <a:custGeom>
              <a:avLst/>
              <a:gdLst/>
              <a:ahLst/>
              <a:cxnLst/>
              <a:rect r="r" b="b" t="t" l="l"/>
              <a:pathLst>
                <a:path h="1948434" w="5856732">
                  <a:moveTo>
                    <a:pt x="0" y="0"/>
                  </a:moveTo>
                  <a:lnTo>
                    <a:pt x="5856732" y="0"/>
                  </a:lnTo>
                  <a:lnTo>
                    <a:pt x="5856732" y="1948434"/>
                  </a:lnTo>
                  <a:lnTo>
                    <a:pt x="0" y="1948434"/>
                  </a:lnTo>
                  <a:close/>
                </a:path>
              </a:pathLst>
            </a:custGeom>
            <a:blipFill>
              <a:blip r:embed="rId13">
                <a:alphaModFix amt="0"/>
              </a:blip>
              <a:stretch>
                <a:fillRect l="0" t="-8528" r="0" b="-8528"/>
              </a:stretch>
            </a:blipFill>
          </p:spPr>
        </p:sp>
      </p:grpSp>
      <p:grpSp>
        <p:nvGrpSpPr>
          <p:cNvPr name="Group 142" id="142"/>
          <p:cNvGrpSpPr/>
          <p:nvPr/>
        </p:nvGrpSpPr>
        <p:grpSpPr>
          <a:xfrm rot="0">
            <a:off x="8189547" y="144742"/>
            <a:ext cx="4392568" cy="1297010"/>
            <a:chOff x="0" y="0"/>
            <a:chExt cx="5856757" cy="1729346"/>
          </a:xfrm>
        </p:grpSpPr>
        <p:sp>
          <p:nvSpPr>
            <p:cNvPr name="Freeform 143" id="143"/>
            <p:cNvSpPr/>
            <p:nvPr/>
          </p:nvSpPr>
          <p:spPr>
            <a:xfrm flipH="false" flipV="false" rot="0">
              <a:off x="0" y="0"/>
              <a:ext cx="5856752" cy="1729352"/>
            </a:xfrm>
            <a:custGeom>
              <a:avLst/>
              <a:gdLst/>
              <a:ahLst/>
              <a:cxnLst/>
              <a:rect r="r" b="b" t="t" l="l"/>
              <a:pathLst>
                <a:path h="1729352" w="5856752">
                  <a:moveTo>
                    <a:pt x="0" y="0"/>
                  </a:moveTo>
                  <a:lnTo>
                    <a:pt x="5856752" y="0"/>
                  </a:lnTo>
                  <a:lnTo>
                    <a:pt x="5856752" y="1729352"/>
                  </a:lnTo>
                  <a:lnTo>
                    <a:pt x="0" y="1729352"/>
                  </a:lnTo>
                  <a:close/>
                </a:path>
              </a:pathLst>
            </a:custGeom>
            <a:blipFill>
              <a:blip r:embed="rId14">
                <a:alphaModFix amt="0"/>
              </a:blip>
              <a:stretch>
                <a:fillRect l="0" t="-15989" r="0" b="-15989"/>
              </a:stretch>
            </a:blipFill>
          </p:spPr>
        </p:sp>
        <p:sp>
          <p:nvSpPr>
            <p:cNvPr name="TextBox 144" id="144"/>
            <p:cNvSpPr txBox="true"/>
            <p:nvPr/>
          </p:nvSpPr>
          <p:spPr>
            <a:xfrm>
              <a:off x="0" y="219075"/>
              <a:ext cx="5856757" cy="1510271"/>
            </a:xfrm>
            <a:prstGeom prst="rect">
              <a:avLst/>
            </a:prstGeom>
          </p:spPr>
          <p:txBody>
            <a:bodyPr anchor="ctr" rtlCol="false" tIns="0" lIns="0" bIns="0" rIns="0"/>
            <a:lstStyle/>
            <a:p>
              <a:pPr algn="l">
                <a:lnSpc>
                  <a:spcPts val="5748"/>
                </a:lnSpc>
              </a:pPr>
              <a:r>
                <a:rPr lang="en-US" sz="6773" b="true">
                  <a:solidFill>
                    <a:srgbClr val="EAEAEA"/>
                  </a:solidFill>
                  <a:latin typeface="TT Commons Pro Bold"/>
                  <a:ea typeface="TT Commons Pro Bold"/>
                  <a:cs typeface="TT Commons Pro Bold"/>
                  <a:sym typeface="TT Commons Pro Bold"/>
                </a:rPr>
                <a:t>Table of</a:t>
              </a:r>
            </a:p>
          </p:txBody>
        </p:sp>
      </p:grpSp>
      <p:grpSp>
        <p:nvGrpSpPr>
          <p:cNvPr name="Group 145" id="145"/>
          <p:cNvGrpSpPr/>
          <p:nvPr/>
        </p:nvGrpSpPr>
        <p:grpSpPr>
          <a:xfrm rot="0">
            <a:off x="0" y="0"/>
            <a:ext cx="6927247" cy="9887807"/>
            <a:chOff x="0" y="0"/>
            <a:chExt cx="9236329" cy="13183743"/>
          </a:xfrm>
        </p:grpSpPr>
        <p:sp>
          <p:nvSpPr>
            <p:cNvPr name="Freeform 146" id="146" descr="preencoded.png"/>
            <p:cNvSpPr/>
            <p:nvPr/>
          </p:nvSpPr>
          <p:spPr>
            <a:xfrm flipH="false" flipV="false" rot="0">
              <a:off x="0" y="0"/>
              <a:ext cx="9236329" cy="13183743"/>
            </a:xfrm>
            <a:custGeom>
              <a:avLst/>
              <a:gdLst/>
              <a:ahLst/>
              <a:cxnLst/>
              <a:rect r="r" b="b" t="t" l="l"/>
              <a:pathLst>
                <a:path h="13183743" w="9236329">
                  <a:moveTo>
                    <a:pt x="0" y="0"/>
                  </a:moveTo>
                  <a:lnTo>
                    <a:pt x="9236329" y="0"/>
                  </a:lnTo>
                  <a:lnTo>
                    <a:pt x="9236329" y="13183743"/>
                  </a:lnTo>
                  <a:lnTo>
                    <a:pt x="0" y="13183743"/>
                  </a:lnTo>
                  <a:lnTo>
                    <a:pt x="0" y="0"/>
                  </a:lnTo>
                  <a:close/>
                </a:path>
              </a:pathLst>
            </a:custGeom>
            <a:blipFill>
              <a:blip r:embed="rId40"/>
              <a:stretch>
                <a:fillRect l="0" t="-24" r="0" b="-24"/>
              </a:stretch>
            </a:blipFill>
          </p:spPr>
        </p:sp>
      </p:grpSp>
      <p:sp>
        <p:nvSpPr>
          <p:cNvPr name="Freeform 147" id="147"/>
          <p:cNvSpPr/>
          <p:nvPr/>
        </p:nvSpPr>
        <p:spPr>
          <a:xfrm flipH="false" flipV="false" rot="0">
            <a:off x="2769089" y="173184"/>
            <a:ext cx="1031796" cy="1031796"/>
          </a:xfrm>
          <a:custGeom>
            <a:avLst/>
            <a:gdLst/>
            <a:ahLst/>
            <a:cxnLst/>
            <a:rect r="r" b="b" t="t" l="l"/>
            <a:pathLst>
              <a:path h="1031796" w="1031796">
                <a:moveTo>
                  <a:pt x="0" y="0"/>
                </a:moveTo>
                <a:lnTo>
                  <a:pt x="1031796" y="0"/>
                </a:lnTo>
                <a:lnTo>
                  <a:pt x="1031796" y="1031795"/>
                </a:lnTo>
                <a:lnTo>
                  <a:pt x="0" y="1031795"/>
                </a:lnTo>
                <a:lnTo>
                  <a:pt x="0" y="0"/>
                </a:lnTo>
                <a:close/>
              </a:path>
            </a:pathLst>
          </a:custGeom>
          <a:blipFill>
            <a:blip r:embed="rId41">
              <a:extLst>
                <a:ext uri="{96DAC541-7B7A-43D3-8B79-37D633B846F1}">
                  <asvg:svgBlip xmlns:asvg="http://schemas.microsoft.com/office/drawing/2016/SVG/main" r:embed="rId42"/>
                </a:ext>
              </a:extLst>
            </a:blip>
            <a:stretch>
              <a:fillRect l="0" t="0" r="0" b="0"/>
            </a:stretch>
          </a:blipFill>
        </p:spPr>
      </p:sp>
      <p:grpSp>
        <p:nvGrpSpPr>
          <p:cNvPr name="Group 148" id="148"/>
          <p:cNvGrpSpPr/>
          <p:nvPr/>
        </p:nvGrpSpPr>
        <p:grpSpPr>
          <a:xfrm rot="0">
            <a:off x="3004252" y="473974"/>
            <a:ext cx="590645" cy="726310"/>
            <a:chOff x="0" y="0"/>
            <a:chExt cx="787527" cy="968413"/>
          </a:xfrm>
        </p:grpSpPr>
        <p:sp>
          <p:nvSpPr>
            <p:cNvPr name="Freeform 149" id="149"/>
            <p:cNvSpPr/>
            <p:nvPr/>
          </p:nvSpPr>
          <p:spPr>
            <a:xfrm flipH="false" flipV="false" rot="0">
              <a:off x="0" y="0"/>
              <a:ext cx="787527" cy="968375"/>
            </a:xfrm>
            <a:custGeom>
              <a:avLst/>
              <a:gdLst/>
              <a:ahLst/>
              <a:cxnLst/>
              <a:rect r="r" b="b" t="t" l="l"/>
              <a:pathLst>
                <a:path h="968375" w="787527">
                  <a:moveTo>
                    <a:pt x="0" y="0"/>
                  </a:moveTo>
                  <a:lnTo>
                    <a:pt x="787527" y="0"/>
                  </a:lnTo>
                  <a:lnTo>
                    <a:pt x="787527" y="968375"/>
                  </a:lnTo>
                  <a:lnTo>
                    <a:pt x="0" y="968375"/>
                  </a:lnTo>
                  <a:close/>
                </a:path>
              </a:pathLst>
            </a:custGeom>
            <a:blipFill>
              <a:blip r:embed="rId13">
                <a:alphaModFix amt="0"/>
              </a:blip>
              <a:stretch>
                <a:fillRect l="-107882" t="0" r="-107882" b="-3"/>
              </a:stretch>
            </a:blipFill>
          </p:spPr>
        </p:sp>
      </p:grpSp>
      <p:grpSp>
        <p:nvGrpSpPr>
          <p:cNvPr name="Group 150" id="150"/>
          <p:cNvGrpSpPr/>
          <p:nvPr/>
        </p:nvGrpSpPr>
        <p:grpSpPr>
          <a:xfrm rot="0">
            <a:off x="3004252" y="581130"/>
            <a:ext cx="590645" cy="619154"/>
            <a:chOff x="0" y="0"/>
            <a:chExt cx="787527" cy="825538"/>
          </a:xfrm>
        </p:grpSpPr>
        <p:sp>
          <p:nvSpPr>
            <p:cNvPr name="Freeform 151" id="151"/>
            <p:cNvSpPr/>
            <p:nvPr/>
          </p:nvSpPr>
          <p:spPr>
            <a:xfrm flipH="false" flipV="false" rot="0">
              <a:off x="0" y="0"/>
              <a:ext cx="787527" cy="825533"/>
            </a:xfrm>
            <a:custGeom>
              <a:avLst/>
              <a:gdLst/>
              <a:ahLst/>
              <a:cxnLst/>
              <a:rect r="r" b="b" t="t" l="l"/>
              <a:pathLst>
                <a:path h="825533" w="787527">
                  <a:moveTo>
                    <a:pt x="0" y="0"/>
                  </a:moveTo>
                  <a:lnTo>
                    <a:pt x="787527" y="0"/>
                  </a:lnTo>
                  <a:lnTo>
                    <a:pt x="787527" y="825533"/>
                  </a:lnTo>
                  <a:lnTo>
                    <a:pt x="0" y="825533"/>
                  </a:lnTo>
                  <a:close/>
                </a:path>
              </a:pathLst>
            </a:custGeom>
            <a:blipFill>
              <a:blip r:embed="rId14">
                <a:alphaModFix amt="0"/>
              </a:blip>
              <a:stretch>
                <a:fillRect l="-84496" t="0" r="-84496" b="0"/>
              </a:stretch>
            </a:blipFill>
          </p:spPr>
        </p:sp>
        <p:sp>
          <p:nvSpPr>
            <p:cNvPr name="TextBox 152" id="152"/>
            <p:cNvSpPr txBox="true"/>
            <p:nvPr/>
          </p:nvSpPr>
          <p:spPr>
            <a:xfrm>
              <a:off x="0" y="142875"/>
              <a:ext cx="787527" cy="682663"/>
            </a:xfrm>
            <a:prstGeom prst="rect">
              <a:avLst/>
            </a:prstGeom>
          </p:spPr>
          <p:txBody>
            <a:bodyPr anchor="ctr" rtlCol="false" tIns="0" lIns="0" bIns="0" rIns="0"/>
            <a:lstStyle/>
            <a:p>
              <a:pPr algn="l">
                <a:lnSpc>
                  <a:spcPts val="2524"/>
                </a:lnSpc>
              </a:pPr>
              <a:r>
                <a:rPr lang="en-US" sz="3381" b="true">
                  <a:solidFill>
                    <a:srgbClr val="D3CDCB"/>
                  </a:solidFill>
                  <a:latin typeface="TT Commons Pro Bold"/>
                  <a:ea typeface="TT Commons Pro Bold"/>
                  <a:cs typeface="TT Commons Pro Bold"/>
                  <a:sym typeface="TT Commons Pro Bold"/>
                </a:rPr>
                <a:t>VS</a:t>
              </a:r>
            </a:p>
          </p:txBody>
        </p:sp>
      </p:grpSp>
      <p:grpSp>
        <p:nvGrpSpPr>
          <p:cNvPr name="Group 153" id="153"/>
          <p:cNvGrpSpPr/>
          <p:nvPr/>
        </p:nvGrpSpPr>
        <p:grpSpPr>
          <a:xfrm rot="0">
            <a:off x="36462" y="1458373"/>
            <a:ext cx="6927247" cy="5570982"/>
            <a:chOff x="0" y="0"/>
            <a:chExt cx="9236329" cy="7427976"/>
          </a:xfrm>
        </p:grpSpPr>
        <p:sp>
          <p:nvSpPr>
            <p:cNvPr name="Freeform 154" id="154" descr="preencoded.png"/>
            <p:cNvSpPr/>
            <p:nvPr/>
          </p:nvSpPr>
          <p:spPr>
            <a:xfrm flipH="false" flipV="false" rot="0">
              <a:off x="0" y="0"/>
              <a:ext cx="9236329" cy="7427976"/>
            </a:xfrm>
            <a:custGeom>
              <a:avLst/>
              <a:gdLst/>
              <a:ahLst/>
              <a:cxnLst/>
              <a:rect r="r" b="b" t="t" l="l"/>
              <a:pathLst>
                <a:path h="7427976" w="9236329">
                  <a:moveTo>
                    <a:pt x="0" y="0"/>
                  </a:moveTo>
                  <a:lnTo>
                    <a:pt x="9236329" y="0"/>
                  </a:lnTo>
                  <a:lnTo>
                    <a:pt x="9236329" y="7427976"/>
                  </a:lnTo>
                  <a:lnTo>
                    <a:pt x="0" y="7427976"/>
                  </a:lnTo>
                  <a:lnTo>
                    <a:pt x="0" y="0"/>
                  </a:lnTo>
                  <a:close/>
                </a:path>
              </a:pathLst>
            </a:custGeom>
            <a:blipFill>
              <a:blip r:embed="rId43"/>
              <a:stretch>
                <a:fillRect l="0" t="-28" r="0" b="-28"/>
              </a:stretch>
            </a:blipFill>
          </p:spPr>
        </p:sp>
      </p:grpSp>
      <p:grpSp>
        <p:nvGrpSpPr>
          <p:cNvPr name="Group 155" id="155"/>
          <p:cNvGrpSpPr/>
          <p:nvPr/>
        </p:nvGrpSpPr>
        <p:grpSpPr>
          <a:xfrm rot="0">
            <a:off x="87506" y="6992903"/>
            <a:ext cx="6810566" cy="2938653"/>
            <a:chOff x="0" y="0"/>
            <a:chExt cx="9080754" cy="3918204"/>
          </a:xfrm>
        </p:grpSpPr>
        <p:sp>
          <p:nvSpPr>
            <p:cNvPr name="Freeform 156" id="156" descr="preencoded.png"/>
            <p:cNvSpPr/>
            <p:nvPr/>
          </p:nvSpPr>
          <p:spPr>
            <a:xfrm flipH="false" flipV="false" rot="0">
              <a:off x="0" y="0"/>
              <a:ext cx="9080754" cy="3918204"/>
            </a:xfrm>
            <a:custGeom>
              <a:avLst/>
              <a:gdLst/>
              <a:ahLst/>
              <a:cxnLst/>
              <a:rect r="r" b="b" t="t" l="l"/>
              <a:pathLst>
                <a:path h="3918204" w="9080754">
                  <a:moveTo>
                    <a:pt x="0" y="0"/>
                  </a:moveTo>
                  <a:lnTo>
                    <a:pt x="9080754" y="0"/>
                  </a:lnTo>
                  <a:lnTo>
                    <a:pt x="9080754" y="3918204"/>
                  </a:lnTo>
                  <a:lnTo>
                    <a:pt x="0" y="3918204"/>
                  </a:lnTo>
                  <a:lnTo>
                    <a:pt x="0" y="0"/>
                  </a:lnTo>
                  <a:close/>
                </a:path>
              </a:pathLst>
            </a:custGeom>
            <a:blipFill>
              <a:blip r:embed="rId44"/>
              <a:stretch>
                <a:fillRect l="0" t="-16" r="0" b="-16"/>
              </a:stretch>
            </a:blipFill>
          </p:spPr>
        </p:sp>
      </p:grpSp>
      <p:grpSp>
        <p:nvGrpSpPr>
          <p:cNvPr name="Group 157" id="157"/>
          <p:cNvGrpSpPr/>
          <p:nvPr/>
        </p:nvGrpSpPr>
        <p:grpSpPr>
          <a:xfrm rot="0">
            <a:off x="6059538" y="8203349"/>
            <a:ext cx="590645" cy="481298"/>
            <a:chOff x="0" y="0"/>
            <a:chExt cx="787527" cy="641731"/>
          </a:xfrm>
        </p:grpSpPr>
        <p:sp>
          <p:nvSpPr>
            <p:cNvPr name="Freeform 158" id="158" descr="preencoded.png"/>
            <p:cNvSpPr/>
            <p:nvPr/>
          </p:nvSpPr>
          <p:spPr>
            <a:xfrm flipH="false" flipV="false" rot="0">
              <a:off x="0" y="0"/>
              <a:ext cx="787527" cy="641731"/>
            </a:xfrm>
            <a:custGeom>
              <a:avLst/>
              <a:gdLst/>
              <a:ahLst/>
              <a:cxnLst/>
              <a:rect r="r" b="b" t="t" l="l"/>
              <a:pathLst>
                <a:path h="641731" w="787527">
                  <a:moveTo>
                    <a:pt x="0" y="0"/>
                  </a:moveTo>
                  <a:lnTo>
                    <a:pt x="787527" y="0"/>
                  </a:lnTo>
                  <a:lnTo>
                    <a:pt x="787527" y="641731"/>
                  </a:lnTo>
                  <a:lnTo>
                    <a:pt x="0" y="641731"/>
                  </a:lnTo>
                  <a:lnTo>
                    <a:pt x="0" y="0"/>
                  </a:lnTo>
                  <a:close/>
                </a:path>
              </a:pathLst>
            </a:custGeom>
            <a:blipFill>
              <a:blip r:embed="rId45"/>
              <a:stretch>
                <a:fillRect l="-27" t="0" r="-25" b="0"/>
              </a:stretch>
            </a:blipFill>
          </p:spPr>
        </p:sp>
      </p:grpSp>
      <p:grpSp>
        <p:nvGrpSpPr>
          <p:cNvPr name="Group 159" id="159"/>
          <p:cNvGrpSpPr/>
          <p:nvPr/>
        </p:nvGrpSpPr>
        <p:grpSpPr>
          <a:xfrm rot="0">
            <a:off x="6183506" y="7510624"/>
            <a:ext cx="488537" cy="364617"/>
            <a:chOff x="0" y="0"/>
            <a:chExt cx="651383" cy="486156"/>
          </a:xfrm>
        </p:grpSpPr>
        <p:sp>
          <p:nvSpPr>
            <p:cNvPr name="Freeform 160" id="160" descr="preencoded.png"/>
            <p:cNvSpPr/>
            <p:nvPr/>
          </p:nvSpPr>
          <p:spPr>
            <a:xfrm flipH="false" flipV="false" rot="0">
              <a:off x="0" y="0"/>
              <a:ext cx="651383" cy="486156"/>
            </a:xfrm>
            <a:custGeom>
              <a:avLst/>
              <a:gdLst/>
              <a:ahLst/>
              <a:cxnLst/>
              <a:rect r="r" b="b" t="t" l="l"/>
              <a:pathLst>
                <a:path h="486156" w="651383">
                  <a:moveTo>
                    <a:pt x="0" y="0"/>
                  </a:moveTo>
                  <a:lnTo>
                    <a:pt x="651383" y="0"/>
                  </a:lnTo>
                  <a:lnTo>
                    <a:pt x="651383" y="486156"/>
                  </a:lnTo>
                  <a:lnTo>
                    <a:pt x="0" y="486156"/>
                  </a:lnTo>
                  <a:lnTo>
                    <a:pt x="0" y="0"/>
                  </a:lnTo>
                  <a:close/>
                </a:path>
              </a:pathLst>
            </a:custGeom>
            <a:blipFill>
              <a:blip r:embed="rId46"/>
              <a:stretch>
                <a:fillRect l="-378" t="0" r="-378" b="0"/>
              </a:stretch>
            </a:blipFill>
          </p:spPr>
        </p:sp>
      </p:grpSp>
      <p:grpSp>
        <p:nvGrpSpPr>
          <p:cNvPr name="Group 161" id="161"/>
          <p:cNvGrpSpPr/>
          <p:nvPr/>
        </p:nvGrpSpPr>
        <p:grpSpPr>
          <a:xfrm rot="0">
            <a:off x="5089722" y="7240819"/>
            <a:ext cx="860393" cy="729234"/>
            <a:chOff x="0" y="0"/>
            <a:chExt cx="1147191" cy="972312"/>
          </a:xfrm>
        </p:grpSpPr>
        <p:sp>
          <p:nvSpPr>
            <p:cNvPr name="Freeform 162" id="162" descr="preencoded.png"/>
            <p:cNvSpPr/>
            <p:nvPr/>
          </p:nvSpPr>
          <p:spPr>
            <a:xfrm flipH="false" flipV="false" rot="0">
              <a:off x="0" y="0"/>
              <a:ext cx="1147191" cy="972312"/>
            </a:xfrm>
            <a:custGeom>
              <a:avLst/>
              <a:gdLst/>
              <a:ahLst/>
              <a:cxnLst/>
              <a:rect r="r" b="b" t="t" l="l"/>
              <a:pathLst>
                <a:path h="972312" w="1147191">
                  <a:moveTo>
                    <a:pt x="0" y="0"/>
                  </a:moveTo>
                  <a:lnTo>
                    <a:pt x="1147191" y="0"/>
                  </a:lnTo>
                  <a:lnTo>
                    <a:pt x="1147191" y="972312"/>
                  </a:lnTo>
                  <a:lnTo>
                    <a:pt x="0" y="972312"/>
                  </a:lnTo>
                  <a:lnTo>
                    <a:pt x="0" y="0"/>
                  </a:lnTo>
                  <a:close/>
                </a:path>
              </a:pathLst>
            </a:custGeom>
            <a:blipFill>
              <a:blip r:embed="rId47"/>
              <a:stretch>
                <a:fillRect l="-383" t="0" r="-381" b="0"/>
              </a:stretch>
            </a:blipFill>
          </p:spPr>
        </p:sp>
      </p:grpSp>
      <p:grpSp>
        <p:nvGrpSpPr>
          <p:cNvPr name="Group 163" id="163"/>
          <p:cNvGrpSpPr/>
          <p:nvPr/>
        </p:nvGrpSpPr>
        <p:grpSpPr>
          <a:xfrm rot="0">
            <a:off x="2340693" y="7277281"/>
            <a:ext cx="634365" cy="634365"/>
            <a:chOff x="0" y="0"/>
            <a:chExt cx="845820" cy="845820"/>
          </a:xfrm>
        </p:grpSpPr>
        <p:sp>
          <p:nvSpPr>
            <p:cNvPr name="Freeform 164" id="164" descr="preencoded.png"/>
            <p:cNvSpPr/>
            <p:nvPr/>
          </p:nvSpPr>
          <p:spPr>
            <a:xfrm flipH="false" flipV="false" rot="0">
              <a:off x="0" y="0"/>
              <a:ext cx="845820" cy="845820"/>
            </a:xfrm>
            <a:custGeom>
              <a:avLst/>
              <a:gdLst/>
              <a:ahLst/>
              <a:cxnLst/>
              <a:rect r="r" b="b" t="t" l="l"/>
              <a:pathLst>
                <a:path h="845820" w="845820">
                  <a:moveTo>
                    <a:pt x="0" y="0"/>
                  </a:moveTo>
                  <a:lnTo>
                    <a:pt x="845820" y="0"/>
                  </a:lnTo>
                  <a:lnTo>
                    <a:pt x="845820" y="845820"/>
                  </a:lnTo>
                  <a:lnTo>
                    <a:pt x="0" y="845820"/>
                  </a:lnTo>
                  <a:lnTo>
                    <a:pt x="0" y="0"/>
                  </a:lnTo>
                  <a:close/>
                </a:path>
              </a:pathLst>
            </a:custGeom>
            <a:blipFill>
              <a:blip r:embed="rId48"/>
              <a:stretch>
                <a:fillRect l="0" t="0" r="0" b="0"/>
              </a:stretch>
            </a:blipFill>
          </p:spPr>
        </p:sp>
      </p:grpSp>
      <p:grpSp>
        <p:nvGrpSpPr>
          <p:cNvPr name="Group 165" id="165"/>
          <p:cNvGrpSpPr/>
          <p:nvPr/>
        </p:nvGrpSpPr>
        <p:grpSpPr>
          <a:xfrm rot="0">
            <a:off x="1225029" y="7218950"/>
            <a:ext cx="517684" cy="525018"/>
            <a:chOff x="0" y="0"/>
            <a:chExt cx="690245" cy="700024"/>
          </a:xfrm>
        </p:grpSpPr>
        <p:sp>
          <p:nvSpPr>
            <p:cNvPr name="Freeform 166" id="166" descr="preencoded.png"/>
            <p:cNvSpPr/>
            <p:nvPr/>
          </p:nvSpPr>
          <p:spPr>
            <a:xfrm flipH="false" flipV="false" rot="0">
              <a:off x="0" y="0"/>
              <a:ext cx="690245" cy="700024"/>
            </a:xfrm>
            <a:custGeom>
              <a:avLst/>
              <a:gdLst/>
              <a:ahLst/>
              <a:cxnLst/>
              <a:rect r="r" b="b" t="t" l="l"/>
              <a:pathLst>
                <a:path h="700024" w="690245">
                  <a:moveTo>
                    <a:pt x="0" y="0"/>
                  </a:moveTo>
                  <a:lnTo>
                    <a:pt x="690245" y="0"/>
                  </a:lnTo>
                  <a:lnTo>
                    <a:pt x="690245" y="700024"/>
                  </a:lnTo>
                  <a:lnTo>
                    <a:pt x="0" y="700024"/>
                  </a:lnTo>
                  <a:lnTo>
                    <a:pt x="0" y="0"/>
                  </a:lnTo>
                  <a:close/>
                </a:path>
              </a:pathLst>
            </a:custGeom>
            <a:blipFill>
              <a:blip r:embed="rId49"/>
              <a:stretch>
                <a:fillRect l="-112" t="0" r="-112" b="0"/>
              </a:stretch>
            </a:blipFill>
          </p:spPr>
        </p:sp>
      </p:grpSp>
      <p:grpSp>
        <p:nvGrpSpPr>
          <p:cNvPr name="Group 167" id="167"/>
          <p:cNvGrpSpPr/>
          <p:nvPr/>
        </p:nvGrpSpPr>
        <p:grpSpPr>
          <a:xfrm rot="0">
            <a:off x="2172976" y="1458373"/>
            <a:ext cx="4805362" cy="5461635"/>
            <a:chOff x="0" y="0"/>
            <a:chExt cx="6407150" cy="7282180"/>
          </a:xfrm>
        </p:grpSpPr>
        <p:sp>
          <p:nvSpPr>
            <p:cNvPr name="Freeform 168" id="168" descr="preencoded.png"/>
            <p:cNvSpPr/>
            <p:nvPr/>
          </p:nvSpPr>
          <p:spPr>
            <a:xfrm flipH="false" flipV="false" rot="0">
              <a:off x="0" y="0"/>
              <a:ext cx="6407150" cy="7282180"/>
            </a:xfrm>
            <a:custGeom>
              <a:avLst/>
              <a:gdLst/>
              <a:ahLst/>
              <a:cxnLst/>
              <a:rect r="r" b="b" t="t" l="l"/>
              <a:pathLst>
                <a:path h="7282180" w="6407150">
                  <a:moveTo>
                    <a:pt x="0" y="0"/>
                  </a:moveTo>
                  <a:lnTo>
                    <a:pt x="6407150" y="0"/>
                  </a:lnTo>
                  <a:lnTo>
                    <a:pt x="6407150" y="7282180"/>
                  </a:lnTo>
                  <a:lnTo>
                    <a:pt x="0" y="7282180"/>
                  </a:lnTo>
                  <a:lnTo>
                    <a:pt x="0" y="0"/>
                  </a:lnTo>
                  <a:close/>
                </a:path>
              </a:pathLst>
            </a:custGeom>
            <a:blipFill>
              <a:blip r:embed="rId50"/>
              <a:stretch>
                <a:fillRect l="-9" t="0" r="-9" b="0"/>
              </a:stretch>
            </a:blipFill>
          </p:spPr>
        </p:sp>
      </p:grpSp>
      <p:grpSp>
        <p:nvGrpSpPr>
          <p:cNvPr name="Group 169" id="169"/>
          <p:cNvGrpSpPr/>
          <p:nvPr/>
        </p:nvGrpSpPr>
        <p:grpSpPr>
          <a:xfrm rot="0">
            <a:off x="5767864" y="5592861"/>
            <a:ext cx="1020890" cy="1283398"/>
            <a:chOff x="0" y="0"/>
            <a:chExt cx="1361186" cy="1711198"/>
          </a:xfrm>
        </p:grpSpPr>
        <p:sp>
          <p:nvSpPr>
            <p:cNvPr name="Freeform 170" id="170" descr="preencoded.png"/>
            <p:cNvSpPr/>
            <p:nvPr/>
          </p:nvSpPr>
          <p:spPr>
            <a:xfrm flipH="false" flipV="false" rot="0">
              <a:off x="0" y="0"/>
              <a:ext cx="1361186" cy="1711198"/>
            </a:xfrm>
            <a:custGeom>
              <a:avLst/>
              <a:gdLst/>
              <a:ahLst/>
              <a:cxnLst/>
              <a:rect r="r" b="b" t="t" l="l"/>
              <a:pathLst>
                <a:path h="1711198" w="1361186">
                  <a:moveTo>
                    <a:pt x="0" y="0"/>
                  </a:moveTo>
                  <a:lnTo>
                    <a:pt x="1361186" y="0"/>
                  </a:lnTo>
                  <a:lnTo>
                    <a:pt x="1361186" y="1711198"/>
                  </a:lnTo>
                  <a:lnTo>
                    <a:pt x="0" y="1711198"/>
                  </a:lnTo>
                  <a:lnTo>
                    <a:pt x="0" y="0"/>
                  </a:lnTo>
                  <a:close/>
                </a:path>
              </a:pathLst>
            </a:custGeom>
            <a:blipFill>
              <a:blip r:embed="rId51"/>
              <a:stretch>
                <a:fillRect l="0" t="-189" r="0" b="-189"/>
              </a:stretch>
            </a:blipFill>
          </p:spPr>
        </p:sp>
      </p:grpSp>
      <p:grpSp>
        <p:nvGrpSpPr>
          <p:cNvPr name="Group 171" id="171"/>
          <p:cNvGrpSpPr/>
          <p:nvPr/>
        </p:nvGrpSpPr>
        <p:grpSpPr>
          <a:xfrm rot="0">
            <a:off x="5811622" y="6066834"/>
            <a:ext cx="1086517" cy="802100"/>
            <a:chOff x="0" y="0"/>
            <a:chExt cx="1448689" cy="1069467"/>
          </a:xfrm>
        </p:grpSpPr>
        <p:sp>
          <p:nvSpPr>
            <p:cNvPr name="Freeform 172" id="172" descr="preencoded.png"/>
            <p:cNvSpPr/>
            <p:nvPr/>
          </p:nvSpPr>
          <p:spPr>
            <a:xfrm flipH="false" flipV="false" rot="0">
              <a:off x="0" y="0"/>
              <a:ext cx="1448689" cy="1069467"/>
            </a:xfrm>
            <a:custGeom>
              <a:avLst/>
              <a:gdLst/>
              <a:ahLst/>
              <a:cxnLst/>
              <a:rect r="r" b="b" t="t" l="l"/>
              <a:pathLst>
                <a:path h="1069467" w="1448689">
                  <a:moveTo>
                    <a:pt x="0" y="0"/>
                  </a:moveTo>
                  <a:lnTo>
                    <a:pt x="1448689" y="0"/>
                  </a:lnTo>
                  <a:lnTo>
                    <a:pt x="1448689" y="1069467"/>
                  </a:lnTo>
                  <a:lnTo>
                    <a:pt x="0" y="1069467"/>
                  </a:lnTo>
                  <a:lnTo>
                    <a:pt x="0" y="0"/>
                  </a:lnTo>
                  <a:close/>
                </a:path>
              </a:pathLst>
            </a:custGeom>
            <a:blipFill>
              <a:blip r:embed="rId52"/>
              <a:stretch>
                <a:fillRect l="-334" t="0" r="-334" b="0"/>
              </a:stretch>
            </a:blipFill>
          </p:spPr>
        </p:sp>
      </p:grpSp>
      <p:grpSp>
        <p:nvGrpSpPr>
          <p:cNvPr name="Group 173" id="173"/>
          <p:cNvGrpSpPr/>
          <p:nvPr/>
        </p:nvGrpSpPr>
        <p:grpSpPr>
          <a:xfrm rot="0">
            <a:off x="3675097" y="4258447"/>
            <a:ext cx="984409" cy="809434"/>
            <a:chOff x="0" y="0"/>
            <a:chExt cx="1312545" cy="1079246"/>
          </a:xfrm>
        </p:grpSpPr>
        <p:sp>
          <p:nvSpPr>
            <p:cNvPr name="Freeform 174" id="174" descr="preencoded.png"/>
            <p:cNvSpPr/>
            <p:nvPr/>
          </p:nvSpPr>
          <p:spPr>
            <a:xfrm flipH="false" flipV="false" rot="0">
              <a:off x="0" y="0"/>
              <a:ext cx="1312545" cy="1079246"/>
            </a:xfrm>
            <a:custGeom>
              <a:avLst/>
              <a:gdLst/>
              <a:ahLst/>
              <a:cxnLst/>
              <a:rect r="r" b="b" t="t" l="l"/>
              <a:pathLst>
                <a:path h="1079246" w="1312545">
                  <a:moveTo>
                    <a:pt x="0" y="0"/>
                  </a:moveTo>
                  <a:lnTo>
                    <a:pt x="1312545" y="0"/>
                  </a:lnTo>
                  <a:lnTo>
                    <a:pt x="1312545" y="1079246"/>
                  </a:lnTo>
                  <a:lnTo>
                    <a:pt x="0" y="1079246"/>
                  </a:lnTo>
                  <a:lnTo>
                    <a:pt x="0" y="0"/>
                  </a:lnTo>
                  <a:close/>
                </a:path>
              </a:pathLst>
            </a:custGeom>
            <a:blipFill>
              <a:blip r:embed="rId53"/>
              <a:stretch>
                <a:fillRect l="-157" t="0" r="-157" b="0"/>
              </a:stretch>
            </a:blipFill>
          </p:spPr>
        </p:sp>
      </p:grpSp>
      <p:grpSp>
        <p:nvGrpSpPr>
          <p:cNvPr name="Group 175" id="175"/>
          <p:cNvGrpSpPr/>
          <p:nvPr/>
        </p:nvGrpSpPr>
        <p:grpSpPr>
          <a:xfrm rot="0">
            <a:off x="4192819" y="3871979"/>
            <a:ext cx="313553" cy="161773"/>
            <a:chOff x="0" y="0"/>
            <a:chExt cx="418071" cy="215697"/>
          </a:xfrm>
        </p:grpSpPr>
        <p:sp>
          <p:nvSpPr>
            <p:cNvPr name="Freeform 176" id="176"/>
            <p:cNvSpPr/>
            <p:nvPr/>
          </p:nvSpPr>
          <p:spPr>
            <a:xfrm flipH="false" flipV="false" rot="0">
              <a:off x="0" y="0"/>
              <a:ext cx="418084" cy="215646"/>
            </a:xfrm>
            <a:custGeom>
              <a:avLst/>
              <a:gdLst/>
              <a:ahLst/>
              <a:cxnLst/>
              <a:rect r="r" b="b" t="t" l="l"/>
              <a:pathLst>
                <a:path h="215646" w="418084">
                  <a:moveTo>
                    <a:pt x="0" y="0"/>
                  </a:moveTo>
                  <a:lnTo>
                    <a:pt x="418084" y="0"/>
                  </a:lnTo>
                  <a:lnTo>
                    <a:pt x="418084" y="215646"/>
                  </a:lnTo>
                  <a:lnTo>
                    <a:pt x="0" y="215646"/>
                  </a:lnTo>
                  <a:close/>
                </a:path>
              </a:pathLst>
            </a:custGeom>
            <a:blipFill>
              <a:blip r:embed="rId13">
                <a:alphaModFix amt="0"/>
              </a:blip>
              <a:stretch>
                <a:fillRect l="-16242" t="0" r="-16239" b="-23"/>
              </a:stretch>
            </a:blipFill>
          </p:spPr>
        </p:sp>
      </p:grpSp>
      <p:grpSp>
        <p:nvGrpSpPr>
          <p:cNvPr name="Group 177" id="177"/>
          <p:cNvGrpSpPr/>
          <p:nvPr/>
        </p:nvGrpSpPr>
        <p:grpSpPr>
          <a:xfrm rot="0">
            <a:off x="4192819" y="3879123"/>
            <a:ext cx="313553" cy="154629"/>
            <a:chOff x="0" y="0"/>
            <a:chExt cx="418071" cy="206172"/>
          </a:xfrm>
        </p:grpSpPr>
        <p:sp>
          <p:nvSpPr>
            <p:cNvPr name="Freeform 178" id="178"/>
            <p:cNvSpPr/>
            <p:nvPr/>
          </p:nvSpPr>
          <p:spPr>
            <a:xfrm flipH="false" flipV="false" rot="0">
              <a:off x="0" y="0"/>
              <a:ext cx="418071" cy="206175"/>
            </a:xfrm>
            <a:custGeom>
              <a:avLst/>
              <a:gdLst/>
              <a:ahLst/>
              <a:cxnLst/>
              <a:rect r="r" b="b" t="t" l="l"/>
              <a:pathLst>
                <a:path h="206175" w="418071">
                  <a:moveTo>
                    <a:pt x="0" y="0"/>
                  </a:moveTo>
                  <a:lnTo>
                    <a:pt x="418071" y="0"/>
                  </a:lnTo>
                  <a:lnTo>
                    <a:pt x="418071" y="206175"/>
                  </a:lnTo>
                  <a:lnTo>
                    <a:pt x="0" y="206175"/>
                  </a:lnTo>
                  <a:close/>
                </a:path>
              </a:pathLst>
            </a:custGeom>
            <a:blipFill>
              <a:blip r:embed="rId14">
                <a:alphaModFix amt="0"/>
              </a:blip>
              <a:stretch>
                <a:fillRect l="-13272" t="0" r="-13273" b="1"/>
              </a:stretch>
            </a:blipFill>
          </p:spPr>
        </p:sp>
        <p:sp>
          <p:nvSpPr>
            <p:cNvPr name="TextBox 179" id="179"/>
            <p:cNvSpPr txBox="true"/>
            <p:nvPr/>
          </p:nvSpPr>
          <p:spPr>
            <a:xfrm>
              <a:off x="0" y="9525"/>
              <a:ext cx="418071" cy="196647"/>
            </a:xfrm>
            <a:prstGeom prst="rect">
              <a:avLst/>
            </a:prstGeom>
          </p:spPr>
          <p:txBody>
            <a:bodyPr anchor="ctr" rtlCol="false" tIns="0" lIns="0" bIns="0" rIns="0"/>
            <a:lstStyle/>
            <a:p>
              <a:pPr algn="l">
                <a:lnSpc>
                  <a:spcPts val="790"/>
                </a:lnSpc>
              </a:pPr>
              <a:r>
                <a:rPr lang="en-US" sz="769" b="true">
                  <a:solidFill>
                    <a:srgbClr val="BC6E6D"/>
                  </a:solidFill>
                  <a:latin typeface="TT Commons Pro Bold"/>
                  <a:ea typeface="TT Commons Pro Bold"/>
                  <a:cs typeface="TT Commons Pro Bold"/>
                  <a:sym typeface="TT Commons Pro Bold"/>
                </a:rPr>
                <a:t>Dining</a:t>
              </a:r>
            </a:p>
          </p:txBody>
        </p:sp>
      </p:grpSp>
      <p:grpSp>
        <p:nvGrpSpPr>
          <p:cNvPr name="Group 180" id="180"/>
          <p:cNvGrpSpPr/>
          <p:nvPr/>
        </p:nvGrpSpPr>
        <p:grpSpPr>
          <a:xfrm rot="0">
            <a:off x="4127192" y="3390719"/>
            <a:ext cx="430244" cy="437483"/>
            <a:chOff x="0" y="0"/>
            <a:chExt cx="573659" cy="583311"/>
          </a:xfrm>
        </p:grpSpPr>
        <p:sp>
          <p:nvSpPr>
            <p:cNvPr name="Freeform 181" id="181" descr="preencoded.png"/>
            <p:cNvSpPr/>
            <p:nvPr/>
          </p:nvSpPr>
          <p:spPr>
            <a:xfrm flipH="false" flipV="false" rot="0">
              <a:off x="0" y="0"/>
              <a:ext cx="573659" cy="583311"/>
            </a:xfrm>
            <a:custGeom>
              <a:avLst/>
              <a:gdLst/>
              <a:ahLst/>
              <a:cxnLst/>
              <a:rect r="r" b="b" t="t" l="l"/>
              <a:pathLst>
                <a:path h="583311" w="573659">
                  <a:moveTo>
                    <a:pt x="0" y="0"/>
                  </a:moveTo>
                  <a:lnTo>
                    <a:pt x="573659" y="0"/>
                  </a:lnTo>
                  <a:lnTo>
                    <a:pt x="573659" y="583311"/>
                  </a:lnTo>
                  <a:lnTo>
                    <a:pt x="0" y="583311"/>
                  </a:lnTo>
                  <a:lnTo>
                    <a:pt x="0" y="0"/>
                  </a:lnTo>
                  <a:close/>
                </a:path>
              </a:pathLst>
            </a:custGeom>
            <a:blipFill>
              <a:blip r:embed="rId54"/>
              <a:stretch>
                <a:fillRect l="-143" t="0" r="-146" b="0"/>
              </a:stretch>
            </a:blipFill>
          </p:spPr>
        </p:sp>
      </p:grpSp>
      <p:grpSp>
        <p:nvGrpSpPr>
          <p:cNvPr name="Group 182" id="182"/>
          <p:cNvGrpSpPr/>
          <p:nvPr/>
        </p:nvGrpSpPr>
        <p:grpSpPr>
          <a:xfrm rot="0">
            <a:off x="3689680" y="3871979"/>
            <a:ext cx="255213" cy="168726"/>
            <a:chOff x="0" y="0"/>
            <a:chExt cx="340284" cy="224968"/>
          </a:xfrm>
        </p:grpSpPr>
        <p:sp>
          <p:nvSpPr>
            <p:cNvPr name="Freeform 183" id="183"/>
            <p:cNvSpPr/>
            <p:nvPr/>
          </p:nvSpPr>
          <p:spPr>
            <a:xfrm flipH="false" flipV="false" rot="0">
              <a:off x="0" y="0"/>
              <a:ext cx="340233" cy="224917"/>
            </a:xfrm>
            <a:custGeom>
              <a:avLst/>
              <a:gdLst/>
              <a:ahLst/>
              <a:cxnLst/>
              <a:rect r="r" b="b" t="t" l="l"/>
              <a:pathLst>
                <a:path h="224917" w="340233">
                  <a:moveTo>
                    <a:pt x="0" y="0"/>
                  </a:moveTo>
                  <a:lnTo>
                    <a:pt x="340233" y="0"/>
                  </a:lnTo>
                  <a:lnTo>
                    <a:pt x="340233" y="224917"/>
                  </a:lnTo>
                  <a:lnTo>
                    <a:pt x="0" y="224917"/>
                  </a:lnTo>
                  <a:close/>
                </a:path>
              </a:pathLst>
            </a:custGeom>
            <a:blipFill>
              <a:blip r:embed="rId13">
                <a:alphaModFix amt="0"/>
              </a:blip>
              <a:stretch>
                <a:fillRect l="-34886" t="0" r="-34901" b="-22"/>
              </a:stretch>
            </a:blipFill>
          </p:spPr>
        </p:sp>
      </p:grpSp>
      <p:grpSp>
        <p:nvGrpSpPr>
          <p:cNvPr name="Group 184" id="184"/>
          <p:cNvGrpSpPr/>
          <p:nvPr/>
        </p:nvGrpSpPr>
        <p:grpSpPr>
          <a:xfrm rot="0">
            <a:off x="3689680" y="3886267"/>
            <a:ext cx="255213" cy="154438"/>
            <a:chOff x="0" y="0"/>
            <a:chExt cx="340284" cy="205918"/>
          </a:xfrm>
        </p:grpSpPr>
        <p:sp>
          <p:nvSpPr>
            <p:cNvPr name="Freeform 185" id="185"/>
            <p:cNvSpPr/>
            <p:nvPr/>
          </p:nvSpPr>
          <p:spPr>
            <a:xfrm flipH="false" flipV="false" rot="0">
              <a:off x="0" y="0"/>
              <a:ext cx="340284" cy="205915"/>
            </a:xfrm>
            <a:custGeom>
              <a:avLst/>
              <a:gdLst/>
              <a:ahLst/>
              <a:cxnLst/>
              <a:rect r="r" b="b" t="t" l="l"/>
              <a:pathLst>
                <a:path h="205915" w="340284">
                  <a:moveTo>
                    <a:pt x="0" y="0"/>
                  </a:moveTo>
                  <a:lnTo>
                    <a:pt x="340284" y="0"/>
                  </a:lnTo>
                  <a:lnTo>
                    <a:pt x="340284" y="205915"/>
                  </a:lnTo>
                  <a:lnTo>
                    <a:pt x="0" y="205915"/>
                  </a:lnTo>
                  <a:close/>
                </a:path>
              </a:pathLst>
            </a:custGeom>
            <a:blipFill>
              <a:blip r:embed="rId14">
                <a:alphaModFix amt="0"/>
              </a:blip>
              <a:stretch>
                <a:fillRect l="-27641" t="0" r="-27640" b="-1"/>
              </a:stretch>
            </a:blipFill>
          </p:spPr>
        </p:sp>
        <p:sp>
          <p:nvSpPr>
            <p:cNvPr name="TextBox 186" id="186"/>
            <p:cNvSpPr txBox="true"/>
            <p:nvPr/>
          </p:nvSpPr>
          <p:spPr>
            <a:xfrm>
              <a:off x="0" y="19050"/>
              <a:ext cx="340284" cy="186868"/>
            </a:xfrm>
            <a:prstGeom prst="rect">
              <a:avLst/>
            </a:prstGeom>
          </p:spPr>
          <p:txBody>
            <a:bodyPr anchor="ctr" rtlCol="false" tIns="0" lIns="0" bIns="0" rIns="0"/>
            <a:lstStyle/>
            <a:p>
              <a:pPr algn="l">
                <a:lnSpc>
                  <a:spcPts val="631"/>
                </a:lnSpc>
              </a:pPr>
              <a:r>
                <a:rPr lang="en-US" sz="796" b="true">
                  <a:solidFill>
                    <a:srgbClr val="C47573"/>
                  </a:solidFill>
                  <a:latin typeface="TT Commons Pro Bold"/>
                  <a:ea typeface="TT Commons Pro Bold"/>
                  <a:cs typeface="TT Commons Pro Bold"/>
                  <a:sym typeface="TT Commons Pro Bold"/>
                </a:rPr>
                <a:t>Food</a:t>
              </a:r>
            </a:p>
          </p:txBody>
        </p:sp>
      </p:grpSp>
      <p:grpSp>
        <p:nvGrpSpPr>
          <p:cNvPr name="Group 187" id="187"/>
          <p:cNvGrpSpPr/>
          <p:nvPr/>
        </p:nvGrpSpPr>
        <p:grpSpPr>
          <a:xfrm rot="0">
            <a:off x="3602184" y="3390719"/>
            <a:ext cx="422910" cy="444818"/>
            <a:chOff x="0" y="0"/>
            <a:chExt cx="563880" cy="593090"/>
          </a:xfrm>
        </p:grpSpPr>
        <p:sp>
          <p:nvSpPr>
            <p:cNvPr name="Freeform 188" id="188" descr="preencoded.png"/>
            <p:cNvSpPr/>
            <p:nvPr/>
          </p:nvSpPr>
          <p:spPr>
            <a:xfrm flipH="false" flipV="false" rot="0">
              <a:off x="0" y="0"/>
              <a:ext cx="563880" cy="593090"/>
            </a:xfrm>
            <a:custGeom>
              <a:avLst/>
              <a:gdLst/>
              <a:ahLst/>
              <a:cxnLst/>
              <a:rect r="r" b="b" t="t" l="l"/>
              <a:pathLst>
                <a:path h="593090" w="563880">
                  <a:moveTo>
                    <a:pt x="0" y="0"/>
                  </a:moveTo>
                  <a:lnTo>
                    <a:pt x="563880" y="0"/>
                  </a:lnTo>
                  <a:lnTo>
                    <a:pt x="563880" y="593090"/>
                  </a:lnTo>
                  <a:lnTo>
                    <a:pt x="0" y="593090"/>
                  </a:lnTo>
                  <a:lnTo>
                    <a:pt x="0" y="0"/>
                  </a:lnTo>
                  <a:close/>
                </a:path>
              </a:pathLst>
            </a:custGeom>
            <a:blipFill>
              <a:blip r:embed="rId55"/>
              <a:stretch>
                <a:fillRect l="-427" t="0" r="-430" b="0"/>
              </a:stretch>
            </a:blipFill>
          </p:spPr>
        </p:sp>
      </p:grpSp>
      <p:grpSp>
        <p:nvGrpSpPr>
          <p:cNvPr name="Group 189" id="189"/>
          <p:cNvGrpSpPr/>
          <p:nvPr/>
        </p:nvGrpSpPr>
        <p:grpSpPr>
          <a:xfrm rot="0">
            <a:off x="72923" y="1618793"/>
            <a:ext cx="3325082" cy="5279326"/>
            <a:chOff x="0" y="0"/>
            <a:chExt cx="4433443" cy="7039102"/>
          </a:xfrm>
        </p:grpSpPr>
        <p:sp>
          <p:nvSpPr>
            <p:cNvPr name="Freeform 190" id="190" descr="preencoded.png"/>
            <p:cNvSpPr/>
            <p:nvPr/>
          </p:nvSpPr>
          <p:spPr>
            <a:xfrm flipH="false" flipV="false" rot="0">
              <a:off x="0" y="0"/>
              <a:ext cx="4433443" cy="7039102"/>
            </a:xfrm>
            <a:custGeom>
              <a:avLst/>
              <a:gdLst/>
              <a:ahLst/>
              <a:cxnLst/>
              <a:rect r="r" b="b" t="t" l="l"/>
              <a:pathLst>
                <a:path h="7039102" w="4433443">
                  <a:moveTo>
                    <a:pt x="0" y="0"/>
                  </a:moveTo>
                  <a:lnTo>
                    <a:pt x="4433443" y="0"/>
                  </a:lnTo>
                  <a:lnTo>
                    <a:pt x="4433443" y="7039102"/>
                  </a:lnTo>
                  <a:lnTo>
                    <a:pt x="0" y="7039102"/>
                  </a:lnTo>
                  <a:lnTo>
                    <a:pt x="0" y="0"/>
                  </a:lnTo>
                  <a:close/>
                </a:path>
              </a:pathLst>
            </a:custGeom>
            <a:blipFill>
              <a:blip r:embed="rId56"/>
              <a:stretch>
                <a:fillRect l="-42" t="0" r="-42" b="0"/>
              </a:stretch>
            </a:blipFill>
          </p:spPr>
        </p:sp>
      </p:grpSp>
      <p:grpSp>
        <p:nvGrpSpPr>
          <p:cNvPr name="Group 191" id="191"/>
          <p:cNvGrpSpPr/>
          <p:nvPr/>
        </p:nvGrpSpPr>
        <p:grpSpPr>
          <a:xfrm rot="0">
            <a:off x="2581323" y="5257438"/>
            <a:ext cx="685438" cy="174822"/>
            <a:chOff x="0" y="0"/>
            <a:chExt cx="913917" cy="233096"/>
          </a:xfrm>
        </p:grpSpPr>
        <p:sp>
          <p:nvSpPr>
            <p:cNvPr name="Freeform 192" id="192"/>
            <p:cNvSpPr/>
            <p:nvPr/>
          </p:nvSpPr>
          <p:spPr>
            <a:xfrm flipH="false" flipV="false" rot="0">
              <a:off x="0" y="0"/>
              <a:ext cx="913892" cy="233045"/>
            </a:xfrm>
            <a:custGeom>
              <a:avLst/>
              <a:gdLst/>
              <a:ahLst/>
              <a:cxnLst/>
              <a:rect r="r" b="b" t="t" l="l"/>
              <a:pathLst>
                <a:path h="233045" w="913892">
                  <a:moveTo>
                    <a:pt x="0" y="0"/>
                  </a:moveTo>
                  <a:lnTo>
                    <a:pt x="913892" y="0"/>
                  </a:lnTo>
                  <a:lnTo>
                    <a:pt x="913892" y="233045"/>
                  </a:lnTo>
                  <a:lnTo>
                    <a:pt x="0" y="233045"/>
                  </a:lnTo>
                  <a:close/>
                </a:path>
              </a:pathLst>
            </a:custGeom>
            <a:blipFill>
              <a:blip r:embed="rId13">
                <a:alphaModFix amt="0"/>
              </a:blip>
              <a:stretch>
                <a:fillRect l="0" t="-26348" r="-2" b="-26370"/>
              </a:stretch>
            </a:blipFill>
          </p:spPr>
        </p:sp>
      </p:grpSp>
      <p:grpSp>
        <p:nvGrpSpPr>
          <p:cNvPr name="Group 193" id="193"/>
          <p:cNvGrpSpPr/>
          <p:nvPr/>
        </p:nvGrpSpPr>
        <p:grpSpPr>
          <a:xfrm rot="0">
            <a:off x="2581323" y="5271726"/>
            <a:ext cx="685438" cy="160534"/>
            <a:chOff x="0" y="0"/>
            <a:chExt cx="913917" cy="214046"/>
          </a:xfrm>
        </p:grpSpPr>
        <p:sp>
          <p:nvSpPr>
            <p:cNvPr name="Freeform 194" id="194"/>
            <p:cNvSpPr/>
            <p:nvPr/>
          </p:nvSpPr>
          <p:spPr>
            <a:xfrm flipH="false" flipV="false" rot="0">
              <a:off x="0" y="0"/>
              <a:ext cx="913917" cy="214041"/>
            </a:xfrm>
            <a:custGeom>
              <a:avLst/>
              <a:gdLst/>
              <a:ahLst/>
              <a:cxnLst/>
              <a:rect r="r" b="b" t="t" l="l"/>
              <a:pathLst>
                <a:path h="214041" w="913917">
                  <a:moveTo>
                    <a:pt x="0" y="0"/>
                  </a:moveTo>
                  <a:lnTo>
                    <a:pt x="913917" y="0"/>
                  </a:lnTo>
                  <a:lnTo>
                    <a:pt x="913917" y="214041"/>
                  </a:lnTo>
                  <a:lnTo>
                    <a:pt x="0" y="214041"/>
                  </a:lnTo>
                  <a:close/>
                </a:path>
              </a:pathLst>
            </a:custGeom>
            <a:blipFill>
              <a:blip r:embed="rId14">
                <a:alphaModFix amt="0"/>
              </a:blip>
              <a:stretch>
                <a:fillRect l="0" t="-33196" r="0" b="-33198"/>
              </a:stretch>
            </a:blipFill>
          </p:spPr>
        </p:sp>
        <p:sp>
          <p:nvSpPr>
            <p:cNvPr name="TextBox 195" id="195"/>
            <p:cNvSpPr txBox="true"/>
            <p:nvPr/>
          </p:nvSpPr>
          <p:spPr>
            <a:xfrm>
              <a:off x="0" y="19050"/>
              <a:ext cx="913917" cy="194996"/>
            </a:xfrm>
            <a:prstGeom prst="rect">
              <a:avLst/>
            </a:prstGeom>
          </p:spPr>
          <p:txBody>
            <a:bodyPr anchor="ctr" rtlCol="false" tIns="0" lIns="0" bIns="0" rIns="0"/>
            <a:lstStyle/>
            <a:p>
              <a:pPr algn="l">
                <a:lnSpc>
                  <a:spcPts val="868"/>
                </a:lnSpc>
              </a:pPr>
              <a:r>
                <a:rPr lang="en-US" sz="832" b="true">
                  <a:solidFill>
                    <a:srgbClr val="AB6A53"/>
                  </a:solidFill>
                  <a:latin typeface="TT Commons Pro Bold"/>
                  <a:ea typeface="TT Commons Pro Bold"/>
                  <a:cs typeface="TT Commons Pro Bold"/>
                  <a:sym typeface="TT Commons Pro Bold"/>
                </a:rPr>
                <a:t>Fast Delivery</a:t>
              </a:r>
            </a:p>
          </p:txBody>
        </p:sp>
      </p:grpSp>
      <p:grpSp>
        <p:nvGrpSpPr>
          <p:cNvPr name="Group 196" id="196"/>
          <p:cNvGrpSpPr/>
          <p:nvPr/>
        </p:nvGrpSpPr>
        <p:grpSpPr>
          <a:xfrm rot="0">
            <a:off x="2369858" y="4258447"/>
            <a:ext cx="1006316" cy="809434"/>
            <a:chOff x="0" y="0"/>
            <a:chExt cx="1341755" cy="1079246"/>
          </a:xfrm>
        </p:grpSpPr>
        <p:sp>
          <p:nvSpPr>
            <p:cNvPr name="Freeform 197" id="197" descr="preencoded.png"/>
            <p:cNvSpPr/>
            <p:nvPr/>
          </p:nvSpPr>
          <p:spPr>
            <a:xfrm flipH="false" flipV="false" rot="0">
              <a:off x="0" y="0"/>
              <a:ext cx="1341755" cy="1079246"/>
            </a:xfrm>
            <a:custGeom>
              <a:avLst/>
              <a:gdLst/>
              <a:ahLst/>
              <a:cxnLst/>
              <a:rect r="r" b="b" t="t" l="l"/>
              <a:pathLst>
                <a:path h="1079246" w="1341755">
                  <a:moveTo>
                    <a:pt x="0" y="0"/>
                  </a:moveTo>
                  <a:lnTo>
                    <a:pt x="1341755" y="0"/>
                  </a:lnTo>
                  <a:lnTo>
                    <a:pt x="1341755" y="1079246"/>
                  </a:lnTo>
                  <a:lnTo>
                    <a:pt x="0" y="1079246"/>
                  </a:lnTo>
                  <a:lnTo>
                    <a:pt x="0" y="0"/>
                  </a:lnTo>
                  <a:close/>
                </a:path>
              </a:pathLst>
            </a:custGeom>
            <a:blipFill>
              <a:blip r:embed="rId57"/>
              <a:stretch>
                <a:fillRect l="-271" t="0" r="-272" b="0"/>
              </a:stretch>
            </a:blipFill>
          </p:spPr>
        </p:sp>
      </p:grpSp>
      <p:grpSp>
        <p:nvGrpSpPr>
          <p:cNvPr name="Group 198" id="198"/>
          <p:cNvGrpSpPr/>
          <p:nvPr/>
        </p:nvGrpSpPr>
        <p:grpSpPr>
          <a:xfrm rot="0">
            <a:off x="816693" y="4798047"/>
            <a:ext cx="371856" cy="539591"/>
            <a:chOff x="0" y="0"/>
            <a:chExt cx="495808" cy="719455"/>
          </a:xfrm>
        </p:grpSpPr>
        <p:sp>
          <p:nvSpPr>
            <p:cNvPr name="Freeform 199" id="199" descr="preencoded.png"/>
            <p:cNvSpPr/>
            <p:nvPr/>
          </p:nvSpPr>
          <p:spPr>
            <a:xfrm flipH="false" flipV="false" rot="0">
              <a:off x="0" y="0"/>
              <a:ext cx="495808" cy="719455"/>
            </a:xfrm>
            <a:custGeom>
              <a:avLst/>
              <a:gdLst/>
              <a:ahLst/>
              <a:cxnLst/>
              <a:rect r="r" b="b" t="t" l="l"/>
              <a:pathLst>
                <a:path h="719455" w="495808">
                  <a:moveTo>
                    <a:pt x="0" y="0"/>
                  </a:moveTo>
                  <a:lnTo>
                    <a:pt x="495808" y="0"/>
                  </a:lnTo>
                  <a:lnTo>
                    <a:pt x="495808" y="719455"/>
                  </a:lnTo>
                  <a:lnTo>
                    <a:pt x="0" y="719455"/>
                  </a:lnTo>
                  <a:lnTo>
                    <a:pt x="0" y="0"/>
                  </a:lnTo>
                  <a:close/>
                </a:path>
              </a:pathLst>
            </a:custGeom>
            <a:blipFill>
              <a:blip r:embed="rId58"/>
              <a:stretch>
                <a:fillRect l="0" t="-273" r="0" b="-273"/>
              </a:stretch>
            </a:blipFill>
          </p:spPr>
        </p:sp>
      </p:grpSp>
      <p:grpSp>
        <p:nvGrpSpPr>
          <p:cNvPr name="Group 200" id="200"/>
          <p:cNvGrpSpPr/>
          <p:nvPr/>
        </p:nvGrpSpPr>
        <p:grpSpPr>
          <a:xfrm rot="0">
            <a:off x="2938624" y="3879275"/>
            <a:ext cx="452095" cy="158286"/>
            <a:chOff x="0" y="0"/>
            <a:chExt cx="602793" cy="211049"/>
          </a:xfrm>
        </p:grpSpPr>
        <p:sp>
          <p:nvSpPr>
            <p:cNvPr name="Freeform 201" id="201"/>
            <p:cNvSpPr/>
            <p:nvPr/>
          </p:nvSpPr>
          <p:spPr>
            <a:xfrm flipH="false" flipV="false" rot="0">
              <a:off x="0" y="0"/>
              <a:ext cx="602742" cy="211074"/>
            </a:xfrm>
            <a:custGeom>
              <a:avLst/>
              <a:gdLst/>
              <a:ahLst/>
              <a:cxnLst/>
              <a:rect r="r" b="b" t="t" l="l"/>
              <a:pathLst>
                <a:path h="211074" w="602742">
                  <a:moveTo>
                    <a:pt x="0" y="0"/>
                  </a:moveTo>
                  <a:lnTo>
                    <a:pt x="602742" y="0"/>
                  </a:lnTo>
                  <a:lnTo>
                    <a:pt x="602742" y="211074"/>
                  </a:lnTo>
                  <a:lnTo>
                    <a:pt x="0" y="211074"/>
                  </a:lnTo>
                  <a:close/>
                </a:path>
              </a:pathLst>
            </a:custGeom>
            <a:blipFill>
              <a:blip r:embed="rId13">
                <a:alphaModFix amt="0"/>
              </a:blip>
              <a:stretch>
                <a:fillRect l="0" t="-5613" r="-8" b="-5601"/>
              </a:stretch>
            </a:blipFill>
          </p:spPr>
        </p:sp>
      </p:grpSp>
      <p:grpSp>
        <p:nvGrpSpPr>
          <p:cNvPr name="Group 202" id="202"/>
          <p:cNvGrpSpPr/>
          <p:nvPr/>
        </p:nvGrpSpPr>
        <p:grpSpPr>
          <a:xfrm rot="0">
            <a:off x="2938624" y="3886419"/>
            <a:ext cx="452095" cy="151143"/>
            <a:chOff x="0" y="0"/>
            <a:chExt cx="602793" cy="201524"/>
          </a:xfrm>
        </p:grpSpPr>
        <p:sp>
          <p:nvSpPr>
            <p:cNvPr name="Freeform 203" id="203"/>
            <p:cNvSpPr/>
            <p:nvPr/>
          </p:nvSpPr>
          <p:spPr>
            <a:xfrm flipH="false" flipV="false" rot="0">
              <a:off x="0" y="0"/>
              <a:ext cx="602793" cy="201523"/>
            </a:xfrm>
            <a:custGeom>
              <a:avLst/>
              <a:gdLst/>
              <a:ahLst/>
              <a:cxnLst/>
              <a:rect r="r" b="b" t="t" l="l"/>
              <a:pathLst>
                <a:path h="201523" w="602793">
                  <a:moveTo>
                    <a:pt x="0" y="0"/>
                  </a:moveTo>
                  <a:lnTo>
                    <a:pt x="602793" y="0"/>
                  </a:lnTo>
                  <a:lnTo>
                    <a:pt x="602793" y="201523"/>
                  </a:lnTo>
                  <a:lnTo>
                    <a:pt x="0" y="201523"/>
                  </a:lnTo>
                  <a:close/>
                </a:path>
              </a:pathLst>
            </a:custGeom>
            <a:blipFill>
              <a:blip r:embed="rId14">
                <a:alphaModFix amt="0"/>
              </a:blip>
              <a:stretch>
                <a:fillRect l="0" t="-8283" r="0" b="-8283"/>
              </a:stretch>
            </a:blipFill>
          </p:spPr>
        </p:sp>
        <p:sp>
          <p:nvSpPr>
            <p:cNvPr name="TextBox 204" id="204"/>
            <p:cNvSpPr txBox="true"/>
            <p:nvPr/>
          </p:nvSpPr>
          <p:spPr>
            <a:xfrm>
              <a:off x="0" y="9525"/>
              <a:ext cx="602793" cy="191999"/>
            </a:xfrm>
            <a:prstGeom prst="rect">
              <a:avLst/>
            </a:prstGeom>
          </p:spPr>
          <p:txBody>
            <a:bodyPr anchor="ctr" rtlCol="false" tIns="0" lIns="0" bIns="0" rIns="0"/>
            <a:lstStyle/>
            <a:p>
              <a:pPr algn="l">
                <a:lnSpc>
                  <a:spcPts val="798"/>
                </a:lnSpc>
              </a:pPr>
              <a:r>
                <a:rPr lang="en-US" sz="759" b="true">
                  <a:solidFill>
                    <a:srgbClr val="D68D6E"/>
                  </a:solidFill>
                  <a:latin typeface="TT Commons Pro Bold"/>
                  <a:ea typeface="TT Commons Pro Bold"/>
                  <a:cs typeface="TT Commons Pro Bold"/>
                  <a:sym typeface="TT Commons Pro Bold"/>
                </a:rPr>
                <a:t>Instamart</a:t>
              </a:r>
            </a:p>
          </p:txBody>
        </p:sp>
      </p:grpSp>
      <p:grpSp>
        <p:nvGrpSpPr>
          <p:cNvPr name="Group 205" id="205"/>
          <p:cNvGrpSpPr/>
          <p:nvPr/>
        </p:nvGrpSpPr>
        <p:grpSpPr>
          <a:xfrm rot="0">
            <a:off x="2945911" y="3383423"/>
            <a:ext cx="437483" cy="444818"/>
            <a:chOff x="0" y="0"/>
            <a:chExt cx="583311" cy="593090"/>
          </a:xfrm>
        </p:grpSpPr>
        <p:sp>
          <p:nvSpPr>
            <p:cNvPr name="Freeform 206" id="206" descr="preencoded.png"/>
            <p:cNvSpPr/>
            <p:nvPr/>
          </p:nvSpPr>
          <p:spPr>
            <a:xfrm flipH="false" flipV="false" rot="0">
              <a:off x="0" y="0"/>
              <a:ext cx="583311" cy="593090"/>
            </a:xfrm>
            <a:custGeom>
              <a:avLst/>
              <a:gdLst/>
              <a:ahLst/>
              <a:cxnLst/>
              <a:rect r="r" b="b" t="t" l="l"/>
              <a:pathLst>
                <a:path h="593090" w="583311">
                  <a:moveTo>
                    <a:pt x="0" y="0"/>
                  </a:moveTo>
                  <a:lnTo>
                    <a:pt x="583311" y="0"/>
                  </a:lnTo>
                  <a:lnTo>
                    <a:pt x="583311" y="593090"/>
                  </a:lnTo>
                  <a:lnTo>
                    <a:pt x="0" y="593090"/>
                  </a:lnTo>
                  <a:lnTo>
                    <a:pt x="0" y="0"/>
                  </a:lnTo>
                  <a:close/>
                </a:path>
              </a:pathLst>
            </a:custGeom>
            <a:blipFill>
              <a:blip r:embed="rId59"/>
              <a:stretch>
                <a:fillRect l="-141" t="0" r="-141" b="0"/>
              </a:stretch>
            </a:blipFill>
          </p:spPr>
        </p:sp>
      </p:grpSp>
      <p:grpSp>
        <p:nvGrpSpPr>
          <p:cNvPr name="Group 207" id="207"/>
          <p:cNvGrpSpPr/>
          <p:nvPr/>
        </p:nvGrpSpPr>
        <p:grpSpPr>
          <a:xfrm rot="0">
            <a:off x="2508399" y="3871979"/>
            <a:ext cx="255213" cy="169497"/>
            <a:chOff x="0" y="0"/>
            <a:chExt cx="340284" cy="225997"/>
          </a:xfrm>
        </p:grpSpPr>
        <p:sp>
          <p:nvSpPr>
            <p:cNvPr name="Freeform 208" id="208"/>
            <p:cNvSpPr/>
            <p:nvPr/>
          </p:nvSpPr>
          <p:spPr>
            <a:xfrm flipH="false" flipV="false" rot="0">
              <a:off x="0" y="0"/>
              <a:ext cx="340233" cy="226060"/>
            </a:xfrm>
            <a:custGeom>
              <a:avLst/>
              <a:gdLst/>
              <a:ahLst/>
              <a:cxnLst/>
              <a:rect r="r" b="b" t="t" l="l"/>
              <a:pathLst>
                <a:path h="226060" w="340233">
                  <a:moveTo>
                    <a:pt x="0" y="0"/>
                  </a:moveTo>
                  <a:lnTo>
                    <a:pt x="340233" y="0"/>
                  </a:lnTo>
                  <a:lnTo>
                    <a:pt x="340233" y="226060"/>
                  </a:lnTo>
                  <a:lnTo>
                    <a:pt x="0" y="226060"/>
                  </a:lnTo>
                  <a:close/>
                </a:path>
              </a:pathLst>
            </a:custGeom>
            <a:blipFill>
              <a:blip r:embed="rId13">
                <a:alphaModFix amt="0"/>
              </a:blip>
              <a:stretch>
                <a:fillRect l="-35274" t="0" r="-35293" b="28"/>
              </a:stretch>
            </a:blipFill>
          </p:spPr>
        </p:sp>
      </p:grpSp>
      <p:grpSp>
        <p:nvGrpSpPr>
          <p:cNvPr name="Group 209" id="209"/>
          <p:cNvGrpSpPr/>
          <p:nvPr/>
        </p:nvGrpSpPr>
        <p:grpSpPr>
          <a:xfrm rot="0">
            <a:off x="2508399" y="3879123"/>
            <a:ext cx="255213" cy="162354"/>
            <a:chOff x="0" y="0"/>
            <a:chExt cx="340284" cy="216472"/>
          </a:xfrm>
        </p:grpSpPr>
        <p:sp>
          <p:nvSpPr>
            <p:cNvPr name="Freeform 210" id="210"/>
            <p:cNvSpPr/>
            <p:nvPr/>
          </p:nvSpPr>
          <p:spPr>
            <a:xfrm flipH="false" flipV="false" rot="0">
              <a:off x="0" y="0"/>
              <a:ext cx="340284" cy="216474"/>
            </a:xfrm>
            <a:custGeom>
              <a:avLst/>
              <a:gdLst/>
              <a:ahLst/>
              <a:cxnLst/>
              <a:rect r="r" b="b" t="t" l="l"/>
              <a:pathLst>
                <a:path h="216474" w="340284">
                  <a:moveTo>
                    <a:pt x="0" y="0"/>
                  </a:moveTo>
                  <a:lnTo>
                    <a:pt x="340284" y="0"/>
                  </a:lnTo>
                  <a:lnTo>
                    <a:pt x="340284" y="216474"/>
                  </a:lnTo>
                  <a:lnTo>
                    <a:pt x="0" y="216474"/>
                  </a:lnTo>
                  <a:close/>
                </a:path>
              </a:pathLst>
            </a:custGeom>
            <a:blipFill>
              <a:blip r:embed="rId14">
                <a:alphaModFix amt="0"/>
              </a:blip>
              <a:stretch>
                <a:fillRect l="-31620" t="0" r="-31620" b="1"/>
              </a:stretch>
            </a:blipFill>
          </p:spPr>
        </p:sp>
        <p:sp>
          <p:nvSpPr>
            <p:cNvPr name="TextBox 211" id="211"/>
            <p:cNvSpPr txBox="true"/>
            <p:nvPr/>
          </p:nvSpPr>
          <p:spPr>
            <a:xfrm>
              <a:off x="0" y="9525"/>
              <a:ext cx="340284" cy="206947"/>
            </a:xfrm>
            <a:prstGeom prst="rect">
              <a:avLst/>
            </a:prstGeom>
          </p:spPr>
          <p:txBody>
            <a:bodyPr anchor="ctr" rtlCol="false" tIns="0" lIns="0" bIns="0" rIns="0"/>
            <a:lstStyle/>
            <a:p>
              <a:pPr algn="l">
                <a:lnSpc>
                  <a:spcPts val="701"/>
                </a:lnSpc>
              </a:pPr>
              <a:r>
                <a:rPr lang="en-US" sz="796" b="true">
                  <a:solidFill>
                    <a:srgbClr val="DB9177"/>
                  </a:solidFill>
                  <a:latin typeface="TT Commons Pro Bold"/>
                  <a:ea typeface="TT Commons Pro Bold"/>
                  <a:cs typeface="TT Commons Pro Bold"/>
                  <a:sym typeface="TT Commons Pro Bold"/>
                </a:rPr>
                <a:t>Food</a:t>
              </a:r>
            </a:p>
          </p:txBody>
        </p:sp>
      </p:grpSp>
      <p:grpSp>
        <p:nvGrpSpPr>
          <p:cNvPr name="Group 212" id="212"/>
          <p:cNvGrpSpPr/>
          <p:nvPr/>
        </p:nvGrpSpPr>
        <p:grpSpPr>
          <a:xfrm rot="0">
            <a:off x="2420903" y="3390719"/>
            <a:ext cx="430244" cy="437483"/>
            <a:chOff x="0" y="0"/>
            <a:chExt cx="573659" cy="583311"/>
          </a:xfrm>
        </p:grpSpPr>
        <p:sp>
          <p:nvSpPr>
            <p:cNvPr name="Freeform 213" id="213" descr="preencoded.png"/>
            <p:cNvSpPr/>
            <p:nvPr/>
          </p:nvSpPr>
          <p:spPr>
            <a:xfrm flipH="false" flipV="false" rot="0">
              <a:off x="0" y="0"/>
              <a:ext cx="573659" cy="583311"/>
            </a:xfrm>
            <a:custGeom>
              <a:avLst/>
              <a:gdLst/>
              <a:ahLst/>
              <a:cxnLst/>
              <a:rect r="r" b="b" t="t" l="l"/>
              <a:pathLst>
                <a:path h="583311" w="573659">
                  <a:moveTo>
                    <a:pt x="0" y="0"/>
                  </a:moveTo>
                  <a:lnTo>
                    <a:pt x="573659" y="0"/>
                  </a:lnTo>
                  <a:lnTo>
                    <a:pt x="573659" y="583311"/>
                  </a:lnTo>
                  <a:lnTo>
                    <a:pt x="0" y="583311"/>
                  </a:lnTo>
                  <a:lnTo>
                    <a:pt x="0" y="0"/>
                  </a:lnTo>
                  <a:close/>
                </a:path>
              </a:pathLst>
            </a:custGeom>
            <a:blipFill>
              <a:blip r:embed="rId60"/>
              <a:stretch>
                <a:fillRect l="0" t="-537" r="0" b="-539"/>
              </a:stretch>
            </a:blipFill>
          </p:spPr>
        </p:sp>
      </p:grpSp>
      <p:grpSp>
        <p:nvGrpSpPr>
          <p:cNvPr name="Group 214" id="214"/>
          <p:cNvGrpSpPr/>
          <p:nvPr/>
        </p:nvGrpSpPr>
        <p:grpSpPr>
          <a:xfrm rot="0">
            <a:off x="2559444" y="2982373"/>
            <a:ext cx="700021" cy="129702"/>
            <a:chOff x="0" y="0"/>
            <a:chExt cx="933361" cy="172936"/>
          </a:xfrm>
        </p:grpSpPr>
        <p:sp>
          <p:nvSpPr>
            <p:cNvPr name="Freeform 215" id="215"/>
            <p:cNvSpPr/>
            <p:nvPr/>
          </p:nvSpPr>
          <p:spPr>
            <a:xfrm flipH="false" flipV="false" rot="0">
              <a:off x="0" y="0"/>
              <a:ext cx="933323" cy="172974"/>
            </a:xfrm>
            <a:custGeom>
              <a:avLst/>
              <a:gdLst/>
              <a:ahLst/>
              <a:cxnLst/>
              <a:rect r="r" b="b" t="t" l="l"/>
              <a:pathLst>
                <a:path h="172974" w="933323">
                  <a:moveTo>
                    <a:pt x="0" y="0"/>
                  </a:moveTo>
                  <a:lnTo>
                    <a:pt x="933323" y="0"/>
                  </a:lnTo>
                  <a:lnTo>
                    <a:pt x="933323" y="172974"/>
                  </a:lnTo>
                  <a:lnTo>
                    <a:pt x="0" y="172974"/>
                  </a:lnTo>
                  <a:close/>
                </a:path>
              </a:pathLst>
            </a:custGeom>
            <a:blipFill>
              <a:blip r:embed="rId13">
                <a:alphaModFix amt="0"/>
              </a:blip>
              <a:stretch>
                <a:fillRect l="0" t="-55080" r="-4" b="-55051"/>
              </a:stretch>
            </a:blipFill>
          </p:spPr>
        </p:sp>
      </p:grpSp>
      <p:grpSp>
        <p:nvGrpSpPr>
          <p:cNvPr name="Group 216" id="216"/>
          <p:cNvGrpSpPr/>
          <p:nvPr/>
        </p:nvGrpSpPr>
        <p:grpSpPr>
          <a:xfrm rot="0">
            <a:off x="2559444" y="3003804"/>
            <a:ext cx="700021" cy="108271"/>
            <a:chOff x="0" y="0"/>
            <a:chExt cx="933361" cy="144361"/>
          </a:xfrm>
        </p:grpSpPr>
        <p:sp>
          <p:nvSpPr>
            <p:cNvPr name="Freeform 217" id="217"/>
            <p:cNvSpPr/>
            <p:nvPr/>
          </p:nvSpPr>
          <p:spPr>
            <a:xfrm flipH="false" flipV="false" rot="0">
              <a:off x="0" y="0"/>
              <a:ext cx="933361" cy="144360"/>
            </a:xfrm>
            <a:custGeom>
              <a:avLst/>
              <a:gdLst/>
              <a:ahLst/>
              <a:cxnLst/>
              <a:rect r="r" b="b" t="t" l="l"/>
              <a:pathLst>
                <a:path h="144360" w="933361">
                  <a:moveTo>
                    <a:pt x="0" y="0"/>
                  </a:moveTo>
                  <a:lnTo>
                    <a:pt x="933361" y="0"/>
                  </a:lnTo>
                  <a:lnTo>
                    <a:pt x="933361" y="144360"/>
                  </a:lnTo>
                  <a:lnTo>
                    <a:pt x="0" y="144360"/>
                  </a:lnTo>
                  <a:close/>
                </a:path>
              </a:pathLst>
            </a:custGeom>
            <a:blipFill>
              <a:blip r:embed="rId14">
                <a:alphaModFix amt="0"/>
              </a:blip>
              <a:stretch>
                <a:fillRect l="0" t="-75980" r="0" b="-75981"/>
              </a:stretch>
            </a:blipFill>
          </p:spPr>
        </p:sp>
        <p:sp>
          <p:nvSpPr>
            <p:cNvPr name="TextBox 218" id="218"/>
            <p:cNvSpPr txBox="true"/>
            <p:nvPr/>
          </p:nvSpPr>
          <p:spPr>
            <a:xfrm>
              <a:off x="0" y="28575"/>
              <a:ext cx="933361" cy="115786"/>
            </a:xfrm>
            <a:prstGeom prst="rect">
              <a:avLst/>
            </a:prstGeom>
          </p:spPr>
          <p:txBody>
            <a:bodyPr anchor="ctr" rtlCol="false" tIns="0" lIns="0" bIns="0" rIns="0"/>
            <a:lstStyle/>
            <a:p>
              <a:pPr algn="l">
                <a:lnSpc>
                  <a:spcPts val="498"/>
                </a:lnSpc>
              </a:pPr>
              <a:r>
                <a:rPr lang="en-US" sz="626" b="true">
                  <a:solidFill>
                    <a:srgbClr val="E8976F"/>
                  </a:solidFill>
                  <a:latin typeface="TT Commons Pro Bold"/>
                  <a:ea typeface="TT Commons Pro Bold"/>
                  <a:cs typeface="TT Commons Pro Bold"/>
                  <a:sym typeface="TT Commons Pro Bold"/>
                </a:rPr>
                <a:t>FOCO CIELINERY</a:t>
              </a:r>
            </a:p>
          </p:txBody>
        </p:sp>
      </p:grpSp>
      <p:grpSp>
        <p:nvGrpSpPr>
          <p:cNvPr name="Group 219" id="219"/>
          <p:cNvGrpSpPr/>
          <p:nvPr/>
        </p:nvGrpSpPr>
        <p:grpSpPr>
          <a:xfrm rot="0">
            <a:off x="2574026" y="2800074"/>
            <a:ext cx="663559" cy="255937"/>
            <a:chOff x="0" y="0"/>
            <a:chExt cx="884746" cy="341249"/>
          </a:xfrm>
        </p:grpSpPr>
        <p:sp>
          <p:nvSpPr>
            <p:cNvPr name="Freeform 220" id="220"/>
            <p:cNvSpPr/>
            <p:nvPr/>
          </p:nvSpPr>
          <p:spPr>
            <a:xfrm flipH="false" flipV="false" rot="0">
              <a:off x="0" y="0"/>
              <a:ext cx="884682" cy="341249"/>
            </a:xfrm>
            <a:custGeom>
              <a:avLst/>
              <a:gdLst/>
              <a:ahLst/>
              <a:cxnLst/>
              <a:rect r="r" b="b" t="t" l="l"/>
              <a:pathLst>
                <a:path h="341249" w="884682">
                  <a:moveTo>
                    <a:pt x="0" y="0"/>
                  </a:moveTo>
                  <a:lnTo>
                    <a:pt x="884682" y="0"/>
                  </a:lnTo>
                  <a:lnTo>
                    <a:pt x="884682" y="341249"/>
                  </a:lnTo>
                  <a:lnTo>
                    <a:pt x="0" y="341249"/>
                  </a:lnTo>
                  <a:close/>
                </a:path>
              </a:pathLst>
            </a:custGeom>
            <a:blipFill>
              <a:blip r:embed="rId13">
                <a:alphaModFix amt="0"/>
              </a:blip>
              <a:stretch>
                <a:fillRect l="0" t="-483" r="-7" b="-483"/>
              </a:stretch>
            </a:blipFill>
          </p:spPr>
        </p:sp>
      </p:grpSp>
      <p:grpSp>
        <p:nvGrpSpPr>
          <p:cNvPr name="Group 221" id="221"/>
          <p:cNvGrpSpPr/>
          <p:nvPr/>
        </p:nvGrpSpPr>
        <p:grpSpPr>
          <a:xfrm rot="0">
            <a:off x="2574026" y="2842936"/>
            <a:ext cx="663559" cy="213074"/>
            <a:chOff x="0" y="0"/>
            <a:chExt cx="884746" cy="284099"/>
          </a:xfrm>
        </p:grpSpPr>
        <p:sp>
          <p:nvSpPr>
            <p:cNvPr name="Freeform 222" id="222"/>
            <p:cNvSpPr/>
            <p:nvPr/>
          </p:nvSpPr>
          <p:spPr>
            <a:xfrm flipH="false" flipV="false" rot="0">
              <a:off x="0" y="0"/>
              <a:ext cx="884745" cy="284097"/>
            </a:xfrm>
            <a:custGeom>
              <a:avLst/>
              <a:gdLst/>
              <a:ahLst/>
              <a:cxnLst/>
              <a:rect r="r" b="b" t="t" l="l"/>
              <a:pathLst>
                <a:path h="284097" w="884745">
                  <a:moveTo>
                    <a:pt x="0" y="0"/>
                  </a:moveTo>
                  <a:lnTo>
                    <a:pt x="884745" y="0"/>
                  </a:lnTo>
                  <a:lnTo>
                    <a:pt x="884745" y="284097"/>
                  </a:lnTo>
                  <a:lnTo>
                    <a:pt x="0" y="284097"/>
                  </a:lnTo>
                  <a:close/>
                </a:path>
              </a:pathLst>
            </a:custGeom>
            <a:blipFill>
              <a:blip r:embed="rId14">
                <a:alphaModFix amt="0"/>
              </a:blip>
              <a:stretch>
                <a:fillRect l="0" t="-10680" r="0" b="-10681"/>
              </a:stretch>
            </a:blipFill>
          </p:spPr>
        </p:sp>
        <p:sp>
          <p:nvSpPr>
            <p:cNvPr name="TextBox 223" id="223"/>
            <p:cNvSpPr txBox="true"/>
            <p:nvPr/>
          </p:nvSpPr>
          <p:spPr>
            <a:xfrm>
              <a:off x="0" y="57150"/>
              <a:ext cx="884746" cy="226949"/>
            </a:xfrm>
            <a:prstGeom prst="rect">
              <a:avLst/>
            </a:prstGeom>
          </p:spPr>
          <p:txBody>
            <a:bodyPr anchor="ctr" rtlCol="false" tIns="0" lIns="0" bIns="0" rIns="0"/>
            <a:lstStyle/>
            <a:p>
              <a:pPr algn="l">
                <a:lnSpc>
                  <a:spcPts val="969"/>
                </a:lnSpc>
              </a:pPr>
              <a:r>
                <a:rPr lang="en-US" sz="1221">
                  <a:solidFill>
                    <a:srgbClr val="EFB18E"/>
                  </a:solidFill>
                  <a:latin typeface="TT Commons Pro"/>
                  <a:ea typeface="TT Commons Pro"/>
                  <a:cs typeface="TT Commons Pro"/>
                  <a:sym typeface="TT Commons Pro"/>
                </a:rPr>
                <a:t>SWIGGY</a:t>
              </a:r>
            </a:p>
          </p:txBody>
        </p:sp>
      </p:grpSp>
      <p:grpSp>
        <p:nvGrpSpPr>
          <p:cNvPr name="Group 224" id="224"/>
          <p:cNvGrpSpPr/>
          <p:nvPr/>
        </p:nvGrpSpPr>
        <p:grpSpPr>
          <a:xfrm rot="0">
            <a:off x="2712577" y="2121932"/>
            <a:ext cx="364617" cy="576072"/>
            <a:chOff x="0" y="0"/>
            <a:chExt cx="486156" cy="768096"/>
          </a:xfrm>
        </p:grpSpPr>
        <p:sp>
          <p:nvSpPr>
            <p:cNvPr name="Freeform 225" id="225" descr="preencoded.png"/>
            <p:cNvSpPr/>
            <p:nvPr/>
          </p:nvSpPr>
          <p:spPr>
            <a:xfrm flipH="false" flipV="false" rot="0">
              <a:off x="0" y="0"/>
              <a:ext cx="486156" cy="768096"/>
            </a:xfrm>
            <a:custGeom>
              <a:avLst/>
              <a:gdLst/>
              <a:ahLst/>
              <a:cxnLst/>
              <a:rect r="r" b="b" t="t" l="l"/>
              <a:pathLst>
                <a:path h="768096" w="486156">
                  <a:moveTo>
                    <a:pt x="0" y="0"/>
                  </a:moveTo>
                  <a:lnTo>
                    <a:pt x="486156" y="0"/>
                  </a:lnTo>
                  <a:lnTo>
                    <a:pt x="486156" y="768096"/>
                  </a:lnTo>
                  <a:lnTo>
                    <a:pt x="0" y="768096"/>
                  </a:lnTo>
                  <a:lnTo>
                    <a:pt x="0" y="0"/>
                  </a:lnTo>
                  <a:close/>
                </a:path>
              </a:pathLst>
            </a:custGeom>
            <a:blipFill>
              <a:blip r:embed="rId61"/>
              <a:stretch>
                <a:fillRect l="0" t="-419" r="0" b="-419"/>
              </a:stretch>
            </a:blipFill>
          </p:spPr>
        </p:sp>
      </p:grpSp>
      <p:grpSp>
        <p:nvGrpSpPr>
          <p:cNvPr name="Group 226" id="226"/>
          <p:cNvGrpSpPr/>
          <p:nvPr/>
        </p:nvGrpSpPr>
        <p:grpSpPr>
          <a:xfrm rot="0">
            <a:off x="926068" y="0"/>
            <a:ext cx="831247" cy="1071944"/>
            <a:chOff x="0" y="0"/>
            <a:chExt cx="1108329" cy="1429258"/>
          </a:xfrm>
        </p:grpSpPr>
        <p:sp>
          <p:nvSpPr>
            <p:cNvPr name="Freeform 227" id="227" descr="preencoded.png"/>
            <p:cNvSpPr/>
            <p:nvPr/>
          </p:nvSpPr>
          <p:spPr>
            <a:xfrm flipH="false" flipV="false" rot="0">
              <a:off x="0" y="0"/>
              <a:ext cx="1108329" cy="1429258"/>
            </a:xfrm>
            <a:custGeom>
              <a:avLst/>
              <a:gdLst/>
              <a:ahLst/>
              <a:cxnLst/>
              <a:rect r="r" b="b" t="t" l="l"/>
              <a:pathLst>
                <a:path h="1429258" w="1108329">
                  <a:moveTo>
                    <a:pt x="0" y="0"/>
                  </a:moveTo>
                  <a:lnTo>
                    <a:pt x="1108329" y="0"/>
                  </a:lnTo>
                  <a:lnTo>
                    <a:pt x="1108329" y="1429258"/>
                  </a:lnTo>
                  <a:lnTo>
                    <a:pt x="0" y="1429258"/>
                  </a:lnTo>
                  <a:lnTo>
                    <a:pt x="0" y="0"/>
                  </a:lnTo>
                  <a:close/>
                </a:path>
              </a:pathLst>
            </a:custGeom>
            <a:blipFill>
              <a:blip r:embed="rId62"/>
              <a:stretch>
                <a:fillRect l="0" t="-65" r="0" b="-65"/>
              </a:stretch>
            </a:blipFill>
          </p:spPr>
        </p:sp>
      </p:grpSp>
      <p:grpSp>
        <p:nvGrpSpPr>
          <p:cNvPr name="Group 228" id="228"/>
          <p:cNvGrpSpPr/>
          <p:nvPr/>
        </p:nvGrpSpPr>
        <p:grpSpPr>
          <a:xfrm rot="0">
            <a:off x="670855" y="1152115"/>
            <a:ext cx="1400042" cy="554460"/>
            <a:chOff x="0" y="0"/>
            <a:chExt cx="1866722" cy="739280"/>
          </a:xfrm>
        </p:grpSpPr>
        <p:sp>
          <p:nvSpPr>
            <p:cNvPr name="Freeform 229" id="229"/>
            <p:cNvSpPr/>
            <p:nvPr/>
          </p:nvSpPr>
          <p:spPr>
            <a:xfrm flipH="false" flipV="false" rot="0">
              <a:off x="0" y="0"/>
              <a:ext cx="1866773" cy="739267"/>
            </a:xfrm>
            <a:custGeom>
              <a:avLst/>
              <a:gdLst/>
              <a:ahLst/>
              <a:cxnLst/>
              <a:rect r="r" b="b" t="t" l="l"/>
              <a:pathLst>
                <a:path h="739267" w="1866773">
                  <a:moveTo>
                    <a:pt x="0" y="0"/>
                  </a:moveTo>
                  <a:lnTo>
                    <a:pt x="1866773" y="0"/>
                  </a:lnTo>
                  <a:lnTo>
                    <a:pt x="1866773" y="739267"/>
                  </a:lnTo>
                  <a:lnTo>
                    <a:pt x="0" y="739267"/>
                  </a:lnTo>
                  <a:close/>
                </a:path>
              </a:pathLst>
            </a:custGeom>
            <a:blipFill>
              <a:blip r:embed="rId13">
                <a:alphaModFix amt="0"/>
              </a:blip>
              <a:stretch>
                <a:fillRect l="-847" t="0" r="-844" b="-1"/>
              </a:stretch>
            </a:blipFill>
          </p:spPr>
        </p:sp>
      </p:grpSp>
      <p:grpSp>
        <p:nvGrpSpPr>
          <p:cNvPr name="Group 230" id="230"/>
          <p:cNvGrpSpPr/>
          <p:nvPr/>
        </p:nvGrpSpPr>
        <p:grpSpPr>
          <a:xfrm rot="0">
            <a:off x="670855" y="1223553"/>
            <a:ext cx="1400042" cy="483022"/>
            <a:chOff x="0" y="0"/>
            <a:chExt cx="1866722" cy="644030"/>
          </a:xfrm>
        </p:grpSpPr>
        <p:sp>
          <p:nvSpPr>
            <p:cNvPr name="Freeform 231" id="231"/>
            <p:cNvSpPr/>
            <p:nvPr/>
          </p:nvSpPr>
          <p:spPr>
            <a:xfrm flipH="false" flipV="false" rot="0">
              <a:off x="0" y="0"/>
              <a:ext cx="1866723" cy="644035"/>
            </a:xfrm>
            <a:custGeom>
              <a:avLst/>
              <a:gdLst/>
              <a:ahLst/>
              <a:cxnLst/>
              <a:rect r="r" b="b" t="t" l="l"/>
              <a:pathLst>
                <a:path h="644035" w="1866723">
                  <a:moveTo>
                    <a:pt x="0" y="0"/>
                  </a:moveTo>
                  <a:lnTo>
                    <a:pt x="1866723" y="0"/>
                  </a:lnTo>
                  <a:lnTo>
                    <a:pt x="1866723" y="644035"/>
                  </a:lnTo>
                  <a:lnTo>
                    <a:pt x="0" y="644035"/>
                  </a:lnTo>
                  <a:close/>
                </a:path>
              </a:pathLst>
            </a:custGeom>
            <a:blipFill>
              <a:blip r:embed="rId14">
                <a:alphaModFix amt="0"/>
              </a:blip>
              <a:stretch>
                <a:fillRect l="0" t="-6477" r="0" b="-6476"/>
              </a:stretch>
            </a:blipFill>
          </p:spPr>
        </p:sp>
        <p:sp>
          <p:nvSpPr>
            <p:cNvPr name="TextBox 232" id="232"/>
            <p:cNvSpPr txBox="true"/>
            <p:nvPr/>
          </p:nvSpPr>
          <p:spPr>
            <a:xfrm>
              <a:off x="0" y="95250"/>
              <a:ext cx="1866722" cy="548780"/>
            </a:xfrm>
            <a:prstGeom prst="rect">
              <a:avLst/>
            </a:prstGeom>
          </p:spPr>
          <p:txBody>
            <a:bodyPr anchor="ctr" rtlCol="false" tIns="0" lIns="0" bIns="0" rIns="0"/>
            <a:lstStyle/>
            <a:p>
              <a:pPr algn="l">
                <a:lnSpc>
                  <a:spcPts val="2066"/>
                </a:lnSpc>
              </a:pPr>
              <a:r>
                <a:rPr lang="en-US" sz="2583" b="true">
                  <a:solidFill>
                    <a:srgbClr val="D1610A"/>
                  </a:solidFill>
                  <a:latin typeface="TT Commons Pro Bold"/>
                  <a:ea typeface="TT Commons Pro Bold"/>
                  <a:cs typeface="TT Commons Pro Bold"/>
                  <a:sym typeface="TT Commons Pro Bold"/>
                </a:rPr>
                <a:t>SWIGGY</a:t>
              </a:r>
            </a:p>
          </p:txBody>
        </p:sp>
      </p:grpSp>
      <p:grpSp>
        <p:nvGrpSpPr>
          <p:cNvPr name="Group 233" id="233"/>
          <p:cNvGrpSpPr/>
          <p:nvPr/>
        </p:nvGrpSpPr>
        <p:grpSpPr>
          <a:xfrm rot="0">
            <a:off x="3704272" y="5250142"/>
            <a:ext cx="721890" cy="174203"/>
            <a:chOff x="0" y="0"/>
            <a:chExt cx="962520" cy="232270"/>
          </a:xfrm>
        </p:grpSpPr>
        <p:sp>
          <p:nvSpPr>
            <p:cNvPr name="Freeform 234" id="234"/>
            <p:cNvSpPr/>
            <p:nvPr/>
          </p:nvSpPr>
          <p:spPr>
            <a:xfrm flipH="false" flipV="false" rot="0">
              <a:off x="0" y="0"/>
              <a:ext cx="962533" cy="232283"/>
            </a:xfrm>
            <a:custGeom>
              <a:avLst/>
              <a:gdLst/>
              <a:ahLst/>
              <a:cxnLst/>
              <a:rect r="r" b="b" t="t" l="l"/>
              <a:pathLst>
                <a:path h="232283" w="962533">
                  <a:moveTo>
                    <a:pt x="0" y="0"/>
                  </a:moveTo>
                  <a:lnTo>
                    <a:pt x="962533" y="0"/>
                  </a:lnTo>
                  <a:lnTo>
                    <a:pt x="962533" y="232283"/>
                  </a:lnTo>
                  <a:lnTo>
                    <a:pt x="0" y="232283"/>
                  </a:lnTo>
                  <a:close/>
                </a:path>
              </a:pathLst>
            </a:custGeom>
            <a:blipFill>
              <a:blip r:embed="rId13">
                <a:alphaModFix amt="0"/>
              </a:blip>
              <a:stretch>
                <a:fillRect l="0" t="-30688" r="1" b="-30683"/>
              </a:stretch>
            </a:blipFill>
          </p:spPr>
        </p:sp>
      </p:grpSp>
      <p:grpSp>
        <p:nvGrpSpPr>
          <p:cNvPr name="Group 235" id="235"/>
          <p:cNvGrpSpPr/>
          <p:nvPr/>
        </p:nvGrpSpPr>
        <p:grpSpPr>
          <a:xfrm rot="0">
            <a:off x="3704272" y="5278717"/>
            <a:ext cx="721890" cy="145628"/>
            <a:chOff x="0" y="0"/>
            <a:chExt cx="962520" cy="194170"/>
          </a:xfrm>
        </p:grpSpPr>
        <p:sp>
          <p:nvSpPr>
            <p:cNvPr name="Freeform 236" id="236"/>
            <p:cNvSpPr/>
            <p:nvPr/>
          </p:nvSpPr>
          <p:spPr>
            <a:xfrm flipH="false" flipV="false" rot="0">
              <a:off x="0" y="0"/>
              <a:ext cx="962520" cy="194175"/>
            </a:xfrm>
            <a:custGeom>
              <a:avLst/>
              <a:gdLst/>
              <a:ahLst/>
              <a:cxnLst/>
              <a:rect r="r" b="b" t="t" l="l"/>
              <a:pathLst>
                <a:path h="194175" w="962520">
                  <a:moveTo>
                    <a:pt x="0" y="0"/>
                  </a:moveTo>
                  <a:lnTo>
                    <a:pt x="962520" y="0"/>
                  </a:lnTo>
                  <a:lnTo>
                    <a:pt x="962520" y="194175"/>
                  </a:lnTo>
                  <a:lnTo>
                    <a:pt x="0" y="194175"/>
                  </a:lnTo>
                  <a:close/>
                </a:path>
              </a:pathLst>
            </a:custGeom>
            <a:blipFill>
              <a:blip r:embed="rId14">
                <a:alphaModFix amt="0"/>
              </a:blip>
              <a:stretch>
                <a:fillRect l="0" t="-46588" r="0" b="-46585"/>
              </a:stretch>
            </a:blipFill>
          </p:spPr>
        </p:sp>
        <p:sp>
          <p:nvSpPr>
            <p:cNvPr name="TextBox 237" id="237"/>
            <p:cNvSpPr txBox="true"/>
            <p:nvPr/>
          </p:nvSpPr>
          <p:spPr>
            <a:xfrm>
              <a:off x="0" y="38100"/>
              <a:ext cx="962520" cy="156070"/>
            </a:xfrm>
            <a:prstGeom prst="rect">
              <a:avLst/>
            </a:prstGeom>
          </p:spPr>
          <p:txBody>
            <a:bodyPr anchor="ctr" rtlCol="false" tIns="0" lIns="0" bIns="0" rIns="0"/>
            <a:lstStyle/>
            <a:p>
              <a:pPr algn="l">
                <a:lnSpc>
                  <a:spcPts val="687"/>
                </a:lnSpc>
              </a:pPr>
              <a:r>
                <a:rPr lang="en-US" sz="812" b="true">
                  <a:solidFill>
                    <a:srgbClr val="A76C6B"/>
                  </a:solidFill>
                  <a:latin typeface="TT Commons Pro Bold"/>
                  <a:ea typeface="TT Commons Pro Bold"/>
                  <a:cs typeface="TT Commons Pro Bold"/>
                  <a:sym typeface="TT Commons Pro Bold"/>
                </a:rPr>
                <a:t>Great Choices</a:t>
              </a:r>
            </a:p>
          </p:txBody>
        </p:sp>
      </p:grpSp>
      <p:grpSp>
        <p:nvGrpSpPr>
          <p:cNvPr name="Group 238" id="238"/>
          <p:cNvGrpSpPr/>
          <p:nvPr/>
        </p:nvGrpSpPr>
        <p:grpSpPr>
          <a:xfrm rot="0">
            <a:off x="5651192" y="4892840"/>
            <a:ext cx="729186" cy="341852"/>
            <a:chOff x="0" y="0"/>
            <a:chExt cx="972249" cy="455803"/>
          </a:xfrm>
        </p:grpSpPr>
        <p:sp>
          <p:nvSpPr>
            <p:cNvPr name="Freeform 239" id="239"/>
            <p:cNvSpPr/>
            <p:nvPr/>
          </p:nvSpPr>
          <p:spPr>
            <a:xfrm flipH="false" flipV="false" rot="0">
              <a:off x="0" y="0"/>
              <a:ext cx="972185" cy="455803"/>
            </a:xfrm>
            <a:custGeom>
              <a:avLst/>
              <a:gdLst/>
              <a:ahLst/>
              <a:cxnLst/>
              <a:rect r="r" b="b" t="t" l="l"/>
              <a:pathLst>
                <a:path h="455803" w="972185">
                  <a:moveTo>
                    <a:pt x="0" y="0"/>
                  </a:moveTo>
                  <a:lnTo>
                    <a:pt x="972185" y="0"/>
                  </a:lnTo>
                  <a:lnTo>
                    <a:pt x="972185" y="455803"/>
                  </a:lnTo>
                  <a:lnTo>
                    <a:pt x="0" y="455803"/>
                  </a:lnTo>
                  <a:close/>
                </a:path>
              </a:pathLst>
            </a:custGeom>
            <a:blipFill>
              <a:blip r:embed="rId13">
                <a:alphaModFix amt="0"/>
              </a:blip>
              <a:stretch>
                <a:fillRect l="-10193" t="0" r="-10198" b="0"/>
              </a:stretch>
            </a:blipFill>
          </p:spPr>
        </p:sp>
      </p:grpSp>
      <p:grpSp>
        <p:nvGrpSpPr>
          <p:cNvPr name="Group 240" id="240"/>
          <p:cNvGrpSpPr/>
          <p:nvPr/>
        </p:nvGrpSpPr>
        <p:grpSpPr>
          <a:xfrm rot="0">
            <a:off x="5651192" y="4928559"/>
            <a:ext cx="729186" cy="306134"/>
            <a:chOff x="0" y="0"/>
            <a:chExt cx="972249" cy="408178"/>
          </a:xfrm>
        </p:grpSpPr>
        <p:sp>
          <p:nvSpPr>
            <p:cNvPr name="Freeform 241" id="241"/>
            <p:cNvSpPr/>
            <p:nvPr/>
          </p:nvSpPr>
          <p:spPr>
            <a:xfrm flipH="false" flipV="false" rot="0">
              <a:off x="0" y="0"/>
              <a:ext cx="972248" cy="408178"/>
            </a:xfrm>
            <a:custGeom>
              <a:avLst/>
              <a:gdLst/>
              <a:ahLst/>
              <a:cxnLst/>
              <a:rect r="r" b="b" t="t" l="l"/>
              <a:pathLst>
                <a:path h="408178" w="972248">
                  <a:moveTo>
                    <a:pt x="0" y="0"/>
                  </a:moveTo>
                  <a:lnTo>
                    <a:pt x="972248" y="0"/>
                  </a:lnTo>
                  <a:lnTo>
                    <a:pt x="972248" y="408178"/>
                  </a:lnTo>
                  <a:lnTo>
                    <a:pt x="0" y="408178"/>
                  </a:lnTo>
                  <a:close/>
                </a:path>
              </a:pathLst>
            </a:custGeom>
            <a:blipFill>
              <a:blip r:embed="rId14">
                <a:alphaModFix amt="0"/>
              </a:blip>
              <a:stretch>
                <a:fillRect l="-3865" t="0" r="-3865" b="0"/>
              </a:stretch>
            </a:blipFill>
          </p:spPr>
        </p:sp>
        <p:sp>
          <p:nvSpPr>
            <p:cNvPr name="TextBox 242" id="242"/>
            <p:cNvSpPr txBox="true"/>
            <p:nvPr/>
          </p:nvSpPr>
          <p:spPr>
            <a:xfrm>
              <a:off x="0" y="47625"/>
              <a:ext cx="972249" cy="360553"/>
            </a:xfrm>
            <a:prstGeom prst="rect">
              <a:avLst/>
            </a:prstGeom>
          </p:spPr>
          <p:txBody>
            <a:bodyPr anchor="ctr" rtlCol="false" tIns="0" lIns="0" bIns="0" rIns="0"/>
            <a:lstStyle/>
            <a:p>
              <a:pPr algn="l">
                <a:lnSpc>
                  <a:spcPts val="1368"/>
                </a:lnSpc>
              </a:pPr>
              <a:r>
                <a:rPr lang="en-US" b="true" sz="1589" i="true">
                  <a:solidFill>
                    <a:srgbClr val="CFACAA"/>
                  </a:solidFill>
                  <a:latin typeface="TT Commons Pro Bold Italics"/>
                  <a:ea typeface="TT Commons Pro Bold Italics"/>
                  <a:cs typeface="TT Commons Pro Bold Italics"/>
                  <a:sym typeface="TT Commons Pro Bold Italics"/>
                </a:rPr>
                <a:t>zomato</a:t>
              </a:r>
            </a:p>
          </p:txBody>
        </p:sp>
      </p:grpSp>
      <p:grpSp>
        <p:nvGrpSpPr>
          <p:cNvPr name="Group 243" id="243"/>
          <p:cNvGrpSpPr/>
          <p:nvPr/>
        </p:nvGrpSpPr>
        <p:grpSpPr>
          <a:xfrm rot="0">
            <a:off x="3733438" y="2814657"/>
            <a:ext cx="707307" cy="365731"/>
            <a:chOff x="0" y="0"/>
            <a:chExt cx="943077" cy="487642"/>
          </a:xfrm>
        </p:grpSpPr>
        <p:sp>
          <p:nvSpPr>
            <p:cNvPr name="Freeform 244" id="244"/>
            <p:cNvSpPr/>
            <p:nvPr/>
          </p:nvSpPr>
          <p:spPr>
            <a:xfrm flipH="false" flipV="false" rot="0">
              <a:off x="0" y="0"/>
              <a:ext cx="943102" cy="487680"/>
            </a:xfrm>
            <a:custGeom>
              <a:avLst/>
              <a:gdLst/>
              <a:ahLst/>
              <a:cxnLst/>
              <a:rect r="r" b="b" t="t" l="l"/>
              <a:pathLst>
                <a:path h="487680" w="943102">
                  <a:moveTo>
                    <a:pt x="0" y="0"/>
                  </a:moveTo>
                  <a:lnTo>
                    <a:pt x="943102" y="0"/>
                  </a:lnTo>
                  <a:lnTo>
                    <a:pt x="943102" y="487680"/>
                  </a:lnTo>
                  <a:lnTo>
                    <a:pt x="0" y="487680"/>
                  </a:lnTo>
                  <a:close/>
                </a:path>
              </a:pathLst>
            </a:custGeom>
            <a:blipFill>
              <a:blip r:embed="rId13">
                <a:alphaModFix amt="0"/>
              </a:blip>
              <a:stretch>
                <a:fillRect l="-16388" t="0" r="-16385" b="7"/>
              </a:stretch>
            </a:blipFill>
          </p:spPr>
        </p:sp>
      </p:grpSp>
      <p:grpSp>
        <p:nvGrpSpPr>
          <p:cNvPr name="Group 245" id="245"/>
          <p:cNvGrpSpPr/>
          <p:nvPr/>
        </p:nvGrpSpPr>
        <p:grpSpPr>
          <a:xfrm rot="0">
            <a:off x="3733438" y="2807513"/>
            <a:ext cx="707307" cy="372875"/>
            <a:chOff x="0" y="0"/>
            <a:chExt cx="943077" cy="497167"/>
          </a:xfrm>
        </p:grpSpPr>
        <p:sp>
          <p:nvSpPr>
            <p:cNvPr name="Freeform 246" id="246"/>
            <p:cNvSpPr/>
            <p:nvPr/>
          </p:nvSpPr>
          <p:spPr>
            <a:xfrm flipH="false" flipV="false" rot="0">
              <a:off x="0" y="0"/>
              <a:ext cx="943076" cy="497172"/>
            </a:xfrm>
            <a:custGeom>
              <a:avLst/>
              <a:gdLst/>
              <a:ahLst/>
              <a:cxnLst/>
              <a:rect r="r" b="b" t="t" l="l"/>
              <a:pathLst>
                <a:path h="497172" w="943076">
                  <a:moveTo>
                    <a:pt x="0" y="0"/>
                  </a:moveTo>
                  <a:lnTo>
                    <a:pt x="943076" y="0"/>
                  </a:lnTo>
                  <a:lnTo>
                    <a:pt x="943076" y="497172"/>
                  </a:lnTo>
                  <a:lnTo>
                    <a:pt x="0" y="497172"/>
                  </a:lnTo>
                  <a:close/>
                </a:path>
              </a:pathLst>
            </a:custGeom>
            <a:blipFill>
              <a:blip r:embed="rId14">
                <a:alphaModFix amt="0"/>
              </a:blip>
              <a:stretch>
                <a:fillRect l="-17638" t="0" r="-17638" b="0"/>
              </a:stretch>
            </a:blipFill>
          </p:spPr>
        </p:sp>
        <p:sp>
          <p:nvSpPr>
            <p:cNvPr name="TextBox 247" id="247"/>
            <p:cNvSpPr txBox="true"/>
            <p:nvPr/>
          </p:nvSpPr>
          <p:spPr>
            <a:xfrm>
              <a:off x="0" y="-9525"/>
              <a:ext cx="943077" cy="506692"/>
            </a:xfrm>
            <a:prstGeom prst="rect">
              <a:avLst/>
            </a:prstGeom>
          </p:spPr>
          <p:txBody>
            <a:bodyPr anchor="ctr" rtlCol="false" tIns="0" lIns="0" bIns="0" rIns="0"/>
            <a:lstStyle/>
            <a:p>
              <a:pPr algn="ctr">
                <a:lnSpc>
                  <a:spcPts val="1204"/>
                </a:lnSpc>
              </a:pPr>
              <a:r>
                <a:rPr lang="en-US" sz="987" b="true">
                  <a:solidFill>
                    <a:srgbClr val="D68481"/>
                  </a:solidFill>
                  <a:latin typeface="TT Commons Pro Bold"/>
                  <a:ea typeface="TT Commons Pro Bold"/>
                  <a:cs typeface="TT Commons Pro Bold"/>
                  <a:sym typeface="TT Commons Pro Bold"/>
                </a:rPr>
                <a:t>FOOD</a:t>
              </a:r>
            </a:p>
            <a:p>
              <a:pPr algn="ctr">
                <a:lnSpc>
                  <a:spcPts val="1204"/>
                </a:lnSpc>
              </a:pPr>
              <a:r>
                <a:rPr lang="en-US" sz="987" b="true">
                  <a:solidFill>
                    <a:srgbClr val="D68481"/>
                  </a:solidFill>
                  <a:latin typeface="TT Commons Pro Bold"/>
                  <a:ea typeface="TT Commons Pro Bold"/>
                  <a:cs typeface="TT Commons Pro Bold"/>
                  <a:sym typeface="TT Commons Pro Bold"/>
                </a:rPr>
                <a:t>DELIVERY</a:t>
              </a:r>
            </a:p>
          </p:txBody>
        </p:sp>
      </p:grpSp>
      <p:grpSp>
        <p:nvGrpSpPr>
          <p:cNvPr name="Group 248" id="248"/>
          <p:cNvGrpSpPr/>
          <p:nvPr/>
        </p:nvGrpSpPr>
        <p:grpSpPr>
          <a:xfrm rot="0">
            <a:off x="3609470" y="2275065"/>
            <a:ext cx="940651" cy="443170"/>
            <a:chOff x="0" y="0"/>
            <a:chExt cx="1254201" cy="590893"/>
          </a:xfrm>
        </p:grpSpPr>
        <p:sp>
          <p:nvSpPr>
            <p:cNvPr name="Freeform 249" id="249"/>
            <p:cNvSpPr/>
            <p:nvPr/>
          </p:nvSpPr>
          <p:spPr>
            <a:xfrm flipH="false" flipV="false" rot="0">
              <a:off x="0" y="0"/>
              <a:ext cx="1254252" cy="590931"/>
            </a:xfrm>
            <a:custGeom>
              <a:avLst/>
              <a:gdLst/>
              <a:ahLst/>
              <a:cxnLst/>
              <a:rect r="r" b="b" t="t" l="l"/>
              <a:pathLst>
                <a:path h="590931" w="1254252">
                  <a:moveTo>
                    <a:pt x="0" y="0"/>
                  </a:moveTo>
                  <a:lnTo>
                    <a:pt x="1254252" y="0"/>
                  </a:lnTo>
                  <a:lnTo>
                    <a:pt x="1254252" y="590931"/>
                  </a:lnTo>
                  <a:lnTo>
                    <a:pt x="0" y="590931"/>
                  </a:lnTo>
                  <a:close/>
                </a:path>
              </a:pathLst>
            </a:custGeom>
            <a:blipFill>
              <a:blip r:embed="rId13">
                <a:alphaModFix amt="0"/>
              </a:blip>
              <a:stretch>
                <a:fillRect l="-10489" t="0" r="-10485" b="6"/>
              </a:stretch>
            </a:blipFill>
          </p:spPr>
        </p:sp>
      </p:grpSp>
      <p:grpSp>
        <p:nvGrpSpPr>
          <p:cNvPr name="Group 250" id="250"/>
          <p:cNvGrpSpPr/>
          <p:nvPr/>
        </p:nvGrpSpPr>
        <p:grpSpPr>
          <a:xfrm rot="0">
            <a:off x="3609470" y="2317928"/>
            <a:ext cx="940651" cy="400307"/>
            <a:chOff x="0" y="0"/>
            <a:chExt cx="1254201" cy="533743"/>
          </a:xfrm>
        </p:grpSpPr>
        <p:sp>
          <p:nvSpPr>
            <p:cNvPr name="Freeform 251" id="251"/>
            <p:cNvSpPr/>
            <p:nvPr/>
          </p:nvSpPr>
          <p:spPr>
            <a:xfrm flipH="false" flipV="false" rot="0">
              <a:off x="0" y="0"/>
              <a:ext cx="1254201" cy="533746"/>
            </a:xfrm>
            <a:custGeom>
              <a:avLst/>
              <a:gdLst/>
              <a:ahLst/>
              <a:cxnLst/>
              <a:rect r="r" b="b" t="t" l="l"/>
              <a:pathLst>
                <a:path h="533746" w="1254201">
                  <a:moveTo>
                    <a:pt x="0" y="0"/>
                  </a:moveTo>
                  <a:lnTo>
                    <a:pt x="1254201" y="0"/>
                  </a:lnTo>
                  <a:lnTo>
                    <a:pt x="1254201" y="533746"/>
                  </a:lnTo>
                  <a:lnTo>
                    <a:pt x="0" y="533746"/>
                  </a:lnTo>
                  <a:close/>
                </a:path>
              </a:pathLst>
            </a:custGeom>
            <a:blipFill>
              <a:blip r:embed="rId14">
                <a:alphaModFix amt="0"/>
              </a:blip>
              <a:stretch>
                <a:fillRect l="-4601" t="0" r="-4601" b="0"/>
              </a:stretch>
            </a:blipFill>
          </p:spPr>
        </p:sp>
        <p:sp>
          <p:nvSpPr>
            <p:cNvPr name="TextBox 252" id="252"/>
            <p:cNvSpPr txBox="true"/>
            <p:nvPr/>
          </p:nvSpPr>
          <p:spPr>
            <a:xfrm>
              <a:off x="0" y="57150"/>
              <a:ext cx="1254201" cy="476593"/>
            </a:xfrm>
            <a:prstGeom prst="rect">
              <a:avLst/>
            </a:prstGeom>
          </p:spPr>
          <p:txBody>
            <a:bodyPr anchor="ctr" rtlCol="false" tIns="0" lIns="0" bIns="0" rIns="0"/>
            <a:lstStyle/>
            <a:p>
              <a:pPr algn="l">
                <a:lnSpc>
                  <a:spcPts val="1806"/>
                </a:lnSpc>
              </a:pPr>
              <a:r>
                <a:rPr lang="en-US" b="true" sz="2049" i="true">
                  <a:solidFill>
                    <a:srgbClr val="EBC0C0"/>
                  </a:solidFill>
                  <a:latin typeface="TT Commons Pro Bold Italics"/>
                  <a:ea typeface="TT Commons Pro Bold Italics"/>
                  <a:cs typeface="TT Commons Pro Bold Italics"/>
                  <a:sym typeface="TT Commons Pro Bold Italics"/>
                </a:rPr>
                <a:t>zomato</a:t>
              </a:r>
            </a:p>
          </p:txBody>
        </p:sp>
      </p:grpSp>
      <p:grpSp>
        <p:nvGrpSpPr>
          <p:cNvPr name="Group 253" id="253"/>
          <p:cNvGrpSpPr/>
          <p:nvPr/>
        </p:nvGrpSpPr>
        <p:grpSpPr>
          <a:xfrm rot="0">
            <a:off x="4258447" y="342719"/>
            <a:ext cx="2165680" cy="972817"/>
            <a:chOff x="0" y="0"/>
            <a:chExt cx="2887574" cy="1297089"/>
          </a:xfrm>
        </p:grpSpPr>
        <p:sp>
          <p:nvSpPr>
            <p:cNvPr name="Freeform 254" id="254"/>
            <p:cNvSpPr/>
            <p:nvPr/>
          </p:nvSpPr>
          <p:spPr>
            <a:xfrm flipH="false" flipV="false" rot="0">
              <a:off x="0" y="0"/>
              <a:ext cx="2887599" cy="1297051"/>
            </a:xfrm>
            <a:custGeom>
              <a:avLst/>
              <a:gdLst/>
              <a:ahLst/>
              <a:cxnLst/>
              <a:rect r="r" b="b" t="t" l="l"/>
              <a:pathLst>
                <a:path h="1297051" w="2887599">
                  <a:moveTo>
                    <a:pt x="0" y="0"/>
                  </a:moveTo>
                  <a:lnTo>
                    <a:pt x="2887599" y="0"/>
                  </a:lnTo>
                  <a:lnTo>
                    <a:pt x="2887599" y="1297051"/>
                  </a:lnTo>
                  <a:lnTo>
                    <a:pt x="0" y="1297051"/>
                  </a:lnTo>
                  <a:close/>
                </a:path>
              </a:pathLst>
            </a:custGeom>
            <a:blipFill>
              <a:blip r:embed="rId13">
                <a:alphaModFix amt="0"/>
              </a:blip>
              <a:stretch>
                <a:fillRect l="-7673" t="0" r="-7672" b="-2"/>
              </a:stretch>
            </a:blipFill>
          </p:spPr>
        </p:sp>
      </p:grpSp>
      <p:grpSp>
        <p:nvGrpSpPr>
          <p:cNvPr name="Group 255" id="255"/>
          <p:cNvGrpSpPr/>
          <p:nvPr/>
        </p:nvGrpSpPr>
        <p:grpSpPr>
          <a:xfrm rot="0">
            <a:off x="4258447" y="428444"/>
            <a:ext cx="2165680" cy="887101"/>
            <a:chOff x="0" y="0"/>
            <a:chExt cx="2887574" cy="1182802"/>
          </a:xfrm>
        </p:grpSpPr>
        <p:sp>
          <p:nvSpPr>
            <p:cNvPr name="Freeform 256" id="256"/>
            <p:cNvSpPr/>
            <p:nvPr/>
          </p:nvSpPr>
          <p:spPr>
            <a:xfrm flipH="false" flipV="false" rot="0">
              <a:off x="0" y="0"/>
              <a:ext cx="2887573" cy="1182799"/>
            </a:xfrm>
            <a:custGeom>
              <a:avLst/>
              <a:gdLst/>
              <a:ahLst/>
              <a:cxnLst/>
              <a:rect r="r" b="b" t="t" l="l"/>
              <a:pathLst>
                <a:path h="1182799" w="2887573">
                  <a:moveTo>
                    <a:pt x="0" y="0"/>
                  </a:moveTo>
                  <a:lnTo>
                    <a:pt x="2887573" y="0"/>
                  </a:lnTo>
                  <a:lnTo>
                    <a:pt x="2887573" y="1182799"/>
                  </a:lnTo>
                  <a:lnTo>
                    <a:pt x="0" y="1182799"/>
                  </a:lnTo>
                  <a:close/>
                </a:path>
              </a:pathLst>
            </a:custGeom>
            <a:blipFill>
              <a:blip r:embed="rId14">
                <a:alphaModFix amt="0"/>
              </a:blip>
              <a:stretch>
                <a:fillRect l="-2555" t="0" r="-2555" b="0"/>
              </a:stretch>
            </a:blipFill>
          </p:spPr>
        </p:sp>
        <p:sp>
          <p:nvSpPr>
            <p:cNvPr name="TextBox 257" id="257"/>
            <p:cNvSpPr txBox="true"/>
            <p:nvPr/>
          </p:nvSpPr>
          <p:spPr>
            <a:xfrm>
              <a:off x="0" y="114300"/>
              <a:ext cx="2887574" cy="1068502"/>
            </a:xfrm>
            <a:prstGeom prst="rect">
              <a:avLst/>
            </a:prstGeom>
          </p:spPr>
          <p:txBody>
            <a:bodyPr anchor="ctr" rtlCol="false" tIns="0" lIns="0" bIns="0" rIns="0"/>
            <a:lstStyle/>
            <a:p>
              <a:pPr algn="l">
                <a:lnSpc>
                  <a:spcPts val="4133"/>
                </a:lnSpc>
              </a:pPr>
              <a:r>
                <a:rPr lang="en-US" sz="4495" b="true">
                  <a:solidFill>
                    <a:srgbClr val="C0161D"/>
                  </a:solidFill>
                  <a:latin typeface="TT Commons Pro Bold"/>
                  <a:ea typeface="TT Commons Pro Bold"/>
                  <a:cs typeface="TT Commons Pro Bold"/>
                  <a:sym typeface="TT Commons Pro Bold"/>
                </a:rPr>
                <a:t>zomato</a:t>
              </a:r>
            </a:p>
          </p:txBody>
        </p:sp>
      </p:grpSp>
      <p:sp>
        <p:nvSpPr>
          <p:cNvPr name="TextBox 258" id="258"/>
          <p:cNvSpPr txBox="true"/>
          <p:nvPr/>
        </p:nvSpPr>
        <p:spPr>
          <a:xfrm rot="0">
            <a:off x="6900043" y="-79810"/>
            <a:ext cx="1077277" cy="592836"/>
          </a:xfrm>
          <a:prstGeom prst="rect">
            <a:avLst/>
          </a:prstGeom>
        </p:spPr>
        <p:txBody>
          <a:bodyPr anchor="t" rtlCol="false" tIns="0" lIns="0" bIns="0" rIns="0">
            <a:spAutoFit/>
          </a:bodyPr>
          <a:lstStyle/>
          <a:p>
            <a:pPr algn="ctr">
              <a:lnSpc>
                <a:spcPts val="3911"/>
              </a:lnSpc>
            </a:pPr>
            <a:r>
              <a:rPr lang="en-US" sz="2399" b="true">
                <a:solidFill>
                  <a:srgbClr val="CE1C2F"/>
                </a:solidFill>
                <a:latin typeface="TT Commons Pro Bold"/>
                <a:ea typeface="TT Commons Pro Bold"/>
                <a:cs typeface="TT Commons Pro Bold"/>
                <a:sym typeface="TT Commons Pro Bold"/>
              </a:rPr>
              <a:t>Agenda</a:t>
            </a:r>
          </a:p>
        </p:txBody>
      </p:sp>
      <p:grpSp>
        <p:nvGrpSpPr>
          <p:cNvPr name="Group 259" id="259"/>
          <p:cNvGrpSpPr/>
          <p:nvPr/>
        </p:nvGrpSpPr>
        <p:grpSpPr>
          <a:xfrm rot="0">
            <a:off x="780498" y="9639995"/>
            <a:ext cx="496395" cy="583054"/>
            <a:chOff x="0" y="0"/>
            <a:chExt cx="661860" cy="777405"/>
          </a:xfrm>
        </p:grpSpPr>
        <p:sp>
          <p:nvSpPr>
            <p:cNvPr name="Freeform 260" id="260" descr="preencoded.png"/>
            <p:cNvSpPr/>
            <p:nvPr/>
          </p:nvSpPr>
          <p:spPr>
            <a:xfrm flipH="false" flipV="false" rot="0">
              <a:off x="0" y="0"/>
              <a:ext cx="661797" cy="777367"/>
            </a:xfrm>
            <a:custGeom>
              <a:avLst/>
              <a:gdLst/>
              <a:ahLst/>
              <a:cxnLst/>
              <a:rect r="r" b="b" t="t" l="l"/>
              <a:pathLst>
                <a:path h="777367" w="661797">
                  <a:moveTo>
                    <a:pt x="0" y="0"/>
                  </a:moveTo>
                  <a:lnTo>
                    <a:pt x="661797" y="0"/>
                  </a:lnTo>
                  <a:lnTo>
                    <a:pt x="661797" y="777367"/>
                  </a:lnTo>
                  <a:lnTo>
                    <a:pt x="0" y="777367"/>
                  </a:lnTo>
                  <a:lnTo>
                    <a:pt x="0" y="0"/>
                  </a:lnTo>
                  <a:close/>
                </a:path>
              </a:pathLst>
            </a:custGeom>
            <a:blipFill>
              <a:blip r:embed="rId63"/>
              <a:stretch>
                <a:fillRect l="-268" t="0" r="-276" b="-4"/>
              </a:stretch>
            </a:blipFill>
          </p:spPr>
        </p:sp>
      </p:grpSp>
      <p:grpSp>
        <p:nvGrpSpPr>
          <p:cNvPr name="Group 261" id="261"/>
          <p:cNvGrpSpPr/>
          <p:nvPr/>
        </p:nvGrpSpPr>
        <p:grpSpPr>
          <a:xfrm rot="0">
            <a:off x="1370876" y="9829705"/>
            <a:ext cx="896903" cy="393354"/>
            <a:chOff x="0" y="0"/>
            <a:chExt cx="1195870" cy="524472"/>
          </a:xfrm>
        </p:grpSpPr>
        <p:sp>
          <p:nvSpPr>
            <p:cNvPr name="Freeform 262" id="262"/>
            <p:cNvSpPr/>
            <p:nvPr/>
          </p:nvSpPr>
          <p:spPr>
            <a:xfrm flipH="false" flipV="false" rot="0">
              <a:off x="0" y="0"/>
              <a:ext cx="1195832" cy="524510"/>
            </a:xfrm>
            <a:custGeom>
              <a:avLst/>
              <a:gdLst/>
              <a:ahLst/>
              <a:cxnLst/>
              <a:rect r="r" b="b" t="t" l="l"/>
              <a:pathLst>
                <a:path h="524510" w="1195832">
                  <a:moveTo>
                    <a:pt x="0" y="0"/>
                  </a:moveTo>
                  <a:lnTo>
                    <a:pt x="1195832" y="0"/>
                  </a:lnTo>
                  <a:lnTo>
                    <a:pt x="1195832" y="524510"/>
                  </a:lnTo>
                  <a:lnTo>
                    <a:pt x="0" y="524510"/>
                  </a:lnTo>
                  <a:close/>
                </a:path>
              </a:pathLst>
            </a:custGeom>
            <a:blipFill>
              <a:blip r:embed="rId13">
                <a:alphaModFix amt="0"/>
              </a:blip>
              <a:stretch>
                <a:fillRect l="-6309" t="0" r="-6312" b="7"/>
              </a:stretch>
            </a:blipFill>
          </p:spPr>
        </p:sp>
      </p:grpSp>
      <p:grpSp>
        <p:nvGrpSpPr>
          <p:cNvPr name="Group 263" id="263"/>
          <p:cNvGrpSpPr/>
          <p:nvPr/>
        </p:nvGrpSpPr>
        <p:grpSpPr>
          <a:xfrm rot="0">
            <a:off x="1370876" y="9865424"/>
            <a:ext cx="896903" cy="357635"/>
            <a:chOff x="0" y="0"/>
            <a:chExt cx="1195870" cy="476847"/>
          </a:xfrm>
        </p:grpSpPr>
        <p:sp>
          <p:nvSpPr>
            <p:cNvPr name="Freeform 264" id="264"/>
            <p:cNvSpPr/>
            <p:nvPr/>
          </p:nvSpPr>
          <p:spPr>
            <a:xfrm flipH="false" flipV="false" rot="0">
              <a:off x="0" y="0"/>
              <a:ext cx="1195871" cy="476844"/>
            </a:xfrm>
            <a:custGeom>
              <a:avLst/>
              <a:gdLst/>
              <a:ahLst/>
              <a:cxnLst/>
              <a:rect r="r" b="b" t="t" l="l"/>
              <a:pathLst>
                <a:path h="476844" w="1195871">
                  <a:moveTo>
                    <a:pt x="0" y="0"/>
                  </a:moveTo>
                  <a:lnTo>
                    <a:pt x="1195871" y="0"/>
                  </a:lnTo>
                  <a:lnTo>
                    <a:pt x="1195871" y="476844"/>
                  </a:lnTo>
                  <a:lnTo>
                    <a:pt x="0" y="476844"/>
                  </a:lnTo>
                  <a:close/>
                </a:path>
              </a:pathLst>
            </a:custGeom>
            <a:blipFill>
              <a:blip r:embed="rId14">
                <a:alphaModFix amt="0"/>
              </a:blip>
              <a:stretch>
                <a:fillRect l="-1160" t="0" r="-1160" b="0"/>
              </a:stretch>
            </a:blipFill>
          </p:spPr>
        </p:sp>
        <p:sp>
          <p:nvSpPr>
            <p:cNvPr name="TextBox 265" id="265"/>
            <p:cNvSpPr txBox="true"/>
            <p:nvPr/>
          </p:nvSpPr>
          <p:spPr>
            <a:xfrm>
              <a:off x="0" y="47625"/>
              <a:ext cx="1195870" cy="429222"/>
            </a:xfrm>
            <a:prstGeom prst="rect">
              <a:avLst/>
            </a:prstGeom>
          </p:spPr>
          <p:txBody>
            <a:bodyPr anchor="ctr" rtlCol="false" tIns="0" lIns="0" bIns="0" rIns="0"/>
            <a:lstStyle/>
            <a:p>
              <a:pPr algn="l">
                <a:lnSpc>
                  <a:spcPts val="1765"/>
                </a:lnSpc>
              </a:pPr>
              <a:r>
                <a:rPr lang="en-US" sz="1839" b="true">
                  <a:solidFill>
                    <a:srgbClr val="949494"/>
                  </a:solidFill>
                  <a:latin typeface="TT Commons Pro Bold"/>
                  <a:ea typeface="TT Commons Pro Bold"/>
                  <a:cs typeface="TT Commons Pro Bold"/>
                  <a:sym typeface="TT Commons Pro Bold"/>
                </a:rPr>
                <a:t>Project:</a:t>
              </a:r>
            </a:p>
          </p:txBody>
        </p:sp>
      </p:grpSp>
      <p:sp>
        <p:nvSpPr>
          <p:cNvPr name="TextBox 266" id="266"/>
          <p:cNvSpPr txBox="true"/>
          <p:nvPr/>
        </p:nvSpPr>
        <p:spPr>
          <a:xfrm rot="0">
            <a:off x="2267779" y="9793462"/>
            <a:ext cx="7699296" cy="383410"/>
          </a:xfrm>
          <a:prstGeom prst="rect">
            <a:avLst/>
          </a:prstGeom>
        </p:spPr>
        <p:txBody>
          <a:bodyPr anchor="t" rtlCol="false" tIns="0" lIns="0" bIns="0" rIns="0">
            <a:spAutoFit/>
          </a:bodyPr>
          <a:lstStyle/>
          <a:p>
            <a:pPr algn="ctr">
              <a:lnSpc>
                <a:spcPts val="2770"/>
              </a:lnSpc>
            </a:pPr>
            <a:r>
              <a:rPr lang="en-US" sz="1700" b="true">
                <a:solidFill>
                  <a:srgbClr val="ED5E40"/>
                </a:solidFill>
                <a:latin typeface="TT Commons Pro Bold"/>
                <a:ea typeface="TT Commons Pro Bold"/>
                <a:cs typeface="TT Commons Pro Bold"/>
                <a:sym typeface="TT Commons Pro Bold"/>
              </a:rPr>
              <a:t>SWIGGY</a:t>
            </a:r>
            <a:r>
              <a:rPr lang="en-US" sz="1700" b="true">
                <a:solidFill>
                  <a:srgbClr val="CE1C2F"/>
                </a:solidFill>
                <a:latin typeface="TT Commons Pro Bold"/>
                <a:ea typeface="TT Commons Pro Bold"/>
                <a:cs typeface="TT Commons Pro Bold"/>
                <a:sym typeface="TT Commons Pro Bold"/>
              </a:rPr>
              <a:t> </a:t>
            </a:r>
            <a:r>
              <a:rPr lang="en-US" sz="1700" b="true">
                <a:solidFill>
                  <a:srgbClr val="F2EFEB"/>
                </a:solidFill>
                <a:latin typeface="TT Commons Pro Bold"/>
                <a:ea typeface="TT Commons Pro Bold"/>
                <a:cs typeface="TT Commons Pro Bold"/>
                <a:sym typeface="TT Commons Pro Bold"/>
              </a:rPr>
              <a:t>VS</a:t>
            </a:r>
            <a:r>
              <a:rPr lang="en-US" sz="1700" b="true">
                <a:solidFill>
                  <a:srgbClr val="CE1C2F"/>
                </a:solidFill>
                <a:latin typeface="TT Commons Pro Bold"/>
                <a:ea typeface="TT Commons Pro Bold"/>
                <a:cs typeface="TT Commons Pro Bold"/>
                <a:sym typeface="TT Commons Pro Bold"/>
              </a:rPr>
              <a:t> ZOMATO</a:t>
            </a:r>
            <a:r>
              <a:rPr lang="en-US" sz="1700" b="true">
                <a:solidFill>
                  <a:srgbClr val="F2EFEB"/>
                </a:solidFill>
                <a:latin typeface="TT Commons Pro Bold"/>
                <a:ea typeface="TT Commons Pro Bold"/>
                <a:cs typeface="TT Commons Pro Bold"/>
                <a:sym typeface="TT Commons Pro Bold"/>
              </a:rPr>
              <a:t>: Restaurant Performance and Customer Insights Analysis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9523190"/>
            <a:chOff x="0" y="0"/>
            <a:chExt cx="24384000" cy="12697587"/>
          </a:xfrm>
        </p:grpSpPr>
        <p:sp>
          <p:nvSpPr>
            <p:cNvPr name="Freeform 3" id="3" descr="preencoded.png"/>
            <p:cNvSpPr/>
            <p:nvPr/>
          </p:nvSpPr>
          <p:spPr>
            <a:xfrm flipH="false" flipV="false" rot="0">
              <a:off x="0" y="0"/>
              <a:ext cx="24384000" cy="12697587"/>
            </a:xfrm>
            <a:custGeom>
              <a:avLst/>
              <a:gdLst/>
              <a:ahLst/>
              <a:cxnLst/>
              <a:rect r="r" b="b" t="t" l="l"/>
              <a:pathLst>
                <a:path h="12697587" w="24384000">
                  <a:moveTo>
                    <a:pt x="0" y="0"/>
                  </a:moveTo>
                  <a:lnTo>
                    <a:pt x="24384000" y="0"/>
                  </a:lnTo>
                  <a:lnTo>
                    <a:pt x="24384000" y="12697587"/>
                  </a:lnTo>
                  <a:lnTo>
                    <a:pt x="0" y="12697587"/>
                  </a:lnTo>
                  <a:lnTo>
                    <a:pt x="0" y="0"/>
                  </a:lnTo>
                  <a:close/>
                </a:path>
              </a:pathLst>
            </a:custGeom>
            <a:blipFill>
              <a:blip r:embed="rId3"/>
              <a:stretch>
                <a:fillRect l="0" t="-7" r="0" b="-7"/>
              </a:stretch>
            </a:blipFill>
          </p:spPr>
        </p:sp>
      </p:grpSp>
      <p:grpSp>
        <p:nvGrpSpPr>
          <p:cNvPr name="Group 4" id="4"/>
          <p:cNvGrpSpPr/>
          <p:nvPr/>
        </p:nvGrpSpPr>
        <p:grpSpPr>
          <a:xfrm rot="0">
            <a:off x="0" y="10208609"/>
            <a:ext cx="18288000" cy="80200"/>
            <a:chOff x="0" y="0"/>
            <a:chExt cx="24384000" cy="106934"/>
          </a:xfrm>
        </p:grpSpPr>
        <p:sp>
          <p:nvSpPr>
            <p:cNvPr name="Freeform 5" id="5" descr="preencoded.png"/>
            <p:cNvSpPr/>
            <p:nvPr/>
          </p:nvSpPr>
          <p:spPr>
            <a:xfrm flipH="false" flipV="false" rot="0">
              <a:off x="0" y="0"/>
              <a:ext cx="24384000" cy="106934"/>
            </a:xfrm>
            <a:custGeom>
              <a:avLst/>
              <a:gdLst/>
              <a:ahLst/>
              <a:cxnLst/>
              <a:rect r="r" b="b" t="t" l="l"/>
              <a:pathLst>
                <a:path h="106934" w="24384000">
                  <a:moveTo>
                    <a:pt x="0" y="0"/>
                  </a:moveTo>
                  <a:lnTo>
                    <a:pt x="24384000" y="0"/>
                  </a:lnTo>
                  <a:lnTo>
                    <a:pt x="24384000" y="106934"/>
                  </a:lnTo>
                  <a:lnTo>
                    <a:pt x="0" y="106934"/>
                  </a:lnTo>
                  <a:lnTo>
                    <a:pt x="0" y="0"/>
                  </a:lnTo>
                  <a:close/>
                </a:path>
              </a:pathLst>
            </a:custGeom>
            <a:blipFill>
              <a:blip r:embed="rId4"/>
              <a:stretch>
                <a:fillRect l="0" t="-498" r="0" b="-486"/>
              </a:stretch>
            </a:blipFill>
          </p:spPr>
        </p:sp>
      </p:grpSp>
      <p:sp>
        <p:nvSpPr>
          <p:cNvPr name="Freeform 6" id="6"/>
          <p:cNvSpPr/>
          <p:nvPr/>
        </p:nvSpPr>
        <p:spPr>
          <a:xfrm flipH="false" flipV="false" rot="0">
            <a:off x="411994" y="2271417"/>
            <a:ext cx="7323887" cy="5673928"/>
          </a:xfrm>
          <a:custGeom>
            <a:avLst/>
            <a:gdLst/>
            <a:ahLst/>
            <a:cxnLst/>
            <a:rect r="r" b="b" t="t" l="l"/>
            <a:pathLst>
              <a:path h="5673928" w="7323887">
                <a:moveTo>
                  <a:pt x="0" y="0"/>
                </a:moveTo>
                <a:lnTo>
                  <a:pt x="7323887" y="0"/>
                </a:lnTo>
                <a:lnTo>
                  <a:pt x="7323887" y="5673928"/>
                </a:lnTo>
                <a:lnTo>
                  <a:pt x="0" y="56739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6742121" y="5235559"/>
            <a:ext cx="576072" cy="525018"/>
            <a:chOff x="0" y="0"/>
            <a:chExt cx="768096" cy="700024"/>
          </a:xfrm>
        </p:grpSpPr>
        <p:sp>
          <p:nvSpPr>
            <p:cNvPr name="Freeform 8" id="8" descr="preencoded.png"/>
            <p:cNvSpPr/>
            <p:nvPr/>
          </p:nvSpPr>
          <p:spPr>
            <a:xfrm flipH="false" flipV="false" rot="0">
              <a:off x="0" y="0"/>
              <a:ext cx="768096" cy="700024"/>
            </a:xfrm>
            <a:custGeom>
              <a:avLst/>
              <a:gdLst/>
              <a:ahLst/>
              <a:cxnLst/>
              <a:rect r="r" b="b" t="t" l="l"/>
              <a:pathLst>
                <a:path h="700024" w="768096">
                  <a:moveTo>
                    <a:pt x="0" y="0"/>
                  </a:moveTo>
                  <a:lnTo>
                    <a:pt x="768096" y="0"/>
                  </a:lnTo>
                  <a:lnTo>
                    <a:pt x="768096" y="700024"/>
                  </a:lnTo>
                  <a:lnTo>
                    <a:pt x="0" y="700024"/>
                  </a:lnTo>
                  <a:lnTo>
                    <a:pt x="0" y="0"/>
                  </a:lnTo>
                  <a:close/>
                </a:path>
              </a:pathLst>
            </a:custGeom>
            <a:blipFill>
              <a:blip r:embed="rId7"/>
              <a:stretch>
                <a:fillRect l="0" t="-241" r="0" b="-243"/>
              </a:stretch>
            </a:blipFill>
          </p:spPr>
        </p:sp>
      </p:grpSp>
      <p:grpSp>
        <p:nvGrpSpPr>
          <p:cNvPr name="Group 9" id="9"/>
          <p:cNvGrpSpPr/>
          <p:nvPr/>
        </p:nvGrpSpPr>
        <p:grpSpPr>
          <a:xfrm rot="0">
            <a:off x="16829627" y="3726142"/>
            <a:ext cx="1232344" cy="933355"/>
            <a:chOff x="0" y="0"/>
            <a:chExt cx="1643126" cy="1244473"/>
          </a:xfrm>
        </p:grpSpPr>
        <p:sp>
          <p:nvSpPr>
            <p:cNvPr name="Freeform 10" id="10" descr="preencoded.png"/>
            <p:cNvSpPr/>
            <p:nvPr/>
          </p:nvSpPr>
          <p:spPr>
            <a:xfrm flipH="false" flipV="false" rot="0">
              <a:off x="0" y="0"/>
              <a:ext cx="1643126" cy="1244473"/>
            </a:xfrm>
            <a:custGeom>
              <a:avLst/>
              <a:gdLst/>
              <a:ahLst/>
              <a:cxnLst/>
              <a:rect r="r" b="b" t="t" l="l"/>
              <a:pathLst>
                <a:path h="1244473" w="1643126">
                  <a:moveTo>
                    <a:pt x="0" y="0"/>
                  </a:moveTo>
                  <a:lnTo>
                    <a:pt x="1643126" y="0"/>
                  </a:lnTo>
                  <a:lnTo>
                    <a:pt x="1643126" y="1244473"/>
                  </a:lnTo>
                  <a:lnTo>
                    <a:pt x="0" y="1244473"/>
                  </a:lnTo>
                  <a:lnTo>
                    <a:pt x="0" y="0"/>
                  </a:lnTo>
                  <a:close/>
                </a:path>
              </a:pathLst>
            </a:custGeom>
            <a:blipFill>
              <a:blip r:embed="rId8"/>
              <a:stretch>
                <a:fillRect l="0" t="-52" r="0" b="-52"/>
              </a:stretch>
            </a:blipFill>
          </p:spPr>
        </p:sp>
      </p:grpSp>
      <p:grpSp>
        <p:nvGrpSpPr>
          <p:cNvPr name="Group 11" id="11"/>
          <p:cNvGrpSpPr/>
          <p:nvPr/>
        </p:nvGrpSpPr>
        <p:grpSpPr>
          <a:xfrm rot="0">
            <a:off x="16887958" y="2282352"/>
            <a:ext cx="1086517" cy="1093756"/>
            <a:chOff x="0" y="0"/>
            <a:chExt cx="1448689" cy="1458341"/>
          </a:xfrm>
        </p:grpSpPr>
        <p:sp>
          <p:nvSpPr>
            <p:cNvPr name="Freeform 12" id="12" descr="preencoded.png"/>
            <p:cNvSpPr/>
            <p:nvPr/>
          </p:nvSpPr>
          <p:spPr>
            <a:xfrm flipH="false" flipV="false" rot="0">
              <a:off x="0" y="0"/>
              <a:ext cx="1448689" cy="1458341"/>
            </a:xfrm>
            <a:custGeom>
              <a:avLst/>
              <a:gdLst/>
              <a:ahLst/>
              <a:cxnLst/>
              <a:rect r="r" b="b" t="t" l="l"/>
              <a:pathLst>
                <a:path h="1458341" w="1448689">
                  <a:moveTo>
                    <a:pt x="0" y="0"/>
                  </a:moveTo>
                  <a:lnTo>
                    <a:pt x="1448689" y="0"/>
                  </a:lnTo>
                  <a:lnTo>
                    <a:pt x="1448689" y="1458341"/>
                  </a:lnTo>
                  <a:lnTo>
                    <a:pt x="0" y="1458341"/>
                  </a:lnTo>
                  <a:lnTo>
                    <a:pt x="0" y="0"/>
                  </a:lnTo>
                  <a:close/>
                </a:path>
              </a:pathLst>
            </a:custGeom>
            <a:blipFill>
              <a:blip r:embed="rId9"/>
              <a:stretch>
                <a:fillRect l="-333" t="0" r="-333" b="0"/>
              </a:stretch>
            </a:blipFill>
          </p:spPr>
        </p:sp>
      </p:grpSp>
      <p:sp>
        <p:nvSpPr>
          <p:cNvPr name="Freeform 13" id="13"/>
          <p:cNvSpPr/>
          <p:nvPr/>
        </p:nvSpPr>
        <p:spPr>
          <a:xfrm flipH="false" flipV="false" rot="0">
            <a:off x="14592852" y="2656065"/>
            <a:ext cx="1622469" cy="360978"/>
          </a:xfrm>
          <a:custGeom>
            <a:avLst/>
            <a:gdLst/>
            <a:ahLst/>
            <a:cxnLst/>
            <a:rect r="r" b="b" t="t" l="l"/>
            <a:pathLst>
              <a:path h="360978" w="1622469">
                <a:moveTo>
                  <a:pt x="0" y="0"/>
                </a:moveTo>
                <a:lnTo>
                  <a:pt x="1622470" y="0"/>
                </a:lnTo>
                <a:lnTo>
                  <a:pt x="1622470" y="360979"/>
                </a:lnTo>
                <a:lnTo>
                  <a:pt x="0" y="36097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14669405" y="2689765"/>
            <a:ext cx="1651616" cy="342100"/>
            <a:chOff x="0" y="0"/>
            <a:chExt cx="2202155" cy="456133"/>
          </a:xfrm>
        </p:grpSpPr>
        <p:sp>
          <p:nvSpPr>
            <p:cNvPr name="Freeform 15" id="15"/>
            <p:cNvSpPr/>
            <p:nvPr/>
          </p:nvSpPr>
          <p:spPr>
            <a:xfrm flipH="false" flipV="false" rot="0">
              <a:off x="0" y="0"/>
              <a:ext cx="2202180" cy="456184"/>
            </a:xfrm>
            <a:custGeom>
              <a:avLst/>
              <a:gdLst/>
              <a:ahLst/>
              <a:cxnLst/>
              <a:rect r="r" b="b" t="t" l="l"/>
              <a:pathLst>
                <a:path h="456184" w="2202180">
                  <a:moveTo>
                    <a:pt x="0" y="0"/>
                  </a:moveTo>
                  <a:lnTo>
                    <a:pt x="2202180" y="0"/>
                  </a:lnTo>
                  <a:lnTo>
                    <a:pt x="2202180" y="456184"/>
                  </a:lnTo>
                  <a:lnTo>
                    <a:pt x="0" y="456184"/>
                  </a:lnTo>
                  <a:close/>
                </a:path>
              </a:pathLst>
            </a:custGeom>
            <a:blipFill>
              <a:blip r:embed="rId12">
                <a:alphaModFix amt="0"/>
              </a:blip>
              <a:stretch>
                <a:fillRect l="0" t="-44000" r="1" b="-43989"/>
              </a:stretch>
            </a:blipFill>
          </p:spPr>
        </p:sp>
      </p:grpSp>
      <p:grpSp>
        <p:nvGrpSpPr>
          <p:cNvPr name="Group 16" id="16"/>
          <p:cNvGrpSpPr/>
          <p:nvPr/>
        </p:nvGrpSpPr>
        <p:grpSpPr>
          <a:xfrm rot="0">
            <a:off x="14669405" y="2725484"/>
            <a:ext cx="1651616" cy="306391"/>
            <a:chOff x="0" y="0"/>
            <a:chExt cx="2202155" cy="408521"/>
          </a:xfrm>
        </p:grpSpPr>
        <p:sp>
          <p:nvSpPr>
            <p:cNvPr name="Freeform 17" id="17"/>
            <p:cNvSpPr/>
            <p:nvPr/>
          </p:nvSpPr>
          <p:spPr>
            <a:xfrm flipH="false" flipV="false" rot="0">
              <a:off x="0" y="0"/>
              <a:ext cx="2202155" cy="408516"/>
            </a:xfrm>
            <a:custGeom>
              <a:avLst/>
              <a:gdLst/>
              <a:ahLst/>
              <a:cxnLst/>
              <a:rect r="r" b="b" t="t" l="l"/>
              <a:pathLst>
                <a:path h="408516" w="2202155">
                  <a:moveTo>
                    <a:pt x="0" y="0"/>
                  </a:moveTo>
                  <a:lnTo>
                    <a:pt x="2202155" y="0"/>
                  </a:lnTo>
                  <a:lnTo>
                    <a:pt x="2202155" y="408516"/>
                  </a:lnTo>
                  <a:lnTo>
                    <a:pt x="0" y="408516"/>
                  </a:lnTo>
                  <a:close/>
                </a:path>
              </a:pathLst>
            </a:custGeom>
            <a:blipFill>
              <a:blip r:embed="rId13">
                <a:alphaModFix amt="0"/>
              </a:blip>
              <a:stretch>
                <a:fillRect l="0" t="-55035" r="0" b="-55036"/>
              </a:stretch>
            </a:blipFill>
          </p:spPr>
        </p:sp>
        <p:sp>
          <p:nvSpPr>
            <p:cNvPr name="TextBox 18" id="18"/>
            <p:cNvSpPr txBox="true"/>
            <p:nvPr/>
          </p:nvSpPr>
          <p:spPr>
            <a:xfrm>
              <a:off x="0" y="47625"/>
              <a:ext cx="2202155" cy="360896"/>
            </a:xfrm>
            <a:prstGeom prst="rect">
              <a:avLst/>
            </a:prstGeom>
          </p:spPr>
          <p:txBody>
            <a:bodyPr anchor="ctr" rtlCol="false" tIns="0" lIns="0" bIns="0" rIns="0"/>
            <a:lstStyle/>
            <a:p>
              <a:pPr algn="l">
                <a:lnSpc>
                  <a:spcPts val="1384"/>
                </a:lnSpc>
              </a:pPr>
              <a:r>
                <a:rPr lang="en-US" sz="1599" b="true">
                  <a:solidFill>
                    <a:srgbClr val="E0DFD8"/>
                  </a:solidFill>
                  <a:latin typeface="TT Commons Pro Bold"/>
                  <a:ea typeface="TT Commons Pro Bold"/>
                  <a:cs typeface="TT Commons Pro Bold"/>
                  <a:sym typeface="TT Commons Pro Bold"/>
                </a:rPr>
                <a:t>RESTAURANT</a:t>
              </a:r>
            </a:p>
          </p:txBody>
        </p:sp>
      </p:grpSp>
      <p:grpSp>
        <p:nvGrpSpPr>
          <p:cNvPr name="Group 19" id="19"/>
          <p:cNvGrpSpPr/>
          <p:nvPr/>
        </p:nvGrpSpPr>
        <p:grpSpPr>
          <a:xfrm rot="0">
            <a:off x="16632746" y="947947"/>
            <a:ext cx="809434" cy="656272"/>
            <a:chOff x="0" y="0"/>
            <a:chExt cx="1079246" cy="875030"/>
          </a:xfrm>
        </p:grpSpPr>
        <p:sp>
          <p:nvSpPr>
            <p:cNvPr name="Freeform 20" id="20" descr="preencoded.png"/>
            <p:cNvSpPr/>
            <p:nvPr/>
          </p:nvSpPr>
          <p:spPr>
            <a:xfrm flipH="false" flipV="false" rot="0">
              <a:off x="0" y="0"/>
              <a:ext cx="1079246" cy="875030"/>
            </a:xfrm>
            <a:custGeom>
              <a:avLst/>
              <a:gdLst/>
              <a:ahLst/>
              <a:cxnLst/>
              <a:rect r="r" b="b" t="t" l="l"/>
              <a:pathLst>
                <a:path h="875030" w="1079246">
                  <a:moveTo>
                    <a:pt x="0" y="0"/>
                  </a:moveTo>
                  <a:lnTo>
                    <a:pt x="1079246" y="0"/>
                  </a:lnTo>
                  <a:lnTo>
                    <a:pt x="1079246" y="875030"/>
                  </a:lnTo>
                  <a:lnTo>
                    <a:pt x="0" y="875030"/>
                  </a:lnTo>
                  <a:lnTo>
                    <a:pt x="0" y="0"/>
                  </a:lnTo>
                  <a:close/>
                </a:path>
              </a:pathLst>
            </a:custGeom>
            <a:blipFill>
              <a:blip r:embed="rId14"/>
              <a:stretch>
                <a:fillRect l="-48" t="0" r="-48" b="0"/>
              </a:stretch>
            </a:blipFill>
          </p:spPr>
        </p:sp>
      </p:grpSp>
      <p:grpSp>
        <p:nvGrpSpPr>
          <p:cNvPr name="Group 21" id="21"/>
          <p:cNvGrpSpPr/>
          <p:nvPr/>
        </p:nvGrpSpPr>
        <p:grpSpPr>
          <a:xfrm rot="0">
            <a:off x="15079580" y="955234"/>
            <a:ext cx="415671" cy="488537"/>
            <a:chOff x="0" y="0"/>
            <a:chExt cx="554228" cy="651383"/>
          </a:xfrm>
        </p:grpSpPr>
        <p:sp>
          <p:nvSpPr>
            <p:cNvPr name="Freeform 22" id="22" descr="preencoded.png"/>
            <p:cNvSpPr/>
            <p:nvPr/>
          </p:nvSpPr>
          <p:spPr>
            <a:xfrm flipH="false" flipV="false" rot="0">
              <a:off x="0" y="0"/>
              <a:ext cx="554228" cy="651383"/>
            </a:xfrm>
            <a:custGeom>
              <a:avLst/>
              <a:gdLst/>
              <a:ahLst/>
              <a:cxnLst/>
              <a:rect r="r" b="b" t="t" l="l"/>
              <a:pathLst>
                <a:path h="651383" w="554228">
                  <a:moveTo>
                    <a:pt x="0" y="0"/>
                  </a:moveTo>
                  <a:lnTo>
                    <a:pt x="554228" y="0"/>
                  </a:lnTo>
                  <a:lnTo>
                    <a:pt x="554228" y="651383"/>
                  </a:lnTo>
                  <a:lnTo>
                    <a:pt x="0" y="651383"/>
                  </a:lnTo>
                  <a:lnTo>
                    <a:pt x="0" y="0"/>
                  </a:lnTo>
                  <a:close/>
                </a:path>
              </a:pathLst>
            </a:custGeom>
            <a:blipFill>
              <a:blip r:embed="rId15"/>
              <a:stretch>
                <a:fillRect l="0" t="-50" r="0" b="-48"/>
              </a:stretch>
            </a:blipFill>
          </p:spPr>
        </p:sp>
      </p:grpSp>
      <p:grpSp>
        <p:nvGrpSpPr>
          <p:cNvPr name="Group 23" id="23"/>
          <p:cNvGrpSpPr/>
          <p:nvPr/>
        </p:nvGrpSpPr>
        <p:grpSpPr>
          <a:xfrm rot="0">
            <a:off x="17019213" y="211465"/>
            <a:ext cx="1050036" cy="371856"/>
            <a:chOff x="0" y="0"/>
            <a:chExt cx="1400048" cy="495808"/>
          </a:xfrm>
        </p:grpSpPr>
        <p:sp>
          <p:nvSpPr>
            <p:cNvPr name="Freeform 24" id="24" descr="preencoded.png"/>
            <p:cNvSpPr/>
            <p:nvPr/>
          </p:nvSpPr>
          <p:spPr>
            <a:xfrm flipH="false" flipV="false" rot="0">
              <a:off x="0" y="0"/>
              <a:ext cx="1400048" cy="495808"/>
            </a:xfrm>
            <a:custGeom>
              <a:avLst/>
              <a:gdLst/>
              <a:ahLst/>
              <a:cxnLst/>
              <a:rect r="r" b="b" t="t" l="l"/>
              <a:pathLst>
                <a:path h="495808" w="1400048">
                  <a:moveTo>
                    <a:pt x="0" y="0"/>
                  </a:moveTo>
                  <a:lnTo>
                    <a:pt x="1400048" y="0"/>
                  </a:lnTo>
                  <a:lnTo>
                    <a:pt x="1400048" y="495808"/>
                  </a:lnTo>
                  <a:lnTo>
                    <a:pt x="0" y="495808"/>
                  </a:lnTo>
                  <a:lnTo>
                    <a:pt x="0" y="0"/>
                  </a:lnTo>
                  <a:close/>
                </a:path>
              </a:pathLst>
            </a:custGeom>
            <a:blipFill>
              <a:blip r:embed="rId16"/>
              <a:stretch>
                <a:fillRect l="-40" t="0" r="-41" b="0"/>
              </a:stretch>
            </a:blipFill>
          </p:spPr>
        </p:sp>
      </p:grpSp>
      <p:grpSp>
        <p:nvGrpSpPr>
          <p:cNvPr name="Group 25" id="25"/>
          <p:cNvGrpSpPr/>
          <p:nvPr/>
        </p:nvGrpSpPr>
        <p:grpSpPr>
          <a:xfrm rot="0">
            <a:off x="10595077" y="167716"/>
            <a:ext cx="3412617" cy="5811584"/>
            <a:chOff x="0" y="0"/>
            <a:chExt cx="4550156" cy="7748778"/>
          </a:xfrm>
        </p:grpSpPr>
        <p:sp>
          <p:nvSpPr>
            <p:cNvPr name="Freeform 26" id="26" descr="preencoded.png"/>
            <p:cNvSpPr/>
            <p:nvPr/>
          </p:nvSpPr>
          <p:spPr>
            <a:xfrm flipH="false" flipV="false" rot="0">
              <a:off x="0" y="0"/>
              <a:ext cx="4550156" cy="7748778"/>
            </a:xfrm>
            <a:custGeom>
              <a:avLst/>
              <a:gdLst/>
              <a:ahLst/>
              <a:cxnLst/>
              <a:rect r="r" b="b" t="t" l="l"/>
              <a:pathLst>
                <a:path h="7748778" w="4550156">
                  <a:moveTo>
                    <a:pt x="0" y="0"/>
                  </a:moveTo>
                  <a:lnTo>
                    <a:pt x="4550156" y="0"/>
                  </a:lnTo>
                  <a:lnTo>
                    <a:pt x="4550156" y="7748778"/>
                  </a:lnTo>
                  <a:lnTo>
                    <a:pt x="0" y="7748778"/>
                  </a:lnTo>
                  <a:lnTo>
                    <a:pt x="0" y="0"/>
                  </a:lnTo>
                  <a:close/>
                </a:path>
              </a:pathLst>
            </a:custGeom>
            <a:blipFill>
              <a:blip r:embed="rId17"/>
              <a:stretch>
                <a:fillRect l="-45" t="0" r="-45" b="0"/>
              </a:stretch>
            </a:blipFill>
          </p:spPr>
        </p:sp>
      </p:grpSp>
      <p:grpSp>
        <p:nvGrpSpPr>
          <p:cNvPr name="Group 27" id="27"/>
          <p:cNvGrpSpPr/>
          <p:nvPr/>
        </p:nvGrpSpPr>
        <p:grpSpPr>
          <a:xfrm rot="0">
            <a:off x="10908630" y="772935"/>
            <a:ext cx="546887" cy="164306"/>
            <a:chOff x="0" y="0"/>
            <a:chExt cx="729183" cy="219075"/>
          </a:xfrm>
        </p:grpSpPr>
        <p:sp>
          <p:nvSpPr>
            <p:cNvPr name="Freeform 28" id="28"/>
            <p:cNvSpPr/>
            <p:nvPr/>
          </p:nvSpPr>
          <p:spPr>
            <a:xfrm flipH="false" flipV="false" rot="0">
              <a:off x="0" y="0"/>
              <a:ext cx="729234" cy="219075"/>
            </a:xfrm>
            <a:custGeom>
              <a:avLst/>
              <a:gdLst/>
              <a:ahLst/>
              <a:cxnLst/>
              <a:rect r="r" b="b" t="t" l="l"/>
              <a:pathLst>
                <a:path h="219075" w="729234">
                  <a:moveTo>
                    <a:pt x="0" y="0"/>
                  </a:moveTo>
                  <a:lnTo>
                    <a:pt x="729234" y="0"/>
                  </a:lnTo>
                  <a:lnTo>
                    <a:pt x="729234" y="219075"/>
                  </a:lnTo>
                  <a:lnTo>
                    <a:pt x="0" y="219075"/>
                  </a:lnTo>
                  <a:close/>
                </a:path>
              </a:pathLst>
            </a:custGeom>
            <a:blipFill>
              <a:blip r:embed="rId12">
                <a:alphaModFix amt="0"/>
              </a:blip>
              <a:stretch>
                <a:fillRect l="0" t="-14811" r="6" b="-14811"/>
              </a:stretch>
            </a:blipFill>
          </p:spPr>
        </p:sp>
      </p:grpSp>
      <p:grpSp>
        <p:nvGrpSpPr>
          <p:cNvPr name="Group 29" id="29"/>
          <p:cNvGrpSpPr/>
          <p:nvPr/>
        </p:nvGrpSpPr>
        <p:grpSpPr>
          <a:xfrm rot="0">
            <a:off x="10908630" y="787222"/>
            <a:ext cx="546887" cy="150019"/>
            <a:chOff x="0" y="0"/>
            <a:chExt cx="729183" cy="200025"/>
          </a:xfrm>
        </p:grpSpPr>
        <p:sp>
          <p:nvSpPr>
            <p:cNvPr name="Freeform 30" id="30"/>
            <p:cNvSpPr/>
            <p:nvPr/>
          </p:nvSpPr>
          <p:spPr>
            <a:xfrm flipH="false" flipV="false" rot="0">
              <a:off x="0" y="0"/>
              <a:ext cx="729183" cy="200031"/>
            </a:xfrm>
            <a:custGeom>
              <a:avLst/>
              <a:gdLst/>
              <a:ahLst/>
              <a:cxnLst/>
              <a:rect r="r" b="b" t="t" l="l"/>
              <a:pathLst>
                <a:path h="200031" w="729183">
                  <a:moveTo>
                    <a:pt x="0" y="0"/>
                  </a:moveTo>
                  <a:lnTo>
                    <a:pt x="729183" y="0"/>
                  </a:lnTo>
                  <a:lnTo>
                    <a:pt x="729183" y="200031"/>
                  </a:lnTo>
                  <a:lnTo>
                    <a:pt x="0" y="200031"/>
                  </a:lnTo>
                  <a:close/>
                </a:path>
              </a:pathLst>
            </a:custGeom>
            <a:blipFill>
              <a:blip r:embed="rId13">
                <a:alphaModFix amt="0"/>
              </a:blip>
              <a:stretch>
                <a:fillRect l="0" t="-21031" r="0" b="-21028"/>
              </a:stretch>
            </a:blipFill>
          </p:spPr>
        </p:sp>
        <p:sp>
          <p:nvSpPr>
            <p:cNvPr name="TextBox 31" id="31"/>
            <p:cNvSpPr txBox="true"/>
            <p:nvPr/>
          </p:nvSpPr>
          <p:spPr>
            <a:xfrm>
              <a:off x="0" y="19050"/>
              <a:ext cx="729183" cy="180975"/>
            </a:xfrm>
            <a:prstGeom prst="rect">
              <a:avLst/>
            </a:prstGeom>
          </p:spPr>
          <p:txBody>
            <a:bodyPr anchor="ctr" rtlCol="false" tIns="0" lIns="0" bIns="0" rIns="0"/>
            <a:lstStyle/>
            <a:p>
              <a:pPr algn="l">
                <a:lnSpc>
                  <a:spcPts val="671"/>
                </a:lnSpc>
              </a:pPr>
              <a:r>
                <a:rPr lang="en-US" sz="800">
                  <a:solidFill>
                    <a:srgbClr val="000000"/>
                  </a:solidFill>
                  <a:latin typeface="TT Commons Pro"/>
                  <a:ea typeface="TT Commons Pro"/>
                  <a:cs typeface="TT Commons Pro"/>
                  <a:sym typeface="TT Commons Pro"/>
                </a:rPr>
                <a:t>Deliver to</a:t>
              </a:r>
            </a:p>
          </p:txBody>
        </p:sp>
      </p:grpSp>
      <p:grpSp>
        <p:nvGrpSpPr>
          <p:cNvPr name="Group 32" id="32"/>
          <p:cNvGrpSpPr/>
          <p:nvPr/>
        </p:nvGrpSpPr>
        <p:grpSpPr>
          <a:xfrm rot="0">
            <a:off x="1394565" y="782031"/>
            <a:ext cx="3332416" cy="21908"/>
            <a:chOff x="0" y="0"/>
            <a:chExt cx="4443222" cy="29210"/>
          </a:xfrm>
        </p:grpSpPr>
        <p:sp>
          <p:nvSpPr>
            <p:cNvPr name="Freeform 33" id="33" descr="preencoded.png"/>
            <p:cNvSpPr/>
            <p:nvPr/>
          </p:nvSpPr>
          <p:spPr>
            <a:xfrm flipH="false" flipV="false" rot="0">
              <a:off x="0" y="0"/>
              <a:ext cx="4443222" cy="29210"/>
            </a:xfrm>
            <a:custGeom>
              <a:avLst/>
              <a:gdLst/>
              <a:ahLst/>
              <a:cxnLst/>
              <a:rect r="r" b="b" t="t" l="l"/>
              <a:pathLst>
                <a:path h="29210" w="4443222">
                  <a:moveTo>
                    <a:pt x="0" y="0"/>
                  </a:moveTo>
                  <a:lnTo>
                    <a:pt x="4443222" y="0"/>
                  </a:lnTo>
                  <a:lnTo>
                    <a:pt x="4443222" y="29210"/>
                  </a:lnTo>
                  <a:lnTo>
                    <a:pt x="0" y="29210"/>
                  </a:lnTo>
                  <a:lnTo>
                    <a:pt x="0" y="0"/>
                  </a:lnTo>
                  <a:close/>
                </a:path>
              </a:pathLst>
            </a:custGeom>
            <a:blipFill>
              <a:blip r:embed="rId18"/>
              <a:stretch>
                <a:fillRect l="0" t="-5391" r="0" b="-5391"/>
              </a:stretch>
            </a:blipFill>
          </p:spPr>
        </p:sp>
      </p:grpSp>
      <p:grpSp>
        <p:nvGrpSpPr>
          <p:cNvPr name="Group 34" id="34"/>
          <p:cNvGrpSpPr/>
          <p:nvPr/>
        </p:nvGrpSpPr>
        <p:grpSpPr>
          <a:xfrm rot="0">
            <a:off x="13482657" y="430216"/>
            <a:ext cx="226028" cy="94774"/>
            <a:chOff x="0" y="0"/>
            <a:chExt cx="301371" cy="126365"/>
          </a:xfrm>
        </p:grpSpPr>
        <p:sp>
          <p:nvSpPr>
            <p:cNvPr name="Freeform 35" id="35" descr="preencoded.png"/>
            <p:cNvSpPr/>
            <p:nvPr/>
          </p:nvSpPr>
          <p:spPr>
            <a:xfrm flipH="false" flipV="false" rot="0">
              <a:off x="0" y="0"/>
              <a:ext cx="301371" cy="126365"/>
            </a:xfrm>
            <a:custGeom>
              <a:avLst/>
              <a:gdLst/>
              <a:ahLst/>
              <a:cxnLst/>
              <a:rect r="r" b="b" t="t" l="l"/>
              <a:pathLst>
                <a:path h="126365" w="301371">
                  <a:moveTo>
                    <a:pt x="0" y="0"/>
                  </a:moveTo>
                  <a:lnTo>
                    <a:pt x="301371" y="0"/>
                  </a:lnTo>
                  <a:lnTo>
                    <a:pt x="301371" y="126365"/>
                  </a:lnTo>
                  <a:lnTo>
                    <a:pt x="0" y="126365"/>
                  </a:lnTo>
                  <a:lnTo>
                    <a:pt x="0" y="0"/>
                  </a:lnTo>
                  <a:close/>
                </a:path>
              </a:pathLst>
            </a:custGeom>
            <a:blipFill>
              <a:blip r:embed="rId19"/>
              <a:stretch>
                <a:fillRect l="-1715" t="0" r="-1710" b="0"/>
              </a:stretch>
            </a:blipFill>
          </p:spPr>
        </p:sp>
      </p:grpSp>
      <p:grpSp>
        <p:nvGrpSpPr>
          <p:cNvPr name="Group 36" id="36"/>
          <p:cNvGrpSpPr/>
          <p:nvPr/>
        </p:nvGrpSpPr>
        <p:grpSpPr>
          <a:xfrm rot="0">
            <a:off x="13314950" y="422929"/>
            <a:ext cx="131254" cy="94774"/>
            <a:chOff x="0" y="0"/>
            <a:chExt cx="175006" cy="126365"/>
          </a:xfrm>
        </p:grpSpPr>
        <p:sp>
          <p:nvSpPr>
            <p:cNvPr name="Freeform 37" id="37" descr="preencoded.png"/>
            <p:cNvSpPr/>
            <p:nvPr/>
          </p:nvSpPr>
          <p:spPr>
            <a:xfrm flipH="false" flipV="false" rot="0">
              <a:off x="0" y="0"/>
              <a:ext cx="175006" cy="126365"/>
            </a:xfrm>
            <a:custGeom>
              <a:avLst/>
              <a:gdLst/>
              <a:ahLst/>
              <a:cxnLst/>
              <a:rect r="r" b="b" t="t" l="l"/>
              <a:pathLst>
                <a:path h="126365" w="175006">
                  <a:moveTo>
                    <a:pt x="0" y="0"/>
                  </a:moveTo>
                  <a:lnTo>
                    <a:pt x="175006" y="0"/>
                  </a:lnTo>
                  <a:lnTo>
                    <a:pt x="175006" y="126365"/>
                  </a:lnTo>
                  <a:lnTo>
                    <a:pt x="0" y="126365"/>
                  </a:lnTo>
                  <a:lnTo>
                    <a:pt x="0" y="0"/>
                  </a:lnTo>
                  <a:close/>
                </a:path>
              </a:pathLst>
            </a:custGeom>
            <a:blipFill>
              <a:blip r:embed="rId20"/>
              <a:stretch>
                <a:fillRect l="-544" t="0" r="-544" b="0"/>
              </a:stretch>
            </a:blipFill>
          </p:spPr>
        </p:sp>
      </p:grpSp>
      <p:grpSp>
        <p:nvGrpSpPr>
          <p:cNvPr name="Group 38" id="38"/>
          <p:cNvGrpSpPr/>
          <p:nvPr/>
        </p:nvGrpSpPr>
        <p:grpSpPr>
          <a:xfrm rot="0">
            <a:off x="13103485" y="422929"/>
            <a:ext cx="174974" cy="94774"/>
            <a:chOff x="0" y="0"/>
            <a:chExt cx="233299" cy="126365"/>
          </a:xfrm>
        </p:grpSpPr>
        <p:sp>
          <p:nvSpPr>
            <p:cNvPr name="Freeform 39" id="39" descr="preencoded.png"/>
            <p:cNvSpPr/>
            <p:nvPr/>
          </p:nvSpPr>
          <p:spPr>
            <a:xfrm flipH="false" flipV="false" rot="0">
              <a:off x="0" y="0"/>
              <a:ext cx="233299" cy="126365"/>
            </a:xfrm>
            <a:custGeom>
              <a:avLst/>
              <a:gdLst/>
              <a:ahLst/>
              <a:cxnLst/>
              <a:rect r="r" b="b" t="t" l="l"/>
              <a:pathLst>
                <a:path h="126365" w="233299">
                  <a:moveTo>
                    <a:pt x="0" y="0"/>
                  </a:moveTo>
                  <a:lnTo>
                    <a:pt x="233299" y="0"/>
                  </a:lnTo>
                  <a:lnTo>
                    <a:pt x="233299" y="126365"/>
                  </a:lnTo>
                  <a:lnTo>
                    <a:pt x="0" y="126365"/>
                  </a:lnTo>
                  <a:lnTo>
                    <a:pt x="0" y="0"/>
                  </a:lnTo>
                  <a:close/>
                </a:path>
              </a:pathLst>
            </a:custGeom>
            <a:blipFill>
              <a:blip r:embed="rId21"/>
              <a:stretch>
                <a:fillRect l="-1458" t="0" r="-1453" b="0"/>
              </a:stretch>
            </a:blipFill>
          </p:spPr>
        </p:sp>
      </p:grpSp>
      <p:grpSp>
        <p:nvGrpSpPr>
          <p:cNvPr name="Group 40" id="40"/>
          <p:cNvGrpSpPr/>
          <p:nvPr/>
        </p:nvGrpSpPr>
        <p:grpSpPr>
          <a:xfrm rot="0">
            <a:off x="11010719" y="401050"/>
            <a:ext cx="335423" cy="213008"/>
            <a:chOff x="0" y="0"/>
            <a:chExt cx="447231" cy="284010"/>
          </a:xfrm>
        </p:grpSpPr>
        <p:sp>
          <p:nvSpPr>
            <p:cNvPr name="Freeform 41" id="41"/>
            <p:cNvSpPr/>
            <p:nvPr/>
          </p:nvSpPr>
          <p:spPr>
            <a:xfrm flipH="false" flipV="false" rot="0">
              <a:off x="0" y="0"/>
              <a:ext cx="447294" cy="283972"/>
            </a:xfrm>
            <a:custGeom>
              <a:avLst/>
              <a:gdLst/>
              <a:ahLst/>
              <a:cxnLst/>
              <a:rect r="r" b="b" t="t" l="l"/>
              <a:pathLst>
                <a:path h="283972" w="447294">
                  <a:moveTo>
                    <a:pt x="0" y="0"/>
                  </a:moveTo>
                  <a:lnTo>
                    <a:pt x="447294" y="0"/>
                  </a:lnTo>
                  <a:lnTo>
                    <a:pt x="447294" y="283972"/>
                  </a:lnTo>
                  <a:lnTo>
                    <a:pt x="0" y="283972"/>
                  </a:lnTo>
                  <a:close/>
                </a:path>
              </a:pathLst>
            </a:custGeom>
            <a:blipFill>
              <a:blip r:embed="rId12">
                <a:alphaModFix amt="0"/>
              </a:blip>
              <a:stretch>
                <a:fillRect l="-31530" t="0" r="-31516" b="-13"/>
              </a:stretch>
            </a:blipFill>
          </p:spPr>
        </p:sp>
      </p:grpSp>
      <p:grpSp>
        <p:nvGrpSpPr>
          <p:cNvPr name="Group 42" id="42"/>
          <p:cNvGrpSpPr/>
          <p:nvPr/>
        </p:nvGrpSpPr>
        <p:grpSpPr>
          <a:xfrm rot="0">
            <a:off x="11010719" y="436769"/>
            <a:ext cx="335423" cy="177289"/>
            <a:chOff x="0" y="0"/>
            <a:chExt cx="447231" cy="236385"/>
          </a:xfrm>
        </p:grpSpPr>
        <p:sp>
          <p:nvSpPr>
            <p:cNvPr name="Freeform 43" id="43"/>
            <p:cNvSpPr/>
            <p:nvPr/>
          </p:nvSpPr>
          <p:spPr>
            <a:xfrm flipH="false" flipV="false" rot="0">
              <a:off x="0" y="0"/>
              <a:ext cx="447231" cy="236380"/>
            </a:xfrm>
            <a:custGeom>
              <a:avLst/>
              <a:gdLst/>
              <a:ahLst/>
              <a:cxnLst/>
              <a:rect r="r" b="b" t="t" l="l"/>
              <a:pathLst>
                <a:path h="236380" w="447231">
                  <a:moveTo>
                    <a:pt x="0" y="0"/>
                  </a:moveTo>
                  <a:lnTo>
                    <a:pt x="447231" y="0"/>
                  </a:lnTo>
                  <a:lnTo>
                    <a:pt x="447231" y="236380"/>
                  </a:lnTo>
                  <a:lnTo>
                    <a:pt x="0" y="236380"/>
                  </a:lnTo>
                  <a:close/>
                </a:path>
              </a:pathLst>
            </a:custGeom>
            <a:blipFill>
              <a:blip r:embed="rId13">
                <a:alphaModFix amt="0"/>
              </a:blip>
              <a:stretch>
                <a:fillRect l="-17815" t="0" r="-17815" b="-1"/>
              </a:stretch>
            </a:blipFill>
          </p:spPr>
        </p:sp>
        <p:sp>
          <p:nvSpPr>
            <p:cNvPr name="TextBox 44" id="44"/>
            <p:cNvSpPr txBox="true"/>
            <p:nvPr/>
          </p:nvSpPr>
          <p:spPr>
            <a:xfrm>
              <a:off x="0" y="47625"/>
              <a:ext cx="447231" cy="188760"/>
            </a:xfrm>
            <a:prstGeom prst="rect">
              <a:avLst/>
            </a:prstGeom>
          </p:spPr>
          <p:txBody>
            <a:bodyPr anchor="ctr" rtlCol="false" tIns="0" lIns="0" bIns="0" rIns="0"/>
            <a:lstStyle/>
            <a:p>
              <a:pPr algn="l">
                <a:lnSpc>
                  <a:spcPts val="781"/>
                </a:lnSpc>
              </a:pPr>
              <a:r>
                <a:rPr lang="en-US" sz="1002" b="true">
                  <a:solidFill>
                    <a:srgbClr val="7F7D7A"/>
                  </a:solidFill>
                  <a:latin typeface="TT Commons Pro Bold"/>
                  <a:ea typeface="TT Commons Pro Bold"/>
                  <a:cs typeface="TT Commons Pro Bold"/>
                  <a:sym typeface="TT Commons Pro Bold"/>
                </a:rPr>
                <a:t>10:41</a:t>
              </a:r>
            </a:p>
          </p:txBody>
        </p:sp>
      </p:grpSp>
      <p:grpSp>
        <p:nvGrpSpPr>
          <p:cNvPr name="Group 45" id="45"/>
          <p:cNvGrpSpPr/>
          <p:nvPr/>
        </p:nvGrpSpPr>
        <p:grpSpPr>
          <a:xfrm rot="0">
            <a:off x="7649166" y="422929"/>
            <a:ext cx="2894838" cy="5454301"/>
            <a:chOff x="0" y="0"/>
            <a:chExt cx="3859784" cy="7272401"/>
          </a:xfrm>
        </p:grpSpPr>
        <p:sp>
          <p:nvSpPr>
            <p:cNvPr name="Freeform 46" id="46" descr="preencoded.png"/>
            <p:cNvSpPr/>
            <p:nvPr/>
          </p:nvSpPr>
          <p:spPr>
            <a:xfrm flipH="false" flipV="false" rot="0">
              <a:off x="0" y="0"/>
              <a:ext cx="3859784" cy="7272401"/>
            </a:xfrm>
            <a:custGeom>
              <a:avLst/>
              <a:gdLst/>
              <a:ahLst/>
              <a:cxnLst/>
              <a:rect r="r" b="b" t="t" l="l"/>
              <a:pathLst>
                <a:path h="7272401" w="3859784">
                  <a:moveTo>
                    <a:pt x="0" y="0"/>
                  </a:moveTo>
                  <a:lnTo>
                    <a:pt x="3859784" y="0"/>
                  </a:lnTo>
                  <a:lnTo>
                    <a:pt x="3859784" y="7272401"/>
                  </a:lnTo>
                  <a:lnTo>
                    <a:pt x="0" y="7272401"/>
                  </a:lnTo>
                  <a:lnTo>
                    <a:pt x="0" y="0"/>
                  </a:lnTo>
                  <a:close/>
                </a:path>
              </a:pathLst>
            </a:custGeom>
            <a:blipFill>
              <a:blip r:embed="rId22"/>
              <a:stretch>
                <a:fillRect l="-38" t="0" r="-39" b="0"/>
              </a:stretch>
            </a:blipFill>
          </p:spPr>
        </p:sp>
      </p:grpSp>
      <p:grpSp>
        <p:nvGrpSpPr>
          <p:cNvPr name="Group 47" id="47"/>
          <p:cNvGrpSpPr/>
          <p:nvPr/>
        </p:nvGrpSpPr>
        <p:grpSpPr>
          <a:xfrm rot="0">
            <a:off x="8261680" y="459391"/>
            <a:ext cx="452056" cy="532352"/>
            <a:chOff x="0" y="0"/>
            <a:chExt cx="602742" cy="709803"/>
          </a:xfrm>
        </p:grpSpPr>
        <p:sp>
          <p:nvSpPr>
            <p:cNvPr name="Freeform 48" id="48" descr="preencoded.png"/>
            <p:cNvSpPr/>
            <p:nvPr/>
          </p:nvSpPr>
          <p:spPr>
            <a:xfrm flipH="false" flipV="false" rot="0">
              <a:off x="0" y="0"/>
              <a:ext cx="602742" cy="709803"/>
            </a:xfrm>
            <a:custGeom>
              <a:avLst/>
              <a:gdLst/>
              <a:ahLst/>
              <a:cxnLst/>
              <a:rect r="r" b="b" t="t" l="l"/>
              <a:pathLst>
                <a:path h="709803" w="602742">
                  <a:moveTo>
                    <a:pt x="0" y="0"/>
                  </a:moveTo>
                  <a:lnTo>
                    <a:pt x="602742" y="0"/>
                  </a:lnTo>
                  <a:lnTo>
                    <a:pt x="602742" y="709803"/>
                  </a:lnTo>
                  <a:lnTo>
                    <a:pt x="0" y="709803"/>
                  </a:lnTo>
                  <a:lnTo>
                    <a:pt x="0" y="0"/>
                  </a:lnTo>
                  <a:close/>
                </a:path>
              </a:pathLst>
            </a:custGeom>
            <a:blipFill>
              <a:blip r:embed="rId23"/>
              <a:stretch>
                <a:fillRect l="-82" t="0" r="-84" b="0"/>
              </a:stretch>
            </a:blipFill>
          </p:spPr>
        </p:sp>
      </p:grpSp>
      <p:grpSp>
        <p:nvGrpSpPr>
          <p:cNvPr name="Group 49" id="49"/>
          <p:cNvGrpSpPr/>
          <p:nvPr/>
        </p:nvGrpSpPr>
        <p:grpSpPr>
          <a:xfrm rot="0">
            <a:off x="1472956" y="255213"/>
            <a:ext cx="3383423" cy="597303"/>
            <a:chOff x="0" y="0"/>
            <a:chExt cx="4511230" cy="796404"/>
          </a:xfrm>
        </p:grpSpPr>
        <p:sp>
          <p:nvSpPr>
            <p:cNvPr name="Freeform 50" id="50"/>
            <p:cNvSpPr/>
            <p:nvPr/>
          </p:nvSpPr>
          <p:spPr>
            <a:xfrm flipH="false" flipV="false" rot="0">
              <a:off x="0" y="0"/>
              <a:ext cx="4511294" cy="796417"/>
            </a:xfrm>
            <a:custGeom>
              <a:avLst/>
              <a:gdLst/>
              <a:ahLst/>
              <a:cxnLst/>
              <a:rect r="r" b="b" t="t" l="l"/>
              <a:pathLst>
                <a:path h="796417" w="4511294">
                  <a:moveTo>
                    <a:pt x="0" y="0"/>
                  </a:moveTo>
                  <a:lnTo>
                    <a:pt x="4511294" y="0"/>
                  </a:lnTo>
                  <a:lnTo>
                    <a:pt x="4511294" y="796417"/>
                  </a:lnTo>
                  <a:lnTo>
                    <a:pt x="0" y="796417"/>
                  </a:lnTo>
                  <a:close/>
                </a:path>
              </a:pathLst>
            </a:custGeom>
            <a:blipFill>
              <a:blip r:embed="rId12">
                <a:alphaModFix amt="0"/>
              </a:blip>
              <a:stretch>
                <a:fillRect l="0" t="-60295" r="1" b="-60293"/>
              </a:stretch>
            </a:blipFill>
          </p:spPr>
        </p:sp>
      </p:grpSp>
      <p:grpSp>
        <p:nvGrpSpPr>
          <p:cNvPr name="Group 51" id="51"/>
          <p:cNvGrpSpPr/>
          <p:nvPr/>
        </p:nvGrpSpPr>
        <p:grpSpPr>
          <a:xfrm rot="0">
            <a:off x="1472956" y="326650"/>
            <a:ext cx="3383423" cy="525866"/>
            <a:chOff x="0" y="0"/>
            <a:chExt cx="4511230" cy="701154"/>
          </a:xfrm>
        </p:grpSpPr>
        <p:sp>
          <p:nvSpPr>
            <p:cNvPr name="Freeform 52" id="52"/>
            <p:cNvSpPr/>
            <p:nvPr/>
          </p:nvSpPr>
          <p:spPr>
            <a:xfrm flipH="false" flipV="false" rot="0">
              <a:off x="0" y="0"/>
              <a:ext cx="4511231" cy="701150"/>
            </a:xfrm>
            <a:custGeom>
              <a:avLst/>
              <a:gdLst/>
              <a:ahLst/>
              <a:cxnLst/>
              <a:rect r="r" b="b" t="t" l="l"/>
              <a:pathLst>
                <a:path h="701150" w="4511231">
                  <a:moveTo>
                    <a:pt x="0" y="0"/>
                  </a:moveTo>
                  <a:lnTo>
                    <a:pt x="4511231" y="0"/>
                  </a:lnTo>
                  <a:lnTo>
                    <a:pt x="4511231" y="701150"/>
                  </a:lnTo>
                  <a:lnTo>
                    <a:pt x="0" y="701150"/>
                  </a:lnTo>
                  <a:close/>
                </a:path>
              </a:pathLst>
            </a:custGeom>
            <a:blipFill>
              <a:blip r:embed="rId13">
                <a:alphaModFix amt="0"/>
              </a:blip>
              <a:stretch>
                <a:fillRect l="0" t="-75367" r="0" b="-75367"/>
              </a:stretch>
            </a:blipFill>
          </p:spPr>
        </p:sp>
        <p:sp>
          <p:nvSpPr>
            <p:cNvPr name="TextBox 53" id="53"/>
            <p:cNvSpPr txBox="true"/>
            <p:nvPr/>
          </p:nvSpPr>
          <p:spPr>
            <a:xfrm>
              <a:off x="0" y="95250"/>
              <a:ext cx="4511230" cy="605904"/>
            </a:xfrm>
            <a:prstGeom prst="rect">
              <a:avLst/>
            </a:prstGeom>
          </p:spPr>
          <p:txBody>
            <a:bodyPr anchor="ctr" rtlCol="false" tIns="0" lIns="0" bIns="0" rIns="0"/>
            <a:lstStyle/>
            <a:p>
              <a:pPr algn="l">
                <a:lnSpc>
                  <a:spcPts val="2247"/>
                </a:lnSpc>
              </a:pPr>
              <a:r>
                <a:rPr lang="en-US" sz="2799" b="true">
                  <a:solidFill>
                    <a:srgbClr val="B06023"/>
                  </a:solidFill>
                  <a:latin typeface="TT Commons Pro Bold"/>
                  <a:ea typeface="TT Commons Pro Bold"/>
                  <a:cs typeface="TT Commons Pro Bold"/>
                  <a:sym typeface="TT Commons Pro Bold"/>
                </a:rPr>
                <a:t>INTRODUCTION</a:t>
              </a:r>
            </a:p>
          </p:txBody>
        </p:sp>
      </p:grpSp>
      <p:grpSp>
        <p:nvGrpSpPr>
          <p:cNvPr name="Group 54" id="54"/>
          <p:cNvGrpSpPr/>
          <p:nvPr/>
        </p:nvGrpSpPr>
        <p:grpSpPr>
          <a:xfrm rot="0">
            <a:off x="452095" y="277092"/>
            <a:ext cx="765620" cy="452056"/>
            <a:chOff x="0" y="0"/>
            <a:chExt cx="1020826" cy="602742"/>
          </a:xfrm>
        </p:grpSpPr>
        <p:sp>
          <p:nvSpPr>
            <p:cNvPr name="Freeform 55" id="55" descr="preencoded.png"/>
            <p:cNvSpPr/>
            <p:nvPr/>
          </p:nvSpPr>
          <p:spPr>
            <a:xfrm flipH="false" flipV="false" rot="0">
              <a:off x="0" y="0"/>
              <a:ext cx="1020826" cy="602742"/>
            </a:xfrm>
            <a:custGeom>
              <a:avLst/>
              <a:gdLst/>
              <a:ahLst/>
              <a:cxnLst/>
              <a:rect r="r" b="b" t="t" l="l"/>
              <a:pathLst>
                <a:path h="602742" w="1020826">
                  <a:moveTo>
                    <a:pt x="0" y="0"/>
                  </a:moveTo>
                  <a:lnTo>
                    <a:pt x="1020826" y="0"/>
                  </a:lnTo>
                  <a:lnTo>
                    <a:pt x="1020826" y="602742"/>
                  </a:lnTo>
                  <a:lnTo>
                    <a:pt x="0" y="602742"/>
                  </a:lnTo>
                  <a:lnTo>
                    <a:pt x="0" y="0"/>
                  </a:lnTo>
                  <a:close/>
                </a:path>
              </a:pathLst>
            </a:custGeom>
            <a:blipFill>
              <a:blip r:embed="rId24"/>
              <a:stretch>
                <a:fillRect l="-267" t="0" r="-267" b="0"/>
              </a:stretch>
            </a:blipFill>
          </p:spPr>
        </p:sp>
      </p:grpSp>
      <p:grpSp>
        <p:nvGrpSpPr>
          <p:cNvPr name="Group 56" id="56"/>
          <p:cNvGrpSpPr/>
          <p:nvPr/>
        </p:nvGrpSpPr>
        <p:grpSpPr>
          <a:xfrm rot="0">
            <a:off x="11790950" y="5833491"/>
            <a:ext cx="1020890" cy="21908"/>
            <a:chOff x="0" y="0"/>
            <a:chExt cx="1361186" cy="29210"/>
          </a:xfrm>
        </p:grpSpPr>
        <p:sp>
          <p:nvSpPr>
            <p:cNvPr name="Freeform 57" id="57" descr="preencoded.png"/>
            <p:cNvSpPr/>
            <p:nvPr/>
          </p:nvSpPr>
          <p:spPr>
            <a:xfrm flipH="false" flipV="false" rot="0">
              <a:off x="0" y="0"/>
              <a:ext cx="1361186" cy="29210"/>
            </a:xfrm>
            <a:custGeom>
              <a:avLst/>
              <a:gdLst/>
              <a:ahLst/>
              <a:cxnLst/>
              <a:rect r="r" b="b" t="t" l="l"/>
              <a:pathLst>
                <a:path h="29210" w="1361186">
                  <a:moveTo>
                    <a:pt x="0" y="0"/>
                  </a:moveTo>
                  <a:lnTo>
                    <a:pt x="1361186" y="0"/>
                  </a:lnTo>
                  <a:lnTo>
                    <a:pt x="1361186" y="29210"/>
                  </a:lnTo>
                  <a:lnTo>
                    <a:pt x="0" y="29210"/>
                  </a:lnTo>
                  <a:lnTo>
                    <a:pt x="0" y="0"/>
                  </a:lnTo>
                  <a:close/>
                </a:path>
              </a:pathLst>
            </a:custGeom>
            <a:blipFill>
              <a:blip r:embed="rId25"/>
              <a:stretch>
                <a:fillRect l="0" t="-5478" r="0" b="-5478"/>
              </a:stretch>
            </a:blipFill>
          </p:spPr>
        </p:sp>
      </p:grpSp>
      <p:grpSp>
        <p:nvGrpSpPr>
          <p:cNvPr name="Group 58" id="58"/>
          <p:cNvGrpSpPr/>
          <p:nvPr/>
        </p:nvGrpSpPr>
        <p:grpSpPr>
          <a:xfrm rot="0">
            <a:off x="13256609" y="5617874"/>
            <a:ext cx="408346" cy="192976"/>
            <a:chOff x="0" y="0"/>
            <a:chExt cx="544462" cy="257302"/>
          </a:xfrm>
        </p:grpSpPr>
        <p:sp>
          <p:nvSpPr>
            <p:cNvPr name="Freeform 59" id="59"/>
            <p:cNvSpPr/>
            <p:nvPr/>
          </p:nvSpPr>
          <p:spPr>
            <a:xfrm flipH="false" flipV="false" rot="0">
              <a:off x="0" y="0"/>
              <a:ext cx="544449" cy="257302"/>
            </a:xfrm>
            <a:custGeom>
              <a:avLst/>
              <a:gdLst/>
              <a:ahLst/>
              <a:cxnLst/>
              <a:rect r="r" b="b" t="t" l="l"/>
              <a:pathLst>
                <a:path h="257302" w="544449">
                  <a:moveTo>
                    <a:pt x="0" y="0"/>
                  </a:moveTo>
                  <a:lnTo>
                    <a:pt x="544449" y="0"/>
                  </a:lnTo>
                  <a:lnTo>
                    <a:pt x="544449" y="257302"/>
                  </a:lnTo>
                  <a:lnTo>
                    <a:pt x="0" y="257302"/>
                  </a:lnTo>
                  <a:close/>
                </a:path>
              </a:pathLst>
            </a:custGeom>
            <a:blipFill>
              <a:blip r:embed="rId12">
                <a:alphaModFix amt="0"/>
              </a:blip>
              <a:stretch>
                <a:fillRect l="-10676" t="0" r="-10676" b="0"/>
              </a:stretch>
            </a:blipFill>
          </p:spPr>
        </p:sp>
      </p:grpSp>
      <p:grpSp>
        <p:nvGrpSpPr>
          <p:cNvPr name="Group 60" id="60"/>
          <p:cNvGrpSpPr/>
          <p:nvPr/>
        </p:nvGrpSpPr>
        <p:grpSpPr>
          <a:xfrm rot="0">
            <a:off x="13256609" y="5646449"/>
            <a:ext cx="408346" cy="164392"/>
            <a:chOff x="0" y="0"/>
            <a:chExt cx="544462" cy="219189"/>
          </a:xfrm>
        </p:grpSpPr>
        <p:sp>
          <p:nvSpPr>
            <p:cNvPr name="Freeform 61" id="61"/>
            <p:cNvSpPr/>
            <p:nvPr/>
          </p:nvSpPr>
          <p:spPr>
            <a:xfrm flipH="false" flipV="false" rot="0">
              <a:off x="0" y="0"/>
              <a:ext cx="544461" cy="219192"/>
            </a:xfrm>
            <a:custGeom>
              <a:avLst/>
              <a:gdLst/>
              <a:ahLst/>
              <a:cxnLst/>
              <a:rect r="r" b="b" t="t" l="l"/>
              <a:pathLst>
                <a:path h="219192" w="544461">
                  <a:moveTo>
                    <a:pt x="0" y="0"/>
                  </a:moveTo>
                  <a:lnTo>
                    <a:pt x="544461" y="0"/>
                  </a:lnTo>
                  <a:lnTo>
                    <a:pt x="544461" y="219192"/>
                  </a:lnTo>
                  <a:lnTo>
                    <a:pt x="0" y="219192"/>
                  </a:lnTo>
                  <a:close/>
                </a:path>
              </a:pathLst>
            </a:custGeom>
            <a:blipFill>
              <a:blip r:embed="rId13">
                <a:alphaModFix amt="0"/>
              </a:blip>
              <a:stretch>
                <a:fillRect l="-1652" t="0" r="-1652" b="1"/>
              </a:stretch>
            </a:blipFill>
          </p:spPr>
        </p:sp>
        <p:sp>
          <p:nvSpPr>
            <p:cNvPr name="TextBox 62" id="62"/>
            <p:cNvSpPr txBox="true"/>
            <p:nvPr/>
          </p:nvSpPr>
          <p:spPr>
            <a:xfrm>
              <a:off x="0" y="38100"/>
              <a:ext cx="544462" cy="181089"/>
            </a:xfrm>
            <a:prstGeom prst="rect">
              <a:avLst/>
            </a:prstGeom>
          </p:spPr>
          <p:txBody>
            <a:bodyPr anchor="ctr" rtlCol="false" tIns="0" lIns="0" bIns="0" rIns="0"/>
            <a:lstStyle/>
            <a:p>
              <a:pPr algn="l">
                <a:lnSpc>
                  <a:spcPts val="765"/>
                </a:lnSpc>
              </a:pPr>
              <a:r>
                <a:rPr lang="en-US" sz="900">
                  <a:solidFill>
                    <a:srgbClr val="928E8C"/>
                  </a:solidFill>
                  <a:latin typeface="TT Commons Pro"/>
                  <a:ea typeface="TT Commons Pro"/>
                  <a:cs typeface="TT Commons Pro"/>
                  <a:sym typeface="TT Commons Pro"/>
                </a:rPr>
                <a:t>Profile</a:t>
              </a:r>
            </a:p>
          </p:txBody>
        </p:sp>
      </p:grpSp>
      <p:grpSp>
        <p:nvGrpSpPr>
          <p:cNvPr name="Group 63" id="63"/>
          <p:cNvGrpSpPr/>
          <p:nvPr/>
        </p:nvGrpSpPr>
        <p:grpSpPr>
          <a:xfrm rot="0">
            <a:off x="12489142" y="5625960"/>
            <a:ext cx="419281" cy="186909"/>
            <a:chOff x="0" y="0"/>
            <a:chExt cx="559041" cy="249212"/>
          </a:xfrm>
        </p:grpSpPr>
        <p:sp>
          <p:nvSpPr>
            <p:cNvPr name="Freeform 64" id="64"/>
            <p:cNvSpPr/>
            <p:nvPr/>
          </p:nvSpPr>
          <p:spPr>
            <a:xfrm flipH="false" flipV="false" rot="0">
              <a:off x="0" y="0"/>
              <a:ext cx="559054" cy="249174"/>
            </a:xfrm>
            <a:custGeom>
              <a:avLst/>
              <a:gdLst/>
              <a:ahLst/>
              <a:cxnLst/>
              <a:rect r="r" b="b" t="t" l="l"/>
              <a:pathLst>
                <a:path h="249174" w="559054">
                  <a:moveTo>
                    <a:pt x="0" y="0"/>
                  </a:moveTo>
                  <a:lnTo>
                    <a:pt x="559054" y="0"/>
                  </a:lnTo>
                  <a:lnTo>
                    <a:pt x="559054" y="249174"/>
                  </a:lnTo>
                  <a:lnTo>
                    <a:pt x="0" y="249174"/>
                  </a:lnTo>
                  <a:close/>
                </a:path>
              </a:pathLst>
            </a:custGeom>
            <a:blipFill>
              <a:blip r:embed="rId12">
                <a:alphaModFix amt="0"/>
              </a:blip>
              <a:stretch>
                <a:fillRect l="-7235" t="0" r="-7235" b="-15"/>
              </a:stretch>
            </a:blipFill>
          </p:spPr>
        </p:sp>
      </p:grpSp>
      <p:grpSp>
        <p:nvGrpSpPr>
          <p:cNvPr name="Group 65" id="65"/>
          <p:cNvGrpSpPr/>
          <p:nvPr/>
        </p:nvGrpSpPr>
        <p:grpSpPr>
          <a:xfrm rot="0">
            <a:off x="12489142" y="5647392"/>
            <a:ext cx="419281" cy="165478"/>
            <a:chOff x="0" y="0"/>
            <a:chExt cx="559041" cy="220637"/>
          </a:xfrm>
        </p:grpSpPr>
        <p:sp>
          <p:nvSpPr>
            <p:cNvPr name="Freeform 66" id="66"/>
            <p:cNvSpPr/>
            <p:nvPr/>
          </p:nvSpPr>
          <p:spPr>
            <a:xfrm flipH="false" flipV="false" rot="0">
              <a:off x="0" y="0"/>
              <a:ext cx="559044" cy="220637"/>
            </a:xfrm>
            <a:custGeom>
              <a:avLst/>
              <a:gdLst/>
              <a:ahLst/>
              <a:cxnLst/>
              <a:rect r="r" b="b" t="t" l="l"/>
              <a:pathLst>
                <a:path h="220637" w="559044">
                  <a:moveTo>
                    <a:pt x="0" y="0"/>
                  </a:moveTo>
                  <a:lnTo>
                    <a:pt x="559044" y="0"/>
                  </a:lnTo>
                  <a:lnTo>
                    <a:pt x="559044" y="220637"/>
                  </a:lnTo>
                  <a:lnTo>
                    <a:pt x="0" y="220637"/>
                  </a:lnTo>
                  <a:close/>
                </a:path>
              </a:pathLst>
            </a:custGeom>
            <a:blipFill>
              <a:blip r:embed="rId13">
                <a:alphaModFix amt="0"/>
              </a:blip>
              <a:stretch>
                <a:fillRect l="-637" t="0" r="-637" b="0"/>
              </a:stretch>
            </a:blipFill>
          </p:spPr>
        </p:sp>
        <p:sp>
          <p:nvSpPr>
            <p:cNvPr name="TextBox 67" id="67"/>
            <p:cNvSpPr txBox="true"/>
            <p:nvPr/>
          </p:nvSpPr>
          <p:spPr>
            <a:xfrm>
              <a:off x="0" y="28575"/>
              <a:ext cx="559041" cy="192062"/>
            </a:xfrm>
            <a:prstGeom prst="rect">
              <a:avLst/>
            </a:prstGeom>
          </p:spPr>
          <p:txBody>
            <a:bodyPr anchor="ctr" rtlCol="false" tIns="0" lIns="0" bIns="0" rIns="0"/>
            <a:lstStyle/>
            <a:p>
              <a:pPr algn="l">
                <a:lnSpc>
                  <a:spcPts val="812"/>
                </a:lnSpc>
              </a:pPr>
              <a:r>
                <a:rPr lang="en-US" sz="900">
                  <a:solidFill>
                    <a:srgbClr val="8E8A88"/>
                  </a:solidFill>
                  <a:latin typeface="TT Commons Pro"/>
                  <a:ea typeface="TT Commons Pro"/>
                  <a:cs typeface="TT Commons Pro"/>
                  <a:sym typeface="TT Commons Pro"/>
                </a:rPr>
                <a:t>Orders</a:t>
              </a:r>
            </a:p>
          </p:txBody>
        </p:sp>
      </p:grpSp>
      <p:grpSp>
        <p:nvGrpSpPr>
          <p:cNvPr name="Group 68" id="68"/>
          <p:cNvGrpSpPr/>
          <p:nvPr/>
        </p:nvGrpSpPr>
        <p:grpSpPr>
          <a:xfrm rot="0">
            <a:off x="11728971" y="5617874"/>
            <a:ext cx="477622" cy="194996"/>
            <a:chOff x="0" y="0"/>
            <a:chExt cx="636829" cy="259994"/>
          </a:xfrm>
        </p:grpSpPr>
        <p:sp>
          <p:nvSpPr>
            <p:cNvPr name="Freeform 69" id="69"/>
            <p:cNvSpPr/>
            <p:nvPr/>
          </p:nvSpPr>
          <p:spPr>
            <a:xfrm flipH="false" flipV="false" rot="0">
              <a:off x="0" y="0"/>
              <a:ext cx="636778" cy="259969"/>
            </a:xfrm>
            <a:custGeom>
              <a:avLst/>
              <a:gdLst/>
              <a:ahLst/>
              <a:cxnLst/>
              <a:rect r="r" b="b" t="t" l="l"/>
              <a:pathLst>
                <a:path h="259969" w="636778">
                  <a:moveTo>
                    <a:pt x="0" y="0"/>
                  </a:moveTo>
                  <a:lnTo>
                    <a:pt x="636778" y="0"/>
                  </a:lnTo>
                  <a:lnTo>
                    <a:pt x="636778" y="259969"/>
                  </a:lnTo>
                  <a:lnTo>
                    <a:pt x="0" y="259969"/>
                  </a:lnTo>
                  <a:close/>
                </a:path>
              </a:pathLst>
            </a:custGeom>
            <a:blipFill>
              <a:blip r:embed="rId12">
                <a:alphaModFix amt="0"/>
              </a:blip>
              <a:stretch>
                <a:fillRect l="-2419" t="0" r="-2427" b="-9"/>
              </a:stretch>
            </a:blipFill>
          </p:spPr>
        </p:sp>
      </p:grpSp>
      <p:grpSp>
        <p:nvGrpSpPr>
          <p:cNvPr name="Group 70" id="70"/>
          <p:cNvGrpSpPr/>
          <p:nvPr/>
        </p:nvGrpSpPr>
        <p:grpSpPr>
          <a:xfrm rot="0">
            <a:off x="11728971" y="5646449"/>
            <a:ext cx="477622" cy="166421"/>
            <a:chOff x="0" y="0"/>
            <a:chExt cx="636829" cy="221894"/>
          </a:xfrm>
        </p:grpSpPr>
        <p:sp>
          <p:nvSpPr>
            <p:cNvPr name="Freeform 71" id="71"/>
            <p:cNvSpPr/>
            <p:nvPr/>
          </p:nvSpPr>
          <p:spPr>
            <a:xfrm flipH="false" flipV="false" rot="0">
              <a:off x="0" y="0"/>
              <a:ext cx="636825" cy="221895"/>
            </a:xfrm>
            <a:custGeom>
              <a:avLst/>
              <a:gdLst/>
              <a:ahLst/>
              <a:cxnLst/>
              <a:rect r="r" b="b" t="t" l="l"/>
              <a:pathLst>
                <a:path h="221895" w="636825">
                  <a:moveTo>
                    <a:pt x="0" y="0"/>
                  </a:moveTo>
                  <a:lnTo>
                    <a:pt x="636825" y="0"/>
                  </a:lnTo>
                  <a:lnTo>
                    <a:pt x="636825" y="221895"/>
                  </a:lnTo>
                  <a:lnTo>
                    <a:pt x="0" y="221895"/>
                  </a:lnTo>
                  <a:close/>
                </a:path>
              </a:pathLst>
            </a:custGeom>
            <a:blipFill>
              <a:blip r:embed="rId13">
                <a:alphaModFix amt="0"/>
              </a:blip>
              <a:stretch>
                <a:fillRect l="0" t="-5921" r="0" b="-5921"/>
              </a:stretch>
            </a:blipFill>
          </p:spPr>
        </p:sp>
        <p:sp>
          <p:nvSpPr>
            <p:cNvPr name="TextBox 72" id="72"/>
            <p:cNvSpPr txBox="true"/>
            <p:nvPr/>
          </p:nvSpPr>
          <p:spPr>
            <a:xfrm>
              <a:off x="0" y="38100"/>
              <a:ext cx="636829" cy="183794"/>
            </a:xfrm>
            <a:prstGeom prst="rect">
              <a:avLst/>
            </a:prstGeom>
          </p:spPr>
          <p:txBody>
            <a:bodyPr anchor="ctr" rtlCol="false" tIns="0" lIns="0" bIns="0" rIns="0"/>
            <a:lstStyle/>
            <a:p>
              <a:pPr algn="l">
                <a:lnSpc>
                  <a:spcPts val="749"/>
                </a:lnSpc>
              </a:pPr>
              <a:r>
                <a:rPr lang="en-US" sz="900">
                  <a:solidFill>
                    <a:srgbClr val="83807E"/>
                  </a:solidFill>
                  <a:latin typeface="TT Commons Pro"/>
                  <a:ea typeface="TT Commons Pro"/>
                  <a:cs typeface="TT Commons Pro"/>
                  <a:sym typeface="TT Commons Pro"/>
                </a:rPr>
                <a:t>Search</a:t>
              </a:r>
            </a:p>
          </p:txBody>
        </p:sp>
      </p:grpSp>
      <p:grpSp>
        <p:nvGrpSpPr>
          <p:cNvPr name="Group 73" id="73"/>
          <p:cNvGrpSpPr/>
          <p:nvPr/>
        </p:nvGrpSpPr>
        <p:grpSpPr>
          <a:xfrm rot="0">
            <a:off x="10980934" y="5621836"/>
            <a:ext cx="409565" cy="187061"/>
            <a:chOff x="0" y="0"/>
            <a:chExt cx="546087" cy="249415"/>
          </a:xfrm>
        </p:grpSpPr>
        <p:sp>
          <p:nvSpPr>
            <p:cNvPr name="Freeform 74" id="74"/>
            <p:cNvSpPr/>
            <p:nvPr/>
          </p:nvSpPr>
          <p:spPr>
            <a:xfrm flipH="false" flipV="false" rot="0">
              <a:off x="0" y="0"/>
              <a:ext cx="546100" cy="249428"/>
            </a:xfrm>
            <a:custGeom>
              <a:avLst/>
              <a:gdLst/>
              <a:ahLst/>
              <a:cxnLst/>
              <a:rect r="r" b="b" t="t" l="l"/>
              <a:pathLst>
                <a:path h="249428" w="546100">
                  <a:moveTo>
                    <a:pt x="0" y="0"/>
                  </a:moveTo>
                  <a:lnTo>
                    <a:pt x="546100" y="0"/>
                  </a:lnTo>
                  <a:lnTo>
                    <a:pt x="546100" y="249428"/>
                  </a:lnTo>
                  <a:lnTo>
                    <a:pt x="0" y="249428"/>
                  </a:lnTo>
                  <a:close/>
                </a:path>
              </a:pathLst>
            </a:custGeom>
            <a:blipFill>
              <a:blip r:embed="rId12">
                <a:alphaModFix amt="0"/>
              </a:blip>
              <a:stretch>
                <a:fillRect l="-8641" t="0" r="-8639" b="5"/>
              </a:stretch>
            </a:blipFill>
          </p:spPr>
        </p:sp>
      </p:grpSp>
      <p:grpSp>
        <p:nvGrpSpPr>
          <p:cNvPr name="Group 75" id="75"/>
          <p:cNvGrpSpPr/>
          <p:nvPr/>
        </p:nvGrpSpPr>
        <p:grpSpPr>
          <a:xfrm rot="0">
            <a:off x="10980934" y="5650411"/>
            <a:ext cx="409565" cy="158486"/>
            <a:chOff x="0" y="0"/>
            <a:chExt cx="546087" cy="211315"/>
          </a:xfrm>
        </p:grpSpPr>
        <p:sp>
          <p:nvSpPr>
            <p:cNvPr name="Freeform 76" id="76"/>
            <p:cNvSpPr/>
            <p:nvPr/>
          </p:nvSpPr>
          <p:spPr>
            <a:xfrm flipH="false" flipV="false" rot="0">
              <a:off x="0" y="0"/>
              <a:ext cx="546091" cy="211321"/>
            </a:xfrm>
            <a:custGeom>
              <a:avLst/>
              <a:gdLst/>
              <a:ahLst/>
              <a:cxnLst/>
              <a:rect r="r" b="b" t="t" l="l"/>
              <a:pathLst>
                <a:path h="211321" w="546091">
                  <a:moveTo>
                    <a:pt x="0" y="0"/>
                  </a:moveTo>
                  <a:lnTo>
                    <a:pt x="546091" y="0"/>
                  </a:lnTo>
                  <a:lnTo>
                    <a:pt x="546091" y="211321"/>
                  </a:lnTo>
                  <a:lnTo>
                    <a:pt x="0" y="211321"/>
                  </a:lnTo>
                  <a:close/>
                </a:path>
              </a:pathLst>
            </a:custGeom>
            <a:blipFill>
              <a:blip r:embed="rId13">
                <a:alphaModFix amt="0"/>
              </a:blip>
              <a:stretch>
                <a:fillRect l="0" t="-353" r="0" b="-350"/>
              </a:stretch>
            </a:blipFill>
          </p:spPr>
        </p:sp>
        <p:sp>
          <p:nvSpPr>
            <p:cNvPr name="TextBox 77" id="77"/>
            <p:cNvSpPr txBox="true"/>
            <p:nvPr/>
          </p:nvSpPr>
          <p:spPr>
            <a:xfrm>
              <a:off x="0" y="38100"/>
              <a:ext cx="546087" cy="173215"/>
            </a:xfrm>
            <a:prstGeom prst="rect">
              <a:avLst/>
            </a:prstGeom>
          </p:spPr>
          <p:txBody>
            <a:bodyPr anchor="ctr" rtlCol="false" tIns="0" lIns="0" bIns="0" rIns="0"/>
            <a:lstStyle/>
            <a:p>
              <a:pPr algn="l">
                <a:lnSpc>
                  <a:spcPts val="736"/>
                </a:lnSpc>
              </a:pPr>
              <a:r>
                <a:rPr lang="en-US" sz="900" b="true">
                  <a:solidFill>
                    <a:srgbClr val="D1AA96"/>
                  </a:solidFill>
                  <a:latin typeface="TT Commons Pro Bold"/>
                  <a:ea typeface="TT Commons Pro Bold"/>
                  <a:cs typeface="TT Commons Pro Bold"/>
                  <a:sym typeface="TT Commons Pro Bold"/>
                </a:rPr>
                <a:t>Home</a:t>
              </a:r>
            </a:p>
          </p:txBody>
        </p:sp>
      </p:grpSp>
      <p:grpSp>
        <p:nvGrpSpPr>
          <p:cNvPr name="Group 78" id="78"/>
          <p:cNvGrpSpPr/>
          <p:nvPr/>
        </p:nvGrpSpPr>
        <p:grpSpPr>
          <a:xfrm rot="0">
            <a:off x="13358698" y="5425145"/>
            <a:ext cx="174974" cy="167735"/>
            <a:chOff x="0" y="0"/>
            <a:chExt cx="233299" cy="223647"/>
          </a:xfrm>
        </p:grpSpPr>
        <p:sp>
          <p:nvSpPr>
            <p:cNvPr name="Freeform 79" id="79" descr="preencoded.png"/>
            <p:cNvSpPr/>
            <p:nvPr/>
          </p:nvSpPr>
          <p:spPr>
            <a:xfrm flipH="false" flipV="false" rot="0">
              <a:off x="0" y="0"/>
              <a:ext cx="233299" cy="223647"/>
            </a:xfrm>
            <a:custGeom>
              <a:avLst/>
              <a:gdLst/>
              <a:ahLst/>
              <a:cxnLst/>
              <a:rect r="r" b="b" t="t" l="l"/>
              <a:pathLst>
                <a:path h="223647" w="233299">
                  <a:moveTo>
                    <a:pt x="0" y="0"/>
                  </a:moveTo>
                  <a:lnTo>
                    <a:pt x="233299" y="0"/>
                  </a:lnTo>
                  <a:lnTo>
                    <a:pt x="233299" y="223647"/>
                  </a:lnTo>
                  <a:lnTo>
                    <a:pt x="0" y="223647"/>
                  </a:lnTo>
                  <a:lnTo>
                    <a:pt x="0" y="0"/>
                  </a:lnTo>
                  <a:close/>
                </a:path>
              </a:pathLst>
            </a:custGeom>
            <a:blipFill>
              <a:blip r:embed="rId26"/>
              <a:stretch>
                <a:fillRect l="0" t="-357" r="0" b="-363"/>
              </a:stretch>
            </a:blipFill>
          </p:spPr>
        </p:sp>
      </p:grpSp>
      <p:grpSp>
        <p:nvGrpSpPr>
          <p:cNvPr name="Group 80" id="80"/>
          <p:cNvGrpSpPr/>
          <p:nvPr/>
        </p:nvGrpSpPr>
        <p:grpSpPr>
          <a:xfrm rot="0">
            <a:off x="12614929" y="5417858"/>
            <a:ext cx="167735" cy="174974"/>
            <a:chOff x="0" y="0"/>
            <a:chExt cx="223647" cy="233299"/>
          </a:xfrm>
        </p:grpSpPr>
        <p:sp>
          <p:nvSpPr>
            <p:cNvPr name="Freeform 81" id="81" descr="preencoded.png"/>
            <p:cNvSpPr/>
            <p:nvPr/>
          </p:nvSpPr>
          <p:spPr>
            <a:xfrm flipH="false" flipV="false" rot="0">
              <a:off x="0" y="0"/>
              <a:ext cx="223647" cy="233299"/>
            </a:xfrm>
            <a:custGeom>
              <a:avLst/>
              <a:gdLst/>
              <a:ahLst/>
              <a:cxnLst/>
              <a:rect r="r" b="b" t="t" l="l"/>
              <a:pathLst>
                <a:path h="233299" w="223647">
                  <a:moveTo>
                    <a:pt x="0" y="0"/>
                  </a:moveTo>
                  <a:lnTo>
                    <a:pt x="223647" y="0"/>
                  </a:lnTo>
                  <a:lnTo>
                    <a:pt x="223647" y="233299"/>
                  </a:lnTo>
                  <a:lnTo>
                    <a:pt x="0" y="233299"/>
                  </a:lnTo>
                  <a:lnTo>
                    <a:pt x="0" y="0"/>
                  </a:lnTo>
                  <a:close/>
                </a:path>
              </a:pathLst>
            </a:custGeom>
            <a:blipFill>
              <a:blip r:embed="rId27"/>
              <a:stretch>
                <a:fillRect l="0" t="-593" r="0" b="-593"/>
              </a:stretch>
            </a:blipFill>
          </p:spPr>
        </p:sp>
      </p:grpSp>
      <p:grpSp>
        <p:nvGrpSpPr>
          <p:cNvPr name="Group 82" id="82"/>
          <p:cNvGrpSpPr/>
          <p:nvPr/>
        </p:nvGrpSpPr>
        <p:grpSpPr>
          <a:xfrm rot="0">
            <a:off x="11827402" y="5425145"/>
            <a:ext cx="174974" cy="160401"/>
            <a:chOff x="0" y="0"/>
            <a:chExt cx="233299" cy="213868"/>
          </a:xfrm>
        </p:grpSpPr>
        <p:sp>
          <p:nvSpPr>
            <p:cNvPr name="Freeform 83" id="83" descr="preencoded.png"/>
            <p:cNvSpPr/>
            <p:nvPr/>
          </p:nvSpPr>
          <p:spPr>
            <a:xfrm flipH="false" flipV="false" rot="0">
              <a:off x="0" y="0"/>
              <a:ext cx="233299" cy="213868"/>
            </a:xfrm>
            <a:custGeom>
              <a:avLst/>
              <a:gdLst/>
              <a:ahLst/>
              <a:cxnLst/>
              <a:rect r="r" b="b" t="t" l="l"/>
              <a:pathLst>
                <a:path h="213868" w="233299">
                  <a:moveTo>
                    <a:pt x="0" y="0"/>
                  </a:moveTo>
                  <a:lnTo>
                    <a:pt x="233299" y="0"/>
                  </a:lnTo>
                  <a:lnTo>
                    <a:pt x="233299" y="213868"/>
                  </a:lnTo>
                  <a:lnTo>
                    <a:pt x="0" y="213868"/>
                  </a:lnTo>
                  <a:lnTo>
                    <a:pt x="0" y="0"/>
                  </a:lnTo>
                  <a:close/>
                </a:path>
              </a:pathLst>
            </a:custGeom>
            <a:blipFill>
              <a:blip r:embed="rId28"/>
              <a:stretch>
                <a:fillRect l="-1126" t="0" r="-1121" b="0"/>
              </a:stretch>
            </a:blipFill>
          </p:spPr>
        </p:sp>
      </p:grpSp>
      <p:grpSp>
        <p:nvGrpSpPr>
          <p:cNvPr name="Group 84" id="84"/>
          <p:cNvGrpSpPr/>
          <p:nvPr/>
        </p:nvGrpSpPr>
        <p:grpSpPr>
          <a:xfrm rot="0">
            <a:off x="11054467" y="5425145"/>
            <a:ext cx="189548" cy="167735"/>
            <a:chOff x="0" y="0"/>
            <a:chExt cx="252730" cy="223647"/>
          </a:xfrm>
        </p:grpSpPr>
        <p:sp>
          <p:nvSpPr>
            <p:cNvPr name="Freeform 85" id="85" descr="preencoded.png"/>
            <p:cNvSpPr/>
            <p:nvPr/>
          </p:nvSpPr>
          <p:spPr>
            <a:xfrm flipH="false" flipV="false" rot="0">
              <a:off x="0" y="0"/>
              <a:ext cx="252730" cy="223647"/>
            </a:xfrm>
            <a:custGeom>
              <a:avLst/>
              <a:gdLst/>
              <a:ahLst/>
              <a:cxnLst/>
              <a:rect r="r" b="b" t="t" l="l"/>
              <a:pathLst>
                <a:path h="223647" w="252730">
                  <a:moveTo>
                    <a:pt x="0" y="0"/>
                  </a:moveTo>
                  <a:lnTo>
                    <a:pt x="252730" y="0"/>
                  </a:lnTo>
                  <a:lnTo>
                    <a:pt x="252730" y="223647"/>
                  </a:lnTo>
                  <a:lnTo>
                    <a:pt x="0" y="223647"/>
                  </a:lnTo>
                  <a:lnTo>
                    <a:pt x="0" y="0"/>
                  </a:lnTo>
                  <a:close/>
                </a:path>
              </a:pathLst>
            </a:custGeom>
            <a:blipFill>
              <a:blip r:embed="rId29"/>
              <a:stretch>
                <a:fillRect l="-391" t="0" r="-391" b="0"/>
              </a:stretch>
            </a:blipFill>
          </p:spPr>
        </p:sp>
      </p:grpSp>
      <p:sp>
        <p:nvSpPr>
          <p:cNvPr name="Freeform 86" id="86"/>
          <p:cNvSpPr/>
          <p:nvPr/>
        </p:nvSpPr>
        <p:spPr>
          <a:xfrm flipH="false" flipV="false" rot="0">
            <a:off x="12333284" y="4538282"/>
            <a:ext cx="1380001" cy="723729"/>
          </a:xfrm>
          <a:custGeom>
            <a:avLst/>
            <a:gdLst/>
            <a:ahLst/>
            <a:cxnLst/>
            <a:rect r="r" b="b" t="t" l="l"/>
            <a:pathLst>
              <a:path h="723729" w="1380001">
                <a:moveTo>
                  <a:pt x="0" y="0"/>
                </a:moveTo>
                <a:lnTo>
                  <a:pt x="1380001" y="0"/>
                </a:lnTo>
                <a:lnTo>
                  <a:pt x="1380001" y="723728"/>
                </a:lnTo>
                <a:lnTo>
                  <a:pt x="0" y="723728"/>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grpSp>
        <p:nvGrpSpPr>
          <p:cNvPr name="Group 87" id="87"/>
          <p:cNvGrpSpPr/>
          <p:nvPr/>
        </p:nvGrpSpPr>
        <p:grpSpPr>
          <a:xfrm rot="0">
            <a:off x="12469092" y="4849092"/>
            <a:ext cx="116681" cy="102108"/>
            <a:chOff x="0" y="0"/>
            <a:chExt cx="155575" cy="136144"/>
          </a:xfrm>
        </p:grpSpPr>
        <p:sp>
          <p:nvSpPr>
            <p:cNvPr name="Freeform 88" id="88" descr="preencoded.png"/>
            <p:cNvSpPr/>
            <p:nvPr/>
          </p:nvSpPr>
          <p:spPr>
            <a:xfrm flipH="false" flipV="false" rot="0">
              <a:off x="0" y="0"/>
              <a:ext cx="155575" cy="136144"/>
            </a:xfrm>
            <a:custGeom>
              <a:avLst/>
              <a:gdLst/>
              <a:ahLst/>
              <a:cxnLst/>
              <a:rect r="r" b="b" t="t" l="l"/>
              <a:pathLst>
                <a:path h="136144" w="155575">
                  <a:moveTo>
                    <a:pt x="0" y="0"/>
                  </a:moveTo>
                  <a:lnTo>
                    <a:pt x="155575" y="0"/>
                  </a:lnTo>
                  <a:lnTo>
                    <a:pt x="155575" y="136144"/>
                  </a:lnTo>
                  <a:lnTo>
                    <a:pt x="0" y="136144"/>
                  </a:lnTo>
                  <a:lnTo>
                    <a:pt x="0" y="0"/>
                  </a:lnTo>
                  <a:close/>
                </a:path>
              </a:pathLst>
            </a:custGeom>
            <a:blipFill>
              <a:blip r:embed="rId32"/>
              <a:stretch>
                <a:fillRect l="0" t="-279" r="0" b="-279"/>
              </a:stretch>
            </a:blipFill>
          </p:spPr>
        </p:sp>
      </p:grpSp>
      <p:grpSp>
        <p:nvGrpSpPr>
          <p:cNvPr name="Group 89" id="89"/>
          <p:cNvGrpSpPr/>
          <p:nvPr/>
        </p:nvGrpSpPr>
        <p:grpSpPr>
          <a:xfrm rot="0">
            <a:off x="12469092" y="5018056"/>
            <a:ext cx="816702" cy="164230"/>
            <a:chOff x="0" y="0"/>
            <a:chExt cx="1088936" cy="218973"/>
          </a:xfrm>
        </p:grpSpPr>
        <p:sp>
          <p:nvSpPr>
            <p:cNvPr name="Freeform 90" id="90"/>
            <p:cNvSpPr/>
            <p:nvPr/>
          </p:nvSpPr>
          <p:spPr>
            <a:xfrm flipH="false" flipV="false" rot="0">
              <a:off x="0" y="0"/>
              <a:ext cx="1088898" cy="218948"/>
            </a:xfrm>
            <a:custGeom>
              <a:avLst/>
              <a:gdLst/>
              <a:ahLst/>
              <a:cxnLst/>
              <a:rect r="r" b="b" t="t" l="l"/>
              <a:pathLst>
                <a:path h="218948" w="1088898">
                  <a:moveTo>
                    <a:pt x="0" y="0"/>
                  </a:moveTo>
                  <a:lnTo>
                    <a:pt x="1088898" y="0"/>
                  </a:lnTo>
                  <a:lnTo>
                    <a:pt x="1088898" y="218948"/>
                  </a:lnTo>
                  <a:lnTo>
                    <a:pt x="0" y="218948"/>
                  </a:lnTo>
                  <a:close/>
                </a:path>
              </a:pathLst>
            </a:custGeom>
            <a:blipFill>
              <a:blip r:embed="rId12">
                <a:alphaModFix amt="0"/>
              </a:blip>
              <a:stretch>
                <a:fillRect l="0" t="-46832" r="-3" b="-46850"/>
              </a:stretch>
            </a:blipFill>
          </p:spPr>
        </p:sp>
      </p:grpSp>
      <p:grpSp>
        <p:nvGrpSpPr>
          <p:cNvPr name="Group 91" id="91"/>
          <p:cNvGrpSpPr/>
          <p:nvPr/>
        </p:nvGrpSpPr>
        <p:grpSpPr>
          <a:xfrm rot="0">
            <a:off x="12469092" y="5025200"/>
            <a:ext cx="816693" cy="157086"/>
            <a:chOff x="0" y="0"/>
            <a:chExt cx="1088923" cy="209448"/>
          </a:xfrm>
        </p:grpSpPr>
        <p:sp>
          <p:nvSpPr>
            <p:cNvPr name="Freeform 92" id="92"/>
            <p:cNvSpPr/>
            <p:nvPr/>
          </p:nvSpPr>
          <p:spPr>
            <a:xfrm flipH="false" flipV="false" rot="0">
              <a:off x="0" y="0"/>
              <a:ext cx="1088924" cy="209446"/>
            </a:xfrm>
            <a:custGeom>
              <a:avLst/>
              <a:gdLst/>
              <a:ahLst/>
              <a:cxnLst/>
              <a:rect r="r" b="b" t="t" l="l"/>
              <a:pathLst>
                <a:path h="209446" w="1088924">
                  <a:moveTo>
                    <a:pt x="0" y="0"/>
                  </a:moveTo>
                  <a:lnTo>
                    <a:pt x="1088924" y="0"/>
                  </a:lnTo>
                  <a:lnTo>
                    <a:pt x="1088924" y="209446"/>
                  </a:lnTo>
                  <a:lnTo>
                    <a:pt x="0" y="209446"/>
                  </a:lnTo>
                  <a:close/>
                </a:path>
              </a:pathLst>
            </a:custGeom>
            <a:blipFill>
              <a:blip r:embed="rId13">
                <a:alphaModFix amt="0"/>
              </a:blip>
              <a:stretch>
                <a:fillRect l="0" t="-51303" r="0" b="-51304"/>
              </a:stretch>
            </a:blipFill>
          </p:spPr>
        </p:sp>
        <p:sp>
          <p:nvSpPr>
            <p:cNvPr name="TextBox 93" id="93"/>
            <p:cNvSpPr txBox="true"/>
            <p:nvPr/>
          </p:nvSpPr>
          <p:spPr>
            <a:xfrm>
              <a:off x="0" y="9525"/>
              <a:ext cx="1088923" cy="199923"/>
            </a:xfrm>
            <a:prstGeom prst="rect">
              <a:avLst/>
            </a:prstGeom>
          </p:spPr>
          <p:txBody>
            <a:bodyPr anchor="ctr" rtlCol="false" tIns="0" lIns="0" bIns="0" rIns="0"/>
            <a:lstStyle/>
            <a:p>
              <a:pPr algn="l">
                <a:lnSpc>
                  <a:spcPts val="746"/>
                </a:lnSpc>
              </a:pPr>
              <a:r>
                <a:rPr lang="en-US" sz="800">
                  <a:solidFill>
                    <a:srgbClr val="000000"/>
                  </a:solidFill>
                  <a:latin typeface="TT Commons Pro"/>
                  <a:ea typeface="TT Commons Pro"/>
                  <a:cs typeface="TT Commons Pro"/>
                  <a:sym typeface="TT Commons Pro"/>
                </a:rPr>
                <a:t>Pizza, Italian</a:t>
              </a:r>
            </a:p>
          </p:txBody>
        </p:sp>
      </p:grpSp>
      <p:grpSp>
        <p:nvGrpSpPr>
          <p:cNvPr name="Group 94" id="94"/>
          <p:cNvGrpSpPr/>
          <p:nvPr/>
        </p:nvGrpSpPr>
        <p:grpSpPr>
          <a:xfrm rot="0">
            <a:off x="12614929" y="4834509"/>
            <a:ext cx="831275" cy="195948"/>
            <a:chOff x="0" y="0"/>
            <a:chExt cx="1108367" cy="261264"/>
          </a:xfrm>
        </p:grpSpPr>
        <p:sp>
          <p:nvSpPr>
            <p:cNvPr name="Freeform 95" id="95"/>
            <p:cNvSpPr/>
            <p:nvPr/>
          </p:nvSpPr>
          <p:spPr>
            <a:xfrm flipH="false" flipV="false" rot="0">
              <a:off x="0" y="0"/>
              <a:ext cx="1108329" cy="261239"/>
            </a:xfrm>
            <a:custGeom>
              <a:avLst/>
              <a:gdLst/>
              <a:ahLst/>
              <a:cxnLst/>
              <a:rect r="r" b="b" t="t" l="l"/>
              <a:pathLst>
                <a:path h="261239" w="1108329">
                  <a:moveTo>
                    <a:pt x="0" y="0"/>
                  </a:moveTo>
                  <a:lnTo>
                    <a:pt x="1108329" y="0"/>
                  </a:lnTo>
                  <a:lnTo>
                    <a:pt x="1108329" y="261239"/>
                  </a:lnTo>
                  <a:lnTo>
                    <a:pt x="0" y="261239"/>
                  </a:lnTo>
                  <a:close/>
                </a:path>
              </a:pathLst>
            </a:custGeom>
            <a:blipFill>
              <a:blip r:embed="rId12">
                <a:alphaModFix amt="0"/>
              </a:blip>
              <a:stretch>
                <a:fillRect l="0" t="-32605" r="-3" b="-32620"/>
              </a:stretch>
            </a:blipFill>
          </p:spPr>
        </p:sp>
      </p:grpSp>
      <p:grpSp>
        <p:nvGrpSpPr>
          <p:cNvPr name="Group 96" id="96"/>
          <p:cNvGrpSpPr/>
          <p:nvPr/>
        </p:nvGrpSpPr>
        <p:grpSpPr>
          <a:xfrm rot="0">
            <a:off x="12614929" y="4855940"/>
            <a:ext cx="831275" cy="174517"/>
            <a:chOff x="0" y="0"/>
            <a:chExt cx="1108367" cy="232689"/>
          </a:xfrm>
        </p:grpSpPr>
        <p:sp>
          <p:nvSpPr>
            <p:cNvPr name="Freeform 97" id="97"/>
            <p:cNvSpPr/>
            <p:nvPr/>
          </p:nvSpPr>
          <p:spPr>
            <a:xfrm flipH="false" flipV="false" rot="0">
              <a:off x="0" y="0"/>
              <a:ext cx="1108367" cy="232690"/>
            </a:xfrm>
            <a:custGeom>
              <a:avLst/>
              <a:gdLst/>
              <a:ahLst/>
              <a:cxnLst/>
              <a:rect r="r" b="b" t="t" l="l"/>
              <a:pathLst>
                <a:path h="232690" w="1108367">
                  <a:moveTo>
                    <a:pt x="0" y="0"/>
                  </a:moveTo>
                  <a:lnTo>
                    <a:pt x="1108367" y="0"/>
                  </a:lnTo>
                  <a:lnTo>
                    <a:pt x="1108367" y="232690"/>
                  </a:lnTo>
                  <a:lnTo>
                    <a:pt x="0" y="232690"/>
                  </a:lnTo>
                  <a:close/>
                </a:path>
              </a:pathLst>
            </a:custGeom>
            <a:blipFill>
              <a:blip r:embed="rId13">
                <a:alphaModFix amt="0"/>
              </a:blip>
              <a:stretch>
                <a:fillRect l="0" t="-42812" r="0" b="-42812"/>
              </a:stretch>
            </a:blipFill>
          </p:spPr>
        </p:sp>
        <p:sp>
          <p:nvSpPr>
            <p:cNvPr name="TextBox 98" id="98"/>
            <p:cNvSpPr txBox="true"/>
            <p:nvPr/>
          </p:nvSpPr>
          <p:spPr>
            <a:xfrm>
              <a:off x="0" y="28575"/>
              <a:ext cx="1108367" cy="204114"/>
            </a:xfrm>
            <a:prstGeom prst="rect">
              <a:avLst/>
            </a:prstGeom>
          </p:spPr>
          <p:txBody>
            <a:bodyPr anchor="ctr" rtlCol="false" tIns="0" lIns="0" bIns="0" rIns="0"/>
            <a:lstStyle/>
            <a:p>
              <a:pPr algn="l">
                <a:lnSpc>
                  <a:spcPts val="802"/>
                </a:lnSpc>
              </a:pPr>
              <a:r>
                <a:rPr lang="en-US" sz="934">
                  <a:solidFill>
                    <a:srgbClr val="000000"/>
                  </a:solidFill>
                  <a:latin typeface="TT Commons Pro"/>
                  <a:ea typeface="TT Commons Pro"/>
                  <a:cs typeface="TT Commons Pro"/>
                  <a:sym typeface="TT Commons Pro"/>
                </a:rPr>
                <a:t>4.1 - 25 min-₹₹</a:t>
              </a:r>
            </a:p>
          </p:txBody>
        </p:sp>
      </p:grpSp>
      <p:grpSp>
        <p:nvGrpSpPr>
          <p:cNvPr name="Group 99" id="99"/>
          <p:cNvGrpSpPr/>
          <p:nvPr/>
        </p:nvGrpSpPr>
        <p:grpSpPr>
          <a:xfrm rot="0">
            <a:off x="12469092" y="4607271"/>
            <a:ext cx="926068" cy="219970"/>
            <a:chOff x="0" y="0"/>
            <a:chExt cx="1234758" cy="293294"/>
          </a:xfrm>
        </p:grpSpPr>
        <p:sp>
          <p:nvSpPr>
            <p:cNvPr name="Freeform 100" id="100"/>
            <p:cNvSpPr/>
            <p:nvPr/>
          </p:nvSpPr>
          <p:spPr>
            <a:xfrm flipH="false" flipV="false" rot="0">
              <a:off x="0" y="0"/>
              <a:ext cx="1234694" cy="293243"/>
            </a:xfrm>
            <a:custGeom>
              <a:avLst/>
              <a:gdLst/>
              <a:ahLst/>
              <a:cxnLst/>
              <a:rect r="r" b="b" t="t" l="l"/>
              <a:pathLst>
                <a:path h="293243" w="1234694">
                  <a:moveTo>
                    <a:pt x="0" y="0"/>
                  </a:moveTo>
                  <a:lnTo>
                    <a:pt x="1234694" y="0"/>
                  </a:lnTo>
                  <a:lnTo>
                    <a:pt x="1234694" y="293243"/>
                  </a:lnTo>
                  <a:lnTo>
                    <a:pt x="0" y="293243"/>
                  </a:lnTo>
                  <a:close/>
                </a:path>
              </a:pathLst>
            </a:custGeom>
            <a:blipFill>
              <a:blip r:embed="rId12">
                <a:alphaModFix amt="0"/>
              </a:blip>
              <a:stretch>
                <a:fillRect l="0" t="-31979" r="-5" b="-31996"/>
              </a:stretch>
            </a:blipFill>
          </p:spPr>
        </p:sp>
      </p:grpSp>
      <p:grpSp>
        <p:nvGrpSpPr>
          <p:cNvPr name="Group 101" id="101"/>
          <p:cNvGrpSpPr/>
          <p:nvPr/>
        </p:nvGrpSpPr>
        <p:grpSpPr>
          <a:xfrm rot="0">
            <a:off x="12469092" y="4628702"/>
            <a:ext cx="926059" cy="198539"/>
            <a:chOff x="0" y="0"/>
            <a:chExt cx="1234745" cy="264719"/>
          </a:xfrm>
        </p:grpSpPr>
        <p:sp>
          <p:nvSpPr>
            <p:cNvPr name="Freeform 102" id="102"/>
            <p:cNvSpPr/>
            <p:nvPr/>
          </p:nvSpPr>
          <p:spPr>
            <a:xfrm flipH="false" flipV="false" rot="0">
              <a:off x="0" y="0"/>
              <a:ext cx="1234751" cy="264714"/>
            </a:xfrm>
            <a:custGeom>
              <a:avLst/>
              <a:gdLst/>
              <a:ahLst/>
              <a:cxnLst/>
              <a:rect r="r" b="b" t="t" l="l"/>
              <a:pathLst>
                <a:path h="264714" w="1234751">
                  <a:moveTo>
                    <a:pt x="0" y="0"/>
                  </a:moveTo>
                  <a:lnTo>
                    <a:pt x="1234751" y="0"/>
                  </a:lnTo>
                  <a:lnTo>
                    <a:pt x="1234751" y="264714"/>
                  </a:lnTo>
                  <a:lnTo>
                    <a:pt x="0" y="264714"/>
                  </a:lnTo>
                  <a:close/>
                </a:path>
              </a:pathLst>
            </a:custGeom>
            <a:blipFill>
              <a:blip r:embed="rId13">
                <a:alphaModFix amt="0"/>
              </a:blip>
              <a:stretch>
                <a:fillRect l="0" t="-40886" r="0" b="-40887"/>
              </a:stretch>
            </a:blipFill>
          </p:spPr>
        </p:sp>
        <p:sp>
          <p:nvSpPr>
            <p:cNvPr name="TextBox 103" id="103"/>
            <p:cNvSpPr txBox="true"/>
            <p:nvPr/>
          </p:nvSpPr>
          <p:spPr>
            <a:xfrm>
              <a:off x="0" y="28575"/>
              <a:ext cx="1234745" cy="236144"/>
            </a:xfrm>
            <a:prstGeom prst="rect">
              <a:avLst/>
            </a:prstGeom>
          </p:spPr>
          <p:txBody>
            <a:bodyPr anchor="ctr" rtlCol="false" tIns="0" lIns="0" bIns="0" rIns="0"/>
            <a:lstStyle/>
            <a:p>
              <a:pPr algn="l">
                <a:lnSpc>
                  <a:spcPts val="976"/>
                </a:lnSpc>
              </a:pPr>
              <a:r>
                <a:rPr lang="en-US" sz="1015">
                  <a:solidFill>
                    <a:srgbClr val="000000"/>
                  </a:solidFill>
                  <a:latin typeface="TT Commons Pro"/>
                  <a:ea typeface="TT Commons Pro"/>
                  <a:cs typeface="TT Commons Pro"/>
                  <a:sym typeface="TT Commons Pro"/>
                </a:rPr>
                <a:t>Pizza House</a:t>
              </a:r>
            </a:p>
          </p:txBody>
        </p:sp>
      </p:grpSp>
      <p:grpSp>
        <p:nvGrpSpPr>
          <p:cNvPr name="Group 104" id="104"/>
          <p:cNvGrpSpPr/>
          <p:nvPr/>
        </p:nvGrpSpPr>
        <p:grpSpPr>
          <a:xfrm rot="0">
            <a:off x="12367003" y="3915728"/>
            <a:ext cx="1327118" cy="634365"/>
            <a:chOff x="0" y="0"/>
            <a:chExt cx="1769491" cy="845820"/>
          </a:xfrm>
        </p:grpSpPr>
        <p:sp>
          <p:nvSpPr>
            <p:cNvPr name="Freeform 105" id="105" descr="preencoded.png"/>
            <p:cNvSpPr/>
            <p:nvPr/>
          </p:nvSpPr>
          <p:spPr>
            <a:xfrm flipH="false" flipV="false" rot="0">
              <a:off x="0" y="0"/>
              <a:ext cx="1769491" cy="845820"/>
            </a:xfrm>
            <a:custGeom>
              <a:avLst/>
              <a:gdLst/>
              <a:ahLst/>
              <a:cxnLst/>
              <a:rect r="r" b="b" t="t" l="l"/>
              <a:pathLst>
                <a:path h="845820" w="1769491">
                  <a:moveTo>
                    <a:pt x="0" y="0"/>
                  </a:moveTo>
                  <a:lnTo>
                    <a:pt x="1769491" y="0"/>
                  </a:lnTo>
                  <a:lnTo>
                    <a:pt x="1769491" y="845820"/>
                  </a:lnTo>
                  <a:lnTo>
                    <a:pt x="0" y="845820"/>
                  </a:lnTo>
                  <a:lnTo>
                    <a:pt x="0" y="0"/>
                  </a:lnTo>
                  <a:close/>
                </a:path>
              </a:pathLst>
            </a:custGeom>
            <a:blipFill>
              <a:blip r:embed="rId33"/>
              <a:stretch>
                <a:fillRect l="0" t="-387" r="0" b="-387"/>
              </a:stretch>
            </a:blipFill>
          </p:spPr>
        </p:sp>
      </p:grpSp>
      <p:sp>
        <p:nvSpPr>
          <p:cNvPr name="Freeform 106" id="106"/>
          <p:cNvSpPr/>
          <p:nvPr/>
        </p:nvSpPr>
        <p:spPr>
          <a:xfrm flipH="false" flipV="false" rot="0">
            <a:off x="10881293" y="4544654"/>
            <a:ext cx="1381773" cy="703593"/>
          </a:xfrm>
          <a:custGeom>
            <a:avLst/>
            <a:gdLst/>
            <a:ahLst/>
            <a:cxnLst/>
            <a:rect r="r" b="b" t="t" l="l"/>
            <a:pathLst>
              <a:path h="703593" w="1381773">
                <a:moveTo>
                  <a:pt x="0" y="0"/>
                </a:moveTo>
                <a:lnTo>
                  <a:pt x="1381773" y="0"/>
                </a:lnTo>
                <a:lnTo>
                  <a:pt x="1381773" y="703592"/>
                </a:lnTo>
                <a:lnTo>
                  <a:pt x="0" y="703592"/>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grpSp>
        <p:nvGrpSpPr>
          <p:cNvPr name="Group 107" id="107"/>
          <p:cNvGrpSpPr/>
          <p:nvPr/>
        </p:nvGrpSpPr>
        <p:grpSpPr>
          <a:xfrm rot="0">
            <a:off x="10974257" y="4989043"/>
            <a:ext cx="1589627" cy="197977"/>
            <a:chOff x="0" y="0"/>
            <a:chExt cx="2119503" cy="263970"/>
          </a:xfrm>
        </p:grpSpPr>
        <p:sp>
          <p:nvSpPr>
            <p:cNvPr name="Freeform 108" id="108"/>
            <p:cNvSpPr/>
            <p:nvPr/>
          </p:nvSpPr>
          <p:spPr>
            <a:xfrm flipH="false" flipV="false" rot="0">
              <a:off x="0" y="0"/>
              <a:ext cx="2119503" cy="264033"/>
            </a:xfrm>
            <a:custGeom>
              <a:avLst/>
              <a:gdLst/>
              <a:ahLst/>
              <a:cxnLst/>
              <a:rect r="r" b="b" t="t" l="l"/>
              <a:pathLst>
                <a:path h="264033" w="2119503">
                  <a:moveTo>
                    <a:pt x="0" y="0"/>
                  </a:moveTo>
                  <a:lnTo>
                    <a:pt x="2119503" y="0"/>
                  </a:lnTo>
                  <a:lnTo>
                    <a:pt x="2119503" y="264033"/>
                  </a:lnTo>
                  <a:lnTo>
                    <a:pt x="0" y="264033"/>
                  </a:lnTo>
                  <a:close/>
                </a:path>
              </a:pathLst>
            </a:custGeom>
            <a:blipFill>
              <a:blip r:embed="rId12">
                <a:alphaModFix amt="0"/>
              </a:blip>
              <a:stretch>
                <a:fillRect l="0" t="-106315" r="0" b="-106296"/>
              </a:stretch>
            </a:blipFill>
          </p:spPr>
        </p:sp>
      </p:grpSp>
      <p:grpSp>
        <p:nvGrpSpPr>
          <p:cNvPr name="Group 109" id="109"/>
          <p:cNvGrpSpPr/>
          <p:nvPr/>
        </p:nvGrpSpPr>
        <p:grpSpPr>
          <a:xfrm rot="0">
            <a:off x="10974257" y="4989043"/>
            <a:ext cx="1589627" cy="197977"/>
            <a:chOff x="0" y="0"/>
            <a:chExt cx="2119503" cy="263970"/>
          </a:xfrm>
        </p:grpSpPr>
        <p:sp>
          <p:nvSpPr>
            <p:cNvPr name="Freeform 110" id="110"/>
            <p:cNvSpPr/>
            <p:nvPr/>
          </p:nvSpPr>
          <p:spPr>
            <a:xfrm flipH="false" flipV="false" rot="0">
              <a:off x="0" y="0"/>
              <a:ext cx="2119503" cy="263964"/>
            </a:xfrm>
            <a:custGeom>
              <a:avLst/>
              <a:gdLst/>
              <a:ahLst/>
              <a:cxnLst/>
              <a:rect r="r" b="b" t="t" l="l"/>
              <a:pathLst>
                <a:path h="263964" w="2119503">
                  <a:moveTo>
                    <a:pt x="0" y="0"/>
                  </a:moveTo>
                  <a:lnTo>
                    <a:pt x="2119503" y="0"/>
                  </a:lnTo>
                  <a:lnTo>
                    <a:pt x="2119503" y="263964"/>
                  </a:lnTo>
                  <a:lnTo>
                    <a:pt x="0" y="263964"/>
                  </a:lnTo>
                  <a:close/>
                </a:path>
              </a:pathLst>
            </a:custGeom>
            <a:blipFill>
              <a:blip r:embed="rId13">
                <a:alphaModFix amt="0"/>
              </a:blip>
              <a:stretch>
                <a:fillRect l="0" t="-106454" r="0" b="-106456"/>
              </a:stretch>
            </a:blipFill>
          </p:spPr>
        </p:sp>
        <p:sp>
          <p:nvSpPr>
            <p:cNvPr name="TextBox 111" id="111"/>
            <p:cNvSpPr txBox="true"/>
            <p:nvPr/>
          </p:nvSpPr>
          <p:spPr>
            <a:xfrm>
              <a:off x="0" y="0"/>
              <a:ext cx="2119503" cy="263970"/>
            </a:xfrm>
            <a:prstGeom prst="rect">
              <a:avLst/>
            </a:prstGeom>
          </p:spPr>
          <p:txBody>
            <a:bodyPr anchor="ctr" rtlCol="false" tIns="0" lIns="0" bIns="0" rIns="0"/>
            <a:lstStyle/>
            <a:p>
              <a:pPr algn="l">
                <a:lnSpc>
                  <a:spcPts val="817"/>
                </a:lnSpc>
              </a:pPr>
              <a:r>
                <a:rPr lang="en-US" sz="800">
                  <a:solidFill>
                    <a:srgbClr val="000000"/>
                  </a:solidFill>
                  <a:latin typeface="TT Commons Pro"/>
                  <a:ea typeface="TT Commons Pro"/>
                  <a:cs typeface="TT Commons Pro"/>
                  <a:sym typeface="TT Commons Pro"/>
                </a:rPr>
                <a:t>North Indian, Healthy</a:t>
              </a:r>
            </a:p>
          </p:txBody>
        </p:sp>
      </p:grpSp>
      <p:grpSp>
        <p:nvGrpSpPr>
          <p:cNvPr name="Group 112" id="112"/>
          <p:cNvGrpSpPr/>
          <p:nvPr/>
        </p:nvGrpSpPr>
        <p:grpSpPr>
          <a:xfrm rot="0">
            <a:off x="11112798" y="4803638"/>
            <a:ext cx="991695" cy="227943"/>
            <a:chOff x="0" y="0"/>
            <a:chExt cx="1322260" cy="303924"/>
          </a:xfrm>
        </p:grpSpPr>
        <p:sp>
          <p:nvSpPr>
            <p:cNvPr name="Freeform 113" id="113"/>
            <p:cNvSpPr/>
            <p:nvPr/>
          </p:nvSpPr>
          <p:spPr>
            <a:xfrm flipH="false" flipV="false" rot="0">
              <a:off x="0" y="0"/>
              <a:ext cx="1322197" cy="303911"/>
            </a:xfrm>
            <a:custGeom>
              <a:avLst/>
              <a:gdLst/>
              <a:ahLst/>
              <a:cxnLst/>
              <a:rect r="r" b="b" t="t" l="l"/>
              <a:pathLst>
                <a:path h="303911" w="1322197">
                  <a:moveTo>
                    <a:pt x="0" y="0"/>
                  </a:moveTo>
                  <a:lnTo>
                    <a:pt x="1322197" y="0"/>
                  </a:lnTo>
                  <a:lnTo>
                    <a:pt x="1322197" y="303911"/>
                  </a:lnTo>
                  <a:lnTo>
                    <a:pt x="0" y="303911"/>
                  </a:lnTo>
                  <a:close/>
                </a:path>
              </a:pathLst>
            </a:custGeom>
            <a:blipFill>
              <a:blip r:embed="rId12">
                <a:alphaModFix amt="0"/>
              </a:blip>
              <a:stretch>
                <a:fillRect l="0" t="-34713" r="-4" b="-34717"/>
              </a:stretch>
            </a:blipFill>
          </p:spPr>
        </p:sp>
      </p:grpSp>
      <p:grpSp>
        <p:nvGrpSpPr>
          <p:cNvPr name="Group 114" id="114"/>
          <p:cNvGrpSpPr/>
          <p:nvPr/>
        </p:nvGrpSpPr>
        <p:grpSpPr>
          <a:xfrm rot="0">
            <a:off x="11112798" y="4832213"/>
            <a:ext cx="991695" cy="199368"/>
            <a:chOff x="0" y="0"/>
            <a:chExt cx="1322260" cy="265824"/>
          </a:xfrm>
        </p:grpSpPr>
        <p:sp>
          <p:nvSpPr>
            <p:cNvPr name="Freeform 115" id="115"/>
            <p:cNvSpPr/>
            <p:nvPr/>
          </p:nvSpPr>
          <p:spPr>
            <a:xfrm flipH="false" flipV="false" rot="0">
              <a:off x="0" y="0"/>
              <a:ext cx="1322260" cy="265821"/>
            </a:xfrm>
            <a:custGeom>
              <a:avLst/>
              <a:gdLst/>
              <a:ahLst/>
              <a:cxnLst/>
              <a:rect r="r" b="b" t="t" l="l"/>
              <a:pathLst>
                <a:path h="265821" w="1322260">
                  <a:moveTo>
                    <a:pt x="0" y="0"/>
                  </a:moveTo>
                  <a:lnTo>
                    <a:pt x="1322260" y="0"/>
                  </a:lnTo>
                  <a:lnTo>
                    <a:pt x="1322260" y="265821"/>
                  </a:lnTo>
                  <a:lnTo>
                    <a:pt x="0" y="265821"/>
                  </a:lnTo>
                  <a:close/>
                </a:path>
              </a:pathLst>
            </a:custGeom>
            <a:blipFill>
              <a:blip r:embed="rId13">
                <a:alphaModFix amt="0"/>
              </a:blip>
              <a:stretch>
                <a:fillRect l="0" t="-46922" r="0" b="-46923"/>
              </a:stretch>
            </a:blipFill>
          </p:spPr>
        </p:sp>
        <p:sp>
          <p:nvSpPr>
            <p:cNvPr name="TextBox 116" id="116"/>
            <p:cNvSpPr txBox="true"/>
            <p:nvPr/>
          </p:nvSpPr>
          <p:spPr>
            <a:xfrm>
              <a:off x="0" y="38100"/>
              <a:ext cx="1322260" cy="227724"/>
            </a:xfrm>
            <a:prstGeom prst="rect">
              <a:avLst/>
            </a:prstGeom>
          </p:spPr>
          <p:txBody>
            <a:bodyPr anchor="ctr" rtlCol="false" tIns="0" lIns="0" bIns="0" rIns="0"/>
            <a:lstStyle/>
            <a:p>
              <a:pPr algn="l">
                <a:lnSpc>
                  <a:spcPts val="861"/>
                </a:lnSpc>
              </a:pPr>
              <a:r>
                <a:rPr lang="en-US" sz="1073">
                  <a:solidFill>
                    <a:srgbClr val="000000"/>
                  </a:solidFill>
                  <a:latin typeface="TT Commons Pro"/>
                  <a:ea typeface="TT Commons Pro"/>
                  <a:cs typeface="TT Commons Pro"/>
                  <a:sym typeface="TT Commons Pro"/>
                </a:rPr>
                <a:t>4.3 - 30 min-₹₹</a:t>
              </a:r>
            </a:p>
          </p:txBody>
        </p:sp>
      </p:grpSp>
      <p:grpSp>
        <p:nvGrpSpPr>
          <p:cNvPr name="Group 117" id="117"/>
          <p:cNvGrpSpPr/>
          <p:nvPr/>
        </p:nvGrpSpPr>
        <p:grpSpPr>
          <a:xfrm rot="0">
            <a:off x="10974257" y="4610052"/>
            <a:ext cx="918772" cy="229076"/>
            <a:chOff x="0" y="0"/>
            <a:chExt cx="1225029" cy="305435"/>
          </a:xfrm>
        </p:grpSpPr>
        <p:sp>
          <p:nvSpPr>
            <p:cNvPr name="Freeform 118" id="118"/>
            <p:cNvSpPr/>
            <p:nvPr/>
          </p:nvSpPr>
          <p:spPr>
            <a:xfrm flipH="false" flipV="false" rot="0">
              <a:off x="0" y="0"/>
              <a:ext cx="1225042" cy="305435"/>
            </a:xfrm>
            <a:custGeom>
              <a:avLst/>
              <a:gdLst/>
              <a:ahLst/>
              <a:cxnLst/>
              <a:rect r="r" b="b" t="t" l="l"/>
              <a:pathLst>
                <a:path h="305435" w="1225042">
                  <a:moveTo>
                    <a:pt x="0" y="0"/>
                  </a:moveTo>
                  <a:lnTo>
                    <a:pt x="1225042" y="0"/>
                  </a:lnTo>
                  <a:lnTo>
                    <a:pt x="1225042" y="305435"/>
                  </a:lnTo>
                  <a:lnTo>
                    <a:pt x="0" y="305435"/>
                  </a:lnTo>
                  <a:close/>
                </a:path>
              </a:pathLst>
            </a:custGeom>
            <a:blipFill>
              <a:blip r:embed="rId12">
                <a:alphaModFix amt="0"/>
              </a:blip>
              <a:stretch>
                <a:fillRect l="0" t="-28095" r="1" b="-28095"/>
              </a:stretch>
            </a:blipFill>
          </p:spPr>
        </p:sp>
      </p:grpSp>
      <p:grpSp>
        <p:nvGrpSpPr>
          <p:cNvPr name="Group 119" id="119"/>
          <p:cNvGrpSpPr/>
          <p:nvPr/>
        </p:nvGrpSpPr>
        <p:grpSpPr>
          <a:xfrm rot="0">
            <a:off x="10974257" y="4624340"/>
            <a:ext cx="918762" cy="214789"/>
            <a:chOff x="0" y="0"/>
            <a:chExt cx="1225017" cy="286385"/>
          </a:xfrm>
        </p:grpSpPr>
        <p:sp>
          <p:nvSpPr>
            <p:cNvPr name="Freeform 120" id="120"/>
            <p:cNvSpPr/>
            <p:nvPr/>
          </p:nvSpPr>
          <p:spPr>
            <a:xfrm flipH="false" flipV="false" rot="0">
              <a:off x="0" y="0"/>
              <a:ext cx="1225023" cy="286387"/>
            </a:xfrm>
            <a:custGeom>
              <a:avLst/>
              <a:gdLst/>
              <a:ahLst/>
              <a:cxnLst/>
              <a:rect r="r" b="b" t="t" l="l"/>
              <a:pathLst>
                <a:path h="286387" w="1225023">
                  <a:moveTo>
                    <a:pt x="0" y="0"/>
                  </a:moveTo>
                  <a:lnTo>
                    <a:pt x="1225023" y="0"/>
                  </a:lnTo>
                  <a:lnTo>
                    <a:pt x="1225023" y="286387"/>
                  </a:lnTo>
                  <a:lnTo>
                    <a:pt x="0" y="286387"/>
                  </a:lnTo>
                  <a:close/>
                </a:path>
              </a:pathLst>
            </a:custGeom>
            <a:blipFill>
              <a:blip r:embed="rId13">
                <a:alphaModFix amt="0"/>
              </a:blip>
              <a:stretch>
                <a:fillRect l="0" t="-33347" r="0" b="-33346"/>
              </a:stretch>
            </a:blipFill>
          </p:spPr>
        </p:sp>
        <p:sp>
          <p:nvSpPr>
            <p:cNvPr name="TextBox 121" id="121"/>
            <p:cNvSpPr txBox="true"/>
            <p:nvPr/>
          </p:nvSpPr>
          <p:spPr>
            <a:xfrm>
              <a:off x="0" y="19050"/>
              <a:ext cx="1225017" cy="267335"/>
            </a:xfrm>
            <a:prstGeom prst="rect">
              <a:avLst/>
            </a:prstGeom>
          </p:spPr>
          <p:txBody>
            <a:bodyPr anchor="ctr" rtlCol="false" tIns="0" lIns="0" bIns="0" rIns="0"/>
            <a:lstStyle/>
            <a:p>
              <a:pPr algn="l">
                <a:lnSpc>
                  <a:spcPts val="1047"/>
                </a:lnSpc>
              </a:pPr>
              <a:r>
                <a:rPr lang="en-US" sz="1100">
                  <a:solidFill>
                    <a:srgbClr val="000000"/>
                  </a:solidFill>
                  <a:latin typeface="TT Commons Pro"/>
                  <a:ea typeface="TT Commons Pro"/>
                  <a:cs typeface="TT Commons Pro"/>
                  <a:sym typeface="TT Commons Pro"/>
                </a:rPr>
                <a:t>Good Bowl</a:t>
              </a:r>
            </a:p>
          </p:txBody>
        </p:sp>
      </p:grpSp>
      <p:grpSp>
        <p:nvGrpSpPr>
          <p:cNvPr name="Group 122" id="122"/>
          <p:cNvGrpSpPr/>
          <p:nvPr/>
        </p:nvGrpSpPr>
        <p:grpSpPr>
          <a:xfrm rot="0">
            <a:off x="10908630" y="3915728"/>
            <a:ext cx="1327118" cy="634365"/>
            <a:chOff x="0" y="0"/>
            <a:chExt cx="1769491" cy="845820"/>
          </a:xfrm>
        </p:grpSpPr>
        <p:sp>
          <p:nvSpPr>
            <p:cNvPr name="Freeform 123" id="123" descr="preencoded.png"/>
            <p:cNvSpPr/>
            <p:nvPr/>
          </p:nvSpPr>
          <p:spPr>
            <a:xfrm flipH="false" flipV="false" rot="0">
              <a:off x="0" y="0"/>
              <a:ext cx="1769491" cy="845820"/>
            </a:xfrm>
            <a:custGeom>
              <a:avLst/>
              <a:gdLst/>
              <a:ahLst/>
              <a:cxnLst/>
              <a:rect r="r" b="b" t="t" l="l"/>
              <a:pathLst>
                <a:path h="845820" w="1769491">
                  <a:moveTo>
                    <a:pt x="0" y="0"/>
                  </a:moveTo>
                  <a:lnTo>
                    <a:pt x="1769491" y="0"/>
                  </a:lnTo>
                  <a:lnTo>
                    <a:pt x="1769491" y="845820"/>
                  </a:lnTo>
                  <a:lnTo>
                    <a:pt x="0" y="845820"/>
                  </a:lnTo>
                  <a:lnTo>
                    <a:pt x="0" y="0"/>
                  </a:lnTo>
                  <a:close/>
                </a:path>
              </a:pathLst>
            </a:custGeom>
            <a:blipFill>
              <a:blip r:embed="rId36"/>
              <a:stretch>
                <a:fillRect l="0" t="-387" r="0" b="-387"/>
              </a:stretch>
            </a:blipFill>
          </p:spPr>
        </p:sp>
      </p:grpSp>
      <p:grpSp>
        <p:nvGrpSpPr>
          <p:cNvPr name="Group 124" id="124"/>
          <p:cNvGrpSpPr/>
          <p:nvPr/>
        </p:nvGrpSpPr>
        <p:grpSpPr>
          <a:xfrm rot="0">
            <a:off x="13304053" y="3621443"/>
            <a:ext cx="524980" cy="205721"/>
            <a:chOff x="0" y="0"/>
            <a:chExt cx="699973" cy="274295"/>
          </a:xfrm>
        </p:grpSpPr>
        <p:sp>
          <p:nvSpPr>
            <p:cNvPr name="Freeform 125" id="125"/>
            <p:cNvSpPr/>
            <p:nvPr/>
          </p:nvSpPr>
          <p:spPr>
            <a:xfrm flipH="false" flipV="false" rot="0">
              <a:off x="0" y="0"/>
              <a:ext cx="700024" cy="274320"/>
            </a:xfrm>
            <a:custGeom>
              <a:avLst/>
              <a:gdLst/>
              <a:ahLst/>
              <a:cxnLst/>
              <a:rect r="r" b="b" t="t" l="l"/>
              <a:pathLst>
                <a:path h="274320" w="700024">
                  <a:moveTo>
                    <a:pt x="0" y="0"/>
                  </a:moveTo>
                  <a:lnTo>
                    <a:pt x="700024" y="0"/>
                  </a:lnTo>
                  <a:lnTo>
                    <a:pt x="700024" y="274320"/>
                  </a:lnTo>
                  <a:lnTo>
                    <a:pt x="0" y="274320"/>
                  </a:lnTo>
                  <a:close/>
                </a:path>
              </a:pathLst>
            </a:custGeom>
            <a:blipFill>
              <a:blip r:embed="rId12">
                <a:alphaModFix amt="0"/>
              </a:blip>
              <a:stretch>
                <a:fillRect l="-313" t="0" r="-304" b="9"/>
              </a:stretch>
            </a:blipFill>
          </p:spPr>
        </p:sp>
      </p:grpSp>
      <p:grpSp>
        <p:nvGrpSpPr>
          <p:cNvPr name="Group 126" id="126"/>
          <p:cNvGrpSpPr/>
          <p:nvPr/>
        </p:nvGrpSpPr>
        <p:grpSpPr>
          <a:xfrm rot="0">
            <a:off x="13304053" y="3642874"/>
            <a:ext cx="524980" cy="184290"/>
            <a:chOff x="0" y="0"/>
            <a:chExt cx="699973" cy="245720"/>
          </a:xfrm>
        </p:grpSpPr>
        <p:sp>
          <p:nvSpPr>
            <p:cNvPr name="Freeform 127" id="127"/>
            <p:cNvSpPr/>
            <p:nvPr/>
          </p:nvSpPr>
          <p:spPr>
            <a:xfrm flipH="false" flipV="false" rot="0">
              <a:off x="0" y="0"/>
              <a:ext cx="699969" cy="245718"/>
            </a:xfrm>
            <a:custGeom>
              <a:avLst/>
              <a:gdLst/>
              <a:ahLst/>
              <a:cxnLst/>
              <a:rect r="r" b="b" t="t" l="l"/>
              <a:pathLst>
                <a:path h="245718" w="699969">
                  <a:moveTo>
                    <a:pt x="0" y="0"/>
                  </a:moveTo>
                  <a:lnTo>
                    <a:pt x="699969" y="0"/>
                  </a:lnTo>
                  <a:lnTo>
                    <a:pt x="699969" y="245718"/>
                  </a:lnTo>
                  <a:lnTo>
                    <a:pt x="0" y="245718"/>
                  </a:lnTo>
                  <a:close/>
                </a:path>
              </a:pathLst>
            </a:custGeom>
            <a:blipFill>
              <a:blip r:embed="rId13">
                <a:alphaModFix amt="0"/>
              </a:blip>
              <a:stretch>
                <a:fillRect l="0" t="-5506" r="0" b="-5506"/>
              </a:stretch>
            </a:blipFill>
          </p:spPr>
        </p:sp>
        <p:sp>
          <p:nvSpPr>
            <p:cNvPr name="TextBox 128" id="128"/>
            <p:cNvSpPr txBox="true"/>
            <p:nvPr/>
          </p:nvSpPr>
          <p:spPr>
            <a:xfrm>
              <a:off x="0" y="28575"/>
              <a:ext cx="699973" cy="217145"/>
            </a:xfrm>
            <a:prstGeom prst="rect">
              <a:avLst/>
            </a:prstGeom>
          </p:spPr>
          <p:txBody>
            <a:bodyPr anchor="ctr" rtlCol="false" tIns="0" lIns="0" bIns="0" rIns="0"/>
            <a:lstStyle/>
            <a:p>
              <a:pPr algn="l">
                <a:lnSpc>
                  <a:spcPts val="852"/>
                </a:lnSpc>
              </a:pPr>
              <a:r>
                <a:rPr lang="en-US" sz="965">
                  <a:solidFill>
                    <a:srgbClr val="C07A35"/>
                  </a:solidFill>
                  <a:latin typeface="TT Commons Pro"/>
                  <a:ea typeface="TT Commons Pro"/>
                  <a:cs typeface="TT Commons Pro"/>
                  <a:sym typeface="TT Commons Pro"/>
                </a:rPr>
                <a:t>See all</a:t>
              </a:r>
            </a:p>
          </p:txBody>
        </p:sp>
      </p:grpSp>
      <p:grpSp>
        <p:nvGrpSpPr>
          <p:cNvPr name="Group 129" id="129"/>
          <p:cNvGrpSpPr/>
          <p:nvPr/>
        </p:nvGrpSpPr>
        <p:grpSpPr>
          <a:xfrm rot="0">
            <a:off x="10966971" y="3600345"/>
            <a:ext cx="1618793" cy="255041"/>
            <a:chOff x="0" y="0"/>
            <a:chExt cx="2158390" cy="340055"/>
          </a:xfrm>
        </p:grpSpPr>
        <p:sp>
          <p:nvSpPr>
            <p:cNvPr name="Freeform 130" id="130"/>
            <p:cNvSpPr/>
            <p:nvPr/>
          </p:nvSpPr>
          <p:spPr>
            <a:xfrm flipH="false" flipV="false" rot="0">
              <a:off x="0" y="0"/>
              <a:ext cx="2158365" cy="340106"/>
            </a:xfrm>
            <a:custGeom>
              <a:avLst/>
              <a:gdLst/>
              <a:ahLst/>
              <a:cxnLst/>
              <a:rect r="r" b="b" t="t" l="l"/>
              <a:pathLst>
                <a:path h="340106" w="2158365">
                  <a:moveTo>
                    <a:pt x="0" y="0"/>
                  </a:moveTo>
                  <a:lnTo>
                    <a:pt x="2158365" y="0"/>
                  </a:lnTo>
                  <a:lnTo>
                    <a:pt x="2158365" y="340106"/>
                  </a:lnTo>
                  <a:lnTo>
                    <a:pt x="0" y="340106"/>
                  </a:lnTo>
                  <a:close/>
                </a:path>
              </a:pathLst>
            </a:custGeom>
            <a:blipFill>
              <a:blip r:embed="rId12">
                <a:alphaModFix amt="0"/>
              </a:blip>
              <a:stretch>
                <a:fillRect l="0" t="-73577" r="-1" b="-73562"/>
              </a:stretch>
            </a:blipFill>
          </p:spPr>
        </p:sp>
      </p:grpSp>
      <p:grpSp>
        <p:nvGrpSpPr>
          <p:cNvPr name="Group 131" id="131"/>
          <p:cNvGrpSpPr/>
          <p:nvPr/>
        </p:nvGrpSpPr>
        <p:grpSpPr>
          <a:xfrm rot="0">
            <a:off x="10966971" y="3607489"/>
            <a:ext cx="1618793" cy="247898"/>
            <a:chOff x="0" y="0"/>
            <a:chExt cx="2158390" cy="330530"/>
          </a:xfrm>
        </p:grpSpPr>
        <p:sp>
          <p:nvSpPr>
            <p:cNvPr name="Freeform 132" id="132"/>
            <p:cNvSpPr/>
            <p:nvPr/>
          </p:nvSpPr>
          <p:spPr>
            <a:xfrm flipH="false" flipV="false" rot="0">
              <a:off x="0" y="0"/>
              <a:ext cx="2158391" cy="330530"/>
            </a:xfrm>
            <a:custGeom>
              <a:avLst/>
              <a:gdLst/>
              <a:ahLst/>
              <a:cxnLst/>
              <a:rect r="r" b="b" t="t" l="l"/>
              <a:pathLst>
                <a:path h="330530" w="2158391">
                  <a:moveTo>
                    <a:pt x="0" y="0"/>
                  </a:moveTo>
                  <a:lnTo>
                    <a:pt x="2158391" y="0"/>
                  </a:lnTo>
                  <a:lnTo>
                    <a:pt x="2158391" y="330530"/>
                  </a:lnTo>
                  <a:lnTo>
                    <a:pt x="0" y="330530"/>
                  </a:lnTo>
                  <a:close/>
                </a:path>
              </a:pathLst>
            </a:custGeom>
            <a:blipFill>
              <a:blip r:embed="rId13">
                <a:alphaModFix amt="0"/>
              </a:blip>
              <a:stretch>
                <a:fillRect l="0" t="-77239" r="0" b="-77239"/>
              </a:stretch>
            </a:blipFill>
          </p:spPr>
        </p:sp>
        <p:sp>
          <p:nvSpPr>
            <p:cNvPr name="TextBox 133" id="133"/>
            <p:cNvSpPr txBox="true"/>
            <p:nvPr/>
          </p:nvSpPr>
          <p:spPr>
            <a:xfrm>
              <a:off x="0" y="9525"/>
              <a:ext cx="2158390" cy="321005"/>
            </a:xfrm>
            <a:prstGeom prst="rect">
              <a:avLst/>
            </a:prstGeom>
          </p:spPr>
          <p:txBody>
            <a:bodyPr anchor="ctr" rtlCol="false" tIns="0" lIns="0" bIns="0" rIns="0"/>
            <a:lstStyle/>
            <a:p>
              <a:pPr algn="l">
                <a:lnSpc>
                  <a:spcPts val="1464"/>
                </a:lnSpc>
              </a:pPr>
              <a:r>
                <a:rPr lang="en-US" sz="1200" b="true">
                  <a:solidFill>
                    <a:srgbClr val="000000"/>
                  </a:solidFill>
                  <a:latin typeface="TT Commons Pro Bold"/>
                  <a:ea typeface="TT Commons Pro Bold"/>
                  <a:cs typeface="TT Commons Pro Bold"/>
                  <a:sym typeface="TT Commons Pro Bold"/>
                </a:rPr>
                <a:t>Popular Restaurants</a:t>
              </a:r>
            </a:p>
          </p:txBody>
        </p:sp>
      </p:grpSp>
      <p:grpSp>
        <p:nvGrpSpPr>
          <p:cNvPr name="Group 134" id="134"/>
          <p:cNvGrpSpPr/>
          <p:nvPr/>
        </p:nvGrpSpPr>
        <p:grpSpPr>
          <a:xfrm rot="0">
            <a:off x="7867926" y="4127192"/>
            <a:ext cx="787527" cy="648938"/>
            <a:chOff x="0" y="0"/>
            <a:chExt cx="1050036" cy="865251"/>
          </a:xfrm>
        </p:grpSpPr>
        <p:sp>
          <p:nvSpPr>
            <p:cNvPr name="Freeform 135" id="135" descr="preencoded.png"/>
            <p:cNvSpPr/>
            <p:nvPr/>
          </p:nvSpPr>
          <p:spPr>
            <a:xfrm flipH="false" flipV="false" rot="0">
              <a:off x="0" y="0"/>
              <a:ext cx="1050036" cy="865251"/>
            </a:xfrm>
            <a:custGeom>
              <a:avLst/>
              <a:gdLst/>
              <a:ahLst/>
              <a:cxnLst/>
              <a:rect r="r" b="b" t="t" l="l"/>
              <a:pathLst>
                <a:path h="865251" w="1050036">
                  <a:moveTo>
                    <a:pt x="0" y="0"/>
                  </a:moveTo>
                  <a:lnTo>
                    <a:pt x="1050036" y="0"/>
                  </a:lnTo>
                  <a:lnTo>
                    <a:pt x="1050036" y="865251"/>
                  </a:lnTo>
                  <a:lnTo>
                    <a:pt x="0" y="865251"/>
                  </a:lnTo>
                  <a:lnTo>
                    <a:pt x="0" y="0"/>
                  </a:lnTo>
                  <a:close/>
                </a:path>
              </a:pathLst>
            </a:custGeom>
            <a:blipFill>
              <a:blip r:embed="rId37"/>
              <a:stretch>
                <a:fillRect l="0" t="-152" r="0" b="-152"/>
              </a:stretch>
            </a:blipFill>
          </p:spPr>
        </p:sp>
      </p:grpSp>
      <p:grpSp>
        <p:nvGrpSpPr>
          <p:cNvPr name="Group 136" id="136"/>
          <p:cNvGrpSpPr/>
          <p:nvPr/>
        </p:nvGrpSpPr>
        <p:grpSpPr>
          <a:xfrm rot="0">
            <a:off x="13344115" y="3193837"/>
            <a:ext cx="510388" cy="264976"/>
            <a:chOff x="0" y="0"/>
            <a:chExt cx="680517" cy="353301"/>
          </a:xfrm>
        </p:grpSpPr>
        <p:sp>
          <p:nvSpPr>
            <p:cNvPr name="Freeform 137" id="137"/>
            <p:cNvSpPr/>
            <p:nvPr/>
          </p:nvSpPr>
          <p:spPr>
            <a:xfrm flipH="false" flipV="false" rot="0">
              <a:off x="0" y="0"/>
              <a:ext cx="680466" cy="353314"/>
            </a:xfrm>
            <a:custGeom>
              <a:avLst/>
              <a:gdLst/>
              <a:ahLst/>
              <a:cxnLst/>
              <a:rect r="r" b="b" t="t" l="l"/>
              <a:pathLst>
                <a:path h="353314" w="680466">
                  <a:moveTo>
                    <a:pt x="0" y="0"/>
                  </a:moveTo>
                  <a:lnTo>
                    <a:pt x="680466" y="0"/>
                  </a:lnTo>
                  <a:lnTo>
                    <a:pt x="680466" y="353314"/>
                  </a:lnTo>
                  <a:lnTo>
                    <a:pt x="0" y="353314"/>
                  </a:lnTo>
                  <a:close/>
                </a:path>
              </a:pathLst>
            </a:custGeom>
            <a:blipFill>
              <a:blip r:embed="rId12">
                <a:alphaModFix amt="0"/>
              </a:blip>
              <a:stretch>
                <a:fillRect l="-16657" t="0" r="-16666" b="3"/>
              </a:stretch>
            </a:blipFill>
          </p:spPr>
        </p:sp>
      </p:grpSp>
      <p:grpSp>
        <p:nvGrpSpPr>
          <p:cNvPr name="Group 138" id="138"/>
          <p:cNvGrpSpPr/>
          <p:nvPr/>
        </p:nvGrpSpPr>
        <p:grpSpPr>
          <a:xfrm rot="0">
            <a:off x="13344115" y="3227175"/>
            <a:ext cx="510397" cy="231638"/>
            <a:chOff x="0" y="0"/>
            <a:chExt cx="680530" cy="308851"/>
          </a:xfrm>
        </p:grpSpPr>
        <p:sp>
          <p:nvSpPr>
            <p:cNvPr name="Freeform 139" id="139"/>
            <p:cNvSpPr/>
            <p:nvPr/>
          </p:nvSpPr>
          <p:spPr>
            <a:xfrm flipH="false" flipV="false" rot="0">
              <a:off x="0" y="0"/>
              <a:ext cx="680525" cy="308858"/>
            </a:xfrm>
            <a:custGeom>
              <a:avLst/>
              <a:gdLst/>
              <a:ahLst/>
              <a:cxnLst/>
              <a:rect r="r" b="b" t="t" l="l"/>
              <a:pathLst>
                <a:path h="308858" w="680525">
                  <a:moveTo>
                    <a:pt x="0" y="0"/>
                  </a:moveTo>
                  <a:lnTo>
                    <a:pt x="680525" y="0"/>
                  </a:lnTo>
                  <a:lnTo>
                    <a:pt x="680525" y="308858"/>
                  </a:lnTo>
                  <a:lnTo>
                    <a:pt x="0" y="308858"/>
                  </a:lnTo>
                  <a:close/>
                </a:path>
              </a:pathLst>
            </a:custGeom>
            <a:blipFill>
              <a:blip r:embed="rId13">
                <a:alphaModFix amt="0"/>
              </a:blip>
              <a:stretch>
                <a:fillRect l="-8229" t="0" r="-8229" b="2"/>
              </a:stretch>
            </a:blipFill>
          </p:spPr>
        </p:sp>
        <p:sp>
          <p:nvSpPr>
            <p:cNvPr name="TextBox 140" id="140"/>
            <p:cNvSpPr txBox="true"/>
            <p:nvPr/>
          </p:nvSpPr>
          <p:spPr>
            <a:xfrm>
              <a:off x="0" y="28575"/>
              <a:ext cx="680530" cy="280276"/>
            </a:xfrm>
            <a:prstGeom prst="rect">
              <a:avLst/>
            </a:prstGeom>
          </p:spPr>
          <p:txBody>
            <a:bodyPr anchor="ctr" rtlCol="false" tIns="0" lIns="0" bIns="0" rIns="0"/>
            <a:lstStyle/>
            <a:p>
              <a:pPr algn="l">
                <a:lnSpc>
                  <a:spcPts val="851"/>
                </a:lnSpc>
              </a:pPr>
              <a:r>
                <a:rPr lang="en-US" sz="900">
                  <a:solidFill>
                    <a:srgbClr val="000000"/>
                  </a:solidFill>
                  <a:latin typeface="TT Commons Pro"/>
                  <a:ea typeface="TT Commons Pro"/>
                  <a:cs typeface="TT Commons Pro"/>
                  <a:sym typeface="TT Commons Pro"/>
                </a:rPr>
                <a:t>Cakes</a:t>
              </a:r>
            </a:p>
          </p:txBody>
        </p:sp>
      </p:grpSp>
      <p:grpSp>
        <p:nvGrpSpPr>
          <p:cNvPr name="Group 141" id="141"/>
          <p:cNvGrpSpPr/>
          <p:nvPr/>
        </p:nvGrpSpPr>
        <p:grpSpPr>
          <a:xfrm rot="0">
            <a:off x="13344115" y="2865701"/>
            <a:ext cx="335470" cy="277082"/>
            <a:chOff x="0" y="0"/>
            <a:chExt cx="447294" cy="369443"/>
          </a:xfrm>
        </p:grpSpPr>
        <p:sp>
          <p:nvSpPr>
            <p:cNvPr name="Freeform 142" id="142" descr="preencoded.png"/>
            <p:cNvSpPr/>
            <p:nvPr/>
          </p:nvSpPr>
          <p:spPr>
            <a:xfrm flipH="false" flipV="false" rot="0">
              <a:off x="0" y="0"/>
              <a:ext cx="447294" cy="369443"/>
            </a:xfrm>
            <a:custGeom>
              <a:avLst/>
              <a:gdLst/>
              <a:ahLst/>
              <a:cxnLst/>
              <a:rect r="r" b="b" t="t" l="l"/>
              <a:pathLst>
                <a:path h="369443" w="447294">
                  <a:moveTo>
                    <a:pt x="0" y="0"/>
                  </a:moveTo>
                  <a:lnTo>
                    <a:pt x="447294" y="0"/>
                  </a:lnTo>
                  <a:lnTo>
                    <a:pt x="447294" y="369443"/>
                  </a:lnTo>
                  <a:lnTo>
                    <a:pt x="0" y="369443"/>
                  </a:lnTo>
                  <a:lnTo>
                    <a:pt x="0" y="0"/>
                  </a:lnTo>
                  <a:close/>
                </a:path>
              </a:pathLst>
            </a:custGeom>
            <a:blipFill>
              <a:blip r:embed="rId38"/>
              <a:stretch>
                <a:fillRect l="0" t="-629" r="0" b="-632"/>
              </a:stretch>
            </a:blipFill>
          </p:spPr>
        </p:sp>
      </p:grpSp>
      <p:grpSp>
        <p:nvGrpSpPr>
          <p:cNvPr name="Group 143" id="143"/>
          <p:cNvGrpSpPr/>
          <p:nvPr/>
        </p:nvGrpSpPr>
        <p:grpSpPr>
          <a:xfrm rot="0">
            <a:off x="12749822" y="3237586"/>
            <a:ext cx="528666" cy="192815"/>
            <a:chOff x="0" y="0"/>
            <a:chExt cx="704888" cy="257086"/>
          </a:xfrm>
        </p:grpSpPr>
        <p:sp>
          <p:nvSpPr>
            <p:cNvPr name="Freeform 144" id="144"/>
            <p:cNvSpPr/>
            <p:nvPr/>
          </p:nvSpPr>
          <p:spPr>
            <a:xfrm flipH="false" flipV="false" rot="0">
              <a:off x="0" y="0"/>
              <a:ext cx="704850" cy="257048"/>
            </a:xfrm>
            <a:custGeom>
              <a:avLst/>
              <a:gdLst/>
              <a:ahLst/>
              <a:cxnLst/>
              <a:rect r="r" b="b" t="t" l="l"/>
              <a:pathLst>
                <a:path h="257048" w="704850">
                  <a:moveTo>
                    <a:pt x="0" y="0"/>
                  </a:moveTo>
                  <a:lnTo>
                    <a:pt x="704850" y="0"/>
                  </a:lnTo>
                  <a:lnTo>
                    <a:pt x="704850" y="257048"/>
                  </a:lnTo>
                  <a:lnTo>
                    <a:pt x="0" y="257048"/>
                  </a:lnTo>
                  <a:close/>
                </a:path>
              </a:pathLst>
            </a:custGeom>
            <a:blipFill>
              <a:blip r:embed="rId12">
                <a:alphaModFix amt="0"/>
              </a:blip>
              <a:stretch>
                <a:fillRect l="0" t="-3389" r="-5" b="-3399"/>
              </a:stretch>
            </a:blipFill>
          </p:spPr>
        </p:sp>
      </p:grpSp>
      <p:grpSp>
        <p:nvGrpSpPr>
          <p:cNvPr name="Group 145" id="145"/>
          <p:cNvGrpSpPr/>
          <p:nvPr/>
        </p:nvGrpSpPr>
        <p:grpSpPr>
          <a:xfrm rot="0">
            <a:off x="12749822" y="3256083"/>
            <a:ext cx="528666" cy="174317"/>
            <a:chOff x="0" y="0"/>
            <a:chExt cx="704888" cy="232423"/>
          </a:xfrm>
        </p:grpSpPr>
        <p:sp>
          <p:nvSpPr>
            <p:cNvPr name="Freeform 146" id="146"/>
            <p:cNvSpPr/>
            <p:nvPr/>
          </p:nvSpPr>
          <p:spPr>
            <a:xfrm flipH="false" flipV="false" rot="0">
              <a:off x="0" y="0"/>
              <a:ext cx="704888" cy="232424"/>
            </a:xfrm>
            <a:custGeom>
              <a:avLst/>
              <a:gdLst/>
              <a:ahLst/>
              <a:cxnLst/>
              <a:rect r="r" b="b" t="t" l="l"/>
              <a:pathLst>
                <a:path h="232424" w="704888">
                  <a:moveTo>
                    <a:pt x="0" y="0"/>
                  </a:moveTo>
                  <a:lnTo>
                    <a:pt x="704888" y="0"/>
                  </a:lnTo>
                  <a:lnTo>
                    <a:pt x="704888" y="232424"/>
                  </a:lnTo>
                  <a:lnTo>
                    <a:pt x="0" y="232424"/>
                  </a:lnTo>
                  <a:close/>
                </a:path>
              </a:pathLst>
            </a:custGeom>
            <a:blipFill>
              <a:blip r:embed="rId13">
                <a:alphaModFix amt="0"/>
              </a:blip>
              <a:stretch>
                <a:fillRect l="0" t="-9093" r="0" b="-9093"/>
              </a:stretch>
            </a:blipFill>
          </p:spPr>
        </p:sp>
        <p:sp>
          <p:nvSpPr>
            <p:cNvPr name="TextBox 147" id="147"/>
            <p:cNvSpPr txBox="true"/>
            <p:nvPr/>
          </p:nvSpPr>
          <p:spPr>
            <a:xfrm>
              <a:off x="0" y="19050"/>
              <a:ext cx="704888" cy="213373"/>
            </a:xfrm>
            <a:prstGeom prst="rect">
              <a:avLst/>
            </a:prstGeom>
          </p:spPr>
          <p:txBody>
            <a:bodyPr anchor="ctr" rtlCol="false" tIns="0" lIns="0" bIns="0" rIns="0"/>
            <a:lstStyle/>
            <a:p>
              <a:pPr algn="l">
                <a:lnSpc>
                  <a:spcPts val="960"/>
                </a:lnSpc>
              </a:pPr>
              <a:r>
                <a:rPr lang="en-US" sz="900">
                  <a:solidFill>
                    <a:srgbClr val="000000"/>
                  </a:solidFill>
                  <a:latin typeface="TT Commons Pro"/>
                  <a:ea typeface="TT Commons Pro"/>
                  <a:cs typeface="TT Commons Pro"/>
                  <a:sym typeface="TT Commons Pro"/>
                </a:rPr>
                <a:t>Indian</a:t>
              </a:r>
            </a:p>
          </p:txBody>
        </p:sp>
      </p:grpSp>
      <p:grpSp>
        <p:nvGrpSpPr>
          <p:cNvPr name="Group 148" id="148"/>
          <p:cNvGrpSpPr/>
          <p:nvPr/>
        </p:nvGrpSpPr>
        <p:grpSpPr>
          <a:xfrm rot="0">
            <a:off x="12738887" y="2872997"/>
            <a:ext cx="350044" cy="277082"/>
            <a:chOff x="0" y="0"/>
            <a:chExt cx="466725" cy="369443"/>
          </a:xfrm>
        </p:grpSpPr>
        <p:sp>
          <p:nvSpPr>
            <p:cNvPr name="Freeform 149" id="149" descr="preencoded.png"/>
            <p:cNvSpPr/>
            <p:nvPr/>
          </p:nvSpPr>
          <p:spPr>
            <a:xfrm flipH="false" flipV="false" rot="0">
              <a:off x="0" y="0"/>
              <a:ext cx="466725" cy="369443"/>
            </a:xfrm>
            <a:custGeom>
              <a:avLst/>
              <a:gdLst/>
              <a:ahLst/>
              <a:cxnLst/>
              <a:rect r="r" b="b" t="t" l="l"/>
              <a:pathLst>
                <a:path h="369443" w="466725">
                  <a:moveTo>
                    <a:pt x="0" y="0"/>
                  </a:moveTo>
                  <a:lnTo>
                    <a:pt x="466725" y="0"/>
                  </a:lnTo>
                  <a:lnTo>
                    <a:pt x="466725" y="369443"/>
                  </a:lnTo>
                  <a:lnTo>
                    <a:pt x="0" y="369443"/>
                  </a:lnTo>
                  <a:lnTo>
                    <a:pt x="0" y="0"/>
                  </a:lnTo>
                  <a:close/>
                </a:path>
              </a:pathLst>
            </a:custGeom>
            <a:blipFill>
              <a:blip r:embed="rId39"/>
              <a:stretch>
                <a:fillRect l="0" t="-96" r="0" b="-99"/>
              </a:stretch>
            </a:blipFill>
          </p:spPr>
        </p:sp>
      </p:grpSp>
      <p:grpSp>
        <p:nvGrpSpPr>
          <p:cNvPr name="Group 150" id="150"/>
          <p:cNvGrpSpPr/>
          <p:nvPr/>
        </p:nvGrpSpPr>
        <p:grpSpPr>
          <a:xfrm rot="0">
            <a:off x="12111780" y="3211935"/>
            <a:ext cx="510426" cy="230629"/>
            <a:chOff x="0" y="0"/>
            <a:chExt cx="680568" cy="307505"/>
          </a:xfrm>
        </p:grpSpPr>
        <p:sp>
          <p:nvSpPr>
            <p:cNvPr name="Freeform 151" id="151"/>
            <p:cNvSpPr/>
            <p:nvPr/>
          </p:nvSpPr>
          <p:spPr>
            <a:xfrm flipH="false" flipV="false" rot="0">
              <a:off x="0" y="0"/>
              <a:ext cx="680593" cy="307467"/>
            </a:xfrm>
            <a:custGeom>
              <a:avLst/>
              <a:gdLst/>
              <a:ahLst/>
              <a:cxnLst/>
              <a:rect r="r" b="b" t="t" l="l"/>
              <a:pathLst>
                <a:path h="307467" w="680593">
                  <a:moveTo>
                    <a:pt x="0" y="0"/>
                  </a:moveTo>
                  <a:lnTo>
                    <a:pt x="680593" y="0"/>
                  </a:lnTo>
                  <a:lnTo>
                    <a:pt x="680593" y="307467"/>
                  </a:lnTo>
                  <a:lnTo>
                    <a:pt x="0" y="307467"/>
                  </a:lnTo>
                  <a:close/>
                </a:path>
              </a:pathLst>
            </a:custGeom>
            <a:blipFill>
              <a:blip r:embed="rId12">
                <a:alphaModFix amt="0"/>
              </a:blip>
              <a:stretch>
                <a:fillRect l="-8012" t="0" r="-8008" b="-12"/>
              </a:stretch>
            </a:blipFill>
          </p:spPr>
        </p:sp>
      </p:grpSp>
      <p:grpSp>
        <p:nvGrpSpPr>
          <p:cNvPr name="Group 152" id="152"/>
          <p:cNvGrpSpPr/>
          <p:nvPr/>
        </p:nvGrpSpPr>
        <p:grpSpPr>
          <a:xfrm rot="0">
            <a:off x="12111780" y="3231937"/>
            <a:ext cx="510435" cy="210626"/>
            <a:chOff x="0" y="0"/>
            <a:chExt cx="680580" cy="280835"/>
          </a:xfrm>
        </p:grpSpPr>
        <p:sp>
          <p:nvSpPr>
            <p:cNvPr name="Freeform 153" id="153"/>
            <p:cNvSpPr/>
            <p:nvPr/>
          </p:nvSpPr>
          <p:spPr>
            <a:xfrm flipH="false" flipV="false" rot="0">
              <a:off x="0" y="0"/>
              <a:ext cx="680580" cy="280839"/>
            </a:xfrm>
            <a:custGeom>
              <a:avLst/>
              <a:gdLst/>
              <a:ahLst/>
              <a:cxnLst/>
              <a:rect r="r" b="b" t="t" l="l"/>
              <a:pathLst>
                <a:path h="280839" w="680580">
                  <a:moveTo>
                    <a:pt x="0" y="0"/>
                  </a:moveTo>
                  <a:lnTo>
                    <a:pt x="680580" y="0"/>
                  </a:lnTo>
                  <a:lnTo>
                    <a:pt x="680580" y="280839"/>
                  </a:lnTo>
                  <a:lnTo>
                    <a:pt x="0" y="280839"/>
                  </a:lnTo>
                  <a:close/>
                </a:path>
              </a:pathLst>
            </a:custGeom>
            <a:blipFill>
              <a:blip r:embed="rId13">
                <a:alphaModFix amt="0"/>
              </a:blip>
              <a:stretch>
                <a:fillRect l="-2943" t="0" r="-2943" b="1"/>
              </a:stretch>
            </a:blipFill>
          </p:spPr>
        </p:sp>
        <p:sp>
          <p:nvSpPr>
            <p:cNvPr name="TextBox 154" id="154"/>
            <p:cNvSpPr txBox="true"/>
            <p:nvPr/>
          </p:nvSpPr>
          <p:spPr>
            <a:xfrm>
              <a:off x="0" y="19050"/>
              <a:ext cx="680580" cy="261785"/>
            </a:xfrm>
            <a:prstGeom prst="rect">
              <a:avLst/>
            </a:prstGeom>
          </p:spPr>
          <p:txBody>
            <a:bodyPr anchor="ctr" rtlCol="false" tIns="0" lIns="0" bIns="0" rIns="0"/>
            <a:lstStyle/>
            <a:p>
              <a:pPr algn="l">
                <a:lnSpc>
                  <a:spcPts val="966"/>
                </a:lnSpc>
              </a:pPr>
              <a:r>
                <a:rPr lang="en-US" sz="900">
                  <a:solidFill>
                    <a:srgbClr val="000000"/>
                  </a:solidFill>
                  <a:latin typeface="TT Commons Pro"/>
                  <a:ea typeface="TT Commons Pro"/>
                  <a:cs typeface="TT Commons Pro"/>
                  <a:sym typeface="TT Commons Pro"/>
                </a:rPr>
                <a:t>Burger</a:t>
              </a:r>
            </a:p>
          </p:txBody>
        </p:sp>
      </p:grpSp>
      <p:grpSp>
        <p:nvGrpSpPr>
          <p:cNvPr name="Group 155" id="155"/>
          <p:cNvGrpSpPr/>
          <p:nvPr/>
        </p:nvGrpSpPr>
        <p:grpSpPr>
          <a:xfrm rot="0">
            <a:off x="12148252" y="2865701"/>
            <a:ext cx="357283" cy="277082"/>
            <a:chOff x="0" y="0"/>
            <a:chExt cx="476377" cy="369443"/>
          </a:xfrm>
        </p:grpSpPr>
        <p:sp>
          <p:nvSpPr>
            <p:cNvPr name="Freeform 156" id="156" descr="preencoded.png"/>
            <p:cNvSpPr/>
            <p:nvPr/>
          </p:nvSpPr>
          <p:spPr>
            <a:xfrm flipH="false" flipV="false" rot="0">
              <a:off x="0" y="0"/>
              <a:ext cx="476377" cy="369443"/>
            </a:xfrm>
            <a:custGeom>
              <a:avLst/>
              <a:gdLst/>
              <a:ahLst/>
              <a:cxnLst/>
              <a:rect r="r" b="b" t="t" l="l"/>
              <a:pathLst>
                <a:path h="369443" w="476377">
                  <a:moveTo>
                    <a:pt x="0" y="0"/>
                  </a:moveTo>
                  <a:lnTo>
                    <a:pt x="476377" y="0"/>
                  </a:lnTo>
                  <a:lnTo>
                    <a:pt x="476377" y="369443"/>
                  </a:lnTo>
                  <a:lnTo>
                    <a:pt x="0" y="369443"/>
                  </a:lnTo>
                  <a:lnTo>
                    <a:pt x="0" y="0"/>
                  </a:lnTo>
                  <a:close/>
                </a:path>
              </a:pathLst>
            </a:custGeom>
            <a:blipFill>
              <a:blip r:embed="rId40"/>
              <a:stretch>
                <a:fillRect l="-69" t="0" r="-71" b="0"/>
              </a:stretch>
            </a:blipFill>
          </p:spPr>
        </p:sp>
      </p:grpSp>
      <p:grpSp>
        <p:nvGrpSpPr>
          <p:cNvPr name="Group 157" id="157"/>
          <p:cNvGrpSpPr/>
          <p:nvPr/>
        </p:nvGrpSpPr>
        <p:grpSpPr>
          <a:xfrm rot="0">
            <a:off x="11557606" y="3156156"/>
            <a:ext cx="513836" cy="342176"/>
            <a:chOff x="0" y="0"/>
            <a:chExt cx="685114" cy="456235"/>
          </a:xfrm>
        </p:grpSpPr>
        <p:sp>
          <p:nvSpPr>
            <p:cNvPr name="Freeform 158" id="158"/>
            <p:cNvSpPr/>
            <p:nvPr/>
          </p:nvSpPr>
          <p:spPr>
            <a:xfrm flipH="false" flipV="false" rot="0">
              <a:off x="0" y="0"/>
              <a:ext cx="685165" cy="456184"/>
            </a:xfrm>
            <a:custGeom>
              <a:avLst/>
              <a:gdLst/>
              <a:ahLst/>
              <a:cxnLst/>
              <a:rect r="r" b="b" t="t" l="l"/>
              <a:pathLst>
                <a:path h="456184" w="685165">
                  <a:moveTo>
                    <a:pt x="0" y="0"/>
                  </a:moveTo>
                  <a:lnTo>
                    <a:pt x="685165" y="0"/>
                  </a:lnTo>
                  <a:lnTo>
                    <a:pt x="685165" y="456184"/>
                  </a:lnTo>
                  <a:lnTo>
                    <a:pt x="0" y="456184"/>
                  </a:lnTo>
                  <a:close/>
                </a:path>
              </a:pathLst>
            </a:custGeom>
            <a:blipFill>
              <a:blip r:embed="rId12">
                <a:alphaModFix amt="0"/>
              </a:blip>
              <a:stretch>
                <a:fillRect l="-35497" t="0" r="-35488" b="-11"/>
              </a:stretch>
            </a:blipFill>
          </p:spPr>
        </p:sp>
      </p:grpSp>
      <p:grpSp>
        <p:nvGrpSpPr>
          <p:cNvPr name="Group 159" id="159"/>
          <p:cNvGrpSpPr/>
          <p:nvPr/>
        </p:nvGrpSpPr>
        <p:grpSpPr>
          <a:xfrm rot="0">
            <a:off x="11557606" y="3205277"/>
            <a:ext cx="513845" cy="293065"/>
            <a:chOff x="0" y="0"/>
            <a:chExt cx="685127" cy="390754"/>
          </a:xfrm>
        </p:grpSpPr>
        <p:sp>
          <p:nvSpPr>
            <p:cNvPr name="Freeform 160" id="160"/>
            <p:cNvSpPr/>
            <p:nvPr/>
          </p:nvSpPr>
          <p:spPr>
            <a:xfrm flipH="false" flipV="false" rot="0">
              <a:off x="0" y="0"/>
              <a:ext cx="685127" cy="390757"/>
            </a:xfrm>
            <a:custGeom>
              <a:avLst/>
              <a:gdLst/>
              <a:ahLst/>
              <a:cxnLst/>
              <a:rect r="r" b="b" t="t" l="l"/>
              <a:pathLst>
                <a:path h="390757" w="685127">
                  <a:moveTo>
                    <a:pt x="0" y="0"/>
                  </a:moveTo>
                  <a:lnTo>
                    <a:pt x="685127" y="0"/>
                  </a:lnTo>
                  <a:lnTo>
                    <a:pt x="685127" y="390757"/>
                  </a:lnTo>
                  <a:lnTo>
                    <a:pt x="0" y="390757"/>
                  </a:lnTo>
                  <a:close/>
                </a:path>
              </a:pathLst>
            </a:custGeom>
            <a:blipFill>
              <a:blip r:embed="rId13">
                <a:alphaModFix amt="0"/>
              </a:blip>
              <a:stretch>
                <a:fillRect l="-23176" t="0" r="-23176" b="0"/>
              </a:stretch>
            </a:blipFill>
          </p:spPr>
        </p:sp>
        <p:sp>
          <p:nvSpPr>
            <p:cNvPr name="TextBox 161" id="161"/>
            <p:cNvSpPr txBox="true"/>
            <p:nvPr/>
          </p:nvSpPr>
          <p:spPr>
            <a:xfrm>
              <a:off x="0" y="38100"/>
              <a:ext cx="685127" cy="352654"/>
            </a:xfrm>
            <a:prstGeom prst="rect">
              <a:avLst/>
            </a:prstGeom>
          </p:spPr>
          <p:txBody>
            <a:bodyPr anchor="ctr" rtlCol="false" tIns="0" lIns="0" bIns="0" rIns="0"/>
            <a:lstStyle/>
            <a:p>
              <a:pPr algn="l">
                <a:lnSpc>
                  <a:spcPts val="732"/>
                </a:lnSpc>
              </a:pPr>
              <a:r>
                <a:rPr lang="en-US" sz="900">
                  <a:solidFill>
                    <a:srgbClr val="000000"/>
                  </a:solidFill>
                  <a:latin typeface="TT Commons Pro"/>
                  <a:ea typeface="TT Commons Pro"/>
                  <a:cs typeface="TT Commons Pro"/>
                  <a:sym typeface="TT Commons Pro"/>
                </a:rPr>
                <a:t>Pizza</a:t>
              </a:r>
            </a:p>
          </p:txBody>
        </p:sp>
      </p:grpSp>
      <p:grpSp>
        <p:nvGrpSpPr>
          <p:cNvPr name="Group 162" id="162"/>
          <p:cNvGrpSpPr/>
          <p:nvPr/>
        </p:nvGrpSpPr>
        <p:grpSpPr>
          <a:xfrm rot="0">
            <a:off x="11557606" y="2872997"/>
            <a:ext cx="342710" cy="277082"/>
            <a:chOff x="0" y="0"/>
            <a:chExt cx="456946" cy="369443"/>
          </a:xfrm>
        </p:grpSpPr>
        <p:sp>
          <p:nvSpPr>
            <p:cNvPr name="Freeform 163" id="163" descr="preencoded.png"/>
            <p:cNvSpPr/>
            <p:nvPr/>
          </p:nvSpPr>
          <p:spPr>
            <a:xfrm flipH="false" flipV="false" rot="0">
              <a:off x="0" y="0"/>
              <a:ext cx="456946" cy="369443"/>
            </a:xfrm>
            <a:custGeom>
              <a:avLst/>
              <a:gdLst/>
              <a:ahLst/>
              <a:cxnLst/>
              <a:rect r="r" b="b" t="t" l="l"/>
              <a:pathLst>
                <a:path h="369443" w="456946">
                  <a:moveTo>
                    <a:pt x="0" y="0"/>
                  </a:moveTo>
                  <a:lnTo>
                    <a:pt x="456946" y="0"/>
                  </a:lnTo>
                  <a:lnTo>
                    <a:pt x="456946" y="369443"/>
                  </a:lnTo>
                  <a:lnTo>
                    <a:pt x="0" y="369443"/>
                  </a:lnTo>
                  <a:lnTo>
                    <a:pt x="0" y="0"/>
                  </a:lnTo>
                  <a:close/>
                </a:path>
              </a:pathLst>
            </a:custGeom>
            <a:blipFill>
              <a:blip r:embed="rId41"/>
              <a:stretch>
                <a:fillRect l="0" t="-598" r="0" b="-598"/>
              </a:stretch>
            </a:blipFill>
          </p:spPr>
        </p:sp>
      </p:grpSp>
      <p:grpSp>
        <p:nvGrpSpPr>
          <p:cNvPr name="Group 164" id="164"/>
          <p:cNvGrpSpPr/>
          <p:nvPr/>
        </p:nvGrpSpPr>
        <p:grpSpPr>
          <a:xfrm rot="0">
            <a:off x="10974257" y="3234719"/>
            <a:ext cx="422910" cy="190548"/>
            <a:chOff x="0" y="0"/>
            <a:chExt cx="563880" cy="254064"/>
          </a:xfrm>
        </p:grpSpPr>
        <p:sp>
          <p:nvSpPr>
            <p:cNvPr name="Freeform 165" id="165"/>
            <p:cNvSpPr/>
            <p:nvPr/>
          </p:nvSpPr>
          <p:spPr>
            <a:xfrm flipH="false" flipV="false" rot="0">
              <a:off x="0" y="0"/>
              <a:ext cx="563880" cy="254000"/>
            </a:xfrm>
            <a:custGeom>
              <a:avLst/>
              <a:gdLst/>
              <a:ahLst/>
              <a:cxnLst/>
              <a:rect r="r" b="b" t="t" l="l"/>
              <a:pathLst>
                <a:path h="254000" w="563880">
                  <a:moveTo>
                    <a:pt x="0" y="0"/>
                  </a:moveTo>
                  <a:lnTo>
                    <a:pt x="563880" y="0"/>
                  </a:lnTo>
                  <a:lnTo>
                    <a:pt x="563880" y="254000"/>
                  </a:lnTo>
                  <a:lnTo>
                    <a:pt x="0" y="254000"/>
                  </a:lnTo>
                  <a:close/>
                </a:path>
              </a:pathLst>
            </a:custGeom>
            <a:blipFill>
              <a:blip r:embed="rId12">
                <a:alphaModFix amt="0"/>
              </a:blip>
              <a:stretch>
                <a:fillRect l="-7849" t="0" r="-7849" b="-24"/>
              </a:stretch>
            </a:blipFill>
          </p:spPr>
        </p:sp>
      </p:grpSp>
      <p:grpSp>
        <p:nvGrpSpPr>
          <p:cNvPr name="Group 166" id="166"/>
          <p:cNvGrpSpPr/>
          <p:nvPr/>
        </p:nvGrpSpPr>
        <p:grpSpPr>
          <a:xfrm rot="0">
            <a:off x="10974257" y="3249006"/>
            <a:ext cx="422920" cy="176260"/>
            <a:chOff x="0" y="0"/>
            <a:chExt cx="563893" cy="235014"/>
          </a:xfrm>
        </p:grpSpPr>
        <p:sp>
          <p:nvSpPr>
            <p:cNvPr name="Freeform 167" id="167"/>
            <p:cNvSpPr/>
            <p:nvPr/>
          </p:nvSpPr>
          <p:spPr>
            <a:xfrm flipH="false" flipV="false" rot="0">
              <a:off x="0" y="0"/>
              <a:ext cx="563893" cy="235007"/>
            </a:xfrm>
            <a:custGeom>
              <a:avLst/>
              <a:gdLst/>
              <a:ahLst/>
              <a:cxnLst/>
              <a:rect r="r" b="b" t="t" l="l"/>
              <a:pathLst>
                <a:path h="235007" w="563893">
                  <a:moveTo>
                    <a:pt x="0" y="0"/>
                  </a:moveTo>
                  <a:lnTo>
                    <a:pt x="563893" y="0"/>
                  </a:lnTo>
                  <a:lnTo>
                    <a:pt x="563893" y="235007"/>
                  </a:lnTo>
                  <a:lnTo>
                    <a:pt x="0" y="235007"/>
                  </a:lnTo>
                  <a:close/>
                </a:path>
              </a:pathLst>
            </a:custGeom>
            <a:blipFill>
              <a:blip r:embed="rId13">
                <a:alphaModFix amt="0"/>
              </a:blip>
              <a:stretch>
                <a:fillRect l="-3473" t="0" r="-3472" b="-2"/>
              </a:stretch>
            </a:blipFill>
          </p:spPr>
        </p:sp>
        <p:sp>
          <p:nvSpPr>
            <p:cNvPr name="TextBox 168" id="168"/>
            <p:cNvSpPr txBox="true"/>
            <p:nvPr/>
          </p:nvSpPr>
          <p:spPr>
            <a:xfrm>
              <a:off x="0" y="19050"/>
              <a:ext cx="563893" cy="215964"/>
            </a:xfrm>
            <a:prstGeom prst="rect">
              <a:avLst/>
            </a:prstGeom>
          </p:spPr>
          <p:txBody>
            <a:bodyPr anchor="ctr" rtlCol="false" tIns="0" lIns="0" bIns="0" rIns="0"/>
            <a:lstStyle/>
            <a:p>
              <a:pPr algn="l">
                <a:lnSpc>
                  <a:spcPts val="935"/>
                </a:lnSpc>
              </a:pPr>
              <a:r>
                <a:rPr lang="en-US" sz="900">
                  <a:solidFill>
                    <a:srgbClr val="000000"/>
                  </a:solidFill>
                  <a:latin typeface="TT Commons Pro"/>
                  <a:ea typeface="TT Commons Pro"/>
                  <a:cs typeface="TT Commons Pro"/>
                  <a:sym typeface="TT Commons Pro"/>
                </a:rPr>
                <a:t>Biryani</a:t>
              </a:r>
            </a:p>
          </p:txBody>
        </p:sp>
      </p:grpSp>
      <p:grpSp>
        <p:nvGrpSpPr>
          <p:cNvPr name="Group 169" id="169"/>
          <p:cNvGrpSpPr/>
          <p:nvPr/>
        </p:nvGrpSpPr>
        <p:grpSpPr>
          <a:xfrm rot="0">
            <a:off x="10959675" y="2880284"/>
            <a:ext cx="364617" cy="262509"/>
            <a:chOff x="0" y="0"/>
            <a:chExt cx="486156" cy="350012"/>
          </a:xfrm>
        </p:grpSpPr>
        <p:sp>
          <p:nvSpPr>
            <p:cNvPr name="Freeform 170" id="170" descr="preencoded.png"/>
            <p:cNvSpPr/>
            <p:nvPr/>
          </p:nvSpPr>
          <p:spPr>
            <a:xfrm flipH="false" flipV="false" rot="0">
              <a:off x="0" y="0"/>
              <a:ext cx="486156" cy="350012"/>
            </a:xfrm>
            <a:custGeom>
              <a:avLst/>
              <a:gdLst/>
              <a:ahLst/>
              <a:cxnLst/>
              <a:rect r="r" b="b" t="t" l="l"/>
              <a:pathLst>
                <a:path h="350012" w="486156">
                  <a:moveTo>
                    <a:pt x="0" y="0"/>
                  </a:moveTo>
                  <a:lnTo>
                    <a:pt x="486156" y="0"/>
                  </a:lnTo>
                  <a:lnTo>
                    <a:pt x="486156" y="350012"/>
                  </a:lnTo>
                  <a:lnTo>
                    <a:pt x="0" y="350012"/>
                  </a:lnTo>
                  <a:lnTo>
                    <a:pt x="0" y="0"/>
                  </a:lnTo>
                  <a:close/>
                </a:path>
              </a:pathLst>
            </a:custGeom>
            <a:blipFill>
              <a:blip r:embed="rId42"/>
              <a:stretch>
                <a:fillRect l="-229" t="0" r="-229" b="0"/>
              </a:stretch>
            </a:blipFill>
          </p:spPr>
        </p:sp>
      </p:grpSp>
      <p:grpSp>
        <p:nvGrpSpPr>
          <p:cNvPr name="Group 171" id="171"/>
          <p:cNvGrpSpPr/>
          <p:nvPr/>
        </p:nvGrpSpPr>
        <p:grpSpPr>
          <a:xfrm rot="0">
            <a:off x="10901343" y="1742761"/>
            <a:ext cx="2792825" cy="918782"/>
            <a:chOff x="0" y="0"/>
            <a:chExt cx="3723767" cy="1225042"/>
          </a:xfrm>
        </p:grpSpPr>
        <p:sp>
          <p:nvSpPr>
            <p:cNvPr name="Freeform 172" id="172" descr="preencoded.png"/>
            <p:cNvSpPr/>
            <p:nvPr/>
          </p:nvSpPr>
          <p:spPr>
            <a:xfrm flipH="false" flipV="false" rot="0">
              <a:off x="0" y="0"/>
              <a:ext cx="3723767" cy="1225042"/>
            </a:xfrm>
            <a:custGeom>
              <a:avLst/>
              <a:gdLst/>
              <a:ahLst/>
              <a:cxnLst/>
              <a:rect r="r" b="b" t="t" l="l"/>
              <a:pathLst>
                <a:path h="1225042" w="3723767">
                  <a:moveTo>
                    <a:pt x="0" y="0"/>
                  </a:moveTo>
                  <a:lnTo>
                    <a:pt x="3723767" y="0"/>
                  </a:lnTo>
                  <a:lnTo>
                    <a:pt x="3723767" y="1225042"/>
                  </a:lnTo>
                  <a:lnTo>
                    <a:pt x="0" y="1225042"/>
                  </a:lnTo>
                  <a:lnTo>
                    <a:pt x="0" y="0"/>
                  </a:lnTo>
                  <a:close/>
                </a:path>
              </a:pathLst>
            </a:custGeom>
            <a:blipFill>
              <a:blip r:embed="rId43"/>
              <a:stretch>
                <a:fillRect l="0" t="-220" r="0" b="-221"/>
              </a:stretch>
            </a:blipFill>
          </p:spPr>
        </p:sp>
      </p:grpSp>
      <p:grpSp>
        <p:nvGrpSpPr>
          <p:cNvPr name="Group 173" id="173"/>
          <p:cNvGrpSpPr/>
          <p:nvPr/>
        </p:nvGrpSpPr>
        <p:grpSpPr>
          <a:xfrm rot="0">
            <a:off x="11039885" y="2362562"/>
            <a:ext cx="1378163" cy="173117"/>
            <a:chOff x="0" y="0"/>
            <a:chExt cx="1837550" cy="230822"/>
          </a:xfrm>
        </p:grpSpPr>
        <p:sp>
          <p:nvSpPr>
            <p:cNvPr name="Freeform 174" id="174"/>
            <p:cNvSpPr/>
            <p:nvPr/>
          </p:nvSpPr>
          <p:spPr>
            <a:xfrm flipH="false" flipV="false" rot="0">
              <a:off x="0" y="0"/>
              <a:ext cx="1837563" cy="230759"/>
            </a:xfrm>
            <a:custGeom>
              <a:avLst/>
              <a:gdLst/>
              <a:ahLst/>
              <a:cxnLst/>
              <a:rect r="r" b="b" t="t" l="l"/>
              <a:pathLst>
                <a:path h="230759" w="1837563">
                  <a:moveTo>
                    <a:pt x="0" y="0"/>
                  </a:moveTo>
                  <a:lnTo>
                    <a:pt x="1837563" y="0"/>
                  </a:lnTo>
                  <a:lnTo>
                    <a:pt x="1837563" y="230759"/>
                  </a:lnTo>
                  <a:lnTo>
                    <a:pt x="0" y="230759"/>
                  </a:lnTo>
                  <a:close/>
                </a:path>
              </a:pathLst>
            </a:custGeom>
            <a:blipFill>
              <a:blip r:embed="rId12">
                <a:alphaModFix amt="0"/>
              </a:blip>
              <a:stretch>
                <a:fillRect l="0" t="-105041" r="0" b="-105063"/>
              </a:stretch>
            </a:blipFill>
          </p:spPr>
        </p:sp>
      </p:grpSp>
      <p:grpSp>
        <p:nvGrpSpPr>
          <p:cNvPr name="Group 175" id="175"/>
          <p:cNvGrpSpPr/>
          <p:nvPr/>
        </p:nvGrpSpPr>
        <p:grpSpPr>
          <a:xfrm rot="0">
            <a:off x="11039885" y="2369706"/>
            <a:ext cx="1378163" cy="165973"/>
            <a:chOff x="0" y="0"/>
            <a:chExt cx="1837550" cy="221298"/>
          </a:xfrm>
        </p:grpSpPr>
        <p:sp>
          <p:nvSpPr>
            <p:cNvPr name="Freeform 176" id="176"/>
            <p:cNvSpPr/>
            <p:nvPr/>
          </p:nvSpPr>
          <p:spPr>
            <a:xfrm flipH="false" flipV="false" rot="0">
              <a:off x="0" y="0"/>
              <a:ext cx="1837551" cy="221296"/>
            </a:xfrm>
            <a:custGeom>
              <a:avLst/>
              <a:gdLst/>
              <a:ahLst/>
              <a:cxnLst/>
              <a:rect r="r" b="b" t="t" l="l"/>
              <a:pathLst>
                <a:path h="221296" w="1837551">
                  <a:moveTo>
                    <a:pt x="0" y="0"/>
                  </a:moveTo>
                  <a:lnTo>
                    <a:pt x="1837551" y="0"/>
                  </a:lnTo>
                  <a:lnTo>
                    <a:pt x="1837551" y="221296"/>
                  </a:lnTo>
                  <a:lnTo>
                    <a:pt x="0" y="221296"/>
                  </a:lnTo>
                  <a:close/>
                </a:path>
              </a:pathLst>
            </a:custGeom>
            <a:blipFill>
              <a:blip r:embed="rId13">
                <a:alphaModFix amt="0"/>
              </a:blip>
              <a:stretch>
                <a:fillRect l="0" t="-111795" r="0" b="-111795"/>
              </a:stretch>
            </a:blipFill>
          </p:spPr>
        </p:sp>
        <p:sp>
          <p:nvSpPr>
            <p:cNvPr name="TextBox 177" id="177"/>
            <p:cNvSpPr txBox="true"/>
            <p:nvPr/>
          </p:nvSpPr>
          <p:spPr>
            <a:xfrm>
              <a:off x="0" y="9525"/>
              <a:ext cx="1837550" cy="211773"/>
            </a:xfrm>
            <a:prstGeom prst="rect">
              <a:avLst/>
            </a:prstGeom>
          </p:spPr>
          <p:txBody>
            <a:bodyPr anchor="ctr" rtlCol="false" tIns="0" lIns="0" bIns="0" rIns="0"/>
            <a:lstStyle/>
            <a:p>
              <a:pPr algn="l">
                <a:lnSpc>
                  <a:spcPts val="918"/>
                </a:lnSpc>
              </a:pPr>
              <a:r>
                <a:rPr lang="en-US" sz="809">
                  <a:solidFill>
                    <a:srgbClr val="000000"/>
                  </a:solidFill>
                  <a:latin typeface="TT Commons Pro"/>
                  <a:ea typeface="TT Commons Pro"/>
                  <a:cs typeface="TT Commons Pro"/>
                  <a:sym typeface="TT Commons Pro"/>
                </a:rPr>
                <a:t>Great food at your doorstep</a:t>
              </a:r>
            </a:p>
          </p:txBody>
        </p:sp>
      </p:grpSp>
      <p:grpSp>
        <p:nvGrpSpPr>
          <p:cNvPr name="Group 178" id="178"/>
          <p:cNvGrpSpPr/>
          <p:nvPr/>
        </p:nvGrpSpPr>
        <p:grpSpPr>
          <a:xfrm rot="0">
            <a:off x="11054467" y="1881302"/>
            <a:ext cx="1312535" cy="503406"/>
            <a:chOff x="0" y="0"/>
            <a:chExt cx="1750047" cy="671208"/>
          </a:xfrm>
        </p:grpSpPr>
        <p:sp>
          <p:nvSpPr>
            <p:cNvPr name="Freeform 179" id="179"/>
            <p:cNvSpPr/>
            <p:nvPr/>
          </p:nvSpPr>
          <p:spPr>
            <a:xfrm flipH="false" flipV="false" rot="0">
              <a:off x="0" y="0"/>
              <a:ext cx="1750060" cy="671195"/>
            </a:xfrm>
            <a:custGeom>
              <a:avLst/>
              <a:gdLst/>
              <a:ahLst/>
              <a:cxnLst/>
              <a:rect r="r" b="b" t="t" l="l"/>
              <a:pathLst>
                <a:path h="671195" w="1750060">
                  <a:moveTo>
                    <a:pt x="0" y="0"/>
                  </a:moveTo>
                  <a:lnTo>
                    <a:pt x="1750060" y="0"/>
                  </a:lnTo>
                  <a:lnTo>
                    <a:pt x="1750060" y="671195"/>
                  </a:lnTo>
                  <a:lnTo>
                    <a:pt x="0" y="671195"/>
                  </a:lnTo>
                  <a:close/>
                </a:path>
              </a:pathLst>
            </a:custGeom>
            <a:blipFill>
              <a:blip r:embed="rId12">
                <a:alphaModFix amt="0"/>
              </a:blip>
              <a:stretch>
                <a:fillRect l="0" t="-768" r="0" b="-770"/>
              </a:stretch>
            </a:blipFill>
          </p:spPr>
        </p:sp>
      </p:grpSp>
      <p:grpSp>
        <p:nvGrpSpPr>
          <p:cNvPr name="Group 180" id="180"/>
          <p:cNvGrpSpPr/>
          <p:nvPr/>
        </p:nvGrpSpPr>
        <p:grpSpPr>
          <a:xfrm rot="0">
            <a:off x="11054467" y="1881302"/>
            <a:ext cx="1312535" cy="503415"/>
            <a:chOff x="0" y="0"/>
            <a:chExt cx="1750047" cy="671220"/>
          </a:xfrm>
        </p:grpSpPr>
        <p:sp>
          <p:nvSpPr>
            <p:cNvPr name="Freeform 181" id="181"/>
            <p:cNvSpPr/>
            <p:nvPr/>
          </p:nvSpPr>
          <p:spPr>
            <a:xfrm flipH="false" flipV="false" rot="0">
              <a:off x="0" y="0"/>
              <a:ext cx="1750047" cy="671219"/>
            </a:xfrm>
            <a:custGeom>
              <a:avLst/>
              <a:gdLst/>
              <a:ahLst/>
              <a:cxnLst/>
              <a:rect r="r" b="b" t="t" l="l"/>
              <a:pathLst>
                <a:path h="671219" w="1750047">
                  <a:moveTo>
                    <a:pt x="0" y="0"/>
                  </a:moveTo>
                  <a:lnTo>
                    <a:pt x="1750047" y="0"/>
                  </a:lnTo>
                  <a:lnTo>
                    <a:pt x="1750047" y="671219"/>
                  </a:lnTo>
                  <a:lnTo>
                    <a:pt x="0" y="671219"/>
                  </a:lnTo>
                  <a:close/>
                </a:path>
              </a:pathLst>
            </a:custGeom>
            <a:blipFill>
              <a:blip r:embed="rId13">
                <a:alphaModFix amt="0"/>
              </a:blip>
              <a:stretch>
                <a:fillRect l="0" t="-802" r="0" b="-802"/>
              </a:stretch>
            </a:blipFill>
          </p:spPr>
        </p:sp>
        <p:sp>
          <p:nvSpPr>
            <p:cNvPr name="TextBox 182" id="182"/>
            <p:cNvSpPr txBox="true"/>
            <p:nvPr/>
          </p:nvSpPr>
          <p:spPr>
            <a:xfrm>
              <a:off x="0" y="0"/>
              <a:ext cx="1750047" cy="671220"/>
            </a:xfrm>
            <a:prstGeom prst="rect">
              <a:avLst/>
            </a:prstGeom>
          </p:spPr>
          <p:txBody>
            <a:bodyPr anchor="ctr" rtlCol="false" tIns="0" lIns="0" bIns="0" rIns="0"/>
            <a:lstStyle/>
            <a:p>
              <a:pPr algn="l">
                <a:lnSpc>
                  <a:spcPts val="1666"/>
                </a:lnSpc>
              </a:pPr>
              <a:r>
                <a:rPr lang="en-US" sz="1365" b="true">
                  <a:solidFill>
                    <a:srgbClr val="000000"/>
                  </a:solidFill>
                  <a:latin typeface="TT Commons Pro Bold"/>
                  <a:ea typeface="TT Commons Pro Bold"/>
                  <a:cs typeface="TT Commons Pro Bold"/>
                  <a:sym typeface="TT Commons Pro Bold"/>
                </a:rPr>
                <a:t>Delicious food,</a:t>
              </a:r>
            </a:p>
            <a:p>
              <a:pPr algn="l">
                <a:lnSpc>
                  <a:spcPts val="1666"/>
                </a:lnSpc>
              </a:pPr>
              <a:r>
                <a:rPr lang="en-US" sz="1365" b="true">
                  <a:solidFill>
                    <a:srgbClr val="000000"/>
                  </a:solidFill>
                  <a:latin typeface="TT Commons Pro Bold"/>
                  <a:ea typeface="TT Commons Pro Bold"/>
                  <a:cs typeface="TT Commons Pro Bold"/>
                  <a:sym typeface="TT Commons Pro Bold"/>
                </a:rPr>
                <a:t>delivered fast</a:t>
              </a:r>
            </a:p>
          </p:txBody>
        </p:sp>
      </p:grpSp>
      <p:sp>
        <p:nvSpPr>
          <p:cNvPr name="Freeform 183" id="183"/>
          <p:cNvSpPr/>
          <p:nvPr/>
        </p:nvSpPr>
        <p:spPr>
          <a:xfrm flipH="false" flipV="false" rot="0">
            <a:off x="10873997" y="1226858"/>
            <a:ext cx="2847480" cy="397364"/>
          </a:xfrm>
          <a:custGeom>
            <a:avLst/>
            <a:gdLst/>
            <a:ahLst/>
            <a:cxnLst/>
            <a:rect r="r" b="b" t="t" l="l"/>
            <a:pathLst>
              <a:path h="397364" w="2847480">
                <a:moveTo>
                  <a:pt x="0" y="0"/>
                </a:moveTo>
                <a:lnTo>
                  <a:pt x="2847480" y="0"/>
                </a:lnTo>
                <a:lnTo>
                  <a:pt x="2847480" y="397364"/>
                </a:lnTo>
                <a:lnTo>
                  <a:pt x="0" y="397364"/>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grpSp>
        <p:nvGrpSpPr>
          <p:cNvPr name="Group 184" id="184"/>
          <p:cNvGrpSpPr/>
          <p:nvPr/>
        </p:nvGrpSpPr>
        <p:grpSpPr>
          <a:xfrm rot="0">
            <a:off x="11039885" y="1356284"/>
            <a:ext cx="160401" cy="138589"/>
            <a:chOff x="0" y="0"/>
            <a:chExt cx="213868" cy="184785"/>
          </a:xfrm>
        </p:grpSpPr>
        <p:sp>
          <p:nvSpPr>
            <p:cNvPr name="Freeform 185" id="185" descr="preencoded.png"/>
            <p:cNvSpPr/>
            <p:nvPr/>
          </p:nvSpPr>
          <p:spPr>
            <a:xfrm flipH="false" flipV="false" rot="0">
              <a:off x="0" y="0"/>
              <a:ext cx="213868" cy="184785"/>
            </a:xfrm>
            <a:custGeom>
              <a:avLst/>
              <a:gdLst/>
              <a:ahLst/>
              <a:cxnLst/>
              <a:rect r="r" b="b" t="t" l="l"/>
              <a:pathLst>
                <a:path h="184785" w="213868">
                  <a:moveTo>
                    <a:pt x="0" y="0"/>
                  </a:moveTo>
                  <a:lnTo>
                    <a:pt x="213868" y="0"/>
                  </a:lnTo>
                  <a:lnTo>
                    <a:pt x="213868" y="184785"/>
                  </a:lnTo>
                  <a:lnTo>
                    <a:pt x="0" y="184785"/>
                  </a:lnTo>
                  <a:lnTo>
                    <a:pt x="0" y="0"/>
                  </a:lnTo>
                  <a:close/>
                </a:path>
              </a:pathLst>
            </a:custGeom>
            <a:blipFill>
              <a:blip r:embed="rId46"/>
              <a:stretch>
                <a:fillRect l="-712" t="0" r="-712" b="0"/>
              </a:stretch>
            </a:blipFill>
          </p:spPr>
        </p:sp>
      </p:grpSp>
      <p:grpSp>
        <p:nvGrpSpPr>
          <p:cNvPr name="Group 186" id="186"/>
          <p:cNvGrpSpPr/>
          <p:nvPr/>
        </p:nvGrpSpPr>
        <p:grpSpPr>
          <a:xfrm rot="0">
            <a:off x="11244053" y="1324623"/>
            <a:ext cx="2384441" cy="210007"/>
            <a:chOff x="0" y="0"/>
            <a:chExt cx="3179254" cy="280010"/>
          </a:xfrm>
        </p:grpSpPr>
        <p:sp>
          <p:nvSpPr>
            <p:cNvPr name="Freeform 187" id="187"/>
            <p:cNvSpPr/>
            <p:nvPr/>
          </p:nvSpPr>
          <p:spPr>
            <a:xfrm flipH="false" flipV="false" rot="0">
              <a:off x="0" y="0"/>
              <a:ext cx="3179191" cy="280035"/>
            </a:xfrm>
            <a:custGeom>
              <a:avLst/>
              <a:gdLst/>
              <a:ahLst/>
              <a:cxnLst/>
              <a:rect r="r" b="b" t="t" l="l"/>
              <a:pathLst>
                <a:path h="280035" w="3179191">
                  <a:moveTo>
                    <a:pt x="0" y="0"/>
                  </a:moveTo>
                  <a:lnTo>
                    <a:pt x="3179191" y="0"/>
                  </a:lnTo>
                  <a:lnTo>
                    <a:pt x="3179191" y="280035"/>
                  </a:lnTo>
                  <a:lnTo>
                    <a:pt x="0" y="280035"/>
                  </a:lnTo>
                  <a:close/>
                </a:path>
              </a:pathLst>
            </a:custGeom>
            <a:blipFill>
              <a:blip r:embed="rId12">
                <a:alphaModFix amt="0"/>
              </a:blip>
              <a:stretch>
                <a:fillRect l="0" t="-171065" r="-1" b="-171056"/>
              </a:stretch>
            </a:blipFill>
          </p:spPr>
        </p:sp>
      </p:grpSp>
      <p:grpSp>
        <p:nvGrpSpPr>
          <p:cNvPr name="Group 188" id="188"/>
          <p:cNvGrpSpPr/>
          <p:nvPr/>
        </p:nvGrpSpPr>
        <p:grpSpPr>
          <a:xfrm rot="0">
            <a:off x="11244053" y="1338910"/>
            <a:ext cx="2384441" cy="195720"/>
            <a:chOff x="0" y="0"/>
            <a:chExt cx="3179254" cy="260960"/>
          </a:xfrm>
        </p:grpSpPr>
        <p:sp>
          <p:nvSpPr>
            <p:cNvPr name="Freeform 189" id="189"/>
            <p:cNvSpPr/>
            <p:nvPr/>
          </p:nvSpPr>
          <p:spPr>
            <a:xfrm flipH="false" flipV="false" rot="0">
              <a:off x="0" y="0"/>
              <a:ext cx="3179255" cy="260962"/>
            </a:xfrm>
            <a:custGeom>
              <a:avLst/>
              <a:gdLst/>
              <a:ahLst/>
              <a:cxnLst/>
              <a:rect r="r" b="b" t="t" l="l"/>
              <a:pathLst>
                <a:path h="260962" w="3179255">
                  <a:moveTo>
                    <a:pt x="0" y="0"/>
                  </a:moveTo>
                  <a:lnTo>
                    <a:pt x="3179255" y="0"/>
                  </a:lnTo>
                  <a:lnTo>
                    <a:pt x="3179255" y="260962"/>
                  </a:lnTo>
                  <a:lnTo>
                    <a:pt x="0" y="260962"/>
                  </a:lnTo>
                  <a:close/>
                </a:path>
              </a:pathLst>
            </a:custGeom>
            <a:blipFill>
              <a:blip r:embed="rId13">
                <a:alphaModFix amt="0"/>
              </a:blip>
              <a:stretch>
                <a:fillRect l="0" t="-187383" r="0" b="-187382"/>
              </a:stretch>
            </a:blipFill>
          </p:spPr>
        </p:sp>
        <p:sp>
          <p:nvSpPr>
            <p:cNvPr name="TextBox 190" id="190"/>
            <p:cNvSpPr txBox="true"/>
            <p:nvPr/>
          </p:nvSpPr>
          <p:spPr>
            <a:xfrm>
              <a:off x="0" y="19050"/>
              <a:ext cx="3179254" cy="241910"/>
            </a:xfrm>
            <a:prstGeom prst="rect">
              <a:avLst/>
            </a:prstGeom>
          </p:spPr>
          <p:txBody>
            <a:bodyPr anchor="ctr" rtlCol="false" tIns="0" lIns="0" bIns="0" rIns="0"/>
            <a:lstStyle/>
            <a:p>
              <a:pPr algn="l">
                <a:lnSpc>
                  <a:spcPts val="951"/>
                </a:lnSpc>
              </a:pPr>
              <a:r>
                <a:rPr lang="en-US" sz="999">
                  <a:solidFill>
                    <a:srgbClr val="000000"/>
                  </a:solidFill>
                  <a:latin typeface="TT Commons Pro"/>
                  <a:ea typeface="TT Commons Pro"/>
                  <a:cs typeface="TT Commons Pro"/>
                  <a:sym typeface="TT Commons Pro"/>
                </a:rPr>
                <a:t>Search for restaurants or cuisines</a:t>
              </a:r>
            </a:p>
          </p:txBody>
        </p:sp>
      </p:grpSp>
      <p:grpSp>
        <p:nvGrpSpPr>
          <p:cNvPr name="Group 191" id="191"/>
          <p:cNvGrpSpPr/>
          <p:nvPr/>
        </p:nvGrpSpPr>
        <p:grpSpPr>
          <a:xfrm rot="0">
            <a:off x="13475370" y="845858"/>
            <a:ext cx="204216" cy="204216"/>
            <a:chOff x="0" y="0"/>
            <a:chExt cx="272288" cy="272288"/>
          </a:xfrm>
        </p:grpSpPr>
        <p:sp>
          <p:nvSpPr>
            <p:cNvPr name="Freeform 192" id="192" descr="preencoded.png"/>
            <p:cNvSpPr/>
            <p:nvPr/>
          </p:nvSpPr>
          <p:spPr>
            <a:xfrm flipH="false" flipV="false" rot="0">
              <a:off x="0" y="0"/>
              <a:ext cx="272288" cy="272288"/>
            </a:xfrm>
            <a:custGeom>
              <a:avLst/>
              <a:gdLst/>
              <a:ahLst/>
              <a:cxnLst/>
              <a:rect r="r" b="b" t="t" l="l"/>
              <a:pathLst>
                <a:path h="272288" w="272288">
                  <a:moveTo>
                    <a:pt x="0" y="0"/>
                  </a:moveTo>
                  <a:lnTo>
                    <a:pt x="272288" y="0"/>
                  </a:lnTo>
                  <a:lnTo>
                    <a:pt x="272288" y="272288"/>
                  </a:lnTo>
                  <a:lnTo>
                    <a:pt x="0" y="272288"/>
                  </a:lnTo>
                  <a:lnTo>
                    <a:pt x="0" y="0"/>
                  </a:lnTo>
                  <a:close/>
                </a:path>
              </a:pathLst>
            </a:custGeom>
            <a:blipFill>
              <a:blip r:embed="rId47"/>
              <a:stretch>
                <a:fillRect l="0" t="0" r="0" b="0"/>
              </a:stretch>
            </a:blipFill>
          </p:spPr>
        </p:sp>
      </p:grpSp>
      <p:grpSp>
        <p:nvGrpSpPr>
          <p:cNvPr name="Group 193" id="193"/>
          <p:cNvGrpSpPr/>
          <p:nvPr/>
        </p:nvGrpSpPr>
        <p:grpSpPr>
          <a:xfrm rot="0">
            <a:off x="11893029" y="984399"/>
            <a:ext cx="109347" cy="65627"/>
            <a:chOff x="0" y="0"/>
            <a:chExt cx="145796" cy="87503"/>
          </a:xfrm>
        </p:grpSpPr>
        <p:sp>
          <p:nvSpPr>
            <p:cNvPr name="Freeform 194" id="194" descr="preencoded.png"/>
            <p:cNvSpPr/>
            <p:nvPr/>
          </p:nvSpPr>
          <p:spPr>
            <a:xfrm flipH="false" flipV="false" rot="0">
              <a:off x="0" y="0"/>
              <a:ext cx="145796" cy="87503"/>
            </a:xfrm>
            <a:custGeom>
              <a:avLst/>
              <a:gdLst/>
              <a:ahLst/>
              <a:cxnLst/>
              <a:rect r="r" b="b" t="t" l="l"/>
              <a:pathLst>
                <a:path h="87503" w="145796">
                  <a:moveTo>
                    <a:pt x="0" y="0"/>
                  </a:moveTo>
                  <a:lnTo>
                    <a:pt x="145796" y="0"/>
                  </a:lnTo>
                  <a:lnTo>
                    <a:pt x="145796" y="87503"/>
                  </a:lnTo>
                  <a:lnTo>
                    <a:pt x="0" y="87503"/>
                  </a:lnTo>
                  <a:lnTo>
                    <a:pt x="0" y="0"/>
                  </a:lnTo>
                  <a:close/>
                </a:path>
              </a:pathLst>
            </a:custGeom>
            <a:blipFill>
              <a:blip r:embed="rId48"/>
              <a:stretch>
                <a:fillRect l="-1445" t="0" r="-1437" b="0"/>
              </a:stretch>
            </a:blipFill>
          </p:spPr>
        </p:sp>
      </p:grpSp>
      <p:grpSp>
        <p:nvGrpSpPr>
          <p:cNvPr name="Group 195" id="195"/>
          <p:cNvGrpSpPr/>
          <p:nvPr/>
        </p:nvGrpSpPr>
        <p:grpSpPr>
          <a:xfrm rot="0">
            <a:off x="9486719" y="809396"/>
            <a:ext cx="714566" cy="335470"/>
            <a:chOff x="0" y="0"/>
            <a:chExt cx="952754" cy="447294"/>
          </a:xfrm>
        </p:grpSpPr>
        <p:sp>
          <p:nvSpPr>
            <p:cNvPr name="Freeform 196" id="196" descr="preencoded.png"/>
            <p:cNvSpPr/>
            <p:nvPr/>
          </p:nvSpPr>
          <p:spPr>
            <a:xfrm flipH="false" flipV="false" rot="0">
              <a:off x="0" y="0"/>
              <a:ext cx="952754" cy="447294"/>
            </a:xfrm>
            <a:custGeom>
              <a:avLst/>
              <a:gdLst/>
              <a:ahLst/>
              <a:cxnLst/>
              <a:rect r="r" b="b" t="t" l="l"/>
              <a:pathLst>
                <a:path h="447294" w="952754">
                  <a:moveTo>
                    <a:pt x="0" y="0"/>
                  </a:moveTo>
                  <a:lnTo>
                    <a:pt x="952754" y="0"/>
                  </a:lnTo>
                  <a:lnTo>
                    <a:pt x="952754" y="447294"/>
                  </a:lnTo>
                  <a:lnTo>
                    <a:pt x="0" y="447294"/>
                  </a:lnTo>
                  <a:lnTo>
                    <a:pt x="0" y="0"/>
                  </a:lnTo>
                  <a:close/>
                </a:path>
              </a:pathLst>
            </a:custGeom>
            <a:blipFill>
              <a:blip r:embed="rId49"/>
              <a:stretch>
                <a:fillRect l="0" t="-65" r="0" b="-65"/>
              </a:stretch>
            </a:blipFill>
          </p:spPr>
        </p:sp>
      </p:grpSp>
      <p:grpSp>
        <p:nvGrpSpPr>
          <p:cNvPr name="Group 197" id="197"/>
          <p:cNvGrpSpPr/>
          <p:nvPr/>
        </p:nvGrpSpPr>
        <p:grpSpPr>
          <a:xfrm rot="0">
            <a:off x="732834" y="1291590"/>
            <a:ext cx="6103296" cy="877576"/>
            <a:chOff x="0" y="0"/>
            <a:chExt cx="8137728" cy="1170102"/>
          </a:xfrm>
        </p:grpSpPr>
        <p:sp>
          <p:nvSpPr>
            <p:cNvPr name="Freeform 198" id="198"/>
            <p:cNvSpPr/>
            <p:nvPr/>
          </p:nvSpPr>
          <p:spPr>
            <a:xfrm flipH="false" flipV="false" rot="0">
              <a:off x="0" y="0"/>
              <a:ext cx="8137779" cy="1170051"/>
            </a:xfrm>
            <a:custGeom>
              <a:avLst/>
              <a:gdLst/>
              <a:ahLst/>
              <a:cxnLst/>
              <a:rect r="r" b="b" t="t" l="l"/>
              <a:pathLst>
                <a:path h="1170051" w="8137779">
                  <a:moveTo>
                    <a:pt x="0" y="0"/>
                  </a:moveTo>
                  <a:lnTo>
                    <a:pt x="8137779" y="0"/>
                  </a:lnTo>
                  <a:lnTo>
                    <a:pt x="8137779" y="1170051"/>
                  </a:lnTo>
                  <a:lnTo>
                    <a:pt x="0" y="1170051"/>
                  </a:lnTo>
                  <a:close/>
                </a:path>
              </a:pathLst>
            </a:custGeom>
            <a:blipFill>
              <a:blip r:embed="rId12">
                <a:alphaModFix amt="0"/>
              </a:blip>
              <a:stretch>
                <a:fillRect l="0" t="-85421" r="0" b="-85427"/>
              </a:stretch>
            </a:blipFill>
          </p:spPr>
        </p:sp>
      </p:grpSp>
      <p:grpSp>
        <p:nvGrpSpPr>
          <p:cNvPr name="Group 199" id="199"/>
          <p:cNvGrpSpPr/>
          <p:nvPr/>
        </p:nvGrpSpPr>
        <p:grpSpPr>
          <a:xfrm rot="0">
            <a:off x="732834" y="1334452"/>
            <a:ext cx="6103296" cy="834723"/>
            <a:chOff x="0" y="0"/>
            <a:chExt cx="8137728" cy="1112964"/>
          </a:xfrm>
        </p:grpSpPr>
        <p:sp>
          <p:nvSpPr>
            <p:cNvPr name="Freeform 200" id="200"/>
            <p:cNvSpPr/>
            <p:nvPr/>
          </p:nvSpPr>
          <p:spPr>
            <a:xfrm flipH="false" flipV="false" rot="0">
              <a:off x="0" y="0"/>
              <a:ext cx="8137728" cy="1112963"/>
            </a:xfrm>
            <a:custGeom>
              <a:avLst/>
              <a:gdLst/>
              <a:ahLst/>
              <a:cxnLst/>
              <a:rect r="r" b="b" t="t" l="l"/>
              <a:pathLst>
                <a:path h="1112963" w="8137728">
                  <a:moveTo>
                    <a:pt x="0" y="0"/>
                  </a:moveTo>
                  <a:lnTo>
                    <a:pt x="8137728" y="0"/>
                  </a:lnTo>
                  <a:lnTo>
                    <a:pt x="8137728" y="1112963"/>
                  </a:lnTo>
                  <a:lnTo>
                    <a:pt x="0" y="1112963"/>
                  </a:lnTo>
                  <a:close/>
                </a:path>
              </a:pathLst>
            </a:custGeom>
            <a:blipFill>
              <a:blip r:embed="rId13">
                <a:alphaModFix amt="0"/>
              </a:blip>
              <a:stretch>
                <a:fillRect l="0" t="-92469" r="0" b="-92470"/>
              </a:stretch>
            </a:blipFill>
          </p:spPr>
        </p:sp>
        <p:sp>
          <p:nvSpPr>
            <p:cNvPr name="TextBox 201" id="201"/>
            <p:cNvSpPr txBox="true"/>
            <p:nvPr/>
          </p:nvSpPr>
          <p:spPr>
            <a:xfrm>
              <a:off x="0" y="57150"/>
              <a:ext cx="8137728" cy="1055814"/>
            </a:xfrm>
            <a:prstGeom prst="rect">
              <a:avLst/>
            </a:prstGeom>
          </p:spPr>
          <p:txBody>
            <a:bodyPr anchor="ctr" rtlCol="false" tIns="0" lIns="0" bIns="0" rIns="0"/>
            <a:lstStyle/>
            <a:p>
              <a:pPr algn="l">
                <a:lnSpc>
                  <a:spcPts val="4041"/>
                </a:lnSpc>
              </a:pPr>
              <a:r>
                <a:rPr lang="en-US" sz="3898" b="true">
                  <a:solidFill>
                    <a:srgbClr val="D77723"/>
                  </a:solidFill>
                  <a:latin typeface="TT Commons Pro Bold"/>
                  <a:ea typeface="TT Commons Pro Bold"/>
                  <a:cs typeface="TT Commons Pro Bold"/>
                  <a:sym typeface="TT Commons Pro Bold"/>
                </a:rPr>
                <a:t>Swiggy</a:t>
              </a:r>
              <a:r>
                <a:rPr lang="en-US" sz="3898" b="true">
                  <a:solidFill>
                    <a:srgbClr val="CE1C2F"/>
                  </a:solidFill>
                  <a:latin typeface="TT Commons Pro Bold"/>
                  <a:ea typeface="TT Commons Pro Bold"/>
                  <a:cs typeface="TT Commons Pro Bold"/>
                  <a:sym typeface="TT Commons Pro Bold"/>
                </a:rPr>
                <a:t> </a:t>
              </a:r>
              <a:r>
                <a:rPr lang="en-US" sz="3898" b="true">
                  <a:solidFill>
                    <a:srgbClr val="E0DFD8"/>
                  </a:solidFill>
                  <a:latin typeface="TT Commons Pro Bold"/>
                  <a:ea typeface="TT Commons Pro Bold"/>
                  <a:cs typeface="TT Commons Pro Bold"/>
                  <a:sym typeface="TT Commons Pro Bold"/>
                </a:rPr>
                <a:t>and</a:t>
              </a:r>
              <a:r>
                <a:rPr lang="en-US" sz="3898" b="true">
                  <a:solidFill>
                    <a:srgbClr val="CE1C2F"/>
                  </a:solidFill>
                  <a:latin typeface="TT Commons Pro Bold"/>
                  <a:ea typeface="TT Commons Pro Bold"/>
                  <a:cs typeface="TT Commons Pro Bold"/>
                  <a:sym typeface="TT Commons Pro Bold"/>
                </a:rPr>
                <a:t> Zomato?</a:t>
              </a:r>
            </a:p>
          </p:txBody>
        </p:sp>
      </p:grpSp>
      <p:grpSp>
        <p:nvGrpSpPr>
          <p:cNvPr name="Group 202" id="202"/>
          <p:cNvGrpSpPr/>
          <p:nvPr/>
        </p:nvGrpSpPr>
        <p:grpSpPr>
          <a:xfrm rot="0">
            <a:off x="10901334" y="896903"/>
            <a:ext cx="991695" cy="214493"/>
            <a:chOff x="0" y="0"/>
            <a:chExt cx="1322260" cy="285991"/>
          </a:xfrm>
        </p:grpSpPr>
        <p:sp>
          <p:nvSpPr>
            <p:cNvPr name="Freeform 203" id="203"/>
            <p:cNvSpPr/>
            <p:nvPr/>
          </p:nvSpPr>
          <p:spPr>
            <a:xfrm flipH="false" flipV="false" rot="0">
              <a:off x="0" y="0"/>
              <a:ext cx="1322197" cy="286004"/>
            </a:xfrm>
            <a:custGeom>
              <a:avLst/>
              <a:gdLst/>
              <a:ahLst/>
              <a:cxnLst/>
              <a:rect r="r" b="b" t="t" l="l"/>
              <a:pathLst>
                <a:path h="286004" w="1322197">
                  <a:moveTo>
                    <a:pt x="0" y="0"/>
                  </a:moveTo>
                  <a:lnTo>
                    <a:pt x="1322197" y="0"/>
                  </a:lnTo>
                  <a:lnTo>
                    <a:pt x="1322197" y="286004"/>
                  </a:lnTo>
                  <a:lnTo>
                    <a:pt x="0" y="286004"/>
                  </a:lnTo>
                  <a:close/>
                </a:path>
              </a:pathLst>
            </a:custGeom>
            <a:blipFill>
              <a:blip r:embed="rId12">
                <a:alphaModFix amt="0"/>
              </a:blip>
              <a:stretch>
                <a:fillRect l="0" t="-40022" r="-4" b="-40017"/>
              </a:stretch>
            </a:blipFill>
          </p:spPr>
        </p:sp>
      </p:grpSp>
      <p:grpSp>
        <p:nvGrpSpPr>
          <p:cNvPr name="Group 204" id="204"/>
          <p:cNvGrpSpPr/>
          <p:nvPr/>
        </p:nvGrpSpPr>
        <p:grpSpPr>
          <a:xfrm rot="0">
            <a:off x="10901334" y="918334"/>
            <a:ext cx="991695" cy="193053"/>
            <a:chOff x="0" y="0"/>
            <a:chExt cx="1322260" cy="257404"/>
          </a:xfrm>
        </p:grpSpPr>
        <p:sp>
          <p:nvSpPr>
            <p:cNvPr name="Freeform 205" id="205"/>
            <p:cNvSpPr/>
            <p:nvPr/>
          </p:nvSpPr>
          <p:spPr>
            <a:xfrm flipH="false" flipV="false" rot="0">
              <a:off x="0" y="0"/>
              <a:ext cx="1322260" cy="257405"/>
            </a:xfrm>
            <a:custGeom>
              <a:avLst/>
              <a:gdLst/>
              <a:ahLst/>
              <a:cxnLst/>
              <a:rect r="r" b="b" t="t" l="l"/>
              <a:pathLst>
                <a:path h="257405" w="1322260">
                  <a:moveTo>
                    <a:pt x="0" y="0"/>
                  </a:moveTo>
                  <a:lnTo>
                    <a:pt x="1322260" y="0"/>
                  </a:lnTo>
                  <a:lnTo>
                    <a:pt x="1322260" y="257405"/>
                  </a:lnTo>
                  <a:lnTo>
                    <a:pt x="0" y="257405"/>
                  </a:lnTo>
                  <a:close/>
                </a:path>
              </a:pathLst>
            </a:custGeom>
            <a:blipFill>
              <a:blip r:embed="rId13">
                <a:alphaModFix amt="0"/>
              </a:blip>
              <a:stretch>
                <a:fillRect l="0" t="-50092" r="0" b="-50092"/>
              </a:stretch>
            </a:blipFill>
          </p:spPr>
        </p:sp>
        <p:sp>
          <p:nvSpPr>
            <p:cNvPr name="TextBox 206" id="206"/>
            <p:cNvSpPr txBox="true"/>
            <p:nvPr/>
          </p:nvSpPr>
          <p:spPr>
            <a:xfrm>
              <a:off x="0" y="28575"/>
              <a:ext cx="1322260" cy="228829"/>
            </a:xfrm>
            <a:prstGeom prst="rect">
              <a:avLst/>
            </a:prstGeom>
          </p:spPr>
          <p:txBody>
            <a:bodyPr anchor="ctr" rtlCol="false" tIns="0" lIns="0" bIns="0" rIns="0"/>
            <a:lstStyle/>
            <a:p>
              <a:pPr algn="l">
                <a:lnSpc>
                  <a:spcPts val="841"/>
                </a:lnSpc>
              </a:pPr>
              <a:r>
                <a:rPr lang="en-US" sz="999" b="true">
                  <a:solidFill>
                    <a:srgbClr val="000000"/>
                  </a:solidFill>
                  <a:latin typeface="TT Commons Pro Bold"/>
                  <a:ea typeface="TT Commons Pro Bold"/>
                  <a:cs typeface="TT Commons Pro Bold"/>
                  <a:sym typeface="TT Commons Pro Bold"/>
                </a:rPr>
                <a:t>Your Location</a:t>
              </a:r>
            </a:p>
          </p:txBody>
        </p:sp>
      </p:grpSp>
      <p:grpSp>
        <p:nvGrpSpPr>
          <p:cNvPr name="Group 207" id="207"/>
          <p:cNvGrpSpPr/>
          <p:nvPr/>
        </p:nvGrpSpPr>
        <p:grpSpPr>
          <a:xfrm rot="0">
            <a:off x="0" y="9383449"/>
            <a:ext cx="18288000" cy="831247"/>
            <a:chOff x="0" y="0"/>
            <a:chExt cx="24384000" cy="1108329"/>
          </a:xfrm>
        </p:grpSpPr>
        <p:sp>
          <p:nvSpPr>
            <p:cNvPr name="Freeform 208" id="208" descr="preencoded.png"/>
            <p:cNvSpPr/>
            <p:nvPr/>
          </p:nvSpPr>
          <p:spPr>
            <a:xfrm flipH="false" flipV="false" rot="0">
              <a:off x="0" y="0"/>
              <a:ext cx="24384000" cy="1108329"/>
            </a:xfrm>
            <a:custGeom>
              <a:avLst/>
              <a:gdLst/>
              <a:ahLst/>
              <a:cxnLst/>
              <a:rect r="r" b="b" t="t" l="l"/>
              <a:pathLst>
                <a:path h="1108329" w="24384000">
                  <a:moveTo>
                    <a:pt x="0" y="0"/>
                  </a:moveTo>
                  <a:lnTo>
                    <a:pt x="24384000" y="0"/>
                  </a:lnTo>
                  <a:lnTo>
                    <a:pt x="24384000" y="1108329"/>
                  </a:lnTo>
                  <a:lnTo>
                    <a:pt x="0" y="1108329"/>
                  </a:lnTo>
                  <a:lnTo>
                    <a:pt x="0" y="0"/>
                  </a:lnTo>
                  <a:close/>
                </a:path>
              </a:pathLst>
            </a:custGeom>
            <a:blipFill>
              <a:blip r:embed="rId50"/>
              <a:stretch>
                <a:fillRect l="0" t="-178" r="0" b="-178"/>
              </a:stretch>
            </a:blipFill>
          </p:spPr>
        </p:sp>
      </p:grpSp>
      <p:grpSp>
        <p:nvGrpSpPr>
          <p:cNvPr name="Group 209" id="209"/>
          <p:cNvGrpSpPr/>
          <p:nvPr/>
        </p:nvGrpSpPr>
        <p:grpSpPr>
          <a:xfrm rot="0">
            <a:off x="17041092" y="9581512"/>
            <a:ext cx="371856" cy="444818"/>
            <a:chOff x="0" y="0"/>
            <a:chExt cx="495808" cy="593090"/>
          </a:xfrm>
        </p:grpSpPr>
        <p:sp>
          <p:nvSpPr>
            <p:cNvPr name="Freeform 210" id="210" descr="preencoded.png"/>
            <p:cNvSpPr/>
            <p:nvPr/>
          </p:nvSpPr>
          <p:spPr>
            <a:xfrm flipH="false" flipV="false" rot="0">
              <a:off x="0" y="0"/>
              <a:ext cx="495808" cy="593090"/>
            </a:xfrm>
            <a:custGeom>
              <a:avLst/>
              <a:gdLst/>
              <a:ahLst/>
              <a:cxnLst/>
              <a:rect r="r" b="b" t="t" l="l"/>
              <a:pathLst>
                <a:path h="593090" w="495808">
                  <a:moveTo>
                    <a:pt x="0" y="0"/>
                  </a:moveTo>
                  <a:lnTo>
                    <a:pt x="495808" y="0"/>
                  </a:lnTo>
                  <a:lnTo>
                    <a:pt x="495808" y="593090"/>
                  </a:lnTo>
                  <a:lnTo>
                    <a:pt x="0" y="593090"/>
                  </a:lnTo>
                  <a:lnTo>
                    <a:pt x="0" y="0"/>
                  </a:lnTo>
                  <a:close/>
                </a:path>
              </a:pathLst>
            </a:custGeom>
            <a:blipFill>
              <a:blip r:embed="rId51"/>
              <a:stretch>
                <a:fillRect l="0" t="-158" r="0" b="-158"/>
              </a:stretch>
            </a:blipFill>
          </p:spPr>
        </p:sp>
      </p:grpSp>
      <p:grpSp>
        <p:nvGrpSpPr>
          <p:cNvPr name="Group 211" id="211"/>
          <p:cNvGrpSpPr/>
          <p:nvPr/>
        </p:nvGrpSpPr>
        <p:grpSpPr>
          <a:xfrm rot="0">
            <a:off x="15896273" y="9625260"/>
            <a:ext cx="503110" cy="401098"/>
            <a:chOff x="0" y="0"/>
            <a:chExt cx="670814" cy="534797"/>
          </a:xfrm>
        </p:grpSpPr>
        <p:sp>
          <p:nvSpPr>
            <p:cNvPr name="Freeform 212" id="212" descr="preencoded.png"/>
            <p:cNvSpPr/>
            <p:nvPr/>
          </p:nvSpPr>
          <p:spPr>
            <a:xfrm flipH="false" flipV="false" rot="0">
              <a:off x="0" y="0"/>
              <a:ext cx="670814" cy="534797"/>
            </a:xfrm>
            <a:custGeom>
              <a:avLst/>
              <a:gdLst/>
              <a:ahLst/>
              <a:cxnLst/>
              <a:rect r="r" b="b" t="t" l="l"/>
              <a:pathLst>
                <a:path h="534797" w="670814">
                  <a:moveTo>
                    <a:pt x="0" y="0"/>
                  </a:moveTo>
                  <a:lnTo>
                    <a:pt x="670814" y="0"/>
                  </a:lnTo>
                  <a:lnTo>
                    <a:pt x="670814" y="534797"/>
                  </a:lnTo>
                  <a:lnTo>
                    <a:pt x="0" y="534797"/>
                  </a:lnTo>
                  <a:lnTo>
                    <a:pt x="0" y="0"/>
                  </a:lnTo>
                  <a:close/>
                </a:path>
              </a:pathLst>
            </a:custGeom>
            <a:blipFill>
              <a:blip r:embed="rId52"/>
              <a:stretch>
                <a:fillRect l="-287" t="0" r="-285" b="0"/>
              </a:stretch>
            </a:blipFill>
          </p:spPr>
        </p:sp>
      </p:grpSp>
      <p:grpSp>
        <p:nvGrpSpPr>
          <p:cNvPr name="Group 213" id="213"/>
          <p:cNvGrpSpPr/>
          <p:nvPr/>
        </p:nvGrpSpPr>
        <p:grpSpPr>
          <a:xfrm rot="0">
            <a:off x="14846237" y="9603391"/>
            <a:ext cx="364617" cy="422910"/>
            <a:chOff x="0" y="0"/>
            <a:chExt cx="486156" cy="563880"/>
          </a:xfrm>
        </p:grpSpPr>
        <p:sp>
          <p:nvSpPr>
            <p:cNvPr name="Freeform 214" id="214" descr="preencoded.png"/>
            <p:cNvSpPr/>
            <p:nvPr/>
          </p:nvSpPr>
          <p:spPr>
            <a:xfrm flipH="false" flipV="false" rot="0">
              <a:off x="0" y="0"/>
              <a:ext cx="486156" cy="563880"/>
            </a:xfrm>
            <a:custGeom>
              <a:avLst/>
              <a:gdLst/>
              <a:ahLst/>
              <a:cxnLst/>
              <a:rect r="r" b="b" t="t" l="l"/>
              <a:pathLst>
                <a:path h="563880" w="486156">
                  <a:moveTo>
                    <a:pt x="0" y="0"/>
                  </a:moveTo>
                  <a:lnTo>
                    <a:pt x="486156" y="0"/>
                  </a:lnTo>
                  <a:lnTo>
                    <a:pt x="486156" y="563880"/>
                  </a:lnTo>
                  <a:lnTo>
                    <a:pt x="0" y="563880"/>
                  </a:lnTo>
                  <a:lnTo>
                    <a:pt x="0" y="0"/>
                  </a:lnTo>
                  <a:close/>
                </a:path>
              </a:pathLst>
            </a:custGeom>
            <a:blipFill>
              <a:blip r:embed="rId53"/>
              <a:stretch>
                <a:fillRect l="-428" t="0" r="-431" b="0"/>
              </a:stretch>
            </a:blipFill>
          </p:spPr>
        </p:sp>
      </p:grpSp>
      <p:grpSp>
        <p:nvGrpSpPr>
          <p:cNvPr name="Group 215" id="215"/>
          <p:cNvGrpSpPr/>
          <p:nvPr/>
        </p:nvGrpSpPr>
        <p:grpSpPr>
          <a:xfrm rot="0">
            <a:off x="13460787" y="9588808"/>
            <a:ext cx="736473" cy="444818"/>
            <a:chOff x="0" y="0"/>
            <a:chExt cx="981964" cy="593090"/>
          </a:xfrm>
        </p:grpSpPr>
        <p:sp>
          <p:nvSpPr>
            <p:cNvPr name="Freeform 216" id="216" descr="preencoded.png"/>
            <p:cNvSpPr/>
            <p:nvPr/>
          </p:nvSpPr>
          <p:spPr>
            <a:xfrm flipH="false" flipV="false" rot="0">
              <a:off x="0" y="0"/>
              <a:ext cx="981964" cy="593090"/>
            </a:xfrm>
            <a:custGeom>
              <a:avLst/>
              <a:gdLst/>
              <a:ahLst/>
              <a:cxnLst/>
              <a:rect r="r" b="b" t="t" l="l"/>
              <a:pathLst>
                <a:path h="593090" w="981964">
                  <a:moveTo>
                    <a:pt x="0" y="0"/>
                  </a:moveTo>
                  <a:lnTo>
                    <a:pt x="981964" y="0"/>
                  </a:lnTo>
                  <a:lnTo>
                    <a:pt x="981964" y="593090"/>
                  </a:lnTo>
                  <a:lnTo>
                    <a:pt x="0" y="593090"/>
                  </a:lnTo>
                  <a:lnTo>
                    <a:pt x="0" y="0"/>
                  </a:lnTo>
                  <a:close/>
                </a:path>
              </a:pathLst>
            </a:custGeom>
            <a:blipFill>
              <a:blip r:embed="rId54"/>
              <a:stretch>
                <a:fillRect l="0" t="-359" r="0" b="-359"/>
              </a:stretch>
            </a:blipFill>
          </p:spPr>
        </p:sp>
      </p:grpSp>
      <p:grpSp>
        <p:nvGrpSpPr>
          <p:cNvPr name="Group 217" id="217"/>
          <p:cNvGrpSpPr/>
          <p:nvPr/>
        </p:nvGrpSpPr>
        <p:grpSpPr>
          <a:xfrm rot="0">
            <a:off x="627097" y="9625260"/>
            <a:ext cx="415671" cy="452056"/>
            <a:chOff x="0" y="0"/>
            <a:chExt cx="554228" cy="602742"/>
          </a:xfrm>
        </p:grpSpPr>
        <p:sp>
          <p:nvSpPr>
            <p:cNvPr name="Freeform 218" id="218" descr="preencoded.png"/>
            <p:cNvSpPr/>
            <p:nvPr/>
          </p:nvSpPr>
          <p:spPr>
            <a:xfrm flipH="false" flipV="false" rot="0">
              <a:off x="0" y="0"/>
              <a:ext cx="554228" cy="602742"/>
            </a:xfrm>
            <a:custGeom>
              <a:avLst/>
              <a:gdLst/>
              <a:ahLst/>
              <a:cxnLst/>
              <a:rect r="r" b="b" t="t" l="l"/>
              <a:pathLst>
                <a:path h="602742" w="554228">
                  <a:moveTo>
                    <a:pt x="0" y="0"/>
                  </a:moveTo>
                  <a:lnTo>
                    <a:pt x="554228" y="0"/>
                  </a:lnTo>
                  <a:lnTo>
                    <a:pt x="554228" y="602742"/>
                  </a:lnTo>
                  <a:lnTo>
                    <a:pt x="0" y="602742"/>
                  </a:lnTo>
                  <a:lnTo>
                    <a:pt x="0" y="0"/>
                  </a:lnTo>
                  <a:close/>
                </a:path>
              </a:pathLst>
            </a:custGeom>
            <a:blipFill>
              <a:blip r:embed="rId55"/>
              <a:stretch>
                <a:fillRect l="0" t="-31" r="0" b="-33"/>
              </a:stretch>
            </a:blipFill>
          </p:spPr>
        </p:sp>
      </p:grpSp>
      <p:grpSp>
        <p:nvGrpSpPr>
          <p:cNvPr name="Group 219" id="219"/>
          <p:cNvGrpSpPr/>
          <p:nvPr/>
        </p:nvGrpSpPr>
        <p:grpSpPr>
          <a:xfrm rot="0">
            <a:off x="291675" y="9472136"/>
            <a:ext cx="17741074" cy="14573"/>
            <a:chOff x="0" y="0"/>
            <a:chExt cx="23654766" cy="19431"/>
          </a:xfrm>
        </p:grpSpPr>
        <p:sp>
          <p:nvSpPr>
            <p:cNvPr name="Freeform 220" id="220"/>
            <p:cNvSpPr/>
            <p:nvPr/>
          </p:nvSpPr>
          <p:spPr>
            <a:xfrm flipH="false" flipV="false" rot="0">
              <a:off x="0" y="0"/>
              <a:ext cx="23654765" cy="19431"/>
            </a:xfrm>
            <a:custGeom>
              <a:avLst/>
              <a:gdLst/>
              <a:ahLst/>
              <a:cxnLst/>
              <a:rect r="r" b="b" t="t" l="l"/>
              <a:pathLst>
                <a:path h="19431" w="23654765">
                  <a:moveTo>
                    <a:pt x="0" y="0"/>
                  </a:moveTo>
                  <a:lnTo>
                    <a:pt x="23654765" y="0"/>
                  </a:lnTo>
                  <a:lnTo>
                    <a:pt x="23654765" y="19431"/>
                  </a:lnTo>
                  <a:lnTo>
                    <a:pt x="0" y="19431"/>
                  </a:lnTo>
                  <a:close/>
                </a:path>
              </a:pathLst>
            </a:custGeom>
            <a:solidFill>
              <a:srgbClr val="2F1514"/>
            </a:solidFill>
          </p:spPr>
        </p:sp>
      </p:grpSp>
      <p:sp>
        <p:nvSpPr>
          <p:cNvPr name="TextBox 221" id="221"/>
          <p:cNvSpPr txBox="true"/>
          <p:nvPr/>
        </p:nvSpPr>
        <p:spPr>
          <a:xfrm rot="0">
            <a:off x="499310" y="3034636"/>
            <a:ext cx="7159066" cy="3593849"/>
          </a:xfrm>
          <a:prstGeom prst="rect">
            <a:avLst/>
          </a:prstGeom>
        </p:spPr>
        <p:txBody>
          <a:bodyPr anchor="t" rtlCol="false" tIns="0" lIns="0" bIns="0" rIns="0">
            <a:spAutoFit/>
          </a:bodyPr>
          <a:lstStyle/>
          <a:p>
            <a:pPr algn="ctr">
              <a:lnSpc>
                <a:spcPts val="3172"/>
              </a:lnSpc>
            </a:pPr>
            <a:r>
              <a:rPr lang="en-US" sz="2600">
                <a:solidFill>
                  <a:srgbClr val="000000"/>
                </a:solidFill>
                <a:latin typeface="TT Commons Pro"/>
                <a:ea typeface="TT Commons Pro"/>
                <a:cs typeface="TT Commons Pro"/>
                <a:sym typeface="TT Commons Pro"/>
              </a:rPr>
              <a:t>This project presents a comparative analysis of Swiggy and Zomato using a structured dataset.</a:t>
            </a:r>
          </a:p>
          <a:p>
            <a:pPr algn="ctr">
              <a:lnSpc>
                <a:spcPts val="3172"/>
              </a:lnSpc>
            </a:pPr>
          </a:p>
          <a:p>
            <a:pPr algn="ctr">
              <a:lnSpc>
                <a:spcPts val="3172"/>
              </a:lnSpc>
            </a:pPr>
            <a:r>
              <a:rPr lang="en-US" sz="2600">
                <a:solidFill>
                  <a:srgbClr val="000000"/>
                </a:solidFill>
                <a:latin typeface="TT Commons Pro"/>
                <a:ea typeface="TT Commons Pro"/>
                <a:cs typeface="TT Commons Pro"/>
                <a:sym typeface="TT Commons Pro"/>
              </a:rPr>
              <a:t> It evaluates key metrics such as ratings, delivery time, delivery fees, monthly orders, revenue, net profit, and market share. Using Python for data analysis and visualization, the project identifies performance trends and provides meaningful insights based solely on the available dataset.</a:t>
            </a:r>
          </a:p>
        </p:txBody>
      </p:sp>
      <p:grpSp>
        <p:nvGrpSpPr>
          <p:cNvPr name="Group 222" id="222"/>
          <p:cNvGrpSpPr/>
          <p:nvPr/>
        </p:nvGrpSpPr>
        <p:grpSpPr>
          <a:xfrm rot="0">
            <a:off x="12694044" y="1844669"/>
            <a:ext cx="980704" cy="760562"/>
            <a:chOff x="0" y="0"/>
            <a:chExt cx="1307605" cy="1014082"/>
          </a:xfrm>
        </p:grpSpPr>
        <p:sp>
          <p:nvSpPr>
            <p:cNvPr name="Freeform 223" id="223" descr="preencoded.png"/>
            <p:cNvSpPr/>
            <p:nvPr/>
          </p:nvSpPr>
          <p:spPr>
            <a:xfrm flipH="false" flipV="false" rot="0">
              <a:off x="0" y="0"/>
              <a:ext cx="1307592" cy="1014095"/>
            </a:xfrm>
            <a:custGeom>
              <a:avLst/>
              <a:gdLst/>
              <a:ahLst/>
              <a:cxnLst/>
              <a:rect r="r" b="b" t="t" l="l"/>
              <a:pathLst>
                <a:path h="1014095" w="1307592">
                  <a:moveTo>
                    <a:pt x="0" y="0"/>
                  </a:moveTo>
                  <a:lnTo>
                    <a:pt x="1307592" y="0"/>
                  </a:lnTo>
                  <a:lnTo>
                    <a:pt x="1307592" y="1014095"/>
                  </a:lnTo>
                  <a:lnTo>
                    <a:pt x="0" y="1014095"/>
                  </a:lnTo>
                  <a:lnTo>
                    <a:pt x="0" y="0"/>
                  </a:lnTo>
                  <a:close/>
                </a:path>
              </a:pathLst>
            </a:custGeom>
            <a:blipFill>
              <a:blip r:embed="rId40"/>
              <a:stretch>
                <a:fillRect l="-69" t="0" r="-70" b="1"/>
              </a:stretch>
            </a:blipFill>
          </p:spPr>
        </p:sp>
      </p:grpSp>
      <p:grpSp>
        <p:nvGrpSpPr>
          <p:cNvPr name="Group 224" id="224"/>
          <p:cNvGrpSpPr/>
          <p:nvPr/>
        </p:nvGrpSpPr>
        <p:grpSpPr>
          <a:xfrm rot="0">
            <a:off x="8549707" y="2689765"/>
            <a:ext cx="1651616" cy="342100"/>
            <a:chOff x="0" y="0"/>
            <a:chExt cx="2202155" cy="456133"/>
          </a:xfrm>
        </p:grpSpPr>
        <p:sp>
          <p:nvSpPr>
            <p:cNvPr name="Freeform 225" id="225"/>
            <p:cNvSpPr/>
            <p:nvPr/>
          </p:nvSpPr>
          <p:spPr>
            <a:xfrm flipH="false" flipV="false" rot="0">
              <a:off x="0" y="0"/>
              <a:ext cx="2202180" cy="456184"/>
            </a:xfrm>
            <a:custGeom>
              <a:avLst/>
              <a:gdLst/>
              <a:ahLst/>
              <a:cxnLst/>
              <a:rect r="r" b="b" t="t" l="l"/>
              <a:pathLst>
                <a:path h="456184" w="2202180">
                  <a:moveTo>
                    <a:pt x="0" y="0"/>
                  </a:moveTo>
                  <a:lnTo>
                    <a:pt x="2202180" y="0"/>
                  </a:lnTo>
                  <a:lnTo>
                    <a:pt x="2202180" y="456184"/>
                  </a:lnTo>
                  <a:lnTo>
                    <a:pt x="0" y="456184"/>
                  </a:lnTo>
                  <a:close/>
                </a:path>
              </a:pathLst>
            </a:custGeom>
            <a:blipFill>
              <a:blip r:embed="rId12">
                <a:alphaModFix amt="0"/>
              </a:blip>
              <a:stretch>
                <a:fillRect l="0" t="-44000" r="1" b="-43989"/>
              </a:stretch>
            </a:blipFill>
          </p:spPr>
        </p:sp>
      </p:grpSp>
      <p:grpSp>
        <p:nvGrpSpPr>
          <p:cNvPr name="Group 226" id="226"/>
          <p:cNvGrpSpPr/>
          <p:nvPr/>
        </p:nvGrpSpPr>
        <p:grpSpPr>
          <a:xfrm rot="0">
            <a:off x="8549707" y="2725484"/>
            <a:ext cx="1651616" cy="306391"/>
            <a:chOff x="0" y="0"/>
            <a:chExt cx="2202155" cy="408521"/>
          </a:xfrm>
        </p:grpSpPr>
        <p:sp>
          <p:nvSpPr>
            <p:cNvPr name="Freeform 227" id="227"/>
            <p:cNvSpPr/>
            <p:nvPr/>
          </p:nvSpPr>
          <p:spPr>
            <a:xfrm flipH="false" flipV="false" rot="0">
              <a:off x="0" y="0"/>
              <a:ext cx="2202155" cy="408516"/>
            </a:xfrm>
            <a:custGeom>
              <a:avLst/>
              <a:gdLst/>
              <a:ahLst/>
              <a:cxnLst/>
              <a:rect r="r" b="b" t="t" l="l"/>
              <a:pathLst>
                <a:path h="408516" w="2202155">
                  <a:moveTo>
                    <a:pt x="0" y="0"/>
                  </a:moveTo>
                  <a:lnTo>
                    <a:pt x="2202155" y="0"/>
                  </a:lnTo>
                  <a:lnTo>
                    <a:pt x="2202155" y="408516"/>
                  </a:lnTo>
                  <a:lnTo>
                    <a:pt x="0" y="408516"/>
                  </a:lnTo>
                  <a:close/>
                </a:path>
              </a:pathLst>
            </a:custGeom>
            <a:blipFill>
              <a:blip r:embed="rId13">
                <a:alphaModFix amt="0"/>
              </a:blip>
              <a:stretch>
                <a:fillRect l="0" t="-55035" r="0" b="-55036"/>
              </a:stretch>
            </a:blipFill>
          </p:spPr>
        </p:sp>
        <p:sp>
          <p:nvSpPr>
            <p:cNvPr name="TextBox 228" id="228"/>
            <p:cNvSpPr txBox="true"/>
            <p:nvPr/>
          </p:nvSpPr>
          <p:spPr>
            <a:xfrm>
              <a:off x="0" y="47625"/>
              <a:ext cx="2202155" cy="360896"/>
            </a:xfrm>
            <a:prstGeom prst="rect">
              <a:avLst/>
            </a:prstGeom>
          </p:spPr>
          <p:txBody>
            <a:bodyPr anchor="ctr" rtlCol="false" tIns="0" lIns="0" bIns="0" rIns="0"/>
            <a:lstStyle/>
            <a:p>
              <a:pPr algn="l">
                <a:lnSpc>
                  <a:spcPts val="1384"/>
                </a:lnSpc>
              </a:pPr>
              <a:r>
                <a:rPr lang="en-US" sz="1599" b="true">
                  <a:solidFill>
                    <a:srgbClr val="E0DFD8"/>
                  </a:solidFill>
                  <a:latin typeface="TT Commons Pro Bold"/>
                  <a:ea typeface="TT Commons Pro Bold"/>
                  <a:cs typeface="TT Commons Pro Bold"/>
                  <a:sym typeface="TT Commons Pro Bold"/>
                </a:rPr>
                <a:t>RESTAURANT</a:t>
              </a:r>
            </a:p>
          </p:txBody>
        </p:sp>
      </p:grpSp>
      <p:sp>
        <p:nvSpPr>
          <p:cNvPr name="TextBox 229" id="229"/>
          <p:cNvSpPr txBox="true"/>
          <p:nvPr/>
        </p:nvSpPr>
        <p:spPr>
          <a:xfrm rot="0">
            <a:off x="579701" y="957834"/>
            <a:ext cx="3306870" cy="515493"/>
          </a:xfrm>
          <a:prstGeom prst="rect">
            <a:avLst/>
          </a:prstGeom>
        </p:spPr>
        <p:txBody>
          <a:bodyPr anchor="t" rtlCol="false" tIns="0" lIns="0" bIns="0" rIns="0">
            <a:spAutoFit/>
          </a:bodyPr>
          <a:lstStyle/>
          <a:p>
            <a:pPr algn="ctr">
              <a:lnSpc>
                <a:spcPts val="4024"/>
              </a:lnSpc>
            </a:pPr>
            <a:r>
              <a:rPr lang="en-US" sz="3298" b="true">
                <a:solidFill>
                  <a:srgbClr val="E0DFD8"/>
                </a:solidFill>
                <a:latin typeface="TT Commons Pro Bold"/>
                <a:ea typeface="TT Commons Pro Bold"/>
                <a:cs typeface="TT Commons Pro Bold"/>
                <a:sym typeface="TT Commons Pro Bold"/>
              </a:rPr>
              <a:t>Why Compare</a:t>
            </a:r>
          </a:p>
        </p:txBody>
      </p:sp>
      <p:grpSp>
        <p:nvGrpSpPr>
          <p:cNvPr name="Group 230" id="230"/>
          <p:cNvGrpSpPr/>
          <p:nvPr/>
        </p:nvGrpSpPr>
        <p:grpSpPr>
          <a:xfrm rot="0">
            <a:off x="14483925" y="4294908"/>
            <a:ext cx="1283370" cy="360131"/>
            <a:chOff x="0" y="0"/>
            <a:chExt cx="1711160" cy="480174"/>
          </a:xfrm>
        </p:grpSpPr>
        <p:sp>
          <p:nvSpPr>
            <p:cNvPr name="Freeform 231" id="231"/>
            <p:cNvSpPr/>
            <p:nvPr/>
          </p:nvSpPr>
          <p:spPr>
            <a:xfrm flipH="false" flipV="false" rot="0">
              <a:off x="0" y="0"/>
              <a:ext cx="1711198" cy="480187"/>
            </a:xfrm>
            <a:custGeom>
              <a:avLst/>
              <a:gdLst/>
              <a:ahLst/>
              <a:cxnLst/>
              <a:rect r="r" b="b" t="t" l="l"/>
              <a:pathLst>
                <a:path h="480187" w="1711198">
                  <a:moveTo>
                    <a:pt x="0" y="0"/>
                  </a:moveTo>
                  <a:lnTo>
                    <a:pt x="1711198" y="0"/>
                  </a:lnTo>
                  <a:lnTo>
                    <a:pt x="1711198" y="480187"/>
                  </a:lnTo>
                  <a:lnTo>
                    <a:pt x="0" y="480187"/>
                  </a:lnTo>
                  <a:close/>
                </a:path>
              </a:pathLst>
            </a:custGeom>
            <a:blipFill>
              <a:blip r:embed="rId12">
                <a:alphaModFix amt="0"/>
              </a:blip>
              <a:stretch>
                <a:fillRect l="0" t="-19389" r="2" b="-19386"/>
              </a:stretch>
            </a:blipFill>
          </p:spPr>
        </p:sp>
      </p:grpSp>
      <p:grpSp>
        <p:nvGrpSpPr>
          <p:cNvPr name="Group 232" id="232"/>
          <p:cNvGrpSpPr/>
          <p:nvPr/>
        </p:nvGrpSpPr>
        <p:grpSpPr>
          <a:xfrm rot="0">
            <a:off x="14483925" y="4344914"/>
            <a:ext cx="1283370" cy="310124"/>
            <a:chOff x="0" y="0"/>
            <a:chExt cx="1711160" cy="413499"/>
          </a:xfrm>
        </p:grpSpPr>
        <p:sp>
          <p:nvSpPr>
            <p:cNvPr name="Freeform 233" id="233"/>
            <p:cNvSpPr/>
            <p:nvPr/>
          </p:nvSpPr>
          <p:spPr>
            <a:xfrm flipH="false" flipV="false" rot="0">
              <a:off x="0" y="0"/>
              <a:ext cx="1711160" cy="413500"/>
            </a:xfrm>
            <a:custGeom>
              <a:avLst/>
              <a:gdLst/>
              <a:ahLst/>
              <a:cxnLst/>
              <a:rect r="r" b="b" t="t" l="l"/>
              <a:pathLst>
                <a:path h="413500" w="1711160">
                  <a:moveTo>
                    <a:pt x="0" y="0"/>
                  </a:moveTo>
                  <a:lnTo>
                    <a:pt x="1711160" y="0"/>
                  </a:lnTo>
                  <a:lnTo>
                    <a:pt x="1711160" y="413500"/>
                  </a:lnTo>
                  <a:lnTo>
                    <a:pt x="0" y="413500"/>
                  </a:lnTo>
                  <a:close/>
                </a:path>
              </a:pathLst>
            </a:custGeom>
            <a:blipFill>
              <a:blip r:embed="rId13">
                <a:alphaModFix amt="0"/>
              </a:blip>
              <a:stretch>
                <a:fillRect l="0" t="-30633" r="0" b="-30633"/>
              </a:stretch>
            </a:blipFill>
          </p:spPr>
        </p:sp>
        <p:sp>
          <p:nvSpPr>
            <p:cNvPr name="TextBox 234" id="234"/>
            <p:cNvSpPr txBox="true"/>
            <p:nvPr/>
          </p:nvSpPr>
          <p:spPr>
            <a:xfrm>
              <a:off x="0" y="66675"/>
              <a:ext cx="1711160" cy="346824"/>
            </a:xfrm>
            <a:prstGeom prst="rect">
              <a:avLst/>
            </a:prstGeom>
          </p:spPr>
          <p:txBody>
            <a:bodyPr anchor="ctr" rtlCol="false" tIns="0" lIns="0" bIns="0" rIns="0"/>
            <a:lstStyle/>
            <a:p>
              <a:pPr algn="l">
                <a:lnSpc>
                  <a:spcPts val="1338"/>
                </a:lnSpc>
              </a:pPr>
              <a:r>
                <a:rPr lang="en-US" b="true" sz="1700" i="true">
                  <a:solidFill>
                    <a:srgbClr val="E0DFD8"/>
                  </a:solidFill>
                  <a:latin typeface="TT Commons Pro Bold Italics"/>
                  <a:ea typeface="TT Commons Pro Bold Italics"/>
                  <a:cs typeface="TT Commons Pro Bold Italics"/>
                  <a:sym typeface="TT Commons Pro Bold Italics"/>
                </a:rPr>
                <a:t>zomato</a:t>
              </a:r>
            </a:p>
          </p:txBody>
        </p:sp>
      </p:grpSp>
      <p:grpSp>
        <p:nvGrpSpPr>
          <p:cNvPr name="Group 235" id="235"/>
          <p:cNvGrpSpPr/>
          <p:nvPr/>
        </p:nvGrpSpPr>
        <p:grpSpPr>
          <a:xfrm rot="0">
            <a:off x="10966971" y="4845444"/>
            <a:ext cx="116681" cy="102108"/>
            <a:chOff x="0" y="0"/>
            <a:chExt cx="155575" cy="136144"/>
          </a:xfrm>
        </p:grpSpPr>
        <p:sp>
          <p:nvSpPr>
            <p:cNvPr name="Freeform 236" id="236" descr="preencoded.png"/>
            <p:cNvSpPr/>
            <p:nvPr/>
          </p:nvSpPr>
          <p:spPr>
            <a:xfrm flipH="false" flipV="false" rot="0">
              <a:off x="0" y="0"/>
              <a:ext cx="155575" cy="136144"/>
            </a:xfrm>
            <a:custGeom>
              <a:avLst/>
              <a:gdLst/>
              <a:ahLst/>
              <a:cxnLst/>
              <a:rect r="r" b="b" t="t" l="l"/>
              <a:pathLst>
                <a:path h="136144" w="155575">
                  <a:moveTo>
                    <a:pt x="0" y="0"/>
                  </a:moveTo>
                  <a:lnTo>
                    <a:pt x="155575" y="0"/>
                  </a:lnTo>
                  <a:lnTo>
                    <a:pt x="155575" y="136144"/>
                  </a:lnTo>
                  <a:lnTo>
                    <a:pt x="0" y="136144"/>
                  </a:lnTo>
                  <a:lnTo>
                    <a:pt x="0" y="0"/>
                  </a:lnTo>
                  <a:close/>
                </a:path>
              </a:pathLst>
            </a:custGeom>
            <a:blipFill>
              <a:blip r:embed="rId32"/>
              <a:stretch>
                <a:fillRect l="0" t="-279" r="0" b="-279"/>
              </a:stretch>
            </a:blipFill>
          </p:spPr>
        </p:sp>
      </p:grpSp>
      <p:sp>
        <p:nvSpPr>
          <p:cNvPr name="TextBox 237" id="237"/>
          <p:cNvSpPr txBox="true"/>
          <p:nvPr/>
        </p:nvSpPr>
        <p:spPr>
          <a:xfrm rot="0">
            <a:off x="2120198" y="9675581"/>
            <a:ext cx="9511779" cy="373380"/>
          </a:xfrm>
          <a:prstGeom prst="rect">
            <a:avLst/>
          </a:prstGeom>
        </p:spPr>
        <p:txBody>
          <a:bodyPr anchor="t" rtlCol="false" tIns="0" lIns="0" bIns="0" rIns="0">
            <a:spAutoFit/>
          </a:bodyPr>
          <a:lstStyle/>
          <a:p>
            <a:pPr algn="ctr">
              <a:lnSpc>
                <a:spcPts val="2730"/>
              </a:lnSpc>
            </a:pPr>
            <a:r>
              <a:rPr lang="en-US" sz="2100" b="true">
                <a:solidFill>
                  <a:srgbClr val="EB7521"/>
                </a:solidFill>
                <a:latin typeface="TT Commons Pro Bold"/>
                <a:ea typeface="TT Commons Pro Bold"/>
                <a:cs typeface="TT Commons Pro Bold"/>
                <a:sym typeface="TT Commons Pro Bold"/>
              </a:rPr>
              <a:t>SWIGGY</a:t>
            </a:r>
            <a:r>
              <a:rPr lang="en-US" sz="2100" b="true">
                <a:solidFill>
                  <a:srgbClr val="F2EFEB"/>
                </a:solidFill>
                <a:latin typeface="TT Commons Pro Bold"/>
                <a:ea typeface="TT Commons Pro Bold"/>
                <a:cs typeface="TT Commons Pro Bold"/>
                <a:sym typeface="TT Commons Pro Bold"/>
              </a:rPr>
              <a:t> VS </a:t>
            </a:r>
            <a:r>
              <a:rPr lang="en-US" sz="2100" b="true">
                <a:solidFill>
                  <a:srgbClr val="BD031B"/>
                </a:solidFill>
                <a:latin typeface="TT Commons Pro Bold"/>
                <a:ea typeface="TT Commons Pro Bold"/>
                <a:cs typeface="TT Commons Pro Bold"/>
                <a:sym typeface="TT Commons Pro Bold"/>
              </a:rPr>
              <a:t>ZOMATO</a:t>
            </a:r>
            <a:r>
              <a:rPr lang="en-US" sz="2100" b="true">
                <a:solidFill>
                  <a:srgbClr val="F2EFEB"/>
                </a:solidFill>
                <a:latin typeface="TT Commons Pro Bold"/>
                <a:ea typeface="TT Commons Pro Bold"/>
                <a:cs typeface="TT Commons Pro Bold"/>
                <a:sym typeface="TT Commons Pro Bold"/>
              </a:rPr>
              <a:t>: Restaurant Performance and Customer Insights Analysis</a:t>
            </a:r>
          </a:p>
        </p:txBody>
      </p:sp>
      <p:grpSp>
        <p:nvGrpSpPr>
          <p:cNvPr name="Group 238" id="238"/>
          <p:cNvGrpSpPr/>
          <p:nvPr/>
        </p:nvGrpSpPr>
        <p:grpSpPr>
          <a:xfrm rot="0">
            <a:off x="1217743" y="9694174"/>
            <a:ext cx="896903" cy="393354"/>
            <a:chOff x="0" y="0"/>
            <a:chExt cx="1195870" cy="524472"/>
          </a:xfrm>
        </p:grpSpPr>
        <p:sp>
          <p:nvSpPr>
            <p:cNvPr name="Freeform 239" id="239"/>
            <p:cNvSpPr/>
            <p:nvPr/>
          </p:nvSpPr>
          <p:spPr>
            <a:xfrm flipH="false" flipV="false" rot="0">
              <a:off x="0" y="0"/>
              <a:ext cx="1195832" cy="524510"/>
            </a:xfrm>
            <a:custGeom>
              <a:avLst/>
              <a:gdLst/>
              <a:ahLst/>
              <a:cxnLst/>
              <a:rect r="r" b="b" t="t" l="l"/>
              <a:pathLst>
                <a:path h="524510" w="1195832">
                  <a:moveTo>
                    <a:pt x="0" y="0"/>
                  </a:moveTo>
                  <a:lnTo>
                    <a:pt x="1195832" y="0"/>
                  </a:lnTo>
                  <a:lnTo>
                    <a:pt x="1195832" y="524510"/>
                  </a:lnTo>
                  <a:lnTo>
                    <a:pt x="0" y="524510"/>
                  </a:lnTo>
                  <a:close/>
                </a:path>
              </a:pathLst>
            </a:custGeom>
            <a:blipFill>
              <a:blip r:embed="rId12">
                <a:alphaModFix amt="0"/>
              </a:blip>
              <a:stretch>
                <a:fillRect l="-6309" t="0" r="-6312" b="7"/>
              </a:stretch>
            </a:blipFill>
          </p:spPr>
        </p:sp>
      </p:grpSp>
      <p:grpSp>
        <p:nvGrpSpPr>
          <p:cNvPr name="Group 240" id="240"/>
          <p:cNvGrpSpPr/>
          <p:nvPr/>
        </p:nvGrpSpPr>
        <p:grpSpPr>
          <a:xfrm rot="0">
            <a:off x="1217743" y="9729892"/>
            <a:ext cx="896903" cy="357635"/>
            <a:chOff x="0" y="0"/>
            <a:chExt cx="1195870" cy="476847"/>
          </a:xfrm>
        </p:grpSpPr>
        <p:sp>
          <p:nvSpPr>
            <p:cNvPr name="Freeform 241" id="241"/>
            <p:cNvSpPr/>
            <p:nvPr/>
          </p:nvSpPr>
          <p:spPr>
            <a:xfrm flipH="false" flipV="false" rot="0">
              <a:off x="0" y="0"/>
              <a:ext cx="1195871" cy="476844"/>
            </a:xfrm>
            <a:custGeom>
              <a:avLst/>
              <a:gdLst/>
              <a:ahLst/>
              <a:cxnLst/>
              <a:rect r="r" b="b" t="t" l="l"/>
              <a:pathLst>
                <a:path h="476844" w="1195871">
                  <a:moveTo>
                    <a:pt x="0" y="0"/>
                  </a:moveTo>
                  <a:lnTo>
                    <a:pt x="1195871" y="0"/>
                  </a:lnTo>
                  <a:lnTo>
                    <a:pt x="1195871" y="476844"/>
                  </a:lnTo>
                  <a:lnTo>
                    <a:pt x="0" y="476844"/>
                  </a:lnTo>
                  <a:close/>
                </a:path>
              </a:pathLst>
            </a:custGeom>
            <a:blipFill>
              <a:blip r:embed="rId13">
                <a:alphaModFix amt="0"/>
              </a:blip>
              <a:stretch>
                <a:fillRect l="-1160" t="0" r="-1160" b="0"/>
              </a:stretch>
            </a:blipFill>
          </p:spPr>
        </p:sp>
        <p:sp>
          <p:nvSpPr>
            <p:cNvPr name="TextBox 242" id="242"/>
            <p:cNvSpPr txBox="true"/>
            <p:nvPr/>
          </p:nvSpPr>
          <p:spPr>
            <a:xfrm>
              <a:off x="0" y="47625"/>
              <a:ext cx="1195870" cy="429222"/>
            </a:xfrm>
            <a:prstGeom prst="rect">
              <a:avLst/>
            </a:prstGeom>
          </p:spPr>
          <p:txBody>
            <a:bodyPr anchor="ctr" rtlCol="false" tIns="0" lIns="0" bIns="0" rIns="0"/>
            <a:lstStyle/>
            <a:p>
              <a:pPr algn="l">
                <a:lnSpc>
                  <a:spcPts val="1765"/>
                </a:lnSpc>
              </a:pPr>
              <a:r>
                <a:rPr lang="en-US" sz="1839" b="true">
                  <a:solidFill>
                    <a:srgbClr val="949494"/>
                  </a:solidFill>
                  <a:latin typeface="TT Commons Pro Bold"/>
                  <a:ea typeface="TT Commons Pro Bold"/>
                  <a:cs typeface="TT Commons Pro Bold"/>
                  <a:sym typeface="TT Commons Pro Bold"/>
                </a:rPr>
                <a:t>Project:</a:t>
              </a:r>
            </a:p>
          </p:txBody>
        </p:sp>
      </p:grpSp>
      <p:sp>
        <p:nvSpPr>
          <p:cNvPr name="TextBox 243" id="243"/>
          <p:cNvSpPr txBox="true"/>
          <p:nvPr/>
        </p:nvSpPr>
        <p:spPr>
          <a:xfrm rot="0">
            <a:off x="8514712" y="6560363"/>
            <a:ext cx="4071052" cy="2270760"/>
          </a:xfrm>
          <a:prstGeom prst="rect">
            <a:avLst/>
          </a:prstGeom>
        </p:spPr>
        <p:txBody>
          <a:bodyPr anchor="t" rtlCol="false" tIns="0" lIns="0" bIns="0" rIns="0">
            <a:spAutoFit/>
          </a:bodyPr>
          <a:lstStyle/>
          <a:p>
            <a:pPr algn="l" marL="480060" indent="-160020" lvl="2">
              <a:lnSpc>
                <a:spcPts val="2940"/>
              </a:lnSpc>
              <a:buFont typeface="Arial"/>
              <a:buChar char="⚬"/>
            </a:pPr>
            <a:r>
              <a:rPr lang="en-US" b="true" sz="2100">
                <a:solidFill>
                  <a:srgbClr val="F2EFEB"/>
                </a:solidFill>
                <a:latin typeface="TT Commons Pro Bold"/>
                <a:ea typeface="TT Commons Pro Bold"/>
                <a:cs typeface="TT Commons Pro Bold"/>
                <a:sym typeface="TT Commons Pro Bold"/>
              </a:rPr>
              <a:t>Dataset Size: 2,500 Restaurants</a:t>
            </a:r>
          </a:p>
          <a:p>
            <a:pPr algn="l" marL="480060" indent="-160020" lvl="2">
              <a:lnSpc>
                <a:spcPts val="2940"/>
              </a:lnSpc>
              <a:buFont typeface="Arial"/>
              <a:buChar char="⚬"/>
            </a:pPr>
            <a:r>
              <a:rPr lang="en-US" b="true" sz="2100">
                <a:solidFill>
                  <a:srgbClr val="F2EFEB"/>
                </a:solidFill>
                <a:latin typeface="TT Commons Pro Bold"/>
                <a:ea typeface="TT Commons Pro Bold"/>
                <a:cs typeface="TT Commons Pro Bold"/>
                <a:sym typeface="TT Commons Pro Bold"/>
              </a:rPr>
              <a:t>Platforms Compared: Swiggy &amp; Zomato</a:t>
            </a:r>
          </a:p>
          <a:p>
            <a:pPr algn="l" marL="480060" indent="-160020" lvl="2">
              <a:lnSpc>
                <a:spcPts val="2940"/>
              </a:lnSpc>
              <a:buFont typeface="Arial"/>
              <a:buChar char="⚬"/>
            </a:pPr>
            <a:r>
              <a:rPr lang="en-US" b="true" sz="2100">
                <a:solidFill>
                  <a:srgbClr val="F2EFEB"/>
                </a:solidFill>
                <a:latin typeface="TT Commons Pro Bold"/>
                <a:ea typeface="TT Commons Pro Bold"/>
                <a:cs typeface="TT Commons Pro Bold"/>
                <a:sym typeface="TT Commons Pro Bold"/>
              </a:rPr>
              <a:t>Coverage: Multiple Cities and Cuisines</a:t>
            </a:r>
          </a:p>
        </p:txBody>
      </p:sp>
      <p:sp>
        <p:nvSpPr>
          <p:cNvPr name="TextBox 244" id="244"/>
          <p:cNvSpPr txBox="true"/>
          <p:nvPr/>
        </p:nvSpPr>
        <p:spPr>
          <a:xfrm rot="0">
            <a:off x="13344115" y="6579413"/>
            <a:ext cx="4504087" cy="2270760"/>
          </a:xfrm>
          <a:prstGeom prst="rect">
            <a:avLst/>
          </a:prstGeom>
        </p:spPr>
        <p:txBody>
          <a:bodyPr anchor="t" rtlCol="false" tIns="0" lIns="0" bIns="0" rIns="0">
            <a:spAutoFit/>
          </a:bodyPr>
          <a:lstStyle/>
          <a:p>
            <a:pPr algn="l" marL="480060" indent="-160020" lvl="2">
              <a:lnSpc>
                <a:spcPts val="2940"/>
              </a:lnSpc>
              <a:buFont typeface="Arial"/>
              <a:buChar char="⚬"/>
            </a:pPr>
            <a:r>
              <a:rPr lang="en-US" b="true" sz="2100">
                <a:solidFill>
                  <a:srgbClr val="F2EFEB"/>
                </a:solidFill>
                <a:latin typeface="TT Commons Pro Bold"/>
                <a:ea typeface="TT Commons Pro Bold"/>
                <a:cs typeface="TT Commons Pro Bold"/>
                <a:sym typeface="TT Commons Pro Bold"/>
              </a:rPr>
              <a:t>Analysis Metrics: Ratings, Delivery Time, Revenue, Market Share, Orders, Commission &amp; Discounts</a:t>
            </a:r>
          </a:p>
          <a:p>
            <a:pPr algn="l" marL="480060" indent="-160020" lvl="2">
              <a:lnSpc>
                <a:spcPts val="2940"/>
              </a:lnSpc>
              <a:buFont typeface="Arial"/>
              <a:buChar char="⚬"/>
            </a:pPr>
            <a:r>
              <a:rPr lang="en-US" b="true" sz="2100">
                <a:solidFill>
                  <a:srgbClr val="F2EFEB"/>
                </a:solidFill>
                <a:latin typeface="TT Commons Pro Bold"/>
                <a:ea typeface="TT Commons Pro Bold"/>
                <a:cs typeface="TT Commons Pro Bold"/>
                <a:sym typeface="TT Commons Pro Bold"/>
              </a:rPr>
              <a:t>Tools Used: Python, Pandas, Plotly, Streamlit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8810"/>
            <a:chOff x="0" y="0"/>
            <a:chExt cx="24384000" cy="13718413"/>
          </a:xfrm>
        </p:grpSpPr>
        <p:sp>
          <p:nvSpPr>
            <p:cNvPr name="Freeform 3" id="3" descr="preencoded.png"/>
            <p:cNvSpPr/>
            <p:nvPr/>
          </p:nvSpPr>
          <p:spPr>
            <a:xfrm flipH="false" flipV="false" rot="0">
              <a:off x="0" y="0"/>
              <a:ext cx="24384000" cy="13718412"/>
            </a:xfrm>
            <a:custGeom>
              <a:avLst/>
              <a:gdLst/>
              <a:ahLst/>
              <a:cxnLst/>
              <a:rect r="r" b="b" t="t" l="l"/>
              <a:pathLst>
                <a:path h="13718412" w="24384000">
                  <a:moveTo>
                    <a:pt x="0" y="0"/>
                  </a:moveTo>
                  <a:lnTo>
                    <a:pt x="24384000" y="0"/>
                  </a:lnTo>
                  <a:lnTo>
                    <a:pt x="24384000" y="13718412"/>
                  </a:lnTo>
                  <a:lnTo>
                    <a:pt x="0" y="13718412"/>
                  </a:lnTo>
                  <a:lnTo>
                    <a:pt x="0" y="0"/>
                  </a:lnTo>
                  <a:close/>
                </a:path>
              </a:pathLst>
            </a:custGeom>
            <a:blipFill>
              <a:blip r:embed="rId3"/>
              <a:stretch>
                <a:fillRect l="-13" t="0" r="-13" b="0"/>
              </a:stretch>
            </a:blipFill>
          </p:spPr>
        </p:sp>
      </p:grpSp>
      <p:grpSp>
        <p:nvGrpSpPr>
          <p:cNvPr name="Group 4" id="4"/>
          <p:cNvGrpSpPr/>
          <p:nvPr/>
        </p:nvGrpSpPr>
        <p:grpSpPr>
          <a:xfrm rot="0">
            <a:off x="13304006" y="4973050"/>
            <a:ext cx="4112609" cy="4404265"/>
            <a:chOff x="0" y="0"/>
            <a:chExt cx="5483479" cy="5872353"/>
          </a:xfrm>
        </p:grpSpPr>
        <p:sp>
          <p:nvSpPr>
            <p:cNvPr name="Freeform 5" id="5" descr="preencoded.png"/>
            <p:cNvSpPr/>
            <p:nvPr/>
          </p:nvSpPr>
          <p:spPr>
            <a:xfrm flipH="false" flipV="false" rot="0">
              <a:off x="0" y="0"/>
              <a:ext cx="5483479" cy="5872353"/>
            </a:xfrm>
            <a:custGeom>
              <a:avLst/>
              <a:gdLst/>
              <a:ahLst/>
              <a:cxnLst/>
              <a:rect r="r" b="b" t="t" l="l"/>
              <a:pathLst>
                <a:path h="5872353" w="5483479">
                  <a:moveTo>
                    <a:pt x="0" y="0"/>
                  </a:moveTo>
                  <a:lnTo>
                    <a:pt x="5483479" y="0"/>
                  </a:lnTo>
                  <a:lnTo>
                    <a:pt x="5483479" y="5872353"/>
                  </a:lnTo>
                  <a:lnTo>
                    <a:pt x="0" y="5872353"/>
                  </a:lnTo>
                  <a:lnTo>
                    <a:pt x="0" y="0"/>
                  </a:lnTo>
                  <a:close/>
                </a:path>
              </a:pathLst>
            </a:custGeom>
            <a:blipFill>
              <a:blip r:embed="rId4"/>
              <a:stretch>
                <a:fillRect l="-2" t="0" r="-2" b="0"/>
              </a:stretch>
            </a:blipFill>
          </p:spPr>
        </p:sp>
      </p:grpSp>
      <p:grpSp>
        <p:nvGrpSpPr>
          <p:cNvPr name="Group 6" id="6"/>
          <p:cNvGrpSpPr/>
          <p:nvPr/>
        </p:nvGrpSpPr>
        <p:grpSpPr>
          <a:xfrm rot="0">
            <a:off x="15648346" y="8618982"/>
            <a:ext cx="1203198" cy="670846"/>
            <a:chOff x="0" y="0"/>
            <a:chExt cx="1604264" cy="894461"/>
          </a:xfrm>
        </p:grpSpPr>
        <p:sp>
          <p:nvSpPr>
            <p:cNvPr name="Freeform 7" id="7" descr="preencoded.png"/>
            <p:cNvSpPr/>
            <p:nvPr/>
          </p:nvSpPr>
          <p:spPr>
            <a:xfrm flipH="false" flipV="false" rot="0">
              <a:off x="0" y="0"/>
              <a:ext cx="1604264" cy="894461"/>
            </a:xfrm>
            <a:custGeom>
              <a:avLst/>
              <a:gdLst/>
              <a:ahLst/>
              <a:cxnLst/>
              <a:rect r="r" b="b" t="t" l="l"/>
              <a:pathLst>
                <a:path h="894461" w="1604264">
                  <a:moveTo>
                    <a:pt x="0" y="0"/>
                  </a:moveTo>
                  <a:lnTo>
                    <a:pt x="1604264" y="0"/>
                  </a:lnTo>
                  <a:lnTo>
                    <a:pt x="1604264" y="894461"/>
                  </a:lnTo>
                  <a:lnTo>
                    <a:pt x="0" y="894461"/>
                  </a:lnTo>
                  <a:lnTo>
                    <a:pt x="0" y="0"/>
                  </a:lnTo>
                  <a:close/>
                </a:path>
              </a:pathLst>
            </a:custGeom>
            <a:blipFill>
              <a:blip r:embed="rId5"/>
              <a:stretch>
                <a:fillRect l="-45" t="0" r="-45" b="0"/>
              </a:stretch>
            </a:blipFill>
          </p:spPr>
        </p:sp>
      </p:grpSp>
      <p:grpSp>
        <p:nvGrpSpPr>
          <p:cNvPr name="Group 8" id="8"/>
          <p:cNvGrpSpPr/>
          <p:nvPr/>
        </p:nvGrpSpPr>
        <p:grpSpPr>
          <a:xfrm rot="0">
            <a:off x="13701417" y="7160609"/>
            <a:ext cx="627126" cy="29146"/>
            <a:chOff x="0" y="0"/>
            <a:chExt cx="836168" cy="38862"/>
          </a:xfrm>
        </p:grpSpPr>
        <p:sp>
          <p:nvSpPr>
            <p:cNvPr name="Freeform 9" id="9" descr="preencoded.png"/>
            <p:cNvSpPr/>
            <p:nvPr/>
          </p:nvSpPr>
          <p:spPr>
            <a:xfrm flipH="false" flipV="false" rot="0">
              <a:off x="0" y="0"/>
              <a:ext cx="836168" cy="38862"/>
            </a:xfrm>
            <a:custGeom>
              <a:avLst/>
              <a:gdLst/>
              <a:ahLst/>
              <a:cxnLst/>
              <a:rect r="r" b="b" t="t" l="l"/>
              <a:pathLst>
                <a:path h="38862" w="836168">
                  <a:moveTo>
                    <a:pt x="0" y="0"/>
                  </a:moveTo>
                  <a:lnTo>
                    <a:pt x="836168" y="0"/>
                  </a:lnTo>
                  <a:lnTo>
                    <a:pt x="836168" y="38862"/>
                  </a:lnTo>
                  <a:lnTo>
                    <a:pt x="0" y="38862"/>
                  </a:lnTo>
                  <a:lnTo>
                    <a:pt x="0" y="0"/>
                  </a:lnTo>
                  <a:close/>
                </a:path>
              </a:pathLst>
            </a:custGeom>
            <a:blipFill>
              <a:blip r:embed="rId6"/>
              <a:stretch>
                <a:fillRect l="-3449" t="0" r="-3449" b="0"/>
              </a:stretch>
            </a:blipFill>
          </p:spPr>
        </p:sp>
      </p:grpSp>
      <p:grpSp>
        <p:nvGrpSpPr>
          <p:cNvPr name="Group 10" id="10"/>
          <p:cNvGrpSpPr/>
          <p:nvPr/>
        </p:nvGrpSpPr>
        <p:grpSpPr>
          <a:xfrm rot="0">
            <a:off x="14736861" y="5031391"/>
            <a:ext cx="1246918" cy="1246918"/>
            <a:chOff x="0" y="0"/>
            <a:chExt cx="1662557" cy="1662557"/>
          </a:xfrm>
        </p:grpSpPr>
        <p:sp>
          <p:nvSpPr>
            <p:cNvPr name="Freeform 11" id="11" descr="preencoded.png"/>
            <p:cNvSpPr/>
            <p:nvPr/>
          </p:nvSpPr>
          <p:spPr>
            <a:xfrm flipH="false" flipV="false" rot="0">
              <a:off x="0" y="0"/>
              <a:ext cx="1662557" cy="1662557"/>
            </a:xfrm>
            <a:custGeom>
              <a:avLst/>
              <a:gdLst/>
              <a:ahLst/>
              <a:cxnLst/>
              <a:rect r="r" b="b" t="t" l="l"/>
              <a:pathLst>
                <a:path h="1662557" w="1662557">
                  <a:moveTo>
                    <a:pt x="0" y="0"/>
                  </a:moveTo>
                  <a:lnTo>
                    <a:pt x="1662557" y="0"/>
                  </a:lnTo>
                  <a:lnTo>
                    <a:pt x="1662557" y="1662557"/>
                  </a:lnTo>
                  <a:lnTo>
                    <a:pt x="0" y="1662557"/>
                  </a:lnTo>
                  <a:lnTo>
                    <a:pt x="0" y="0"/>
                  </a:lnTo>
                  <a:close/>
                </a:path>
              </a:pathLst>
            </a:custGeom>
            <a:blipFill>
              <a:blip r:embed="rId7"/>
              <a:stretch>
                <a:fillRect l="0" t="0" r="0" b="0"/>
              </a:stretch>
            </a:blipFill>
          </p:spPr>
        </p:sp>
      </p:grpSp>
      <p:sp>
        <p:nvSpPr>
          <p:cNvPr name="Freeform 12" id="12"/>
          <p:cNvSpPr/>
          <p:nvPr/>
        </p:nvSpPr>
        <p:spPr>
          <a:xfrm flipH="false" flipV="false" rot="0">
            <a:off x="8937098" y="4941151"/>
            <a:ext cx="4183675" cy="4468092"/>
          </a:xfrm>
          <a:custGeom>
            <a:avLst/>
            <a:gdLst/>
            <a:ahLst/>
            <a:cxnLst/>
            <a:rect r="r" b="b" t="t" l="l"/>
            <a:pathLst>
              <a:path h="4468092" w="4183675">
                <a:moveTo>
                  <a:pt x="0" y="0"/>
                </a:moveTo>
                <a:lnTo>
                  <a:pt x="4183675" y="0"/>
                </a:lnTo>
                <a:lnTo>
                  <a:pt x="4183675" y="4468092"/>
                </a:lnTo>
                <a:lnTo>
                  <a:pt x="0" y="44680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3" id="13"/>
          <p:cNvGrpSpPr/>
          <p:nvPr/>
        </p:nvGrpSpPr>
        <p:grpSpPr>
          <a:xfrm rot="0">
            <a:off x="11834698" y="8597113"/>
            <a:ext cx="969835" cy="678180"/>
            <a:chOff x="0" y="0"/>
            <a:chExt cx="1293114" cy="904240"/>
          </a:xfrm>
        </p:grpSpPr>
        <p:sp>
          <p:nvSpPr>
            <p:cNvPr name="Freeform 14" id="14" descr="preencoded.png"/>
            <p:cNvSpPr/>
            <p:nvPr/>
          </p:nvSpPr>
          <p:spPr>
            <a:xfrm flipH="false" flipV="false" rot="0">
              <a:off x="0" y="0"/>
              <a:ext cx="1293114" cy="904240"/>
            </a:xfrm>
            <a:custGeom>
              <a:avLst/>
              <a:gdLst/>
              <a:ahLst/>
              <a:cxnLst/>
              <a:rect r="r" b="b" t="t" l="l"/>
              <a:pathLst>
                <a:path h="904240" w="1293114">
                  <a:moveTo>
                    <a:pt x="0" y="0"/>
                  </a:moveTo>
                  <a:lnTo>
                    <a:pt x="1293114" y="0"/>
                  </a:lnTo>
                  <a:lnTo>
                    <a:pt x="1293114" y="904240"/>
                  </a:lnTo>
                  <a:lnTo>
                    <a:pt x="0" y="904240"/>
                  </a:lnTo>
                  <a:lnTo>
                    <a:pt x="0" y="0"/>
                  </a:lnTo>
                  <a:close/>
                </a:path>
              </a:pathLst>
            </a:custGeom>
            <a:blipFill>
              <a:blip r:embed="rId10"/>
              <a:stretch>
                <a:fillRect l="0" t="-51" r="0" b="-51"/>
              </a:stretch>
            </a:blipFill>
          </p:spPr>
        </p:sp>
      </p:grpSp>
      <p:grpSp>
        <p:nvGrpSpPr>
          <p:cNvPr name="Group 15" id="15"/>
          <p:cNvGrpSpPr/>
          <p:nvPr/>
        </p:nvGrpSpPr>
        <p:grpSpPr>
          <a:xfrm rot="0">
            <a:off x="9326299" y="7153323"/>
            <a:ext cx="663607" cy="43720"/>
            <a:chOff x="0" y="0"/>
            <a:chExt cx="884809" cy="58293"/>
          </a:xfrm>
        </p:grpSpPr>
        <p:sp>
          <p:nvSpPr>
            <p:cNvPr name="Freeform 16" id="16" descr="preencoded.png"/>
            <p:cNvSpPr/>
            <p:nvPr/>
          </p:nvSpPr>
          <p:spPr>
            <a:xfrm flipH="false" flipV="false" rot="0">
              <a:off x="0" y="0"/>
              <a:ext cx="884809" cy="58293"/>
            </a:xfrm>
            <a:custGeom>
              <a:avLst/>
              <a:gdLst/>
              <a:ahLst/>
              <a:cxnLst/>
              <a:rect r="r" b="b" t="t" l="l"/>
              <a:pathLst>
                <a:path h="58293" w="884809">
                  <a:moveTo>
                    <a:pt x="0" y="0"/>
                  </a:moveTo>
                  <a:lnTo>
                    <a:pt x="884809" y="0"/>
                  </a:lnTo>
                  <a:lnTo>
                    <a:pt x="884809" y="58293"/>
                  </a:lnTo>
                  <a:lnTo>
                    <a:pt x="0" y="58293"/>
                  </a:lnTo>
                  <a:lnTo>
                    <a:pt x="0" y="0"/>
                  </a:lnTo>
                  <a:close/>
                </a:path>
              </a:pathLst>
            </a:custGeom>
            <a:blipFill>
              <a:blip r:embed="rId11"/>
              <a:stretch>
                <a:fillRect l="0" t="-1982" r="0" b="-1982"/>
              </a:stretch>
            </a:blipFill>
          </p:spPr>
        </p:sp>
      </p:grpSp>
      <p:grpSp>
        <p:nvGrpSpPr>
          <p:cNvPr name="Group 17" id="17"/>
          <p:cNvGrpSpPr/>
          <p:nvPr/>
        </p:nvGrpSpPr>
        <p:grpSpPr>
          <a:xfrm rot="0">
            <a:off x="10427370" y="5045974"/>
            <a:ext cx="1246918" cy="1246918"/>
            <a:chOff x="0" y="0"/>
            <a:chExt cx="1662557" cy="1662557"/>
          </a:xfrm>
        </p:grpSpPr>
        <p:sp>
          <p:nvSpPr>
            <p:cNvPr name="Freeform 18" id="18" descr="preencoded.png"/>
            <p:cNvSpPr/>
            <p:nvPr/>
          </p:nvSpPr>
          <p:spPr>
            <a:xfrm flipH="false" flipV="false" rot="0">
              <a:off x="0" y="0"/>
              <a:ext cx="1662557" cy="1662557"/>
            </a:xfrm>
            <a:custGeom>
              <a:avLst/>
              <a:gdLst/>
              <a:ahLst/>
              <a:cxnLst/>
              <a:rect r="r" b="b" t="t" l="l"/>
              <a:pathLst>
                <a:path h="1662557" w="1662557">
                  <a:moveTo>
                    <a:pt x="0" y="0"/>
                  </a:moveTo>
                  <a:lnTo>
                    <a:pt x="1662557" y="0"/>
                  </a:lnTo>
                  <a:lnTo>
                    <a:pt x="1662557" y="1662557"/>
                  </a:lnTo>
                  <a:lnTo>
                    <a:pt x="0" y="1662557"/>
                  </a:lnTo>
                  <a:lnTo>
                    <a:pt x="0" y="0"/>
                  </a:lnTo>
                  <a:close/>
                </a:path>
              </a:pathLst>
            </a:custGeom>
            <a:blipFill>
              <a:blip r:embed="rId12"/>
              <a:stretch>
                <a:fillRect l="0" t="0" r="0" b="0"/>
              </a:stretch>
            </a:blipFill>
          </p:spPr>
        </p:sp>
      </p:grpSp>
      <p:sp>
        <p:nvSpPr>
          <p:cNvPr name="Freeform 19" id="19"/>
          <p:cNvSpPr/>
          <p:nvPr/>
        </p:nvSpPr>
        <p:spPr>
          <a:xfrm flipH="false" flipV="false" rot="0">
            <a:off x="4634894" y="4941151"/>
            <a:ext cx="4147290" cy="4468092"/>
          </a:xfrm>
          <a:custGeom>
            <a:avLst/>
            <a:gdLst/>
            <a:ahLst/>
            <a:cxnLst/>
            <a:rect r="r" b="b" t="t" l="l"/>
            <a:pathLst>
              <a:path h="4468092" w="4147290">
                <a:moveTo>
                  <a:pt x="0" y="0"/>
                </a:moveTo>
                <a:lnTo>
                  <a:pt x="4147289" y="0"/>
                </a:lnTo>
                <a:lnTo>
                  <a:pt x="4147289" y="4468092"/>
                </a:lnTo>
                <a:lnTo>
                  <a:pt x="0" y="446809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20" id="20"/>
          <p:cNvGrpSpPr/>
          <p:nvPr/>
        </p:nvGrpSpPr>
        <p:grpSpPr>
          <a:xfrm rot="0">
            <a:off x="7663748" y="8378352"/>
            <a:ext cx="875062" cy="831247"/>
            <a:chOff x="0" y="0"/>
            <a:chExt cx="1166749" cy="1108329"/>
          </a:xfrm>
        </p:grpSpPr>
        <p:sp>
          <p:nvSpPr>
            <p:cNvPr name="Freeform 21" id="21" descr="preencoded.png"/>
            <p:cNvSpPr/>
            <p:nvPr/>
          </p:nvSpPr>
          <p:spPr>
            <a:xfrm flipH="false" flipV="false" rot="0">
              <a:off x="0" y="0"/>
              <a:ext cx="1166749" cy="1108329"/>
            </a:xfrm>
            <a:custGeom>
              <a:avLst/>
              <a:gdLst/>
              <a:ahLst/>
              <a:cxnLst/>
              <a:rect r="r" b="b" t="t" l="l"/>
              <a:pathLst>
                <a:path h="1108329" w="1166749">
                  <a:moveTo>
                    <a:pt x="0" y="0"/>
                  </a:moveTo>
                  <a:lnTo>
                    <a:pt x="1166749" y="0"/>
                  </a:lnTo>
                  <a:lnTo>
                    <a:pt x="1166749" y="1108329"/>
                  </a:lnTo>
                  <a:lnTo>
                    <a:pt x="0" y="1108329"/>
                  </a:lnTo>
                  <a:lnTo>
                    <a:pt x="0" y="0"/>
                  </a:lnTo>
                  <a:close/>
                </a:path>
              </a:pathLst>
            </a:custGeom>
            <a:blipFill>
              <a:blip r:embed="rId15"/>
              <a:stretch>
                <a:fillRect l="0" t="-198" r="0" b="-199"/>
              </a:stretch>
            </a:blipFill>
          </p:spPr>
        </p:sp>
      </p:grpSp>
      <p:grpSp>
        <p:nvGrpSpPr>
          <p:cNvPr name="Group 22" id="22"/>
          <p:cNvGrpSpPr/>
          <p:nvPr/>
        </p:nvGrpSpPr>
        <p:grpSpPr>
          <a:xfrm rot="0">
            <a:off x="5024095" y="7160609"/>
            <a:ext cx="641699" cy="29146"/>
            <a:chOff x="0" y="0"/>
            <a:chExt cx="855599" cy="38862"/>
          </a:xfrm>
        </p:grpSpPr>
        <p:sp>
          <p:nvSpPr>
            <p:cNvPr name="Freeform 23" id="23" descr="preencoded.png"/>
            <p:cNvSpPr/>
            <p:nvPr/>
          </p:nvSpPr>
          <p:spPr>
            <a:xfrm flipH="false" flipV="false" rot="0">
              <a:off x="0" y="0"/>
              <a:ext cx="855599" cy="38862"/>
            </a:xfrm>
            <a:custGeom>
              <a:avLst/>
              <a:gdLst/>
              <a:ahLst/>
              <a:cxnLst/>
              <a:rect r="r" b="b" t="t" l="l"/>
              <a:pathLst>
                <a:path h="38862" w="855599">
                  <a:moveTo>
                    <a:pt x="0" y="0"/>
                  </a:moveTo>
                  <a:lnTo>
                    <a:pt x="855599" y="0"/>
                  </a:lnTo>
                  <a:lnTo>
                    <a:pt x="855599" y="38862"/>
                  </a:lnTo>
                  <a:lnTo>
                    <a:pt x="0" y="38862"/>
                  </a:lnTo>
                  <a:lnTo>
                    <a:pt x="0" y="0"/>
                  </a:lnTo>
                  <a:close/>
                </a:path>
              </a:pathLst>
            </a:custGeom>
            <a:blipFill>
              <a:blip r:embed="rId16"/>
              <a:stretch>
                <a:fillRect l="-2992" t="0" r="-2992" b="0"/>
              </a:stretch>
            </a:blipFill>
          </p:spPr>
        </p:sp>
      </p:grpSp>
      <p:grpSp>
        <p:nvGrpSpPr>
          <p:cNvPr name="Group 24" id="24"/>
          <p:cNvGrpSpPr/>
          <p:nvPr/>
        </p:nvGrpSpPr>
        <p:grpSpPr>
          <a:xfrm rot="0">
            <a:off x="6066834" y="5031391"/>
            <a:ext cx="1246918" cy="1246918"/>
            <a:chOff x="0" y="0"/>
            <a:chExt cx="1662557" cy="1662557"/>
          </a:xfrm>
        </p:grpSpPr>
        <p:sp>
          <p:nvSpPr>
            <p:cNvPr name="Freeform 25" id="25" descr="preencoded.png"/>
            <p:cNvSpPr/>
            <p:nvPr/>
          </p:nvSpPr>
          <p:spPr>
            <a:xfrm flipH="false" flipV="false" rot="0">
              <a:off x="0" y="0"/>
              <a:ext cx="1662557" cy="1662557"/>
            </a:xfrm>
            <a:custGeom>
              <a:avLst/>
              <a:gdLst/>
              <a:ahLst/>
              <a:cxnLst/>
              <a:rect r="r" b="b" t="t" l="l"/>
              <a:pathLst>
                <a:path h="1662557" w="1662557">
                  <a:moveTo>
                    <a:pt x="0" y="0"/>
                  </a:moveTo>
                  <a:lnTo>
                    <a:pt x="1662557" y="0"/>
                  </a:lnTo>
                  <a:lnTo>
                    <a:pt x="1662557" y="1662557"/>
                  </a:lnTo>
                  <a:lnTo>
                    <a:pt x="0" y="1662557"/>
                  </a:lnTo>
                  <a:lnTo>
                    <a:pt x="0" y="0"/>
                  </a:lnTo>
                  <a:close/>
                </a:path>
              </a:pathLst>
            </a:custGeom>
            <a:blipFill>
              <a:blip r:embed="rId17"/>
              <a:stretch>
                <a:fillRect l="0" t="0" r="0" b="0"/>
              </a:stretch>
            </a:blipFill>
          </p:spPr>
        </p:sp>
      </p:grpSp>
      <p:grpSp>
        <p:nvGrpSpPr>
          <p:cNvPr name="Group 26" id="26"/>
          <p:cNvGrpSpPr/>
          <p:nvPr/>
        </p:nvGrpSpPr>
        <p:grpSpPr>
          <a:xfrm rot="0">
            <a:off x="408346" y="4973050"/>
            <a:ext cx="4039648" cy="4411599"/>
            <a:chOff x="0" y="0"/>
            <a:chExt cx="5386197" cy="5882132"/>
          </a:xfrm>
        </p:grpSpPr>
        <p:sp>
          <p:nvSpPr>
            <p:cNvPr name="Freeform 27" id="27" descr="preencoded.png"/>
            <p:cNvSpPr/>
            <p:nvPr/>
          </p:nvSpPr>
          <p:spPr>
            <a:xfrm flipH="false" flipV="false" rot="0">
              <a:off x="0" y="0"/>
              <a:ext cx="5386197" cy="5882132"/>
            </a:xfrm>
            <a:custGeom>
              <a:avLst/>
              <a:gdLst/>
              <a:ahLst/>
              <a:cxnLst/>
              <a:rect r="r" b="b" t="t" l="l"/>
              <a:pathLst>
                <a:path h="5882132" w="5386197">
                  <a:moveTo>
                    <a:pt x="0" y="0"/>
                  </a:moveTo>
                  <a:lnTo>
                    <a:pt x="5386197" y="0"/>
                  </a:lnTo>
                  <a:lnTo>
                    <a:pt x="5386197" y="5882132"/>
                  </a:lnTo>
                  <a:lnTo>
                    <a:pt x="0" y="5882132"/>
                  </a:lnTo>
                  <a:lnTo>
                    <a:pt x="0" y="0"/>
                  </a:lnTo>
                  <a:close/>
                </a:path>
              </a:pathLst>
            </a:custGeom>
            <a:blipFill>
              <a:blip r:embed="rId18"/>
              <a:stretch>
                <a:fillRect l="0" t="-4" r="0" b="-4"/>
              </a:stretch>
            </a:blipFill>
          </p:spPr>
        </p:sp>
      </p:grpSp>
      <p:grpSp>
        <p:nvGrpSpPr>
          <p:cNvPr name="Group 28" id="28"/>
          <p:cNvGrpSpPr/>
          <p:nvPr/>
        </p:nvGrpSpPr>
        <p:grpSpPr>
          <a:xfrm rot="0">
            <a:off x="3055296" y="8305438"/>
            <a:ext cx="1144810" cy="911447"/>
            <a:chOff x="0" y="0"/>
            <a:chExt cx="1526413" cy="1215263"/>
          </a:xfrm>
        </p:grpSpPr>
        <p:sp>
          <p:nvSpPr>
            <p:cNvPr name="Freeform 29" id="29" descr="preencoded.png"/>
            <p:cNvSpPr/>
            <p:nvPr/>
          </p:nvSpPr>
          <p:spPr>
            <a:xfrm flipH="false" flipV="false" rot="0">
              <a:off x="0" y="0"/>
              <a:ext cx="1526413" cy="1215263"/>
            </a:xfrm>
            <a:custGeom>
              <a:avLst/>
              <a:gdLst/>
              <a:ahLst/>
              <a:cxnLst/>
              <a:rect r="r" b="b" t="t" l="l"/>
              <a:pathLst>
                <a:path h="1215263" w="1526413">
                  <a:moveTo>
                    <a:pt x="0" y="0"/>
                  </a:moveTo>
                  <a:lnTo>
                    <a:pt x="1526413" y="0"/>
                  </a:lnTo>
                  <a:lnTo>
                    <a:pt x="1526413" y="1215263"/>
                  </a:lnTo>
                  <a:lnTo>
                    <a:pt x="0" y="1215263"/>
                  </a:lnTo>
                  <a:lnTo>
                    <a:pt x="0" y="0"/>
                  </a:lnTo>
                  <a:close/>
                </a:path>
              </a:pathLst>
            </a:custGeom>
            <a:blipFill>
              <a:blip r:embed="rId19"/>
              <a:stretch>
                <a:fillRect l="-24" t="0" r="-24" b="0"/>
              </a:stretch>
            </a:blipFill>
          </p:spPr>
        </p:sp>
      </p:grpSp>
      <p:grpSp>
        <p:nvGrpSpPr>
          <p:cNvPr name="Group 30" id="30"/>
          <p:cNvGrpSpPr/>
          <p:nvPr/>
        </p:nvGrpSpPr>
        <p:grpSpPr>
          <a:xfrm rot="0">
            <a:off x="707307" y="6934562"/>
            <a:ext cx="627126" cy="43720"/>
            <a:chOff x="0" y="0"/>
            <a:chExt cx="836168" cy="58293"/>
          </a:xfrm>
        </p:grpSpPr>
        <p:sp>
          <p:nvSpPr>
            <p:cNvPr name="Freeform 31" id="31" descr="preencoded.png"/>
            <p:cNvSpPr/>
            <p:nvPr/>
          </p:nvSpPr>
          <p:spPr>
            <a:xfrm flipH="false" flipV="false" rot="0">
              <a:off x="0" y="0"/>
              <a:ext cx="836168" cy="58293"/>
            </a:xfrm>
            <a:custGeom>
              <a:avLst/>
              <a:gdLst/>
              <a:ahLst/>
              <a:cxnLst/>
              <a:rect r="r" b="b" t="t" l="l"/>
              <a:pathLst>
                <a:path h="58293" w="836168">
                  <a:moveTo>
                    <a:pt x="0" y="0"/>
                  </a:moveTo>
                  <a:lnTo>
                    <a:pt x="836168" y="0"/>
                  </a:lnTo>
                  <a:lnTo>
                    <a:pt x="836168" y="58293"/>
                  </a:lnTo>
                  <a:lnTo>
                    <a:pt x="0" y="58293"/>
                  </a:lnTo>
                  <a:lnTo>
                    <a:pt x="0" y="0"/>
                  </a:lnTo>
                  <a:close/>
                </a:path>
              </a:pathLst>
            </a:custGeom>
            <a:blipFill>
              <a:blip r:embed="rId20"/>
              <a:stretch>
                <a:fillRect l="0" t="-1982" r="0" b="-1960"/>
              </a:stretch>
            </a:blipFill>
          </p:spPr>
        </p:sp>
      </p:grpSp>
      <p:grpSp>
        <p:nvGrpSpPr>
          <p:cNvPr name="Group 32" id="32"/>
          <p:cNvGrpSpPr/>
          <p:nvPr/>
        </p:nvGrpSpPr>
        <p:grpSpPr>
          <a:xfrm rot="0">
            <a:off x="1903181" y="5045974"/>
            <a:ext cx="1232344" cy="1232344"/>
            <a:chOff x="0" y="0"/>
            <a:chExt cx="1643126" cy="1643126"/>
          </a:xfrm>
        </p:grpSpPr>
        <p:sp>
          <p:nvSpPr>
            <p:cNvPr name="Freeform 33" id="33" descr="preencoded.png"/>
            <p:cNvSpPr/>
            <p:nvPr/>
          </p:nvSpPr>
          <p:spPr>
            <a:xfrm flipH="false" flipV="false" rot="0">
              <a:off x="0" y="0"/>
              <a:ext cx="1643126" cy="1643126"/>
            </a:xfrm>
            <a:custGeom>
              <a:avLst/>
              <a:gdLst/>
              <a:ahLst/>
              <a:cxnLst/>
              <a:rect r="r" b="b" t="t" l="l"/>
              <a:pathLst>
                <a:path h="1643126" w="1643126">
                  <a:moveTo>
                    <a:pt x="0" y="0"/>
                  </a:moveTo>
                  <a:lnTo>
                    <a:pt x="1643126" y="0"/>
                  </a:lnTo>
                  <a:lnTo>
                    <a:pt x="1643126" y="1643126"/>
                  </a:lnTo>
                  <a:lnTo>
                    <a:pt x="0" y="1643126"/>
                  </a:lnTo>
                  <a:lnTo>
                    <a:pt x="0" y="0"/>
                  </a:lnTo>
                  <a:close/>
                </a:path>
              </a:pathLst>
            </a:custGeom>
            <a:blipFill>
              <a:blip r:embed="rId21"/>
              <a:stretch>
                <a:fillRect l="0" t="0" r="0" b="0"/>
              </a:stretch>
            </a:blipFill>
          </p:spPr>
        </p:sp>
      </p:grpSp>
      <p:grpSp>
        <p:nvGrpSpPr>
          <p:cNvPr name="Group 34" id="34"/>
          <p:cNvGrpSpPr/>
          <p:nvPr/>
        </p:nvGrpSpPr>
        <p:grpSpPr>
          <a:xfrm rot="0">
            <a:off x="678142" y="7130710"/>
            <a:ext cx="3339675" cy="1618793"/>
            <a:chOff x="0" y="0"/>
            <a:chExt cx="4452899" cy="2158390"/>
          </a:xfrm>
        </p:grpSpPr>
        <p:sp>
          <p:nvSpPr>
            <p:cNvPr name="Freeform 35" id="35"/>
            <p:cNvSpPr/>
            <p:nvPr/>
          </p:nvSpPr>
          <p:spPr>
            <a:xfrm flipH="false" flipV="false" rot="0">
              <a:off x="0" y="0"/>
              <a:ext cx="4452874" cy="2158365"/>
            </a:xfrm>
            <a:custGeom>
              <a:avLst/>
              <a:gdLst/>
              <a:ahLst/>
              <a:cxnLst/>
              <a:rect r="r" b="b" t="t" l="l"/>
              <a:pathLst>
                <a:path h="2158365" w="4452874">
                  <a:moveTo>
                    <a:pt x="0" y="0"/>
                  </a:moveTo>
                  <a:lnTo>
                    <a:pt x="4452874" y="0"/>
                  </a:lnTo>
                  <a:lnTo>
                    <a:pt x="4452874" y="2158365"/>
                  </a:lnTo>
                  <a:lnTo>
                    <a:pt x="0" y="2158365"/>
                  </a:lnTo>
                  <a:close/>
                </a:path>
              </a:pathLst>
            </a:custGeom>
            <a:blipFill>
              <a:blip r:embed="rId22">
                <a:alphaModFix amt="0"/>
              </a:blip>
              <a:stretch>
                <a:fillRect l="-12234" t="0" r="-12234" b="-1"/>
              </a:stretch>
            </a:blipFill>
          </p:spPr>
        </p:sp>
      </p:grpSp>
      <p:grpSp>
        <p:nvGrpSpPr>
          <p:cNvPr name="Group 36" id="36"/>
          <p:cNvGrpSpPr/>
          <p:nvPr/>
        </p:nvGrpSpPr>
        <p:grpSpPr>
          <a:xfrm rot="0">
            <a:off x="678142" y="7102135"/>
            <a:ext cx="3339675" cy="1647368"/>
            <a:chOff x="0" y="0"/>
            <a:chExt cx="4452899" cy="2196490"/>
          </a:xfrm>
        </p:grpSpPr>
        <p:sp>
          <p:nvSpPr>
            <p:cNvPr name="Freeform 37" id="37"/>
            <p:cNvSpPr/>
            <p:nvPr/>
          </p:nvSpPr>
          <p:spPr>
            <a:xfrm flipH="false" flipV="false" rot="0">
              <a:off x="0" y="0"/>
              <a:ext cx="4452900" cy="2196492"/>
            </a:xfrm>
            <a:custGeom>
              <a:avLst/>
              <a:gdLst/>
              <a:ahLst/>
              <a:cxnLst/>
              <a:rect r="r" b="b" t="t" l="l"/>
              <a:pathLst>
                <a:path h="2196492" w="4452900">
                  <a:moveTo>
                    <a:pt x="0" y="0"/>
                  </a:moveTo>
                  <a:lnTo>
                    <a:pt x="4452900" y="0"/>
                  </a:lnTo>
                  <a:lnTo>
                    <a:pt x="4452900" y="2196492"/>
                  </a:lnTo>
                  <a:lnTo>
                    <a:pt x="0" y="2196492"/>
                  </a:lnTo>
                  <a:close/>
                </a:path>
              </a:pathLst>
            </a:custGeom>
            <a:blipFill>
              <a:blip r:embed="rId23">
                <a:alphaModFix amt="0"/>
              </a:blip>
              <a:stretch>
                <a:fillRect l="-13288" t="0" r="-13288" b="0"/>
              </a:stretch>
            </a:blipFill>
          </p:spPr>
        </p:sp>
        <p:sp>
          <p:nvSpPr>
            <p:cNvPr name="TextBox 38" id="38"/>
            <p:cNvSpPr txBox="true"/>
            <p:nvPr/>
          </p:nvSpPr>
          <p:spPr>
            <a:xfrm>
              <a:off x="0" y="-38100"/>
              <a:ext cx="4452899" cy="2234590"/>
            </a:xfrm>
            <a:prstGeom prst="rect">
              <a:avLst/>
            </a:prstGeom>
          </p:spPr>
          <p:txBody>
            <a:bodyPr anchor="ctr" rtlCol="false" tIns="0" lIns="0" bIns="0" rIns="0"/>
            <a:lstStyle/>
            <a:p>
              <a:pPr algn="l">
                <a:lnSpc>
                  <a:spcPts val="2555"/>
                </a:lnSpc>
              </a:pPr>
              <a:r>
                <a:rPr lang="en-US" sz="1799">
                  <a:solidFill>
                    <a:srgbClr val="F2EFEB"/>
                  </a:solidFill>
                  <a:latin typeface="TT Commons Pro"/>
                  <a:ea typeface="TT Commons Pro"/>
                  <a:cs typeface="TT Commons Pro"/>
                  <a:sym typeface="TT Commons Pro"/>
                </a:rPr>
                <a:t>Distance from city center, high order volume and restaurant preparation time cause delays, affecting customer satisfaction.</a:t>
              </a:r>
            </a:p>
          </p:txBody>
        </p:sp>
      </p:grpSp>
      <p:grpSp>
        <p:nvGrpSpPr>
          <p:cNvPr name="Group 39" id="39"/>
          <p:cNvGrpSpPr/>
          <p:nvPr/>
        </p:nvGrpSpPr>
        <p:grpSpPr>
          <a:xfrm rot="0">
            <a:off x="700021" y="6351213"/>
            <a:ext cx="3058925" cy="505758"/>
            <a:chOff x="0" y="0"/>
            <a:chExt cx="4078567" cy="674345"/>
          </a:xfrm>
        </p:grpSpPr>
        <p:sp>
          <p:nvSpPr>
            <p:cNvPr name="Freeform 40" id="40"/>
            <p:cNvSpPr/>
            <p:nvPr/>
          </p:nvSpPr>
          <p:spPr>
            <a:xfrm flipH="false" flipV="false" rot="0">
              <a:off x="0" y="0"/>
              <a:ext cx="4078605" cy="674370"/>
            </a:xfrm>
            <a:custGeom>
              <a:avLst/>
              <a:gdLst/>
              <a:ahLst/>
              <a:cxnLst/>
              <a:rect r="r" b="b" t="t" l="l"/>
              <a:pathLst>
                <a:path h="674370" w="4078605">
                  <a:moveTo>
                    <a:pt x="0" y="0"/>
                  </a:moveTo>
                  <a:lnTo>
                    <a:pt x="4078605" y="0"/>
                  </a:lnTo>
                  <a:lnTo>
                    <a:pt x="4078605" y="674370"/>
                  </a:lnTo>
                  <a:lnTo>
                    <a:pt x="0" y="674370"/>
                  </a:lnTo>
                  <a:close/>
                </a:path>
              </a:pathLst>
            </a:custGeom>
            <a:blipFill>
              <a:blip r:embed="rId22">
                <a:alphaModFix amt="0"/>
              </a:blip>
              <a:stretch>
                <a:fillRect l="0" t="-67764" r="0" b="-67760"/>
              </a:stretch>
            </a:blipFill>
          </p:spPr>
        </p:sp>
      </p:grpSp>
      <p:grpSp>
        <p:nvGrpSpPr>
          <p:cNvPr name="Group 41" id="41"/>
          <p:cNvGrpSpPr/>
          <p:nvPr/>
        </p:nvGrpSpPr>
        <p:grpSpPr>
          <a:xfrm rot="0">
            <a:off x="700021" y="6365500"/>
            <a:ext cx="3058925" cy="505831"/>
            <a:chOff x="0" y="0"/>
            <a:chExt cx="4078567" cy="674442"/>
          </a:xfrm>
        </p:grpSpPr>
        <p:sp>
          <p:nvSpPr>
            <p:cNvPr name="Freeform 42" id="42"/>
            <p:cNvSpPr/>
            <p:nvPr/>
          </p:nvSpPr>
          <p:spPr>
            <a:xfrm flipH="false" flipV="false" rot="0">
              <a:off x="0" y="0"/>
              <a:ext cx="4078571" cy="674447"/>
            </a:xfrm>
            <a:custGeom>
              <a:avLst/>
              <a:gdLst/>
              <a:ahLst/>
              <a:cxnLst/>
              <a:rect r="r" b="b" t="t" l="l"/>
              <a:pathLst>
                <a:path h="674447" w="4078571">
                  <a:moveTo>
                    <a:pt x="0" y="0"/>
                  </a:moveTo>
                  <a:lnTo>
                    <a:pt x="4078571" y="0"/>
                  </a:lnTo>
                  <a:lnTo>
                    <a:pt x="4078571" y="674447"/>
                  </a:lnTo>
                  <a:lnTo>
                    <a:pt x="0" y="674447"/>
                  </a:lnTo>
                  <a:close/>
                </a:path>
              </a:pathLst>
            </a:custGeom>
            <a:blipFill>
              <a:blip r:embed="rId23">
                <a:alphaModFix amt="0"/>
              </a:blip>
              <a:stretch>
                <a:fillRect l="0" t="-69252" r="0" b="-66410"/>
              </a:stretch>
            </a:blipFill>
          </p:spPr>
        </p:sp>
        <p:sp>
          <p:nvSpPr>
            <p:cNvPr name="TextBox 43" id="43"/>
            <p:cNvSpPr txBox="true"/>
            <p:nvPr/>
          </p:nvSpPr>
          <p:spPr>
            <a:xfrm>
              <a:off x="0" y="19050"/>
              <a:ext cx="4078567" cy="655392"/>
            </a:xfrm>
            <a:prstGeom prst="rect">
              <a:avLst/>
            </a:prstGeom>
          </p:spPr>
          <p:txBody>
            <a:bodyPr anchor="ctr" rtlCol="false" tIns="0" lIns="0" bIns="0" rIns="0"/>
            <a:lstStyle/>
            <a:p>
              <a:pPr algn="l">
                <a:lnSpc>
                  <a:spcPts val="2583"/>
                </a:lnSpc>
              </a:pPr>
              <a:r>
                <a:rPr lang="en-US" sz="2354" b="true">
                  <a:solidFill>
                    <a:srgbClr val="EB6934"/>
                  </a:solidFill>
                  <a:latin typeface="TT Commons Pro Bold"/>
                  <a:ea typeface="TT Commons Pro Bold"/>
                  <a:cs typeface="TT Commons Pro Bold"/>
                  <a:sym typeface="TT Commons Pro Bold"/>
                </a:rPr>
                <a:t>1.Delivery Delays</a:t>
              </a:r>
            </a:p>
          </p:txBody>
        </p:sp>
      </p:grpSp>
      <p:grpSp>
        <p:nvGrpSpPr>
          <p:cNvPr name="Group 44" id="44"/>
          <p:cNvGrpSpPr/>
          <p:nvPr/>
        </p:nvGrpSpPr>
        <p:grpSpPr>
          <a:xfrm rot="0">
            <a:off x="14780609" y="371885"/>
            <a:ext cx="3011519" cy="4112609"/>
            <a:chOff x="0" y="0"/>
            <a:chExt cx="4015359" cy="5483479"/>
          </a:xfrm>
        </p:grpSpPr>
        <p:sp>
          <p:nvSpPr>
            <p:cNvPr name="Freeform 45" id="45" descr="preencoded.png"/>
            <p:cNvSpPr/>
            <p:nvPr/>
          </p:nvSpPr>
          <p:spPr>
            <a:xfrm flipH="false" flipV="false" rot="0">
              <a:off x="0" y="0"/>
              <a:ext cx="4015359" cy="5483479"/>
            </a:xfrm>
            <a:custGeom>
              <a:avLst/>
              <a:gdLst/>
              <a:ahLst/>
              <a:cxnLst/>
              <a:rect r="r" b="b" t="t" l="l"/>
              <a:pathLst>
                <a:path h="5483479" w="4015359">
                  <a:moveTo>
                    <a:pt x="0" y="0"/>
                  </a:moveTo>
                  <a:lnTo>
                    <a:pt x="4015359" y="0"/>
                  </a:lnTo>
                  <a:lnTo>
                    <a:pt x="4015359" y="5483479"/>
                  </a:lnTo>
                  <a:lnTo>
                    <a:pt x="0" y="5483479"/>
                  </a:lnTo>
                  <a:lnTo>
                    <a:pt x="0" y="0"/>
                  </a:lnTo>
                  <a:close/>
                </a:path>
              </a:pathLst>
            </a:custGeom>
            <a:blipFill>
              <a:blip r:embed="rId24"/>
              <a:stretch>
                <a:fillRect l="-1" t="0" r="-1" b="0"/>
              </a:stretch>
            </a:blipFill>
          </p:spPr>
        </p:sp>
      </p:grpSp>
      <p:grpSp>
        <p:nvGrpSpPr>
          <p:cNvPr name="Group 46" id="46"/>
          <p:cNvGrpSpPr/>
          <p:nvPr/>
        </p:nvGrpSpPr>
        <p:grpSpPr>
          <a:xfrm rot="0">
            <a:off x="16931716" y="2245890"/>
            <a:ext cx="765620" cy="838581"/>
            <a:chOff x="0" y="0"/>
            <a:chExt cx="1020826" cy="1118108"/>
          </a:xfrm>
        </p:grpSpPr>
        <p:sp>
          <p:nvSpPr>
            <p:cNvPr name="Freeform 47" id="47" descr="preencoded.png"/>
            <p:cNvSpPr/>
            <p:nvPr/>
          </p:nvSpPr>
          <p:spPr>
            <a:xfrm flipH="false" flipV="false" rot="0">
              <a:off x="0" y="0"/>
              <a:ext cx="1020826" cy="1118108"/>
            </a:xfrm>
            <a:custGeom>
              <a:avLst/>
              <a:gdLst/>
              <a:ahLst/>
              <a:cxnLst/>
              <a:rect r="r" b="b" t="t" l="l"/>
              <a:pathLst>
                <a:path h="1118108" w="1020826">
                  <a:moveTo>
                    <a:pt x="0" y="0"/>
                  </a:moveTo>
                  <a:lnTo>
                    <a:pt x="1020826" y="0"/>
                  </a:lnTo>
                  <a:lnTo>
                    <a:pt x="1020826" y="1118108"/>
                  </a:lnTo>
                  <a:lnTo>
                    <a:pt x="0" y="1118108"/>
                  </a:lnTo>
                  <a:lnTo>
                    <a:pt x="0" y="0"/>
                  </a:lnTo>
                  <a:close/>
                </a:path>
              </a:pathLst>
            </a:custGeom>
            <a:blipFill>
              <a:blip r:embed="rId25"/>
              <a:stretch>
                <a:fillRect l="-26" t="0" r="-24" b="0"/>
              </a:stretch>
            </a:blipFill>
          </p:spPr>
        </p:sp>
      </p:grpSp>
      <p:grpSp>
        <p:nvGrpSpPr>
          <p:cNvPr name="Group 48" id="48"/>
          <p:cNvGrpSpPr/>
          <p:nvPr/>
        </p:nvGrpSpPr>
        <p:grpSpPr>
          <a:xfrm rot="0">
            <a:off x="13139947" y="298971"/>
            <a:ext cx="1946910" cy="1874044"/>
            <a:chOff x="0" y="0"/>
            <a:chExt cx="2595880" cy="2498725"/>
          </a:xfrm>
        </p:grpSpPr>
        <p:sp>
          <p:nvSpPr>
            <p:cNvPr name="Freeform 49" id="49" descr="preencoded.png"/>
            <p:cNvSpPr/>
            <p:nvPr/>
          </p:nvSpPr>
          <p:spPr>
            <a:xfrm flipH="false" flipV="false" rot="0">
              <a:off x="0" y="0"/>
              <a:ext cx="2595880" cy="2498725"/>
            </a:xfrm>
            <a:custGeom>
              <a:avLst/>
              <a:gdLst/>
              <a:ahLst/>
              <a:cxnLst/>
              <a:rect r="r" b="b" t="t" l="l"/>
              <a:pathLst>
                <a:path h="2498725" w="2595880">
                  <a:moveTo>
                    <a:pt x="0" y="0"/>
                  </a:moveTo>
                  <a:lnTo>
                    <a:pt x="2595880" y="0"/>
                  </a:lnTo>
                  <a:lnTo>
                    <a:pt x="2595880" y="2498725"/>
                  </a:lnTo>
                  <a:lnTo>
                    <a:pt x="0" y="2498725"/>
                  </a:lnTo>
                  <a:lnTo>
                    <a:pt x="0" y="0"/>
                  </a:lnTo>
                  <a:close/>
                </a:path>
              </a:pathLst>
            </a:custGeom>
            <a:blipFill>
              <a:blip r:embed="rId26"/>
              <a:stretch>
                <a:fillRect l="0" t="-4" r="0" b="-4"/>
              </a:stretch>
            </a:blipFill>
          </p:spPr>
        </p:sp>
      </p:grpSp>
      <p:grpSp>
        <p:nvGrpSpPr>
          <p:cNvPr name="Group 50" id="50"/>
          <p:cNvGrpSpPr/>
          <p:nvPr/>
        </p:nvGrpSpPr>
        <p:grpSpPr>
          <a:xfrm rot="0">
            <a:off x="13334095" y="765639"/>
            <a:ext cx="1793624" cy="769134"/>
            <a:chOff x="0" y="0"/>
            <a:chExt cx="2391499" cy="1025512"/>
          </a:xfrm>
        </p:grpSpPr>
        <p:sp>
          <p:nvSpPr>
            <p:cNvPr name="Freeform 51" id="51"/>
            <p:cNvSpPr/>
            <p:nvPr/>
          </p:nvSpPr>
          <p:spPr>
            <a:xfrm flipH="false" flipV="false" rot="0">
              <a:off x="0" y="0"/>
              <a:ext cx="2391537" cy="1025525"/>
            </a:xfrm>
            <a:custGeom>
              <a:avLst/>
              <a:gdLst/>
              <a:ahLst/>
              <a:cxnLst/>
              <a:rect r="r" b="b" t="t" l="l"/>
              <a:pathLst>
                <a:path h="1025525" w="2391537">
                  <a:moveTo>
                    <a:pt x="0" y="0"/>
                  </a:moveTo>
                  <a:lnTo>
                    <a:pt x="2391537" y="0"/>
                  </a:lnTo>
                  <a:lnTo>
                    <a:pt x="2391537" y="1025525"/>
                  </a:lnTo>
                  <a:lnTo>
                    <a:pt x="0" y="1025525"/>
                  </a:lnTo>
                  <a:close/>
                </a:path>
              </a:pathLst>
            </a:custGeom>
            <a:blipFill>
              <a:blip r:embed="rId22">
                <a:alphaModFix amt="0"/>
              </a:blip>
              <a:stretch>
                <a:fillRect l="-5056" t="0" r="-5055" b="1"/>
              </a:stretch>
            </a:blipFill>
          </p:spPr>
        </p:sp>
      </p:grpSp>
      <p:grpSp>
        <p:nvGrpSpPr>
          <p:cNvPr name="Group 52" id="52"/>
          <p:cNvGrpSpPr/>
          <p:nvPr/>
        </p:nvGrpSpPr>
        <p:grpSpPr>
          <a:xfrm rot="0">
            <a:off x="13334095" y="858507"/>
            <a:ext cx="1793624" cy="676265"/>
            <a:chOff x="0" y="0"/>
            <a:chExt cx="2391499" cy="901687"/>
          </a:xfrm>
        </p:grpSpPr>
        <p:sp>
          <p:nvSpPr>
            <p:cNvPr name="Freeform 53" id="53"/>
            <p:cNvSpPr/>
            <p:nvPr/>
          </p:nvSpPr>
          <p:spPr>
            <a:xfrm flipH="false" flipV="false" rot="0">
              <a:off x="0" y="0"/>
              <a:ext cx="2391499" cy="901682"/>
            </a:xfrm>
            <a:custGeom>
              <a:avLst/>
              <a:gdLst/>
              <a:ahLst/>
              <a:cxnLst/>
              <a:rect r="r" b="b" t="t" l="l"/>
              <a:pathLst>
                <a:path h="901682" w="2391499">
                  <a:moveTo>
                    <a:pt x="0" y="0"/>
                  </a:moveTo>
                  <a:lnTo>
                    <a:pt x="2391499" y="0"/>
                  </a:lnTo>
                  <a:lnTo>
                    <a:pt x="2391499" y="901682"/>
                  </a:lnTo>
                  <a:lnTo>
                    <a:pt x="0" y="901682"/>
                  </a:lnTo>
                  <a:close/>
                </a:path>
              </a:pathLst>
            </a:custGeom>
            <a:blipFill>
              <a:blip r:embed="rId23">
                <a:alphaModFix amt="0"/>
              </a:blip>
              <a:stretch>
                <a:fillRect l="0" t="-1679" r="0" b="-1679"/>
              </a:stretch>
            </a:blipFill>
          </p:spPr>
        </p:sp>
        <p:sp>
          <p:nvSpPr>
            <p:cNvPr name="TextBox 54" id="54"/>
            <p:cNvSpPr txBox="true"/>
            <p:nvPr/>
          </p:nvSpPr>
          <p:spPr>
            <a:xfrm>
              <a:off x="0" y="123825"/>
              <a:ext cx="2391499" cy="777862"/>
            </a:xfrm>
            <a:prstGeom prst="rect">
              <a:avLst/>
            </a:prstGeom>
          </p:spPr>
          <p:txBody>
            <a:bodyPr anchor="ctr" rtlCol="false" tIns="0" lIns="0" bIns="0" rIns="0"/>
            <a:lstStyle/>
            <a:p>
              <a:pPr algn="l">
                <a:lnSpc>
                  <a:spcPts val="2915"/>
                </a:lnSpc>
              </a:pPr>
              <a:r>
                <a:rPr lang="en-US" b="true" sz="3588" i="true">
                  <a:solidFill>
                    <a:srgbClr val="F1C6C8"/>
                  </a:solidFill>
                  <a:latin typeface="TT Commons Pro Bold Italics"/>
                  <a:ea typeface="TT Commons Pro Bold Italics"/>
                  <a:cs typeface="TT Commons Pro Bold Italics"/>
                  <a:sym typeface="TT Commons Pro Bold Italics"/>
                </a:rPr>
                <a:t>zomato</a:t>
              </a:r>
            </a:p>
          </p:txBody>
        </p:sp>
      </p:grpSp>
      <p:grpSp>
        <p:nvGrpSpPr>
          <p:cNvPr name="Group 55" id="55"/>
          <p:cNvGrpSpPr/>
          <p:nvPr/>
        </p:nvGrpSpPr>
        <p:grpSpPr>
          <a:xfrm rot="0">
            <a:off x="9457553" y="4005920"/>
            <a:ext cx="408337" cy="408337"/>
            <a:chOff x="0" y="0"/>
            <a:chExt cx="544449" cy="544449"/>
          </a:xfrm>
        </p:grpSpPr>
        <p:sp>
          <p:nvSpPr>
            <p:cNvPr name="Freeform 56" id="56" descr="preencoded.png"/>
            <p:cNvSpPr/>
            <p:nvPr/>
          </p:nvSpPr>
          <p:spPr>
            <a:xfrm flipH="false" flipV="false" rot="0">
              <a:off x="0" y="0"/>
              <a:ext cx="544449" cy="544449"/>
            </a:xfrm>
            <a:custGeom>
              <a:avLst/>
              <a:gdLst/>
              <a:ahLst/>
              <a:cxnLst/>
              <a:rect r="r" b="b" t="t" l="l"/>
              <a:pathLst>
                <a:path h="544449" w="544449">
                  <a:moveTo>
                    <a:pt x="0" y="0"/>
                  </a:moveTo>
                  <a:lnTo>
                    <a:pt x="544449" y="0"/>
                  </a:lnTo>
                  <a:lnTo>
                    <a:pt x="544449" y="544449"/>
                  </a:lnTo>
                  <a:lnTo>
                    <a:pt x="0" y="544449"/>
                  </a:lnTo>
                  <a:lnTo>
                    <a:pt x="0" y="0"/>
                  </a:lnTo>
                  <a:close/>
                </a:path>
              </a:pathLst>
            </a:custGeom>
            <a:blipFill>
              <a:blip r:embed="rId27"/>
              <a:stretch>
                <a:fillRect l="0" t="0" r="0" b="0"/>
              </a:stretch>
            </a:blipFill>
          </p:spPr>
        </p:sp>
      </p:grpSp>
      <p:grpSp>
        <p:nvGrpSpPr>
          <p:cNvPr name="Group 57" id="57"/>
          <p:cNvGrpSpPr/>
          <p:nvPr/>
        </p:nvGrpSpPr>
        <p:grpSpPr>
          <a:xfrm rot="0">
            <a:off x="9457553" y="3500095"/>
            <a:ext cx="408337" cy="401098"/>
            <a:chOff x="0" y="0"/>
            <a:chExt cx="544449" cy="534797"/>
          </a:xfrm>
        </p:grpSpPr>
        <p:sp>
          <p:nvSpPr>
            <p:cNvPr name="Freeform 58" id="58" descr="preencoded.png"/>
            <p:cNvSpPr/>
            <p:nvPr/>
          </p:nvSpPr>
          <p:spPr>
            <a:xfrm flipH="false" flipV="false" rot="0">
              <a:off x="0" y="0"/>
              <a:ext cx="544449" cy="534797"/>
            </a:xfrm>
            <a:custGeom>
              <a:avLst/>
              <a:gdLst/>
              <a:ahLst/>
              <a:cxnLst/>
              <a:rect r="r" b="b" t="t" l="l"/>
              <a:pathLst>
                <a:path h="534797" w="544449">
                  <a:moveTo>
                    <a:pt x="0" y="0"/>
                  </a:moveTo>
                  <a:lnTo>
                    <a:pt x="544449" y="0"/>
                  </a:lnTo>
                  <a:lnTo>
                    <a:pt x="544449" y="534797"/>
                  </a:lnTo>
                  <a:lnTo>
                    <a:pt x="0" y="534797"/>
                  </a:lnTo>
                  <a:lnTo>
                    <a:pt x="0" y="0"/>
                  </a:lnTo>
                  <a:close/>
                </a:path>
              </a:pathLst>
            </a:custGeom>
            <a:blipFill>
              <a:blip r:embed="rId28"/>
              <a:stretch>
                <a:fillRect l="0" t="-163" r="0" b="-166"/>
              </a:stretch>
            </a:blipFill>
          </p:spPr>
        </p:sp>
      </p:grpSp>
      <p:grpSp>
        <p:nvGrpSpPr>
          <p:cNvPr name="Group 59" id="59"/>
          <p:cNvGrpSpPr/>
          <p:nvPr/>
        </p:nvGrpSpPr>
        <p:grpSpPr>
          <a:xfrm rot="0">
            <a:off x="9457553" y="2989669"/>
            <a:ext cx="408337" cy="401098"/>
            <a:chOff x="0" y="0"/>
            <a:chExt cx="544449" cy="534797"/>
          </a:xfrm>
        </p:grpSpPr>
        <p:sp>
          <p:nvSpPr>
            <p:cNvPr name="Freeform 60" id="60" descr="preencoded.png"/>
            <p:cNvSpPr/>
            <p:nvPr/>
          </p:nvSpPr>
          <p:spPr>
            <a:xfrm flipH="false" flipV="false" rot="0">
              <a:off x="0" y="0"/>
              <a:ext cx="544449" cy="534797"/>
            </a:xfrm>
            <a:custGeom>
              <a:avLst/>
              <a:gdLst/>
              <a:ahLst/>
              <a:cxnLst/>
              <a:rect r="r" b="b" t="t" l="l"/>
              <a:pathLst>
                <a:path h="534797" w="544449">
                  <a:moveTo>
                    <a:pt x="0" y="0"/>
                  </a:moveTo>
                  <a:lnTo>
                    <a:pt x="544449" y="0"/>
                  </a:lnTo>
                  <a:lnTo>
                    <a:pt x="544449" y="534797"/>
                  </a:lnTo>
                  <a:lnTo>
                    <a:pt x="0" y="534797"/>
                  </a:lnTo>
                  <a:lnTo>
                    <a:pt x="0" y="0"/>
                  </a:lnTo>
                  <a:close/>
                </a:path>
              </a:pathLst>
            </a:custGeom>
            <a:blipFill>
              <a:blip r:embed="rId29"/>
              <a:stretch>
                <a:fillRect l="0" t="-163" r="0" b="-166"/>
              </a:stretch>
            </a:blipFill>
          </p:spPr>
        </p:sp>
      </p:grpSp>
      <p:grpSp>
        <p:nvGrpSpPr>
          <p:cNvPr name="Group 61" id="61"/>
          <p:cNvGrpSpPr/>
          <p:nvPr/>
        </p:nvGrpSpPr>
        <p:grpSpPr>
          <a:xfrm rot="0">
            <a:off x="422929" y="1895885"/>
            <a:ext cx="794766" cy="58293"/>
            <a:chOff x="0" y="0"/>
            <a:chExt cx="1059688" cy="77724"/>
          </a:xfrm>
        </p:grpSpPr>
        <p:sp>
          <p:nvSpPr>
            <p:cNvPr name="Freeform 62" id="62" descr="preencoded.png"/>
            <p:cNvSpPr/>
            <p:nvPr/>
          </p:nvSpPr>
          <p:spPr>
            <a:xfrm flipH="false" flipV="false" rot="0">
              <a:off x="0" y="0"/>
              <a:ext cx="1059688" cy="77724"/>
            </a:xfrm>
            <a:custGeom>
              <a:avLst/>
              <a:gdLst/>
              <a:ahLst/>
              <a:cxnLst/>
              <a:rect r="r" b="b" t="t" l="l"/>
              <a:pathLst>
                <a:path h="77724" w="1059688">
                  <a:moveTo>
                    <a:pt x="0" y="0"/>
                  </a:moveTo>
                  <a:lnTo>
                    <a:pt x="1059688" y="0"/>
                  </a:lnTo>
                  <a:lnTo>
                    <a:pt x="1059688" y="77724"/>
                  </a:lnTo>
                  <a:lnTo>
                    <a:pt x="0" y="77724"/>
                  </a:lnTo>
                  <a:lnTo>
                    <a:pt x="0" y="0"/>
                  </a:lnTo>
                  <a:close/>
                </a:path>
              </a:pathLst>
            </a:custGeom>
            <a:blipFill>
              <a:blip r:embed="rId30"/>
              <a:stretch>
                <a:fillRect l="0" t="-5081" r="0" b="-5098"/>
              </a:stretch>
            </a:blipFill>
          </p:spPr>
        </p:sp>
      </p:grpSp>
      <p:grpSp>
        <p:nvGrpSpPr>
          <p:cNvPr name="Group 63" id="63"/>
          <p:cNvGrpSpPr/>
          <p:nvPr/>
        </p:nvGrpSpPr>
        <p:grpSpPr>
          <a:xfrm rot="0">
            <a:off x="12250331" y="998982"/>
            <a:ext cx="794766" cy="787527"/>
            <a:chOff x="0" y="0"/>
            <a:chExt cx="1059688" cy="1050036"/>
          </a:xfrm>
        </p:grpSpPr>
        <p:sp>
          <p:nvSpPr>
            <p:cNvPr name="Freeform 64" id="64" descr="preencoded.png"/>
            <p:cNvSpPr/>
            <p:nvPr/>
          </p:nvSpPr>
          <p:spPr>
            <a:xfrm flipH="false" flipV="false" rot="0">
              <a:off x="0" y="0"/>
              <a:ext cx="1059688" cy="1050036"/>
            </a:xfrm>
            <a:custGeom>
              <a:avLst/>
              <a:gdLst/>
              <a:ahLst/>
              <a:cxnLst/>
              <a:rect r="r" b="b" t="t" l="l"/>
              <a:pathLst>
                <a:path h="1050036" w="1059688">
                  <a:moveTo>
                    <a:pt x="0" y="0"/>
                  </a:moveTo>
                  <a:lnTo>
                    <a:pt x="1059688" y="0"/>
                  </a:lnTo>
                  <a:lnTo>
                    <a:pt x="1059688" y="1050036"/>
                  </a:lnTo>
                  <a:lnTo>
                    <a:pt x="0" y="1050036"/>
                  </a:lnTo>
                  <a:lnTo>
                    <a:pt x="0" y="0"/>
                  </a:lnTo>
                  <a:close/>
                </a:path>
              </a:pathLst>
            </a:custGeom>
            <a:blipFill>
              <a:blip r:embed="rId31"/>
              <a:stretch>
                <a:fillRect l="-50" t="0" r="-50" b="0"/>
              </a:stretch>
            </a:blipFill>
          </p:spPr>
        </p:sp>
      </p:grpSp>
      <p:grpSp>
        <p:nvGrpSpPr>
          <p:cNvPr name="Group 65" id="65"/>
          <p:cNvGrpSpPr/>
          <p:nvPr/>
        </p:nvGrpSpPr>
        <p:grpSpPr>
          <a:xfrm rot="0">
            <a:off x="10048199" y="371885"/>
            <a:ext cx="1961483" cy="1874044"/>
            <a:chOff x="0" y="0"/>
            <a:chExt cx="2615311" cy="2498725"/>
          </a:xfrm>
        </p:grpSpPr>
        <p:sp>
          <p:nvSpPr>
            <p:cNvPr name="Freeform 66" id="66" descr="preencoded.png"/>
            <p:cNvSpPr/>
            <p:nvPr/>
          </p:nvSpPr>
          <p:spPr>
            <a:xfrm flipH="false" flipV="false" rot="0">
              <a:off x="0" y="0"/>
              <a:ext cx="2615311" cy="2498725"/>
            </a:xfrm>
            <a:custGeom>
              <a:avLst/>
              <a:gdLst/>
              <a:ahLst/>
              <a:cxnLst/>
              <a:rect r="r" b="b" t="t" l="l"/>
              <a:pathLst>
                <a:path h="2498725" w="2615311">
                  <a:moveTo>
                    <a:pt x="0" y="0"/>
                  </a:moveTo>
                  <a:lnTo>
                    <a:pt x="2615311" y="0"/>
                  </a:lnTo>
                  <a:lnTo>
                    <a:pt x="2615311" y="2498725"/>
                  </a:lnTo>
                  <a:lnTo>
                    <a:pt x="0" y="2498725"/>
                  </a:lnTo>
                  <a:lnTo>
                    <a:pt x="0" y="0"/>
                  </a:lnTo>
                  <a:close/>
                </a:path>
              </a:pathLst>
            </a:custGeom>
            <a:blipFill>
              <a:blip r:embed="rId32"/>
              <a:stretch>
                <a:fillRect l="-35" t="0" r="-36" b="0"/>
              </a:stretch>
            </a:blipFill>
          </p:spPr>
        </p:sp>
      </p:grpSp>
      <p:grpSp>
        <p:nvGrpSpPr>
          <p:cNvPr name="Group 67" id="67"/>
          <p:cNvGrpSpPr/>
          <p:nvPr/>
        </p:nvGrpSpPr>
        <p:grpSpPr>
          <a:xfrm rot="0">
            <a:off x="415633" y="743769"/>
            <a:ext cx="802100" cy="43720"/>
            <a:chOff x="0" y="0"/>
            <a:chExt cx="1069467" cy="58293"/>
          </a:xfrm>
        </p:grpSpPr>
        <p:sp>
          <p:nvSpPr>
            <p:cNvPr name="Freeform 68" id="68" descr="preencoded.png"/>
            <p:cNvSpPr/>
            <p:nvPr/>
          </p:nvSpPr>
          <p:spPr>
            <a:xfrm flipH="false" flipV="false" rot="0">
              <a:off x="0" y="0"/>
              <a:ext cx="1069467" cy="58293"/>
            </a:xfrm>
            <a:custGeom>
              <a:avLst/>
              <a:gdLst/>
              <a:ahLst/>
              <a:cxnLst/>
              <a:rect r="r" b="b" t="t" l="l"/>
              <a:pathLst>
                <a:path h="58293" w="1069467">
                  <a:moveTo>
                    <a:pt x="0" y="0"/>
                  </a:moveTo>
                  <a:lnTo>
                    <a:pt x="1069467" y="0"/>
                  </a:lnTo>
                  <a:lnTo>
                    <a:pt x="1069467" y="58293"/>
                  </a:lnTo>
                  <a:lnTo>
                    <a:pt x="0" y="58293"/>
                  </a:lnTo>
                  <a:lnTo>
                    <a:pt x="0" y="0"/>
                  </a:lnTo>
                  <a:close/>
                </a:path>
              </a:pathLst>
            </a:custGeom>
            <a:blipFill>
              <a:blip r:embed="rId33"/>
              <a:stretch>
                <a:fillRect l="0" t="-43" r="0" b="-21"/>
              </a:stretch>
            </a:blipFill>
          </p:spPr>
        </p:sp>
      </p:grpSp>
      <p:grpSp>
        <p:nvGrpSpPr>
          <p:cNvPr name="Group 69" id="69"/>
          <p:cNvGrpSpPr/>
          <p:nvPr/>
        </p:nvGrpSpPr>
        <p:grpSpPr>
          <a:xfrm rot="0">
            <a:off x="132521" y="1842811"/>
            <a:ext cx="8406251" cy="2690260"/>
            <a:chOff x="0" y="0"/>
            <a:chExt cx="11208334" cy="3587013"/>
          </a:xfrm>
        </p:grpSpPr>
        <p:sp>
          <p:nvSpPr>
            <p:cNvPr name="Freeform 70" id="70"/>
            <p:cNvSpPr/>
            <p:nvPr/>
          </p:nvSpPr>
          <p:spPr>
            <a:xfrm flipH="false" flipV="false" rot="0">
              <a:off x="0" y="0"/>
              <a:ext cx="11208385" cy="3586988"/>
            </a:xfrm>
            <a:custGeom>
              <a:avLst/>
              <a:gdLst/>
              <a:ahLst/>
              <a:cxnLst/>
              <a:rect r="r" b="b" t="t" l="l"/>
              <a:pathLst>
                <a:path h="3586988" w="11208385">
                  <a:moveTo>
                    <a:pt x="0" y="0"/>
                  </a:moveTo>
                  <a:lnTo>
                    <a:pt x="11208385" y="0"/>
                  </a:lnTo>
                  <a:lnTo>
                    <a:pt x="11208385" y="3586988"/>
                  </a:lnTo>
                  <a:lnTo>
                    <a:pt x="0" y="3586988"/>
                  </a:lnTo>
                  <a:close/>
                </a:path>
              </a:pathLst>
            </a:custGeom>
            <a:blipFill>
              <a:blip r:embed="rId22">
                <a:alphaModFix amt="0"/>
              </a:blip>
              <a:stretch>
                <a:fillRect l="0" t="-10842" r="0" b="-10843"/>
              </a:stretch>
            </a:blipFill>
          </p:spPr>
        </p:sp>
      </p:grpSp>
      <p:grpSp>
        <p:nvGrpSpPr>
          <p:cNvPr name="Group 71" id="71"/>
          <p:cNvGrpSpPr/>
          <p:nvPr/>
        </p:nvGrpSpPr>
        <p:grpSpPr>
          <a:xfrm rot="0">
            <a:off x="132521" y="1814236"/>
            <a:ext cx="8406251" cy="2718864"/>
            <a:chOff x="0" y="0"/>
            <a:chExt cx="11208334" cy="3625152"/>
          </a:xfrm>
        </p:grpSpPr>
        <p:sp>
          <p:nvSpPr>
            <p:cNvPr name="Freeform 72" id="72"/>
            <p:cNvSpPr/>
            <p:nvPr/>
          </p:nvSpPr>
          <p:spPr>
            <a:xfrm flipH="false" flipV="false" rot="0">
              <a:off x="0" y="0"/>
              <a:ext cx="11208334" cy="3625154"/>
            </a:xfrm>
            <a:custGeom>
              <a:avLst/>
              <a:gdLst/>
              <a:ahLst/>
              <a:cxnLst/>
              <a:rect r="r" b="b" t="t" l="l"/>
              <a:pathLst>
                <a:path h="3625154" w="11208334">
                  <a:moveTo>
                    <a:pt x="0" y="0"/>
                  </a:moveTo>
                  <a:lnTo>
                    <a:pt x="11208334" y="0"/>
                  </a:lnTo>
                  <a:lnTo>
                    <a:pt x="11208334" y="3625154"/>
                  </a:lnTo>
                  <a:lnTo>
                    <a:pt x="0" y="3625154"/>
                  </a:lnTo>
                  <a:close/>
                </a:path>
              </a:pathLst>
            </a:custGeom>
            <a:blipFill>
              <a:blip r:embed="rId23">
                <a:alphaModFix amt="0"/>
              </a:blip>
              <a:stretch>
                <a:fillRect l="0" t="-10244" r="0" b="-10244"/>
              </a:stretch>
            </a:blipFill>
          </p:spPr>
        </p:sp>
        <p:sp>
          <p:nvSpPr>
            <p:cNvPr name="TextBox 73" id="73"/>
            <p:cNvSpPr txBox="true"/>
            <p:nvPr/>
          </p:nvSpPr>
          <p:spPr>
            <a:xfrm>
              <a:off x="0" y="-38100"/>
              <a:ext cx="11208334" cy="3663252"/>
            </a:xfrm>
            <a:prstGeom prst="rect">
              <a:avLst/>
            </a:prstGeom>
          </p:spPr>
          <p:txBody>
            <a:bodyPr anchor="ctr" rtlCol="false" tIns="0" lIns="0" bIns="0" rIns="0"/>
            <a:lstStyle/>
            <a:p>
              <a:pPr algn="l">
                <a:lnSpc>
                  <a:spcPts val="3399"/>
                </a:lnSpc>
              </a:pPr>
              <a:r>
                <a:rPr lang="en-US" sz="2499">
                  <a:solidFill>
                    <a:srgbClr val="F2EFEB"/>
                  </a:solidFill>
                  <a:latin typeface="TT Commons Pro"/>
                  <a:ea typeface="TT Commons Pro"/>
                  <a:cs typeface="TT Commons Pro"/>
                  <a:sym typeface="TT Commons Pro"/>
                </a:rPr>
                <a:t>Despite the growth of online food delivery, users and restaurants still face sevaeral challenges that impacts convenience, cost-effeiciency and overall satisfaction.</a:t>
              </a:r>
            </a:p>
            <a:p>
              <a:pPr algn="l">
                <a:lnSpc>
                  <a:spcPts val="3399"/>
                </a:lnSpc>
              </a:pPr>
              <a:r>
                <a:rPr lang="en-US" sz="2499">
                  <a:solidFill>
                    <a:srgbClr val="F2EFEB"/>
                  </a:solidFill>
                  <a:latin typeface="TT Commons Pro"/>
                  <a:ea typeface="TT Commons Pro"/>
                  <a:cs typeface="TT Commons Pro"/>
                  <a:sym typeface="TT Commons Pro"/>
                </a:rPr>
                <a:t> This project aims to identify these challenges and compare how </a:t>
              </a:r>
              <a:r>
                <a:rPr lang="en-US" sz="2499">
                  <a:solidFill>
                    <a:srgbClr val="C07A35"/>
                  </a:solidFill>
                  <a:latin typeface="TT Commons Pro"/>
                  <a:ea typeface="TT Commons Pro"/>
                  <a:cs typeface="TT Commons Pro"/>
                  <a:sym typeface="TT Commons Pro"/>
                </a:rPr>
                <a:t>Swiggy</a:t>
              </a:r>
              <a:r>
                <a:rPr lang="en-US" sz="2499">
                  <a:solidFill>
                    <a:srgbClr val="F2EFEB"/>
                  </a:solidFill>
                  <a:latin typeface="TT Commons Pro"/>
                  <a:ea typeface="TT Commons Pro"/>
                  <a:cs typeface="TT Commons Pro"/>
                  <a:sym typeface="TT Commons Pro"/>
                </a:rPr>
                <a:t> and </a:t>
              </a:r>
              <a:r>
                <a:rPr lang="en-US" sz="2499">
                  <a:solidFill>
                    <a:srgbClr val="CF0B23"/>
                  </a:solidFill>
                  <a:latin typeface="TT Commons Pro"/>
                  <a:ea typeface="TT Commons Pro"/>
                  <a:cs typeface="TT Commons Pro"/>
                  <a:sym typeface="TT Commons Pro"/>
                </a:rPr>
                <a:t>Zomato</a:t>
              </a:r>
              <a:r>
                <a:rPr lang="en-US" sz="2499">
                  <a:solidFill>
                    <a:srgbClr val="F2EFEB"/>
                  </a:solidFill>
                  <a:latin typeface="TT Commons Pro"/>
                  <a:ea typeface="TT Commons Pro"/>
                  <a:cs typeface="TT Commons Pro"/>
                  <a:sym typeface="TT Commons Pro"/>
                </a:rPr>
                <a:t> address them.</a:t>
              </a:r>
            </a:p>
          </p:txBody>
        </p:sp>
      </p:grpSp>
      <p:grpSp>
        <p:nvGrpSpPr>
          <p:cNvPr name="Group 74" id="74"/>
          <p:cNvGrpSpPr/>
          <p:nvPr/>
        </p:nvGrpSpPr>
        <p:grpSpPr>
          <a:xfrm rot="0">
            <a:off x="9947929" y="4022055"/>
            <a:ext cx="3974068" cy="387325"/>
            <a:chOff x="0" y="0"/>
            <a:chExt cx="5298758" cy="516433"/>
          </a:xfrm>
        </p:grpSpPr>
        <p:sp>
          <p:nvSpPr>
            <p:cNvPr name="Freeform 75" id="75"/>
            <p:cNvSpPr/>
            <p:nvPr/>
          </p:nvSpPr>
          <p:spPr>
            <a:xfrm flipH="false" flipV="false" rot="0">
              <a:off x="0" y="0"/>
              <a:ext cx="5298694" cy="516382"/>
            </a:xfrm>
            <a:custGeom>
              <a:avLst/>
              <a:gdLst/>
              <a:ahLst/>
              <a:cxnLst/>
              <a:rect r="r" b="b" t="t" l="l"/>
              <a:pathLst>
                <a:path h="516382" w="5298694">
                  <a:moveTo>
                    <a:pt x="0" y="0"/>
                  </a:moveTo>
                  <a:lnTo>
                    <a:pt x="5298694" y="0"/>
                  </a:lnTo>
                  <a:lnTo>
                    <a:pt x="5298694" y="516382"/>
                  </a:lnTo>
                  <a:lnTo>
                    <a:pt x="0" y="516382"/>
                  </a:lnTo>
                  <a:close/>
                </a:path>
              </a:pathLst>
            </a:custGeom>
            <a:blipFill>
              <a:blip r:embed="rId22">
                <a:alphaModFix amt="0"/>
              </a:blip>
              <a:stretch>
                <a:fillRect l="0" t="-149798" r="-1" b="-149808"/>
              </a:stretch>
            </a:blipFill>
          </p:spPr>
        </p:sp>
      </p:grpSp>
      <p:grpSp>
        <p:nvGrpSpPr>
          <p:cNvPr name="Group 76" id="76"/>
          <p:cNvGrpSpPr/>
          <p:nvPr/>
        </p:nvGrpSpPr>
        <p:grpSpPr>
          <a:xfrm rot="0">
            <a:off x="9947929" y="4022055"/>
            <a:ext cx="3974068" cy="387325"/>
            <a:chOff x="0" y="0"/>
            <a:chExt cx="5298758" cy="516433"/>
          </a:xfrm>
        </p:grpSpPr>
        <p:sp>
          <p:nvSpPr>
            <p:cNvPr name="Freeform 77" id="77"/>
            <p:cNvSpPr/>
            <p:nvPr/>
          </p:nvSpPr>
          <p:spPr>
            <a:xfrm flipH="false" flipV="false" rot="0">
              <a:off x="0" y="0"/>
              <a:ext cx="5298757" cy="516433"/>
            </a:xfrm>
            <a:custGeom>
              <a:avLst/>
              <a:gdLst/>
              <a:ahLst/>
              <a:cxnLst/>
              <a:rect r="r" b="b" t="t" l="l"/>
              <a:pathLst>
                <a:path h="516433" w="5298757">
                  <a:moveTo>
                    <a:pt x="0" y="0"/>
                  </a:moveTo>
                  <a:lnTo>
                    <a:pt x="5298757" y="0"/>
                  </a:lnTo>
                  <a:lnTo>
                    <a:pt x="5298757" y="516433"/>
                  </a:lnTo>
                  <a:lnTo>
                    <a:pt x="0" y="516433"/>
                  </a:lnTo>
                  <a:close/>
                </a:path>
              </a:pathLst>
            </a:custGeom>
            <a:blipFill>
              <a:blip r:embed="rId23">
                <a:alphaModFix amt="0"/>
              </a:blip>
              <a:stretch>
                <a:fillRect l="0" t="-149922" r="0" b="-149922"/>
              </a:stretch>
            </a:blipFill>
          </p:spPr>
        </p:sp>
        <p:sp>
          <p:nvSpPr>
            <p:cNvPr name="TextBox 78" id="78"/>
            <p:cNvSpPr txBox="true"/>
            <p:nvPr/>
          </p:nvSpPr>
          <p:spPr>
            <a:xfrm>
              <a:off x="0" y="0"/>
              <a:ext cx="5298758" cy="516433"/>
            </a:xfrm>
            <a:prstGeom prst="rect">
              <a:avLst/>
            </a:prstGeom>
          </p:spPr>
          <p:txBody>
            <a:bodyPr anchor="ctr" rtlCol="false" tIns="0" lIns="0" bIns="0" rIns="0"/>
            <a:lstStyle/>
            <a:p>
              <a:pPr algn="l">
                <a:lnSpc>
                  <a:spcPts val="2196"/>
                </a:lnSpc>
              </a:pPr>
              <a:r>
                <a:rPr lang="en-US" sz="1800">
                  <a:solidFill>
                    <a:srgbClr val="F2EFEB"/>
                  </a:solidFill>
                  <a:latin typeface="TT Commons Pro"/>
                  <a:ea typeface="TT Commons Pro"/>
                  <a:cs typeface="TT Commons Pro"/>
                  <a:sym typeface="TT Commons Pro"/>
                </a:rPr>
                <a:t>Orders, Profit &amp; Market Share Analysis</a:t>
              </a:r>
            </a:p>
          </p:txBody>
        </p:sp>
      </p:grpSp>
      <p:grpSp>
        <p:nvGrpSpPr>
          <p:cNvPr name="Group 79" id="79"/>
          <p:cNvGrpSpPr/>
          <p:nvPr/>
        </p:nvGrpSpPr>
        <p:grpSpPr>
          <a:xfrm rot="0">
            <a:off x="9989858" y="3362144"/>
            <a:ext cx="6154341" cy="706850"/>
            <a:chOff x="0" y="0"/>
            <a:chExt cx="8205788" cy="942467"/>
          </a:xfrm>
        </p:grpSpPr>
        <p:sp>
          <p:nvSpPr>
            <p:cNvPr name="Freeform 80" id="80"/>
            <p:cNvSpPr/>
            <p:nvPr/>
          </p:nvSpPr>
          <p:spPr>
            <a:xfrm flipH="false" flipV="false" rot="0">
              <a:off x="0" y="0"/>
              <a:ext cx="8205851" cy="942467"/>
            </a:xfrm>
            <a:custGeom>
              <a:avLst/>
              <a:gdLst/>
              <a:ahLst/>
              <a:cxnLst/>
              <a:rect r="r" b="b" t="t" l="l"/>
              <a:pathLst>
                <a:path h="942467" w="8205851">
                  <a:moveTo>
                    <a:pt x="0" y="0"/>
                  </a:moveTo>
                  <a:lnTo>
                    <a:pt x="8205851" y="0"/>
                  </a:lnTo>
                  <a:lnTo>
                    <a:pt x="8205851" y="942467"/>
                  </a:lnTo>
                  <a:lnTo>
                    <a:pt x="0" y="942467"/>
                  </a:lnTo>
                  <a:close/>
                </a:path>
              </a:pathLst>
            </a:custGeom>
            <a:blipFill>
              <a:blip r:embed="rId22">
                <a:alphaModFix amt="0"/>
              </a:blip>
              <a:stretch>
                <a:fillRect l="0" t="-119532" r="0" b="-119532"/>
              </a:stretch>
            </a:blipFill>
          </p:spPr>
        </p:sp>
      </p:grpSp>
      <p:grpSp>
        <p:nvGrpSpPr>
          <p:cNvPr name="Group 81" id="81"/>
          <p:cNvGrpSpPr/>
          <p:nvPr/>
        </p:nvGrpSpPr>
        <p:grpSpPr>
          <a:xfrm rot="0">
            <a:off x="9989858" y="3362144"/>
            <a:ext cx="6154341" cy="706850"/>
            <a:chOff x="0" y="0"/>
            <a:chExt cx="8205788" cy="942467"/>
          </a:xfrm>
        </p:grpSpPr>
        <p:sp>
          <p:nvSpPr>
            <p:cNvPr name="Freeform 82" id="82"/>
            <p:cNvSpPr/>
            <p:nvPr/>
          </p:nvSpPr>
          <p:spPr>
            <a:xfrm flipH="false" flipV="false" rot="0">
              <a:off x="0" y="0"/>
              <a:ext cx="8205788" cy="942467"/>
            </a:xfrm>
            <a:custGeom>
              <a:avLst/>
              <a:gdLst/>
              <a:ahLst/>
              <a:cxnLst/>
              <a:rect r="r" b="b" t="t" l="l"/>
              <a:pathLst>
                <a:path h="942467" w="8205788">
                  <a:moveTo>
                    <a:pt x="0" y="0"/>
                  </a:moveTo>
                  <a:lnTo>
                    <a:pt x="8205788" y="0"/>
                  </a:lnTo>
                  <a:lnTo>
                    <a:pt x="8205788" y="942467"/>
                  </a:lnTo>
                  <a:lnTo>
                    <a:pt x="0" y="942467"/>
                  </a:lnTo>
                  <a:close/>
                </a:path>
              </a:pathLst>
            </a:custGeom>
            <a:blipFill>
              <a:blip r:embed="rId23">
                <a:alphaModFix amt="0"/>
              </a:blip>
              <a:stretch>
                <a:fillRect l="0" t="-119650" r="0" b="-119650"/>
              </a:stretch>
            </a:blipFill>
          </p:spPr>
        </p:sp>
        <p:sp>
          <p:nvSpPr>
            <p:cNvPr name="TextBox 83" id="83"/>
            <p:cNvSpPr txBox="true"/>
            <p:nvPr/>
          </p:nvSpPr>
          <p:spPr>
            <a:xfrm>
              <a:off x="0" y="0"/>
              <a:ext cx="8205788" cy="942467"/>
            </a:xfrm>
            <a:prstGeom prst="rect">
              <a:avLst/>
            </a:prstGeom>
          </p:spPr>
          <p:txBody>
            <a:bodyPr anchor="ctr" rtlCol="false" tIns="0" lIns="0" bIns="0" rIns="0"/>
            <a:lstStyle/>
            <a:p>
              <a:pPr algn="l">
                <a:lnSpc>
                  <a:spcPts val="2194"/>
                </a:lnSpc>
              </a:pPr>
              <a:r>
                <a:rPr lang="en-US" sz="1798">
                  <a:solidFill>
                    <a:srgbClr val="F2EFEB"/>
                  </a:solidFill>
                  <a:latin typeface="TT Commons Pro"/>
                  <a:ea typeface="TT Commons Pro"/>
                  <a:cs typeface="TT Commons Pro"/>
                  <a:sym typeface="TT Commons Pro"/>
                </a:rPr>
                <a:t>Delivery Time, Ratings &amp; Revenue </a:t>
              </a:r>
            </a:p>
            <a:p>
              <a:pPr algn="l">
                <a:lnSpc>
                  <a:spcPts val="2194"/>
                </a:lnSpc>
              </a:pPr>
              <a:r>
                <a:rPr lang="en-US" sz="1798">
                  <a:solidFill>
                    <a:srgbClr val="F2EFEB"/>
                  </a:solidFill>
                  <a:latin typeface="TT Commons Pro"/>
                  <a:ea typeface="TT Commons Pro"/>
                  <a:cs typeface="TT Commons Pro"/>
                  <a:sym typeface="TT Commons Pro"/>
                </a:rPr>
                <a:t>Comparison</a:t>
              </a:r>
            </a:p>
          </p:txBody>
        </p:sp>
      </p:grpSp>
      <p:grpSp>
        <p:nvGrpSpPr>
          <p:cNvPr name="Group 84" id="84"/>
          <p:cNvGrpSpPr/>
          <p:nvPr/>
        </p:nvGrpSpPr>
        <p:grpSpPr>
          <a:xfrm rot="0">
            <a:off x="9989858" y="2970495"/>
            <a:ext cx="6274651" cy="529609"/>
            <a:chOff x="0" y="0"/>
            <a:chExt cx="8366201" cy="706145"/>
          </a:xfrm>
        </p:grpSpPr>
        <p:sp>
          <p:nvSpPr>
            <p:cNvPr name="Freeform 85" id="85"/>
            <p:cNvSpPr/>
            <p:nvPr/>
          </p:nvSpPr>
          <p:spPr>
            <a:xfrm flipH="false" flipV="false" rot="0">
              <a:off x="0" y="0"/>
              <a:ext cx="8366252" cy="706120"/>
            </a:xfrm>
            <a:custGeom>
              <a:avLst/>
              <a:gdLst/>
              <a:ahLst/>
              <a:cxnLst/>
              <a:rect r="r" b="b" t="t" l="l"/>
              <a:pathLst>
                <a:path h="706120" w="8366252">
                  <a:moveTo>
                    <a:pt x="0" y="0"/>
                  </a:moveTo>
                  <a:lnTo>
                    <a:pt x="8366252" y="0"/>
                  </a:lnTo>
                  <a:lnTo>
                    <a:pt x="8366252" y="706120"/>
                  </a:lnTo>
                  <a:lnTo>
                    <a:pt x="0" y="706120"/>
                  </a:lnTo>
                  <a:close/>
                </a:path>
              </a:pathLst>
            </a:custGeom>
            <a:blipFill>
              <a:blip r:embed="rId22">
                <a:alphaModFix amt="0"/>
              </a:blip>
              <a:stretch>
                <a:fillRect l="0" t="-180699" r="0" b="-180701"/>
              </a:stretch>
            </a:blipFill>
          </p:spPr>
        </p:sp>
      </p:grpSp>
      <p:grpSp>
        <p:nvGrpSpPr>
          <p:cNvPr name="Group 86" id="86"/>
          <p:cNvGrpSpPr/>
          <p:nvPr/>
        </p:nvGrpSpPr>
        <p:grpSpPr>
          <a:xfrm rot="0">
            <a:off x="9989858" y="2970495"/>
            <a:ext cx="6274651" cy="529600"/>
            <a:chOff x="0" y="0"/>
            <a:chExt cx="8366201" cy="706133"/>
          </a:xfrm>
        </p:grpSpPr>
        <p:sp>
          <p:nvSpPr>
            <p:cNvPr name="Freeform 87" id="87"/>
            <p:cNvSpPr/>
            <p:nvPr/>
          </p:nvSpPr>
          <p:spPr>
            <a:xfrm flipH="false" flipV="false" rot="0">
              <a:off x="0" y="0"/>
              <a:ext cx="8366201" cy="706137"/>
            </a:xfrm>
            <a:custGeom>
              <a:avLst/>
              <a:gdLst/>
              <a:ahLst/>
              <a:cxnLst/>
              <a:rect r="r" b="b" t="t" l="l"/>
              <a:pathLst>
                <a:path h="706137" w="8366201">
                  <a:moveTo>
                    <a:pt x="0" y="0"/>
                  </a:moveTo>
                  <a:lnTo>
                    <a:pt x="8366201" y="0"/>
                  </a:lnTo>
                  <a:lnTo>
                    <a:pt x="8366201" y="706137"/>
                  </a:lnTo>
                  <a:lnTo>
                    <a:pt x="0" y="706137"/>
                  </a:lnTo>
                  <a:close/>
                </a:path>
              </a:pathLst>
            </a:custGeom>
            <a:blipFill>
              <a:blip r:embed="rId23">
                <a:alphaModFix amt="0"/>
              </a:blip>
              <a:stretch>
                <a:fillRect l="0" t="-180855" r="0" b="-180855"/>
              </a:stretch>
            </a:blipFill>
          </p:spPr>
        </p:sp>
        <p:sp>
          <p:nvSpPr>
            <p:cNvPr name="TextBox 88" id="88"/>
            <p:cNvSpPr txBox="true"/>
            <p:nvPr/>
          </p:nvSpPr>
          <p:spPr>
            <a:xfrm>
              <a:off x="0" y="0"/>
              <a:ext cx="8366201" cy="706133"/>
            </a:xfrm>
            <a:prstGeom prst="rect">
              <a:avLst/>
            </a:prstGeom>
          </p:spPr>
          <p:txBody>
            <a:bodyPr anchor="ctr" rtlCol="false" tIns="0" lIns="0" bIns="0" rIns="0"/>
            <a:lstStyle/>
            <a:p>
              <a:pPr algn="l">
                <a:lnSpc>
                  <a:spcPts val="2196"/>
                </a:lnSpc>
              </a:pPr>
              <a:r>
                <a:rPr lang="en-US" sz="1800">
                  <a:solidFill>
                    <a:srgbClr val="F2EFEB"/>
                  </a:solidFill>
                  <a:latin typeface="TT Commons Pro"/>
                  <a:ea typeface="TT Commons Pro"/>
                  <a:cs typeface="TT Commons Pro"/>
                  <a:sym typeface="TT Commons Pro"/>
                </a:rPr>
                <a:t>Restaurant-wise Platform Analysis</a:t>
              </a:r>
            </a:p>
          </p:txBody>
        </p:sp>
      </p:grpSp>
      <p:grpSp>
        <p:nvGrpSpPr>
          <p:cNvPr name="Group 89" id="89"/>
          <p:cNvGrpSpPr/>
          <p:nvPr/>
        </p:nvGrpSpPr>
        <p:grpSpPr>
          <a:xfrm rot="0">
            <a:off x="9661731" y="2533536"/>
            <a:ext cx="4546473" cy="521646"/>
            <a:chOff x="0" y="0"/>
            <a:chExt cx="6061964" cy="695528"/>
          </a:xfrm>
        </p:grpSpPr>
        <p:sp>
          <p:nvSpPr>
            <p:cNvPr name="Freeform 90" id="90"/>
            <p:cNvSpPr/>
            <p:nvPr/>
          </p:nvSpPr>
          <p:spPr>
            <a:xfrm flipH="false" flipV="false" rot="0">
              <a:off x="0" y="0"/>
              <a:ext cx="6061964" cy="695579"/>
            </a:xfrm>
            <a:custGeom>
              <a:avLst/>
              <a:gdLst/>
              <a:ahLst/>
              <a:cxnLst/>
              <a:rect r="r" b="b" t="t" l="l"/>
              <a:pathLst>
                <a:path h="695579" w="6061964">
                  <a:moveTo>
                    <a:pt x="0" y="0"/>
                  </a:moveTo>
                  <a:lnTo>
                    <a:pt x="6061964" y="0"/>
                  </a:lnTo>
                  <a:lnTo>
                    <a:pt x="6061964" y="695579"/>
                  </a:lnTo>
                  <a:lnTo>
                    <a:pt x="0" y="695579"/>
                  </a:lnTo>
                  <a:close/>
                </a:path>
              </a:pathLst>
            </a:custGeom>
            <a:blipFill>
              <a:blip r:embed="rId22">
                <a:alphaModFix amt="0"/>
              </a:blip>
              <a:stretch>
                <a:fillRect l="0" t="-119696" r="0" b="-119691"/>
              </a:stretch>
            </a:blipFill>
          </p:spPr>
        </p:sp>
      </p:grpSp>
      <p:grpSp>
        <p:nvGrpSpPr>
          <p:cNvPr name="Group 91" id="91"/>
          <p:cNvGrpSpPr/>
          <p:nvPr/>
        </p:nvGrpSpPr>
        <p:grpSpPr>
          <a:xfrm rot="0">
            <a:off x="9661731" y="2554967"/>
            <a:ext cx="4546483" cy="500215"/>
            <a:chOff x="0" y="0"/>
            <a:chExt cx="6061977" cy="666953"/>
          </a:xfrm>
        </p:grpSpPr>
        <p:sp>
          <p:nvSpPr>
            <p:cNvPr name="Freeform 92" id="92"/>
            <p:cNvSpPr/>
            <p:nvPr/>
          </p:nvSpPr>
          <p:spPr>
            <a:xfrm flipH="false" flipV="false" rot="0">
              <a:off x="0" y="0"/>
              <a:ext cx="6061971" cy="666948"/>
            </a:xfrm>
            <a:custGeom>
              <a:avLst/>
              <a:gdLst/>
              <a:ahLst/>
              <a:cxnLst/>
              <a:rect r="r" b="b" t="t" l="l"/>
              <a:pathLst>
                <a:path h="666948" w="6061971">
                  <a:moveTo>
                    <a:pt x="0" y="0"/>
                  </a:moveTo>
                  <a:lnTo>
                    <a:pt x="6061971" y="0"/>
                  </a:lnTo>
                  <a:lnTo>
                    <a:pt x="6061971" y="666948"/>
                  </a:lnTo>
                  <a:lnTo>
                    <a:pt x="0" y="666948"/>
                  </a:lnTo>
                  <a:close/>
                </a:path>
              </a:pathLst>
            </a:custGeom>
            <a:blipFill>
              <a:blip r:embed="rId23">
                <a:alphaModFix amt="0"/>
              </a:blip>
              <a:stretch>
                <a:fillRect l="0" t="-127101" r="0" b="-127102"/>
              </a:stretch>
            </a:blipFill>
          </p:spPr>
        </p:sp>
        <p:sp>
          <p:nvSpPr>
            <p:cNvPr name="TextBox 93" id="93"/>
            <p:cNvSpPr txBox="true"/>
            <p:nvPr/>
          </p:nvSpPr>
          <p:spPr>
            <a:xfrm>
              <a:off x="0" y="28575"/>
              <a:ext cx="6061977" cy="638378"/>
            </a:xfrm>
            <a:prstGeom prst="rect">
              <a:avLst/>
            </a:prstGeom>
          </p:spPr>
          <p:txBody>
            <a:bodyPr anchor="ctr" rtlCol="false" tIns="0" lIns="0" bIns="0" rIns="0"/>
            <a:lstStyle/>
            <a:p>
              <a:pPr algn="l">
                <a:lnSpc>
                  <a:spcPts val="2693"/>
                </a:lnSpc>
              </a:pPr>
              <a:r>
                <a:rPr lang="en-US" sz="2447" b="true">
                  <a:solidFill>
                    <a:srgbClr val="A5511A"/>
                  </a:solidFill>
                  <a:latin typeface="TT Commons Pro Bold"/>
                  <a:ea typeface="TT Commons Pro Bold"/>
                  <a:cs typeface="TT Commons Pro Bold"/>
                  <a:sym typeface="TT Commons Pro Bold"/>
                </a:rPr>
                <a:t>Dataset-Based Comparison</a:t>
              </a:r>
            </a:p>
          </p:txBody>
        </p:sp>
      </p:grpSp>
      <p:grpSp>
        <p:nvGrpSpPr>
          <p:cNvPr name="Group 94" id="94"/>
          <p:cNvGrpSpPr/>
          <p:nvPr/>
        </p:nvGrpSpPr>
        <p:grpSpPr>
          <a:xfrm rot="0">
            <a:off x="12403465" y="1181281"/>
            <a:ext cx="517722" cy="638451"/>
            <a:chOff x="0" y="0"/>
            <a:chExt cx="690296" cy="851268"/>
          </a:xfrm>
        </p:grpSpPr>
        <p:sp>
          <p:nvSpPr>
            <p:cNvPr name="Freeform 95" id="95"/>
            <p:cNvSpPr/>
            <p:nvPr/>
          </p:nvSpPr>
          <p:spPr>
            <a:xfrm flipH="false" flipV="false" rot="0">
              <a:off x="0" y="0"/>
              <a:ext cx="690245" cy="851281"/>
            </a:xfrm>
            <a:custGeom>
              <a:avLst/>
              <a:gdLst/>
              <a:ahLst/>
              <a:cxnLst/>
              <a:rect r="r" b="b" t="t" l="l"/>
              <a:pathLst>
                <a:path h="851281" w="690245">
                  <a:moveTo>
                    <a:pt x="0" y="0"/>
                  </a:moveTo>
                  <a:lnTo>
                    <a:pt x="690245" y="0"/>
                  </a:lnTo>
                  <a:lnTo>
                    <a:pt x="690245" y="851281"/>
                  </a:lnTo>
                  <a:lnTo>
                    <a:pt x="0" y="851281"/>
                  </a:lnTo>
                  <a:close/>
                </a:path>
              </a:pathLst>
            </a:custGeom>
            <a:blipFill>
              <a:blip r:embed="rId22">
                <a:alphaModFix amt="0"/>
              </a:blip>
              <a:stretch>
                <a:fillRect l="-108340" t="0" r="-108347" b="1"/>
              </a:stretch>
            </a:blipFill>
          </p:spPr>
        </p:sp>
      </p:grpSp>
      <p:grpSp>
        <p:nvGrpSpPr>
          <p:cNvPr name="Group 96" id="96"/>
          <p:cNvGrpSpPr/>
          <p:nvPr/>
        </p:nvGrpSpPr>
        <p:grpSpPr>
          <a:xfrm rot="0">
            <a:off x="12403465" y="1274150"/>
            <a:ext cx="517722" cy="545573"/>
            <a:chOff x="0" y="0"/>
            <a:chExt cx="690296" cy="727431"/>
          </a:xfrm>
        </p:grpSpPr>
        <p:sp>
          <p:nvSpPr>
            <p:cNvPr name="Freeform 97" id="97"/>
            <p:cNvSpPr/>
            <p:nvPr/>
          </p:nvSpPr>
          <p:spPr>
            <a:xfrm flipH="false" flipV="false" rot="0">
              <a:off x="0" y="0"/>
              <a:ext cx="690296" cy="727436"/>
            </a:xfrm>
            <a:custGeom>
              <a:avLst/>
              <a:gdLst/>
              <a:ahLst/>
              <a:cxnLst/>
              <a:rect r="r" b="b" t="t" l="l"/>
              <a:pathLst>
                <a:path h="727436" w="690296">
                  <a:moveTo>
                    <a:pt x="0" y="0"/>
                  </a:moveTo>
                  <a:lnTo>
                    <a:pt x="690296" y="0"/>
                  </a:lnTo>
                  <a:lnTo>
                    <a:pt x="690296" y="727436"/>
                  </a:lnTo>
                  <a:lnTo>
                    <a:pt x="0" y="727436"/>
                  </a:lnTo>
                  <a:close/>
                </a:path>
              </a:pathLst>
            </a:custGeom>
            <a:blipFill>
              <a:blip r:embed="rId23">
                <a:alphaModFix amt="0"/>
              </a:blip>
              <a:stretch>
                <a:fillRect l="-85205" t="0" r="-85205" b="0"/>
              </a:stretch>
            </a:blipFill>
          </p:spPr>
        </p:sp>
        <p:sp>
          <p:nvSpPr>
            <p:cNvPr name="TextBox 98" id="98"/>
            <p:cNvSpPr txBox="true"/>
            <p:nvPr/>
          </p:nvSpPr>
          <p:spPr>
            <a:xfrm>
              <a:off x="0" y="123825"/>
              <a:ext cx="690296" cy="603606"/>
            </a:xfrm>
            <a:prstGeom prst="rect">
              <a:avLst/>
            </a:prstGeom>
          </p:spPr>
          <p:txBody>
            <a:bodyPr anchor="ctr" rtlCol="false" tIns="0" lIns="0" bIns="0" rIns="0"/>
            <a:lstStyle/>
            <a:p>
              <a:pPr algn="l">
                <a:lnSpc>
                  <a:spcPts val="2278"/>
                </a:lnSpc>
              </a:pPr>
              <a:r>
                <a:rPr lang="en-US" sz="2963">
                  <a:solidFill>
                    <a:srgbClr val="C2C2C2"/>
                  </a:solidFill>
                  <a:latin typeface="TT Commons Pro"/>
                  <a:ea typeface="TT Commons Pro"/>
                  <a:cs typeface="TT Commons Pro"/>
                  <a:sym typeface="TT Commons Pro"/>
                </a:rPr>
                <a:t>VS</a:t>
              </a:r>
            </a:p>
          </p:txBody>
        </p:sp>
      </p:grpSp>
      <p:grpSp>
        <p:nvGrpSpPr>
          <p:cNvPr name="Group 99" id="99"/>
          <p:cNvGrpSpPr/>
          <p:nvPr/>
        </p:nvGrpSpPr>
        <p:grpSpPr>
          <a:xfrm rot="0">
            <a:off x="10303545" y="1538383"/>
            <a:ext cx="1632461" cy="571548"/>
            <a:chOff x="0" y="0"/>
            <a:chExt cx="2176615" cy="762064"/>
          </a:xfrm>
        </p:grpSpPr>
        <p:sp>
          <p:nvSpPr>
            <p:cNvPr name="Freeform 100" id="100"/>
            <p:cNvSpPr/>
            <p:nvPr/>
          </p:nvSpPr>
          <p:spPr>
            <a:xfrm flipH="false" flipV="false" rot="0">
              <a:off x="0" y="0"/>
              <a:ext cx="2176653" cy="762000"/>
            </a:xfrm>
            <a:custGeom>
              <a:avLst/>
              <a:gdLst/>
              <a:ahLst/>
              <a:cxnLst/>
              <a:rect r="r" b="b" t="t" l="l"/>
              <a:pathLst>
                <a:path h="762000" w="2176653">
                  <a:moveTo>
                    <a:pt x="0" y="0"/>
                  </a:moveTo>
                  <a:lnTo>
                    <a:pt x="2176653" y="0"/>
                  </a:lnTo>
                  <a:lnTo>
                    <a:pt x="2176653" y="762000"/>
                  </a:lnTo>
                  <a:lnTo>
                    <a:pt x="0" y="762000"/>
                  </a:lnTo>
                  <a:close/>
                </a:path>
              </a:pathLst>
            </a:custGeom>
            <a:blipFill>
              <a:blip r:embed="rId22">
                <a:alphaModFix amt="0"/>
              </a:blip>
              <a:stretch>
                <a:fillRect l="0" t="-5615" r="1" b="-5623"/>
              </a:stretch>
            </a:blipFill>
          </p:spPr>
        </p:sp>
      </p:grpSp>
      <p:grpSp>
        <p:nvGrpSpPr>
          <p:cNvPr name="Group 101" id="101"/>
          <p:cNvGrpSpPr/>
          <p:nvPr/>
        </p:nvGrpSpPr>
        <p:grpSpPr>
          <a:xfrm rot="0">
            <a:off x="10303545" y="1602676"/>
            <a:ext cx="1632461" cy="507254"/>
            <a:chOff x="0" y="0"/>
            <a:chExt cx="2176615" cy="676338"/>
          </a:xfrm>
        </p:grpSpPr>
        <p:sp>
          <p:nvSpPr>
            <p:cNvPr name="Freeform 102" id="102"/>
            <p:cNvSpPr/>
            <p:nvPr/>
          </p:nvSpPr>
          <p:spPr>
            <a:xfrm flipH="false" flipV="false" rot="0">
              <a:off x="0" y="0"/>
              <a:ext cx="2176615" cy="676332"/>
            </a:xfrm>
            <a:custGeom>
              <a:avLst/>
              <a:gdLst/>
              <a:ahLst/>
              <a:cxnLst/>
              <a:rect r="r" b="b" t="t" l="l"/>
              <a:pathLst>
                <a:path h="676332" w="2176615">
                  <a:moveTo>
                    <a:pt x="0" y="0"/>
                  </a:moveTo>
                  <a:lnTo>
                    <a:pt x="2176615" y="0"/>
                  </a:lnTo>
                  <a:lnTo>
                    <a:pt x="2176615" y="676332"/>
                  </a:lnTo>
                  <a:lnTo>
                    <a:pt x="0" y="676332"/>
                  </a:lnTo>
                  <a:close/>
                </a:path>
              </a:pathLst>
            </a:custGeom>
            <a:blipFill>
              <a:blip r:embed="rId23">
                <a:alphaModFix amt="0"/>
              </a:blip>
              <a:stretch>
                <a:fillRect l="0" t="-12707" r="0" b="-12708"/>
              </a:stretch>
            </a:blipFill>
          </p:spPr>
        </p:sp>
        <p:sp>
          <p:nvSpPr>
            <p:cNvPr name="TextBox 103" id="103"/>
            <p:cNvSpPr txBox="true"/>
            <p:nvPr/>
          </p:nvSpPr>
          <p:spPr>
            <a:xfrm>
              <a:off x="0" y="85725"/>
              <a:ext cx="2176615" cy="590613"/>
            </a:xfrm>
            <a:prstGeom prst="rect">
              <a:avLst/>
            </a:prstGeom>
          </p:spPr>
          <p:txBody>
            <a:bodyPr anchor="ctr" rtlCol="false" tIns="0" lIns="0" bIns="0" rIns="0"/>
            <a:lstStyle/>
            <a:p>
              <a:pPr algn="l">
                <a:lnSpc>
                  <a:spcPts val="2239"/>
                </a:lnSpc>
              </a:pPr>
              <a:r>
                <a:rPr lang="en-US" sz="2675" b="true">
                  <a:solidFill>
                    <a:srgbClr val="EEBF9E"/>
                  </a:solidFill>
                  <a:latin typeface="TT Commons Pro Bold"/>
                  <a:ea typeface="TT Commons Pro Bold"/>
                  <a:cs typeface="TT Commons Pro Bold"/>
                  <a:sym typeface="TT Commons Pro Bold"/>
                </a:rPr>
                <a:t>SWIGGY</a:t>
              </a:r>
            </a:p>
          </p:txBody>
        </p:sp>
      </p:grpSp>
      <p:grpSp>
        <p:nvGrpSpPr>
          <p:cNvPr name="Group 104" id="104"/>
          <p:cNvGrpSpPr/>
          <p:nvPr/>
        </p:nvGrpSpPr>
        <p:grpSpPr>
          <a:xfrm rot="0">
            <a:off x="3480178" y="714537"/>
            <a:ext cx="4884591" cy="1395384"/>
            <a:chOff x="0" y="0"/>
            <a:chExt cx="6512789" cy="1860512"/>
          </a:xfrm>
        </p:grpSpPr>
        <p:sp>
          <p:nvSpPr>
            <p:cNvPr name="Freeform 105" id="105"/>
            <p:cNvSpPr/>
            <p:nvPr/>
          </p:nvSpPr>
          <p:spPr>
            <a:xfrm flipH="false" flipV="false" rot="0">
              <a:off x="0" y="0"/>
              <a:ext cx="6512814" cy="1860550"/>
            </a:xfrm>
            <a:custGeom>
              <a:avLst/>
              <a:gdLst/>
              <a:ahLst/>
              <a:cxnLst/>
              <a:rect r="r" b="b" t="t" l="l"/>
              <a:pathLst>
                <a:path h="1860550" w="6512814">
                  <a:moveTo>
                    <a:pt x="0" y="0"/>
                  </a:moveTo>
                  <a:lnTo>
                    <a:pt x="6512814" y="0"/>
                  </a:lnTo>
                  <a:lnTo>
                    <a:pt x="6512814" y="1860550"/>
                  </a:lnTo>
                  <a:lnTo>
                    <a:pt x="0" y="1860550"/>
                  </a:lnTo>
                  <a:close/>
                </a:path>
              </a:pathLst>
            </a:custGeom>
            <a:blipFill>
              <a:blip r:embed="rId22">
                <a:alphaModFix amt="0"/>
              </a:blip>
              <a:stretch>
                <a:fillRect l="0" t="-18160" r="0" b="-18158"/>
              </a:stretch>
            </a:blipFill>
          </p:spPr>
        </p:sp>
      </p:grpSp>
      <p:grpSp>
        <p:nvGrpSpPr>
          <p:cNvPr name="Group 106" id="106"/>
          <p:cNvGrpSpPr/>
          <p:nvPr/>
        </p:nvGrpSpPr>
        <p:grpSpPr>
          <a:xfrm rot="0">
            <a:off x="3480178" y="885987"/>
            <a:ext cx="4884591" cy="1223943"/>
            <a:chOff x="0" y="0"/>
            <a:chExt cx="6512789" cy="1631925"/>
          </a:xfrm>
        </p:grpSpPr>
        <p:sp>
          <p:nvSpPr>
            <p:cNvPr name="Freeform 107" id="107"/>
            <p:cNvSpPr/>
            <p:nvPr/>
          </p:nvSpPr>
          <p:spPr>
            <a:xfrm flipH="false" flipV="false" rot="0">
              <a:off x="0" y="0"/>
              <a:ext cx="6512789" cy="1631920"/>
            </a:xfrm>
            <a:custGeom>
              <a:avLst/>
              <a:gdLst/>
              <a:ahLst/>
              <a:cxnLst/>
              <a:rect r="r" b="b" t="t" l="l"/>
              <a:pathLst>
                <a:path h="1631920" w="6512789">
                  <a:moveTo>
                    <a:pt x="0" y="0"/>
                  </a:moveTo>
                  <a:lnTo>
                    <a:pt x="6512789" y="0"/>
                  </a:lnTo>
                  <a:lnTo>
                    <a:pt x="6512789" y="1631920"/>
                  </a:lnTo>
                  <a:lnTo>
                    <a:pt x="0" y="1631920"/>
                  </a:lnTo>
                  <a:close/>
                </a:path>
              </a:pathLst>
            </a:custGeom>
            <a:blipFill>
              <a:blip r:embed="rId23">
                <a:alphaModFix amt="0"/>
              </a:blip>
              <a:stretch>
                <a:fillRect l="0" t="-27762" r="0" b="-27762"/>
              </a:stretch>
            </a:blipFill>
          </p:spPr>
        </p:sp>
        <p:sp>
          <p:nvSpPr>
            <p:cNvPr name="TextBox 108" id="108"/>
            <p:cNvSpPr txBox="true"/>
            <p:nvPr/>
          </p:nvSpPr>
          <p:spPr>
            <a:xfrm>
              <a:off x="0" y="228600"/>
              <a:ext cx="6512789" cy="1403325"/>
            </a:xfrm>
            <a:prstGeom prst="rect">
              <a:avLst/>
            </a:prstGeom>
          </p:spPr>
          <p:txBody>
            <a:bodyPr anchor="ctr" rtlCol="false" tIns="0" lIns="0" bIns="0" rIns="0"/>
            <a:lstStyle/>
            <a:p>
              <a:pPr algn="l">
                <a:lnSpc>
                  <a:spcPts val="5397"/>
                </a:lnSpc>
              </a:pPr>
              <a:r>
                <a:rPr lang="en-US" sz="6482" b="true">
                  <a:solidFill>
                    <a:srgbClr val="CD4114"/>
                  </a:solidFill>
                  <a:latin typeface="TT Commons Pro Bold"/>
                  <a:ea typeface="TT Commons Pro Bold"/>
                  <a:cs typeface="TT Commons Pro Bold"/>
                  <a:sym typeface="TT Commons Pro Bold"/>
                </a:rPr>
                <a:t>Statement</a:t>
              </a:r>
            </a:p>
          </p:txBody>
        </p:sp>
      </p:grpSp>
      <p:grpSp>
        <p:nvGrpSpPr>
          <p:cNvPr name="Group 109" id="109"/>
          <p:cNvGrpSpPr/>
          <p:nvPr/>
        </p:nvGrpSpPr>
        <p:grpSpPr>
          <a:xfrm rot="0">
            <a:off x="288026" y="730682"/>
            <a:ext cx="3470929" cy="1294228"/>
            <a:chOff x="0" y="0"/>
            <a:chExt cx="4627905" cy="1725638"/>
          </a:xfrm>
        </p:grpSpPr>
        <p:sp>
          <p:nvSpPr>
            <p:cNvPr name="Freeform 110" id="110"/>
            <p:cNvSpPr/>
            <p:nvPr/>
          </p:nvSpPr>
          <p:spPr>
            <a:xfrm flipH="false" flipV="false" rot="0">
              <a:off x="0" y="0"/>
              <a:ext cx="4627880" cy="1725676"/>
            </a:xfrm>
            <a:custGeom>
              <a:avLst/>
              <a:gdLst/>
              <a:ahLst/>
              <a:cxnLst/>
              <a:rect r="r" b="b" t="t" l="l"/>
              <a:pathLst>
                <a:path h="1725676" w="4627880">
                  <a:moveTo>
                    <a:pt x="0" y="0"/>
                  </a:moveTo>
                  <a:lnTo>
                    <a:pt x="4627880" y="0"/>
                  </a:lnTo>
                  <a:lnTo>
                    <a:pt x="4627880" y="1725676"/>
                  </a:lnTo>
                  <a:lnTo>
                    <a:pt x="0" y="1725676"/>
                  </a:lnTo>
                  <a:close/>
                </a:path>
              </a:pathLst>
            </a:custGeom>
            <a:blipFill>
              <a:blip r:embed="rId22">
                <a:alphaModFix amt="0"/>
              </a:blip>
              <a:stretch>
                <a:fillRect l="0" t="-2219" r="0" b="-2217"/>
              </a:stretch>
            </a:blipFill>
          </p:spPr>
        </p:sp>
      </p:grpSp>
      <p:grpSp>
        <p:nvGrpSpPr>
          <p:cNvPr name="Group 111" id="111"/>
          <p:cNvGrpSpPr/>
          <p:nvPr/>
        </p:nvGrpSpPr>
        <p:grpSpPr>
          <a:xfrm rot="0">
            <a:off x="288026" y="866413"/>
            <a:ext cx="3470920" cy="1158507"/>
            <a:chOff x="0" y="0"/>
            <a:chExt cx="4627893" cy="1544676"/>
          </a:xfrm>
        </p:grpSpPr>
        <p:sp>
          <p:nvSpPr>
            <p:cNvPr name="Freeform 112" id="112"/>
            <p:cNvSpPr/>
            <p:nvPr/>
          </p:nvSpPr>
          <p:spPr>
            <a:xfrm flipH="false" flipV="false" rot="0">
              <a:off x="0" y="0"/>
              <a:ext cx="4627899" cy="1544672"/>
            </a:xfrm>
            <a:custGeom>
              <a:avLst/>
              <a:gdLst/>
              <a:ahLst/>
              <a:cxnLst/>
              <a:rect r="r" b="b" t="t" l="l"/>
              <a:pathLst>
                <a:path h="1544672" w="4627899">
                  <a:moveTo>
                    <a:pt x="0" y="0"/>
                  </a:moveTo>
                  <a:lnTo>
                    <a:pt x="4627899" y="0"/>
                  </a:lnTo>
                  <a:lnTo>
                    <a:pt x="4627899" y="1544672"/>
                  </a:lnTo>
                  <a:lnTo>
                    <a:pt x="0" y="1544672"/>
                  </a:lnTo>
                  <a:close/>
                </a:path>
              </a:pathLst>
            </a:custGeom>
            <a:blipFill>
              <a:blip r:embed="rId23">
                <a:alphaModFix amt="0"/>
              </a:blip>
              <a:stretch>
                <a:fillRect l="0" t="-8377" r="0" b="-8378"/>
              </a:stretch>
            </a:blipFill>
          </p:spPr>
        </p:sp>
        <p:sp>
          <p:nvSpPr>
            <p:cNvPr name="TextBox 113" id="113"/>
            <p:cNvSpPr txBox="true"/>
            <p:nvPr/>
          </p:nvSpPr>
          <p:spPr>
            <a:xfrm>
              <a:off x="0" y="180975"/>
              <a:ext cx="4627893" cy="1363701"/>
            </a:xfrm>
            <a:prstGeom prst="rect">
              <a:avLst/>
            </a:prstGeom>
          </p:spPr>
          <p:txBody>
            <a:bodyPr anchor="ctr" rtlCol="false" tIns="0" lIns="0" bIns="0" rIns="0"/>
            <a:lstStyle/>
            <a:p>
              <a:pPr algn="l">
                <a:lnSpc>
                  <a:spcPts val="5218"/>
                </a:lnSpc>
              </a:pPr>
              <a:r>
                <a:rPr lang="en-US" sz="5998" b="true">
                  <a:solidFill>
                    <a:srgbClr val="E6E6E6"/>
                  </a:solidFill>
                  <a:latin typeface="TT Commons Pro Bold"/>
                  <a:ea typeface="TT Commons Pro Bold"/>
                  <a:cs typeface="TT Commons Pro Bold"/>
                  <a:sym typeface="TT Commons Pro Bold"/>
                </a:rPr>
                <a:t>Problem</a:t>
              </a:r>
            </a:p>
          </p:txBody>
        </p:sp>
      </p:grpSp>
      <p:grpSp>
        <p:nvGrpSpPr>
          <p:cNvPr name="Group 114" id="114"/>
          <p:cNvGrpSpPr/>
          <p:nvPr/>
        </p:nvGrpSpPr>
        <p:grpSpPr>
          <a:xfrm rot="0">
            <a:off x="401050" y="298971"/>
            <a:ext cx="2603192" cy="502720"/>
            <a:chOff x="0" y="0"/>
            <a:chExt cx="3470923" cy="670293"/>
          </a:xfrm>
        </p:grpSpPr>
        <p:sp>
          <p:nvSpPr>
            <p:cNvPr name="Freeform 115" id="115"/>
            <p:cNvSpPr/>
            <p:nvPr/>
          </p:nvSpPr>
          <p:spPr>
            <a:xfrm flipH="false" flipV="false" rot="0">
              <a:off x="0" y="0"/>
              <a:ext cx="3470910" cy="670306"/>
            </a:xfrm>
            <a:custGeom>
              <a:avLst/>
              <a:gdLst/>
              <a:ahLst/>
              <a:cxnLst/>
              <a:rect r="r" b="b" t="t" l="l"/>
              <a:pathLst>
                <a:path h="670306" w="3470910">
                  <a:moveTo>
                    <a:pt x="0" y="0"/>
                  </a:moveTo>
                  <a:lnTo>
                    <a:pt x="3470910" y="0"/>
                  </a:lnTo>
                  <a:lnTo>
                    <a:pt x="3470910" y="670306"/>
                  </a:lnTo>
                  <a:lnTo>
                    <a:pt x="0" y="670306"/>
                  </a:lnTo>
                  <a:close/>
                </a:path>
              </a:pathLst>
            </a:custGeom>
            <a:blipFill>
              <a:blip r:embed="rId22">
                <a:alphaModFix amt="0"/>
              </a:blip>
              <a:stretch>
                <a:fillRect l="0" t="-50827" r="0" b="-50824"/>
              </a:stretch>
            </a:blipFill>
          </p:spPr>
        </p:sp>
      </p:grpSp>
      <p:grpSp>
        <p:nvGrpSpPr>
          <p:cNvPr name="Group 116" id="116"/>
          <p:cNvGrpSpPr/>
          <p:nvPr/>
        </p:nvGrpSpPr>
        <p:grpSpPr>
          <a:xfrm rot="0">
            <a:off x="401050" y="348977"/>
            <a:ext cx="2603192" cy="452714"/>
            <a:chOff x="0" y="0"/>
            <a:chExt cx="3470923" cy="603618"/>
          </a:xfrm>
        </p:grpSpPr>
        <p:sp>
          <p:nvSpPr>
            <p:cNvPr name="Freeform 117" id="117"/>
            <p:cNvSpPr/>
            <p:nvPr/>
          </p:nvSpPr>
          <p:spPr>
            <a:xfrm flipH="false" flipV="false" rot="0">
              <a:off x="0" y="0"/>
              <a:ext cx="3470923" cy="603618"/>
            </a:xfrm>
            <a:custGeom>
              <a:avLst/>
              <a:gdLst/>
              <a:ahLst/>
              <a:cxnLst/>
              <a:rect r="r" b="b" t="t" l="l"/>
              <a:pathLst>
                <a:path h="603618" w="3470923">
                  <a:moveTo>
                    <a:pt x="0" y="0"/>
                  </a:moveTo>
                  <a:lnTo>
                    <a:pt x="3470923" y="0"/>
                  </a:lnTo>
                  <a:lnTo>
                    <a:pt x="3470923" y="603618"/>
                  </a:lnTo>
                  <a:lnTo>
                    <a:pt x="0" y="603618"/>
                  </a:lnTo>
                  <a:close/>
                </a:path>
              </a:pathLst>
            </a:custGeom>
            <a:blipFill>
              <a:blip r:embed="rId23">
                <a:alphaModFix amt="0"/>
              </a:blip>
              <a:stretch>
                <a:fillRect l="0" t="-62042" r="0" b="-62042"/>
              </a:stretch>
            </a:blipFill>
          </p:spPr>
        </p:sp>
        <p:sp>
          <p:nvSpPr>
            <p:cNvPr name="TextBox 118" id="118"/>
            <p:cNvSpPr txBox="true"/>
            <p:nvPr/>
          </p:nvSpPr>
          <p:spPr>
            <a:xfrm>
              <a:off x="0" y="66675"/>
              <a:ext cx="3470923" cy="536943"/>
            </a:xfrm>
            <a:prstGeom prst="rect">
              <a:avLst/>
            </a:prstGeom>
          </p:spPr>
          <p:txBody>
            <a:bodyPr anchor="ctr" rtlCol="false" tIns="0" lIns="0" bIns="0" rIns="0"/>
            <a:lstStyle/>
            <a:p>
              <a:pPr algn="l">
                <a:lnSpc>
                  <a:spcPts val="2056"/>
                </a:lnSpc>
              </a:pPr>
              <a:r>
                <a:rPr lang="en-US" sz="2339" b="true">
                  <a:solidFill>
                    <a:srgbClr val="A75319"/>
                  </a:solidFill>
                  <a:latin typeface="TT Commons Pro Bold"/>
                  <a:ea typeface="TT Commons Pro Bold"/>
                  <a:cs typeface="TT Commons Pro Bold"/>
                  <a:sym typeface="TT Commons Pro Bold"/>
                </a:rPr>
                <a:t>THE CHALLENGE</a:t>
              </a:r>
            </a:p>
          </p:txBody>
        </p:sp>
      </p:grpSp>
      <p:grpSp>
        <p:nvGrpSpPr>
          <p:cNvPr name="Group 119" id="119"/>
          <p:cNvGrpSpPr/>
          <p:nvPr/>
        </p:nvGrpSpPr>
        <p:grpSpPr>
          <a:xfrm rot="0">
            <a:off x="17157764" y="9639843"/>
            <a:ext cx="546926" cy="532352"/>
            <a:chOff x="0" y="0"/>
            <a:chExt cx="729234" cy="709803"/>
          </a:xfrm>
        </p:grpSpPr>
        <p:sp>
          <p:nvSpPr>
            <p:cNvPr name="Freeform 120" id="120" descr="preencoded.png"/>
            <p:cNvSpPr/>
            <p:nvPr/>
          </p:nvSpPr>
          <p:spPr>
            <a:xfrm flipH="false" flipV="false" rot="0">
              <a:off x="0" y="0"/>
              <a:ext cx="729234" cy="709803"/>
            </a:xfrm>
            <a:custGeom>
              <a:avLst/>
              <a:gdLst/>
              <a:ahLst/>
              <a:cxnLst/>
              <a:rect r="r" b="b" t="t" l="l"/>
              <a:pathLst>
                <a:path h="709803" w="729234">
                  <a:moveTo>
                    <a:pt x="0" y="0"/>
                  </a:moveTo>
                  <a:lnTo>
                    <a:pt x="729234" y="0"/>
                  </a:lnTo>
                  <a:lnTo>
                    <a:pt x="729234" y="709803"/>
                  </a:lnTo>
                  <a:lnTo>
                    <a:pt x="0" y="709803"/>
                  </a:lnTo>
                  <a:lnTo>
                    <a:pt x="0" y="0"/>
                  </a:lnTo>
                  <a:close/>
                </a:path>
              </a:pathLst>
            </a:custGeom>
            <a:blipFill>
              <a:blip r:embed="rId34"/>
              <a:stretch>
                <a:fillRect l="0" t="-252" r="0" b="-252"/>
              </a:stretch>
            </a:blipFill>
          </p:spPr>
        </p:sp>
      </p:grpSp>
      <p:grpSp>
        <p:nvGrpSpPr>
          <p:cNvPr name="Group 121" id="121"/>
          <p:cNvGrpSpPr/>
          <p:nvPr/>
        </p:nvGrpSpPr>
        <p:grpSpPr>
          <a:xfrm rot="0">
            <a:off x="17347349" y="9778394"/>
            <a:ext cx="182299" cy="405717"/>
            <a:chOff x="0" y="0"/>
            <a:chExt cx="243065" cy="540956"/>
          </a:xfrm>
        </p:grpSpPr>
        <p:sp>
          <p:nvSpPr>
            <p:cNvPr name="Freeform 122" id="122"/>
            <p:cNvSpPr/>
            <p:nvPr/>
          </p:nvSpPr>
          <p:spPr>
            <a:xfrm flipH="false" flipV="false" rot="0">
              <a:off x="0" y="0"/>
              <a:ext cx="243078" cy="540893"/>
            </a:xfrm>
            <a:custGeom>
              <a:avLst/>
              <a:gdLst/>
              <a:ahLst/>
              <a:cxnLst/>
              <a:rect r="r" b="b" t="t" l="l"/>
              <a:pathLst>
                <a:path h="540893" w="243078">
                  <a:moveTo>
                    <a:pt x="0" y="0"/>
                  </a:moveTo>
                  <a:lnTo>
                    <a:pt x="243078" y="0"/>
                  </a:lnTo>
                  <a:lnTo>
                    <a:pt x="243078" y="540893"/>
                  </a:lnTo>
                  <a:lnTo>
                    <a:pt x="0" y="540893"/>
                  </a:lnTo>
                  <a:close/>
                </a:path>
              </a:pathLst>
            </a:custGeom>
            <a:blipFill>
              <a:blip r:embed="rId22">
                <a:alphaModFix amt="0"/>
              </a:blip>
              <a:stretch>
                <a:fillRect l="-235731" t="0" r="-235726" b="-11"/>
              </a:stretch>
            </a:blipFill>
          </p:spPr>
        </p:sp>
      </p:grpSp>
      <p:grpSp>
        <p:nvGrpSpPr>
          <p:cNvPr name="Group 123" id="123"/>
          <p:cNvGrpSpPr/>
          <p:nvPr/>
        </p:nvGrpSpPr>
        <p:grpSpPr>
          <a:xfrm rot="0">
            <a:off x="17347349" y="9842687"/>
            <a:ext cx="182299" cy="341424"/>
            <a:chOff x="0" y="0"/>
            <a:chExt cx="243065" cy="455232"/>
          </a:xfrm>
        </p:grpSpPr>
        <p:sp>
          <p:nvSpPr>
            <p:cNvPr name="Freeform 124" id="124"/>
            <p:cNvSpPr/>
            <p:nvPr/>
          </p:nvSpPr>
          <p:spPr>
            <a:xfrm flipH="false" flipV="false" rot="0">
              <a:off x="0" y="0"/>
              <a:ext cx="243065" cy="455234"/>
            </a:xfrm>
            <a:custGeom>
              <a:avLst/>
              <a:gdLst/>
              <a:ahLst/>
              <a:cxnLst/>
              <a:rect r="r" b="b" t="t" l="l"/>
              <a:pathLst>
                <a:path h="455234" w="243065">
                  <a:moveTo>
                    <a:pt x="0" y="0"/>
                  </a:moveTo>
                  <a:lnTo>
                    <a:pt x="243065" y="0"/>
                  </a:lnTo>
                  <a:lnTo>
                    <a:pt x="243065" y="455234"/>
                  </a:lnTo>
                  <a:lnTo>
                    <a:pt x="0" y="455234"/>
                  </a:lnTo>
                  <a:close/>
                </a:path>
              </a:pathLst>
            </a:custGeom>
            <a:blipFill>
              <a:blip r:embed="rId23">
                <a:alphaModFix amt="0"/>
              </a:blip>
              <a:stretch>
                <a:fillRect l="-190296" t="0" r="-190296" b="0"/>
              </a:stretch>
            </a:blipFill>
          </p:spPr>
        </p:sp>
        <p:sp>
          <p:nvSpPr>
            <p:cNvPr name="TextBox 125" id="125"/>
            <p:cNvSpPr txBox="true"/>
            <p:nvPr/>
          </p:nvSpPr>
          <p:spPr>
            <a:xfrm>
              <a:off x="0" y="85725"/>
              <a:ext cx="243065" cy="369507"/>
            </a:xfrm>
            <a:prstGeom prst="rect">
              <a:avLst/>
            </a:prstGeom>
          </p:spPr>
          <p:txBody>
            <a:bodyPr anchor="ctr" rtlCol="false" tIns="0" lIns="0" bIns="0" rIns="0"/>
            <a:lstStyle/>
            <a:p>
              <a:pPr algn="l">
                <a:lnSpc>
                  <a:spcPts val="1491"/>
                </a:lnSpc>
              </a:pPr>
              <a:r>
                <a:rPr lang="en-US" sz="1911">
                  <a:solidFill>
                    <a:srgbClr val="9C9C9C"/>
                  </a:solidFill>
                  <a:latin typeface="TT Commons Pro"/>
                  <a:ea typeface="TT Commons Pro"/>
                  <a:cs typeface="TT Commons Pro"/>
                  <a:sym typeface="TT Commons Pro"/>
                </a:rPr>
                <a:t>5</a:t>
              </a:r>
            </a:p>
          </p:txBody>
        </p:sp>
      </p:grpSp>
      <p:grpSp>
        <p:nvGrpSpPr>
          <p:cNvPr name="Group 126" id="126"/>
          <p:cNvGrpSpPr/>
          <p:nvPr/>
        </p:nvGrpSpPr>
        <p:grpSpPr>
          <a:xfrm rot="0">
            <a:off x="15837932" y="9698184"/>
            <a:ext cx="656272" cy="415671"/>
            <a:chOff x="0" y="0"/>
            <a:chExt cx="875030" cy="554228"/>
          </a:xfrm>
        </p:grpSpPr>
        <p:sp>
          <p:nvSpPr>
            <p:cNvPr name="Freeform 127" id="127" descr="preencoded.png"/>
            <p:cNvSpPr/>
            <p:nvPr/>
          </p:nvSpPr>
          <p:spPr>
            <a:xfrm flipH="false" flipV="false" rot="0">
              <a:off x="0" y="0"/>
              <a:ext cx="875030" cy="554228"/>
            </a:xfrm>
            <a:custGeom>
              <a:avLst/>
              <a:gdLst/>
              <a:ahLst/>
              <a:cxnLst/>
              <a:rect r="r" b="b" t="t" l="l"/>
              <a:pathLst>
                <a:path h="554228" w="875030">
                  <a:moveTo>
                    <a:pt x="0" y="0"/>
                  </a:moveTo>
                  <a:lnTo>
                    <a:pt x="875030" y="0"/>
                  </a:lnTo>
                  <a:lnTo>
                    <a:pt x="875030" y="554228"/>
                  </a:lnTo>
                  <a:lnTo>
                    <a:pt x="0" y="554228"/>
                  </a:lnTo>
                  <a:lnTo>
                    <a:pt x="0" y="0"/>
                  </a:lnTo>
                  <a:close/>
                </a:path>
              </a:pathLst>
            </a:custGeom>
            <a:blipFill>
              <a:blip r:embed="rId35"/>
              <a:stretch>
                <a:fillRect l="-297" t="0" r="-298" b="0"/>
              </a:stretch>
            </a:blipFill>
          </p:spPr>
        </p:sp>
      </p:grpSp>
      <p:grpSp>
        <p:nvGrpSpPr>
          <p:cNvPr name="Group 128" id="128"/>
          <p:cNvGrpSpPr/>
          <p:nvPr/>
        </p:nvGrpSpPr>
        <p:grpSpPr>
          <a:xfrm rot="0">
            <a:off x="14846237" y="9632556"/>
            <a:ext cx="437483" cy="532352"/>
            <a:chOff x="0" y="0"/>
            <a:chExt cx="583311" cy="709803"/>
          </a:xfrm>
        </p:grpSpPr>
        <p:sp>
          <p:nvSpPr>
            <p:cNvPr name="Freeform 129" id="129" descr="preencoded.png"/>
            <p:cNvSpPr/>
            <p:nvPr/>
          </p:nvSpPr>
          <p:spPr>
            <a:xfrm flipH="false" flipV="false" rot="0">
              <a:off x="0" y="0"/>
              <a:ext cx="583311" cy="709803"/>
            </a:xfrm>
            <a:custGeom>
              <a:avLst/>
              <a:gdLst/>
              <a:ahLst/>
              <a:cxnLst/>
              <a:rect r="r" b="b" t="t" l="l"/>
              <a:pathLst>
                <a:path h="709803" w="583311">
                  <a:moveTo>
                    <a:pt x="0" y="0"/>
                  </a:moveTo>
                  <a:lnTo>
                    <a:pt x="583311" y="0"/>
                  </a:lnTo>
                  <a:lnTo>
                    <a:pt x="583311" y="709803"/>
                  </a:lnTo>
                  <a:lnTo>
                    <a:pt x="0" y="709803"/>
                  </a:lnTo>
                  <a:lnTo>
                    <a:pt x="0" y="0"/>
                  </a:lnTo>
                  <a:close/>
                </a:path>
              </a:pathLst>
            </a:custGeom>
            <a:blipFill>
              <a:blip r:embed="rId36"/>
              <a:stretch>
                <a:fillRect l="-352" t="0" r="-352" b="0"/>
              </a:stretch>
            </a:blipFill>
          </p:spPr>
        </p:sp>
      </p:grpSp>
      <p:grpSp>
        <p:nvGrpSpPr>
          <p:cNvPr name="Group 130" id="130"/>
          <p:cNvGrpSpPr/>
          <p:nvPr/>
        </p:nvGrpSpPr>
        <p:grpSpPr>
          <a:xfrm rot="0">
            <a:off x="13730583" y="9683601"/>
            <a:ext cx="539591" cy="473964"/>
            <a:chOff x="0" y="0"/>
            <a:chExt cx="719455" cy="631952"/>
          </a:xfrm>
        </p:grpSpPr>
        <p:sp>
          <p:nvSpPr>
            <p:cNvPr name="Freeform 131" id="131" descr="preencoded.png"/>
            <p:cNvSpPr/>
            <p:nvPr/>
          </p:nvSpPr>
          <p:spPr>
            <a:xfrm flipH="false" flipV="false" rot="0">
              <a:off x="0" y="0"/>
              <a:ext cx="719455" cy="631952"/>
            </a:xfrm>
            <a:custGeom>
              <a:avLst/>
              <a:gdLst/>
              <a:ahLst/>
              <a:cxnLst/>
              <a:rect r="r" b="b" t="t" l="l"/>
              <a:pathLst>
                <a:path h="631952" w="719455">
                  <a:moveTo>
                    <a:pt x="0" y="0"/>
                  </a:moveTo>
                  <a:lnTo>
                    <a:pt x="719455" y="0"/>
                  </a:lnTo>
                  <a:lnTo>
                    <a:pt x="719455" y="631952"/>
                  </a:lnTo>
                  <a:lnTo>
                    <a:pt x="0" y="631952"/>
                  </a:lnTo>
                  <a:lnTo>
                    <a:pt x="0" y="0"/>
                  </a:lnTo>
                  <a:close/>
                </a:path>
              </a:pathLst>
            </a:custGeom>
            <a:blipFill>
              <a:blip r:embed="rId37"/>
              <a:stretch>
                <a:fillRect l="0" t="-454" r="0" b="-456"/>
              </a:stretch>
            </a:blipFill>
          </p:spPr>
        </p:sp>
      </p:grpSp>
      <p:grpSp>
        <p:nvGrpSpPr>
          <p:cNvPr name="Group 132" id="132"/>
          <p:cNvGrpSpPr/>
          <p:nvPr/>
        </p:nvGrpSpPr>
        <p:grpSpPr>
          <a:xfrm rot="0">
            <a:off x="12731601" y="9639843"/>
            <a:ext cx="408337" cy="532352"/>
            <a:chOff x="0" y="0"/>
            <a:chExt cx="544449" cy="709803"/>
          </a:xfrm>
        </p:grpSpPr>
        <p:sp>
          <p:nvSpPr>
            <p:cNvPr name="Freeform 133" id="133" descr="preencoded.png"/>
            <p:cNvSpPr/>
            <p:nvPr/>
          </p:nvSpPr>
          <p:spPr>
            <a:xfrm flipH="false" flipV="false" rot="0">
              <a:off x="0" y="0"/>
              <a:ext cx="544449" cy="709803"/>
            </a:xfrm>
            <a:custGeom>
              <a:avLst/>
              <a:gdLst/>
              <a:ahLst/>
              <a:cxnLst/>
              <a:rect r="r" b="b" t="t" l="l"/>
              <a:pathLst>
                <a:path h="709803" w="544449">
                  <a:moveTo>
                    <a:pt x="0" y="0"/>
                  </a:moveTo>
                  <a:lnTo>
                    <a:pt x="544449" y="0"/>
                  </a:lnTo>
                  <a:lnTo>
                    <a:pt x="544449" y="709803"/>
                  </a:lnTo>
                  <a:lnTo>
                    <a:pt x="0" y="709803"/>
                  </a:lnTo>
                  <a:lnTo>
                    <a:pt x="0" y="0"/>
                  </a:lnTo>
                  <a:close/>
                </a:path>
              </a:pathLst>
            </a:custGeom>
            <a:blipFill>
              <a:blip r:embed="rId38"/>
              <a:stretch>
                <a:fillRect l="0" t="-554" r="0" b="-554"/>
              </a:stretch>
            </a:blipFill>
          </p:spPr>
        </p:sp>
      </p:grpSp>
      <p:grpSp>
        <p:nvGrpSpPr>
          <p:cNvPr name="Group 134" id="134"/>
          <p:cNvGrpSpPr/>
          <p:nvPr/>
        </p:nvGrpSpPr>
        <p:grpSpPr>
          <a:xfrm rot="0">
            <a:off x="1356284" y="9727349"/>
            <a:ext cx="896903" cy="393354"/>
            <a:chOff x="0" y="0"/>
            <a:chExt cx="1195870" cy="524472"/>
          </a:xfrm>
        </p:grpSpPr>
        <p:sp>
          <p:nvSpPr>
            <p:cNvPr name="Freeform 135" id="135"/>
            <p:cNvSpPr/>
            <p:nvPr/>
          </p:nvSpPr>
          <p:spPr>
            <a:xfrm flipH="false" flipV="false" rot="0">
              <a:off x="0" y="0"/>
              <a:ext cx="1195832" cy="524510"/>
            </a:xfrm>
            <a:custGeom>
              <a:avLst/>
              <a:gdLst/>
              <a:ahLst/>
              <a:cxnLst/>
              <a:rect r="r" b="b" t="t" l="l"/>
              <a:pathLst>
                <a:path h="524510" w="1195832">
                  <a:moveTo>
                    <a:pt x="0" y="0"/>
                  </a:moveTo>
                  <a:lnTo>
                    <a:pt x="1195832" y="0"/>
                  </a:lnTo>
                  <a:lnTo>
                    <a:pt x="1195832" y="524510"/>
                  </a:lnTo>
                  <a:lnTo>
                    <a:pt x="0" y="524510"/>
                  </a:lnTo>
                  <a:close/>
                </a:path>
              </a:pathLst>
            </a:custGeom>
            <a:blipFill>
              <a:blip r:embed="rId22">
                <a:alphaModFix amt="0"/>
              </a:blip>
              <a:stretch>
                <a:fillRect l="-6309" t="0" r="-6312" b="7"/>
              </a:stretch>
            </a:blipFill>
          </p:spPr>
        </p:sp>
      </p:grpSp>
      <p:grpSp>
        <p:nvGrpSpPr>
          <p:cNvPr name="Group 136" id="136"/>
          <p:cNvGrpSpPr/>
          <p:nvPr/>
        </p:nvGrpSpPr>
        <p:grpSpPr>
          <a:xfrm rot="0">
            <a:off x="1356284" y="9763068"/>
            <a:ext cx="896903" cy="357635"/>
            <a:chOff x="0" y="0"/>
            <a:chExt cx="1195870" cy="476847"/>
          </a:xfrm>
        </p:grpSpPr>
        <p:sp>
          <p:nvSpPr>
            <p:cNvPr name="Freeform 137" id="137"/>
            <p:cNvSpPr/>
            <p:nvPr/>
          </p:nvSpPr>
          <p:spPr>
            <a:xfrm flipH="false" flipV="false" rot="0">
              <a:off x="0" y="0"/>
              <a:ext cx="1195871" cy="476844"/>
            </a:xfrm>
            <a:custGeom>
              <a:avLst/>
              <a:gdLst/>
              <a:ahLst/>
              <a:cxnLst/>
              <a:rect r="r" b="b" t="t" l="l"/>
              <a:pathLst>
                <a:path h="476844" w="1195871">
                  <a:moveTo>
                    <a:pt x="0" y="0"/>
                  </a:moveTo>
                  <a:lnTo>
                    <a:pt x="1195871" y="0"/>
                  </a:lnTo>
                  <a:lnTo>
                    <a:pt x="1195871" y="476844"/>
                  </a:lnTo>
                  <a:lnTo>
                    <a:pt x="0" y="476844"/>
                  </a:lnTo>
                  <a:close/>
                </a:path>
              </a:pathLst>
            </a:custGeom>
            <a:blipFill>
              <a:blip r:embed="rId23">
                <a:alphaModFix amt="0"/>
              </a:blip>
              <a:stretch>
                <a:fillRect l="-1160" t="0" r="-1160" b="0"/>
              </a:stretch>
            </a:blipFill>
          </p:spPr>
        </p:sp>
        <p:sp>
          <p:nvSpPr>
            <p:cNvPr name="TextBox 138" id="138"/>
            <p:cNvSpPr txBox="true"/>
            <p:nvPr/>
          </p:nvSpPr>
          <p:spPr>
            <a:xfrm>
              <a:off x="0" y="47625"/>
              <a:ext cx="1195870" cy="429222"/>
            </a:xfrm>
            <a:prstGeom prst="rect">
              <a:avLst/>
            </a:prstGeom>
          </p:spPr>
          <p:txBody>
            <a:bodyPr anchor="ctr" rtlCol="false" tIns="0" lIns="0" bIns="0" rIns="0"/>
            <a:lstStyle/>
            <a:p>
              <a:pPr algn="l">
                <a:lnSpc>
                  <a:spcPts val="1765"/>
                </a:lnSpc>
              </a:pPr>
              <a:r>
                <a:rPr lang="en-US" sz="1839" b="true">
                  <a:solidFill>
                    <a:srgbClr val="949494"/>
                  </a:solidFill>
                  <a:latin typeface="TT Commons Pro Bold"/>
                  <a:ea typeface="TT Commons Pro Bold"/>
                  <a:cs typeface="TT Commons Pro Bold"/>
                  <a:sym typeface="TT Commons Pro Bold"/>
                </a:rPr>
                <a:t>Project:</a:t>
              </a:r>
            </a:p>
          </p:txBody>
        </p:sp>
      </p:grpSp>
      <p:grpSp>
        <p:nvGrpSpPr>
          <p:cNvPr name="Group 139" id="139"/>
          <p:cNvGrpSpPr/>
          <p:nvPr/>
        </p:nvGrpSpPr>
        <p:grpSpPr>
          <a:xfrm rot="0">
            <a:off x="532305" y="9625260"/>
            <a:ext cx="459391" cy="539591"/>
            <a:chOff x="0" y="0"/>
            <a:chExt cx="612521" cy="719455"/>
          </a:xfrm>
        </p:grpSpPr>
        <p:sp>
          <p:nvSpPr>
            <p:cNvPr name="Freeform 140" id="140" descr="preencoded.png"/>
            <p:cNvSpPr/>
            <p:nvPr/>
          </p:nvSpPr>
          <p:spPr>
            <a:xfrm flipH="false" flipV="false" rot="0">
              <a:off x="0" y="0"/>
              <a:ext cx="612521" cy="719455"/>
            </a:xfrm>
            <a:custGeom>
              <a:avLst/>
              <a:gdLst/>
              <a:ahLst/>
              <a:cxnLst/>
              <a:rect r="r" b="b" t="t" l="l"/>
              <a:pathLst>
                <a:path h="719455" w="612521">
                  <a:moveTo>
                    <a:pt x="0" y="0"/>
                  </a:moveTo>
                  <a:lnTo>
                    <a:pt x="612521" y="0"/>
                  </a:lnTo>
                  <a:lnTo>
                    <a:pt x="612521" y="719455"/>
                  </a:lnTo>
                  <a:lnTo>
                    <a:pt x="0" y="719455"/>
                  </a:lnTo>
                  <a:lnTo>
                    <a:pt x="0" y="0"/>
                  </a:lnTo>
                  <a:close/>
                </a:path>
              </a:pathLst>
            </a:custGeom>
            <a:blipFill>
              <a:blip r:embed="rId39"/>
              <a:stretch>
                <a:fillRect l="-267" t="0" r="-269" b="0"/>
              </a:stretch>
            </a:blipFill>
          </p:spPr>
        </p:sp>
      </p:grpSp>
      <p:grpSp>
        <p:nvGrpSpPr>
          <p:cNvPr name="Group 141" id="141"/>
          <p:cNvGrpSpPr/>
          <p:nvPr/>
        </p:nvGrpSpPr>
        <p:grpSpPr>
          <a:xfrm rot="0">
            <a:off x="12840976" y="9720053"/>
            <a:ext cx="189586" cy="368989"/>
            <a:chOff x="0" y="0"/>
            <a:chExt cx="252781" cy="491985"/>
          </a:xfrm>
        </p:grpSpPr>
        <p:sp>
          <p:nvSpPr>
            <p:cNvPr name="Freeform 142" id="142"/>
            <p:cNvSpPr/>
            <p:nvPr/>
          </p:nvSpPr>
          <p:spPr>
            <a:xfrm flipH="false" flipV="false" rot="0">
              <a:off x="0" y="0"/>
              <a:ext cx="252730" cy="491998"/>
            </a:xfrm>
            <a:custGeom>
              <a:avLst/>
              <a:gdLst/>
              <a:ahLst/>
              <a:cxnLst/>
              <a:rect r="r" b="b" t="t" l="l"/>
              <a:pathLst>
                <a:path h="491998" w="252730">
                  <a:moveTo>
                    <a:pt x="0" y="0"/>
                  </a:moveTo>
                  <a:lnTo>
                    <a:pt x="252730" y="0"/>
                  </a:lnTo>
                  <a:lnTo>
                    <a:pt x="252730" y="491998"/>
                  </a:lnTo>
                  <a:lnTo>
                    <a:pt x="0" y="491998"/>
                  </a:lnTo>
                  <a:close/>
                </a:path>
              </a:pathLst>
            </a:custGeom>
            <a:blipFill>
              <a:blip r:embed="rId22">
                <a:alphaModFix amt="0"/>
              </a:blip>
              <a:stretch>
                <a:fillRect l="-199929" t="0" r="-199944" b="2"/>
              </a:stretch>
            </a:blipFill>
          </p:spPr>
        </p:sp>
      </p:grpSp>
      <p:grpSp>
        <p:nvGrpSpPr>
          <p:cNvPr name="Group 143" id="143"/>
          <p:cNvGrpSpPr/>
          <p:nvPr/>
        </p:nvGrpSpPr>
        <p:grpSpPr>
          <a:xfrm rot="0">
            <a:off x="12840976" y="9784347"/>
            <a:ext cx="189586" cy="304695"/>
            <a:chOff x="0" y="0"/>
            <a:chExt cx="252781" cy="406260"/>
          </a:xfrm>
        </p:grpSpPr>
        <p:sp>
          <p:nvSpPr>
            <p:cNvPr name="Freeform 144" id="144"/>
            <p:cNvSpPr/>
            <p:nvPr/>
          </p:nvSpPr>
          <p:spPr>
            <a:xfrm flipH="false" flipV="false" rot="0">
              <a:off x="0" y="0"/>
              <a:ext cx="252781" cy="406264"/>
            </a:xfrm>
            <a:custGeom>
              <a:avLst/>
              <a:gdLst/>
              <a:ahLst/>
              <a:cxnLst/>
              <a:rect r="r" b="b" t="t" l="l"/>
              <a:pathLst>
                <a:path h="406264" w="252781">
                  <a:moveTo>
                    <a:pt x="0" y="0"/>
                  </a:moveTo>
                  <a:lnTo>
                    <a:pt x="252781" y="0"/>
                  </a:lnTo>
                  <a:lnTo>
                    <a:pt x="252781" y="406264"/>
                  </a:lnTo>
                  <a:lnTo>
                    <a:pt x="0" y="406264"/>
                  </a:lnTo>
                  <a:close/>
                </a:path>
              </a:pathLst>
            </a:custGeom>
            <a:blipFill>
              <a:blip r:embed="rId23">
                <a:alphaModFix amt="0"/>
              </a:blip>
              <a:stretch>
                <a:fillRect l="-156204" t="0" r="-156204" b="0"/>
              </a:stretch>
            </a:blipFill>
          </p:spPr>
        </p:sp>
        <p:sp>
          <p:nvSpPr>
            <p:cNvPr name="TextBox 145" id="145"/>
            <p:cNvSpPr txBox="true"/>
            <p:nvPr/>
          </p:nvSpPr>
          <p:spPr>
            <a:xfrm>
              <a:off x="0" y="85725"/>
              <a:ext cx="252781" cy="320535"/>
            </a:xfrm>
            <a:prstGeom prst="rect">
              <a:avLst/>
            </a:prstGeom>
          </p:spPr>
          <p:txBody>
            <a:bodyPr anchor="ctr" rtlCol="false" tIns="0" lIns="0" bIns="0" rIns="0"/>
            <a:lstStyle/>
            <a:p>
              <a:pPr algn="l">
                <a:lnSpc>
                  <a:spcPts val="1263"/>
                </a:lnSpc>
              </a:pPr>
              <a:r>
                <a:rPr lang="en-US" sz="1740">
                  <a:solidFill>
                    <a:srgbClr val="59131B"/>
                  </a:solidFill>
                  <a:latin typeface="TT Commons Pro"/>
                  <a:ea typeface="TT Commons Pro"/>
                  <a:cs typeface="TT Commons Pro"/>
                  <a:sym typeface="TT Commons Pro"/>
                </a:rPr>
                <a:t>0</a:t>
              </a:r>
            </a:p>
          </p:txBody>
        </p:sp>
      </p:grpSp>
      <p:grpSp>
        <p:nvGrpSpPr>
          <p:cNvPr name="Group 146" id="146"/>
          <p:cNvGrpSpPr/>
          <p:nvPr/>
        </p:nvGrpSpPr>
        <p:grpSpPr>
          <a:xfrm rot="0">
            <a:off x="0" y="9501302"/>
            <a:ext cx="18164080" cy="14573"/>
            <a:chOff x="0" y="0"/>
            <a:chExt cx="24218773" cy="19431"/>
          </a:xfrm>
        </p:grpSpPr>
        <p:sp>
          <p:nvSpPr>
            <p:cNvPr name="Freeform 147" id="147"/>
            <p:cNvSpPr/>
            <p:nvPr/>
          </p:nvSpPr>
          <p:spPr>
            <a:xfrm flipH="false" flipV="false" rot="0">
              <a:off x="0" y="0"/>
              <a:ext cx="24218773" cy="19431"/>
            </a:xfrm>
            <a:custGeom>
              <a:avLst/>
              <a:gdLst/>
              <a:ahLst/>
              <a:cxnLst/>
              <a:rect r="r" b="b" t="t" l="l"/>
              <a:pathLst>
                <a:path h="19431" w="24218773">
                  <a:moveTo>
                    <a:pt x="0" y="0"/>
                  </a:moveTo>
                  <a:lnTo>
                    <a:pt x="24218773" y="0"/>
                  </a:lnTo>
                  <a:lnTo>
                    <a:pt x="24218773" y="19431"/>
                  </a:lnTo>
                  <a:lnTo>
                    <a:pt x="0" y="19431"/>
                  </a:lnTo>
                  <a:close/>
                </a:path>
              </a:pathLst>
            </a:custGeom>
            <a:solidFill>
              <a:srgbClr val="441D1E"/>
            </a:solidFill>
          </p:spPr>
        </p:sp>
      </p:grpSp>
      <p:grpSp>
        <p:nvGrpSpPr>
          <p:cNvPr name="Group 148" id="148"/>
          <p:cNvGrpSpPr/>
          <p:nvPr/>
        </p:nvGrpSpPr>
        <p:grpSpPr>
          <a:xfrm rot="0">
            <a:off x="4953867" y="7080399"/>
            <a:ext cx="3339675" cy="1618793"/>
            <a:chOff x="0" y="0"/>
            <a:chExt cx="4452899" cy="2158390"/>
          </a:xfrm>
        </p:grpSpPr>
        <p:sp>
          <p:nvSpPr>
            <p:cNvPr name="Freeform 149" id="149"/>
            <p:cNvSpPr/>
            <p:nvPr/>
          </p:nvSpPr>
          <p:spPr>
            <a:xfrm flipH="false" flipV="false" rot="0">
              <a:off x="0" y="0"/>
              <a:ext cx="4452874" cy="2158365"/>
            </a:xfrm>
            <a:custGeom>
              <a:avLst/>
              <a:gdLst/>
              <a:ahLst/>
              <a:cxnLst/>
              <a:rect r="r" b="b" t="t" l="l"/>
              <a:pathLst>
                <a:path h="2158365" w="4452874">
                  <a:moveTo>
                    <a:pt x="0" y="0"/>
                  </a:moveTo>
                  <a:lnTo>
                    <a:pt x="4452874" y="0"/>
                  </a:lnTo>
                  <a:lnTo>
                    <a:pt x="4452874" y="2158365"/>
                  </a:lnTo>
                  <a:lnTo>
                    <a:pt x="0" y="2158365"/>
                  </a:lnTo>
                  <a:close/>
                </a:path>
              </a:pathLst>
            </a:custGeom>
            <a:blipFill>
              <a:blip r:embed="rId22">
                <a:alphaModFix amt="0"/>
              </a:blip>
              <a:stretch>
                <a:fillRect l="-12234" t="0" r="-12234" b="-1"/>
              </a:stretch>
            </a:blipFill>
          </p:spPr>
        </p:sp>
      </p:grpSp>
      <p:grpSp>
        <p:nvGrpSpPr>
          <p:cNvPr name="Group 150" id="150"/>
          <p:cNvGrpSpPr/>
          <p:nvPr/>
        </p:nvGrpSpPr>
        <p:grpSpPr>
          <a:xfrm rot="0">
            <a:off x="4953867" y="7051824"/>
            <a:ext cx="3339675" cy="1647368"/>
            <a:chOff x="0" y="0"/>
            <a:chExt cx="4452899" cy="2196490"/>
          </a:xfrm>
        </p:grpSpPr>
        <p:sp>
          <p:nvSpPr>
            <p:cNvPr name="Freeform 151" id="151"/>
            <p:cNvSpPr/>
            <p:nvPr/>
          </p:nvSpPr>
          <p:spPr>
            <a:xfrm flipH="false" flipV="false" rot="0">
              <a:off x="0" y="0"/>
              <a:ext cx="4452900" cy="2196492"/>
            </a:xfrm>
            <a:custGeom>
              <a:avLst/>
              <a:gdLst/>
              <a:ahLst/>
              <a:cxnLst/>
              <a:rect r="r" b="b" t="t" l="l"/>
              <a:pathLst>
                <a:path h="2196492" w="4452900">
                  <a:moveTo>
                    <a:pt x="0" y="0"/>
                  </a:moveTo>
                  <a:lnTo>
                    <a:pt x="4452900" y="0"/>
                  </a:lnTo>
                  <a:lnTo>
                    <a:pt x="4452900" y="2196492"/>
                  </a:lnTo>
                  <a:lnTo>
                    <a:pt x="0" y="2196492"/>
                  </a:lnTo>
                  <a:close/>
                </a:path>
              </a:pathLst>
            </a:custGeom>
            <a:blipFill>
              <a:blip r:embed="rId23">
                <a:alphaModFix amt="0"/>
              </a:blip>
              <a:stretch>
                <a:fillRect l="-13288" t="0" r="-13288" b="0"/>
              </a:stretch>
            </a:blipFill>
          </p:spPr>
        </p:sp>
        <p:sp>
          <p:nvSpPr>
            <p:cNvPr name="TextBox 152" id="152"/>
            <p:cNvSpPr txBox="true"/>
            <p:nvPr/>
          </p:nvSpPr>
          <p:spPr>
            <a:xfrm>
              <a:off x="0" y="-38100"/>
              <a:ext cx="4452899" cy="2234590"/>
            </a:xfrm>
            <a:prstGeom prst="rect">
              <a:avLst/>
            </a:prstGeom>
          </p:spPr>
          <p:txBody>
            <a:bodyPr anchor="ctr" rtlCol="false" tIns="0" lIns="0" bIns="0" rIns="0"/>
            <a:lstStyle/>
            <a:p>
              <a:pPr algn="l">
                <a:lnSpc>
                  <a:spcPts val="2555"/>
                </a:lnSpc>
              </a:pPr>
              <a:r>
                <a:rPr lang="en-US" sz="1799">
                  <a:solidFill>
                    <a:srgbClr val="F2EFEB"/>
                  </a:solidFill>
                  <a:latin typeface="TT Commons Pro"/>
                  <a:ea typeface="TT Commons Pro"/>
                  <a:cs typeface="TT Commons Pro"/>
                  <a:sym typeface="TT Commons Pro"/>
                </a:rPr>
                <a:t>Long distance from City Center,Price Category and Restaurant Type are the reasons for high delivery charges.</a:t>
              </a:r>
            </a:p>
          </p:txBody>
        </p:sp>
      </p:grpSp>
      <p:grpSp>
        <p:nvGrpSpPr>
          <p:cNvPr name="Group 153" id="153"/>
          <p:cNvGrpSpPr/>
          <p:nvPr/>
        </p:nvGrpSpPr>
        <p:grpSpPr>
          <a:xfrm rot="0">
            <a:off x="9366399" y="6978320"/>
            <a:ext cx="3339675" cy="1618793"/>
            <a:chOff x="0" y="0"/>
            <a:chExt cx="4452899" cy="2158390"/>
          </a:xfrm>
        </p:grpSpPr>
        <p:sp>
          <p:nvSpPr>
            <p:cNvPr name="Freeform 154" id="154"/>
            <p:cNvSpPr/>
            <p:nvPr/>
          </p:nvSpPr>
          <p:spPr>
            <a:xfrm flipH="false" flipV="false" rot="0">
              <a:off x="0" y="0"/>
              <a:ext cx="4452874" cy="2158365"/>
            </a:xfrm>
            <a:custGeom>
              <a:avLst/>
              <a:gdLst/>
              <a:ahLst/>
              <a:cxnLst/>
              <a:rect r="r" b="b" t="t" l="l"/>
              <a:pathLst>
                <a:path h="2158365" w="4452874">
                  <a:moveTo>
                    <a:pt x="0" y="0"/>
                  </a:moveTo>
                  <a:lnTo>
                    <a:pt x="4452874" y="0"/>
                  </a:lnTo>
                  <a:lnTo>
                    <a:pt x="4452874" y="2158365"/>
                  </a:lnTo>
                  <a:lnTo>
                    <a:pt x="0" y="2158365"/>
                  </a:lnTo>
                  <a:close/>
                </a:path>
              </a:pathLst>
            </a:custGeom>
            <a:blipFill>
              <a:blip r:embed="rId22">
                <a:alphaModFix amt="0"/>
              </a:blip>
              <a:stretch>
                <a:fillRect l="-12234" t="0" r="-12234" b="-1"/>
              </a:stretch>
            </a:blipFill>
          </p:spPr>
        </p:sp>
      </p:grpSp>
      <p:grpSp>
        <p:nvGrpSpPr>
          <p:cNvPr name="Group 155" id="155"/>
          <p:cNvGrpSpPr/>
          <p:nvPr/>
        </p:nvGrpSpPr>
        <p:grpSpPr>
          <a:xfrm rot="0">
            <a:off x="9366399" y="6949745"/>
            <a:ext cx="3339675" cy="1647368"/>
            <a:chOff x="0" y="0"/>
            <a:chExt cx="4452899" cy="2196490"/>
          </a:xfrm>
        </p:grpSpPr>
        <p:sp>
          <p:nvSpPr>
            <p:cNvPr name="Freeform 156" id="156"/>
            <p:cNvSpPr/>
            <p:nvPr/>
          </p:nvSpPr>
          <p:spPr>
            <a:xfrm flipH="false" flipV="false" rot="0">
              <a:off x="0" y="0"/>
              <a:ext cx="4452900" cy="2196492"/>
            </a:xfrm>
            <a:custGeom>
              <a:avLst/>
              <a:gdLst/>
              <a:ahLst/>
              <a:cxnLst/>
              <a:rect r="r" b="b" t="t" l="l"/>
              <a:pathLst>
                <a:path h="2196492" w="4452900">
                  <a:moveTo>
                    <a:pt x="0" y="0"/>
                  </a:moveTo>
                  <a:lnTo>
                    <a:pt x="4452900" y="0"/>
                  </a:lnTo>
                  <a:lnTo>
                    <a:pt x="4452900" y="2196492"/>
                  </a:lnTo>
                  <a:lnTo>
                    <a:pt x="0" y="2196492"/>
                  </a:lnTo>
                  <a:close/>
                </a:path>
              </a:pathLst>
            </a:custGeom>
            <a:blipFill>
              <a:blip r:embed="rId23">
                <a:alphaModFix amt="0"/>
              </a:blip>
              <a:stretch>
                <a:fillRect l="-13288" t="0" r="-13288" b="0"/>
              </a:stretch>
            </a:blipFill>
          </p:spPr>
        </p:sp>
        <p:sp>
          <p:nvSpPr>
            <p:cNvPr name="TextBox 157" id="157"/>
            <p:cNvSpPr txBox="true"/>
            <p:nvPr/>
          </p:nvSpPr>
          <p:spPr>
            <a:xfrm>
              <a:off x="0" y="-38100"/>
              <a:ext cx="4452899" cy="2234590"/>
            </a:xfrm>
            <a:prstGeom prst="rect">
              <a:avLst/>
            </a:prstGeom>
          </p:spPr>
          <p:txBody>
            <a:bodyPr anchor="ctr" rtlCol="false" tIns="0" lIns="0" bIns="0" rIns="0"/>
            <a:lstStyle/>
            <a:p>
              <a:pPr algn="l">
                <a:lnSpc>
                  <a:spcPts val="2555"/>
                </a:lnSpc>
              </a:pPr>
              <a:r>
                <a:rPr lang="en-US" sz="1799">
                  <a:solidFill>
                    <a:srgbClr val="F2EFEB"/>
                  </a:solidFill>
                  <a:latin typeface="TT Commons Pro"/>
                  <a:ea typeface="TT Commons Pro"/>
                  <a:cs typeface="TT Commons Pro"/>
                  <a:sym typeface="TT Commons Pro"/>
                </a:rPr>
                <a:t>Some areas still have limited restaurant options, reducing variety and choice for users.</a:t>
              </a:r>
            </a:p>
          </p:txBody>
        </p:sp>
      </p:grpSp>
      <p:grpSp>
        <p:nvGrpSpPr>
          <p:cNvPr name="Group 158" id="158"/>
          <p:cNvGrpSpPr/>
          <p:nvPr/>
        </p:nvGrpSpPr>
        <p:grpSpPr>
          <a:xfrm rot="0">
            <a:off x="13764358" y="7102278"/>
            <a:ext cx="3339675" cy="1618793"/>
            <a:chOff x="0" y="0"/>
            <a:chExt cx="4452899" cy="2158390"/>
          </a:xfrm>
        </p:grpSpPr>
        <p:sp>
          <p:nvSpPr>
            <p:cNvPr name="Freeform 159" id="159"/>
            <p:cNvSpPr/>
            <p:nvPr/>
          </p:nvSpPr>
          <p:spPr>
            <a:xfrm flipH="false" flipV="false" rot="0">
              <a:off x="0" y="0"/>
              <a:ext cx="4452874" cy="2158365"/>
            </a:xfrm>
            <a:custGeom>
              <a:avLst/>
              <a:gdLst/>
              <a:ahLst/>
              <a:cxnLst/>
              <a:rect r="r" b="b" t="t" l="l"/>
              <a:pathLst>
                <a:path h="2158365" w="4452874">
                  <a:moveTo>
                    <a:pt x="0" y="0"/>
                  </a:moveTo>
                  <a:lnTo>
                    <a:pt x="4452874" y="0"/>
                  </a:lnTo>
                  <a:lnTo>
                    <a:pt x="4452874" y="2158365"/>
                  </a:lnTo>
                  <a:lnTo>
                    <a:pt x="0" y="2158365"/>
                  </a:lnTo>
                  <a:close/>
                </a:path>
              </a:pathLst>
            </a:custGeom>
            <a:blipFill>
              <a:blip r:embed="rId22">
                <a:alphaModFix amt="0"/>
              </a:blip>
              <a:stretch>
                <a:fillRect l="-12234" t="0" r="-12234" b="-1"/>
              </a:stretch>
            </a:blipFill>
          </p:spPr>
        </p:sp>
      </p:grpSp>
      <p:grpSp>
        <p:nvGrpSpPr>
          <p:cNvPr name="Group 160" id="160"/>
          <p:cNvGrpSpPr/>
          <p:nvPr/>
        </p:nvGrpSpPr>
        <p:grpSpPr>
          <a:xfrm rot="0">
            <a:off x="13764358" y="7073703"/>
            <a:ext cx="3339675" cy="1647368"/>
            <a:chOff x="0" y="0"/>
            <a:chExt cx="4452899" cy="2196490"/>
          </a:xfrm>
        </p:grpSpPr>
        <p:sp>
          <p:nvSpPr>
            <p:cNvPr name="Freeform 161" id="161"/>
            <p:cNvSpPr/>
            <p:nvPr/>
          </p:nvSpPr>
          <p:spPr>
            <a:xfrm flipH="false" flipV="false" rot="0">
              <a:off x="0" y="0"/>
              <a:ext cx="4452900" cy="2196492"/>
            </a:xfrm>
            <a:custGeom>
              <a:avLst/>
              <a:gdLst/>
              <a:ahLst/>
              <a:cxnLst/>
              <a:rect r="r" b="b" t="t" l="l"/>
              <a:pathLst>
                <a:path h="2196492" w="4452900">
                  <a:moveTo>
                    <a:pt x="0" y="0"/>
                  </a:moveTo>
                  <a:lnTo>
                    <a:pt x="4452900" y="0"/>
                  </a:lnTo>
                  <a:lnTo>
                    <a:pt x="4452900" y="2196492"/>
                  </a:lnTo>
                  <a:lnTo>
                    <a:pt x="0" y="2196492"/>
                  </a:lnTo>
                  <a:close/>
                </a:path>
              </a:pathLst>
            </a:custGeom>
            <a:blipFill>
              <a:blip r:embed="rId23">
                <a:alphaModFix amt="0"/>
              </a:blip>
              <a:stretch>
                <a:fillRect l="-13288" t="0" r="-13288" b="0"/>
              </a:stretch>
            </a:blipFill>
          </p:spPr>
        </p:sp>
        <p:sp>
          <p:nvSpPr>
            <p:cNvPr name="TextBox 162" id="162"/>
            <p:cNvSpPr txBox="true"/>
            <p:nvPr/>
          </p:nvSpPr>
          <p:spPr>
            <a:xfrm>
              <a:off x="0" y="-38100"/>
              <a:ext cx="4452899" cy="2234590"/>
            </a:xfrm>
            <a:prstGeom prst="rect">
              <a:avLst/>
            </a:prstGeom>
          </p:spPr>
          <p:txBody>
            <a:bodyPr anchor="ctr" rtlCol="false" tIns="0" lIns="0" bIns="0" rIns="0"/>
            <a:lstStyle/>
            <a:p>
              <a:pPr algn="l">
                <a:lnSpc>
                  <a:spcPts val="2555"/>
                </a:lnSpc>
              </a:pPr>
              <a:r>
                <a:rPr lang="en-US" sz="1799">
                  <a:solidFill>
                    <a:srgbClr val="F2EFEB"/>
                  </a:solidFill>
                  <a:latin typeface="TT Commons Pro"/>
                  <a:ea typeface="TT Commons Pro"/>
                  <a:cs typeface="TT Commons Pro"/>
                  <a:sym typeface="TT Commons Pro"/>
                </a:rPr>
                <a:t>Issues like late deliveries, high delivery charges and low discount frequency impact trust and long-term user loyality.</a:t>
              </a:r>
            </a:p>
          </p:txBody>
        </p:sp>
      </p:grpSp>
      <p:grpSp>
        <p:nvGrpSpPr>
          <p:cNvPr name="Group 163" id="163"/>
          <p:cNvGrpSpPr/>
          <p:nvPr/>
        </p:nvGrpSpPr>
        <p:grpSpPr>
          <a:xfrm rot="0">
            <a:off x="4901241" y="6351213"/>
            <a:ext cx="4049525" cy="505758"/>
            <a:chOff x="0" y="0"/>
            <a:chExt cx="5399367" cy="674345"/>
          </a:xfrm>
        </p:grpSpPr>
        <p:sp>
          <p:nvSpPr>
            <p:cNvPr name="Freeform 164" id="164"/>
            <p:cNvSpPr/>
            <p:nvPr/>
          </p:nvSpPr>
          <p:spPr>
            <a:xfrm flipH="false" flipV="false" rot="0">
              <a:off x="0" y="0"/>
              <a:ext cx="5399405" cy="674370"/>
            </a:xfrm>
            <a:custGeom>
              <a:avLst/>
              <a:gdLst/>
              <a:ahLst/>
              <a:cxnLst/>
              <a:rect r="r" b="b" t="t" l="l"/>
              <a:pathLst>
                <a:path h="674370" w="5399405">
                  <a:moveTo>
                    <a:pt x="0" y="0"/>
                  </a:moveTo>
                  <a:lnTo>
                    <a:pt x="5399405" y="0"/>
                  </a:lnTo>
                  <a:lnTo>
                    <a:pt x="5399405" y="674370"/>
                  </a:lnTo>
                  <a:lnTo>
                    <a:pt x="0" y="674370"/>
                  </a:lnTo>
                  <a:close/>
                </a:path>
              </a:pathLst>
            </a:custGeom>
            <a:blipFill>
              <a:blip r:embed="rId22">
                <a:alphaModFix amt="0"/>
              </a:blip>
              <a:stretch>
                <a:fillRect l="0" t="-105902" r="0" b="-105896"/>
              </a:stretch>
            </a:blipFill>
          </p:spPr>
        </p:sp>
      </p:grpSp>
      <p:grpSp>
        <p:nvGrpSpPr>
          <p:cNvPr name="Group 165" id="165"/>
          <p:cNvGrpSpPr/>
          <p:nvPr/>
        </p:nvGrpSpPr>
        <p:grpSpPr>
          <a:xfrm rot="0">
            <a:off x="9326299" y="6344031"/>
            <a:ext cx="3908441" cy="829608"/>
            <a:chOff x="0" y="0"/>
            <a:chExt cx="5211254" cy="1106145"/>
          </a:xfrm>
        </p:grpSpPr>
        <p:sp>
          <p:nvSpPr>
            <p:cNvPr name="Freeform 166" id="166"/>
            <p:cNvSpPr/>
            <p:nvPr/>
          </p:nvSpPr>
          <p:spPr>
            <a:xfrm flipH="false" flipV="false" rot="0">
              <a:off x="0" y="0"/>
              <a:ext cx="5211191" cy="1106170"/>
            </a:xfrm>
            <a:custGeom>
              <a:avLst/>
              <a:gdLst/>
              <a:ahLst/>
              <a:cxnLst/>
              <a:rect r="r" b="b" t="t" l="l"/>
              <a:pathLst>
                <a:path h="1106170" w="5211191">
                  <a:moveTo>
                    <a:pt x="0" y="0"/>
                  </a:moveTo>
                  <a:lnTo>
                    <a:pt x="5211191" y="0"/>
                  </a:lnTo>
                  <a:lnTo>
                    <a:pt x="5211191" y="1106170"/>
                  </a:lnTo>
                  <a:lnTo>
                    <a:pt x="0" y="1106170"/>
                  </a:lnTo>
                  <a:close/>
                </a:path>
              </a:pathLst>
            </a:custGeom>
            <a:blipFill>
              <a:blip r:embed="rId22">
                <a:alphaModFix amt="0"/>
              </a:blip>
              <a:stretch>
                <a:fillRect l="0" t="-41732" r="-1" b="-41731"/>
              </a:stretch>
            </a:blipFill>
          </p:spPr>
        </p:sp>
      </p:grpSp>
      <p:grpSp>
        <p:nvGrpSpPr>
          <p:cNvPr name="Group 167" id="167"/>
          <p:cNvGrpSpPr/>
          <p:nvPr/>
        </p:nvGrpSpPr>
        <p:grpSpPr>
          <a:xfrm rot="0">
            <a:off x="13334095" y="6351213"/>
            <a:ext cx="4052449" cy="505758"/>
            <a:chOff x="0" y="0"/>
            <a:chExt cx="5403266" cy="674345"/>
          </a:xfrm>
        </p:grpSpPr>
        <p:sp>
          <p:nvSpPr>
            <p:cNvPr name="Freeform 168" id="168"/>
            <p:cNvSpPr/>
            <p:nvPr/>
          </p:nvSpPr>
          <p:spPr>
            <a:xfrm flipH="false" flipV="false" rot="0">
              <a:off x="0" y="0"/>
              <a:ext cx="5403215" cy="674370"/>
            </a:xfrm>
            <a:custGeom>
              <a:avLst/>
              <a:gdLst/>
              <a:ahLst/>
              <a:cxnLst/>
              <a:rect r="r" b="b" t="t" l="l"/>
              <a:pathLst>
                <a:path h="674370" w="5403215">
                  <a:moveTo>
                    <a:pt x="0" y="0"/>
                  </a:moveTo>
                  <a:lnTo>
                    <a:pt x="5403215" y="0"/>
                  </a:lnTo>
                  <a:lnTo>
                    <a:pt x="5403215" y="674370"/>
                  </a:lnTo>
                  <a:lnTo>
                    <a:pt x="0" y="674370"/>
                  </a:lnTo>
                  <a:close/>
                </a:path>
              </a:pathLst>
            </a:custGeom>
            <a:blipFill>
              <a:blip r:embed="rId22">
                <a:alphaModFix amt="0"/>
              </a:blip>
              <a:stretch>
                <a:fillRect l="0" t="-106013" r="0" b="-106009"/>
              </a:stretch>
            </a:blipFill>
          </p:spPr>
        </p:sp>
      </p:grpSp>
      <p:sp>
        <p:nvSpPr>
          <p:cNvPr name="TextBox 169" id="169"/>
          <p:cNvSpPr txBox="true"/>
          <p:nvPr/>
        </p:nvSpPr>
        <p:spPr>
          <a:xfrm rot="0">
            <a:off x="2139010" y="9763535"/>
            <a:ext cx="7909179" cy="292732"/>
          </a:xfrm>
          <a:prstGeom prst="rect">
            <a:avLst/>
          </a:prstGeom>
        </p:spPr>
        <p:txBody>
          <a:bodyPr anchor="t" rtlCol="false" tIns="0" lIns="0" bIns="0" rIns="0">
            <a:spAutoFit/>
          </a:bodyPr>
          <a:lstStyle/>
          <a:p>
            <a:pPr algn="ctr">
              <a:lnSpc>
                <a:spcPts val="2210"/>
              </a:lnSpc>
            </a:pPr>
            <a:r>
              <a:rPr lang="en-US" sz="1700" b="true">
                <a:solidFill>
                  <a:srgbClr val="EC7624"/>
                </a:solidFill>
                <a:latin typeface="TT Commons Pro Bold"/>
                <a:ea typeface="TT Commons Pro Bold"/>
                <a:cs typeface="TT Commons Pro Bold"/>
                <a:sym typeface="TT Commons Pro Bold"/>
              </a:rPr>
              <a:t>SWIGGY</a:t>
            </a:r>
            <a:r>
              <a:rPr lang="en-US" sz="1700" b="true">
                <a:solidFill>
                  <a:srgbClr val="F2EFEB"/>
                </a:solidFill>
                <a:latin typeface="TT Commons Pro Bold"/>
                <a:ea typeface="TT Commons Pro Bold"/>
                <a:cs typeface="TT Commons Pro Bold"/>
                <a:sym typeface="TT Commons Pro Bold"/>
              </a:rPr>
              <a:t> VS</a:t>
            </a:r>
            <a:r>
              <a:rPr lang="en-US" sz="1700" b="true">
                <a:solidFill>
                  <a:srgbClr val="CF0B23"/>
                </a:solidFill>
                <a:latin typeface="TT Commons Pro Bold"/>
                <a:ea typeface="TT Commons Pro Bold"/>
                <a:cs typeface="TT Commons Pro Bold"/>
                <a:sym typeface="TT Commons Pro Bold"/>
              </a:rPr>
              <a:t> ZOMATO</a:t>
            </a:r>
            <a:r>
              <a:rPr lang="en-US" sz="1700" b="true">
                <a:solidFill>
                  <a:srgbClr val="F2EFEB"/>
                </a:solidFill>
                <a:latin typeface="TT Commons Pro Bold"/>
                <a:ea typeface="TT Commons Pro Bold"/>
                <a:cs typeface="TT Commons Pro Bold"/>
                <a:sym typeface="TT Commons Pro Bold"/>
              </a:rPr>
              <a:t>: Restaurant Performance and Customer Insights Analysis</a:t>
            </a:r>
          </a:p>
        </p:txBody>
      </p:sp>
      <p:sp>
        <p:nvSpPr>
          <p:cNvPr name="TextBox 170" id="170"/>
          <p:cNvSpPr txBox="true"/>
          <p:nvPr/>
        </p:nvSpPr>
        <p:spPr>
          <a:xfrm rot="0">
            <a:off x="4953867" y="6395848"/>
            <a:ext cx="3276124" cy="397510"/>
          </a:xfrm>
          <a:prstGeom prst="rect">
            <a:avLst/>
          </a:prstGeom>
        </p:spPr>
        <p:txBody>
          <a:bodyPr anchor="t" rtlCol="false" tIns="0" lIns="0" bIns="0" rIns="0">
            <a:spAutoFit/>
          </a:bodyPr>
          <a:lstStyle/>
          <a:p>
            <a:pPr algn="ctr">
              <a:lnSpc>
                <a:spcPts val="3289"/>
              </a:lnSpc>
              <a:spcBef>
                <a:spcPct val="0"/>
              </a:spcBef>
            </a:pPr>
            <a:r>
              <a:rPr lang="en-US" b="true" sz="2349">
                <a:solidFill>
                  <a:srgbClr val="EB6934"/>
                </a:solidFill>
                <a:latin typeface="TT Commons Pro Bold"/>
                <a:ea typeface="TT Commons Pro Bold"/>
                <a:cs typeface="TT Commons Pro Bold"/>
                <a:sym typeface="TT Commons Pro Bold"/>
              </a:rPr>
              <a:t>2.</a:t>
            </a:r>
            <a:r>
              <a:rPr lang="en-US" b="true" sz="2349">
                <a:solidFill>
                  <a:srgbClr val="EB6934"/>
                </a:solidFill>
                <a:latin typeface="TT Commons Pro Bold"/>
                <a:ea typeface="TT Commons Pro Bold"/>
                <a:cs typeface="TT Commons Pro Bold"/>
                <a:sym typeface="TT Commons Pro Bold"/>
              </a:rPr>
              <a:t>High Delivery Charges</a:t>
            </a:r>
          </a:p>
        </p:txBody>
      </p:sp>
      <p:sp>
        <p:nvSpPr>
          <p:cNvPr name="TextBox 171" id="171"/>
          <p:cNvSpPr txBox="true"/>
          <p:nvPr/>
        </p:nvSpPr>
        <p:spPr>
          <a:xfrm rot="0">
            <a:off x="9299219" y="6230683"/>
            <a:ext cx="3935521" cy="807085"/>
          </a:xfrm>
          <a:prstGeom prst="rect">
            <a:avLst/>
          </a:prstGeom>
        </p:spPr>
        <p:txBody>
          <a:bodyPr anchor="t" rtlCol="false" tIns="0" lIns="0" bIns="0" rIns="0">
            <a:spAutoFit/>
          </a:bodyPr>
          <a:lstStyle/>
          <a:p>
            <a:pPr algn="l">
              <a:lnSpc>
                <a:spcPts val="3289"/>
              </a:lnSpc>
              <a:spcBef>
                <a:spcPct val="0"/>
              </a:spcBef>
            </a:pPr>
            <a:r>
              <a:rPr lang="en-US" b="true" sz="2349">
                <a:solidFill>
                  <a:srgbClr val="EB6934"/>
                </a:solidFill>
                <a:latin typeface="TT Commons Pro Bold"/>
                <a:ea typeface="TT Commons Pro Bold"/>
                <a:cs typeface="TT Commons Pro Bold"/>
                <a:sym typeface="TT Commons Pro Bold"/>
              </a:rPr>
              <a:t>3.Limited Restaurant Availability</a:t>
            </a:r>
          </a:p>
        </p:txBody>
      </p:sp>
      <p:sp>
        <p:nvSpPr>
          <p:cNvPr name="TextBox 172" id="172"/>
          <p:cNvSpPr txBox="true"/>
          <p:nvPr/>
        </p:nvSpPr>
        <p:spPr>
          <a:xfrm rot="0">
            <a:off x="13549467" y="6395848"/>
            <a:ext cx="3468506" cy="397510"/>
          </a:xfrm>
          <a:prstGeom prst="rect">
            <a:avLst/>
          </a:prstGeom>
        </p:spPr>
        <p:txBody>
          <a:bodyPr anchor="t" rtlCol="false" tIns="0" lIns="0" bIns="0" rIns="0">
            <a:spAutoFit/>
          </a:bodyPr>
          <a:lstStyle/>
          <a:p>
            <a:pPr algn="l">
              <a:lnSpc>
                <a:spcPts val="3289"/>
              </a:lnSpc>
              <a:spcBef>
                <a:spcPct val="0"/>
              </a:spcBef>
            </a:pPr>
            <a:r>
              <a:rPr lang="en-US" b="true" sz="2349">
                <a:solidFill>
                  <a:srgbClr val="EB6934"/>
                </a:solidFill>
                <a:latin typeface="TT Commons Pro Bold"/>
                <a:ea typeface="TT Commons Pro Bold"/>
                <a:cs typeface="TT Commons Pro Bold"/>
                <a:sym typeface="TT Commons Pro Bold"/>
              </a:rPr>
              <a:t>4.Customer Satisfaction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8810"/>
            <a:chOff x="0" y="0"/>
            <a:chExt cx="24384000" cy="13718413"/>
          </a:xfrm>
        </p:grpSpPr>
        <p:sp>
          <p:nvSpPr>
            <p:cNvPr name="Freeform 3" id="3" descr="preencoded.png"/>
            <p:cNvSpPr/>
            <p:nvPr/>
          </p:nvSpPr>
          <p:spPr>
            <a:xfrm flipH="false" flipV="false" rot="0">
              <a:off x="0" y="0"/>
              <a:ext cx="24384000" cy="13718412"/>
            </a:xfrm>
            <a:custGeom>
              <a:avLst/>
              <a:gdLst/>
              <a:ahLst/>
              <a:cxnLst/>
              <a:rect r="r" b="b" t="t" l="l"/>
              <a:pathLst>
                <a:path h="13718412" w="24384000">
                  <a:moveTo>
                    <a:pt x="0" y="0"/>
                  </a:moveTo>
                  <a:lnTo>
                    <a:pt x="24384000" y="0"/>
                  </a:lnTo>
                  <a:lnTo>
                    <a:pt x="24384000" y="13718412"/>
                  </a:lnTo>
                  <a:lnTo>
                    <a:pt x="0" y="13718412"/>
                  </a:lnTo>
                  <a:lnTo>
                    <a:pt x="0" y="0"/>
                  </a:lnTo>
                  <a:close/>
                </a:path>
              </a:pathLst>
            </a:custGeom>
            <a:blipFill>
              <a:blip r:embed="rId2"/>
              <a:stretch>
                <a:fillRect l="-13" t="0" r="-13" b="0"/>
              </a:stretch>
            </a:blipFill>
          </p:spPr>
        </p:sp>
      </p:grpSp>
      <p:grpSp>
        <p:nvGrpSpPr>
          <p:cNvPr name="Group 4" id="4"/>
          <p:cNvGrpSpPr/>
          <p:nvPr/>
        </p:nvGrpSpPr>
        <p:grpSpPr>
          <a:xfrm rot="0">
            <a:off x="466677" y="9399213"/>
            <a:ext cx="17259872" cy="14573"/>
            <a:chOff x="0" y="0"/>
            <a:chExt cx="23013162" cy="19431"/>
          </a:xfrm>
        </p:grpSpPr>
        <p:sp>
          <p:nvSpPr>
            <p:cNvPr name="Freeform 5" id="5"/>
            <p:cNvSpPr/>
            <p:nvPr/>
          </p:nvSpPr>
          <p:spPr>
            <a:xfrm flipH="false" flipV="false" rot="0">
              <a:off x="0" y="0"/>
              <a:ext cx="23013163" cy="19431"/>
            </a:xfrm>
            <a:custGeom>
              <a:avLst/>
              <a:gdLst/>
              <a:ahLst/>
              <a:cxnLst/>
              <a:rect r="r" b="b" t="t" l="l"/>
              <a:pathLst>
                <a:path h="19431" w="23013163">
                  <a:moveTo>
                    <a:pt x="0" y="0"/>
                  </a:moveTo>
                  <a:lnTo>
                    <a:pt x="23013163" y="0"/>
                  </a:lnTo>
                  <a:lnTo>
                    <a:pt x="23013163" y="19431"/>
                  </a:lnTo>
                  <a:lnTo>
                    <a:pt x="0" y="19431"/>
                  </a:lnTo>
                  <a:close/>
                </a:path>
              </a:pathLst>
            </a:custGeom>
            <a:solidFill>
              <a:srgbClr val="44292E"/>
            </a:solidFill>
          </p:spPr>
        </p:sp>
      </p:grpSp>
      <p:grpSp>
        <p:nvGrpSpPr>
          <p:cNvPr name="Group 6" id="6"/>
          <p:cNvGrpSpPr/>
          <p:nvPr/>
        </p:nvGrpSpPr>
        <p:grpSpPr>
          <a:xfrm rot="0">
            <a:off x="517722" y="8232515"/>
            <a:ext cx="17121283" cy="1071944"/>
            <a:chOff x="0" y="0"/>
            <a:chExt cx="22828377" cy="1429258"/>
          </a:xfrm>
        </p:grpSpPr>
        <p:sp>
          <p:nvSpPr>
            <p:cNvPr name="Freeform 7" id="7" descr="preencoded.png"/>
            <p:cNvSpPr/>
            <p:nvPr/>
          </p:nvSpPr>
          <p:spPr>
            <a:xfrm flipH="false" flipV="false" rot="0">
              <a:off x="0" y="0"/>
              <a:ext cx="22828377" cy="1429258"/>
            </a:xfrm>
            <a:custGeom>
              <a:avLst/>
              <a:gdLst/>
              <a:ahLst/>
              <a:cxnLst/>
              <a:rect r="r" b="b" t="t" l="l"/>
              <a:pathLst>
                <a:path h="1429258" w="22828377">
                  <a:moveTo>
                    <a:pt x="0" y="0"/>
                  </a:moveTo>
                  <a:lnTo>
                    <a:pt x="22828377" y="0"/>
                  </a:lnTo>
                  <a:lnTo>
                    <a:pt x="22828377" y="1429258"/>
                  </a:lnTo>
                  <a:lnTo>
                    <a:pt x="0" y="1429258"/>
                  </a:lnTo>
                  <a:lnTo>
                    <a:pt x="0" y="0"/>
                  </a:lnTo>
                  <a:close/>
                </a:path>
              </a:pathLst>
            </a:custGeom>
            <a:blipFill>
              <a:blip r:embed="rId3"/>
              <a:stretch>
                <a:fillRect l="0" t="-243" r="0" b="-243"/>
              </a:stretch>
            </a:blipFill>
          </p:spPr>
        </p:sp>
      </p:grpSp>
      <p:grpSp>
        <p:nvGrpSpPr>
          <p:cNvPr name="Group 8" id="8"/>
          <p:cNvGrpSpPr/>
          <p:nvPr/>
        </p:nvGrpSpPr>
        <p:grpSpPr>
          <a:xfrm rot="0">
            <a:off x="16465029" y="8487728"/>
            <a:ext cx="641699" cy="532352"/>
            <a:chOff x="0" y="0"/>
            <a:chExt cx="855599" cy="709803"/>
          </a:xfrm>
        </p:grpSpPr>
        <p:sp>
          <p:nvSpPr>
            <p:cNvPr name="Freeform 9" id="9" descr="preencoded.png"/>
            <p:cNvSpPr/>
            <p:nvPr/>
          </p:nvSpPr>
          <p:spPr>
            <a:xfrm flipH="false" flipV="false" rot="0">
              <a:off x="0" y="0"/>
              <a:ext cx="855599" cy="709803"/>
            </a:xfrm>
            <a:custGeom>
              <a:avLst/>
              <a:gdLst/>
              <a:ahLst/>
              <a:cxnLst/>
              <a:rect r="r" b="b" t="t" l="l"/>
              <a:pathLst>
                <a:path h="709803" w="855599">
                  <a:moveTo>
                    <a:pt x="0" y="0"/>
                  </a:moveTo>
                  <a:lnTo>
                    <a:pt x="855599" y="0"/>
                  </a:lnTo>
                  <a:lnTo>
                    <a:pt x="855599" y="709803"/>
                  </a:lnTo>
                  <a:lnTo>
                    <a:pt x="0" y="709803"/>
                  </a:lnTo>
                  <a:lnTo>
                    <a:pt x="0" y="0"/>
                  </a:lnTo>
                  <a:close/>
                </a:path>
              </a:pathLst>
            </a:custGeom>
            <a:blipFill>
              <a:blip r:embed="rId4"/>
              <a:stretch>
                <a:fillRect l="-62" t="0" r="-60" b="0"/>
              </a:stretch>
            </a:blipFill>
          </p:spPr>
        </p:sp>
      </p:grpSp>
      <p:grpSp>
        <p:nvGrpSpPr>
          <p:cNvPr name="Group 10" id="10"/>
          <p:cNvGrpSpPr/>
          <p:nvPr/>
        </p:nvGrpSpPr>
        <p:grpSpPr>
          <a:xfrm rot="0">
            <a:off x="15932725" y="8509606"/>
            <a:ext cx="29146" cy="532352"/>
            <a:chOff x="0" y="0"/>
            <a:chExt cx="38862" cy="709803"/>
          </a:xfrm>
        </p:grpSpPr>
        <p:sp>
          <p:nvSpPr>
            <p:cNvPr name="Freeform 11" id="11" descr="preencoded.png"/>
            <p:cNvSpPr/>
            <p:nvPr/>
          </p:nvSpPr>
          <p:spPr>
            <a:xfrm flipH="false" flipV="false" rot="0">
              <a:off x="0" y="0"/>
              <a:ext cx="38862" cy="709803"/>
            </a:xfrm>
            <a:custGeom>
              <a:avLst/>
              <a:gdLst/>
              <a:ahLst/>
              <a:cxnLst/>
              <a:rect r="r" b="b" t="t" l="l"/>
              <a:pathLst>
                <a:path h="709803" w="38862">
                  <a:moveTo>
                    <a:pt x="0" y="0"/>
                  </a:moveTo>
                  <a:lnTo>
                    <a:pt x="38862" y="0"/>
                  </a:lnTo>
                  <a:lnTo>
                    <a:pt x="38862" y="709803"/>
                  </a:lnTo>
                  <a:lnTo>
                    <a:pt x="0" y="709803"/>
                  </a:lnTo>
                  <a:lnTo>
                    <a:pt x="0" y="0"/>
                  </a:lnTo>
                  <a:close/>
                </a:path>
              </a:pathLst>
            </a:custGeom>
            <a:blipFill>
              <a:blip r:embed="rId5"/>
              <a:stretch>
                <a:fillRect l="0" t="-2470" r="0" b="-2470"/>
              </a:stretch>
            </a:blipFill>
          </p:spPr>
        </p:sp>
      </p:grpSp>
      <p:grpSp>
        <p:nvGrpSpPr>
          <p:cNvPr name="Group 12" id="12"/>
          <p:cNvGrpSpPr/>
          <p:nvPr/>
        </p:nvGrpSpPr>
        <p:grpSpPr>
          <a:xfrm rot="0">
            <a:off x="14831654" y="8531485"/>
            <a:ext cx="597980" cy="459391"/>
            <a:chOff x="0" y="0"/>
            <a:chExt cx="797306" cy="612521"/>
          </a:xfrm>
        </p:grpSpPr>
        <p:sp>
          <p:nvSpPr>
            <p:cNvPr name="Freeform 13" id="13" descr="preencoded.png"/>
            <p:cNvSpPr/>
            <p:nvPr/>
          </p:nvSpPr>
          <p:spPr>
            <a:xfrm flipH="false" flipV="false" rot="0">
              <a:off x="0" y="0"/>
              <a:ext cx="797306" cy="612521"/>
            </a:xfrm>
            <a:custGeom>
              <a:avLst/>
              <a:gdLst/>
              <a:ahLst/>
              <a:cxnLst/>
              <a:rect r="r" b="b" t="t" l="l"/>
              <a:pathLst>
                <a:path h="612521" w="797306">
                  <a:moveTo>
                    <a:pt x="0" y="0"/>
                  </a:moveTo>
                  <a:lnTo>
                    <a:pt x="797306" y="0"/>
                  </a:lnTo>
                  <a:lnTo>
                    <a:pt x="797306" y="612521"/>
                  </a:lnTo>
                  <a:lnTo>
                    <a:pt x="0" y="612521"/>
                  </a:lnTo>
                  <a:lnTo>
                    <a:pt x="0" y="0"/>
                  </a:lnTo>
                  <a:close/>
                </a:path>
              </a:pathLst>
            </a:custGeom>
            <a:blipFill>
              <a:blip r:embed="rId6"/>
              <a:stretch>
                <a:fillRect l="-191" t="0" r="-192" b="0"/>
              </a:stretch>
            </a:blipFill>
          </p:spPr>
        </p:sp>
      </p:grpSp>
      <p:grpSp>
        <p:nvGrpSpPr>
          <p:cNvPr name="Group 14" id="14"/>
          <p:cNvGrpSpPr/>
          <p:nvPr/>
        </p:nvGrpSpPr>
        <p:grpSpPr>
          <a:xfrm rot="0">
            <a:off x="14299349" y="8509606"/>
            <a:ext cx="21908" cy="525018"/>
            <a:chOff x="0" y="0"/>
            <a:chExt cx="29210" cy="700024"/>
          </a:xfrm>
        </p:grpSpPr>
        <p:sp>
          <p:nvSpPr>
            <p:cNvPr name="Freeform 15" id="15" descr="preencoded.png"/>
            <p:cNvSpPr/>
            <p:nvPr/>
          </p:nvSpPr>
          <p:spPr>
            <a:xfrm flipH="false" flipV="false" rot="0">
              <a:off x="0" y="0"/>
              <a:ext cx="29210" cy="700024"/>
            </a:xfrm>
            <a:custGeom>
              <a:avLst/>
              <a:gdLst/>
              <a:ahLst/>
              <a:cxnLst/>
              <a:rect r="r" b="b" t="t" l="l"/>
              <a:pathLst>
                <a:path h="700024" w="29210">
                  <a:moveTo>
                    <a:pt x="0" y="0"/>
                  </a:moveTo>
                  <a:lnTo>
                    <a:pt x="29210" y="0"/>
                  </a:lnTo>
                  <a:lnTo>
                    <a:pt x="29210" y="700024"/>
                  </a:lnTo>
                  <a:lnTo>
                    <a:pt x="0" y="700024"/>
                  </a:lnTo>
                  <a:lnTo>
                    <a:pt x="0" y="0"/>
                  </a:lnTo>
                  <a:close/>
                </a:path>
              </a:pathLst>
            </a:custGeom>
            <a:blipFill>
              <a:blip r:embed="rId7"/>
              <a:stretch>
                <a:fillRect l="-2565" t="0" r="-2565" b="0"/>
              </a:stretch>
            </a:blipFill>
          </p:spPr>
        </p:sp>
      </p:grpSp>
      <p:grpSp>
        <p:nvGrpSpPr>
          <p:cNvPr name="Group 16" id="16"/>
          <p:cNvGrpSpPr/>
          <p:nvPr/>
        </p:nvGrpSpPr>
        <p:grpSpPr>
          <a:xfrm rot="0">
            <a:off x="13227444" y="8516903"/>
            <a:ext cx="546926" cy="503110"/>
            <a:chOff x="0" y="0"/>
            <a:chExt cx="729234" cy="670814"/>
          </a:xfrm>
        </p:grpSpPr>
        <p:sp>
          <p:nvSpPr>
            <p:cNvPr name="Freeform 17" id="17" descr="preencoded.png"/>
            <p:cNvSpPr/>
            <p:nvPr/>
          </p:nvSpPr>
          <p:spPr>
            <a:xfrm flipH="false" flipV="false" rot="0">
              <a:off x="0" y="0"/>
              <a:ext cx="729234" cy="670814"/>
            </a:xfrm>
            <a:custGeom>
              <a:avLst/>
              <a:gdLst/>
              <a:ahLst/>
              <a:cxnLst/>
              <a:rect r="r" b="b" t="t" l="l"/>
              <a:pathLst>
                <a:path h="670814" w="729234">
                  <a:moveTo>
                    <a:pt x="0" y="0"/>
                  </a:moveTo>
                  <a:lnTo>
                    <a:pt x="729234" y="0"/>
                  </a:lnTo>
                  <a:lnTo>
                    <a:pt x="729234" y="670814"/>
                  </a:lnTo>
                  <a:lnTo>
                    <a:pt x="0" y="670814"/>
                  </a:lnTo>
                  <a:lnTo>
                    <a:pt x="0" y="0"/>
                  </a:lnTo>
                  <a:close/>
                </a:path>
              </a:pathLst>
            </a:custGeom>
            <a:blipFill>
              <a:blip r:embed="rId8"/>
              <a:stretch>
                <a:fillRect l="-482" t="0" r="-480" b="0"/>
              </a:stretch>
            </a:blipFill>
          </p:spPr>
        </p:sp>
      </p:grpSp>
      <p:grpSp>
        <p:nvGrpSpPr>
          <p:cNvPr name="Group 18" id="18"/>
          <p:cNvGrpSpPr/>
          <p:nvPr/>
        </p:nvGrpSpPr>
        <p:grpSpPr>
          <a:xfrm rot="0">
            <a:off x="12673260" y="8509606"/>
            <a:ext cx="36481" cy="525018"/>
            <a:chOff x="0" y="0"/>
            <a:chExt cx="48641" cy="700024"/>
          </a:xfrm>
        </p:grpSpPr>
        <p:sp>
          <p:nvSpPr>
            <p:cNvPr name="Freeform 19" id="19" descr="preencoded.png"/>
            <p:cNvSpPr/>
            <p:nvPr/>
          </p:nvSpPr>
          <p:spPr>
            <a:xfrm flipH="false" flipV="false" rot="0">
              <a:off x="0" y="0"/>
              <a:ext cx="48641" cy="700024"/>
            </a:xfrm>
            <a:custGeom>
              <a:avLst/>
              <a:gdLst/>
              <a:ahLst/>
              <a:cxnLst/>
              <a:rect r="r" b="b" t="t" l="l"/>
              <a:pathLst>
                <a:path h="700024" w="48641">
                  <a:moveTo>
                    <a:pt x="0" y="0"/>
                  </a:moveTo>
                  <a:lnTo>
                    <a:pt x="48641" y="0"/>
                  </a:lnTo>
                  <a:lnTo>
                    <a:pt x="48641" y="700024"/>
                  </a:lnTo>
                  <a:lnTo>
                    <a:pt x="0" y="700024"/>
                  </a:lnTo>
                  <a:lnTo>
                    <a:pt x="0" y="0"/>
                  </a:lnTo>
                  <a:close/>
                </a:path>
              </a:pathLst>
            </a:custGeom>
            <a:blipFill>
              <a:blip r:embed="rId9"/>
              <a:stretch>
                <a:fillRect l="-52" t="0" r="-52" b="0"/>
              </a:stretch>
            </a:blipFill>
          </p:spPr>
        </p:sp>
      </p:grpSp>
      <p:grpSp>
        <p:nvGrpSpPr>
          <p:cNvPr name="Group 20" id="20"/>
          <p:cNvGrpSpPr/>
          <p:nvPr/>
        </p:nvGrpSpPr>
        <p:grpSpPr>
          <a:xfrm rot="0">
            <a:off x="11564903" y="8531485"/>
            <a:ext cx="648938" cy="495872"/>
            <a:chOff x="0" y="0"/>
            <a:chExt cx="865251" cy="661162"/>
          </a:xfrm>
        </p:grpSpPr>
        <p:sp>
          <p:nvSpPr>
            <p:cNvPr name="Freeform 21" id="21" descr="preencoded.png"/>
            <p:cNvSpPr/>
            <p:nvPr/>
          </p:nvSpPr>
          <p:spPr>
            <a:xfrm flipH="false" flipV="false" rot="0">
              <a:off x="0" y="0"/>
              <a:ext cx="865251" cy="661162"/>
            </a:xfrm>
            <a:custGeom>
              <a:avLst/>
              <a:gdLst/>
              <a:ahLst/>
              <a:cxnLst/>
              <a:rect r="r" b="b" t="t" l="l"/>
              <a:pathLst>
                <a:path h="661162" w="865251">
                  <a:moveTo>
                    <a:pt x="0" y="0"/>
                  </a:moveTo>
                  <a:lnTo>
                    <a:pt x="865251" y="0"/>
                  </a:lnTo>
                  <a:lnTo>
                    <a:pt x="865251" y="661162"/>
                  </a:lnTo>
                  <a:lnTo>
                    <a:pt x="0" y="661162"/>
                  </a:lnTo>
                  <a:lnTo>
                    <a:pt x="0" y="0"/>
                  </a:lnTo>
                  <a:close/>
                </a:path>
              </a:pathLst>
            </a:custGeom>
            <a:blipFill>
              <a:blip r:embed="rId10"/>
              <a:stretch>
                <a:fillRect l="0" t="-145" r="0" b="-145"/>
              </a:stretch>
            </a:blipFill>
          </p:spPr>
        </p:sp>
      </p:grpSp>
      <p:grpSp>
        <p:nvGrpSpPr>
          <p:cNvPr name="Group 22" id="22"/>
          <p:cNvGrpSpPr/>
          <p:nvPr/>
        </p:nvGrpSpPr>
        <p:grpSpPr>
          <a:xfrm rot="0">
            <a:off x="823979" y="8436693"/>
            <a:ext cx="758380" cy="641699"/>
            <a:chOff x="0" y="0"/>
            <a:chExt cx="1011174" cy="855599"/>
          </a:xfrm>
        </p:grpSpPr>
        <p:sp>
          <p:nvSpPr>
            <p:cNvPr name="Freeform 23" id="23" descr="preencoded.png"/>
            <p:cNvSpPr/>
            <p:nvPr/>
          </p:nvSpPr>
          <p:spPr>
            <a:xfrm flipH="false" flipV="false" rot="0">
              <a:off x="0" y="0"/>
              <a:ext cx="1011174" cy="855599"/>
            </a:xfrm>
            <a:custGeom>
              <a:avLst/>
              <a:gdLst/>
              <a:ahLst/>
              <a:cxnLst/>
              <a:rect r="r" b="b" t="t" l="l"/>
              <a:pathLst>
                <a:path h="855599" w="1011174">
                  <a:moveTo>
                    <a:pt x="0" y="0"/>
                  </a:moveTo>
                  <a:lnTo>
                    <a:pt x="1011174" y="0"/>
                  </a:lnTo>
                  <a:lnTo>
                    <a:pt x="1011174" y="855599"/>
                  </a:lnTo>
                  <a:lnTo>
                    <a:pt x="0" y="855599"/>
                  </a:lnTo>
                  <a:lnTo>
                    <a:pt x="0" y="0"/>
                  </a:lnTo>
                  <a:close/>
                </a:path>
              </a:pathLst>
            </a:custGeom>
            <a:blipFill>
              <a:blip r:embed="rId11"/>
              <a:stretch>
                <a:fillRect l="0" t="-37" r="0" b="-37"/>
              </a:stretch>
            </a:blipFill>
          </p:spPr>
        </p:sp>
      </p:grpSp>
      <p:grpSp>
        <p:nvGrpSpPr>
          <p:cNvPr name="Group 24" id="24"/>
          <p:cNvGrpSpPr/>
          <p:nvPr/>
        </p:nvGrpSpPr>
        <p:grpSpPr>
          <a:xfrm rot="0">
            <a:off x="14454578" y="5549113"/>
            <a:ext cx="3106303" cy="3755326"/>
            <a:chOff x="0" y="0"/>
            <a:chExt cx="4141737" cy="5007102"/>
          </a:xfrm>
        </p:grpSpPr>
        <p:sp>
          <p:nvSpPr>
            <p:cNvPr name="Freeform 25" id="25" descr="preencoded.png"/>
            <p:cNvSpPr/>
            <p:nvPr/>
          </p:nvSpPr>
          <p:spPr>
            <a:xfrm flipH="false" flipV="false" rot="0">
              <a:off x="0" y="0"/>
              <a:ext cx="4141724" cy="5007102"/>
            </a:xfrm>
            <a:custGeom>
              <a:avLst/>
              <a:gdLst/>
              <a:ahLst/>
              <a:cxnLst/>
              <a:rect r="r" b="b" t="t" l="l"/>
              <a:pathLst>
                <a:path h="5007102" w="4141724">
                  <a:moveTo>
                    <a:pt x="0" y="0"/>
                  </a:moveTo>
                  <a:lnTo>
                    <a:pt x="4141724" y="0"/>
                  </a:lnTo>
                  <a:lnTo>
                    <a:pt x="4141724" y="5007102"/>
                  </a:lnTo>
                  <a:lnTo>
                    <a:pt x="0" y="5007102"/>
                  </a:lnTo>
                  <a:lnTo>
                    <a:pt x="0" y="0"/>
                  </a:lnTo>
                  <a:close/>
                </a:path>
              </a:pathLst>
            </a:custGeom>
            <a:blipFill>
              <a:blip r:embed="rId12"/>
              <a:stretch>
                <a:fillRect l="-1067" t="0" r="-1067" b="0"/>
              </a:stretch>
            </a:blipFill>
          </p:spPr>
        </p:sp>
      </p:grpSp>
      <p:grpSp>
        <p:nvGrpSpPr>
          <p:cNvPr name="Group 26" id="26"/>
          <p:cNvGrpSpPr/>
          <p:nvPr/>
        </p:nvGrpSpPr>
        <p:grpSpPr>
          <a:xfrm rot="0">
            <a:off x="15765018" y="6285586"/>
            <a:ext cx="568738" cy="51054"/>
            <a:chOff x="0" y="0"/>
            <a:chExt cx="758317" cy="68072"/>
          </a:xfrm>
        </p:grpSpPr>
        <p:sp>
          <p:nvSpPr>
            <p:cNvPr name="Freeform 27" id="27" descr="preencoded.png"/>
            <p:cNvSpPr/>
            <p:nvPr/>
          </p:nvSpPr>
          <p:spPr>
            <a:xfrm flipH="false" flipV="false" rot="0">
              <a:off x="0" y="0"/>
              <a:ext cx="758317" cy="68072"/>
            </a:xfrm>
            <a:custGeom>
              <a:avLst/>
              <a:gdLst/>
              <a:ahLst/>
              <a:cxnLst/>
              <a:rect r="r" b="b" t="t" l="l"/>
              <a:pathLst>
                <a:path h="68072" w="758317">
                  <a:moveTo>
                    <a:pt x="0" y="0"/>
                  </a:moveTo>
                  <a:lnTo>
                    <a:pt x="758317" y="0"/>
                  </a:lnTo>
                  <a:lnTo>
                    <a:pt x="758317" y="68072"/>
                  </a:lnTo>
                  <a:lnTo>
                    <a:pt x="0" y="68072"/>
                  </a:lnTo>
                  <a:lnTo>
                    <a:pt x="0" y="0"/>
                  </a:lnTo>
                  <a:close/>
                </a:path>
              </a:pathLst>
            </a:custGeom>
            <a:blipFill>
              <a:blip r:embed="rId13"/>
              <a:stretch>
                <a:fillRect l="0" t="-3899" r="0" b="-3899"/>
              </a:stretch>
            </a:blipFill>
          </p:spPr>
        </p:sp>
      </p:grpSp>
      <p:grpSp>
        <p:nvGrpSpPr>
          <p:cNvPr name="Group 28" id="28"/>
          <p:cNvGrpSpPr/>
          <p:nvPr/>
        </p:nvGrpSpPr>
        <p:grpSpPr>
          <a:xfrm rot="0">
            <a:off x="15436882" y="4644923"/>
            <a:ext cx="1203198" cy="1028128"/>
            <a:chOff x="0" y="0"/>
            <a:chExt cx="1604264" cy="1370838"/>
          </a:xfrm>
        </p:grpSpPr>
        <p:sp>
          <p:nvSpPr>
            <p:cNvPr name="Freeform 29" id="29" descr="preencoded.png"/>
            <p:cNvSpPr/>
            <p:nvPr/>
          </p:nvSpPr>
          <p:spPr>
            <a:xfrm flipH="false" flipV="false" rot="0">
              <a:off x="0" y="0"/>
              <a:ext cx="1604264" cy="1370838"/>
            </a:xfrm>
            <a:custGeom>
              <a:avLst/>
              <a:gdLst/>
              <a:ahLst/>
              <a:cxnLst/>
              <a:rect r="r" b="b" t="t" l="l"/>
              <a:pathLst>
                <a:path h="1370838" w="1604264">
                  <a:moveTo>
                    <a:pt x="0" y="0"/>
                  </a:moveTo>
                  <a:lnTo>
                    <a:pt x="1604264" y="0"/>
                  </a:lnTo>
                  <a:lnTo>
                    <a:pt x="1604264" y="1370838"/>
                  </a:lnTo>
                  <a:lnTo>
                    <a:pt x="0" y="1370838"/>
                  </a:lnTo>
                  <a:lnTo>
                    <a:pt x="0" y="0"/>
                  </a:lnTo>
                  <a:close/>
                </a:path>
              </a:pathLst>
            </a:custGeom>
            <a:blipFill>
              <a:blip r:embed="rId14"/>
              <a:stretch>
                <a:fillRect l="-125" t="0" r="-125" b="0"/>
              </a:stretch>
            </a:blipFill>
          </p:spPr>
        </p:sp>
      </p:grpSp>
      <p:sp>
        <p:nvSpPr>
          <p:cNvPr name="Freeform 30" id="30"/>
          <p:cNvSpPr/>
          <p:nvPr/>
        </p:nvSpPr>
        <p:spPr>
          <a:xfrm flipH="false" flipV="false" rot="0">
            <a:off x="14650269" y="4499991"/>
            <a:ext cx="574205" cy="494005"/>
          </a:xfrm>
          <a:custGeom>
            <a:avLst/>
            <a:gdLst/>
            <a:ahLst/>
            <a:cxnLst/>
            <a:rect r="r" b="b" t="t" l="l"/>
            <a:pathLst>
              <a:path h="494005" w="574205">
                <a:moveTo>
                  <a:pt x="0" y="0"/>
                </a:moveTo>
                <a:lnTo>
                  <a:pt x="574205" y="0"/>
                </a:lnTo>
                <a:lnTo>
                  <a:pt x="574205" y="494005"/>
                </a:lnTo>
                <a:lnTo>
                  <a:pt x="0" y="49400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1" id="31"/>
          <p:cNvGrpSpPr/>
          <p:nvPr/>
        </p:nvGrpSpPr>
        <p:grpSpPr>
          <a:xfrm rot="0">
            <a:off x="14744157" y="4593879"/>
            <a:ext cx="386467" cy="451409"/>
            <a:chOff x="0" y="0"/>
            <a:chExt cx="515290" cy="601878"/>
          </a:xfrm>
        </p:grpSpPr>
        <p:sp>
          <p:nvSpPr>
            <p:cNvPr name="Freeform 32" id="32"/>
            <p:cNvSpPr/>
            <p:nvPr/>
          </p:nvSpPr>
          <p:spPr>
            <a:xfrm flipH="false" flipV="false" rot="0">
              <a:off x="0" y="0"/>
              <a:ext cx="515239" cy="601853"/>
            </a:xfrm>
            <a:custGeom>
              <a:avLst/>
              <a:gdLst/>
              <a:ahLst/>
              <a:cxnLst/>
              <a:rect r="r" b="b" t="t" l="l"/>
              <a:pathLst>
                <a:path h="601853" w="515239">
                  <a:moveTo>
                    <a:pt x="0" y="0"/>
                  </a:moveTo>
                  <a:lnTo>
                    <a:pt x="515239" y="0"/>
                  </a:lnTo>
                  <a:lnTo>
                    <a:pt x="515239" y="601853"/>
                  </a:lnTo>
                  <a:lnTo>
                    <a:pt x="0" y="601853"/>
                  </a:lnTo>
                  <a:close/>
                </a:path>
              </a:pathLst>
            </a:custGeom>
            <a:blipFill>
              <a:blip r:embed="rId17">
                <a:alphaModFix amt="0"/>
              </a:blip>
              <a:stretch>
                <a:fillRect l="-99980" t="0" r="-99987" b="-4"/>
              </a:stretch>
            </a:blipFill>
          </p:spPr>
        </p:sp>
      </p:grpSp>
      <p:grpSp>
        <p:nvGrpSpPr>
          <p:cNvPr name="Group 33" id="33"/>
          <p:cNvGrpSpPr/>
          <p:nvPr/>
        </p:nvGrpSpPr>
        <p:grpSpPr>
          <a:xfrm rot="0">
            <a:off x="14729574" y="4553369"/>
            <a:ext cx="386467" cy="379971"/>
            <a:chOff x="0" y="0"/>
            <a:chExt cx="515290" cy="506628"/>
          </a:xfrm>
        </p:grpSpPr>
        <p:sp>
          <p:nvSpPr>
            <p:cNvPr name="Freeform 34" id="34"/>
            <p:cNvSpPr/>
            <p:nvPr/>
          </p:nvSpPr>
          <p:spPr>
            <a:xfrm flipH="false" flipV="false" rot="0">
              <a:off x="0" y="0"/>
              <a:ext cx="515289" cy="506629"/>
            </a:xfrm>
            <a:custGeom>
              <a:avLst/>
              <a:gdLst/>
              <a:ahLst/>
              <a:cxnLst/>
              <a:rect r="r" b="b" t="t" l="l"/>
              <a:pathLst>
                <a:path h="506629" w="515289">
                  <a:moveTo>
                    <a:pt x="0" y="0"/>
                  </a:moveTo>
                  <a:lnTo>
                    <a:pt x="515289" y="0"/>
                  </a:lnTo>
                  <a:lnTo>
                    <a:pt x="515289" y="506629"/>
                  </a:lnTo>
                  <a:lnTo>
                    <a:pt x="0" y="506629"/>
                  </a:lnTo>
                  <a:close/>
                </a:path>
              </a:pathLst>
            </a:custGeom>
            <a:blipFill>
              <a:blip r:embed="rId18">
                <a:alphaModFix amt="0"/>
              </a:blip>
              <a:stretch>
                <a:fillRect l="-76147" t="0" r="-76147" b="0"/>
              </a:stretch>
            </a:blipFill>
          </p:spPr>
        </p:sp>
        <p:sp>
          <p:nvSpPr>
            <p:cNvPr name="TextBox 35" id="35"/>
            <p:cNvSpPr txBox="true"/>
            <p:nvPr/>
          </p:nvSpPr>
          <p:spPr>
            <a:xfrm>
              <a:off x="0" y="95250"/>
              <a:ext cx="515290" cy="411378"/>
            </a:xfrm>
            <a:prstGeom prst="rect">
              <a:avLst/>
            </a:prstGeom>
          </p:spPr>
          <p:txBody>
            <a:bodyPr anchor="ctr" rtlCol="false" tIns="0" lIns="0" bIns="0" rIns="0"/>
            <a:lstStyle/>
            <a:p>
              <a:pPr algn="l">
                <a:lnSpc>
                  <a:spcPts val="1549"/>
                </a:lnSpc>
              </a:pPr>
              <a:r>
                <a:rPr lang="en-US" sz="2112" b="true">
                  <a:solidFill>
                    <a:srgbClr val="E2A3A7"/>
                  </a:solidFill>
                  <a:latin typeface="TT Commons Pro Bold"/>
                  <a:ea typeface="TT Commons Pro Bold"/>
                  <a:cs typeface="TT Commons Pro Bold"/>
                  <a:sym typeface="TT Commons Pro Bold"/>
                </a:rPr>
                <a:t>05</a:t>
              </a:r>
            </a:p>
          </p:txBody>
        </p:sp>
      </p:grpSp>
      <p:grpSp>
        <p:nvGrpSpPr>
          <p:cNvPr name="Group 36" id="36"/>
          <p:cNvGrpSpPr/>
          <p:nvPr/>
        </p:nvGrpSpPr>
        <p:grpSpPr>
          <a:xfrm rot="0">
            <a:off x="14598320" y="6640325"/>
            <a:ext cx="3166196" cy="1811836"/>
            <a:chOff x="0" y="0"/>
            <a:chExt cx="4221594" cy="2415781"/>
          </a:xfrm>
        </p:grpSpPr>
        <p:sp>
          <p:nvSpPr>
            <p:cNvPr name="Freeform 37" id="37"/>
            <p:cNvSpPr/>
            <p:nvPr/>
          </p:nvSpPr>
          <p:spPr>
            <a:xfrm flipH="false" flipV="false" rot="0">
              <a:off x="0" y="0"/>
              <a:ext cx="4221607" cy="2415794"/>
            </a:xfrm>
            <a:custGeom>
              <a:avLst/>
              <a:gdLst/>
              <a:ahLst/>
              <a:cxnLst/>
              <a:rect r="r" b="b" t="t" l="l"/>
              <a:pathLst>
                <a:path h="2415794" w="4221607">
                  <a:moveTo>
                    <a:pt x="0" y="0"/>
                  </a:moveTo>
                  <a:lnTo>
                    <a:pt x="4221607" y="0"/>
                  </a:lnTo>
                  <a:lnTo>
                    <a:pt x="4221607" y="2415794"/>
                  </a:lnTo>
                  <a:lnTo>
                    <a:pt x="0" y="2415794"/>
                  </a:lnTo>
                  <a:close/>
                </a:path>
              </a:pathLst>
            </a:custGeom>
            <a:blipFill>
              <a:blip r:embed="rId17">
                <a:alphaModFix amt="0"/>
              </a:blip>
              <a:stretch>
                <a:fillRect l="-23471" t="0" r="-23471" b="0"/>
              </a:stretch>
            </a:blipFill>
          </p:spPr>
        </p:sp>
      </p:grpSp>
      <p:grpSp>
        <p:nvGrpSpPr>
          <p:cNvPr name="Group 38" id="38"/>
          <p:cNvGrpSpPr/>
          <p:nvPr/>
        </p:nvGrpSpPr>
        <p:grpSpPr>
          <a:xfrm rot="0">
            <a:off x="14598320" y="6597463"/>
            <a:ext cx="3166205" cy="1854698"/>
            <a:chOff x="0" y="0"/>
            <a:chExt cx="4221607" cy="2472931"/>
          </a:xfrm>
        </p:grpSpPr>
        <p:sp>
          <p:nvSpPr>
            <p:cNvPr name="Freeform 39" id="39"/>
            <p:cNvSpPr/>
            <p:nvPr/>
          </p:nvSpPr>
          <p:spPr>
            <a:xfrm flipH="false" flipV="false" rot="0">
              <a:off x="0" y="0"/>
              <a:ext cx="4221605" cy="2472927"/>
            </a:xfrm>
            <a:custGeom>
              <a:avLst/>
              <a:gdLst/>
              <a:ahLst/>
              <a:cxnLst/>
              <a:rect r="r" b="b" t="t" l="l"/>
              <a:pathLst>
                <a:path h="2472927" w="4221605">
                  <a:moveTo>
                    <a:pt x="0" y="0"/>
                  </a:moveTo>
                  <a:lnTo>
                    <a:pt x="4221605" y="0"/>
                  </a:lnTo>
                  <a:lnTo>
                    <a:pt x="4221605" y="2472927"/>
                  </a:lnTo>
                  <a:lnTo>
                    <a:pt x="0" y="2472927"/>
                  </a:lnTo>
                  <a:close/>
                </a:path>
              </a:pathLst>
            </a:custGeom>
            <a:blipFill>
              <a:blip r:embed="rId18">
                <a:alphaModFix amt="0"/>
              </a:blip>
              <a:stretch>
                <a:fillRect l="-25157" t="0" r="-25157" b="0"/>
              </a:stretch>
            </a:blipFill>
          </p:spPr>
        </p:sp>
        <p:sp>
          <p:nvSpPr>
            <p:cNvPr name="TextBox 40" id="40"/>
            <p:cNvSpPr txBox="true"/>
            <p:nvPr/>
          </p:nvSpPr>
          <p:spPr>
            <a:xfrm>
              <a:off x="0" y="-57150"/>
              <a:ext cx="4221607" cy="2530081"/>
            </a:xfrm>
            <a:prstGeom prst="rect">
              <a:avLst/>
            </a:prstGeom>
          </p:spPr>
          <p:txBody>
            <a:bodyPr anchor="ctr" rtlCol="false" tIns="0" lIns="0" bIns="0" rIns="0"/>
            <a:lstStyle/>
            <a:p>
              <a:pPr algn="l">
                <a:lnSpc>
                  <a:spcPts val="2849"/>
                </a:lnSpc>
              </a:pPr>
              <a:r>
                <a:rPr lang="en-US" sz="1899">
                  <a:solidFill>
                    <a:srgbClr val="F2EFEB"/>
                  </a:solidFill>
                  <a:latin typeface="TT Commons Pro"/>
                  <a:ea typeface="TT Commons Pro"/>
                  <a:cs typeface="TT Commons Pro"/>
                  <a:sym typeface="TT Commons Pro"/>
                </a:rPr>
                <a:t>Evaluated both platforms</a:t>
              </a:r>
            </a:p>
            <a:p>
              <a:pPr algn="l">
                <a:lnSpc>
                  <a:spcPts val="2849"/>
                </a:lnSpc>
              </a:pPr>
              <a:r>
                <a:rPr lang="en-US" sz="1899">
                  <a:solidFill>
                    <a:srgbClr val="F2EFEB"/>
                  </a:solidFill>
                  <a:latin typeface="TT Commons Pro"/>
                  <a:ea typeface="TT Commons Pro"/>
                  <a:cs typeface="TT Commons Pro"/>
                  <a:sym typeface="TT Commons Pro"/>
                </a:rPr>
                <a:t>using the dataset to identify</a:t>
              </a:r>
            </a:p>
            <a:p>
              <a:pPr algn="l">
                <a:lnSpc>
                  <a:spcPts val="2849"/>
                </a:lnSpc>
              </a:pPr>
              <a:r>
                <a:rPr lang="en-US" sz="1899">
                  <a:solidFill>
                    <a:srgbClr val="F2EFEB"/>
                  </a:solidFill>
                  <a:latin typeface="TT Commons Pro"/>
                  <a:ea typeface="TT Commons Pro"/>
                  <a:cs typeface="TT Commons Pro"/>
                  <a:sym typeface="TT Commons Pro"/>
                </a:rPr>
                <a:t>better-performing metrics</a:t>
              </a:r>
            </a:p>
            <a:p>
              <a:pPr algn="l">
                <a:lnSpc>
                  <a:spcPts val="2849"/>
                </a:lnSpc>
              </a:pPr>
              <a:r>
                <a:rPr lang="en-US" sz="1899">
                  <a:solidFill>
                    <a:srgbClr val="F2EFEB"/>
                  </a:solidFill>
                  <a:latin typeface="TT Commons Pro"/>
                  <a:ea typeface="TT Commons Pro"/>
                  <a:cs typeface="TT Commons Pro"/>
                  <a:sym typeface="TT Commons Pro"/>
                </a:rPr>
                <a:t>and summarize</a:t>
              </a:r>
            </a:p>
            <a:p>
              <a:pPr algn="l">
                <a:lnSpc>
                  <a:spcPts val="2849"/>
                </a:lnSpc>
              </a:pPr>
              <a:r>
                <a:rPr lang="en-US" sz="1899">
                  <a:solidFill>
                    <a:srgbClr val="F2EFEB"/>
                  </a:solidFill>
                  <a:latin typeface="TT Commons Pro"/>
                  <a:ea typeface="TT Commons Pro"/>
                  <a:cs typeface="TT Commons Pro"/>
                  <a:sym typeface="TT Commons Pro"/>
                </a:rPr>
                <a:t>key findings.</a:t>
              </a:r>
            </a:p>
          </p:txBody>
        </p:sp>
      </p:grpSp>
      <p:grpSp>
        <p:nvGrpSpPr>
          <p:cNvPr name="Group 41" id="41"/>
          <p:cNvGrpSpPr/>
          <p:nvPr/>
        </p:nvGrpSpPr>
        <p:grpSpPr>
          <a:xfrm rot="0">
            <a:off x="14773323" y="5798487"/>
            <a:ext cx="2909459" cy="680209"/>
            <a:chOff x="0" y="0"/>
            <a:chExt cx="3879278" cy="906945"/>
          </a:xfrm>
        </p:grpSpPr>
        <p:sp>
          <p:nvSpPr>
            <p:cNvPr name="Freeform 42" id="42"/>
            <p:cNvSpPr/>
            <p:nvPr/>
          </p:nvSpPr>
          <p:spPr>
            <a:xfrm flipH="false" flipV="false" rot="0">
              <a:off x="0" y="0"/>
              <a:ext cx="3879215" cy="906907"/>
            </a:xfrm>
            <a:custGeom>
              <a:avLst/>
              <a:gdLst/>
              <a:ahLst/>
              <a:cxnLst/>
              <a:rect r="r" b="b" t="t" l="l"/>
              <a:pathLst>
                <a:path h="906907" w="3879215">
                  <a:moveTo>
                    <a:pt x="0" y="0"/>
                  </a:moveTo>
                  <a:lnTo>
                    <a:pt x="3879215" y="0"/>
                  </a:lnTo>
                  <a:lnTo>
                    <a:pt x="3879215" y="906907"/>
                  </a:lnTo>
                  <a:lnTo>
                    <a:pt x="0" y="906907"/>
                  </a:lnTo>
                  <a:close/>
                </a:path>
              </a:pathLst>
            </a:custGeom>
            <a:blipFill>
              <a:blip r:embed="rId17">
                <a:alphaModFix amt="0"/>
              </a:blip>
              <a:stretch>
                <a:fillRect l="0" t="-33286" r="-1" b="-33290"/>
              </a:stretch>
            </a:blipFill>
          </p:spPr>
        </p:sp>
      </p:grpSp>
      <p:grpSp>
        <p:nvGrpSpPr>
          <p:cNvPr name="Group 43" id="43"/>
          <p:cNvGrpSpPr/>
          <p:nvPr/>
        </p:nvGrpSpPr>
        <p:grpSpPr>
          <a:xfrm rot="0">
            <a:off x="14773323" y="5841349"/>
            <a:ext cx="2909459" cy="637346"/>
            <a:chOff x="0" y="0"/>
            <a:chExt cx="3879278" cy="849795"/>
          </a:xfrm>
        </p:grpSpPr>
        <p:sp>
          <p:nvSpPr>
            <p:cNvPr name="Freeform 44" id="44"/>
            <p:cNvSpPr/>
            <p:nvPr/>
          </p:nvSpPr>
          <p:spPr>
            <a:xfrm flipH="false" flipV="false" rot="0">
              <a:off x="0" y="0"/>
              <a:ext cx="3879279" cy="849795"/>
            </a:xfrm>
            <a:custGeom>
              <a:avLst/>
              <a:gdLst/>
              <a:ahLst/>
              <a:cxnLst/>
              <a:rect r="r" b="b" t="t" l="l"/>
              <a:pathLst>
                <a:path h="849795" w="3879279">
                  <a:moveTo>
                    <a:pt x="0" y="0"/>
                  </a:moveTo>
                  <a:lnTo>
                    <a:pt x="3879279" y="0"/>
                  </a:lnTo>
                  <a:lnTo>
                    <a:pt x="3879279" y="849795"/>
                  </a:lnTo>
                  <a:lnTo>
                    <a:pt x="0" y="849795"/>
                  </a:lnTo>
                  <a:close/>
                </a:path>
              </a:pathLst>
            </a:custGeom>
            <a:blipFill>
              <a:blip r:embed="rId18">
                <a:alphaModFix amt="0"/>
              </a:blip>
              <a:stretch>
                <a:fillRect l="0" t="-38948" r="0" b="-38948"/>
              </a:stretch>
            </a:blipFill>
          </p:spPr>
        </p:sp>
        <p:sp>
          <p:nvSpPr>
            <p:cNvPr name="TextBox 45" id="45"/>
            <p:cNvSpPr txBox="true"/>
            <p:nvPr/>
          </p:nvSpPr>
          <p:spPr>
            <a:xfrm>
              <a:off x="0" y="57150"/>
              <a:ext cx="3879278" cy="792645"/>
            </a:xfrm>
            <a:prstGeom prst="rect">
              <a:avLst/>
            </a:prstGeom>
          </p:spPr>
          <p:txBody>
            <a:bodyPr anchor="ctr" rtlCol="false" tIns="0" lIns="0" bIns="0" rIns="0"/>
            <a:lstStyle/>
            <a:p>
              <a:pPr algn="l">
                <a:lnSpc>
                  <a:spcPts val="1825"/>
                </a:lnSpc>
              </a:pPr>
              <a:r>
                <a:rPr lang="en-US" sz="2100" b="true">
                  <a:solidFill>
                    <a:srgbClr val="ED5E40"/>
                  </a:solidFill>
                  <a:latin typeface="TT Commons Pro Bold"/>
                  <a:ea typeface="TT Commons Pro Bold"/>
                  <a:cs typeface="TT Commons Pro Bold"/>
                  <a:sym typeface="TT Commons Pro Bold"/>
                </a:rPr>
                <a:t>Performance Evaluation</a:t>
              </a:r>
            </a:p>
          </p:txBody>
        </p:sp>
      </p:grpSp>
      <p:grpSp>
        <p:nvGrpSpPr>
          <p:cNvPr name="Group 46" id="46"/>
          <p:cNvGrpSpPr/>
          <p:nvPr/>
        </p:nvGrpSpPr>
        <p:grpSpPr>
          <a:xfrm rot="0">
            <a:off x="10770089" y="5855370"/>
            <a:ext cx="255175" cy="422910"/>
            <a:chOff x="0" y="0"/>
            <a:chExt cx="340233" cy="563880"/>
          </a:xfrm>
        </p:grpSpPr>
        <p:sp>
          <p:nvSpPr>
            <p:cNvPr name="Freeform 47" id="47" descr="preencoded.png"/>
            <p:cNvSpPr/>
            <p:nvPr/>
          </p:nvSpPr>
          <p:spPr>
            <a:xfrm flipH="false" flipV="false" rot="0">
              <a:off x="0" y="0"/>
              <a:ext cx="340233" cy="563880"/>
            </a:xfrm>
            <a:custGeom>
              <a:avLst/>
              <a:gdLst/>
              <a:ahLst/>
              <a:cxnLst/>
              <a:rect r="r" b="b" t="t" l="l"/>
              <a:pathLst>
                <a:path h="563880" w="340233">
                  <a:moveTo>
                    <a:pt x="0" y="0"/>
                  </a:moveTo>
                  <a:lnTo>
                    <a:pt x="340233" y="0"/>
                  </a:lnTo>
                  <a:lnTo>
                    <a:pt x="340233" y="563880"/>
                  </a:lnTo>
                  <a:lnTo>
                    <a:pt x="0" y="563880"/>
                  </a:lnTo>
                  <a:lnTo>
                    <a:pt x="0" y="0"/>
                  </a:lnTo>
                  <a:close/>
                </a:path>
              </a:pathLst>
            </a:custGeom>
            <a:blipFill>
              <a:blip r:embed="rId19"/>
              <a:stretch>
                <a:fillRect l="0" t="-281" r="0" b="-281"/>
              </a:stretch>
            </a:blipFill>
          </p:spPr>
        </p:sp>
      </p:grpSp>
      <p:grpSp>
        <p:nvGrpSpPr>
          <p:cNvPr name="Group 48" id="48"/>
          <p:cNvGrpSpPr/>
          <p:nvPr/>
        </p:nvGrpSpPr>
        <p:grpSpPr>
          <a:xfrm rot="0">
            <a:off x="10948730" y="5512651"/>
            <a:ext cx="3201162" cy="3755326"/>
            <a:chOff x="0" y="0"/>
            <a:chExt cx="4268216" cy="5007102"/>
          </a:xfrm>
        </p:grpSpPr>
        <p:sp>
          <p:nvSpPr>
            <p:cNvPr name="Freeform 49" id="49" descr="preencoded.png"/>
            <p:cNvSpPr/>
            <p:nvPr/>
          </p:nvSpPr>
          <p:spPr>
            <a:xfrm flipH="false" flipV="false" rot="0">
              <a:off x="0" y="0"/>
              <a:ext cx="4268216" cy="5007102"/>
            </a:xfrm>
            <a:custGeom>
              <a:avLst/>
              <a:gdLst/>
              <a:ahLst/>
              <a:cxnLst/>
              <a:rect r="r" b="b" t="t" l="l"/>
              <a:pathLst>
                <a:path h="5007102" w="4268216">
                  <a:moveTo>
                    <a:pt x="0" y="0"/>
                  </a:moveTo>
                  <a:lnTo>
                    <a:pt x="4268216" y="0"/>
                  </a:lnTo>
                  <a:lnTo>
                    <a:pt x="4268216" y="5007102"/>
                  </a:lnTo>
                  <a:lnTo>
                    <a:pt x="0" y="5007102"/>
                  </a:lnTo>
                  <a:lnTo>
                    <a:pt x="0" y="0"/>
                  </a:lnTo>
                  <a:close/>
                </a:path>
              </a:pathLst>
            </a:custGeom>
            <a:blipFill>
              <a:blip r:embed="rId20"/>
              <a:stretch>
                <a:fillRect l="-59" t="0" r="-59" b="0"/>
              </a:stretch>
            </a:blipFill>
          </p:spPr>
        </p:sp>
      </p:grpSp>
      <p:grpSp>
        <p:nvGrpSpPr>
          <p:cNvPr name="Group 50" id="50"/>
          <p:cNvGrpSpPr/>
          <p:nvPr/>
        </p:nvGrpSpPr>
        <p:grpSpPr>
          <a:xfrm rot="0">
            <a:off x="12345133" y="6285586"/>
            <a:ext cx="576072" cy="29146"/>
            <a:chOff x="0" y="0"/>
            <a:chExt cx="768096" cy="38862"/>
          </a:xfrm>
        </p:grpSpPr>
        <p:sp>
          <p:nvSpPr>
            <p:cNvPr name="Freeform 51" id="51" descr="preencoded.png"/>
            <p:cNvSpPr/>
            <p:nvPr/>
          </p:nvSpPr>
          <p:spPr>
            <a:xfrm flipH="false" flipV="false" rot="0">
              <a:off x="0" y="0"/>
              <a:ext cx="768096" cy="38862"/>
            </a:xfrm>
            <a:custGeom>
              <a:avLst/>
              <a:gdLst/>
              <a:ahLst/>
              <a:cxnLst/>
              <a:rect r="r" b="b" t="t" l="l"/>
              <a:pathLst>
                <a:path h="38862" w="768096">
                  <a:moveTo>
                    <a:pt x="0" y="0"/>
                  </a:moveTo>
                  <a:lnTo>
                    <a:pt x="768096" y="0"/>
                  </a:lnTo>
                  <a:lnTo>
                    <a:pt x="768096" y="38862"/>
                  </a:lnTo>
                  <a:lnTo>
                    <a:pt x="0" y="38862"/>
                  </a:lnTo>
                  <a:lnTo>
                    <a:pt x="0" y="0"/>
                  </a:lnTo>
                  <a:close/>
                </a:path>
              </a:pathLst>
            </a:custGeom>
            <a:blipFill>
              <a:blip r:embed="rId21"/>
              <a:stretch>
                <a:fillRect l="0" t="-2026" r="0" b="-1993"/>
              </a:stretch>
            </a:blipFill>
          </p:spPr>
        </p:sp>
      </p:grpSp>
      <p:grpSp>
        <p:nvGrpSpPr>
          <p:cNvPr name="Group 52" id="52"/>
          <p:cNvGrpSpPr/>
          <p:nvPr/>
        </p:nvGrpSpPr>
        <p:grpSpPr>
          <a:xfrm rot="0">
            <a:off x="12031580" y="4644923"/>
            <a:ext cx="1203198" cy="1028128"/>
            <a:chOff x="0" y="0"/>
            <a:chExt cx="1604264" cy="1370838"/>
          </a:xfrm>
        </p:grpSpPr>
        <p:sp>
          <p:nvSpPr>
            <p:cNvPr name="Freeform 53" id="53" descr="preencoded.png"/>
            <p:cNvSpPr/>
            <p:nvPr/>
          </p:nvSpPr>
          <p:spPr>
            <a:xfrm flipH="false" flipV="false" rot="0">
              <a:off x="0" y="0"/>
              <a:ext cx="1604264" cy="1370838"/>
            </a:xfrm>
            <a:custGeom>
              <a:avLst/>
              <a:gdLst/>
              <a:ahLst/>
              <a:cxnLst/>
              <a:rect r="r" b="b" t="t" l="l"/>
              <a:pathLst>
                <a:path h="1370838" w="1604264">
                  <a:moveTo>
                    <a:pt x="0" y="0"/>
                  </a:moveTo>
                  <a:lnTo>
                    <a:pt x="1604264" y="0"/>
                  </a:lnTo>
                  <a:lnTo>
                    <a:pt x="1604264" y="1370838"/>
                  </a:lnTo>
                  <a:lnTo>
                    <a:pt x="0" y="1370838"/>
                  </a:lnTo>
                  <a:lnTo>
                    <a:pt x="0" y="0"/>
                  </a:lnTo>
                  <a:close/>
                </a:path>
              </a:pathLst>
            </a:custGeom>
            <a:blipFill>
              <a:blip r:embed="rId22"/>
              <a:stretch>
                <a:fillRect l="-125" t="0" r="-125" b="0"/>
              </a:stretch>
            </a:blipFill>
          </p:spPr>
        </p:sp>
      </p:grpSp>
      <p:grpSp>
        <p:nvGrpSpPr>
          <p:cNvPr name="Group 54" id="54"/>
          <p:cNvGrpSpPr/>
          <p:nvPr/>
        </p:nvGrpSpPr>
        <p:grpSpPr>
          <a:xfrm rot="0">
            <a:off x="11200305" y="4506373"/>
            <a:ext cx="561499" cy="473964"/>
            <a:chOff x="0" y="0"/>
            <a:chExt cx="748665" cy="631952"/>
          </a:xfrm>
        </p:grpSpPr>
        <p:sp>
          <p:nvSpPr>
            <p:cNvPr name="Freeform 55" id="55" descr="preencoded.png"/>
            <p:cNvSpPr/>
            <p:nvPr/>
          </p:nvSpPr>
          <p:spPr>
            <a:xfrm flipH="false" flipV="false" rot="0">
              <a:off x="0" y="0"/>
              <a:ext cx="748665" cy="631952"/>
            </a:xfrm>
            <a:custGeom>
              <a:avLst/>
              <a:gdLst/>
              <a:ahLst/>
              <a:cxnLst/>
              <a:rect r="r" b="b" t="t" l="l"/>
              <a:pathLst>
                <a:path h="631952" w="748665">
                  <a:moveTo>
                    <a:pt x="0" y="0"/>
                  </a:moveTo>
                  <a:lnTo>
                    <a:pt x="748665" y="0"/>
                  </a:lnTo>
                  <a:lnTo>
                    <a:pt x="748665" y="631952"/>
                  </a:lnTo>
                  <a:lnTo>
                    <a:pt x="0" y="631952"/>
                  </a:lnTo>
                  <a:lnTo>
                    <a:pt x="0" y="0"/>
                  </a:lnTo>
                  <a:close/>
                </a:path>
              </a:pathLst>
            </a:custGeom>
            <a:blipFill>
              <a:blip r:embed="rId23"/>
              <a:stretch>
                <a:fillRect l="-322" t="0" r="-320" b="0"/>
              </a:stretch>
            </a:blipFill>
          </p:spPr>
        </p:sp>
      </p:grpSp>
      <p:grpSp>
        <p:nvGrpSpPr>
          <p:cNvPr name="Group 56" id="56"/>
          <p:cNvGrpSpPr/>
          <p:nvPr/>
        </p:nvGrpSpPr>
        <p:grpSpPr>
          <a:xfrm rot="0">
            <a:off x="11295097" y="4593879"/>
            <a:ext cx="386467" cy="445018"/>
            <a:chOff x="0" y="0"/>
            <a:chExt cx="515290" cy="593357"/>
          </a:xfrm>
        </p:grpSpPr>
        <p:sp>
          <p:nvSpPr>
            <p:cNvPr name="Freeform 57" id="57"/>
            <p:cNvSpPr/>
            <p:nvPr/>
          </p:nvSpPr>
          <p:spPr>
            <a:xfrm flipH="false" flipV="false" rot="0">
              <a:off x="0" y="0"/>
              <a:ext cx="515239" cy="593344"/>
            </a:xfrm>
            <a:custGeom>
              <a:avLst/>
              <a:gdLst/>
              <a:ahLst/>
              <a:cxnLst/>
              <a:rect r="r" b="b" t="t" l="l"/>
              <a:pathLst>
                <a:path h="593344" w="515239">
                  <a:moveTo>
                    <a:pt x="0" y="0"/>
                  </a:moveTo>
                  <a:lnTo>
                    <a:pt x="515239" y="0"/>
                  </a:lnTo>
                  <a:lnTo>
                    <a:pt x="515239" y="593344"/>
                  </a:lnTo>
                  <a:lnTo>
                    <a:pt x="0" y="593344"/>
                  </a:lnTo>
                  <a:close/>
                </a:path>
              </a:pathLst>
            </a:custGeom>
            <a:blipFill>
              <a:blip r:embed="rId17">
                <a:alphaModFix amt="0"/>
              </a:blip>
              <a:stretch>
                <a:fillRect l="-97855" t="0" r="-97865" b="-2"/>
              </a:stretch>
            </a:blipFill>
          </p:spPr>
        </p:sp>
      </p:grpSp>
      <p:grpSp>
        <p:nvGrpSpPr>
          <p:cNvPr name="Group 58" id="58"/>
          <p:cNvGrpSpPr/>
          <p:nvPr/>
        </p:nvGrpSpPr>
        <p:grpSpPr>
          <a:xfrm rot="0">
            <a:off x="11295097" y="4606128"/>
            <a:ext cx="386467" cy="387868"/>
            <a:chOff x="0" y="0"/>
            <a:chExt cx="515290" cy="517157"/>
          </a:xfrm>
        </p:grpSpPr>
        <p:sp>
          <p:nvSpPr>
            <p:cNvPr name="Freeform 59" id="59"/>
            <p:cNvSpPr/>
            <p:nvPr/>
          </p:nvSpPr>
          <p:spPr>
            <a:xfrm flipH="false" flipV="false" rot="0">
              <a:off x="0" y="0"/>
              <a:ext cx="515289" cy="517156"/>
            </a:xfrm>
            <a:custGeom>
              <a:avLst/>
              <a:gdLst/>
              <a:ahLst/>
              <a:cxnLst/>
              <a:rect r="r" b="b" t="t" l="l"/>
              <a:pathLst>
                <a:path h="517156" w="515289">
                  <a:moveTo>
                    <a:pt x="0" y="0"/>
                  </a:moveTo>
                  <a:lnTo>
                    <a:pt x="515289" y="0"/>
                  </a:lnTo>
                  <a:lnTo>
                    <a:pt x="515289" y="517156"/>
                  </a:lnTo>
                  <a:lnTo>
                    <a:pt x="0" y="517156"/>
                  </a:lnTo>
                  <a:close/>
                </a:path>
              </a:pathLst>
            </a:custGeom>
            <a:blipFill>
              <a:blip r:embed="rId18">
                <a:alphaModFix amt="0"/>
              </a:blip>
              <a:stretch>
                <a:fillRect l="-78768" t="0" r="-78768" b="0"/>
              </a:stretch>
            </a:blipFill>
          </p:spPr>
        </p:sp>
        <p:sp>
          <p:nvSpPr>
            <p:cNvPr name="TextBox 60" id="60"/>
            <p:cNvSpPr txBox="true"/>
            <p:nvPr/>
          </p:nvSpPr>
          <p:spPr>
            <a:xfrm>
              <a:off x="0" y="76200"/>
              <a:ext cx="515290" cy="440957"/>
            </a:xfrm>
            <a:prstGeom prst="rect">
              <a:avLst/>
            </a:prstGeom>
          </p:spPr>
          <p:txBody>
            <a:bodyPr anchor="ctr" rtlCol="false" tIns="0" lIns="0" bIns="0" rIns="0"/>
            <a:lstStyle/>
            <a:p>
              <a:pPr algn="l">
                <a:lnSpc>
                  <a:spcPts val="1606"/>
                </a:lnSpc>
              </a:pPr>
              <a:r>
                <a:rPr lang="en-US" sz="2073" b="true">
                  <a:solidFill>
                    <a:srgbClr val="E5B0B5"/>
                  </a:solidFill>
                  <a:latin typeface="TT Commons Pro Bold"/>
                  <a:ea typeface="TT Commons Pro Bold"/>
                  <a:cs typeface="TT Commons Pro Bold"/>
                  <a:sym typeface="TT Commons Pro Bold"/>
                </a:rPr>
                <a:t>04</a:t>
              </a:r>
            </a:p>
          </p:txBody>
        </p:sp>
      </p:grpSp>
      <p:grpSp>
        <p:nvGrpSpPr>
          <p:cNvPr name="Group 61" id="61"/>
          <p:cNvGrpSpPr/>
          <p:nvPr/>
        </p:nvGrpSpPr>
        <p:grpSpPr>
          <a:xfrm rot="0">
            <a:off x="11065412" y="6506261"/>
            <a:ext cx="3117275" cy="1811836"/>
            <a:chOff x="0" y="0"/>
            <a:chExt cx="4156367" cy="2415781"/>
          </a:xfrm>
        </p:grpSpPr>
        <p:sp>
          <p:nvSpPr>
            <p:cNvPr name="Freeform 62" id="62"/>
            <p:cNvSpPr/>
            <p:nvPr/>
          </p:nvSpPr>
          <p:spPr>
            <a:xfrm flipH="false" flipV="false" rot="0">
              <a:off x="0" y="0"/>
              <a:ext cx="4156329" cy="2415794"/>
            </a:xfrm>
            <a:custGeom>
              <a:avLst/>
              <a:gdLst/>
              <a:ahLst/>
              <a:cxnLst/>
              <a:rect r="r" b="b" t="t" l="l"/>
              <a:pathLst>
                <a:path h="2415794" w="4156329">
                  <a:moveTo>
                    <a:pt x="0" y="0"/>
                  </a:moveTo>
                  <a:lnTo>
                    <a:pt x="4156329" y="0"/>
                  </a:lnTo>
                  <a:lnTo>
                    <a:pt x="4156329" y="2415794"/>
                  </a:lnTo>
                  <a:lnTo>
                    <a:pt x="0" y="2415794"/>
                  </a:lnTo>
                  <a:close/>
                </a:path>
              </a:pathLst>
            </a:custGeom>
            <a:blipFill>
              <a:blip r:embed="rId17">
                <a:alphaModFix amt="0"/>
              </a:blip>
              <a:stretch>
                <a:fillRect l="-24625" t="0" r="-24625" b="0"/>
              </a:stretch>
            </a:blipFill>
          </p:spPr>
        </p:sp>
      </p:grpSp>
      <p:grpSp>
        <p:nvGrpSpPr>
          <p:cNvPr name="Group 63" id="63"/>
          <p:cNvGrpSpPr/>
          <p:nvPr/>
        </p:nvGrpSpPr>
        <p:grpSpPr>
          <a:xfrm rot="0">
            <a:off x="11065412" y="6463398"/>
            <a:ext cx="3117275" cy="1854698"/>
            <a:chOff x="0" y="0"/>
            <a:chExt cx="4156367" cy="2472931"/>
          </a:xfrm>
        </p:grpSpPr>
        <p:sp>
          <p:nvSpPr>
            <p:cNvPr name="Freeform 64" id="64"/>
            <p:cNvSpPr/>
            <p:nvPr/>
          </p:nvSpPr>
          <p:spPr>
            <a:xfrm flipH="false" flipV="false" rot="0">
              <a:off x="0" y="0"/>
              <a:ext cx="4156361" cy="2472927"/>
            </a:xfrm>
            <a:custGeom>
              <a:avLst/>
              <a:gdLst/>
              <a:ahLst/>
              <a:cxnLst/>
              <a:rect r="r" b="b" t="t" l="l"/>
              <a:pathLst>
                <a:path h="2472927" w="4156361">
                  <a:moveTo>
                    <a:pt x="0" y="0"/>
                  </a:moveTo>
                  <a:lnTo>
                    <a:pt x="4156361" y="0"/>
                  </a:lnTo>
                  <a:lnTo>
                    <a:pt x="4156361" y="2472927"/>
                  </a:lnTo>
                  <a:lnTo>
                    <a:pt x="0" y="2472927"/>
                  </a:lnTo>
                  <a:close/>
                </a:path>
              </a:pathLst>
            </a:custGeom>
            <a:blipFill>
              <a:blip r:embed="rId18">
                <a:alphaModFix amt="0"/>
              </a:blip>
              <a:stretch>
                <a:fillRect l="-26337" t="0" r="-26337" b="0"/>
              </a:stretch>
            </a:blipFill>
          </p:spPr>
        </p:sp>
        <p:sp>
          <p:nvSpPr>
            <p:cNvPr name="TextBox 65" id="65"/>
            <p:cNvSpPr txBox="true"/>
            <p:nvPr/>
          </p:nvSpPr>
          <p:spPr>
            <a:xfrm>
              <a:off x="0" y="-57150"/>
              <a:ext cx="4156367" cy="2530081"/>
            </a:xfrm>
            <a:prstGeom prst="rect">
              <a:avLst/>
            </a:prstGeom>
          </p:spPr>
          <p:txBody>
            <a:bodyPr anchor="ctr" rtlCol="false" tIns="0" lIns="0" bIns="0" rIns="0"/>
            <a:lstStyle/>
            <a:p>
              <a:pPr algn="l">
                <a:lnSpc>
                  <a:spcPts val="2849"/>
                </a:lnSpc>
              </a:pPr>
              <a:r>
                <a:rPr lang="en-US" sz="1899">
                  <a:solidFill>
                    <a:srgbClr val="F2EFEB"/>
                  </a:solidFill>
                  <a:latin typeface="TT Commons Pro"/>
                  <a:ea typeface="TT Commons Pro"/>
                  <a:cs typeface="TT Commons Pro"/>
                  <a:sym typeface="TT Commons Pro"/>
                </a:rPr>
                <a:t>Created charts and</a:t>
              </a:r>
            </a:p>
            <a:p>
              <a:pPr algn="l">
                <a:lnSpc>
                  <a:spcPts val="2849"/>
                </a:lnSpc>
              </a:pPr>
              <a:r>
                <a:rPr lang="en-US" sz="1899">
                  <a:solidFill>
                    <a:srgbClr val="F2EFEB"/>
                  </a:solidFill>
                  <a:latin typeface="TT Commons Pro"/>
                  <a:ea typeface="TT Commons Pro"/>
                  <a:cs typeface="TT Commons Pro"/>
                  <a:sym typeface="TT Commons Pro"/>
                </a:rPr>
                <a:t>dashboards to visualize</a:t>
              </a:r>
            </a:p>
            <a:p>
              <a:pPr algn="l">
                <a:lnSpc>
                  <a:spcPts val="2849"/>
                </a:lnSpc>
              </a:pPr>
              <a:r>
                <a:rPr lang="en-US" sz="1899">
                  <a:solidFill>
                    <a:srgbClr val="F2EFEB"/>
                  </a:solidFill>
                  <a:latin typeface="TT Commons Pro"/>
                  <a:ea typeface="TT Commons Pro"/>
                  <a:cs typeface="TT Commons Pro"/>
                  <a:sym typeface="TT Commons Pro"/>
                </a:rPr>
                <a:t>trends, platform performance,</a:t>
              </a:r>
            </a:p>
            <a:p>
              <a:pPr algn="l">
                <a:lnSpc>
                  <a:spcPts val="2849"/>
                </a:lnSpc>
              </a:pPr>
              <a:r>
                <a:rPr lang="en-US" sz="1899">
                  <a:solidFill>
                    <a:srgbClr val="F2EFEB"/>
                  </a:solidFill>
                  <a:latin typeface="TT Commons Pro"/>
                  <a:ea typeface="TT Commons Pro"/>
                  <a:cs typeface="TT Commons Pro"/>
                  <a:sym typeface="TT Commons Pro"/>
                </a:rPr>
                <a:t>and restaurant-wise</a:t>
              </a:r>
            </a:p>
            <a:p>
              <a:pPr algn="l">
                <a:lnSpc>
                  <a:spcPts val="2849"/>
                </a:lnSpc>
              </a:pPr>
              <a:r>
                <a:rPr lang="en-US" sz="1899">
                  <a:solidFill>
                    <a:srgbClr val="F2EFEB"/>
                  </a:solidFill>
                  <a:latin typeface="TT Commons Pro"/>
                  <a:ea typeface="TT Commons Pro"/>
                  <a:cs typeface="TT Commons Pro"/>
                  <a:sym typeface="TT Commons Pro"/>
                </a:rPr>
                <a:t>comparisons.</a:t>
              </a:r>
            </a:p>
          </p:txBody>
        </p:sp>
      </p:grpSp>
      <p:grpSp>
        <p:nvGrpSpPr>
          <p:cNvPr name="Group 66" id="66"/>
          <p:cNvGrpSpPr/>
          <p:nvPr/>
        </p:nvGrpSpPr>
        <p:grpSpPr>
          <a:xfrm rot="0">
            <a:off x="11419065" y="5787152"/>
            <a:ext cx="2282352" cy="451180"/>
            <a:chOff x="0" y="0"/>
            <a:chExt cx="3043136" cy="601574"/>
          </a:xfrm>
        </p:grpSpPr>
        <p:sp>
          <p:nvSpPr>
            <p:cNvPr name="Freeform 67" id="67"/>
            <p:cNvSpPr/>
            <p:nvPr/>
          </p:nvSpPr>
          <p:spPr>
            <a:xfrm flipH="false" flipV="false" rot="0">
              <a:off x="0" y="0"/>
              <a:ext cx="3043174" cy="601599"/>
            </a:xfrm>
            <a:custGeom>
              <a:avLst/>
              <a:gdLst/>
              <a:ahLst/>
              <a:cxnLst/>
              <a:rect r="r" b="b" t="t" l="l"/>
              <a:pathLst>
                <a:path h="601599" w="3043174">
                  <a:moveTo>
                    <a:pt x="0" y="0"/>
                  </a:moveTo>
                  <a:lnTo>
                    <a:pt x="3043174" y="0"/>
                  </a:lnTo>
                  <a:lnTo>
                    <a:pt x="3043174" y="601599"/>
                  </a:lnTo>
                  <a:lnTo>
                    <a:pt x="0" y="601599"/>
                  </a:lnTo>
                  <a:close/>
                </a:path>
              </a:pathLst>
            </a:custGeom>
            <a:blipFill>
              <a:blip r:embed="rId17">
                <a:alphaModFix amt="0"/>
              </a:blip>
              <a:stretch>
                <a:fillRect l="0" t="-48496" r="1" b="-48492"/>
              </a:stretch>
            </a:blipFill>
          </p:spPr>
        </p:sp>
      </p:grpSp>
      <p:grpSp>
        <p:nvGrpSpPr>
          <p:cNvPr name="Group 68" id="68"/>
          <p:cNvGrpSpPr/>
          <p:nvPr/>
        </p:nvGrpSpPr>
        <p:grpSpPr>
          <a:xfrm rot="0">
            <a:off x="11419065" y="5765721"/>
            <a:ext cx="2282352" cy="472611"/>
            <a:chOff x="0" y="0"/>
            <a:chExt cx="3043136" cy="630149"/>
          </a:xfrm>
        </p:grpSpPr>
        <p:sp>
          <p:nvSpPr>
            <p:cNvPr name="Freeform 69" id="69"/>
            <p:cNvSpPr/>
            <p:nvPr/>
          </p:nvSpPr>
          <p:spPr>
            <a:xfrm flipH="false" flipV="false" rot="0">
              <a:off x="0" y="0"/>
              <a:ext cx="3043136" cy="630148"/>
            </a:xfrm>
            <a:custGeom>
              <a:avLst/>
              <a:gdLst/>
              <a:ahLst/>
              <a:cxnLst/>
              <a:rect r="r" b="b" t="t" l="l"/>
              <a:pathLst>
                <a:path h="630148" w="3043136">
                  <a:moveTo>
                    <a:pt x="0" y="0"/>
                  </a:moveTo>
                  <a:lnTo>
                    <a:pt x="3043136" y="0"/>
                  </a:lnTo>
                  <a:lnTo>
                    <a:pt x="3043136" y="630148"/>
                  </a:lnTo>
                  <a:lnTo>
                    <a:pt x="0" y="630148"/>
                  </a:lnTo>
                  <a:close/>
                </a:path>
              </a:pathLst>
            </a:custGeom>
            <a:blipFill>
              <a:blip r:embed="rId18">
                <a:alphaModFix amt="0"/>
              </a:blip>
              <a:stretch>
                <a:fillRect l="0" t="-44097" r="0" b="-44097"/>
              </a:stretch>
            </a:blipFill>
          </p:spPr>
        </p:sp>
        <p:sp>
          <p:nvSpPr>
            <p:cNvPr name="TextBox 70" id="70"/>
            <p:cNvSpPr txBox="true"/>
            <p:nvPr/>
          </p:nvSpPr>
          <p:spPr>
            <a:xfrm>
              <a:off x="0" y="-28575"/>
              <a:ext cx="3043136" cy="658724"/>
            </a:xfrm>
            <a:prstGeom prst="rect">
              <a:avLst/>
            </a:prstGeom>
          </p:spPr>
          <p:txBody>
            <a:bodyPr anchor="ctr" rtlCol="false" tIns="0" lIns="0" bIns="0" rIns="0"/>
            <a:lstStyle/>
            <a:p>
              <a:pPr algn="l">
                <a:lnSpc>
                  <a:spcPts val="2730"/>
                </a:lnSpc>
              </a:pPr>
              <a:r>
                <a:rPr lang="en-US" sz="2100" b="true">
                  <a:solidFill>
                    <a:srgbClr val="ED5E40"/>
                  </a:solidFill>
                  <a:latin typeface="TT Commons Pro Bold"/>
                  <a:ea typeface="TT Commons Pro Bold"/>
                  <a:cs typeface="TT Commons Pro Bold"/>
                  <a:sym typeface="TT Commons Pro Bold"/>
                </a:rPr>
                <a:t>Data Visualization</a:t>
              </a:r>
            </a:p>
          </p:txBody>
        </p:sp>
      </p:grpSp>
      <p:grpSp>
        <p:nvGrpSpPr>
          <p:cNvPr name="Group 71" id="71"/>
          <p:cNvGrpSpPr/>
          <p:nvPr/>
        </p:nvGrpSpPr>
        <p:grpSpPr>
          <a:xfrm rot="0">
            <a:off x="7517911" y="5484762"/>
            <a:ext cx="3449041" cy="3755326"/>
            <a:chOff x="0" y="0"/>
            <a:chExt cx="4598721" cy="5007102"/>
          </a:xfrm>
        </p:grpSpPr>
        <p:sp>
          <p:nvSpPr>
            <p:cNvPr name="Freeform 72" id="72" descr="preencoded.png"/>
            <p:cNvSpPr/>
            <p:nvPr/>
          </p:nvSpPr>
          <p:spPr>
            <a:xfrm flipH="false" flipV="false" rot="0">
              <a:off x="0" y="0"/>
              <a:ext cx="4598670" cy="5007102"/>
            </a:xfrm>
            <a:custGeom>
              <a:avLst/>
              <a:gdLst/>
              <a:ahLst/>
              <a:cxnLst/>
              <a:rect r="r" b="b" t="t" l="l"/>
              <a:pathLst>
                <a:path h="5007102" w="4598670">
                  <a:moveTo>
                    <a:pt x="0" y="0"/>
                  </a:moveTo>
                  <a:lnTo>
                    <a:pt x="4598670" y="0"/>
                  </a:lnTo>
                  <a:lnTo>
                    <a:pt x="4598670" y="5007102"/>
                  </a:lnTo>
                  <a:lnTo>
                    <a:pt x="0" y="5007102"/>
                  </a:lnTo>
                  <a:lnTo>
                    <a:pt x="0" y="0"/>
                  </a:lnTo>
                  <a:close/>
                </a:path>
              </a:pathLst>
            </a:custGeom>
            <a:blipFill>
              <a:blip r:embed="rId24"/>
              <a:stretch>
                <a:fillRect l="0" t="-3749" r="-1" b="-3749"/>
              </a:stretch>
            </a:blipFill>
          </p:spPr>
        </p:sp>
      </p:grpSp>
      <p:grpSp>
        <p:nvGrpSpPr>
          <p:cNvPr name="Group 73" id="73"/>
          <p:cNvGrpSpPr/>
          <p:nvPr/>
        </p:nvGrpSpPr>
        <p:grpSpPr>
          <a:xfrm rot="0">
            <a:off x="8560651" y="4644923"/>
            <a:ext cx="1195864" cy="1028128"/>
            <a:chOff x="0" y="0"/>
            <a:chExt cx="1594485" cy="1370838"/>
          </a:xfrm>
        </p:grpSpPr>
        <p:sp>
          <p:nvSpPr>
            <p:cNvPr name="Freeform 74" id="74" descr="preencoded.png"/>
            <p:cNvSpPr/>
            <p:nvPr/>
          </p:nvSpPr>
          <p:spPr>
            <a:xfrm flipH="false" flipV="false" rot="0">
              <a:off x="0" y="0"/>
              <a:ext cx="1594485" cy="1370838"/>
            </a:xfrm>
            <a:custGeom>
              <a:avLst/>
              <a:gdLst/>
              <a:ahLst/>
              <a:cxnLst/>
              <a:rect r="r" b="b" t="t" l="l"/>
              <a:pathLst>
                <a:path h="1370838" w="1594485">
                  <a:moveTo>
                    <a:pt x="0" y="0"/>
                  </a:moveTo>
                  <a:lnTo>
                    <a:pt x="1594485" y="0"/>
                  </a:lnTo>
                  <a:lnTo>
                    <a:pt x="1594485" y="1370838"/>
                  </a:lnTo>
                  <a:lnTo>
                    <a:pt x="0" y="1370838"/>
                  </a:lnTo>
                  <a:lnTo>
                    <a:pt x="0" y="0"/>
                  </a:lnTo>
                  <a:close/>
                </a:path>
              </a:pathLst>
            </a:custGeom>
            <a:blipFill>
              <a:blip r:embed="rId25"/>
              <a:stretch>
                <a:fillRect l="-94" t="0" r="-94" b="0"/>
              </a:stretch>
            </a:blipFill>
          </p:spPr>
        </p:sp>
      </p:grpSp>
      <p:sp>
        <p:nvSpPr>
          <p:cNvPr name="Freeform 75" id="75"/>
          <p:cNvSpPr/>
          <p:nvPr/>
        </p:nvSpPr>
        <p:spPr>
          <a:xfrm flipH="false" flipV="false" rot="0">
            <a:off x="7715707" y="4499991"/>
            <a:ext cx="566966" cy="486766"/>
          </a:xfrm>
          <a:custGeom>
            <a:avLst/>
            <a:gdLst/>
            <a:ahLst/>
            <a:cxnLst/>
            <a:rect r="r" b="b" t="t" l="l"/>
            <a:pathLst>
              <a:path h="486766" w="566966">
                <a:moveTo>
                  <a:pt x="0" y="0"/>
                </a:moveTo>
                <a:lnTo>
                  <a:pt x="566966" y="0"/>
                </a:lnTo>
                <a:lnTo>
                  <a:pt x="566966" y="486766"/>
                </a:lnTo>
                <a:lnTo>
                  <a:pt x="0" y="486766"/>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grpSp>
        <p:nvGrpSpPr>
          <p:cNvPr name="Group 76" id="76"/>
          <p:cNvGrpSpPr/>
          <p:nvPr/>
        </p:nvGrpSpPr>
        <p:grpSpPr>
          <a:xfrm rot="0">
            <a:off x="7816882" y="4593879"/>
            <a:ext cx="379181" cy="457457"/>
            <a:chOff x="0" y="0"/>
            <a:chExt cx="505574" cy="609943"/>
          </a:xfrm>
        </p:grpSpPr>
        <p:sp>
          <p:nvSpPr>
            <p:cNvPr name="Freeform 77" id="77"/>
            <p:cNvSpPr/>
            <p:nvPr/>
          </p:nvSpPr>
          <p:spPr>
            <a:xfrm flipH="false" flipV="false" rot="0">
              <a:off x="0" y="0"/>
              <a:ext cx="505587" cy="609981"/>
            </a:xfrm>
            <a:custGeom>
              <a:avLst/>
              <a:gdLst/>
              <a:ahLst/>
              <a:cxnLst/>
              <a:rect r="r" b="b" t="t" l="l"/>
              <a:pathLst>
                <a:path h="609981" w="505587">
                  <a:moveTo>
                    <a:pt x="0" y="0"/>
                  </a:moveTo>
                  <a:lnTo>
                    <a:pt x="505587" y="0"/>
                  </a:lnTo>
                  <a:lnTo>
                    <a:pt x="505587" y="609981"/>
                  </a:lnTo>
                  <a:lnTo>
                    <a:pt x="0" y="609981"/>
                  </a:lnTo>
                  <a:close/>
                </a:path>
              </a:pathLst>
            </a:custGeom>
            <a:blipFill>
              <a:blip r:embed="rId17">
                <a:alphaModFix amt="0"/>
              </a:blip>
              <a:stretch>
                <a:fillRect l="-104898" t="0" r="-104893" b="6"/>
              </a:stretch>
            </a:blipFill>
          </p:spPr>
        </p:sp>
      </p:grpSp>
      <p:grpSp>
        <p:nvGrpSpPr>
          <p:cNvPr name="Group 78" id="78"/>
          <p:cNvGrpSpPr/>
          <p:nvPr/>
        </p:nvGrpSpPr>
        <p:grpSpPr>
          <a:xfrm rot="0">
            <a:off x="7816882" y="4580487"/>
            <a:ext cx="379181" cy="393163"/>
            <a:chOff x="0" y="0"/>
            <a:chExt cx="505574" cy="524218"/>
          </a:xfrm>
        </p:grpSpPr>
        <p:sp>
          <p:nvSpPr>
            <p:cNvPr name="Freeform 79" id="79"/>
            <p:cNvSpPr/>
            <p:nvPr/>
          </p:nvSpPr>
          <p:spPr>
            <a:xfrm flipH="false" flipV="false" rot="0">
              <a:off x="0" y="0"/>
              <a:ext cx="505575" cy="524218"/>
            </a:xfrm>
            <a:custGeom>
              <a:avLst/>
              <a:gdLst/>
              <a:ahLst/>
              <a:cxnLst/>
              <a:rect r="r" b="b" t="t" l="l"/>
              <a:pathLst>
                <a:path h="524218" w="505575">
                  <a:moveTo>
                    <a:pt x="0" y="0"/>
                  </a:moveTo>
                  <a:lnTo>
                    <a:pt x="505575" y="0"/>
                  </a:lnTo>
                  <a:lnTo>
                    <a:pt x="505575" y="524218"/>
                  </a:lnTo>
                  <a:lnTo>
                    <a:pt x="0" y="524218"/>
                  </a:lnTo>
                  <a:close/>
                </a:path>
              </a:pathLst>
            </a:custGeom>
            <a:blipFill>
              <a:blip r:embed="rId18">
                <a:alphaModFix amt="0"/>
              </a:blip>
              <a:stretch>
                <a:fillRect l="-83034" t="0" r="-83034" b="0"/>
              </a:stretch>
            </a:blipFill>
          </p:spPr>
        </p:sp>
        <p:sp>
          <p:nvSpPr>
            <p:cNvPr name="TextBox 80" id="80"/>
            <p:cNvSpPr txBox="true"/>
            <p:nvPr/>
          </p:nvSpPr>
          <p:spPr>
            <a:xfrm>
              <a:off x="0" y="85725"/>
              <a:ext cx="505574" cy="438493"/>
            </a:xfrm>
            <a:prstGeom prst="rect">
              <a:avLst/>
            </a:prstGeom>
          </p:spPr>
          <p:txBody>
            <a:bodyPr anchor="ctr" rtlCol="false" tIns="0" lIns="0" bIns="0" rIns="0"/>
            <a:lstStyle/>
            <a:p>
              <a:pPr algn="l">
                <a:lnSpc>
                  <a:spcPts val="1607"/>
                </a:lnSpc>
              </a:pPr>
              <a:r>
                <a:rPr lang="en-US" sz="2129" b="true">
                  <a:solidFill>
                    <a:srgbClr val="ECAE9B"/>
                  </a:solidFill>
                  <a:latin typeface="TT Commons Pro Bold"/>
                  <a:ea typeface="TT Commons Pro Bold"/>
                  <a:cs typeface="TT Commons Pro Bold"/>
                  <a:sym typeface="TT Commons Pro Bold"/>
                </a:rPr>
                <a:t>03</a:t>
              </a:r>
            </a:p>
          </p:txBody>
        </p:sp>
      </p:grpSp>
      <p:grpSp>
        <p:nvGrpSpPr>
          <p:cNvPr name="Group 81" id="81"/>
          <p:cNvGrpSpPr/>
          <p:nvPr/>
        </p:nvGrpSpPr>
        <p:grpSpPr>
          <a:xfrm rot="0">
            <a:off x="7649175" y="6459274"/>
            <a:ext cx="3346952" cy="1811836"/>
            <a:chOff x="0" y="0"/>
            <a:chExt cx="4462602" cy="2415781"/>
          </a:xfrm>
        </p:grpSpPr>
        <p:sp>
          <p:nvSpPr>
            <p:cNvPr name="Freeform 82" id="82"/>
            <p:cNvSpPr/>
            <p:nvPr/>
          </p:nvSpPr>
          <p:spPr>
            <a:xfrm flipH="false" flipV="false" rot="0">
              <a:off x="0" y="0"/>
              <a:ext cx="4462653" cy="2415794"/>
            </a:xfrm>
            <a:custGeom>
              <a:avLst/>
              <a:gdLst/>
              <a:ahLst/>
              <a:cxnLst/>
              <a:rect r="r" b="b" t="t" l="l"/>
              <a:pathLst>
                <a:path h="2415794" w="4462653">
                  <a:moveTo>
                    <a:pt x="0" y="0"/>
                  </a:moveTo>
                  <a:lnTo>
                    <a:pt x="4462653" y="0"/>
                  </a:lnTo>
                  <a:lnTo>
                    <a:pt x="4462653" y="2415794"/>
                  </a:lnTo>
                  <a:lnTo>
                    <a:pt x="0" y="2415794"/>
                  </a:lnTo>
                  <a:close/>
                </a:path>
              </a:pathLst>
            </a:custGeom>
            <a:blipFill>
              <a:blip r:embed="rId17">
                <a:alphaModFix amt="0"/>
              </a:blip>
              <a:stretch>
                <a:fillRect l="-19503" t="0" r="-19502" b="0"/>
              </a:stretch>
            </a:blipFill>
          </p:spPr>
        </p:sp>
      </p:grpSp>
      <p:grpSp>
        <p:nvGrpSpPr>
          <p:cNvPr name="Group 83" id="83"/>
          <p:cNvGrpSpPr/>
          <p:nvPr/>
        </p:nvGrpSpPr>
        <p:grpSpPr>
          <a:xfrm rot="0">
            <a:off x="7649175" y="6416411"/>
            <a:ext cx="3346952" cy="1854698"/>
            <a:chOff x="0" y="0"/>
            <a:chExt cx="4462602" cy="2472931"/>
          </a:xfrm>
        </p:grpSpPr>
        <p:sp>
          <p:nvSpPr>
            <p:cNvPr name="Freeform 84" id="84"/>
            <p:cNvSpPr/>
            <p:nvPr/>
          </p:nvSpPr>
          <p:spPr>
            <a:xfrm flipH="false" flipV="false" rot="0">
              <a:off x="0" y="0"/>
              <a:ext cx="4462603" cy="2472927"/>
            </a:xfrm>
            <a:custGeom>
              <a:avLst/>
              <a:gdLst/>
              <a:ahLst/>
              <a:cxnLst/>
              <a:rect r="r" b="b" t="t" l="l"/>
              <a:pathLst>
                <a:path h="2472927" w="4462603">
                  <a:moveTo>
                    <a:pt x="0" y="0"/>
                  </a:moveTo>
                  <a:lnTo>
                    <a:pt x="4462603" y="0"/>
                  </a:lnTo>
                  <a:lnTo>
                    <a:pt x="4462603" y="2472927"/>
                  </a:lnTo>
                  <a:lnTo>
                    <a:pt x="0" y="2472927"/>
                  </a:lnTo>
                  <a:close/>
                </a:path>
              </a:pathLst>
            </a:custGeom>
            <a:blipFill>
              <a:blip r:embed="rId18">
                <a:alphaModFix amt="0"/>
              </a:blip>
              <a:stretch>
                <a:fillRect l="-21098" t="0" r="-21098" b="0"/>
              </a:stretch>
            </a:blipFill>
          </p:spPr>
        </p:sp>
        <p:sp>
          <p:nvSpPr>
            <p:cNvPr name="TextBox 85" id="85"/>
            <p:cNvSpPr txBox="true"/>
            <p:nvPr/>
          </p:nvSpPr>
          <p:spPr>
            <a:xfrm>
              <a:off x="0" y="-57150"/>
              <a:ext cx="4462602" cy="2530081"/>
            </a:xfrm>
            <a:prstGeom prst="rect">
              <a:avLst/>
            </a:prstGeom>
          </p:spPr>
          <p:txBody>
            <a:bodyPr anchor="ctr" rtlCol="false" tIns="0" lIns="0" bIns="0" rIns="0"/>
            <a:lstStyle/>
            <a:p>
              <a:pPr algn="l">
                <a:lnSpc>
                  <a:spcPts val="2849"/>
                </a:lnSpc>
              </a:pPr>
              <a:r>
                <a:rPr lang="en-US" sz="1899">
                  <a:solidFill>
                    <a:srgbClr val="F2EFEB"/>
                  </a:solidFill>
                  <a:latin typeface="TT Commons Pro"/>
                  <a:ea typeface="TT Commons Pro"/>
                  <a:cs typeface="TT Commons Pro"/>
                  <a:sym typeface="TT Commons Pro"/>
                </a:rPr>
                <a:t>Compared key metrics</a:t>
              </a:r>
            </a:p>
            <a:p>
              <a:pPr algn="l">
                <a:lnSpc>
                  <a:spcPts val="2849"/>
                </a:lnSpc>
              </a:pPr>
              <a:r>
                <a:rPr lang="en-US" sz="1899">
                  <a:solidFill>
                    <a:srgbClr val="F2EFEB"/>
                  </a:solidFill>
                  <a:latin typeface="TT Commons Pro"/>
                  <a:ea typeface="TT Commons Pro"/>
                  <a:cs typeface="TT Commons Pro"/>
                  <a:sym typeface="TT Commons Pro"/>
                </a:rPr>
                <a:t>including ratings, delivery</a:t>
              </a:r>
            </a:p>
            <a:p>
              <a:pPr algn="l">
                <a:lnSpc>
                  <a:spcPts val="2849"/>
                </a:lnSpc>
              </a:pPr>
              <a:r>
                <a:rPr lang="en-US" sz="1899">
                  <a:solidFill>
                    <a:srgbClr val="F2EFEB"/>
                  </a:solidFill>
                  <a:latin typeface="TT Commons Pro"/>
                  <a:ea typeface="TT Commons Pro"/>
                  <a:cs typeface="TT Commons Pro"/>
                  <a:sym typeface="TT Commons Pro"/>
                </a:rPr>
                <a:t>time, delivery fee, commission,</a:t>
              </a:r>
            </a:p>
            <a:p>
              <a:pPr algn="l">
                <a:lnSpc>
                  <a:spcPts val="2849"/>
                </a:lnSpc>
              </a:pPr>
              <a:r>
                <a:rPr lang="en-US" sz="1899">
                  <a:solidFill>
                    <a:srgbClr val="F2EFEB"/>
                  </a:solidFill>
                  <a:latin typeface="TT Commons Pro"/>
                  <a:ea typeface="TT Commons Pro"/>
                  <a:cs typeface="TT Commons Pro"/>
                  <a:sym typeface="TT Commons Pro"/>
                </a:rPr>
                <a:t>monthly orders, revenue, profit,</a:t>
              </a:r>
            </a:p>
            <a:p>
              <a:pPr algn="l">
                <a:lnSpc>
                  <a:spcPts val="2849"/>
                </a:lnSpc>
              </a:pPr>
              <a:r>
                <a:rPr lang="en-US" sz="1899">
                  <a:solidFill>
                    <a:srgbClr val="F2EFEB"/>
                  </a:solidFill>
                  <a:latin typeface="TT Commons Pro"/>
                  <a:ea typeface="TT Commons Pro"/>
                  <a:cs typeface="TT Commons Pro"/>
                  <a:sym typeface="TT Commons Pro"/>
                </a:rPr>
                <a:t>and market share.</a:t>
              </a:r>
            </a:p>
          </p:txBody>
        </p:sp>
      </p:grpSp>
      <p:grpSp>
        <p:nvGrpSpPr>
          <p:cNvPr name="Group 86" id="86"/>
          <p:cNvGrpSpPr/>
          <p:nvPr/>
        </p:nvGrpSpPr>
        <p:grpSpPr>
          <a:xfrm rot="0">
            <a:off x="7762199" y="5796905"/>
            <a:ext cx="2683412" cy="451180"/>
            <a:chOff x="0" y="0"/>
            <a:chExt cx="3577882" cy="601574"/>
          </a:xfrm>
        </p:grpSpPr>
        <p:sp>
          <p:nvSpPr>
            <p:cNvPr name="Freeform 87" id="87"/>
            <p:cNvSpPr/>
            <p:nvPr/>
          </p:nvSpPr>
          <p:spPr>
            <a:xfrm flipH="false" flipV="false" rot="0">
              <a:off x="0" y="0"/>
              <a:ext cx="3577844" cy="601599"/>
            </a:xfrm>
            <a:custGeom>
              <a:avLst/>
              <a:gdLst/>
              <a:ahLst/>
              <a:cxnLst/>
              <a:rect r="r" b="b" t="t" l="l"/>
              <a:pathLst>
                <a:path h="601599" w="3577844">
                  <a:moveTo>
                    <a:pt x="0" y="0"/>
                  </a:moveTo>
                  <a:lnTo>
                    <a:pt x="3577844" y="0"/>
                  </a:lnTo>
                  <a:lnTo>
                    <a:pt x="3577844" y="601599"/>
                  </a:lnTo>
                  <a:lnTo>
                    <a:pt x="0" y="601599"/>
                  </a:lnTo>
                  <a:close/>
                </a:path>
              </a:pathLst>
            </a:custGeom>
            <a:blipFill>
              <a:blip r:embed="rId17">
                <a:alphaModFix amt="0"/>
              </a:blip>
              <a:stretch>
                <a:fillRect l="0" t="-65805" r="-1" b="-65799"/>
              </a:stretch>
            </a:blipFill>
          </p:spPr>
        </p:sp>
      </p:grpSp>
      <p:grpSp>
        <p:nvGrpSpPr>
          <p:cNvPr name="Group 88" id="88"/>
          <p:cNvGrpSpPr/>
          <p:nvPr/>
        </p:nvGrpSpPr>
        <p:grpSpPr>
          <a:xfrm rot="0">
            <a:off x="7762199" y="5775474"/>
            <a:ext cx="2683402" cy="472611"/>
            <a:chOff x="0" y="0"/>
            <a:chExt cx="3577869" cy="630149"/>
          </a:xfrm>
        </p:grpSpPr>
        <p:sp>
          <p:nvSpPr>
            <p:cNvPr name="Freeform 89" id="89"/>
            <p:cNvSpPr/>
            <p:nvPr/>
          </p:nvSpPr>
          <p:spPr>
            <a:xfrm flipH="false" flipV="false" rot="0">
              <a:off x="0" y="0"/>
              <a:ext cx="3577869" cy="630148"/>
            </a:xfrm>
            <a:custGeom>
              <a:avLst/>
              <a:gdLst/>
              <a:ahLst/>
              <a:cxnLst/>
              <a:rect r="r" b="b" t="t" l="l"/>
              <a:pathLst>
                <a:path h="630148" w="3577869">
                  <a:moveTo>
                    <a:pt x="0" y="0"/>
                  </a:moveTo>
                  <a:lnTo>
                    <a:pt x="3577869" y="0"/>
                  </a:lnTo>
                  <a:lnTo>
                    <a:pt x="3577869" y="630148"/>
                  </a:lnTo>
                  <a:lnTo>
                    <a:pt x="0" y="630148"/>
                  </a:lnTo>
                  <a:close/>
                </a:path>
              </a:pathLst>
            </a:custGeom>
            <a:blipFill>
              <a:blip r:embed="rId18">
                <a:alphaModFix amt="0"/>
              </a:blip>
              <a:stretch>
                <a:fillRect l="0" t="-60632" r="0" b="-60632"/>
              </a:stretch>
            </a:blipFill>
          </p:spPr>
        </p:sp>
        <p:sp>
          <p:nvSpPr>
            <p:cNvPr name="TextBox 90" id="90"/>
            <p:cNvSpPr txBox="true"/>
            <p:nvPr/>
          </p:nvSpPr>
          <p:spPr>
            <a:xfrm>
              <a:off x="0" y="-28575"/>
              <a:ext cx="3577869" cy="658724"/>
            </a:xfrm>
            <a:prstGeom prst="rect">
              <a:avLst/>
            </a:prstGeom>
          </p:spPr>
          <p:txBody>
            <a:bodyPr anchor="ctr" rtlCol="false" tIns="0" lIns="0" bIns="0" rIns="0"/>
            <a:lstStyle/>
            <a:p>
              <a:pPr algn="l">
                <a:lnSpc>
                  <a:spcPts val="2730"/>
                </a:lnSpc>
              </a:pPr>
              <a:r>
                <a:rPr lang="en-US" sz="2100" b="true">
                  <a:solidFill>
                    <a:srgbClr val="ED5E40"/>
                  </a:solidFill>
                  <a:latin typeface="TT Commons Pro Bold"/>
                  <a:ea typeface="TT Commons Pro Bold"/>
                  <a:cs typeface="TT Commons Pro Bold"/>
                  <a:sym typeface="TT Commons Pro Bold"/>
                </a:rPr>
                <a:t>Comparative Analysis</a:t>
              </a:r>
            </a:p>
          </p:txBody>
        </p:sp>
      </p:grpSp>
      <p:grpSp>
        <p:nvGrpSpPr>
          <p:cNvPr name="Group 91" id="91"/>
          <p:cNvGrpSpPr/>
          <p:nvPr/>
        </p:nvGrpSpPr>
        <p:grpSpPr>
          <a:xfrm rot="0">
            <a:off x="7335622" y="5855370"/>
            <a:ext cx="226028" cy="430244"/>
            <a:chOff x="0" y="0"/>
            <a:chExt cx="301371" cy="573659"/>
          </a:xfrm>
        </p:grpSpPr>
        <p:sp>
          <p:nvSpPr>
            <p:cNvPr name="Freeform 92" id="92" descr="preencoded.png"/>
            <p:cNvSpPr/>
            <p:nvPr/>
          </p:nvSpPr>
          <p:spPr>
            <a:xfrm flipH="false" flipV="false" rot="0">
              <a:off x="0" y="0"/>
              <a:ext cx="301371" cy="573659"/>
            </a:xfrm>
            <a:custGeom>
              <a:avLst/>
              <a:gdLst/>
              <a:ahLst/>
              <a:cxnLst/>
              <a:rect r="r" b="b" t="t" l="l"/>
              <a:pathLst>
                <a:path h="573659" w="301371">
                  <a:moveTo>
                    <a:pt x="0" y="0"/>
                  </a:moveTo>
                  <a:lnTo>
                    <a:pt x="301371" y="0"/>
                  </a:lnTo>
                  <a:lnTo>
                    <a:pt x="301371" y="573659"/>
                  </a:lnTo>
                  <a:lnTo>
                    <a:pt x="0" y="573659"/>
                  </a:lnTo>
                  <a:lnTo>
                    <a:pt x="0" y="0"/>
                  </a:lnTo>
                  <a:close/>
                </a:path>
              </a:pathLst>
            </a:custGeom>
            <a:blipFill>
              <a:blip r:embed="rId28"/>
              <a:stretch>
                <a:fillRect l="-939" t="0" r="-939" b="0"/>
              </a:stretch>
            </a:blipFill>
          </p:spPr>
        </p:sp>
      </p:grpSp>
      <p:sp>
        <p:nvSpPr>
          <p:cNvPr name="Freeform 93" id="93"/>
          <p:cNvSpPr/>
          <p:nvPr/>
        </p:nvSpPr>
        <p:spPr>
          <a:xfrm flipH="false" flipV="false" rot="0">
            <a:off x="4077071" y="5452862"/>
            <a:ext cx="3272228" cy="3819154"/>
          </a:xfrm>
          <a:custGeom>
            <a:avLst/>
            <a:gdLst/>
            <a:ahLst/>
            <a:cxnLst/>
            <a:rect r="r" b="b" t="t" l="l"/>
            <a:pathLst>
              <a:path h="3819154" w="3272228">
                <a:moveTo>
                  <a:pt x="0" y="0"/>
                </a:moveTo>
                <a:lnTo>
                  <a:pt x="3272228" y="0"/>
                </a:lnTo>
                <a:lnTo>
                  <a:pt x="3272228" y="3819154"/>
                </a:lnTo>
                <a:lnTo>
                  <a:pt x="0" y="3819154"/>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94" id="94"/>
          <p:cNvGrpSpPr/>
          <p:nvPr/>
        </p:nvGrpSpPr>
        <p:grpSpPr>
          <a:xfrm rot="0">
            <a:off x="5097018" y="4637627"/>
            <a:ext cx="1246918" cy="1086517"/>
            <a:chOff x="0" y="0"/>
            <a:chExt cx="1662557" cy="1448689"/>
          </a:xfrm>
        </p:grpSpPr>
        <p:sp>
          <p:nvSpPr>
            <p:cNvPr name="Freeform 95" id="95" descr="preencoded.png"/>
            <p:cNvSpPr/>
            <p:nvPr/>
          </p:nvSpPr>
          <p:spPr>
            <a:xfrm flipH="false" flipV="false" rot="0">
              <a:off x="0" y="0"/>
              <a:ext cx="1662557" cy="1448689"/>
            </a:xfrm>
            <a:custGeom>
              <a:avLst/>
              <a:gdLst/>
              <a:ahLst/>
              <a:cxnLst/>
              <a:rect r="r" b="b" t="t" l="l"/>
              <a:pathLst>
                <a:path h="1448689" w="1662557">
                  <a:moveTo>
                    <a:pt x="0" y="0"/>
                  </a:moveTo>
                  <a:lnTo>
                    <a:pt x="1662557" y="0"/>
                  </a:lnTo>
                  <a:lnTo>
                    <a:pt x="1662557" y="1448689"/>
                  </a:lnTo>
                  <a:lnTo>
                    <a:pt x="0" y="1448689"/>
                  </a:lnTo>
                  <a:lnTo>
                    <a:pt x="0" y="0"/>
                  </a:lnTo>
                  <a:close/>
                </a:path>
              </a:pathLst>
            </a:custGeom>
            <a:blipFill>
              <a:blip r:embed="rId31"/>
              <a:stretch>
                <a:fillRect l="0" t="-301" r="0" b="-302"/>
              </a:stretch>
            </a:blipFill>
          </p:spPr>
        </p:sp>
      </p:grpSp>
      <p:grpSp>
        <p:nvGrpSpPr>
          <p:cNvPr name="Group 96" id="96"/>
          <p:cNvGrpSpPr/>
          <p:nvPr/>
        </p:nvGrpSpPr>
        <p:grpSpPr>
          <a:xfrm rot="0">
            <a:off x="4251160" y="4506373"/>
            <a:ext cx="561499" cy="481298"/>
            <a:chOff x="0" y="0"/>
            <a:chExt cx="748665" cy="641731"/>
          </a:xfrm>
        </p:grpSpPr>
        <p:sp>
          <p:nvSpPr>
            <p:cNvPr name="Freeform 97" id="97" descr="preencoded.png"/>
            <p:cNvSpPr/>
            <p:nvPr/>
          </p:nvSpPr>
          <p:spPr>
            <a:xfrm flipH="false" flipV="false" rot="0">
              <a:off x="0" y="0"/>
              <a:ext cx="748665" cy="641731"/>
            </a:xfrm>
            <a:custGeom>
              <a:avLst/>
              <a:gdLst/>
              <a:ahLst/>
              <a:cxnLst/>
              <a:rect r="r" b="b" t="t" l="l"/>
              <a:pathLst>
                <a:path h="641731" w="748665">
                  <a:moveTo>
                    <a:pt x="0" y="0"/>
                  </a:moveTo>
                  <a:lnTo>
                    <a:pt x="748665" y="0"/>
                  </a:lnTo>
                  <a:lnTo>
                    <a:pt x="748665" y="641731"/>
                  </a:lnTo>
                  <a:lnTo>
                    <a:pt x="0" y="641731"/>
                  </a:lnTo>
                  <a:lnTo>
                    <a:pt x="0" y="0"/>
                  </a:lnTo>
                  <a:close/>
                </a:path>
              </a:pathLst>
            </a:custGeom>
            <a:blipFill>
              <a:blip r:embed="rId32"/>
              <a:stretch>
                <a:fillRect l="0" t="-89" r="0" b="-89"/>
              </a:stretch>
            </a:blipFill>
          </p:spPr>
        </p:sp>
      </p:grpSp>
      <p:grpSp>
        <p:nvGrpSpPr>
          <p:cNvPr name="Group 98" id="98"/>
          <p:cNvGrpSpPr/>
          <p:nvPr/>
        </p:nvGrpSpPr>
        <p:grpSpPr>
          <a:xfrm rot="0">
            <a:off x="4345953" y="4593879"/>
            <a:ext cx="386467" cy="442789"/>
            <a:chOff x="0" y="0"/>
            <a:chExt cx="515290" cy="590385"/>
          </a:xfrm>
        </p:grpSpPr>
        <p:sp>
          <p:nvSpPr>
            <p:cNvPr name="Freeform 99" id="99"/>
            <p:cNvSpPr/>
            <p:nvPr/>
          </p:nvSpPr>
          <p:spPr>
            <a:xfrm flipH="false" flipV="false" rot="0">
              <a:off x="0" y="0"/>
              <a:ext cx="515239" cy="590423"/>
            </a:xfrm>
            <a:custGeom>
              <a:avLst/>
              <a:gdLst/>
              <a:ahLst/>
              <a:cxnLst/>
              <a:rect r="r" b="b" t="t" l="l"/>
              <a:pathLst>
                <a:path h="590423" w="515239">
                  <a:moveTo>
                    <a:pt x="0" y="0"/>
                  </a:moveTo>
                  <a:lnTo>
                    <a:pt x="515239" y="0"/>
                  </a:lnTo>
                  <a:lnTo>
                    <a:pt x="515239" y="590423"/>
                  </a:lnTo>
                  <a:lnTo>
                    <a:pt x="0" y="590423"/>
                  </a:lnTo>
                  <a:close/>
                </a:path>
              </a:pathLst>
            </a:custGeom>
            <a:blipFill>
              <a:blip r:embed="rId17">
                <a:alphaModFix amt="0"/>
              </a:blip>
              <a:stretch>
                <a:fillRect l="-97113" t="0" r="-97123" b="6"/>
              </a:stretch>
            </a:blipFill>
          </p:spPr>
        </p:sp>
      </p:grpSp>
      <p:grpSp>
        <p:nvGrpSpPr>
          <p:cNvPr name="Group 100" id="100"/>
          <p:cNvGrpSpPr/>
          <p:nvPr/>
        </p:nvGrpSpPr>
        <p:grpSpPr>
          <a:xfrm rot="0">
            <a:off x="4345953" y="4595155"/>
            <a:ext cx="386467" cy="378495"/>
            <a:chOff x="0" y="0"/>
            <a:chExt cx="515290" cy="504660"/>
          </a:xfrm>
        </p:grpSpPr>
        <p:sp>
          <p:nvSpPr>
            <p:cNvPr name="Freeform 101" id="101"/>
            <p:cNvSpPr/>
            <p:nvPr/>
          </p:nvSpPr>
          <p:spPr>
            <a:xfrm flipH="false" flipV="false" rot="0">
              <a:off x="0" y="0"/>
              <a:ext cx="515289" cy="504654"/>
            </a:xfrm>
            <a:custGeom>
              <a:avLst/>
              <a:gdLst/>
              <a:ahLst/>
              <a:cxnLst/>
              <a:rect r="r" b="b" t="t" l="l"/>
              <a:pathLst>
                <a:path h="504654" w="515289">
                  <a:moveTo>
                    <a:pt x="0" y="0"/>
                  </a:moveTo>
                  <a:lnTo>
                    <a:pt x="515289" y="0"/>
                  </a:lnTo>
                  <a:lnTo>
                    <a:pt x="515289" y="504654"/>
                  </a:lnTo>
                  <a:lnTo>
                    <a:pt x="0" y="504654"/>
                  </a:lnTo>
                  <a:close/>
                </a:path>
              </a:pathLst>
            </a:custGeom>
            <a:blipFill>
              <a:blip r:embed="rId18">
                <a:alphaModFix amt="0"/>
              </a:blip>
              <a:stretch>
                <a:fillRect l="-75656" t="0" r="-75656" b="-1"/>
              </a:stretch>
            </a:blipFill>
          </p:spPr>
        </p:sp>
        <p:sp>
          <p:nvSpPr>
            <p:cNvPr name="TextBox 102" id="102"/>
            <p:cNvSpPr txBox="true"/>
            <p:nvPr/>
          </p:nvSpPr>
          <p:spPr>
            <a:xfrm>
              <a:off x="0" y="85725"/>
              <a:ext cx="515290" cy="418935"/>
            </a:xfrm>
            <a:prstGeom prst="rect">
              <a:avLst/>
            </a:prstGeom>
          </p:spPr>
          <p:txBody>
            <a:bodyPr anchor="ctr" rtlCol="false" tIns="0" lIns="0" bIns="0" rIns="0"/>
            <a:lstStyle/>
            <a:p>
              <a:pPr algn="l">
                <a:lnSpc>
                  <a:spcPts val="1549"/>
                </a:lnSpc>
              </a:pPr>
              <a:r>
                <a:rPr lang="en-US" sz="2073" b="true">
                  <a:solidFill>
                    <a:srgbClr val="EDB894"/>
                  </a:solidFill>
                  <a:latin typeface="TT Commons Pro Bold"/>
                  <a:ea typeface="TT Commons Pro Bold"/>
                  <a:cs typeface="TT Commons Pro Bold"/>
                  <a:sym typeface="TT Commons Pro Bold"/>
                </a:rPr>
                <a:t>02</a:t>
              </a:r>
            </a:p>
          </p:txBody>
        </p:sp>
      </p:grpSp>
      <p:grpSp>
        <p:nvGrpSpPr>
          <p:cNvPr name="Group 103" id="103"/>
          <p:cNvGrpSpPr/>
          <p:nvPr/>
        </p:nvGrpSpPr>
        <p:grpSpPr>
          <a:xfrm rot="0">
            <a:off x="4326026" y="6593272"/>
            <a:ext cx="2972810" cy="2164251"/>
            <a:chOff x="0" y="0"/>
            <a:chExt cx="3963746" cy="2885669"/>
          </a:xfrm>
        </p:grpSpPr>
        <p:sp>
          <p:nvSpPr>
            <p:cNvPr name="Freeform 104" id="104"/>
            <p:cNvSpPr/>
            <p:nvPr/>
          </p:nvSpPr>
          <p:spPr>
            <a:xfrm flipH="false" flipV="false" rot="0">
              <a:off x="0" y="0"/>
              <a:ext cx="3963797" cy="2885694"/>
            </a:xfrm>
            <a:custGeom>
              <a:avLst/>
              <a:gdLst/>
              <a:ahLst/>
              <a:cxnLst/>
              <a:rect r="r" b="b" t="t" l="l"/>
              <a:pathLst>
                <a:path h="2885694" w="3963797">
                  <a:moveTo>
                    <a:pt x="0" y="0"/>
                  </a:moveTo>
                  <a:lnTo>
                    <a:pt x="3963797" y="0"/>
                  </a:lnTo>
                  <a:lnTo>
                    <a:pt x="3963797" y="2885694"/>
                  </a:lnTo>
                  <a:lnTo>
                    <a:pt x="0" y="2885694"/>
                  </a:lnTo>
                  <a:close/>
                </a:path>
              </a:pathLst>
            </a:custGeom>
            <a:blipFill>
              <a:blip r:embed="rId17">
                <a:alphaModFix amt="0"/>
              </a:blip>
              <a:stretch>
                <a:fillRect l="-43471" t="0" r="-43470" b="0"/>
              </a:stretch>
            </a:blipFill>
          </p:spPr>
        </p:sp>
      </p:grpSp>
      <p:grpSp>
        <p:nvGrpSpPr>
          <p:cNvPr name="Group 105" id="105"/>
          <p:cNvGrpSpPr/>
          <p:nvPr/>
        </p:nvGrpSpPr>
        <p:grpSpPr>
          <a:xfrm rot="0">
            <a:off x="4326026" y="6550409"/>
            <a:ext cx="2972810" cy="2207123"/>
            <a:chOff x="0" y="0"/>
            <a:chExt cx="3963746" cy="2942831"/>
          </a:xfrm>
        </p:grpSpPr>
        <p:sp>
          <p:nvSpPr>
            <p:cNvPr name="Freeform 106" id="106"/>
            <p:cNvSpPr/>
            <p:nvPr/>
          </p:nvSpPr>
          <p:spPr>
            <a:xfrm flipH="false" flipV="false" rot="0">
              <a:off x="0" y="0"/>
              <a:ext cx="3963747" cy="2942827"/>
            </a:xfrm>
            <a:custGeom>
              <a:avLst/>
              <a:gdLst/>
              <a:ahLst/>
              <a:cxnLst/>
              <a:rect r="r" b="b" t="t" l="l"/>
              <a:pathLst>
                <a:path h="2942827" w="3963747">
                  <a:moveTo>
                    <a:pt x="0" y="0"/>
                  </a:moveTo>
                  <a:lnTo>
                    <a:pt x="3963747" y="0"/>
                  </a:lnTo>
                  <a:lnTo>
                    <a:pt x="3963747" y="2942827"/>
                  </a:lnTo>
                  <a:lnTo>
                    <a:pt x="0" y="2942827"/>
                  </a:lnTo>
                  <a:close/>
                </a:path>
              </a:pathLst>
            </a:custGeom>
            <a:blipFill>
              <a:blip r:embed="rId18">
                <a:alphaModFix amt="0"/>
              </a:blip>
              <a:stretch>
                <a:fillRect l="-45257" t="0" r="-45257" b="0"/>
              </a:stretch>
            </a:blipFill>
          </p:spPr>
        </p:sp>
        <p:sp>
          <p:nvSpPr>
            <p:cNvPr name="TextBox 107" id="107"/>
            <p:cNvSpPr txBox="true"/>
            <p:nvPr/>
          </p:nvSpPr>
          <p:spPr>
            <a:xfrm>
              <a:off x="0" y="-57150"/>
              <a:ext cx="3963746" cy="2999981"/>
            </a:xfrm>
            <a:prstGeom prst="rect">
              <a:avLst/>
            </a:prstGeom>
          </p:spPr>
          <p:txBody>
            <a:bodyPr anchor="ctr" rtlCol="false" tIns="0" lIns="0" bIns="0" rIns="0"/>
            <a:lstStyle/>
            <a:p>
              <a:pPr algn="l">
                <a:lnSpc>
                  <a:spcPts val="2849"/>
                </a:lnSpc>
              </a:pPr>
              <a:r>
                <a:rPr lang="en-US" sz="1899">
                  <a:solidFill>
                    <a:srgbClr val="F2EFEB"/>
                  </a:solidFill>
                  <a:latin typeface="TT Commons Pro"/>
                  <a:ea typeface="TT Commons Pro"/>
                  <a:cs typeface="TT Commons Pro"/>
                  <a:sym typeface="TT Commons Pro"/>
                </a:rPr>
                <a:t>Handled missing values,</a:t>
              </a:r>
            </a:p>
            <a:p>
              <a:pPr algn="l">
                <a:lnSpc>
                  <a:spcPts val="2849"/>
                </a:lnSpc>
              </a:pPr>
              <a:r>
                <a:rPr lang="en-US" sz="1899">
                  <a:solidFill>
                    <a:srgbClr val="F2EFEB"/>
                  </a:solidFill>
                  <a:latin typeface="TT Commons Pro"/>
                  <a:ea typeface="TT Commons Pro"/>
                  <a:cs typeface="TT Commons Pro"/>
                  <a:sym typeface="TT Commons Pro"/>
                </a:rPr>
                <a:t>checked data types, removed</a:t>
              </a:r>
            </a:p>
            <a:p>
              <a:pPr algn="l">
                <a:lnSpc>
                  <a:spcPts val="2849"/>
                </a:lnSpc>
              </a:pPr>
              <a:r>
                <a:rPr lang="en-US" sz="1899">
                  <a:solidFill>
                    <a:srgbClr val="F2EFEB"/>
                  </a:solidFill>
                  <a:latin typeface="TT Commons Pro"/>
                  <a:ea typeface="TT Commons Pro"/>
                  <a:cs typeface="TT Commons Pro"/>
                  <a:sym typeface="TT Commons Pro"/>
                </a:rPr>
                <a:t>inconsistencies, and</a:t>
              </a:r>
            </a:p>
            <a:p>
              <a:pPr algn="l">
                <a:lnSpc>
                  <a:spcPts val="2849"/>
                </a:lnSpc>
              </a:pPr>
              <a:r>
                <a:rPr lang="en-US" sz="1899">
                  <a:solidFill>
                    <a:srgbClr val="F2EFEB"/>
                  </a:solidFill>
                  <a:latin typeface="TT Commons Pro"/>
                  <a:ea typeface="TT Commons Pro"/>
                  <a:cs typeface="TT Commons Pro"/>
                  <a:sym typeface="TT Commons Pro"/>
                </a:rPr>
                <a:t>prepared the dataset for</a:t>
              </a:r>
            </a:p>
            <a:p>
              <a:pPr algn="l">
                <a:lnSpc>
                  <a:spcPts val="2849"/>
                </a:lnSpc>
              </a:pPr>
              <a:r>
                <a:rPr lang="en-US" sz="1899">
                  <a:solidFill>
                    <a:srgbClr val="F2EFEB"/>
                  </a:solidFill>
                  <a:latin typeface="TT Commons Pro"/>
                  <a:ea typeface="TT Commons Pro"/>
                  <a:cs typeface="TT Commons Pro"/>
                  <a:sym typeface="TT Commons Pro"/>
                </a:rPr>
                <a:t>analysis.</a:t>
              </a:r>
            </a:p>
          </p:txBody>
        </p:sp>
      </p:grpSp>
      <p:grpSp>
        <p:nvGrpSpPr>
          <p:cNvPr name="Group 108" id="108"/>
          <p:cNvGrpSpPr/>
          <p:nvPr/>
        </p:nvGrpSpPr>
        <p:grpSpPr>
          <a:xfrm rot="0">
            <a:off x="4531900" y="5779103"/>
            <a:ext cx="2302869" cy="794080"/>
            <a:chOff x="0" y="0"/>
            <a:chExt cx="3070492" cy="1058774"/>
          </a:xfrm>
        </p:grpSpPr>
        <p:sp>
          <p:nvSpPr>
            <p:cNvPr name="Freeform 109" id="109"/>
            <p:cNvSpPr/>
            <p:nvPr/>
          </p:nvSpPr>
          <p:spPr>
            <a:xfrm flipH="false" flipV="false" rot="0">
              <a:off x="0" y="0"/>
              <a:ext cx="3070479" cy="1058799"/>
            </a:xfrm>
            <a:custGeom>
              <a:avLst/>
              <a:gdLst/>
              <a:ahLst/>
              <a:cxnLst/>
              <a:rect r="r" b="b" t="t" l="l"/>
              <a:pathLst>
                <a:path h="1058799" w="3070479">
                  <a:moveTo>
                    <a:pt x="0" y="0"/>
                  </a:moveTo>
                  <a:lnTo>
                    <a:pt x="3070479" y="0"/>
                  </a:lnTo>
                  <a:lnTo>
                    <a:pt x="3070479" y="1058799"/>
                  </a:lnTo>
                  <a:lnTo>
                    <a:pt x="0" y="1058799"/>
                  </a:lnTo>
                  <a:close/>
                </a:path>
              </a:pathLst>
            </a:custGeom>
            <a:blipFill>
              <a:blip r:embed="rId17">
                <a:alphaModFix amt="0"/>
              </a:blip>
              <a:stretch>
                <a:fillRect l="0" t="-6467" r="0" b="-6466"/>
              </a:stretch>
            </a:blipFill>
          </p:spPr>
        </p:sp>
      </p:grpSp>
      <p:grpSp>
        <p:nvGrpSpPr>
          <p:cNvPr name="Group 110" id="110"/>
          <p:cNvGrpSpPr/>
          <p:nvPr/>
        </p:nvGrpSpPr>
        <p:grpSpPr>
          <a:xfrm rot="0">
            <a:off x="4531900" y="5757672"/>
            <a:ext cx="2302869" cy="815511"/>
            <a:chOff x="0" y="0"/>
            <a:chExt cx="3070492" cy="1087349"/>
          </a:xfrm>
        </p:grpSpPr>
        <p:sp>
          <p:nvSpPr>
            <p:cNvPr name="Freeform 111" id="111"/>
            <p:cNvSpPr/>
            <p:nvPr/>
          </p:nvSpPr>
          <p:spPr>
            <a:xfrm flipH="false" flipV="false" rot="0">
              <a:off x="0" y="0"/>
              <a:ext cx="3070492" cy="1087348"/>
            </a:xfrm>
            <a:custGeom>
              <a:avLst/>
              <a:gdLst/>
              <a:ahLst/>
              <a:cxnLst/>
              <a:rect r="r" b="b" t="t" l="l"/>
              <a:pathLst>
                <a:path h="1087348" w="3070492">
                  <a:moveTo>
                    <a:pt x="0" y="0"/>
                  </a:moveTo>
                  <a:lnTo>
                    <a:pt x="3070492" y="0"/>
                  </a:lnTo>
                  <a:lnTo>
                    <a:pt x="3070492" y="1087348"/>
                  </a:lnTo>
                  <a:lnTo>
                    <a:pt x="0" y="1087348"/>
                  </a:lnTo>
                  <a:close/>
                </a:path>
              </a:pathLst>
            </a:custGeom>
            <a:blipFill>
              <a:blip r:embed="rId18">
                <a:alphaModFix amt="0"/>
              </a:blip>
              <a:stretch>
                <a:fillRect l="0" t="-5022" r="0" b="-5022"/>
              </a:stretch>
            </a:blipFill>
          </p:spPr>
        </p:sp>
        <p:sp>
          <p:nvSpPr>
            <p:cNvPr name="TextBox 112" id="112"/>
            <p:cNvSpPr txBox="true"/>
            <p:nvPr/>
          </p:nvSpPr>
          <p:spPr>
            <a:xfrm>
              <a:off x="0" y="-28575"/>
              <a:ext cx="3070492" cy="1115924"/>
            </a:xfrm>
            <a:prstGeom prst="rect">
              <a:avLst/>
            </a:prstGeom>
          </p:spPr>
          <p:txBody>
            <a:bodyPr anchor="ctr" rtlCol="false" tIns="0" lIns="0" bIns="0" rIns="0"/>
            <a:lstStyle/>
            <a:p>
              <a:pPr algn="ctr">
                <a:lnSpc>
                  <a:spcPts val="2730"/>
                </a:lnSpc>
              </a:pPr>
              <a:r>
                <a:rPr lang="en-US" sz="2100" b="true">
                  <a:solidFill>
                    <a:srgbClr val="ED5E40"/>
                  </a:solidFill>
                  <a:latin typeface="TT Commons Pro Bold"/>
                  <a:ea typeface="TT Commons Pro Bold"/>
                  <a:cs typeface="TT Commons Pro Bold"/>
                  <a:sym typeface="TT Commons Pro Bold"/>
                </a:rPr>
                <a:t>Data Cleaning &amp;</a:t>
              </a:r>
            </a:p>
            <a:p>
              <a:pPr algn="ctr">
                <a:lnSpc>
                  <a:spcPts val="2730"/>
                </a:lnSpc>
              </a:pPr>
              <a:r>
                <a:rPr lang="en-US" sz="2100" b="true">
                  <a:solidFill>
                    <a:srgbClr val="ED5E40"/>
                  </a:solidFill>
                  <a:latin typeface="TT Commons Pro Bold"/>
                  <a:ea typeface="TT Commons Pro Bold"/>
                  <a:cs typeface="TT Commons Pro Bold"/>
                  <a:sym typeface="TT Commons Pro Bold"/>
                </a:rPr>
                <a:t>Processing</a:t>
              </a:r>
            </a:p>
          </p:txBody>
        </p:sp>
      </p:grpSp>
      <p:grpSp>
        <p:nvGrpSpPr>
          <p:cNvPr name="Group 113" id="113"/>
          <p:cNvGrpSpPr/>
          <p:nvPr/>
        </p:nvGrpSpPr>
        <p:grpSpPr>
          <a:xfrm rot="0">
            <a:off x="3879275" y="5906414"/>
            <a:ext cx="233362" cy="328136"/>
            <a:chOff x="0" y="0"/>
            <a:chExt cx="311150" cy="437515"/>
          </a:xfrm>
        </p:grpSpPr>
        <p:sp>
          <p:nvSpPr>
            <p:cNvPr name="Freeform 114" id="114" descr="preencoded.png"/>
            <p:cNvSpPr/>
            <p:nvPr/>
          </p:nvSpPr>
          <p:spPr>
            <a:xfrm flipH="false" flipV="false" rot="0">
              <a:off x="0" y="0"/>
              <a:ext cx="311150" cy="437515"/>
            </a:xfrm>
            <a:custGeom>
              <a:avLst/>
              <a:gdLst/>
              <a:ahLst/>
              <a:cxnLst/>
              <a:rect r="r" b="b" t="t" l="l"/>
              <a:pathLst>
                <a:path h="437515" w="311150">
                  <a:moveTo>
                    <a:pt x="0" y="0"/>
                  </a:moveTo>
                  <a:lnTo>
                    <a:pt x="311150" y="0"/>
                  </a:lnTo>
                  <a:lnTo>
                    <a:pt x="311150" y="437515"/>
                  </a:lnTo>
                  <a:lnTo>
                    <a:pt x="0" y="437515"/>
                  </a:lnTo>
                  <a:lnTo>
                    <a:pt x="0" y="0"/>
                  </a:lnTo>
                  <a:close/>
                </a:path>
              </a:pathLst>
            </a:custGeom>
            <a:blipFill>
              <a:blip r:embed="rId33"/>
              <a:stretch>
                <a:fillRect l="0" t="-531" r="0" b="-531"/>
              </a:stretch>
            </a:blipFill>
          </p:spPr>
        </p:sp>
      </p:grpSp>
      <p:sp>
        <p:nvSpPr>
          <p:cNvPr name="Freeform 115" id="115"/>
          <p:cNvSpPr/>
          <p:nvPr/>
        </p:nvSpPr>
        <p:spPr>
          <a:xfrm flipH="false" flipV="false" rot="0">
            <a:off x="411537" y="5501716"/>
            <a:ext cx="3383442" cy="3813686"/>
          </a:xfrm>
          <a:custGeom>
            <a:avLst/>
            <a:gdLst/>
            <a:ahLst/>
            <a:cxnLst/>
            <a:rect r="r" b="b" t="t" l="l"/>
            <a:pathLst>
              <a:path h="3813686" w="3383442">
                <a:moveTo>
                  <a:pt x="0" y="0"/>
                </a:moveTo>
                <a:lnTo>
                  <a:pt x="3383442" y="0"/>
                </a:lnTo>
                <a:lnTo>
                  <a:pt x="3383442" y="3813686"/>
                </a:lnTo>
                <a:lnTo>
                  <a:pt x="0" y="3813686"/>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grpSp>
        <p:nvGrpSpPr>
          <p:cNvPr name="Group 116" id="116"/>
          <p:cNvGrpSpPr/>
          <p:nvPr/>
        </p:nvGrpSpPr>
        <p:grpSpPr>
          <a:xfrm rot="0">
            <a:off x="1293485" y="4659506"/>
            <a:ext cx="1254157" cy="1064609"/>
            <a:chOff x="0" y="0"/>
            <a:chExt cx="1672209" cy="1419479"/>
          </a:xfrm>
        </p:grpSpPr>
        <p:sp>
          <p:nvSpPr>
            <p:cNvPr name="Freeform 117" id="117" descr="preencoded.png"/>
            <p:cNvSpPr/>
            <p:nvPr/>
          </p:nvSpPr>
          <p:spPr>
            <a:xfrm flipH="false" flipV="false" rot="0">
              <a:off x="0" y="0"/>
              <a:ext cx="1672209" cy="1419479"/>
            </a:xfrm>
            <a:custGeom>
              <a:avLst/>
              <a:gdLst/>
              <a:ahLst/>
              <a:cxnLst/>
              <a:rect r="r" b="b" t="t" l="l"/>
              <a:pathLst>
                <a:path h="1419479" w="1672209">
                  <a:moveTo>
                    <a:pt x="0" y="0"/>
                  </a:moveTo>
                  <a:lnTo>
                    <a:pt x="1672209" y="0"/>
                  </a:lnTo>
                  <a:lnTo>
                    <a:pt x="1672209" y="1419479"/>
                  </a:lnTo>
                  <a:lnTo>
                    <a:pt x="0" y="1419479"/>
                  </a:lnTo>
                  <a:lnTo>
                    <a:pt x="0" y="0"/>
                  </a:lnTo>
                  <a:close/>
                </a:path>
              </a:pathLst>
            </a:custGeom>
            <a:blipFill>
              <a:blip r:embed="rId36"/>
              <a:stretch>
                <a:fillRect l="0" t="-161" r="0" b="-161"/>
              </a:stretch>
            </a:blipFill>
          </p:spPr>
        </p:sp>
      </p:grpSp>
      <p:grpSp>
        <p:nvGrpSpPr>
          <p:cNvPr name="Group 118" id="118"/>
          <p:cNvGrpSpPr/>
          <p:nvPr/>
        </p:nvGrpSpPr>
        <p:grpSpPr>
          <a:xfrm rot="0">
            <a:off x="477622" y="4593879"/>
            <a:ext cx="568738" cy="481298"/>
            <a:chOff x="0" y="0"/>
            <a:chExt cx="758317" cy="641731"/>
          </a:xfrm>
        </p:grpSpPr>
        <p:sp>
          <p:nvSpPr>
            <p:cNvPr name="Freeform 119" id="119" descr="preencoded.png"/>
            <p:cNvSpPr/>
            <p:nvPr/>
          </p:nvSpPr>
          <p:spPr>
            <a:xfrm flipH="false" flipV="false" rot="0">
              <a:off x="0" y="0"/>
              <a:ext cx="758317" cy="641731"/>
            </a:xfrm>
            <a:custGeom>
              <a:avLst/>
              <a:gdLst/>
              <a:ahLst/>
              <a:cxnLst/>
              <a:rect r="r" b="b" t="t" l="l"/>
              <a:pathLst>
                <a:path h="641731" w="758317">
                  <a:moveTo>
                    <a:pt x="0" y="0"/>
                  </a:moveTo>
                  <a:lnTo>
                    <a:pt x="758317" y="0"/>
                  </a:lnTo>
                  <a:lnTo>
                    <a:pt x="758317" y="641731"/>
                  </a:lnTo>
                  <a:lnTo>
                    <a:pt x="0" y="641731"/>
                  </a:lnTo>
                  <a:lnTo>
                    <a:pt x="0" y="0"/>
                  </a:lnTo>
                  <a:close/>
                </a:path>
              </a:pathLst>
            </a:custGeom>
            <a:blipFill>
              <a:blip r:embed="rId37"/>
              <a:stretch>
                <a:fillRect l="-450" t="0" r="-448" b="0"/>
              </a:stretch>
            </a:blipFill>
          </p:spPr>
        </p:sp>
      </p:grpSp>
      <p:grpSp>
        <p:nvGrpSpPr>
          <p:cNvPr name="Group 120" id="120"/>
          <p:cNvGrpSpPr/>
          <p:nvPr/>
        </p:nvGrpSpPr>
        <p:grpSpPr>
          <a:xfrm rot="0">
            <a:off x="634394" y="4595155"/>
            <a:ext cx="350006" cy="456133"/>
            <a:chOff x="0" y="0"/>
            <a:chExt cx="466674" cy="608178"/>
          </a:xfrm>
        </p:grpSpPr>
        <p:sp>
          <p:nvSpPr>
            <p:cNvPr name="Freeform 121" id="121"/>
            <p:cNvSpPr/>
            <p:nvPr/>
          </p:nvSpPr>
          <p:spPr>
            <a:xfrm flipH="false" flipV="false" rot="0">
              <a:off x="0" y="0"/>
              <a:ext cx="466725" cy="608203"/>
            </a:xfrm>
            <a:custGeom>
              <a:avLst/>
              <a:gdLst/>
              <a:ahLst/>
              <a:cxnLst/>
              <a:rect r="r" b="b" t="t" l="l"/>
              <a:pathLst>
                <a:path h="608203" w="466725">
                  <a:moveTo>
                    <a:pt x="0" y="0"/>
                  </a:moveTo>
                  <a:lnTo>
                    <a:pt x="466725" y="0"/>
                  </a:lnTo>
                  <a:lnTo>
                    <a:pt x="466725" y="608203"/>
                  </a:lnTo>
                  <a:lnTo>
                    <a:pt x="0" y="608203"/>
                  </a:lnTo>
                  <a:close/>
                </a:path>
              </a:pathLst>
            </a:custGeom>
            <a:blipFill>
              <a:blip r:embed="rId17">
                <a:alphaModFix amt="0"/>
              </a:blip>
              <a:stretch>
                <a:fillRect l="-117308" t="0" r="-117300" b="4"/>
              </a:stretch>
            </a:blipFill>
          </p:spPr>
        </p:sp>
      </p:grpSp>
      <p:grpSp>
        <p:nvGrpSpPr>
          <p:cNvPr name="Group 122" id="122"/>
          <p:cNvGrpSpPr/>
          <p:nvPr/>
        </p:nvGrpSpPr>
        <p:grpSpPr>
          <a:xfrm rot="0">
            <a:off x="634394" y="4659449"/>
            <a:ext cx="350006" cy="391839"/>
            <a:chOff x="0" y="0"/>
            <a:chExt cx="466674" cy="522453"/>
          </a:xfrm>
        </p:grpSpPr>
        <p:sp>
          <p:nvSpPr>
            <p:cNvPr name="Freeform 123" id="123"/>
            <p:cNvSpPr/>
            <p:nvPr/>
          </p:nvSpPr>
          <p:spPr>
            <a:xfrm flipH="false" flipV="false" rot="0">
              <a:off x="0" y="0"/>
              <a:ext cx="466675" cy="522448"/>
            </a:xfrm>
            <a:custGeom>
              <a:avLst/>
              <a:gdLst/>
              <a:ahLst/>
              <a:cxnLst/>
              <a:rect r="r" b="b" t="t" l="l"/>
              <a:pathLst>
                <a:path h="522448" w="466675">
                  <a:moveTo>
                    <a:pt x="0" y="0"/>
                  </a:moveTo>
                  <a:lnTo>
                    <a:pt x="466675" y="0"/>
                  </a:lnTo>
                  <a:lnTo>
                    <a:pt x="466675" y="522448"/>
                  </a:lnTo>
                  <a:lnTo>
                    <a:pt x="0" y="522448"/>
                  </a:lnTo>
                  <a:close/>
                </a:path>
              </a:pathLst>
            </a:custGeom>
            <a:blipFill>
              <a:blip r:embed="rId18">
                <a:alphaModFix amt="0"/>
              </a:blip>
              <a:stretch>
                <a:fillRect l="-93638" t="0" r="-93638" b="0"/>
              </a:stretch>
            </a:blipFill>
          </p:spPr>
        </p:sp>
        <p:sp>
          <p:nvSpPr>
            <p:cNvPr name="TextBox 124" id="124"/>
            <p:cNvSpPr txBox="true"/>
            <p:nvPr/>
          </p:nvSpPr>
          <p:spPr>
            <a:xfrm>
              <a:off x="0" y="85725"/>
              <a:ext cx="466674" cy="436728"/>
            </a:xfrm>
            <a:prstGeom prst="rect">
              <a:avLst/>
            </a:prstGeom>
          </p:spPr>
          <p:txBody>
            <a:bodyPr anchor="ctr" rtlCol="false" tIns="0" lIns="0" bIns="0" rIns="0"/>
            <a:lstStyle/>
            <a:p>
              <a:pPr algn="l">
                <a:lnSpc>
                  <a:spcPts val="1606"/>
                </a:lnSpc>
              </a:pPr>
              <a:r>
                <a:rPr lang="en-US" sz="2124" b="true">
                  <a:solidFill>
                    <a:srgbClr val="EFC29D"/>
                  </a:solidFill>
                  <a:latin typeface="TT Commons Pro Bold"/>
                  <a:ea typeface="TT Commons Pro Bold"/>
                  <a:cs typeface="TT Commons Pro Bold"/>
                  <a:sym typeface="TT Commons Pro Bold"/>
                </a:rPr>
                <a:t>01</a:t>
              </a:r>
            </a:p>
          </p:txBody>
        </p:sp>
      </p:grpSp>
      <p:grpSp>
        <p:nvGrpSpPr>
          <p:cNvPr name="Group 125" id="125"/>
          <p:cNvGrpSpPr/>
          <p:nvPr/>
        </p:nvGrpSpPr>
        <p:grpSpPr>
          <a:xfrm rot="0">
            <a:off x="724767" y="6385055"/>
            <a:ext cx="3048000" cy="1811836"/>
            <a:chOff x="0" y="0"/>
            <a:chExt cx="4064000" cy="2415781"/>
          </a:xfrm>
        </p:grpSpPr>
        <p:sp>
          <p:nvSpPr>
            <p:cNvPr name="Freeform 126" id="126"/>
            <p:cNvSpPr/>
            <p:nvPr/>
          </p:nvSpPr>
          <p:spPr>
            <a:xfrm flipH="false" flipV="false" rot="0">
              <a:off x="0" y="0"/>
              <a:ext cx="4064000" cy="2415794"/>
            </a:xfrm>
            <a:custGeom>
              <a:avLst/>
              <a:gdLst/>
              <a:ahLst/>
              <a:cxnLst/>
              <a:rect r="r" b="b" t="t" l="l"/>
              <a:pathLst>
                <a:path h="2415794" w="4064000">
                  <a:moveTo>
                    <a:pt x="0" y="0"/>
                  </a:moveTo>
                  <a:lnTo>
                    <a:pt x="4064000" y="0"/>
                  </a:lnTo>
                  <a:lnTo>
                    <a:pt x="4064000" y="2415794"/>
                  </a:lnTo>
                  <a:lnTo>
                    <a:pt x="0" y="2415794"/>
                  </a:lnTo>
                  <a:close/>
                </a:path>
              </a:pathLst>
            </a:custGeom>
            <a:blipFill>
              <a:blip r:embed="rId17">
                <a:alphaModFix amt="0"/>
              </a:blip>
              <a:stretch>
                <a:fillRect l="-26320" t="0" r="-26321" b="0"/>
              </a:stretch>
            </a:blipFill>
          </p:spPr>
        </p:sp>
      </p:grpSp>
      <p:grpSp>
        <p:nvGrpSpPr>
          <p:cNvPr name="Group 127" id="127"/>
          <p:cNvGrpSpPr/>
          <p:nvPr/>
        </p:nvGrpSpPr>
        <p:grpSpPr>
          <a:xfrm rot="0">
            <a:off x="724767" y="6342193"/>
            <a:ext cx="3048000" cy="1854698"/>
            <a:chOff x="0" y="0"/>
            <a:chExt cx="4064000" cy="2472931"/>
          </a:xfrm>
        </p:grpSpPr>
        <p:sp>
          <p:nvSpPr>
            <p:cNvPr name="Freeform 128" id="128"/>
            <p:cNvSpPr/>
            <p:nvPr/>
          </p:nvSpPr>
          <p:spPr>
            <a:xfrm flipH="false" flipV="false" rot="0">
              <a:off x="0" y="0"/>
              <a:ext cx="4064000" cy="2472927"/>
            </a:xfrm>
            <a:custGeom>
              <a:avLst/>
              <a:gdLst/>
              <a:ahLst/>
              <a:cxnLst/>
              <a:rect r="r" b="b" t="t" l="l"/>
              <a:pathLst>
                <a:path h="2472927" w="4064000">
                  <a:moveTo>
                    <a:pt x="0" y="0"/>
                  </a:moveTo>
                  <a:lnTo>
                    <a:pt x="4064000" y="0"/>
                  </a:lnTo>
                  <a:lnTo>
                    <a:pt x="4064000" y="2472927"/>
                  </a:lnTo>
                  <a:lnTo>
                    <a:pt x="0" y="2472927"/>
                  </a:lnTo>
                  <a:close/>
                </a:path>
              </a:pathLst>
            </a:custGeom>
            <a:blipFill>
              <a:blip r:embed="rId18">
                <a:alphaModFix amt="0"/>
              </a:blip>
              <a:stretch>
                <a:fillRect l="-28072" t="0" r="-28072" b="0"/>
              </a:stretch>
            </a:blipFill>
          </p:spPr>
        </p:sp>
        <p:sp>
          <p:nvSpPr>
            <p:cNvPr name="TextBox 129" id="129"/>
            <p:cNvSpPr txBox="true"/>
            <p:nvPr/>
          </p:nvSpPr>
          <p:spPr>
            <a:xfrm>
              <a:off x="0" y="-57150"/>
              <a:ext cx="4064000" cy="2530081"/>
            </a:xfrm>
            <a:prstGeom prst="rect">
              <a:avLst/>
            </a:prstGeom>
          </p:spPr>
          <p:txBody>
            <a:bodyPr anchor="ctr" rtlCol="false" tIns="0" lIns="0" bIns="0" rIns="0"/>
            <a:lstStyle/>
            <a:p>
              <a:pPr algn="l">
                <a:lnSpc>
                  <a:spcPts val="2849"/>
                </a:lnSpc>
              </a:pPr>
              <a:r>
                <a:rPr lang="en-US" sz="1899">
                  <a:solidFill>
                    <a:srgbClr val="F2EFEB"/>
                  </a:solidFill>
                  <a:latin typeface="TT Commons Pro"/>
                  <a:ea typeface="TT Commons Pro"/>
                  <a:cs typeface="TT Commons Pro"/>
                  <a:sym typeface="TT Commons Pro"/>
                </a:rPr>
                <a:t>Imported and explored the</a:t>
              </a:r>
            </a:p>
            <a:p>
              <a:pPr algn="l">
                <a:lnSpc>
                  <a:spcPts val="2849"/>
                </a:lnSpc>
              </a:pPr>
              <a:r>
                <a:rPr lang="en-US" sz="1899">
                  <a:solidFill>
                    <a:srgbClr val="F2EFEB"/>
                  </a:solidFill>
                  <a:latin typeface="TT Commons Pro"/>
                  <a:ea typeface="TT Commons Pro"/>
                  <a:cs typeface="TT Commons Pro"/>
                  <a:sym typeface="TT Commons Pro"/>
                </a:rPr>
                <a:t>Swiggy vs Zomato dataset</a:t>
              </a:r>
            </a:p>
            <a:p>
              <a:pPr algn="l">
                <a:lnSpc>
                  <a:spcPts val="2849"/>
                </a:lnSpc>
              </a:pPr>
              <a:r>
                <a:rPr lang="en-US" sz="1899">
                  <a:solidFill>
                    <a:srgbClr val="F2EFEB"/>
                  </a:solidFill>
                  <a:latin typeface="TT Commons Pro"/>
                  <a:ea typeface="TT Commons Pro"/>
                  <a:cs typeface="TT Commons Pro"/>
                  <a:sym typeface="TT Commons Pro"/>
                </a:rPr>
                <a:t>(CSV) containing restaurant-</a:t>
              </a:r>
            </a:p>
            <a:p>
              <a:pPr algn="l">
                <a:lnSpc>
                  <a:spcPts val="2849"/>
                </a:lnSpc>
              </a:pPr>
              <a:r>
                <a:rPr lang="en-US" sz="1899">
                  <a:solidFill>
                    <a:srgbClr val="F2EFEB"/>
                  </a:solidFill>
                  <a:latin typeface="TT Commons Pro"/>
                  <a:ea typeface="TT Commons Pro"/>
                  <a:cs typeface="TT Commons Pro"/>
                  <a:sym typeface="TT Commons Pro"/>
                </a:rPr>
                <a:t>wise information from both</a:t>
              </a:r>
            </a:p>
            <a:p>
              <a:pPr algn="l">
                <a:lnSpc>
                  <a:spcPts val="2849"/>
                </a:lnSpc>
              </a:pPr>
              <a:r>
                <a:rPr lang="en-US" sz="1899">
                  <a:solidFill>
                    <a:srgbClr val="F2EFEB"/>
                  </a:solidFill>
                  <a:latin typeface="TT Commons Pro"/>
                  <a:ea typeface="TT Commons Pro"/>
                  <a:cs typeface="TT Commons Pro"/>
                  <a:sym typeface="TT Commons Pro"/>
                </a:rPr>
                <a:t>platforms.</a:t>
              </a:r>
            </a:p>
          </p:txBody>
        </p:sp>
      </p:grpSp>
      <p:grpSp>
        <p:nvGrpSpPr>
          <p:cNvPr name="Group 130" id="130"/>
          <p:cNvGrpSpPr/>
          <p:nvPr/>
        </p:nvGrpSpPr>
        <p:grpSpPr>
          <a:xfrm rot="0">
            <a:off x="724767" y="5914615"/>
            <a:ext cx="2457355" cy="449428"/>
            <a:chOff x="0" y="0"/>
            <a:chExt cx="3276473" cy="599237"/>
          </a:xfrm>
        </p:grpSpPr>
        <p:sp>
          <p:nvSpPr>
            <p:cNvPr name="Freeform 131" id="131"/>
            <p:cNvSpPr/>
            <p:nvPr/>
          </p:nvSpPr>
          <p:spPr>
            <a:xfrm flipH="false" flipV="false" rot="0">
              <a:off x="0" y="0"/>
              <a:ext cx="3276473" cy="599186"/>
            </a:xfrm>
            <a:custGeom>
              <a:avLst/>
              <a:gdLst/>
              <a:ahLst/>
              <a:cxnLst/>
              <a:rect r="r" b="b" t="t" l="l"/>
              <a:pathLst>
                <a:path h="599186" w="3276473">
                  <a:moveTo>
                    <a:pt x="0" y="0"/>
                  </a:moveTo>
                  <a:lnTo>
                    <a:pt x="3276473" y="0"/>
                  </a:lnTo>
                  <a:lnTo>
                    <a:pt x="3276473" y="599186"/>
                  </a:lnTo>
                  <a:lnTo>
                    <a:pt x="0" y="599186"/>
                  </a:lnTo>
                  <a:close/>
                </a:path>
              </a:pathLst>
            </a:custGeom>
            <a:blipFill>
              <a:blip r:embed="rId17">
                <a:alphaModFix amt="0"/>
              </a:blip>
              <a:stretch>
                <a:fillRect l="0" t="-56468" r="0" b="-56479"/>
              </a:stretch>
            </a:blipFill>
          </p:spPr>
        </p:sp>
      </p:grpSp>
      <p:grpSp>
        <p:nvGrpSpPr>
          <p:cNvPr name="Group 132" id="132"/>
          <p:cNvGrpSpPr/>
          <p:nvPr/>
        </p:nvGrpSpPr>
        <p:grpSpPr>
          <a:xfrm rot="0">
            <a:off x="724767" y="5964622"/>
            <a:ext cx="2457355" cy="399431"/>
            <a:chOff x="0" y="0"/>
            <a:chExt cx="3276473" cy="532574"/>
          </a:xfrm>
        </p:grpSpPr>
        <p:sp>
          <p:nvSpPr>
            <p:cNvPr name="Freeform 133" id="133"/>
            <p:cNvSpPr/>
            <p:nvPr/>
          </p:nvSpPr>
          <p:spPr>
            <a:xfrm flipH="false" flipV="false" rot="0">
              <a:off x="0" y="0"/>
              <a:ext cx="3276473" cy="532570"/>
            </a:xfrm>
            <a:custGeom>
              <a:avLst/>
              <a:gdLst/>
              <a:ahLst/>
              <a:cxnLst/>
              <a:rect r="r" b="b" t="t" l="l"/>
              <a:pathLst>
                <a:path h="532570" w="3276473">
                  <a:moveTo>
                    <a:pt x="0" y="0"/>
                  </a:moveTo>
                  <a:lnTo>
                    <a:pt x="3276473" y="0"/>
                  </a:lnTo>
                  <a:lnTo>
                    <a:pt x="3276473" y="532570"/>
                  </a:lnTo>
                  <a:lnTo>
                    <a:pt x="0" y="532570"/>
                  </a:lnTo>
                  <a:close/>
                </a:path>
              </a:pathLst>
            </a:custGeom>
            <a:blipFill>
              <a:blip r:embed="rId18">
                <a:alphaModFix amt="0"/>
              </a:blip>
              <a:stretch>
                <a:fillRect l="0" t="-69875" r="0" b="-69876"/>
              </a:stretch>
            </a:blipFill>
          </p:spPr>
        </p:sp>
        <p:sp>
          <p:nvSpPr>
            <p:cNvPr name="TextBox 134" id="134"/>
            <p:cNvSpPr txBox="true"/>
            <p:nvPr/>
          </p:nvSpPr>
          <p:spPr>
            <a:xfrm>
              <a:off x="0" y="66675"/>
              <a:ext cx="3276473" cy="465899"/>
            </a:xfrm>
            <a:prstGeom prst="rect">
              <a:avLst/>
            </a:prstGeom>
          </p:spPr>
          <p:txBody>
            <a:bodyPr anchor="ctr" rtlCol="false" tIns="0" lIns="0" bIns="0" rIns="0"/>
            <a:lstStyle/>
            <a:p>
              <a:pPr algn="l">
                <a:lnSpc>
                  <a:spcPts val="1768"/>
                </a:lnSpc>
              </a:pPr>
              <a:r>
                <a:rPr lang="en-US" sz="2100" b="true">
                  <a:solidFill>
                    <a:srgbClr val="ED5E40"/>
                  </a:solidFill>
                  <a:latin typeface="TT Commons Pro Bold"/>
                  <a:ea typeface="TT Commons Pro Bold"/>
                  <a:cs typeface="TT Commons Pro Bold"/>
                  <a:sym typeface="TT Commons Pro Bold"/>
                </a:rPr>
                <a:t>Data Collection</a:t>
              </a:r>
            </a:p>
          </p:txBody>
        </p:sp>
      </p:grpSp>
      <p:grpSp>
        <p:nvGrpSpPr>
          <p:cNvPr name="Group 135" id="135"/>
          <p:cNvGrpSpPr/>
          <p:nvPr/>
        </p:nvGrpSpPr>
        <p:grpSpPr>
          <a:xfrm rot="0">
            <a:off x="13482657" y="386467"/>
            <a:ext cx="2180272" cy="3791807"/>
            <a:chOff x="0" y="0"/>
            <a:chExt cx="2907030" cy="5055743"/>
          </a:xfrm>
        </p:grpSpPr>
        <p:sp>
          <p:nvSpPr>
            <p:cNvPr name="Freeform 136" id="136" descr="preencoded.png"/>
            <p:cNvSpPr/>
            <p:nvPr/>
          </p:nvSpPr>
          <p:spPr>
            <a:xfrm flipH="false" flipV="false" rot="0">
              <a:off x="0" y="0"/>
              <a:ext cx="2907030" cy="5055743"/>
            </a:xfrm>
            <a:custGeom>
              <a:avLst/>
              <a:gdLst/>
              <a:ahLst/>
              <a:cxnLst/>
              <a:rect r="r" b="b" t="t" l="l"/>
              <a:pathLst>
                <a:path h="5055743" w="2907030">
                  <a:moveTo>
                    <a:pt x="0" y="0"/>
                  </a:moveTo>
                  <a:lnTo>
                    <a:pt x="2907030" y="0"/>
                  </a:lnTo>
                  <a:lnTo>
                    <a:pt x="2907030" y="5055743"/>
                  </a:lnTo>
                  <a:lnTo>
                    <a:pt x="0" y="5055743"/>
                  </a:lnTo>
                  <a:lnTo>
                    <a:pt x="0" y="0"/>
                  </a:lnTo>
                  <a:close/>
                </a:path>
              </a:pathLst>
            </a:custGeom>
            <a:blipFill>
              <a:blip r:embed="rId38"/>
              <a:stretch>
                <a:fillRect l="-167" t="0" r="-167" b="0"/>
              </a:stretch>
            </a:blipFill>
          </p:spPr>
        </p:sp>
      </p:grpSp>
      <p:grpSp>
        <p:nvGrpSpPr>
          <p:cNvPr name="Group 137" id="137"/>
          <p:cNvGrpSpPr/>
          <p:nvPr/>
        </p:nvGrpSpPr>
        <p:grpSpPr>
          <a:xfrm rot="0">
            <a:off x="14620189" y="3441764"/>
            <a:ext cx="867727" cy="561499"/>
            <a:chOff x="0" y="0"/>
            <a:chExt cx="1156970" cy="748665"/>
          </a:xfrm>
        </p:grpSpPr>
        <p:sp>
          <p:nvSpPr>
            <p:cNvPr name="Freeform 138" id="138" descr="preencoded.png"/>
            <p:cNvSpPr/>
            <p:nvPr/>
          </p:nvSpPr>
          <p:spPr>
            <a:xfrm flipH="false" flipV="false" rot="0">
              <a:off x="0" y="0"/>
              <a:ext cx="1156970" cy="748665"/>
            </a:xfrm>
            <a:custGeom>
              <a:avLst/>
              <a:gdLst/>
              <a:ahLst/>
              <a:cxnLst/>
              <a:rect r="r" b="b" t="t" l="l"/>
              <a:pathLst>
                <a:path h="748665" w="1156970">
                  <a:moveTo>
                    <a:pt x="0" y="0"/>
                  </a:moveTo>
                  <a:lnTo>
                    <a:pt x="1156970" y="0"/>
                  </a:lnTo>
                  <a:lnTo>
                    <a:pt x="1156970" y="748665"/>
                  </a:lnTo>
                  <a:lnTo>
                    <a:pt x="0" y="748665"/>
                  </a:lnTo>
                  <a:lnTo>
                    <a:pt x="0" y="0"/>
                  </a:lnTo>
                  <a:close/>
                </a:path>
              </a:pathLst>
            </a:custGeom>
            <a:blipFill>
              <a:blip r:embed="rId39"/>
              <a:stretch>
                <a:fillRect l="0" t="-81" r="0" b="-81"/>
              </a:stretch>
            </a:blipFill>
          </p:spPr>
        </p:sp>
      </p:grpSp>
      <p:grpSp>
        <p:nvGrpSpPr>
          <p:cNvPr name="Group 139" id="139"/>
          <p:cNvGrpSpPr/>
          <p:nvPr/>
        </p:nvGrpSpPr>
        <p:grpSpPr>
          <a:xfrm rot="0">
            <a:off x="13679538" y="3441764"/>
            <a:ext cx="853154" cy="561499"/>
            <a:chOff x="0" y="0"/>
            <a:chExt cx="1137539" cy="748665"/>
          </a:xfrm>
        </p:grpSpPr>
        <p:sp>
          <p:nvSpPr>
            <p:cNvPr name="Freeform 140" id="140" descr="preencoded.png"/>
            <p:cNvSpPr/>
            <p:nvPr/>
          </p:nvSpPr>
          <p:spPr>
            <a:xfrm flipH="false" flipV="false" rot="0">
              <a:off x="0" y="0"/>
              <a:ext cx="1137539" cy="748665"/>
            </a:xfrm>
            <a:custGeom>
              <a:avLst/>
              <a:gdLst/>
              <a:ahLst/>
              <a:cxnLst/>
              <a:rect r="r" b="b" t="t" l="l"/>
              <a:pathLst>
                <a:path h="748665" w="1137539">
                  <a:moveTo>
                    <a:pt x="0" y="0"/>
                  </a:moveTo>
                  <a:lnTo>
                    <a:pt x="1137539" y="0"/>
                  </a:lnTo>
                  <a:lnTo>
                    <a:pt x="1137539" y="748665"/>
                  </a:lnTo>
                  <a:lnTo>
                    <a:pt x="0" y="748665"/>
                  </a:lnTo>
                  <a:lnTo>
                    <a:pt x="0" y="0"/>
                  </a:lnTo>
                  <a:close/>
                </a:path>
              </a:pathLst>
            </a:custGeom>
            <a:blipFill>
              <a:blip r:embed="rId40"/>
              <a:stretch>
                <a:fillRect l="0" t="-169" r="0" b="-169"/>
              </a:stretch>
            </a:blipFill>
          </p:spPr>
        </p:sp>
      </p:grpSp>
      <p:grpSp>
        <p:nvGrpSpPr>
          <p:cNvPr name="Group 141" id="141"/>
          <p:cNvGrpSpPr/>
          <p:nvPr/>
        </p:nvGrpSpPr>
        <p:grpSpPr>
          <a:xfrm rot="0">
            <a:off x="15145207" y="2945911"/>
            <a:ext cx="284378" cy="147495"/>
            <a:chOff x="0" y="0"/>
            <a:chExt cx="379171" cy="196660"/>
          </a:xfrm>
        </p:grpSpPr>
        <p:sp>
          <p:nvSpPr>
            <p:cNvPr name="Freeform 142" id="142"/>
            <p:cNvSpPr/>
            <p:nvPr/>
          </p:nvSpPr>
          <p:spPr>
            <a:xfrm flipH="false" flipV="false" rot="0">
              <a:off x="0" y="0"/>
              <a:ext cx="379222" cy="196723"/>
            </a:xfrm>
            <a:custGeom>
              <a:avLst/>
              <a:gdLst/>
              <a:ahLst/>
              <a:cxnLst/>
              <a:rect r="r" b="b" t="t" l="l"/>
              <a:pathLst>
                <a:path h="196723" w="379222">
                  <a:moveTo>
                    <a:pt x="0" y="0"/>
                  </a:moveTo>
                  <a:lnTo>
                    <a:pt x="379222" y="0"/>
                  </a:lnTo>
                  <a:lnTo>
                    <a:pt x="379222" y="196723"/>
                  </a:lnTo>
                  <a:lnTo>
                    <a:pt x="0" y="196723"/>
                  </a:lnTo>
                  <a:close/>
                </a:path>
              </a:pathLst>
            </a:custGeom>
            <a:blipFill>
              <a:blip r:embed="rId17">
                <a:alphaModFix amt="0"/>
              </a:blip>
              <a:stretch>
                <a:fillRect l="-16590" t="0" r="-16577" b="32"/>
              </a:stretch>
            </a:blipFill>
          </p:spPr>
        </p:sp>
      </p:grpSp>
      <p:grpSp>
        <p:nvGrpSpPr>
          <p:cNvPr name="Group 143" id="143"/>
          <p:cNvGrpSpPr/>
          <p:nvPr/>
        </p:nvGrpSpPr>
        <p:grpSpPr>
          <a:xfrm rot="0">
            <a:off x="15145207" y="2953055"/>
            <a:ext cx="284378" cy="140360"/>
            <a:chOff x="0" y="0"/>
            <a:chExt cx="379171" cy="187147"/>
          </a:xfrm>
        </p:grpSpPr>
        <p:sp>
          <p:nvSpPr>
            <p:cNvPr name="Freeform 144" id="144"/>
            <p:cNvSpPr/>
            <p:nvPr/>
          </p:nvSpPr>
          <p:spPr>
            <a:xfrm flipH="false" flipV="false" rot="0">
              <a:off x="0" y="0"/>
              <a:ext cx="379171" cy="187144"/>
            </a:xfrm>
            <a:custGeom>
              <a:avLst/>
              <a:gdLst/>
              <a:ahLst/>
              <a:cxnLst/>
              <a:rect r="r" b="b" t="t" l="l"/>
              <a:pathLst>
                <a:path h="187144" w="379171">
                  <a:moveTo>
                    <a:pt x="0" y="0"/>
                  </a:moveTo>
                  <a:lnTo>
                    <a:pt x="379171" y="0"/>
                  </a:lnTo>
                  <a:lnTo>
                    <a:pt x="379171" y="187144"/>
                  </a:lnTo>
                  <a:lnTo>
                    <a:pt x="0" y="187144"/>
                  </a:lnTo>
                  <a:close/>
                </a:path>
              </a:pathLst>
            </a:custGeom>
            <a:blipFill>
              <a:blip r:embed="rId18">
                <a:alphaModFix amt="0"/>
              </a:blip>
              <a:stretch>
                <a:fillRect l="-13326" t="0" r="-13326" b="-1"/>
              </a:stretch>
            </a:blipFill>
          </p:spPr>
        </p:sp>
        <p:sp>
          <p:nvSpPr>
            <p:cNvPr name="TextBox 145" id="145"/>
            <p:cNvSpPr txBox="true"/>
            <p:nvPr/>
          </p:nvSpPr>
          <p:spPr>
            <a:xfrm>
              <a:off x="0" y="9525"/>
              <a:ext cx="379171" cy="177622"/>
            </a:xfrm>
            <a:prstGeom prst="rect">
              <a:avLst/>
            </a:prstGeom>
          </p:spPr>
          <p:txBody>
            <a:bodyPr anchor="ctr" rtlCol="false" tIns="0" lIns="0" bIns="0" rIns="0"/>
            <a:lstStyle/>
            <a:p>
              <a:pPr algn="l">
                <a:lnSpc>
                  <a:spcPts val="687"/>
                </a:lnSpc>
              </a:pPr>
              <a:r>
                <a:rPr lang="en-US" sz="687">
                  <a:solidFill>
                    <a:srgbClr val="99938E"/>
                  </a:solidFill>
                  <a:latin typeface="TT Commons Pro"/>
                  <a:ea typeface="TT Commons Pro"/>
                  <a:cs typeface="TT Commons Pro"/>
                  <a:sym typeface="TT Commons Pro"/>
                </a:rPr>
                <a:t>Eeindn</a:t>
              </a:r>
            </a:p>
          </p:txBody>
        </p:sp>
      </p:grpSp>
      <p:grpSp>
        <p:nvGrpSpPr>
          <p:cNvPr name="Group 146" id="146"/>
          <p:cNvGrpSpPr/>
          <p:nvPr/>
        </p:nvGrpSpPr>
        <p:grpSpPr>
          <a:xfrm rot="0">
            <a:off x="14642068" y="2953207"/>
            <a:ext cx="342710" cy="94774"/>
            <a:chOff x="0" y="0"/>
            <a:chExt cx="456946" cy="126365"/>
          </a:xfrm>
        </p:grpSpPr>
        <p:sp>
          <p:nvSpPr>
            <p:cNvPr name="Freeform 147" id="147" descr="preencoded.png"/>
            <p:cNvSpPr/>
            <p:nvPr/>
          </p:nvSpPr>
          <p:spPr>
            <a:xfrm flipH="false" flipV="false" rot="0">
              <a:off x="0" y="0"/>
              <a:ext cx="456946" cy="126365"/>
            </a:xfrm>
            <a:custGeom>
              <a:avLst/>
              <a:gdLst/>
              <a:ahLst/>
              <a:cxnLst/>
              <a:rect r="r" b="b" t="t" l="l"/>
              <a:pathLst>
                <a:path h="126365" w="456946">
                  <a:moveTo>
                    <a:pt x="0" y="0"/>
                  </a:moveTo>
                  <a:lnTo>
                    <a:pt x="456946" y="0"/>
                  </a:lnTo>
                  <a:lnTo>
                    <a:pt x="456946" y="126365"/>
                  </a:lnTo>
                  <a:lnTo>
                    <a:pt x="0" y="126365"/>
                  </a:lnTo>
                  <a:lnTo>
                    <a:pt x="0" y="0"/>
                  </a:lnTo>
                  <a:close/>
                </a:path>
              </a:pathLst>
            </a:custGeom>
            <a:blipFill>
              <a:blip r:embed="rId41"/>
              <a:stretch>
                <a:fillRect l="-1851" t="0" r="-1853" b="0"/>
              </a:stretch>
            </a:blipFill>
          </p:spPr>
        </p:sp>
      </p:grpSp>
      <p:grpSp>
        <p:nvGrpSpPr>
          <p:cNvPr name="Group 148" id="148"/>
          <p:cNvGrpSpPr/>
          <p:nvPr/>
        </p:nvGrpSpPr>
        <p:grpSpPr>
          <a:xfrm rot="0">
            <a:off x="14197260" y="2953207"/>
            <a:ext cx="269796" cy="161268"/>
            <a:chOff x="0" y="0"/>
            <a:chExt cx="359728" cy="215024"/>
          </a:xfrm>
        </p:grpSpPr>
        <p:sp>
          <p:nvSpPr>
            <p:cNvPr name="Freeform 149" id="149"/>
            <p:cNvSpPr/>
            <p:nvPr/>
          </p:nvSpPr>
          <p:spPr>
            <a:xfrm flipH="false" flipV="false" rot="0">
              <a:off x="0" y="0"/>
              <a:ext cx="359791" cy="215011"/>
            </a:xfrm>
            <a:custGeom>
              <a:avLst/>
              <a:gdLst/>
              <a:ahLst/>
              <a:cxnLst/>
              <a:rect r="r" b="b" t="t" l="l"/>
              <a:pathLst>
                <a:path h="215011" w="359791">
                  <a:moveTo>
                    <a:pt x="0" y="0"/>
                  </a:moveTo>
                  <a:lnTo>
                    <a:pt x="359791" y="0"/>
                  </a:lnTo>
                  <a:lnTo>
                    <a:pt x="359791" y="215011"/>
                  </a:lnTo>
                  <a:lnTo>
                    <a:pt x="0" y="215011"/>
                  </a:lnTo>
                  <a:close/>
                </a:path>
              </a:pathLst>
            </a:custGeom>
            <a:blipFill>
              <a:blip r:embed="rId17">
                <a:alphaModFix amt="0"/>
              </a:blip>
              <a:stretch>
                <a:fillRect l="-26741" t="0" r="-26724" b="-5"/>
              </a:stretch>
            </a:blipFill>
          </p:spPr>
        </p:sp>
      </p:grpSp>
      <p:grpSp>
        <p:nvGrpSpPr>
          <p:cNvPr name="Group 150" id="150"/>
          <p:cNvGrpSpPr/>
          <p:nvPr/>
        </p:nvGrpSpPr>
        <p:grpSpPr>
          <a:xfrm rot="0">
            <a:off x="14197260" y="2960351"/>
            <a:ext cx="269796" cy="154134"/>
            <a:chOff x="0" y="0"/>
            <a:chExt cx="359728" cy="205511"/>
          </a:xfrm>
        </p:grpSpPr>
        <p:sp>
          <p:nvSpPr>
            <p:cNvPr name="Freeform 151" id="151"/>
            <p:cNvSpPr/>
            <p:nvPr/>
          </p:nvSpPr>
          <p:spPr>
            <a:xfrm flipH="false" flipV="false" rot="0">
              <a:off x="0" y="0"/>
              <a:ext cx="359728" cy="205508"/>
            </a:xfrm>
            <a:custGeom>
              <a:avLst/>
              <a:gdLst/>
              <a:ahLst/>
              <a:cxnLst/>
              <a:rect r="r" b="b" t="t" l="l"/>
              <a:pathLst>
                <a:path h="205508" w="359728">
                  <a:moveTo>
                    <a:pt x="0" y="0"/>
                  </a:moveTo>
                  <a:lnTo>
                    <a:pt x="359728" y="0"/>
                  </a:lnTo>
                  <a:lnTo>
                    <a:pt x="359728" y="205508"/>
                  </a:lnTo>
                  <a:lnTo>
                    <a:pt x="0" y="205508"/>
                  </a:lnTo>
                  <a:close/>
                </a:path>
              </a:pathLst>
            </a:custGeom>
            <a:blipFill>
              <a:blip r:embed="rId18">
                <a:alphaModFix amt="0"/>
              </a:blip>
              <a:stretch>
                <a:fillRect l="-23299" t="0" r="-23299" b="-1"/>
              </a:stretch>
            </a:blipFill>
          </p:spPr>
        </p:sp>
        <p:sp>
          <p:nvSpPr>
            <p:cNvPr name="TextBox 152" id="152"/>
            <p:cNvSpPr txBox="true"/>
            <p:nvPr/>
          </p:nvSpPr>
          <p:spPr>
            <a:xfrm>
              <a:off x="0" y="9525"/>
              <a:ext cx="359728" cy="195986"/>
            </a:xfrm>
            <a:prstGeom prst="rect">
              <a:avLst/>
            </a:prstGeom>
          </p:spPr>
          <p:txBody>
            <a:bodyPr anchor="ctr" rtlCol="false" tIns="0" lIns="0" bIns="0" rIns="0"/>
            <a:lstStyle/>
            <a:p>
              <a:pPr algn="l">
                <a:lnSpc>
                  <a:spcPts val="745"/>
                </a:lnSpc>
              </a:pPr>
              <a:r>
                <a:rPr lang="en-US" sz="786" b="true">
                  <a:solidFill>
                    <a:srgbClr val="948D8A"/>
                  </a:solidFill>
                  <a:latin typeface="TT Commons Pro Bold"/>
                  <a:ea typeface="TT Commons Pro Bold"/>
                  <a:cs typeface="TT Commons Pro Bold"/>
                  <a:sym typeface="TT Commons Pro Bold"/>
                </a:rPr>
                <a:t>Drrg</a:t>
              </a:r>
            </a:p>
          </p:txBody>
        </p:sp>
      </p:grpSp>
      <p:grpSp>
        <p:nvGrpSpPr>
          <p:cNvPr name="Group 153" id="153"/>
          <p:cNvGrpSpPr/>
          <p:nvPr/>
        </p:nvGrpSpPr>
        <p:grpSpPr>
          <a:xfrm rot="0">
            <a:off x="13701417" y="2953207"/>
            <a:ext cx="342719" cy="102079"/>
            <a:chOff x="0" y="0"/>
            <a:chExt cx="456959" cy="136106"/>
          </a:xfrm>
        </p:grpSpPr>
        <p:sp>
          <p:nvSpPr>
            <p:cNvPr name="Freeform 154" id="154"/>
            <p:cNvSpPr/>
            <p:nvPr/>
          </p:nvSpPr>
          <p:spPr>
            <a:xfrm flipH="false" flipV="false" rot="0">
              <a:off x="0" y="0"/>
              <a:ext cx="456946" cy="136144"/>
            </a:xfrm>
            <a:custGeom>
              <a:avLst/>
              <a:gdLst/>
              <a:ahLst/>
              <a:cxnLst/>
              <a:rect r="r" b="b" t="t" l="l"/>
              <a:pathLst>
                <a:path h="136144" w="456946">
                  <a:moveTo>
                    <a:pt x="0" y="0"/>
                  </a:moveTo>
                  <a:lnTo>
                    <a:pt x="456946" y="0"/>
                  </a:lnTo>
                  <a:lnTo>
                    <a:pt x="456946" y="136144"/>
                  </a:lnTo>
                  <a:lnTo>
                    <a:pt x="0" y="136144"/>
                  </a:lnTo>
                  <a:close/>
                </a:path>
              </a:pathLst>
            </a:custGeom>
            <a:blipFill>
              <a:blip r:embed="rId17">
                <a:alphaModFix amt="0"/>
              </a:blip>
              <a:stretch>
                <a:fillRect l="0" t="-15363" r="-2" b="-15345"/>
              </a:stretch>
            </a:blipFill>
          </p:spPr>
        </p:sp>
      </p:grpSp>
      <p:grpSp>
        <p:nvGrpSpPr>
          <p:cNvPr name="Group 155" id="155"/>
          <p:cNvGrpSpPr/>
          <p:nvPr/>
        </p:nvGrpSpPr>
        <p:grpSpPr>
          <a:xfrm rot="0">
            <a:off x="13701417" y="2953207"/>
            <a:ext cx="342719" cy="102089"/>
            <a:chOff x="0" y="0"/>
            <a:chExt cx="456959" cy="136119"/>
          </a:xfrm>
        </p:grpSpPr>
        <p:sp>
          <p:nvSpPr>
            <p:cNvPr name="Freeform 156" id="156"/>
            <p:cNvSpPr/>
            <p:nvPr/>
          </p:nvSpPr>
          <p:spPr>
            <a:xfrm flipH="false" flipV="false" rot="0">
              <a:off x="0" y="0"/>
              <a:ext cx="456959" cy="136115"/>
            </a:xfrm>
            <a:custGeom>
              <a:avLst/>
              <a:gdLst/>
              <a:ahLst/>
              <a:cxnLst/>
              <a:rect r="r" b="b" t="t" l="l"/>
              <a:pathLst>
                <a:path h="136115" w="456959">
                  <a:moveTo>
                    <a:pt x="0" y="0"/>
                  </a:moveTo>
                  <a:lnTo>
                    <a:pt x="456959" y="0"/>
                  </a:lnTo>
                  <a:lnTo>
                    <a:pt x="456959" y="136115"/>
                  </a:lnTo>
                  <a:lnTo>
                    <a:pt x="0" y="136115"/>
                  </a:lnTo>
                  <a:close/>
                </a:path>
              </a:pathLst>
            </a:custGeom>
            <a:blipFill>
              <a:blip r:embed="rId18">
                <a:alphaModFix amt="0"/>
              </a:blip>
              <a:stretch>
                <a:fillRect l="0" t="-15412" r="0" b="-15415"/>
              </a:stretch>
            </a:blipFill>
          </p:spPr>
        </p:sp>
        <p:sp>
          <p:nvSpPr>
            <p:cNvPr name="TextBox 157" id="157"/>
            <p:cNvSpPr txBox="true"/>
            <p:nvPr/>
          </p:nvSpPr>
          <p:spPr>
            <a:xfrm>
              <a:off x="0" y="0"/>
              <a:ext cx="456959" cy="136119"/>
            </a:xfrm>
            <a:prstGeom prst="rect">
              <a:avLst/>
            </a:prstGeom>
          </p:spPr>
          <p:txBody>
            <a:bodyPr anchor="ctr" rtlCol="false" tIns="0" lIns="0" bIns="0" rIns="0"/>
            <a:lstStyle/>
            <a:p>
              <a:pPr algn="l">
                <a:lnSpc>
                  <a:spcPts val="515"/>
                </a:lnSpc>
              </a:pPr>
              <a:r>
                <a:rPr lang="en-US" sz="463">
                  <a:solidFill>
                    <a:srgbClr val="938E89"/>
                  </a:solidFill>
                  <a:latin typeface="TT Commons Pro"/>
                  <a:ea typeface="TT Commons Pro"/>
                  <a:cs typeface="TT Commons Pro"/>
                  <a:sym typeface="TT Commons Pro"/>
                </a:rPr>
                <a:t>Chowdhury</a:t>
              </a:r>
            </a:p>
          </p:txBody>
        </p:sp>
      </p:grpSp>
      <p:grpSp>
        <p:nvGrpSpPr>
          <p:cNvPr name="Group 158" id="158"/>
          <p:cNvGrpSpPr/>
          <p:nvPr/>
        </p:nvGrpSpPr>
        <p:grpSpPr>
          <a:xfrm rot="0">
            <a:off x="15116042" y="2625071"/>
            <a:ext cx="335470" cy="284416"/>
            <a:chOff x="0" y="0"/>
            <a:chExt cx="447294" cy="379222"/>
          </a:xfrm>
        </p:grpSpPr>
        <p:sp>
          <p:nvSpPr>
            <p:cNvPr name="Freeform 159" id="159" descr="preencoded.png"/>
            <p:cNvSpPr/>
            <p:nvPr/>
          </p:nvSpPr>
          <p:spPr>
            <a:xfrm flipH="false" flipV="false" rot="0">
              <a:off x="0" y="0"/>
              <a:ext cx="447294" cy="379222"/>
            </a:xfrm>
            <a:custGeom>
              <a:avLst/>
              <a:gdLst/>
              <a:ahLst/>
              <a:cxnLst/>
              <a:rect r="r" b="b" t="t" l="l"/>
              <a:pathLst>
                <a:path h="379222" w="447294">
                  <a:moveTo>
                    <a:pt x="0" y="0"/>
                  </a:moveTo>
                  <a:lnTo>
                    <a:pt x="447294" y="0"/>
                  </a:lnTo>
                  <a:lnTo>
                    <a:pt x="447294" y="379222"/>
                  </a:lnTo>
                  <a:lnTo>
                    <a:pt x="0" y="379222"/>
                  </a:lnTo>
                  <a:lnTo>
                    <a:pt x="0" y="0"/>
                  </a:lnTo>
                  <a:close/>
                </a:path>
              </a:pathLst>
            </a:custGeom>
            <a:blipFill>
              <a:blip r:embed="rId42"/>
              <a:stretch>
                <a:fillRect l="-684" t="0" r="-684" b="0"/>
              </a:stretch>
            </a:blipFill>
          </p:spPr>
        </p:sp>
      </p:grpSp>
      <p:grpSp>
        <p:nvGrpSpPr>
          <p:cNvPr name="Group 160" id="160"/>
          <p:cNvGrpSpPr/>
          <p:nvPr/>
        </p:nvGrpSpPr>
        <p:grpSpPr>
          <a:xfrm rot="0">
            <a:off x="14634772" y="2617784"/>
            <a:ext cx="335470" cy="291656"/>
            <a:chOff x="0" y="0"/>
            <a:chExt cx="447294" cy="388874"/>
          </a:xfrm>
        </p:grpSpPr>
        <p:sp>
          <p:nvSpPr>
            <p:cNvPr name="Freeform 161" id="161" descr="preencoded.png"/>
            <p:cNvSpPr/>
            <p:nvPr/>
          </p:nvSpPr>
          <p:spPr>
            <a:xfrm flipH="false" flipV="false" rot="0">
              <a:off x="0" y="0"/>
              <a:ext cx="447294" cy="388874"/>
            </a:xfrm>
            <a:custGeom>
              <a:avLst/>
              <a:gdLst/>
              <a:ahLst/>
              <a:cxnLst/>
              <a:rect r="r" b="b" t="t" l="l"/>
              <a:pathLst>
                <a:path h="388874" w="447294">
                  <a:moveTo>
                    <a:pt x="0" y="0"/>
                  </a:moveTo>
                  <a:lnTo>
                    <a:pt x="447294" y="0"/>
                  </a:lnTo>
                  <a:lnTo>
                    <a:pt x="447294" y="388874"/>
                  </a:lnTo>
                  <a:lnTo>
                    <a:pt x="0" y="388874"/>
                  </a:lnTo>
                  <a:lnTo>
                    <a:pt x="0" y="0"/>
                  </a:lnTo>
                  <a:close/>
                </a:path>
              </a:pathLst>
            </a:custGeom>
            <a:blipFill>
              <a:blip r:embed="rId43"/>
              <a:stretch>
                <a:fillRect l="0" t="-192" r="0" b="-189"/>
              </a:stretch>
            </a:blipFill>
          </p:spPr>
        </p:sp>
      </p:grpSp>
      <p:grpSp>
        <p:nvGrpSpPr>
          <p:cNvPr name="Group 162" id="162"/>
          <p:cNvGrpSpPr/>
          <p:nvPr/>
        </p:nvGrpSpPr>
        <p:grpSpPr>
          <a:xfrm rot="0">
            <a:off x="14160808" y="2617784"/>
            <a:ext cx="342710" cy="291656"/>
            <a:chOff x="0" y="0"/>
            <a:chExt cx="456946" cy="388874"/>
          </a:xfrm>
        </p:grpSpPr>
        <p:sp>
          <p:nvSpPr>
            <p:cNvPr name="Freeform 163" id="163" descr="preencoded.png"/>
            <p:cNvSpPr/>
            <p:nvPr/>
          </p:nvSpPr>
          <p:spPr>
            <a:xfrm flipH="false" flipV="false" rot="0">
              <a:off x="0" y="0"/>
              <a:ext cx="456946" cy="388874"/>
            </a:xfrm>
            <a:custGeom>
              <a:avLst/>
              <a:gdLst/>
              <a:ahLst/>
              <a:cxnLst/>
              <a:rect r="r" b="b" t="t" l="l"/>
              <a:pathLst>
                <a:path h="388874" w="456946">
                  <a:moveTo>
                    <a:pt x="0" y="0"/>
                  </a:moveTo>
                  <a:lnTo>
                    <a:pt x="456946" y="0"/>
                  </a:lnTo>
                  <a:lnTo>
                    <a:pt x="456946" y="388874"/>
                  </a:lnTo>
                  <a:lnTo>
                    <a:pt x="0" y="388874"/>
                  </a:lnTo>
                  <a:lnTo>
                    <a:pt x="0" y="0"/>
                  </a:lnTo>
                  <a:close/>
                </a:path>
              </a:pathLst>
            </a:custGeom>
            <a:blipFill>
              <a:blip r:embed="rId44"/>
              <a:stretch>
                <a:fillRect l="0" t="-359" r="0" b="-359"/>
              </a:stretch>
            </a:blipFill>
          </p:spPr>
        </p:sp>
      </p:grpSp>
      <p:grpSp>
        <p:nvGrpSpPr>
          <p:cNvPr name="Group 164" id="164"/>
          <p:cNvGrpSpPr/>
          <p:nvPr/>
        </p:nvGrpSpPr>
        <p:grpSpPr>
          <a:xfrm rot="0">
            <a:off x="13686834" y="2617784"/>
            <a:ext cx="342710" cy="291656"/>
            <a:chOff x="0" y="0"/>
            <a:chExt cx="456946" cy="388874"/>
          </a:xfrm>
        </p:grpSpPr>
        <p:sp>
          <p:nvSpPr>
            <p:cNvPr name="Freeform 165" id="165" descr="preencoded.png"/>
            <p:cNvSpPr/>
            <p:nvPr/>
          </p:nvSpPr>
          <p:spPr>
            <a:xfrm flipH="false" flipV="false" rot="0">
              <a:off x="0" y="0"/>
              <a:ext cx="456946" cy="388874"/>
            </a:xfrm>
            <a:custGeom>
              <a:avLst/>
              <a:gdLst/>
              <a:ahLst/>
              <a:cxnLst/>
              <a:rect r="r" b="b" t="t" l="l"/>
              <a:pathLst>
                <a:path h="388874" w="456946">
                  <a:moveTo>
                    <a:pt x="0" y="0"/>
                  </a:moveTo>
                  <a:lnTo>
                    <a:pt x="456946" y="0"/>
                  </a:lnTo>
                  <a:lnTo>
                    <a:pt x="456946" y="388874"/>
                  </a:lnTo>
                  <a:lnTo>
                    <a:pt x="0" y="388874"/>
                  </a:lnTo>
                  <a:lnTo>
                    <a:pt x="0" y="0"/>
                  </a:lnTo>
                  <a:close/>
                </a:path>
              </a:pathLst>
            </a:custGeom>
            <a:blipFill>
              <a:blip r:embed="rId45"/>
              <a:stretch>
                <a:fillRect l="-530" t="0" r="-528" b="0"/>
              </a:stretch>
            </a:blipFill>
          </p:spPr>
        </p:sp>
      </p:grpSp>
      <p:grpSp>
        <p:nvGrpSpPr>
          <p:cNvPr name="Group 166" id="166"/>
          <p:cNvGrpSpPr/>
          <p:nvPr/>
        </p:nvGrpSpPr>
        <p:grpSpPr>
          <a:xfrm rot="0">
            <a:off x="13679538" y="1771926"/>
            <a:ext cx="1786509" cy="714566"/>
            <a:chOff x="0" y="0"/>
            <a:chExt cx="2382012" cy="952754"/>
          </a:xfrm>
        </p:grpSpPr>
        <p:sp>
          <p:nvSpPr>
            <p:cNvPr name="Freeform 167" id="167" descr="preencoded.png"/>
            <p:cNvSpPr/>
            <p:nvPr/>
          </p:nvSpPr>
          <p:spPr>
            <a:xfrm flipH="false" flipV="false" rot="0">
              <a:off x="0" y="0"/>
              <a:ext cx="2382012" cy="952754"/>
            </a:xfrm>
            <a:custGeom>
              <a:avLst/>
              <a:gdLst/>
              <a:ahLst/>
              <a:cxnLst/>
              <a:rect r="r" b="b" t="t" l="l"/>
              <a:pathLst>
                <a:path h="952754" w="2382012">
                  <a:moveTo>
                    <a:pt x="0" y="0"/>
                  </a:moveTo>
                  <a:lnTo>
                    <a:pt x="2382012" y="0"/>
                  </a:lnTo>
                  <a:lnTo>
                    <a:pt x="2382012" y="952754"/>
                  </a:lnTo>
                  <a:lnTo>
                    <a:pt x="0" y="952754"/>
                  </a:lnTo>
                  <a:lnTo>
                    <a:pt x="0" y="0"/>
                  </a:lnTo>
                  <a:close/>
                </a:path>
              </a:pathLst>
            </a:custGeom>
            <a:blipFill>
              <a:blip r:embed="rId46"/>
              <a:stretch>
                <a:fillRect l="0" t="-342" r="0" b="-341"/>
              </a:stretch>
            </a:blipFill>
          </p:spPr>
        </p:sp>
      </p:grpSp>
      <p:grpSp>
        <p:nvGrpSpPr>
          <p:cNvPr name="Group 168" id="168"/>
          <p:cNvGrpSpPr/>
          <p:nvPr/>
        </p:nvGrpSpPr>
        <p:grpSpPr>
          <a:xfrm rot="0">
            <a:off x="13767044" y="1888598"/>
            <a:ext cx="831275" cy="453609"/>
            <a:chOff x="0" y="0"/>
            <a:chExt cx="1108367" cy="604812"/>
          </a:xfrm>
        </p:grpSpPr>
        <p:sp>
          <p:nvSpPr>
            <p:cNvPr name="Freeform 169" id="169"/>
            <p:cNvSpPr/>
            <p:nvPr/>
          </p:nvSpPr>
          <p:spPr>
            <a:xfrm flipH="false" flipV="false" rot="0">
              <a:off x="0" y="0"/>
              <a:ext cx="1108329" cy="604774"/>
            </a:xfrm>
            <a:custGeom>
              <a:avLst/>
              <a:gdLst/>
              <a:ahLst/>
              <a:cxnLst/>
              <a:rect r="r" b="b" t="t" l="l"/>
              <a:pathLst>
                <a:path h="604774" w="1108329">
                  <a:moveTo>
                    <a:pt x="0" y="0"/>
                  </a:moveTo>
                  <a:lnTo>
                    <a:pt x="1108329" y="0"/>
                  </a:lnTo>
                  <a:lnTo>
                    <a:pt x="1108329" y="604774"/>
                  </a:lnTo>
                  <a:lnTo>
                    <a:pt x="0" y="604774"/>
                  </a:lnTo>
                  <a:close/>
                </a:path>
              </a:pathLst>
            </a:custGeom>
            <a:blipFill>
              <a:blip r:embed="rId17">
                <a:alphaModFix amt="0"/>
              </a:blip>
              <a:stretch>
                <a:fillRect l="-20061" t="0" r="-20066" b="-6"/>
              </a:stretch>
            </a:blipFill>
          </p:spPr>
        </p:sp>
      </p:grpSp>
      <p:grpSp>
        <p:nvGrpSpPr>
          <p:cNvPr name="Group 170" id="170"/>
          <p:cNvGrpSpPr/>
          <p:nvPr/>
        </p:nvGrpSpPr>
        <p:grpSpPr>
          <a:xfrm rot="0">
            <a:off x="13767044" y="1888598"/>
            <a:ext cx="831275" cy="453609"/>
            <a:chOff x="0" y="0"/>
            <a:chExt cx="1108367" cy="604812"/>
          </a:xfrm>
        </p:grpSpPr>
        <p:sp>
          <p:nvSpPr>
            <p:cNvPr name="Freeform 171" id="171"/>
            <p:cNvSpPr/>
            <p:nvPr/>
          </p:nvSpPr>
          <p:spPr>
            <a:xfrm flipH="false" flipV="false" rot="0">
              <a:off x="0" y="0"/>
              <a:ext cx="1108367" cy="604815"/>
            </a:xfrm>
            <a:custGeom>
              <a:avLst/>
              <a:gdLst/>
              <a:ahLst/>
              <a:cxnLst/>
              <a:rect r="r" b="b" t="t" l="l"/>
              <a:pathLst>
                <a:path h="604815" w="1108367">
                  <a:moveTo>
                    <a:pt x="0" y="0"/>
                  </a:moveTo>
                  <a:lnTo>
                    <a:pt x="1108367" y="0"/>
                  </a:lnTo>
                  <a:lnTo>
                    <a:pt x="1108367" y="604815"/>
                  </a:lnTo>
                  <a:lnTo>
                    <a:pt x="0" y="604815"/>
                  </a:lnTo>
                  <a:close/>
                </a:path>
              </a:pathLst>
            </a:custGeom>
            <a:blipFill>
              <a:blip r:embed="rId18">
                <a:alphaModFix amt="0"/>
              </a:blip>
              <a:stretch>
                <a:fillRect l="-20012" t="0" r="-20012" b="0"/>
              </a:stretch>
            </a:blipFill>
          </p:spPr>
        </p:sp>
        <p:sp>
          <p:nvSpPr>
            <p:cNvPr name="TextBox 172" id="172"/>
            <p:cNvSpPr txBox="true"/>
            <p:nvPr/>
          </p:nvSpPr>
          <p:spPr>
            <a:xfrm>
              <a:off x="0" y="0"/>
              <a:ext cx="1108367" cy="604812"/>
            </a:xfrm>
            <a:prstGeom prst="rect">
              <a:avLst/>
            </a:prstGeom>
          </p:spPr>
          <p:txBody>
            <a:bodyPr anchor="ctr" rtlCol="false" tIns="0" lIns="0" bIns="0" rIns="0"/>
            <a:lstStyle/>
            <a:p>
              <a:pPr algn="l">
                <a:lnSpc>
                  <a:spcPts val="1056"/>
                </a:lnSpc>
              </a:pPr>
              <a:r>
                <a:rPr lang="en-US" sz="866" b="true">
                  <a:solidFill>
                    <a:srgbClr val="E68C8E"/>
                  </a:solidFill>
                  <a:latin typeface="TT Commons Pro Bold"/>
                  <a:ea typeface="TT Commons Pro Bold"/>
                  <a:cs typeface="TT Commons Pro Bold"/>
                  <a:sym typeface="TT Commons Pro Bold"/>
                </a:rPr>
                <a:t>DISCOVER</a:t>
              </a:r>
            </a:p>
            <a:p>
              <a:pPr algn="l">
                <a:lnSpc>
                  <a:spcPts val="1056"/>
                </a:lnSpc>
              </a:pPr>
              <a:r>
                <a:rPr lang="en-US" sz="866" b="true">
                  <a:solidFill>
                    <a:srgbClr val="E68C8E"/>
                  </a:solidFill>
                  <a:latin typeface="TT Commons Pro Bold"/>
                  <a:ea typeface="TT Commons Pro Bold"/>
                  <a:cs typeface="TT Commons Pro Bold"/>
                  <a:sym typeface="TT Commons Pro Bold"/>
                </a:rPr>
                <a:t>GREAT FOOD</a:t>
              </a:r>
            </a:p>
            <a:p>
              <a:pPr algn="l">
                <a:lnSpc>
                  <a:spcPts val="1056"/>
                </a:lnSpc>
              </a:pPr>
              <a:r>
                <a:rPr lang="en-US" sz="866" b="true">
                  <a:solidFill>
                    <a:srgbClr val="E68C8E"/>
                  </a:solidFill>
                  <a:latin typeface="TT Commons Pro Bold"/>
                  <a:ea typeface="TT Commons Pro Bold"/>
                  <a:cs typeface="TT Commons Pro Bold"/>
                  <a:sym typeface="TT Commons Pro Bold"/>
                </a:rPr>
                <a:t>NEAR YOU</a:t>
              </a:r>
            </a:p>
          </p:txBody>
        </p:sp>
      </p:grpSp>
      <p:grpSp>
        <p:nvGrpSpPr>
          <p:cNvPr name="Group 173" id="173"/>
          <p:cNvGrpSpPr/>
          <p:nvPr/>
        </p:nvGrpSpPr>
        <p:grpSpPr>
          <a:xfrm rot="0">
            <a:off x="13759748" y="1509417"/>
            <a:ext cx="116681" cy="94774"/>
            <a:chOff x="0" y="0"/>
            <a:chExt cx="155575" cy="126365"/>
          </a:xfrm>
        </p:grpSpPr>
        <p:sp>
          <p:nvSpPr>
            <p:cNvPr name="Freeform 174" id="174" descr="preencoded.png"/>
            <p:cNvSpPr/>
            <p:nvPr/>
          </p:nvSpPr>
          <p:spPr>
            <a:xfrm flipH="false" flipV="false" rot="0">
              <a:off x="0" y="0"/>
              <a:ext cx="155575" cy="126365"/>
            </a:xfrm>
            <a:custGeom>
              <a:avLst/>
              <a:gdLst/>
              <a:ahLst/>
              <a:cxnLst/>
              <a:rect r="r" b="b" t="t" l="l"/>
              <a:pathLst>
                <a:path h="126365" w="155575">
                  <a:moveTo>
                    <a:pt x="0" y="0"/>
                  </a:moveTo>
                  <a:lnTo>
                    <a:pt x="155575" y="0"/>
                  </a:lnTo>
                  <a:lnTo>
                    <a:pt x="155575" y="126365"/>
                  </a:lnTo>
                  <a:lnTo>
                    <a:pt x="0" y="126365"/>
                  </a:lnTo>
                  <a:lnTo>
                    <a:pt x="0" y="0"/>
                  </a:lnTo>
                  <a:close/>
                </a:path>
              </a:pathLst>
            </a:custGeom>
            <a:blipFill>
              <a:blip r:embed="rId47"/>
              <a:stretch>
                <a:fillRect l="-1444" t="0" r="-1436" b="0"/>
              </a:stretch>
            </a:blipFill>
          </p:spPr>
        </p:sp>
      </p:grpSp>
      <p:grpSp>
        <p:nvGrpSpPr>
          <p:cNvPr name="Group 175" id="175"/>
          <p:cNvGrpSpPr/>
          <p:nvPr/>
        </p:nvGrpSpPr>
        <p:grpSpPr>
          <a:xfrm rot="0">
            <a:off x="13694121" y="743769"/>
            <a:ext cx="58293" cy="94774"/>
            <a:chOff x="0" y="0"/>
            <a:chExt cx="77724" cy="126365"/>
          </a:xfrm>
        </p:grpSpPr>
        <p:sp>
          <p:nvSpPr>
            <p:cNvPr name="Freeform 176" id="176" descr="preencoded.png"/>
            <p:cNvSpPr/>
            <p:nvPr/>
          </p:nvSpPr>
          <p:spPr>
            <a:xfrm flipH="false" flipV="false" rot="0">
              <a:off x="0" y="0"/>
              <a:ext cx="77724" cy="126365"/>
            </a:xfrm>
            <a:custGeom>
              <a:avLst/>
              <a:gdLst/>
              <a:ahLst/>
              <a:cxnLst/>
              <a:rect r="r" b="b" t="t" l="l"/>
              <a:pathLst>
                <a:path h="126365" w="77724">
                  <a:moveTo>
                    <a:pt x="0" y="0"/>
                  </a:moveTo>
                  <a:lnTo>
                    <a:pt x="77724" y="0"/>
                  </a:lnTo>
                  <a:lnTo>
                    <a:pt x="77724" y="126365"/>
                  </a:lnTo>
                  <a:lnTo>
                    <a:pt x="0" y="126365"/>
                  </a:lnTo>
                  <a:lnTo>
                    <a:pt x="0" y="0"/>
                  </a:lnTo>
                  <a:close/>
                </a:path>
              </a:pathLst>
            </a:custGeom>
            <a:blipFill>
              <a:blip r:embed="rId48"/>
              <a:stretch>
                <a:fillRect l="0" t="-1256" r="0" b="-1256"/>
              </a:stretch>
            </a:blipFill>
          </p:spPr>
        </p:sp>
      </p:grpSp>
      <p:grpSp>
        <p:nvGrpSpPr>
          <p:cNvPr name="Group 177" id="177"/>
          <p:cNvGrpSpPr/>
          <p:nvPr/>
        </p:nvGrpSpPr>
        <p:grpSpPr>
          <a:xfrm rot="0">
            <a:off x="15356672" y="576053"/>
            <a:ext cx="109347" cy="36481"/>
            <a:chOff x="0" y="0"/>
            <a:chExt cx="145796" cy="48641"/>
          </a:xfrm>
        </p:grpSpPr>
        <p:sp>
          <p:nvSpPr>
            <p:cNvPr name="Freeform 178" id="178" descr="preencoded.png"/>
            <p:cNvSpPr/>
            <p:nvPr/>
          </p:nvSpPr>
          <p:spPr>
            <a:xfrm flipH="false" flipV="false" rot="0">
              <a:off x="0" y="0"/>
              <a:ext cx="145796" cy="48641"/>
            </a:xfrm>
            <a:custGeom>
              <a:avLst/>
              <a:gdLst/>
              <a:ahLst/>
              <a:cxnLst/>
              <a:rect r="r" b="b" t="t" l="l"/>
              <a:pathLst>
                <a:path h="48641" w="145796">
                  <a:moveTo>
                    <a:pt x="0" y="0"/>
                  </a:moveTo>
                  <a:lnTo>
                    <a:pt x="145796" y="0"/>
                  </a:lnTo>
                  <a:lnTo>
                    <a:pt x="145796" y="48641"/>
                  </a:lnTo>
                  <a:lnTo>
                    <a:pt x="0" y="48641"/>
                  </a:lnTo>
                  <a:lnTo>
                    <a:pt x="0" y="0"/>
                  </a:lnTo>
                  <a:close/>
                </a:path>
              </a:pathLst>
            </a:custGeom>
            <a:blipFill>
              <a:blip r:embed="rId49"/>
              <a:stretch>
                <a:fillRect l="-43" t="0" r="-43" b="0"/>
              </a:stretch>
            </a:blipFill>
          </p:spPr>
        </p:sp>
      </p:grpSp>
      <p:grpSp>
        <p:nvGrpSpPr>
          <p:cNvPr name="Group 179" id="179"/>
          <p:cNvGrpSpPr/>
          <p:nvPr/>
        </p:nvGrpSpPr>
        <p:grpSpPr>
          <a:xfrm rot="0">
            <a:off x="15269166" y="568766"/>
            <a:ext cx="58293" cy="43720"/>
            <a:chOff x="0" y="0"/>
            <a:chExt cx="77724" cy="58293"/>
          </a:xfrm>
        </p:grpSpPr>
        <p:sp>
          <p:nvSpPr>
            <p:cNvPr name="Freeform 180" id="180" descr="preencoded.png"/>
            <p:cNvSpPr/>
            <p:nvPr/>
          </p:nvSpPr>
          <p:spPr>
            <a:xfrm flipH="false" flipV="false" rot="0">
              <a:off x="0" y="0"/>
              <a:ext cx="77724" cy="58293"/>
            </a:xfrm>
            <a:custGeom>
              <a:avLst/>
              <a:gdLst/>
              <a:ahLst/>
              <a:cxnLst/>
              <a:rect r="r" b="b" t="t" l="l"/>
              <a:pathLst>
                <a:path h="58293" w="77724">
                  <a:moveTo>
                    <a:pt x="0" y="0"/>
                  </a:moveTo>
                  <a:lnTo>
                    <a:pt x="77724" y="0"/>
                  </a:lnTo>
                  <a:lnTo>
                    <a:pt x="77724" y="58293"/>
                  </a:lnTo>
                  <a:lnTo>
                    <a:pt x="0" y="58293"/>
                  </a:lnTo>
                  <a:lnTo>
                    <a:pt x="0" y="0"/>
                  </a:lnTo>
                  <a:close/>
                </a:path>
              </a:pathLst>
            </a:custGeom>
            <a:blipFill>
              <a:blip r:embed="rId50"/>
              <a:stretch>
                <a:fillRect l="0" t="0" r="0" b="0"/>
              </a:stretch>
            </a:blipFill>
          </p:spPr>
        </p:sp>
      </p:grpSp>
      <p:grpSp>
        <p:nvGrpSpPr>
          <p:cNvPr name="Group 181" id="181"/>
          <p:cNvGrpSpPr/>
          <p:nvPr/>
        </p:nvGrpSpPr>
        <p:grpSpPr>
          <a:xfrm rot="0">
            <a:off x="15130624" y="568766"/>
            <a:ext cx="109347" cy="51054"/>
            <a:chOff x="0" y="0"/>
            <a:chExt cx="145796" cy="68072"/>
          </a:xfrm>
        </p:grpSpPr>
        <p:sp>
          <p:nvSpPr>
            <p:cNvPr name="Freeform 182" id="182" descr="preencoded.png"/>
            <p:cNvSpPr/>
            <p:nvPr/>
          </p:nvSpPr>
          <p:spPr>
            <a:xfrm flipH="false" flipV="false" rot="0">
              <a:off x="0" y="0"/>
              <a:ext cx="145796" cy="68072"/>
            </a:xfrm>
            <a:custGeom>
              <a:avLst/>
              <a:gdLst/>
              <a:ahLst/>
              <a:cxnLst/>
              <a:rect r="r" b="b" t="t" l="l"/>
              <a:pathLst>
                <a:path h="68072" w="145796">
                  <a:moveTo>
                    <a:pt x="0" y="0"/>
                  </a:moveTo>
                  <a:lnTo>
                    <a:pt x="145796" y="0"/>
                  </a:lnTo>
                  <a:lnTo>
                    <a:pt x="145796" y="68072"/>
                  </a:lnTo>
                  <a:lnTo>
                    <a:pt x="0" y="68072"/>
                  </a:lnTo>
                  <a:lnTo>
                    <a:pt x="0" y="0"/>
                  </a:lnTo>
                  <a:close/>
                </a:path>
              </a:pathLst>
            </a:custGeom>
            <a:blipFill>
              <a:blip r:embed="rId51"/>
              <a:stretch>
                <a:fillRect l="0" t="-1212" r="0" b="-1212"/>
              </a:stretch>
            </a:blipFill>
          </p:spPr>
        </p:sp>
      </p:grpSp>
      <p:grpSp>
        <p:nvGrpSpPr>
          <p:cNvPr name="Group 183" id="183"/>
          <p:cNvGrpSpPr/>
          <p:nvPr/>
        </p:nvGrpSpPr>
        <p:grpSpPr>
          <a:xfrm rot="0">
            <a:off x="10062772" y="393764"/>
            <a:ext cx="2180272" cy="3806381"/>
            <a:chOff x="0" y="0"/>
            <a:chExt cx="2907030" cy="5075174"/>
          </a:xfrm>
        </p:grpSpPr>
        <p:sp>
          <p:nvSpPr>
            <p:cNvPr name="Freeform 184" id="184" descr="preencoded.png"/>
            <p:cNvSpPr/>
            <p:nvPr/>
          </p:nvSpPr>
          <p:spPr>
            <a:xfrm flipH="false" flipV="false" rot="0">
              <a:off x="0" y="0"/>
              <a:ext cx="2907030" cy="5075174"/>
            </a:xfrm>
            <a:custGeom>
              <a:avLst/>
              <a:gdLst/>
              <a:ahLst/>
              <a:cxnLst/>
              <a:rect r="r" b="b" t="t" l="l"/>
              <a:pathLst>
                <a:path h="5075174" w="2907030">
                  <a:moveTo>
                    <a:pt x="0" y="0"/>
                  </a:moveTo>
                  <a:lnTo>
                    <a:pt x="2907030" y="0"/>
                  </a:lnTo>
                  <a:lnTo>
                    <a:pt x="2907030" y="5075174"/>
                  </a:lnTo>
                  <a:lnTo>
                    <a:pt x="0" y="5075174"/>
                  </a:lnTo>
                  <a:lnTo>
                    <a:pt x="0" y="0"/>
                  </a:lnTo>
                  <a:close/>
                </a:path>
              </a:pathLst>
            </a:custGeom>
            <a:blipFill>
              <a:blip r:embed="rId52"/>
              <a:stretch>
                <a:fillRect l="-145" t="0" r="-146" b="0"/>
              </a:stretch>
            </a:blipFill>
          </p:spPr>
        </p:sp>
      </p:grpSp>
      <p:grpSp>
        <p:nvGrpSpPr>
          <p:cNvPr name="Group 185" id="185"/>
          <p:cNvGrpSpPr/>
          <p:nvPr/>
        </p:nvGrpSpPr>
        <p:grpSpPr>
          <a:xfrm rot="0">
            <a:off x="11214887" y="3441764"/>
            <a:ext cx="816673" cy="561499"/>
            <a:chOff x="0" y="0"/>
            <a:chExt cx="1088898" cy="748665"/>
          </a:xfrm>
        </p:grpSpPr>
        <p:sp>
          <p:nvSpPr>
            <p:cNvPr name="Freeform 186" id="186" descr="preencoded.png"/>
            <p:cNvSpPr/>
            <p:nvPr/>
          </p:nvSpPr>
          <p:spPr>
            <a:xfrm flipH="false" flipV="false" rot="0">
              <a:off x="0" y="0"/>
              <a:ext cx="1088898" cy="748665"/>
            </a:xfrm>
            <a:custGeom>
              <a:avLst/>
              <a:gdLst/>
              <a:ahLst/>
              <a:cxnLst/>
              <a:rect r="r" b="b" t="t" l="l"/>
              <a:pathLst>
                <a:path h="748665" w="1088898">
                  <a:moveTo>
                    <a:pt x="0" y="0"/>
                  </a:moveTo>
                  <a:lnTo>
                    <a:pt x="1088898" y="0"/>
                  </a:lnTo>
                  <a:lnTo>
                    <a:pt x="1088898" y="748665"/>
                  </a:lnTo>
                  <a:lnTo>
                    <a:pt x="0" y="748665"/>
                  </a:lnTo>
                  <a:lnTo>
                    <a:pt x="0" y="0"/>
                  </a:lnTo>
                  <a:close/>
                </a:path>
              </a:pathLst>
            </a:custGeom>
            <a:blipFill>
              <a:blip r:embed="rId53"/>
              <a:stretch>
                <a:fillRect l="0" t="-402" r="0" b="-402"/>
              </a:stretch>
            </a:blipFill>
          </p:spPr>
        </p:sp>
      </p:grpSp>
      <p:grpSp>
        <p:nvGrpSpPr>
          <p:cNvPr name="Group 187" id="187"/>
          <p:cNvGrpSpPr/>
          <p:nvPr/>
        </p:nvGrpSpPr>
        <p:grpSpPr>
          <a:xfrm rot="0">
            <a:off x="10274237" y="3441764"/>
            <a:ext cx="831247" cy="561499"/>
            <a:chOff x="0" y="0"/>
            <a:chExt cx="1108329" cy="748665"/>
          </a:xfrm>
        </p:grpSpPr>
        <p:sp>
          <p:nvSpPr>
            <p:cNvPr name="Freeform 188" id="188" descr="preencoded.png"/>
            <p:cNvSpPr/>
            <p:nvPr/>
          </p:nvSpPr>
          <p:spPr>
            <a:xfrm flipH="false" flipV="false" rot="0">
              <a:off x="0" y="0"/>
              <a:ext cx="1108329" cy="748665"/>
            </a:xfrm>
            <a:custGeom>
              <a:avLst/>
              <a:gdLst/>
              <a:ahLst/>
              <a:cxnLst/>
              <a:rect r="r" b="b" t="t" l="l"/>
              <a:pathLst>
                <a:path h="748665" w="1108329">
                  <a:moveTo>
                    <a:pt x="0" y="0"/>
                  </a:moveTo>
                  <a:lnTo>
                    <a:pt x="1108329" y="0"/>
                  </a:lnTo>
                  <a:lnTo>
                    <a:pt x="1108329" y="748665"/>
                  </a:lnTo>
                  <a:lnTo>
                    <a:pt x="0" y="748665"/>
                  </a:lnTo>
                  <a:lnTo>
                    <a:pt x="0" y="0"/>
                  </a:lnTo>
                  <a:close/>
                </a:path>
              </a:pathLst>
            </a:custGeom>
            <a:blipFill>
              <a:blip r:embed="rId54"/>
              <a:stretch>
                <a:fillRect l="0" t="-305" r="0" b="-305"/>
              </a:stretch>
            </a:blipFill>
          </p:spPr>
        </p:sp>
      </p:grpSp>
      <p:grpSp>
        <p:nvGrpSpPr>
          <p:cNvPr name="Group 189" id="189"/>
          <p:cNvGrpSpPr/>
          <p:nvPr/>
        </p:nvGrpSpPr>
        <p:grpSpPr>
          <a:xfrm rot="0">
            <a:off x="11265932" y="2953207"/>
            <a:ext cx="262509" cy="87535"/>
            <a:chOff x="0" y="0"/>
            <a:chExt cx="350012" cy="116713"/>
          </a:xfrm>
        </p:grpSpPr>
        <p:sp>
          <p:nvSpPr>
            <p:cNvPr name="Freeform 190" id="190" descr="preencoded.png"/>
            <p:cNvSpPr/>
            <p:nvPr/>
          </p:nvSpPr>
          <p:spPr>
            <a:xfrm flipH="false" flipV="false" rot="0">
              <a:off x="0" y="0"/>
              <a:ext cx="350012" cy="116713"/>
            </a:xfrm>
            <a:custGeom>
              <a:avLst/>
              <a:gdLst/>
              <a:ahLst/>
              <a:cxnLst/>
              <a:rect r="r" b="b" t="t" l="l"/>
              <a:pathLst>
                <a:path h="116713" w="350012">
                  <a:moveTo>
                    <a:pt x="0" y="0"/>
                  </a:moveTo>
                  <a:lnTo>
                    <a:pt x="350012" y="0"/>
                  </a:lnTo>
                  <a:lnTo>
                    <a:pt x="350012" y="116713"/>
                  </a:lnTo>
                  <a:lnTo>
                    <a:pt x="0" y="116713"/>
                  </a:lnTo>
                  <a:lnTo>
                    <a:pt x="0" y="0"/>
                  </a:lnTo>
                  <a:close/>
                </a:path>
              </a:pathLst>
            </a:custGeom>
            <a:blipFill>
              <a:blip r:embed="rId55"/>
              <a:stretch>
                <a:fillRect l="-3047" t="0" r="-3051" b="0"/>
              </a:stretch>
            </a:blipFill>
          </p:spPr>
        </p:sp>
      </p:grpSp>
      <p:grpSp>
        <p:nvGrpSpPr>
          <p:cNvPr name="Group 191" id="191"/>
          <p:cNvGrpSpPr/>
          <p:nvPr/>
        </p:nvGrpSpPr>
        <p:grpSpPr>
          <a:xfrm rot="0">
            <a:off x="11688861" y="2610488"/>
            <a:ext cx="328136" cy="298990"/>
            <a:chOff x="0" y="0"/>
            <a:chExt cx="437515" cy="398653"/>
          </a:xfrm>
        </p:grpSpPr>
        <p:sp>
          <p:nvSpPr>
            <p:cNvPr name="Freeform 192" id="192" descr="preencoded.png"/>
            <p:cNvSpPr/>
            <p:nvPr/>
          </p:nvSpPr>
          <p:spPr>
            <a:xfrm flipH="false" flipV="false" rot="0">
              <a:off x="0" y="0"/>
              <a:ext cx="437515" cy="398653"/>
            </a:xfrm>
            <a:custGeom>
              <a:avLst/>
              <a:gdLst/>
              <a:ahLst/>
              <a:cxnLst/>
              <a:rect r="r" b="b" t="t" l="l"/>
              <a:pathLst>
                <a:path h="398653" w="437515">
                  <a:moveTo>
                    <a:pt x="0" y="0"/>
                  </a:moveTo>
                  <a:lnTo>
                    <a:pt x="437515" y="0"/>
                  </a:lnTo>
                  <a:lnTo>
                    <a:pt x="437515" y="398653"/>
                  </a:lnTo>
                  <a:lnTo>
                    <a:pt x="0" y="398653"/>
                  </a:lnTo>
                  <a:lnTo>
                    <a:pt x="0" y="0"/>
                  </a:lnTo>
                  <a:close/>
                </a:path>
              </a:pathLst>
            </a:custGeom>
            <a:blipFill>
              <a:blip r:embed="rId56"/>
              <a:stretch>
                <a:fillRect l="-208" t="0" r="-206" b="0"/>
              </a:stretch>
            </a:blipFill>
          </p:spPr>
        </p:sp>
      </p:grpSp>
      <p:grpSp>
        <p:nvGrpSpPr>
          <p:cNvPr name="Group 193" id="193"/>
          <p:cNvGrpSpPr/>
          <p:nvPr/>
        </p:nvGrpSpPr>
        <p:grpSpPr>
          <a:xfrm rot="0">
            <a:off x="11222184" y="2617784"/>
            <a:ext cx="328136" cy="291656"/>
            <a:chOff x="0" y="0"/>
            <a:chExt cx="437515" cy="388874"/>
          </a:xfrm>
        </p:grpSpPr>
        <p:sp>
          <p:nvSpPr>
            <p:cNvPr name="Freeform 194" id="194" descr="preencoded.png"/>
            <p:cNvSpPr/>
            <p:nvPr/>
          </p:nvSpPr>
          <p:spPr>
            <a:xfrm flipH="false" flipV="false" rot="0">
              <a:off x="0" y="0"/>
              <a:ext cx="437515" cy="388874"/>
            </a:xfrm>
            <a:custGeom>
              <a:avLst/>
              <a:gdLst/>
              <a:ahLst/>
              <a:cxnLst/>
              <a:rect r="r" b="b" t="t" l="l"/>
              <a:pathLst>
                <a:path h="388874" w="437515">
                  <a:moveTo>
                    <a:pt x="0" y="0"/>
                  </a:moveTo>
                  <a:lnTo>
                    <a:pt x="437515" y="0"/>
                  </a:lnTo>
                  <a:lnTo>
                    <a:pt x="437515" y="388874"/>
                  </a:lnTo>
                  <a:lnTo>
                    <a:pt x="0" y="388874"/>
                  </a:lnTo>
                  <a:lnTo>
                    <a:pt x="0" y="0"/>
                  </a:lnTo>
                  <a:close/>
                </a:path>
              </a:pathLst>
            </a:custGeom>
            <a:blipFill>
              <a:blip r:embed="rId57"/>
              <a:stretch>
                <a:fillRect l="0" t="-3" r="0" b="-3"/>
              </a:stretch>
            </a:blipFill>
          </p:spPr>
        </p:sp>
      </p:grpSp>
      <p:grpSp>
        <p:nvGrpSpPr>
          <p:cNvPr name="Group 195" id="195"/>
          <p:cNvGrpSpPr/>
          <p:nvPr/>
        </p:nvGrpSpPr>
        <p:grpSpPr>
          <a:xfrm rot="0">
            <a:off x="10762793" y="2632367"/>
            <a:ext cx="313563" cy="277082"/>
            <a:chOff x="0" y="0"/>
            <a:chExt cx="418084" cy="369443"/>
          </a:xfrm>
        </p:grpSpPr>
        <p:sp>
          <p:nvSpPr>
            <p:cNvPr name="Freeform 196" id="196" descr="preencoded.png"/>
            <p:cNvSpPr/>
            <p:nvPr/>
          </p:nvSpPr>
          <p:spPr>
            <a:xfrm flipH="false" flipV="false" rot="0">
              <a:off x="0" y="0"/>
              <a:ext cx="418084" cy="369443"/>
            </a:xfrm>
            <a:custGeom>
              <a:avLst/>
              <a:gdLst/>
              <a:ahLst/>
              <a:cxnLst/>
              <a:rect r="r" b="b" t="t" l="l"/>
              <a:pathLst>
                <a:path h="369443" w="418084">
                  <a:moveTo>
                    <a:pt x="0" y="0"/>
                  </a:moveTo>
                  <a:lnTo>
                    <a:pt x="418084" y="0"/>
                  </a:lnTo>
                  <a:lnTo>
                    <a:pt x="418084" y="369443"/>
                  </a:lnTo>
                  <a:lnTo>
                    <a:pt x="0" y="369443"/>
                  </a:lnTo>
                  <a:lnTo>
                    <a:pt x="0" y="0"/>
                  </a:lnTo>
                  <a:close/>
                </a:path>
              </a:pathLst>
            </a:custGeom>
            <a:blipFill>
              <a:blip r:embed="rId58"/>
              <a:stretch>
                <a:fillRect l="-72" t="0" r="-75" b="0"/>
              </a:stretch>
            </a:blipFill>
          </p:spPr>
        </p:sp>
      </p:grpSp>
      <p:grpSp>
        <p:nvGrpSpPr>
          <p:cNvPr name="Group 197" id="197"/>
          <p:cNvGrpSpPr/>
          <p:nvPr/>
        </p:nvGrpSpPr>
        <p:grpSpPr>
          <a:xfrm rot="0">
            <a:off x="10288819" y="2632367"/>
            <a:ext cx="335470" cy="277082"/>
            <a:chOff x="0" y="0"/>
            <a:chExt cx="447294" cy="369443"/>
          </a:xfrm>
        </p:grpSpPr>
        <p:sp>
          <p:nvSpPr>
            <p:cNvPr name="Freeform 198" id="198" descr="preencoded.png"/>
            <p:cNvSpPr/>
            <p:nvPr/>
          </p:nvSpPr>
          <p:spPr>
            <a:xfrm flipH="false" flipV="false" rot="0">
              <a:off x="0" y="0"/>
              <a:ext cx="447294" cy="369443"/>
            </a:xfrm>
            <a:custGeom>
              <a:avLst/>
              <a:gdLst/>
              <a:ahLst/>
              <a:cxnLst/>
              <a:rect r="r" b="b" t="t" l="l"/>
              <a:pathLst>
                <a:path h="369443" w="447294">
                  <a:moveTo>
                    <a:pt x="0" y="0"/>
                  </a:moveTo>
                  <a:lnTo>
                    <a:pt x="447294" y="0"/>
                  </a:lnTo>
                  <a:lnTo>
                    <a:pt x="447294" y="369443"/>
                  </a:lnTo>
                  <a:lnTo>
                    <a:pt x="0" y="369443"/>
                  </a:lnTo>
                  <a:lnTo>
                    <a:pt x="0" y="0"/>
                  </a:lnTo>
                  <a:close/>
                </a:path>
              </a:pathLst>
            </a:custGeom>
            <a:blipFill>
              <a:blip r:embed="rId59"/>
              <a:stretch>
                <a:fillRect l="-275" t="0" r="-275" b="0"/>
              </a:stretch>
            </a:blipFill>
          </p:spPr>
        </p:sp>
      </p:grpSp>
      <p:grpSp>
        <p:nvGrpSpPr>
          <p:cNvPr name="Group 199" id="199"/>
          <p:cNvGrpSpPr/>
          <p:nvPr/>
        </p:nvGrpSpPr>
        <p:grpSpPr>
          <a:xfrm rot="0">
            <a:off x="10274237" y="1771926"/>
            <a:ext cx="1764602" cy="721900"/>
            <a:chOff x="0" y="0"/>
            <a:chExt cx="2352802" cy="962533"/>
          </a:xfrm>
        </p:grpSpPr>
        <p:sp>
          <p:nvSpPr>
            <p:cNvPr name="Freeform 200" id="200" descr="preencoded.png"/>
            <p:cNvSpPr/>
            <p:nvPr/>
          </p:nvSpPr>
          <p:spPr>
            <a:xfrm flipH="false" flipV="false" rot="0">
              <a:off x="0" y="0"/>
              <a:ext cx="2352802" cy="962533"/>
            </a:xfrm>
            <a:custGeom>
              <a:avLst/>
              <a:gdLst/>
              <a:ahLst/>
              <a:cxnLst/>
              <a:rect r="r" b="b" t="t" l="l"/>
              <a:pathLst>
                <a:path h="962533" w="2352802">
                  <a:moveTo>
                    <a:pt x="0" y="0"/>
                  </a:moveTo>
                  <a:lnTo>
                    <a:pt x="2352802" y="0"/>
                  </a:lnTo>
                  <a:lnTo>
                    <a:pt x="2352802" y="962533"/>
                  </a:lnTo>
                  <a:lnTo>
                    <a:pt x="0" y="962533"/>
                  </a:lnTo>
                  <a:lnTo>
                    <a:pt x="0" y="0"/>
                  </a:lnTo>
                  <a:close/>
                </a:path>
              </a:pathLst>
            </a:custGeom>
            <a:blipFill>
              <a:blip r:embed="rId60"/>
              <a:stretch>
                <a:fillRect l="0" t="-457" r="0" b="-456"/>
              </a:stretch>
            </a:blipFill>
          </p:spPr>
        </p:sp>
      </p:grpSp>
      <p:grpSp>
        <p:nvGrpSpPr>
          <p:cNvPr name="Group 201" id="201"/>
          <p:cNvGrpSpPr/>
          <p:nvPr/>
        </p:nvGrpSpPr>
        <p:grpSpPr>
          <a:xfrm rot="0">
            <a:off x="11018006" y="1976095"/>
            <a:ext cx="131254" cy="102108"/>
            <a:chOff x="0" y="0"/>
            <a:chExt cx="175006" cy="136144"/>
          </a:xfrm>
        </p:grpSpPr>
        <p:sp>
          <p:nvSpPr>
            <p:cNvPr name="Freeform 202" id="202" descr="preencoded.png"/>
            <p:cNvSpPr/>
            <p:nvPr/>
          </p:nvSpPr>
          <p:spPr>
            <a:xfrm flipH="false" flipV="false" rot="0">
              <a:off x="0" y="0"/>
              <a:ext cx="175006" cy="136144"/>
            </a:xfrm>
            <a:custGeom>
              <a:avLst/>
              <a:gdLst/>
              <a:ahLst/>
              <a:cxnLst/>
              <a:rect r="r" b="b" t="t" l="l"/>
              <a:pathLst>
                <a:path h="136144" w="175006">
                  <a:moveTo>
                    <a:pt x="0" y="0"/>
                  </a:moveTo>
                  <a:lnTo>
                    <a:pt x="175006" y="0"/>
                  </a:lnTo>
                  <a:lnTo>
                    <a:pt x="175006" y="136144"/>
                  </a:lnTo>
                  <a:lnTo>
                    <a:pt x="0" y="136144"/>
                  </a:lnTo>
                  <a:lnTo>
                    <a:pt x="0" y="0"/>
                  </a:lnTo>
                  <a:close/>
                </a:path>
              </a:pathLst>
            </a:custGeom>
            <a:blipFill>
              <a:blip r:embed="rId61"/>
              <a:stretch>
                <a:fillRect l="-7" t="0" r="-14" b="0"/>
              </a:stretch>
            </a:blipFill>
          </p:spPr>
        </p:sp>
      </p:grpSp>
      <p:grpSp>
        <p:nvGrpSpPr>
          <p:cNvPr name="Group 203" id="203"/>
          <p:cNvGrpSpPr/>
          <p:nvPr/>
        </p:nvGrpSpPr>
        <p:grpSpPr>
          <a:xfrm rot="0">
            <a:off x="11841994" y="1502121"/>
            <a:ext cx="123920" cy="116681"/>
            <a:chOff x="0" y="0"/>
            <a:chExt cx="165227" cy="155575"/>
          </a:xfrm>
        </p:grpSpPr>
        <p:sp>
          <p:nvSpPr>
            <p:cNvPr name="Freeform 204" id="204" descr="preencoded.png"/>
            <p:cNvSpPr/>
            <p:nvPr/>
          </p:nvSpPr>
          <p:spPr>
            <a:xfrm flipH="false" flipV="false" rot="0">
              <a:off x="0" y="0"/>
              <a:ext cx="165227" cy="155575"/>
            </a:xfrm>
            <a:custGeom>
              <a:avLst/>
              <a:gdLst/>
              <a:ahLst/>
              <a:cxnLst/>
              <a:rect r="r" b="b" t="t" l="l"/>
              <a:pathLst>
                <a:path h="155575" w="165227">
                  <a:moveTo>
                    <a:pt x="0" y="0"/>
                  </a:moveTo>
                  <a:lnTo>
                    <a:pt x="165227" y="0"/>
                  </a:lnTo>
                  <a:lnTo>
                    <a:pt x="165227" y="155575"/>
                  </a:lnTo>
                  <a:lnTo>
                    <a:pt x="0" y="155575"/>
                  </a:lnTo>
                  <a:lnTo>
                    <a:pt x="0" y="0"/>
                  </a:lnTo>
                  <a:close/>
                </a:path>
              </a:pathLst>
            </a:custGeom>
            <a:blipFill>
              <a:blip r:embed="rId62"/>
              <a:stretch>
                <a:fillRect l="0" t="-979" r="0" b="-979"/>
              </a:stretch>
            </a:blipFill>
          </p:spPr>
        </p:sp>
      </p:grpSp>
      <p:grpSp>
        <p:nvGrpSpPr>
          <p:cNvPr name="Group 205" id="205"/>
          <p:cNvGrpSpPr/>
          <p:nvPr/>
        </p:nvGrpSpPr>
        <p:grpSpPr>
          <a:xfrm rot="0">
            <a:off x="10354447" y="1524000"/>
            <a:ext cx="102108" cy="87535"/>
            <a:chOff x="0" y="0"/>
            <a:chExt cx="136144" cy="116713"/>
          </a:xfrm>
        </p:grpSpPr>
        <p:sp>
          <p:nvSpPr>
            <p:cNvPr name="Freeform 206" id="206" descr="preencoded.png"/>
            <p:cNvSpPr/>
            <p:nvPr/>
          </p:nvSpPr>
          <p:spPr>
            <a:xfrm flipH="false" flipV="false" rot="0">
              <a:off x="0" y="0"/>
              <a:ext cx="136144" cy="116713"/>
            </a:xfrm>
            <a:custGeom>
              <a:avLst/>
              <a:gdLst/>
              <a:ahLst/>
              <a:cxnLst/>
              <a:rect r="r" b="b" t="t" l="l"/>
              <a:pathLst>
                <a:path h="116713" w="136144">
                  <a:moveTo>
                    <a:pt x="0" y="0"/>
                  </a:moveTo>
                  <a:lnTo>
                    <a:pt x="136144" y="0"/>
                  </a:lnTo>
                  <a:lnTo>
                    <a:pt x="136144" y="116713"/>
                  </a:lnTo>
                  <a:lnTo>
                    <a:pt x="0" y="116713"/>
                  </a:lnTo>
                  <a:lnTo>
                    <a:pt x="0" y="0"/>
                  </a:lnTo>
                  <a:close/>
                </a:path>
              </a:pathLst>
            </a:custGeom>
            <a:blipFill>
              <a:blip r:embed="rId63"/>
              <a:stretch>
                <a:fillRect l="-7" t="0" r="-10" b="0"/>
              </a:stretch>
            </a:blipFill>
          </p:spPr>
        </p:sp>
      </p:grpSp>
      <p:grpSp>
        <p:nvGrpSpPr>
          <p:cNvPr name="Group 207" id="207"/>
          <p:cNvGrpSpPr/>
          <p:nvPr/>
        </p:nvGrpSpPr>
        <p:grpSpPr>
          <a:xfrm rot="0">
            <a:off x="10966971" y="729186"/>
            <a:ext cx="364617" cy="452056"/>
            <a:chOff x="0" y="0"/>
            <a:chExt cx="486156" cy="602742"/>
          </a:xfrm>
        </p:grpSpPr>
        <p:sp>
          <p:nvSpPr>
            <p:cNvPr name="Freeform 208" id="208" descr="preencoded.png"/>
            <p:cNvSpPr/>
            <p:nvPr/>
          </p:nvSpPr>
          <p:spPr>
            <a:xfrm flipH="false" flipV="false" rot="0">
              <a:off x="0" y="0"/>
              <a:ext cx="486156" cy="602742"/>
            </a:xfrm>
            <a:custGeom>
              <a:avLst/>
              <a:gdLst/>
              <a:ahLst/>
              <a:cxnLst/>
              <a:rect r="r" b="b" t="t" l="l"/>
              <a:pathLst>
                <a:path h="602742" w="486156">
                  <a:moveTo>
                    <a:pt x="0" y="0"/>
                  </a:moveTo>
                  <a:lnTo>
                    <a:pt x="486156" y="0"/>
                  </a:lnTo>
                  <a:lnTo>
                    <a:pt x="486156" y="602742"/>
                  </a:lnTo>
                  <a:lnTo>
                    <a:pt x="0" y="602742"/>
                  </a:lnTo>
                  <a:lnTo>
                    <a:pt x="0" y="0"/>
                  </a:lnTo>
                  <a:close/>
                </a:path>
              </a:pathLst>
            </a:custGeom>
            <a:blipFill>
              <a:blip r:embed="rId64"/>
              <a:stretch>
                <a:fillRect l="-263" t="0" r="-261" b="0"/>
              </a:stretch>
            </a:blipFill>
          </p:spPr>
        </p:sp>
      </p:grpSp>
      <p:grpSp>
        <p:nvGrpSpPr>
          <p:cNvPr name="Group 209" id="209"/>
          <p:cNvGrpSpPr/>
          <p:nvPr/>
        </p:nvGrpSpPr>
        <p:grpSpPr>
          <a:xfrm rot="0">
            <a:off x="10266950" y="721890"/>
            <a:ext cx="80200" cy="109347"/>
            <a:chOff x="0" y="0"/>
            <a:chExt cx="106934" cy="145796"/>
          </a:xfrm>
        </p:grpSpPr>
        <p:sp>
          <p:nvSpPr>
            <p:cNvPr name="Freeform 210" id="210" descr="preencoded.png"/>
            <p:cNvSpPr/>
            <p:nvPr/>
          </p:nvSpPr>
          <p:spPr>
            <a:xfrm flipH="false" flipV="false" rot="0">
              <a:off x="0" y="0"/>
              <a:ext cx="106934" cy="145796"/>
            </a:xfrm>
            <a:custGeom>
              <a:avLst/>
              <a:gdLst/>
              <a:ahLst/>
              <a:cxnLst/>
              <a:rect r="r" b="b" t="t" l="l"/>
              <a:pathLst>
                <a:path h="145796" w="106934">
                  <a:moveTo>
                    <a:pt x="0" y="0"/>
                  </a:moveTo>
                  <a:lnTo>
                    <a:pt x="106934" y="0"/>
                  </a:lnTo>
                  <a:lnTo>
                    <a:pt x="106934" y="145796"/>
                  </a:lnTo>
                  <a:lnTo>
                    <a:pt x="0" y="145796"/>
                  </a:lnTo>
                  <a:lnTo>
                    <a:pt x="0" y="0"/>
                  </a:lnTo>
                  <a:close/>
                </a:path>
              </a:pathLst>
            </a:custGeom>
            <a:blipFill>
              <a:blip r:embed="rId65"/>
              <a:stretch>
                <a:fillRect l="-1128" t="0" r="-1128" b="0"/>
              </a:stretch>
            </a:blipFill>
          </p:spPr>
        </p:sp>
      </p:grpSp>
      <p:grpSp>
        <p:nvGrpSpPr>
          <p:cNvPr name="Group 211" id="211"/>
          <p:cNvGrpSpPr/>
          <p:nvPr/>
        </p:nvGrpSpPr>
        <p:grpSpPr>
          <a:xfrm rot="0">
            <a:off x="11929491" y="568766"/>
            <a:ext cx="109347" cy="51054"/>
            <a:chOff x="0" y="0"/>
            <a:chExt cx="145796" cy="68072"/>
          </a:xfrm>
        </p:grpSpPr>
        <p:sp>
          <p:nvSpPr>
            <p:cNvPr name="Freeform 212" id="212" descr="preencoded.png"/>
            <p:cNvSpPr/>
            <p:nvPr/>
          </p:nvSpPr>
          <p:spPr>
            <a:xfrm flipH="false" flipV="false" rot="0">
              <a:off x="0" y="0"/>
              <a:ext cx="145796" cy="68072"/>
            </a:xfrm>
            <a:custGeom>
              <a:avLst/>
              <a:gdLst/>
              <a:ahLst/>
              <a:cxnLst/>
              <a:rect r="r" b="b" t="t" l="l"/>
              <a:pathLst>
                <a:path h="68072" w="145796">
                  <a:moveTo>
                    <a:pt x="0" y="0"/>
                  </a:moveTo>
                  <a:lnTo>
                    <a:pt x="145796" y="0"/>
                  </a:lnTo>
                  <a:lnTo>
                    <a:pt x="145796" y="68072"/>
                  </a:lnTo>
                  <a:lnTo>
                    <a:pt x="0" y="68072"/>
                  </a:lnTo>
                  <a:lnTo>
                    <a:pt x="0" y="0"/>
                  </a:lnTo>
                  <a:close/>
                </a:path>
              </a:pathLst>
            </a:custGeom>
            <a:blipFill>
              <a:blip r:embed="rId66"/>
              <a:stretch>
                <a:fillRect l="0" t="-1212" r="0" b="-1212"/>
              </a:stretch>
            </a:blipFill>
          </p:spPr>
        </p:sp>
      </p:grpSp>
      <p:grpSp>
        <p:nvGrpSpPr>
          <p:cNvPr name="Group 213" id="213"/>
          <p:cNvGrpSpPr/>
          <p:nvPr/>
        </p:nvGrpSpPr>
        <p:grpSpPr>
          <a:xfrm rot="0">
            <a:off x="11820115" y="568766"/>
            <a:ext cx="72962" cy="65627"/>
            <a:chOff x="0" y="0"/>
            <a:chExt cx="97282" cy="87503"/>
          </a:xfrm>
        </p:grpSpPr>
        <p:sp>
          <p:nvSpPr>
            <p:cNvPr name="Freeform 214" id="214" descr="preencoded.png"/>
            <p:cNvSpPr/>
            <p:nvPr/>
          </p:nvSpPr>
          <p:spPr>
            <a:xfrm flipH="false" flipV="false" rot="0">
              <a:off x="0" y="0"/>
              <a:ext cx="97282" cy="87503"/>
            </a:xfrm>
            <a:custGeom>
              <a:avLst/>
              <a:gdLst/>
              <a:ahLst/>
              <a:cxnLst/>
              <a:rect r="r" b="b" t="t" l="l"/>
              <a:pathLst>
                <a:path h="87503" w="97282">
                  <a:moveTo>
                    <a:pt x="0" y="0"/>
                  </a:moveTo>
                  <a:lnTo>
                    <a:pt x="97282" y="0"/>
                  </a:lnTo>
                  <a:lnTo>
                    <a:pt x="97282" y="87503"/>
                  </a:lnTo>
                  <a:lnTo>
                    <a:pt x="0" y="87503"/>
                  </a:lnTo>
                  <a:lnTo>
                    <a:pt x="0" y="0"/>
                  </a:lnTo>
                  <a:close/>
                </a:path>
              </a:pathLst>
            </a:custGeom>
            <a:blipFill>
              <a:blip r:embed="rId67"/>
              <a:stretch>
                <a:fillRect l="0" t="-957" r="0" b="-957"/>
              </a:stretch>
            </a:blipFill>
          </p:spPr>
        </p:sp>
      </p:grpSp>
      <p:grpSp>
        <p:nvGrpSpPr>
          <p:cNvPr name="Group 215" id="215"/>
          <p:cNvGrpSpPr/>
          <p:nvPr/>
        </p:nvGrpSpPr>
        <p:grpSpPr>
          <a:xfrm rot="0">
            <a:off x="11703444" y="568766"/>
            <a:ext cx="102108" cy="58293"/>
            <a:chOff x="0" y="0"/>
            <a:chExt cx="136144" cy="77724"/>
          </a:xfrm>
        </p:grpSpPr>
        <p:sp>
          <p:nvSpPr>
            <p:cNvPr name="Freeform 216" id="216" descr="preencoded.png"/>
            <p:cNvSpPr/>
            <p:nvPr/>
          </p:nvSpPr>
          <p:spPr>
            <a:xfrm flipH="false" flipV="false" rot="0">
              <a:off x="0" y="0"/>
              <a:ext cx="136144" cy="77724"/>
            </a:xfrm>
            <a:custGeom>
              <a:avLst/>
              <a:gdLst/>
              <a:ahLst/>
              <a:cxnLst/>
              <a:rect r="r" b="b" t="t" l="l"/>
              <a:pathLst>
                <a:path h="77724" w="136144">
                  <a:moveTo>
                    <a:pt x="0" y="0"/>
                  </a:moveTo>
                  <a:lnTo>
                    <a:pt x="136144" y="0"/>
                  </a:lnTo>
                  <a:lnTo>
                    <a:pt x="136144" y="77724"/>
                  </a:lnTo>
                  <a:lnTo>
                    <a:pt x="0" y="77724"/>
                  </a:lnTo>
                  <a:lnTo>
                    <a:pt x="0" y="0"/>
                  </a:lnTo>
                  <a:close/>
                </a:path>
              </a:pathLst>
            </a:custGeom>
            <a:blipFill>
              <a:blip r:embed="rId68"/>
              <a:stretch>
                <a:fillRect l="0" t="-1519" r="0" b="-1519"/>
              </a:stretch>
            </a:blipFill>
          </p:spPr>
        </p:sp>
      </p:grpSp>
      <p:grpSp>
        <p:nvGrpSpPr>
          <p:cNvPr name="Group 217" id="217"/>
          <p:cNvGrpSpPr/>
          <p:nvPr/>
        </p:nvGrpSpPr>
        <p:grpSpPr>
          <a:xfrm rot="0">
            <a:off x="7211654" y="955234"/>
            <a:ext cx="2763584" cy="3317843"/>
            <a:chOff x="0" y="0"/>
            <a:chExt cx="3684778" cy="4423791"/>
          </a:xfrm>
        </p:grpSpPr>
        <p:sp>
          <p:nvSpPr>
            <p:cNvPr name="Freeform 218" id="218" descr="preencoded.png"/>
            <p:cNvSpPr/>
            <p:nvPr/>
          </p:nvSpPr>
          <p:spPr>
            <a:xfrm flipH="false" flipV="false" rot="0">
              <a:off x="0" y="0"/>
              <a:ext cx="3684778" cy="4423791"/>
            </a:xfrm>
            <a:custGeom>
              <a:avLst/>
              <a:gdLst/>
              <a:ahLst/>
              <a:cxnLst/>
              <a:rect r="r" b="b" t="t" l="l"/>
              <a:pathLst>
                <a:path h="4423791" w="3684778">
                  <a:moveTo>
                    <a:pt x="0" y="0"/>
                  </a:moveTo>
                  <a:lnTo>
                    <a:pt x="3684778" y="0"/>
                  </a:lnTo>
                  <a:lnTo>
                    <a:pt x="3684778" y="4423791"/>
                  </a:lnTo>
                  <a:lnTo>
                    <a:pt x="0" y="4423791"/>
                  </a:lnTo>
                  <a:lnTo>
                    <a:pt x="0" y="0"/>
                  </a:lnTo>
                  <a:close/>
                </a:path>
              </a:pathLst>
            </a:custGeom>
            <a:blipFill>
              <a:blip r:embed="rId69"/>
              <a:stretch>
                <a:fillRect l="-72" t="0" r="-72" b="0"/>
              </a:stretch>
            </a:blipFill>
          </p:spPr>
        </p:sp>
      </p:grpSp>
      <p:grpSp>
        <p:nvGrpSpPr>
          <p:cNvPr name="Group 219" id="219"/>
          <p:cNvGrpSpPr/>
          <p:nvPr/>
        </p:nvGrpSpPr>
        <p:grpSpPr>
          <a:xfrm rot="0">
            <a:off x="8597113" y="2798616"/>
            <a:ext cx="2165699" cy="1801082"/>
            <a:chOff x="0" y="0"/>
            <a:chExt cx="2887599" cy="2401443"/>
          </a:xfrm>
        </p:grpSpPr>
        <p:sp>
          <p:nvSpPr>
            <p:cNvPr name="Freeform 220" id="220" descr="preencoded.png"/>
            <p:cNvSpPr/>
            <p:nvPr/>
          </p:nvSpPr>
          <p:spPr>
            <a:xfrm flipH="false" flipV="false" rot="0">
              <a:off x="0" y="0"/>
              <a:ext cx="2887599" cy="2401443"/>
            </a:xfrm>
            <a:custGeom>
              <a:avLst/>
              <a:gdLst/>
              <a:ahLst/>
              <a:cxnLst/>
              <a:rect r="r" b="b" t="t" l="l"/>
              <a:pathLst>
                <a:path h="2401443" w="2887599">
                  <a:moveTo>
                    <a:pt x="0" y="0"/>
                  </a:moveTo>
                  <a:lnTo>
                    <a:pt x="2887599" y="0"/>
                  </a:lnTo>
                  <a:lnTo>
                    <a:pt x="2887599" y="2401443"/>
                  </a:lnTo>
                  <a:lnTo>
                    <a:pt x="0" y="2401443"/>
                  </a:lnTo>
                  <a:lnTo>
                    <a:pt x="0" y="0"/>
                  </a:lnTo>
                  <a:close/>
                </a:path>
              </a:pathLst>
            </a:custGeom>
            <a:blipFill>
              <a:blip r:embed="rId70"/>
              <a:stretch>
                <a:fillRect l="0" t="-26" r="0" b="-26"/>
              </a:stretch>
            </a:blipFill>
          </p:spPr>
        </p:sp>
      </p:grpSp>
      <p:grpSp>
        <p:nvGrpSpPr>
          <p:cNvPr name="Group 221" id="221"/>
          <p:cNvGrpSpPr/>
          <p:nvPr/>
        </p:nvGrpSpPr>
        <p:grpSpPr>
          <a:xfrm rot="0">
            <a:off x="8560651" y="3382794"/>
            <a:ext cx="692753" cy="590645"/>
            <a:chOff x="0" y="0"/>
            <a:chExt cx="923671" cy="787527"/>
          </a:xfrm>
        </p:grpSpPr>
        <p:sp>
          <p:nvSpPr>
            <p:cNvPr name="Freeform 222" id="222" descr="preencoded.png"/>
            <p:cNvSpPr/>
            <p:nvPr/>
          </p:nvSpPr>
          <p:spPr>
            <a:xfrm flipH="false" flipV="false" rot="0">
              <a:off x="0" y="0"/>
              <a:ext cx="923671" cy="787527"/>
            </a:xfrm>
            <a:custGeom>
              <a:avLst/>
              <a:gdLst/>
              <a:ahLst/>
              <a:cxnLst/>
              <a:rect r="r" b="b" t="t" l="l"/>
              <a:pathLst>
                <a:path h="787527" w="923671">
                  <a:moveTo>
                    <a:pt x="0" y="0"/>
                  </a:moveTo>
                  <a:lnTo>
                    <a:pt x="923671" y="0"/>
                  </a:lnTo>
                  <a:lnTo>
                    <a:pt x="923671" y="787527"/>
                  </a:lnTo>
                  <a:lnTo>
                    <a:pt x="0" y="787527"/>
                  </a:lnTo>
                  <a:lnTo>
                    <a:pt x="0" y="0"/>
                  </a:lnTo>
                  <a:close/>
                </a:path>
              </a:pathLst>
            </a:custGeom>
            <a:blipFill>
              <a:blip r:embed="rId71"/>
              <a:stretch>
                <a:fillRect l="0" t="-412" r="0" b="-412"/>
              </a:stretch>
            </a:blipFill>
          </p:spPr>
        </p:sp>
      </p:grpSp>
      <p:grpSp>
        <p:nvGrpSpPr>
          <p:cNvPr name="Group 223" id="223"/>
          <p:cNvGrpSpPr/>
          <p:nvPr/>
        </p:nvGrpSpPr>
        <p:grpSpPr>
          <a:xfrm rot="0">
            <a:off x="9202331" y="1225029"/>
            <a:ext cx="364617" cy="459391"/>
            <a:chOff x="0" y="0"/>
            <a:chExt cx="486156" cy="612521"/>
          </a:xfrm>
        </p:grpSpPr>
        <p:sp>
          <p:nvSpPr>
            <p:cNvPr name="Freeform 224" id="224" descr="preencoded.png"/>
            <p:cNvSpPr/>
            <p:nvPr/>
          </p:nvSpPr>
          <p:spPr>
            <a:xfrm flipH="false" flipV="false" rot="0">
              <a:off x="0" y="0"/>
              <a:ext cx="486156" cy="612521"/>
            </a:xfrm>
            <a:custGeom>
              <a:avLst/>
              <a:gdLst/>
              <a:ahLst/>
              <a:cxnLst/>
              <a:rect r="r" b="b" t="t" l="l"/>
              <a:pathLst>
                <a:path h="612521" w="486156">
                  <a:moveTo>
                    <a:pt x="0" y="0"/>
                  </a:moveTo>
                  <a:lnTo>
                    <a:pt x="486156" y="0"/>
                  </a:lnTo>
                  <a:lnTo>
                    <a:pt x="486156" y="612521"/>
                  </a:lnTo>
                  <a:lnTo>
                    <a:pt x="0" y="612521"/>
                  </a:lnTo>
                  <a:lnTo>
                    <a:pt x="0" y="0"/>
                  </a:lnTo>
                  <a:close/>
                </a:path>
              </a:pathLst>
            </a:custGeom>
            <a:blipFill>
              <a:blip r:embed="rId72"/>
              <a:stretch>
                <a:fillRect l="-397" t="0" r="-397" b="0"/>
              </a:stretch>
            </a:blipFill>
          </p:spPr>
        </p:sp>
      </p:grpSp>
      <p:grpSp>
        <p:nvGrpSpPr>
          <p:cNvPr name="Group 225" id="225"/>
          <p:cNvGrpSpPr/>
          <p:nvPr/>
        </p:nvGrpSpPr>
        <p:grpSpPr>
          <a:xfrm rot="0">
            <a:off x="510435" y="1757343"/>
            <a:ext cx="699992" cy="43720"/>
            <a:chOff x="0" y="0"/>
            <a:chExt cx="933323" cy="58293"/>
          </a:xfrm>
        </p:grpSpPr>
        <p:sp>
          <p:nvSpPr>
            <p:cNvPr name="Freeform 226" id="226" descr="preencoded.png"/>
            <p:cNvSpPr/>
            <p:nvPr/>
          </p:nvSpPr>
          <p:spPr>
            <a:xfrm flipH="false" flipV="false" rot="0">
              <a:off x="0" y="0"/>
              <a:ext cx="933323" cy="58293"/>
            </a:xfrm>
            <a:custGeom>
              <a:avLst/>
              <a:gdLst/>
              <a:ahLst/>
              <a:cxnLst/>
              <a:rect r="r" b="b" t="t" l="l"/>
              <a:pathLst>
                <a:path h="58293" w="933323">
                  <a:moveTo>
                    <a:pt x="0" y="0"/>
                  </a:moveTo>
                  <a:lnTo>
                    <a:pt x="933323" y="0"/>
                  </a:lnTo>
                  <a:lnTo>
                    <a:pt x="933323" y="58293"/>
                  </a:lnTo>
                  <a:lnTo>
                    <a:pt x="0" y="58293"/>
                  </a:lnTo>
                  <a:lnTo>
                    <a:pt x="0" y="0"/>
                  </a:lnTo>
                  <a:close/>
                </a:path>
              </a:pathLst>
            </a:custGeom>
            <a:blipFill>
              <a:blip r:embed="rId73"/>
              <a:stretch>
                <a:fillRect l="0" t="-43" r="0" b="-21"/>
              </a:stretch>
            </a:blipFill>
          </p:spPr>
        </p:sp>
      </p:grpSp>
      <p:grpSp>
        <p:nvGrpSpPr>
          <p:cNvPr name="Group 227" id="227"/>
          <p:cNvGrpSpPr/>
          <p:nvPr/>
        </p:nvGrpSpPr>
        <p:grpSpPr>
          <a:xfrm rot="0">
            <a:off x="503139" y="670855"/>
            <a:ext cx="2348008" cy="29146"/>
            <a:chOff x="0" y="0"/>
            <a:chExt cx="3130677" cy="38862"/>
          </a:xfrm>
        </p:grpSpPr>
        <p:sp>
          <p:nvSpPr>
            <p:cNvPr name="Freeform 228" id="228" descr="preencoded.png"/>
            <p:cNvSpPr/>
            <p:nvPr/>
          </p:nvSpPr>
          <p:spPr>
            <a:xfrm flipH="false" flipV="false" rot="0">
              <a:off x="0" y="0"/>
              <a:ext cx="3130677" cy="38862"/>
            </a:xfrm>
            <a:custGeom>
              <a:avLst/>
              <a:gdLst/>
              <a:ahLst/>
              <a:cxnLst/>
              <a:rect r="r" b="b" t="t" l="l"/>
              <a:pathLst>
                <a:path h="38862" w="3130677">
                  <a:moveTo>
                    <a:pt x="0" y="0"/>
                  </a:moveTo>
                  <a:lnTo>
                    <a:pt x="3130677" y="0"/>
                  </a:lnTo>
                  <a:lnTo>
                    <a:pt x="3130677" y="38862"/>
                  </a:lnTo>
                  <a:lnTo>
                    <a:pt x="0" y="38862"/>
                  </a:lnTo>
                  <a:lnTo>
                    <a:pt x="0" y="0"/>
                  </a:lnTo>
                  <a:close/>
                </a:path>
              </a:pathLst>
            </a:custGeom>
            <a:blipFill>
              <a:blip r:embed="rId74"/>
              <a:stretch>
                <a:fillRect l="0" t="-5555" r="0" b="-5555"/>
              </a:stretch>
            </a:blipFill>
          </p:spPr>
        </p:sp>
      </p:grpSp>
      <p:grpSp>
        <p:nvGrpSpPr>
          <p:cNvPr name="Group 229" id="229"/>
          <p:cNvGrpSpPr/>
          <p:nvPr/>
        </p:nvGrpSpPr>
        <p:grpSpPr>
          <a:xfrm rot="0">
            <a:off x="16975465" y="3317796"/>
            <a:ext cx="619811" cy="262338"/>
            <a:chOff x="0" y="0"/>
            <a:chExt cx="826414" cy="349783"/>
          </a:xfrm>
        </p:grpSpPr>
        <p:sp>
          <p:nvSpPr>
            <p:cNvPr name="Freeform 230" id="230"/>
            <p:cNvSpPr/>
            <p:nvPr/>
          </p:nvSpPr>
          <p:spPr>
            <a:xfrm flipH="false" flipV="false" rot="0">
              <a:off x="0" y="0"/>
              <a:ext cx="826389" cy="349758"/>
            </a:xfrm>
            <a:custGeom>
              <a:avLst/>
              <a:gdLst/>
              <a:ahLst/>
              <a:cxnLst/>
              <a:rect r="r" b="b" t="t" l="l"/>
              <a:pathLst>
                <a:path h="349758" w="826389">
                  <a:moveTo>
                    <a:pt x="0" y="0"/>
                  </a:moveTo>
                  <a:lnTo>
                    <a:pt x="826389" y="0"/>
                  </a:lnTo>
                  <a:lnTo>
                    <a:pt x="826389" y="349758"/>
                  </a:lnTo>
                  <a:lnTo>
                    <a:pt x="0" y="349758"/>
                  </a:lnTo>
                  <a:close/>
                </a:path>
              </a:pathLst>
            </a:custGeom>
            <a:blipFill>
              <a:blip r:embed="rId17">
                <a:alphaModFix amt="0"/>
              </a:blip>
              <a:stretch>
                <a:fillRect l="-4344" t="0" r="-4346" b="-7"/>
              </a:stretch>
            </a:blipFill>
          </p:spPr>
        </p:sp>
      </p:grpSp>
      <p:grpSp>
        <p:nvGrpSpPr>
          <p:cNvPr name="Group 231" id="231"/>
          <p:cNvGrpSpPr/>
          <p:nvPr/>
        </p:nvGrpSpPr>
        <p:grpSpPr>
          <a:xfrm rot="0">
            <a:off x="16975465" y="3353514"/>
            <a:ext cx="619811" cy="226628"/>
            <a:chOff x="0" y="0"/>
            <a:chExt cx="826414" cy="302171"/>
          </a:xfrm>
        </p:grpSpPr>
        <p:sp>
          <p:nvSpPr>
            <p:cNvPr name="Freeform 232" id="232"/>
            <p:cNvSpPr/>
            <p:nvPr/>
          </p:nvSpPr>
          <p:spPr>
            <a:xfrm flipH="false" flipV="false" rot="0">
              <a:off x="0" y="0"/>
              <a:ext cx="826415" cy="302170"/>
            </a:xfrm>
            <a:custGeom>
              <a:avLst/>
              <a:gdLst/>
              <a:ahLst/>
              <a:cxnLst/>
              <a:rect r="r" b="b" t="t" l="l"/>
              <a:pathLst>
                <a:path h="302170" w="826415">
                  <a:moveTo>
                    <a:pt x="0" y="0"/>
                  </a:moveTo>
                  <a:lnTo>
                    <a:pt x="826415" y="0"/>
                  </a:lnTo>
                  <a:lnTo>
                    <a:pt x="826415" y="302170"/>
                  </a:lnTo>
                  <a:lnTo>
                    <a:pt x="0" y="302170"/>
                  </a:lnTo>
                  <a:close/>
                </a:path>
              </a:pathLst>
            </a:custGeom>
            <a:blipFill>
              <a:blip r:embed="rId18">
                <a:alphaModFix amt="0"/>
              </a:blip>
              <a:stretch>
                <a:fillRect l="0" t="-3290" r="0" b="-3290"/>
              </a:stretch>
            </a:blipFill>
          </p:spPr>
        </p:sp>
        <p:sp>
          <p:nvSpPr>
            <p:cNvPr name="TextBox 233" id="233"/>
            <p:cNvSpPr txBox="true"/>
            <p:nvPr/>
          </p:nvSpPr>
          <p:spPr>
            <a:xfrm>
              <a:off x="0" y="47625"/>
              <a:ext cx="826414" cy="254546"/>
            </a:xfrm>
            <a:prstGeom prst="rect">
              <a:avLst/>
            </a:prstGeom>
          </p:spPr>
          <p:txBody>
            <a:bodyPr anchor="ctr" rtlCol="false" tIns="0" lIns="0" bIns="0" rIns="0"/>
            <a:lstStyle/>
            <a:p>
              <a:pPr algn="l">
                <a:lnSpc>
                  <a:spcPts val="1089"/>
                </a:lnSpc>
              </a:pPr>
              <a:r>
                <a:rPr lang="en-US" sz="1234" b="true">
                  <a:solidFill>
                    <a:srgbClr val="D58E91"/>
                  </a:solidFill>
                  <a:latin typeface="TT Commons Pro Bold"/>
                  <a:ea typeface="TT Commons Pro Bold"/>
                  <a:cs typeface="TT Commons Pro Bold"/>
                  <a:sym typeface="TT Commons Pro Bold"/>
                </a:rPr>
                <a:t>zomato</a:t>
              </a:r>
            </a:p>
          </p:txBody>
        </p:sp>
      </p:grpSp>
      <p:grpSp>
        <p:nvGrpSpPr>
          <p:cNvPr name="Group 234" id="234"/>
          <p:cNvGrpSpPr/>
          <p:nvPr/>
        </p:nvGrpSpPr>
        <p:grpSpPr>
          <a:xfrm rot="0">
            <a:off x="12439926" y="1779213"/>
            <a:ext cx="823979" cy="1019013"/>
            <a:chOff x="0" y="0"/>
            <a:chExt cx="1098639" cy="1358684"/>
          </a:xfrm>
        </p:grpSpPr>
        <p:sp>
          <p:nvSpPr>
            <p:cNvPr name="Freeform 235" id="235"/>
            <p:cNvSpPr/>
            <p:nvPr/>
          </p:nvSpPr>
          <p:spPr>
            <a:xfrm flipH="false" flipV="false" rot="0">
              <a:off x="0" y="0"/>
              <a:ext cx="1098677" cy="1358646"/>
            </a:xfrm>
            <a:custGeom>
              <a:avLst/>
              <a:gdLst/>
              <a:ahLst/>
              <a:cxnLst/>
              <a:rect r="r" b="b" t="t" l="l"/>
              <a:pathLst>
                <a:path h="1358646" w="1098677">
                  <a:moveTo>
                    <a:pt x="0" y="0"/>
                  </a:moveTo>
                  <a:lnTo>
                    <a:pt x="1098677" y="0"/>
                  </a:lnTo>
                  <a:lnTo>
                    <a:pt x="1098677" y="1358646"/>
                  </a:lnTo>
                  <a:lnTo>
                    <a:pt x="0" y="1358646"/>
                  </a:lnTo>
                  <a:close/>
                </a:path>
              </a:pathLst>
            </a:custGeom>
            <a:blipFill>
              <a:blip r:embed="rId17">
                <a:alphaModFix amt="0"/>
              </a:blip>
              <a:stretch>
                <a:fillRect l="-108779" t="0" r="-108775" b="-2"/>
              </a:stretch>
            </a:blipFill>
          </p:spPr>
        </p:sp>
      </p:grpSp>
      <p:grpSp>
        <p:nvGrpSpPr>
          <p:cNvPr name="Group 236" id="236"/>
          <p:cNvGrpSpPr/>
          <p:nvPr/>
        </p:nvGrpSpPr>
        <p:grpSpPr>
          <a:xfrm rot="0">
            <a:off x="12439926" y="1957807"/>
            <a:ext cx="823979" cy="840429"/>
            <a:chOff x="0" y="0"/>
            <a:chExt cx="1098639" cy="1120572"/>
          </a:xfrm>
        </p:grpSpPr>
        <p:sp>
          <p:nvSpPr>
            <p:cNvPr name="Freeform 237" id="237"/>
            <p:cNvSpPr/>
            <p:nvPr/>
          </p:nvSpPr>
          <p:spPr>
            <a:xfrm flipH="false" flipV="false" rot="0">
              <a:off x="0" y="0"/>
              <a:ext cx="1098639" cy="1120568"/>
            </a:xfrm>
            <a:custGeom>
              <a:avLst/>
              <a:gdLst/>
              <a:ahLst/>
              <a:cxnLst/>
              <a:rect r="r" b="b" t="t" l="l"/>
              <a:pathLst>
                <a:path h="1120568" w="1098639">
                  <a:moveTo>
                    <a:pt x="0" y="0"/>
                  </a:moveTo>
                  <a:lnTo>
                    <a:pt x="1098639" y="0"/>
                  </a:lnTo>
                  <a:lnTo>
                    <a:pt x="1098639" y="1120568"/>
                  </a:lnTo>
                  <a:lnTo>
                    <a:pt x="0" y="1120568"/>
                  </a:lnTo>
                  <a:close/>
                </a:path>
              </a:pathLst>
            </a:custGeom>
            <a:blipFill>
              <a:blip r:embed="rId18">
                <a:alphaModFix amt="0"/>
              </a:blip>
              <a:stretch>
                <a:fillRect l="-80865" t="0" r="-80865" b="0"/>
              </a:stretch>
            </a:blipFill>
          </p:spPr>
        </p:sp>
        <p:sp>
          <p:nvSpPr>
            <p:cNvPr name="TextBox 238" id="238"/>
            <p:cNvSpPr txBox="true"/>
            <p:nvPr/>
          </p:nvSpPr>
          <p:spPr>
            <a:xfrm>
              <a:off x="0" y="238125"/>
              <a:ext cx="1098639" cy="882447"/>
            </a:xfrm>
            <a:prstGeom prst="rect">
              <a:avLst/>
            </a:prstGeom>
          </p:spPr>
          <p:txBody>
            <a:bodyPr anchor="ctr" rtlCol="false" tIns="0" lIns="0" bIns="0" rIns="0"/>
            <a:lstStyle/>
            <a:p>
              <a:pPr algn="l">
                <a:lnSpc>
                  <a:spcPts val="3173"/>
                </a:lnSpc>
              </a:pPr>
              <a:r>
                <a:rPr lang="en-US" sz="4717" b="true">
                  <a:solidFill>
                    <a:srgbClr val="D4CFCE"/>
                  </a:solidFill>
                  <a:latin typeface="TT Commons Pro Bold"/>
                  <a:ea typeface="TT Commons Pro Bold"/>
                  <a:cs typeface="TT Commons Pro Bold"/>
                  <a:sym typeface="TT Commons Pro Bold"/>
                </a:rPr>
                <a:t>VS</a:t>
              </a:r>
            </a:p>
          </p:txBody>
        </p:sp>
      </p:grpSp>
      <p:grpSp>
        <p:nvGrpSpPr>
          <p:cNvPr name="Group 239" id="239"/>
          <p:cNvGrpSpPr/>
          <p:nvPr/>
        </p:nvGrpSpPr>
        <p:grpSpPr>
          <a:xfrm rot="0">
            <a:off x="14685816" y="3842814"/>
            <a:ext cx="211465" cy="145523"/>
            <a:chOff x="0" y="0"/>
            <a:chExt cx="281953" cy="194031"/>
          </a:xfrm>
        </p:grpSpPr>
        <p:sp>
          <p:nvSpPr>
            <p:cNvPr name="Freeform 240" id="240"/>
            <p:cNvSpPr/>
            <p:nvPr/>
          </p:nvSpPr>
          <p:spPr>
            <a:xfrm flipH="false" flipV="false" rot="0">
              <a:off x="0" y="0"/>
              <a:ext cx="281940" cy="194056"/>
            </a:xfrm>
            <a:custGeom>
              <a:avLst/>
              <a:gdLst/>
              <a:ahLst/>
              <a:cxnLst/>
              <a:rect r="r" b="b" t="t" l="l"/>
              <a:pathLst>
                <a:path h="194056" w="281940">
                  <a:moveTo>
                    <a:pt x="0" y="0"/>
                  </a:moveTo>
                  <a:lnTo>
                    <a:pt x="281940" y="0"/>
                  </a:lnTo>
                  <a:lnTo>
                    <a:pt x="281940" y="194056"/>
                  </a:lnTo>
                  <a:lnTo>
                    <a:pt x="0" y="194056"/>
                  </a:lnTo>
                  <a:close/>
                </a:path>
              </a:pathLst>
            </a:custGeom>
            <a:blipFill>
              <a:blip r:embed="rId17">
                <a:alphaModFix amt="0"/>
              </a:blip>
              <a:stretch>
                <a:fillRect l="-38355" t="0" r="-38360" b="13"/>
              </a:stretch>
            </a:blipFill>
          </p:spPr>
        </p:sp>
      </p:grpSp>
      <p:grpSp>
        <p:nvGrpSpPr>
          <p:cNvPr name="Group 241" id="241"/>
          <p:cNvGrpSpPr/>
          <p:nvPr/>
        </p:nvGrpSpPr>
        <p:grpSpPr>
          <a:xfrm rot="0">
            <a:off x="14685816" y="3857101"/>
            <a:ext cx="211465" cy="131235"/>
            <a:chOff x="0" y="0"/>
            <a:chExt cx="281953" cy="174981"/>
          </a:xfrm>
        </p:grpSpPr>
        <p:sp>
          <p:nvSpPr>
            <p:cNvPr name="Freeform 242" id="242"/>
            <p:cNvSpPr/>
            <p:nvPr/>
          </p:nvSpPr>
          <p:spPr>
            <a:xfrm flipH="false" flipV="false" rot="0">
              <a:off x="0" y="0"/>
              <a:ext cx="281953" cy="174981"/>
            </a:xfrm>
            <a:custGeom>
              <a:avLst/>
              <a:gdLst/>
              <a:ahLst/>
              <a:cxnLst/>
              <a:rect r="r" b="b" t="t" l="l"/>
              <a:pathLst>
                <a:path h="174981" w="281953">
                  <a:moveTo>
                    <a:pt x="0" y="0"/>
                  </a:moveTo>
                  <a:lnTo>
                    <a:pt x="281953" y="0"/>
                  </a:lnTo>
                  <a:lnTo>
                    <a:pt x="281953" y="174981"/>
                  </a:lnTo>
                  <a:lnTo>
                    <a:pt x="0" y="174981"/>
                  </a:lnTo>
                  <a:close/>
                </a:path>
              </a:pathLst>
            </a:custGeom>
            <a:blipFill>
              <a:blip r:embed="rId18">
                <a:alphaModFix amt="0"/>
              </a:blip>
              <a:stretch>
                <a:fillRect l="-29625" t="0" r="-29625" b="0"/>
              </a:stretch>
            </a:blipFill>
          </p:spPr>
        </p:sp>
        <p:sp>
          <p:nvSpPr>
            <p:cNvPr name="TextBox 243" id="243"/>
            <p:cNvSpPr txBox="true"/>
            <p:nvPr/>
          </p:nvSpPr>
          <p:spPr>
            <a:xfrm>
              <a:off x="0" y="19050"/>
              <a:ext cx="281953" cy="155931"/>
            </a:xfrm>
            <a:prstGeom prst="rect">
              <a:avLst/>
            </a:prstGeom>
          </p:spPr>
          <p:txBody>
            <a:bodyPr anchor="ctr" rtlCol="false" tIns="0" lIns="0" bIns="0" rIns="0"/>
            <a:lstStyle/>
            <a:p>
              <a:pPr algn="l">
                <a:lnSpc>
                  <a:spcPts val="573"/>
                </a:lnSpc>
              </a:pPr>
              <a:r>
                <a:rPr lang="en-US" sz="699">
                  <a:solidFill>
                    <a:srgbClr val="746F71"/>
                  </a:solidFill>
                  <a:latin typeface="TT Commons Pro"/>
                  <a:ea typeface="TT Commons Pro"/>
                  <a:cs typeface="TT Commons Pro"/>
                  <a:sym typeface="TT Commons Pro"/>
                </a:rPr>
                <a:t>.15</a:t>
              </a:r>
            </a:p>
          </p:txBody>
        </p:sp>
      </p:grpSp>
      <p:grpSp>
        <p:nvGrpSpPr>
          <p:cNvPr name="Group 244" id="244"/>
          <p:cNvGrpSpPr/>
          <p:nvPr/>
        </p:nvGrpSpPr>
        <p:grpSpPr>
          <a:xfrm rot="0">
            <a:off x="14685816" y="3492808"/>
            <a:ext cx="204168" cy="109395"/>
            <a:chOff x="0" y="0"/>
            <a:chExt cx="272224" cy="145860"/>
          </a:xfrm>
        </p:grpSpPr>
        <p:sp>
          <p:nvSpPr>
            <p:cNvPr name="Freeform 245" id="245"/>
            <p:cNvSpPr/>
            <p:nvPr/>
          </p:nvSpPr>
          <p:spPr>
            <a:xfrm flipH="false" flipV="false" rot="0">
              <a:off x="0" y="0"/>
              <a:ext cx="272288" cy="145796"/>
            </a:xfrm>
            <a:custGeom>
              <a:avLst/>
              <a:gdLst/>
              <a:ahLst/>
              <a:cxnLst/>
              <a:rect r="r" b="b" t="t" l="l"/>
              <a:pathLst>
                <a:path h="145796" w="272288">
                  <a:moveTo>
                    <a:pt x="0" y="0"/>
                  </a:moveTo>
                  <a:lnTo>
                    <a:pt x="272288" y="0"/>
                  </a:lnTo>
                  <a:lnTo>
                    <a:pt x="272288" y="145796"/>
                  </a:lnTo>
                  <a:lnTo>
                    <a:pt x="0" y="145796"/>
                  </a:lnTo>
                  <a:close/>
                </a:path>
              </a:pathLst>
            </a:custGeom>
            <a:blipFill>
              <a:blip r:embed="rId17">
                <a:alphaModFix amt="0"/>
              </a:blip>
              <a:stretch>
                <a:fillRect l="-18787" t="0" r="-18768" b="-43"/>
              </a:stretch>
            </a:blipFill>
          </p:spPr>
        </p:sp>
      </p:grpSp>
      <p:grpSp>
        <p:nvGrpSpPr>
          <p:cNvPr name="Group 246" id="246"/>
          <p:cNvGrpSpPr/>
          <p:nvPr/>
        </p:nvGrpSpPr>
        <p:grpSpPr>
          <a:xfrm rot="0">
            <a:off x="14685816" y="3499952"/>
            <a:ext cx="204168" cy="102251"/>
            <a:chOff x="0" y="0"/>
            <a:chExt cx="272224" cy="136334"/>
          </a:xfrm>
        </p:grpSpPr>
        <p:sp>
          <p:nvSpPr>
            <p:cNvPr name="Freeform 247" id="247"/>
            <p:cNvSpPr/>
            <p:nvPr/>
          </p:nvSpPr>
          <p:spPr>
            <a:xfrm flipH="false" flipV="false" rot="0">
              <a:off x="0" y="0"/>
              <a:ext cx="272224" cy="136332"/>
            </a:xfrm>
            <a:custGeom>
              <a:avLst/>
              <a:gdLst/>
              <a:ahLst/>
              <a:cxnLst/>
              <a:rect r="r" b="b" t="t" l="l"/>
              <a:pathLst>
                <a:path h="136332" w="272224">
                  <a:moveTo>
                    <a:pt x="0" y="0"/>
                  </a:moveTo>
                  <a:lnTo>
                    <a:pt x="272224" y="0"/>
                  </a:lnTo>
                  <a:lnTo>
                    <a:pt x="272224" y="136332"/>
                  </a:lnTo>
                  <a:lnTo>
                    <a:pt x="0" y="136332"/>
                  </a:lnTo>
                  <a:close/>
                </a:path>
              </a:pathLst>
            </a:custGeom>
            <a:blipFill>
              <a:blip r:embed="rId18">
                <a:alphaModFix amt="0"/>
              </a:blip>
              <a:stretch>
                <a:fillRect l="-14256" t="0" r="-14256" b="-1"/>
              </a:stretch>
            </a:blipFill>
          </p:spPr>
        </p:sp>
        <p:sp>
          <p:nvSpPr>
            <p:cNvPr name="TextBox 248" id="248"/>
            <p:cNvSpPr txBox="true"/>
            <p:nvPr/>
          </p:nvSpPr>
          <p:spPr>
            <a:xfrm>
              <a:off x="0" y="9525"/>
              <a:ext cx="272224" cy="126809"/>
            </a:xfrm>
            <a:prstGeom prst="rect">
              <a:avLst/>
            </a:prstGeom>
          </p:spPr>
          <p:txBody>
            <a:bodyPr anchor="ctr" rtlCol="false" tIns="0" lIns="0" bIns="0" rIns="0"/>
            <a:lstStyle/>
            <a:p>
              <a:pPr algn="l">
                <a:lnSpc>
                  <a:spcPts val="528"/>
                </a:lnSpc>
              </a:pPr>
              <a:r>
                <a:rPr lang="en-US" sz="506" b="true">
                  <a:solidFill>
                    <a:srgbClr val="757270"/>
                  </a:solidFill>
                  <a:latin typeface="TT Commons Pro Bold"/>
                  <a:ea typeface="TT Commons Pro Bold"/>
                  <a:cs typeface="TT Commons Pro Bold"/>
                  <a:sym typeface="TT Commons Pro Bold"/>
                </a:rPr>
                <a:t>ర్ తెలి</a:t>
              </a:r>
            </a:p>
          </p:txBody>
        </p:sp>
      </p:grpSp>
      <p:grpSp>
        <p:nvGrpSpPr>
          <p:cNvPr name="Group 249" id="249"/>
          <p:cNvGrpSpPr/>
          <p:nvPr/>
        </p:nvGrpSpPr>
        <p:grpSpPr>
          <a:xfrm rot="0">
            <a:off x="14255601" y="3850110"/>
            <a:ext cx="211465" cy="121653"/>
            <a:chOff x="0" y="0"/>
            <a:chExt cx="281953" cy="162204"/>
          </a:xfrm>
        </p:grpSpPr>
        <p:sp>
          <p:nvSpPr>
            <p:cNvPr name="Freeform 250" id="250"/>
            <p:cNvSpPr/>
            <p:nvPr/>
          </p:nvSpPr>
          <p:spPr>
            <a:xfrm flipH="false" flipV="false" rot="0">
              <a:off x="0" y="0"/>
              <a:ext cx="281940" cy="162179"/>
            </a:xfrm>
            <a:custGeom>
              <a:avLst/>
              <a:gdLst/>
              <a:ahLst/>
              <a:cxnLst/>
              <a:rect r="r" b="b" t="t" l="l"/>
              <a:pathLst>
                <a:path h="162179" w="281940">
                  <a:moveTo>
                    <a:pt x="0" y="0"/>
                  </a:moveTo>
                  <a:lnTo>
                    <a:pt x="281940" y="0"/>
                  </a:lnTo>
                  <a:lnTo>
                    <a:pt x="281940" y="162179"/>
                  </a:lnTo>
                  <a:lnTo>
                    <a:pt x="0" y="162179"/>
                  </a:lnTo>
                  <a:close/>
                </a:path>
              </a:pathLst>
            </a:custGeom>
            <a:blipFill>
              <a:blip r:embed="rId17">
                <a:alphaModFix amt="0"/>
              </a:blip>
              <a:stretch>
                <a:fillRect l="-23864" t="0" r="-23873" b="-15"/>
              </a:stretch>
            </a:blipFill>
          </p:spPr>
        </p:sp>
      </p:grpSp>
      <p:grpSp>
        <p:nvGrpSpPr>
          <p:cNvPr name="Group 251" id="251"/>
          <p:cNvGrpSpPr/>
          <p:nvPr/>
        </p:nvGrpSpPr>
        <p:grpSpPr>
          <a:xfrm rot="0">
            <a:off x="14255601" y="3842966"/>
            <a:ext cx="211465" cy="128807"/>
            <a:chOff x="0" y="0"/>
            <a:chExt cx="281953" cy="171742"/>
          </a:xfrm>
        </p:grpSpPr>
        <p:sp>
          <p:nvSpPr>
            <p:cNvPr name="Freeform 252" id="252"/>
            <p:cNvSpPr/>
            <p:nvPr/>
          </p:nvSpPr>
          <p:spPr>
            <a:xfrm flipH="false" flipV="false" rot="0">
              <a:off x="0" y="0"/>
              <a:ext cx="281953" cy="171740"/>
            </a:xfrm>
            <a:custGeom>
              <a:avLst/>
              <a:gdLst/>
              <a:ahLst/>
              <a:cxnLst/>
              <a:rect r="r" b="b" t="t" l="l"/>
              <a:pathLst>
                <a:path h="171740" w="281953">
                  <a:moveTo>
                    <a:pt x="0" y="0"/>
                  </a:moveTo>
                  <a:lnTo>
                    <a:pt x="281953" y="0"/>
                  </a:lnTo>
                  <a:lnTo>
                    <a:pt x="281953" y="171740"/>
                  </a:lnTo>
                  <a:lnTo>
                    <a:pt x="0" y="171740"/>
                  </a:lnTo>
                  <a:close/>
                </a:path>
              </a:pathLst>
            </a:custGeom>
            <a:blipFill>
              <a:blip r:embed="rId18">
                <a:alphaModFix amt="0"/>
              </a:blip>
              <a:stretch>
                <a:fillRect l="-28151" t="0" r="-28151" b="-1"/>
              </a:stretch>
            </a:blipFill>
          </p:spPr>
        </p:sp>
        <p:sp>
          <p:nvSpPr>
            <p:cNvPr name="TextBox 253" id="253"/>
            <p:cNvSpPr txBox="true"/>
            <p:nvPr/>
          </p:nvSpPr>
          <p:spPr>
            <a:xfrm>
              <a:off x="0" y="0"/>
              <a:ext cx="281953" cy="171742"/>
            </a:xfrm>
            <a:prstGeom prst="rect">
              <a:avLst/>
            </a:prstGeom>
          </p:spPr>
          <p:txBody>
            <a:bodyPr anchor="ctr" rtlCol="false" tIns="0" lIns="0" bIns="0" rIns="0"/>
            <a:lstStyle/>
            <a:p>
              <a:pPr algn="l">
                <a:lnSpc>
                  <a:spcPts val="699"/>
                </a:lnSpc>
              </a:pPr>
              <a:r>
                <a:rPr lang="en-US" sz="576" b="true">
                  <a:solidFill>
                    <a:srgbClr val="66625E"/>
                  </a:solidFill>
                  <a:latin typeface="TT Commons Pro Bold"/>
                  <a:ea typeface="TT Commons Pro Bold"/>
                  <a:cs typeface="TT Commons Pro Bold"/>
                  <a:sym typeface="TT Commons Pro Bold"/>
                </a:rPr>
                <a:t>రిలెటి</a:t>
              </a:r>
            </a:p>
          </p:txBody>
        </p:sp>
      </p:grpSp>
      <p:grpSp>
        <p:nvGrpSpPr>
          <p:cNvPr name="Group 254" id="254"/>
          <p:cNvGrpSpPr/>
          <p:nvPr/>
        </p:nvGrpSpPr>
        <p:grpSpPr>
          <a:xfrm rot="0">
            <a:off x="13737879" y="3850110"/>
            <a:ext cx="211465" cy="187195"/>
            <a:chOff x="0" y="0"/>
            <a:chExt cx="281953" cy="249593"/>
          </a:xfrm>
        </p:grpSpPr>
        <p:sp>
          <p:nvSpPr>
            <p:cNvPr name="Freeform 255" id="255"/>
            <p:cNvSpPr/>
            <p:nvPr/>
          </p:nvSpPr>
          <p:spPr>
            <a:xfrm flipH="false" flipV="false" rot="0">
              <a:off x="0" y="0"/>
              <a:ext cx="281940" cy="249555"/>
            </a:xfrm>
            <a:custGeom>
              <a:avLst/>
              <a:gdLst/>
              <a:ahLst/>
              <a:cxnLst/>
              <a:rect r="r" b="b" t="t" l="l"/>
              <a:pathLst>
                <a:path h="249555" w="281940">
                  <a:moveTo>
                    <a:pt x="0" y="0"/>
                  </a:moveTo>
                  <a:lnTo>
                    <a:pt x="281940" y="0"/>
                  </a:lnTo>
                  <a:lnTo>
                    <a:pt x="281940" y="249555"/>
                  </a:lnTo>
                  <a:lnTo>
                    <a:pt x="0" y="249555"/>
                  </a:lnTo>
                  <a:close/>
                </a:path>
              </a:pathLst>
            </a:custGeom>
            <a:blipFill>
              <a:blip r:embed="rId17">
                <a:alphaModFix amt="0"/>
              </a:blip>
              <a:stretch>
                <a:fillRect l="-63657" t="0" r="-63662" b="-15"/>
              </a:stretch>
            </a:blipFill>
          </p:spPr>
        </p:sp>
      </p:grpSp>
      <p:grpSp>
        <p:nvGrpSpPr>
          <p:cNvPr name="Group 256" id="256"/>
          <p:cNvGrpSpPr/>
          <p:nvPr/>
        </p:nvGrpSpPr>
        <p:grpSpPr>
          <a:xfrm rot="0">
            <a:off x="13737879" y="3871541"/>
            <a:ext cx="211465" cy="165754"/>
            <a:chOff x="0" y="0"/>
            <a:chExt cx="281953" cy="221005"/>
          </a:xfrm>
        </p:grpSpPr>
        <p:sp>
          <p:nvSpPr>
            <p:cNvPr name="Freeform 257" id="257"/>
            <p:cNvSpPr/>
            <p:nvPr/>
          </p:nvSpPr>
          <p:spPr>
            <a:xfrm flipH="false" flipV="false" rot="0">
              <a:off x="0" y="0"/>
              <a:ext cx="281953" cy="221012"/>
            </a:xfrm>
            <a:custGeom>
              <a:avLst/>
              <a:gdLst/>
              <a:ahLst/>
              <a:cxnLst/>
              <a:rect r="r" b="b" t="t" l="l"/>
              <a:pathLst>
                <a:path h="221012" w="281953">
                  <a:moveTo>
                    <a:pt x="0" y="0"/>
                  </a:moveTo>
                  <a:lnTo>
                    <a:pt x="281953" y="0"/>
                  </a:lnTo>
                  <a:lnTo>
                    <a:pt x="281953" y="221012"/>
                  </a:lnTo>
                  <a:lnTo>
                    <a:pt x="0" y="221012"/>
                  </a:lnTo>
                  <a:close/>
                </a:path>
              </a:pathLst>
            </a:custGeom>
            <a:blipFill>
              <a:blip r:embed="rId18">
                <a:alphaModFix amt="0"/>
              </a:blip>
              <a:stretch>
                <a:fillRect l="-50569" t="0" r="-50568" b="2"/>
              </a:stretch>
            </a:blipFill>
          </p:spPr>
        </p:sp>
        <p:sp>
          <p:nvSpPr>
            <p:cNvPr name="TextBox 258" id="258"/>
            <p:cNvSpPr txBox="true"/>
            <p:nvPr/>
          </p:nvSpPr>
          <p:spPr>
            <a:xfrm>
              <a:off x="0" y="28575"/>
              <a:ext cx="281953" cy="192430"/>
            </a:xfrm>
            <a:prstGeom prst="rect">
              <a:avLst/>
            </a:prstGeom>
          </p:spPr>
          <p:txBody>
            <a:bodyPr anchor="ctr" rtlCol="false" tIns="0" lIns="0" bIns="0" rIns="0"/>
            <a:lstStyle/>
            <a:p>
              <a:pPr algn="l">
                <a:lnSpc>
                  <a:spcPts val="725"/>
                </a:lnSpc>
              </a:pPr>
              <a:r>
                <a:rPr lang="en-US" sz="893">
                  <a:solidFill>
                    <a:srgbClr val="706C6B"/>
                  </a:solidFill>
                  <a:latin typeface="TT Commons Pro"/>
                  <a:ea typeface="TT Commons Pro"/>
                  <a:cs typeface="TT Commons Pro"/>
                  <a:sym typeface="TT Commons Pro"/>
                </a:rPr>
                <a:t>రె రె</a:t>
              </a:r>
            </a:p>
          </p:txBody>
        </p:sp>
      </p:grpSp>
      <p:grpSp>
        <p:nvGrpSpPr>
          <p:cNvPr name="Group 259" id="259"/>
          <p:cNvGrpSpPr/>
          <p:nvPr/>
        </p:nvGrpSpPr>
        <p:grpSpPr>
          <a:xfrm rot="0">
            <a:off x="13737879" y="3500095"/>
            <a:ext cx="211465" cy="87497"/>
            <a:chOff x="0" y="0"/>
            <a:chExt cx="281953" cy="116662"/>
          </a:xfrm>
        </p:grpSpPr>
        <p:sp>
          <p:nvSpPr>
            <p:cNvPr name="Freeform 260" id="260"/>
            <p:cNvSpPr/>
            <p:nvPr/>
          </p:nvSpPr>
          <p:spPr>
            <a:xfrm flipH="false" flipV="false" rot="0">
              <a:off x="0" y="0"/>
              <a:ext cx="281940" cy="116713"/>
            </a:xfrm>
            <a:custGeom>
              <a:avLst/>
              <a:gdLst/>
              <a:ahLst/>
              <a:cxnLst/>
              <a:rect r="r" b="b" t="t" l="l"/>
              <a:pathLst>
                <a:path h="116713" w="281940">
                  <a:moveTo>
                    <a:pt x="0" y="0"/>
                  </a:moveTo>
                  <a:lnTo>
                    <a:pt x="281940" y="0"/>
                  </a:lnTo>
                  <a:lnTo>
                    <a:pt x="281940" y="116713"/>
                  </a:lnTo>
                  <a:lnTo>
                    <a:pt x="0" y="116713"/>
                  </a:lnTo>
                  <a:close/>
                </a:path>
              </a:pathLst>
            </a:custGeom>
            <a:blipFill>
              <a:blip r:embed="rId17">
                <a:alphaModFix amt="0"/>
              </a:blip>
              <a:stretch>
                <a:fillRect l="-3126" t="0" r="-3130" b="43"/>
              </a:stretch>
            </a:blipFill>
          </p:spPr>
        </p:sp>
      </p:grpSp>
      <p:grpSp>
        <p:nvGrpSpPr>
          <p:cNvPr name="Group 261" id="261"/>
          <p:cNvGrpSpPr/>
          <p:nvPr/>
        </p:nvGrpSpPr>
        <p:grpSpPr>
          <a:xfrm rot="0">
            <a:off x="13737879" y="3492951"/>
            <a:ext cx="211465" cy="94650"/>
            <a:chOff x="0" y="0"/>
            <a:chExt cx="281953" cy="126200"/>
          </a:xfrm>
        </p:grpSpPr>
        <p:sp>
          <p:nvSpPr>
            <p:cNvPr name="Freeform 262" id="262"/>
            <p:cNvSpPr/>
            <p:nvPr/>
          </p:nvSpPr>
          <p:spPr>
            <a:xfrm flipH="false" flipV="false" rot="0">
              <a:off x="0" y="0"/>
              <a:ext cx="281953" cy="126194"/>
            </a:xfrm>
            <a:custGeom>
              <a:avLst/>
              <a:gdLst/>
              <a:ahLst/>
              <a:cxnLst/>
              <a:rect r="r" b="b" t="t" l="l"/>
              <a:pathLst>
                <a:path h="126194" w="281953">
                  <a:moveTo>
                    <a:pt x="0" y="0"/>
                  </a:moveTo>
                  <a:lnTo>
                    <a:pt x="281953" y="0"/>
                  </a:lnTo>
                  <a:lnTo>
                    <a:pt x="281953" y="126194"/>
                  </a:lnTo>
                  <a:lnTo>
                    <a:pt x="0" y="126194"/>
                  </a:lnTo>
                  <a:close/>
                </a:path>
              </a:pathLst>
            </a:custGeom>
            <a:blipFill>
              <a:blip r:embed="rId18">
                <a:alphaModFix amt="0"/>
              </a:blip>
              <a:stretch>
                <a:fillRect l="-7427" t="0" r="-7427" b="-4"/>
              </a:stretch>
            </a:blipFill>
          </p:spPr>
        </p:sp>
        <p:sp>
          <p:nvSpPr>
            <p:cNvPr name="TextBox 263" id="263"/>
            <p:cNvSpPr txBox="true"/>
            <p:nvPr/>
          </p:nvSpPr>
          <p:spPr>
            <a:xfrm>
              <a:off x="0" y="-9525"/>
              <a:ext cx="281953" cy="135725"/>
            </a:xfrm>
            <a:prstGeom prst="rect">
              <a:avLst/>
            </a:prstGeom>
          </p:spPr>
          <p:txBody>
            <a:bodyPr anchor="ctr" rtlCol="false" tIns="0" lIns="0" bIns="0" rIns="0"/>
            <a:lstStyle/>
            <a:p>
              <a:pPr algn="l">
                <a:lnSpc>
                  <a:spcPts val="449"/>
                </a:lnSpc>
              </a:pPr>
              <a:r>
                <a:rPr lang="en-US" sz="393" b="true">
                  <a:solidFill>
                    <a:srgbClr val="777471"/>
                  </a:solidFill>
                  <a:latin typeface="TT Commons Pro Bold"/>
                  <a:ea typeface="TT Commons Pro Bold"/>
                  <a:cs typeface="TT Commons Pro Bold"/>
                  <a:sym typeface="TT Commons Pro Bold"/>
                </a:rPr>
                <a:t>ర్ తెలిపి</a:t>
              </a:r>
            </a:p>
          </p:txBody>
        </p:sp>
      </p:grpSp>
      <p:grpSp>
        <p:nvGrpSpPr>
          <p:cNvPr name="Group 264" id="264"/>
          <p:cNvGrpSpPr/>
          <p:nvPr/>
        </p:nvGrpSpPr>
        <p:grpSpPr>
          <a:xfrm rot="0">
            <a:off x="13686834" y="3215716"/>
            <a:ext cx="1334414" cy="208855"/>
            <a:chOff x="0" y="0"/>
            <a:chExt cx="1779219" cy="278473"/>
          </a:xfrm>
        </p:grpSpPr>
        <p:sp>
          <p:nvSpPr>
            <p:cNvPr name="Freeform 265" id="265"/>
            <p:cNvSpPr/>
            <p:nvPr/>
          </p:nvSpPr>
          <p:spPr>
            <a:xfrm flipH="false" flipV="false" rot="0">
              <a:off x="0" y="0"/>
              <a:ext cx="1779270" cy="278511"/>
            </a:xfrm>
            <a:custGeom>
              <a:avLst/>
              <a:gdLst/>
              <a:ahLst/>
              <a:cxnLst/>
              <a:rect r="r" b="b" t="t" l="l"/>
              <a:pathLst>
                <a:path h="278511" w="1779270">
                  <a:moveTo>
                    <a:pt x="0" y="0"/>
                  </a:moveTo>
                  <a:lnTo>
                    <a:pt x="1779270" y="0"/>
                  </a:lnTo>
                  <a:lnTo>
                    <a:pt x="1779270" y="278511"/>
                  </a:lnTo>
                  <a:lnTo>
                    <a:pt x="0" y="278511"/>
                  </a:lnTo>
                  <a:close/>
                </a:path>
              </a:pathLst>
            </a:custGeom>
            <a:blipFill>
              <a:blip r:embed="rId17">
                <a:alphaModFix amt="0"/>
              </a:blip>
              <a:stretch>
                <a:fillRect l="0" t="-74395" r="2" b="-74382"/>
              </a:stretch>
            </a:blipFill>
          </p:spPr>
        </p:sp>
      </p:grpSp>
      <p:grpSp>
        <p:nvGrpSpPr>
          <p:cNvPr name="Group 266" id="266"/>
          <p:cNvGrpSpPr/>
          <p:nvPr/>
        </p:nvGrpSpPr>
        <p:grpSpPr>
          <a:xfrm rot="0">
            <a:off x="13686834" y="3230004"/>
            <a:ext cx="1334414" cy="194567"/>
            <a:chOff x="0" y="0"/>
            <a:chExt cx="1779219" cy="259423"/>
          </a:xfrm>
        </p:grpSpPr>
        <p:sp>
          <p:nvSpPr>
            <p:cNvPr name="Freeform 267" id="267"/>
            <p:cNvSpPr/>
            <p:nvPr/>
          </p:nvSpPr>
          <p:spPr>
            <a:xfrm flipH="false" flipV="false" rot="0">
              <a:off x="0" y="0"/>
              <a:ext cx="1779219" cy="259422"/>
            </a:xfrm>
            <a:custGeom>
              <a:avLst/>
              <a:gdLst/>
              <a:ahLst/>
              <a:cxnLst/>
              <a:rect r="r" b="b" t="t" l="l"/>
              <a:pathLst>
                <a:path h="259422" w="1779219">
                  <a:moveTo>
                    <a:pt x="0" y="0"/>
                  </a:moveTo>
                  <a:lnTo>
                    <a:pt x="1779219" y="0"/>
                  </a:lnTo>
                  <a:lnTo>
                    <a:pt x="1779219" y="259422"/>
                  </a:lnTo>
                  <a:lnTo>
                    <a:pt x="0" y="259422"/>
                  </a:lnTo>
                  <a:close/>
                </a:path>
              </a:pathLst>
            </a:custGeom>
            <a:blipFill>
              <a:blip r:embed="rId18">
                <a:alphaModFix amt="0"/>
              </a:blip>
              <a:stretch>
                <a:fillRect l="0" t="-83635" r="0" b="-83636"/>
              </a:stretch>
            </a:blipFill>
          </p:spPr>
        </p:sp>
        <p:sp>
          <p:nvSpPr>
            <p:cNvPr name="TextBox 268" id="268"/>
            <p:cNvSpPr txBox="true"/>
            <p:nvPr/>
          </p:nvSpPr>
          <p:spPr>
            <a:xfrm>
              <a:off x="0" y="19050"/>
              <a:ext cx="1779219" cy="240373"/>
            </a:xfrm>
            <a:prstGeom prst="rect">
              <a:avLst/>
            </a:prstGeom>
          </p:spPr>
          <p:txBody>
            <a:bodyPr anchor="ctr" rtlCol="false" tIns="0" lIns="0" bIns="0" rIns="0"/>
            <a:lstStyle/>
            <a:p>
              <a:pPr algn="l">
                <a:lnSpc>
                  <a:spcPts val="976"/>
                </a:lnSpc>
              </a:pPr>
              <a:r>
                <a:rPr lang="en-US" sz="964">
                  <a:solidFill>
                    <a:srgbClr val="706E6B"/>
                  </a:solidFill>
                  <a:latin typeface="TT Commons Pro"/>
                  <a:ea typeface="TT Commons Pro"/>
                  <a:cs typeface="TT Commons Pro"/>
                  <a:sym typeface="TT Commons Pro"/>
                </a:rPr>
                <a:t>Top Rated Restaurants</a:t>
              </a:r>
            </a:p>
          </p:txBody>
        </p:sp>
      </p:grpSp>
      <p:grpSp>
        <p:nvGrpSpPr>
          <p:cNvPr name="Group 269" id="269"/>
          <p:cNvGrpSpPr/>
          <p:nvPr/>
        </p:nvGrpSpPr>
        <p:grpSpPr>
          <a:xfrm rot="0">
            <a:off x="13927465" y="1487538"/>
            <a:ext cx="1013565" cy="163506"/>
            <a:chOff x="0" y="0"/>
            <a:chExt cx="1351420" cy="218008"/>
          </a:xfrm>
        </p:grpSpPr>
        <p:sp>
          <p:nvSpPr>
            <p:cNvPr name="Freeform 270" id="270"/>
            <p:cNvSpPr/>
            <p:nvPr/>
          </p:nvSpPr>
          <p:spPr>
            <a:xfrm flipH="false" flipV="false" rot="0">
              <a:off x="0" y="0"/>
              <a:ext cx="1351407" cy="218059"/>
            </a:xfrm>
            <a:custGeom>
              <a:avLst/>
              <a:gdLst/>
              <a:ahLst/>
              <a:cxnLst/>
              <a:rect r="r" b="b" t="t" l="l"/>
              <a:pathLst>
                <a:path h="218059" w="1351407">
                  <a:moveTo>
                    <a:pt x="0" y="0"/>
                  </a:moveTo>
                  <a:lnTo>
                    <a:pt x="1351407" y="0"/>
                  </a:lnTo>
                  <a:lnTo>
                    <a:pt x="1351407" y="218059"/>
                  </a:lnTo>
                  <a:lnTo>
                    <a:pt x="0" y="218059"/>
                  </a:lnTo>
                  <a:close/>
                </a:path>
              </a:pathLst>
            </a:custGeom>
            <a:blipFill>
              <a:blip r:embed="rId17">
                <a:alphaModFix amt="0"/>
              </a:blip>
              <a:stretch>
                <a:fillRect l="0" t="-70687" r="0" b="-70663"/>
              </a:stretch>
            </a:blipFill>
          </p:spPr>
        </p:sp>
      </p:grpSp>
      <p:grpSp>
        <p:nvGrpSpPr>
          <p:cNvPr name="Group 271" id="271"/>
          <p:cNvGrpSpPr/>
          <p:nvPr/>
        </p:nvGrpSpPr>
        <p:grpSpPr>
          <a:xfrm rot="0">
            <a:off x="13927465" y="1487538"/>
            <a:ext cx="1013565" cy="163506"/>
            <a:chOff x="0" y="0"/>
            <a:chExt cx="1351420" cy="218008"/>
          </a:xfrm>
        </p:grpSpPr>
        <p:sp>
          <p:nvSpPr>
            <p:cNvPr name="Freeform 272" id="272"/>
            <p:cNvSpPr/>
            <p:nvPr/>
          </p:nvSpPr>
          <p:spPr>
            <a:xfrm flipH="false" flipV="false" rot="0">
              <a:off x="0" y="0"/>
              <a:ext cx="1351420" cy="218011"/>
            </a:xfrm>
            <a:custGeom>
              <a:avLst/>
              <a:gdLst/>
              <a:ahLst/>
              <a:cxnLst/>
              <a:rect r="r" b="b" t="t" l="l"/>
              <a:pathLst>
                <a:path h="218011" w="1351420">
                  <a:moveTo>
                    <a:pt x="0" y="0"/>
                  </a:moveTo>
                  <a:lnTo>
                    <a:pt x="1351420" y="0"/>
                  </a:lnTo>
                  <a:lnTo>
                    <a:pt x="1351420" y="218011"/>
                  </a:lnTo>
                  <a:lnTo>
                    <a:pt x="0" y="218011"/>
                  </a:lnTo>
                  <a:close/>
                </a:path>
              </a:pathLst>
            </a:custGeom>
            <a:blipFill>
              <a:blip r:embed="rId18">
                <a:alphaModFix amt="0"/>
              </a:blip>
              <a:stretch>
                <a:fillRect l="0" t="-70785" r="0" b="-70784"/>
              </a:stretch>
            </a:blipFill>
          </p:spPr>
        </p:sp>
        <p:sp>
          <p:nvSpPr>
            <p:cNvPr name="TextBox 273" id="273"/>
            <p:cNvSpPr txBox="true"/>
            <p:nvPr/>
          </p:nvSpPr>
          <p:spPr>
            <a:xfrm>
              <a:off x="0" y="0"/>
              <a:ext cx="1351420" cy="218008"/>
            </a:xfrm>
            <a:prstGeom prst="rect">
              <a:avLst/>
            </a:prstGeom>
          </p:spPr>
          <p:txBody>
            <a:bodyPr anchor="ctr" rtlCol="false" tIns="0" lIns="0" bIns="0" rIns="0"/>
            <a:lstStyle/>
            <a:p>
              <a:pPr algn="l">
                <a:lnSpc>
                  <a:spcPts val="802"/>
                </a:lnSpc>
              </a:pPr>
              <a:r>
                <a:rPr lang="en-US" sz="786">
                  <a:solidFill>
                    <a:srgbClr val="BFBDBB"/>
                  </a:solidFill>
                  <a:latin typeface="TT Commons Pro"/>
                  <a:ea typeface="TT Commons Pro"/>
                  <a:cs typeface="TT Commons Pro"/>
                  <a:sym typeface="TT Commons Pro"/>
                </a:rPr>
                <a:t>Search for restaurarts</a:t>
              </a:r>
            </a:p>
          </p:txBody>
        </p:sp>
      </p:grpSp>
      <p:grpSp>
        <p:nvGrpSpPr>
          <p:cNvPr name="Group 274" id="274"/>
          <p:cNvGrpSpPr/>
          <p:nvPr/>
        </p:nvGrpSpPr>
        <p:grpSpPr>
          <a:xfrm rot="0">
            <a:off x="13956630" y="889606"/>
            <a:ext cx="1276074" cy="576034"/>
            <a:chOff x="0" y="0"/>
            <a:chExt cx="1701432" cy="768045"/>
          </a:xfrm>
        </p:grpSpPr>
        <p:sp>
          <p:nvSpPr>
            <p:cNvPr name="Freeform 275" id="275"/>
            <p:cNvSpPr/>
            <p:nvPr/>
          </p:nvSpPr>
          <p:spPr>
            <a:xfrm flipH="false" flipV="false" rot="0">
              <a:off x="0" y="0"/>
              <a:ext cx="1701419" cy="768096"/>
            </a:xfrm>
            <a:custGeom>
              <a:avLst/>
              <a:gdLst/>
              <a:ahLst/>
              <a:cxnLst/>
              <a:rect r="r" b="b" t="t" l="l"/>
              <a:pathLst>
                <a:path h="768096" w="1701419">
                  <a:moveTo>
                    <a:pt x="0" y="0"/>
                  </a:moveTo>
                  <a:lnTo>
                    <a:pt x="1701419" y="0"/>
                  </a:lnTo>
                  <a:lnTo>
                    <a:pt x="1701419" y="768096"/>
                  </a:lnTo>
                  <a:lnTo>
                    <a:pt x="0" y="768096"/>
                  </a:lnTo>
                  <a:close/>
                </a:path>
              </a:pathLst>
            </a:custGeom>
            <a:blipFill>
              <a:blip r:embed="rId17">
                <a:alphaModFix amt="0"/>
              </a:blip>
              <a:stretch>
                <a:fillRect l="-7957" t="0" r="-7958" b="6"/>
              </a:stretch>
            </a:blipFill>
          </p:spPr>
        </p:sp>
      </p:grpSp>
      <p:grpSp>
        <p:nvGrpSpPr>
          <p:cNvPr name="Group 276" id="276"/>
          <p:cNvGrpSpPr/>
          <p:nvPr/>
        </p:nvGrpSpPr>
        <p:grpSpPr>
          <a:xfrm rot="0">
            <a:off x="13956630" y="982475"/>
            <a:ext cx="1276074" cy="483165"/>
            <a:chOff x="0" y="0"/>
            <a:chExt cx="1701432" cy="644220"/>
          </a:xfrm>
        </p:grpSpPr>
        <p:sp>
          <p:nvSpPr>
            <p:cNvPr name="Freeform 277" id="277"/>
            <p:cNvSpPr/>
            <p:nvPr/>
          </p:nvSpPr>
          <p:spPr>
            <a:xfrm flipH="false" flipV="false" rot="0">
              <a:off x="0" y="0"/>
              <a:ext cx="1701432" cy="644219"/>
            </a:xfrm>
            <a:custGeom>
              <a:avLst/>
              <a:gdLst/>
              <a:ahLst/>
              <a:cxnLst/>
              <a:rect r="r" b="b" t="t" l="l"/>
              <a:pathLst>
                <a:path h="644219" w="1701432">
                  <a:moveTo>
                    <a:pt x="0" y="0"/>
                  </a:moveTo>
                  <a:lnTo>
                    <a:pt x="1701432" y="0"/>
                  </a:lnTo>
                  <a:lnTo>
                    <a:pt x="1701432" y="644219"/>
                  </a:lnTo>
                  <a:lnTo>
                    <a:pt x="0" y="644219"/>
                  </a:lnTo>
                  <a:close/>
                </a:path>
              </a:pathLst>
            </a:custGeom>
            <a:blipFill>
              <a:blip r:embed="rId18">
                <a:alphaModFix amt="0"/>
              </a:blip>
              <a:stretch>
                <a:fillRect l="0" t="-1461" r="0" b="-1461"/>
              </a:stretch>
            </a:blipFill>
          </p:spPr>
        </p:sp>
        <p:sp>
          <p:nvSpPr>
            <p:cNvPr name="TextBox 278" id="278"/>
            <p:cNvSpPr txBox="true"/>
            <p:nvPr/>
          </p:nvSpPr>
          <p:spPr>
            <a:xfrm>
              <a:off x="0" y="123825"/>
              <a:ext cx="1701432" cy="520395"/>
            </a:xfrm>
            <a:prstGeom prst="rect">
              <a:avLst/>
            </a:prstGeom>
          </p:spPr>
          <p:txBody>
            <a:bodyPr anchor="ctr" rtlCol="false" tIns="0" lIns="0" bIns="0" rIns="0"/>
            <a:lstStyle/>
            <a:p>
              <a:pPr algn="l">
                <a:lnSpc>
                  <a:spcPts val="1893"/>
                </a:lnSpc>
              </a:pPr>
              <a:r>
                <a:rPr lang="en-US" b="true" sz="2669" i="true">
                  <a:solidFill>
                    <a:srgbClr val="E7B6B8"/>
                  </a:solidFill>
                  <a:latin typeface="TT Commons Pro Bold Italics"/>
                  <a:ea typeface="TT Commons Pro Bold Italics"/>
                  <a:cs typeface="TT Commons Pro Bold Italics"/>
                  <a:sym typeface="TT Commons Pro Bold Italics"/>
                </a:rPr>
                <a:t>zomato</a:t>
              </a:r>
            </a:p>
          </p:txBody>
        </p:sp>
      </p:grpSp>
      <p:grpSp>
        <p:nvGrpSpPr>
          <p:cNvPr name="Group 279" id="279"/>
          <p:cNvGrpSpPr/>
          <p:nvPr/>
        </p:nvGrpSpPr>
        <p:grpSpPr>
          <a:xfrm rot="0">
            <a:off x="13752462" y="546887"/>
            <a:ext cx="204168" cy="116224"/>
            <a:chOff x="0" y="0"/>
            <a:chExt cx="272224" cy="154965"/>
          </a:xfrm>
        </p:grpSpPr>
        <p:sp>
          <p:nvSpPr>
            <p:cNvPr name="Freeform 280" id="280"/>
            <p:cNvSpPr/>
            <p:nvPr/>
          </p:nvSpPr>
          <p:spPr>
            <a:xfrm flipH="false" flipV="false" rot="0">
              <a:off x="0" y="0"/>
              <a:ext cx="272288" cy="154940"/>
            </a:xfrm>
            <a:custGeom>
              <a:avLst/>
              <a:gdLst/>
              <a:ahLst/>
              <a:cxnLst/>
              <a:rect r="r" b="b" t="t" l="l"/>
              <a:pathLst>
                <a:path h="154940" w="272288">
                  <a:moveTo>
                    <a:pt x="0" y="0"/>
                  </a:moveTo>
                  <a:lnTo>
                    <a:pt x="272288" y="0"/>
                  </a:lnTo>
                  <a:lnTo>
                    <a:pt x="272288" y="154940"/>
                  </a:lnTo>
                  <a:lnTo>
                    <a:pt x="0" y="154940"/>
                  </a:lnTo>
                  <a:close/>
                </a:path>
              </a:pathLst>
            </a:custGeom>
            <a:blipFill>
              <a:blip r:embed="rId17">
                <a:alphaModFix amt="0"/>
              </a:blip>
              <a:stretch>
                <a:fillRect l="-23083" t="0" r="-23059" b="-16"/>
              </a:stretch>
            </a:blipFill>
          </p:spPr>
        </p:sp>
      </p:grpSp>
      <p:grpSp>
        <p:nvGrpSpPr>
          <p:cNvPr name="Group 281" id="281"/>
          <p:cNvGrpSpPr/>
          <p:nvPr/>
        </p:nvGrpSpPr>
        <p:grpSpPr>
          <a:xfrm rot="0">
            <a:off x="13752462" y="554031"/>
            <a:ext cx="204168" cy="109080"/>
            <a:chOff x="0" y="0"/>
            <a:chExt cx="272224" cy="145440"/>
          </a:xfrm>
        </p:grpSpPr>
        <p:sp>
          <p:nvSpPr>
            <p:cNvPr name="Freeform 282" id="282"/>
            <p:cNvSpPr/>
            <p:nvPr/>
          </p:nvSpPr>
          <p:spPr>
            <a:xfrm flipH="false" flipV="false" rot="0">
              <a:off x="0" y="0"/>
              <a:ext cx="272224" cy="145446"/>
            </a:xfrm>
            <a:custGeom>
              <a:avLst/>
              <a:gdLst/>
              <a:ahLst/>
              <a:cxnLst/>
              <a:rect r="r" b="b" t="t" l="l"/>
              <a:pathLst>
                <a:path h="145446" w="272224">
                  <a:moveTo>
                    <a:pt x="0" y="0"/>
                  </a:moveTo>
                  <a:lnTo>
                    <a:pt x="272224" y="0"/>
                  </a:lnTo>
                  <a:lnTo>
                    <a:pt x="272224" y="145446"/>
                  </a:lnTo>
                  <a:lnTo>
                    <a:pt x="0" y="145446"/>
                  </a:lnTo>
                  <a:close/>
                </a:path>
              </a:pathLst>
            </a:custGeom>
            <a:blipFill>
              <a:blip r:embed="rId18">
                <a:alphaModFix amt="0"/>
              </a:blip>
              <a:stretch>
                <a:fillRect l="-18548" t="0" r="-18548" b="3"/>
              </a:stretch>
            </a:blipFill>
          </p:spPr>
        </p:sp>
        <p:sp>
          <p:nvSpPr>
            <p:cNvPr name="TextBox 283" id="283"/>
            <p:cNvSpPr txBox="true"/>
            <p:nvPr/>
          </p:nvSpPr>
          <p:spPr>
            <a:xfrm>
              <a:off x="0" y="9525"/>
              <a:ext cx="272224" cy="135915"/>
            </a:xfrm>
            <a:prstGeom prst="rect">
              <a:avLst/>
            </a:prstGeom>
          </p:spPr>
          <p:txBody>
            <a:bodyPr anchor="ctr" rtlCol="false" tIns="0" lIns="0" bIns="0" rIns="0"/>
            <a:lstStyle/>
            <a:p>
              <a:pPr algn="l">
                <a:lnSpc>
                  <a:spcPts val="539"/>
                </a:lnSpc>
              </a:pPr>
              <a:r>
                <a:rPr lang="en-US" sz="545" b="true">
                  <a:solidFill>
                    <a:srgbClr val="950B0E"/>
                  </a:solidFill>
                  <a:latin typeface="TT Commons Pro Bold"/>
                  <a:ea typeface="TT Commons Pro Bold"/>
                  <a:cs typeface="TT Commons Pro Bold"/>
                  <a:sym typeface="TT Commons Pro Bold"/>
                </a:rPr>
                <a:t>ర్రాలు</a:t>
              </a:r>
            </a:p>
          </p:txBody>
        </p:sp>
      </p:grpSp>
      <p:grpSp>
        <p:nvGrpSpPr>
          <p:cNvPr name="Group 284" id="284"/>
          <p:cNvGrpSpPr/>
          <p:nvPr/>
        </p:nvGrpSpPr>
        <p:grpSpPr>
          <a:xfrm rot="0">
            <a:off x="11783654" y="3857396"/>
            <a:ext cx="204168" cy="105499"/>
            <a:chOff x="0" y="0"/>
            <a:chExt cx="272224" cy="140665"/>
          </a:xfrm>
        </p:grpSpPr>
        <p:sp>
          <p:nvSpPr>
            <p:cNvPr name="Freeform 285" id="285"/>
            <p:cNvSpPr/>
            <p:nvPr/>
          </p:nvSpPr>
          <p:spPr>
            <a:xfrm flipH="false" flipV="false" rot="0">
              <a:off x="0" y="0"/>
              <a:ext cx="272288" cy="140716"/>
            </a:xfrm>
            <a:custGeom>
              <a:avLst/>
              <a:gdLst/>
              <a:ahLst/>
              <a:cxnLst/>
              <a:rect r="r" b="b" t="t" l="l"/>
              <a:pathLst>
                <a:path h="140716" w="272288">
                  <a:moveTo>
                    <a:pt x="0" y="0"/>
                  </a:moveTo>
                  <a:lnTo>
                    <a:pt x="272288" y="0"/>
                  </a:lnTo>
                  <a:lnTo>
                    <a:pt x="272288" y="140716"/>
                  </a:lnTo>
                  <a:lnTo>
                    <a:pt x="0" y="140716"/>
                  </a:lnTo>
                  <a:close/>
                </a:path>
              </a:pathLst>
            </a:custGeom>
            <a:blipFill>
              <a:blip r:embed="rId17">
                <a:alphaModFix amt="0"/>
              </a:blip>
              <a:stretch>
                <a:fillRect l="-16338" t="0" r="-16319" b="36"/>
              </a:stretch>
            </a:blipFill>
          </p:spPr>
        </p:sp>
      </p:grpSp>
      <p:grpSp>
        <p:nvGrpSpPr>
          <p:cNvPr name="Group 286" id="286"/>
          <p:cNvGrpSpPr/>
          <p:nvPr/>
        </p:nvGrpSpPr>
        <p:grpSpPr>
          <a:xfrm rot="0">
            <a:off x="11783654" y="3857396"/>
            <a:ext cx="204168" cy="105508"/>
            <a:chOff x="0" y="0"/>
            <a:chExt cx="272224" cy="140678"/>
          </a:xfrm>
        </p:grpSpPr>
        <p:sp>
          <p:nvSpPr>
            <p:cNvPr name="Freeform 287" id="287"/>
            <p:cNvSpPr/>
            <p:nvPr/>
          </p:nvSpPr>
          <p:spPr>
            <a:xfrm flipH="false" flipV="false" rot="0">
              <a:off x="0" y="0"/>
              <a:ext cx="272224" cy="140672"/>
            </a:xfrm>
            <a:custGeom>
              <a:avLst/>
              <a:gdLst/>
              <a:ahLst/>
              <a:cxnLst/>
              <a:rect r="r" b="b" t="t" l="l"/>
              <a:pathLst>
                <a:path h="140672" w="272224">
                  <a:moveTo>
                    <a:pt x="0" y="0"/>
                  </a:moveTo>
                  <a:lnTo>
                    <a:pt x="272224" y="0"/>
                  </a:lnTo>
                  <a:lnTo>
                    <a:pt x="272224" y="140672"/>
                  </a:lnTo>
                  <a:lnTo>
                    <a:pt x="0" y="140672"/>
                  </a:lnTo>
                  <a:close/>
                </a:path>
              </a:pathLst>
            </a:custGeom>
            <a:blipFill>
              <a:blip r:embed="rId18">
                <a:alphaModFix amt="0"/>
              </a:blip>
              <a:stretch>
                <a:fillRect l="-16303" t="0" r="-16303" b="-4"/>
              </a:stretch>
            </a:blipFill>
          </p:spPr>
        </p:sp>
        <p:sp>
          <p:nvSpPr>
            <p:cNvPr name="TextBox 288" id="288"/>
            <p:cNvSpPr txBox="true"/>
            <p:nvPr/>
          </p:nvSpPr>
          <p:spPr>
            <a:xfrm>
              <a:off x="0" y="0"/>
              <a:ext cx="272224" cy="140678"/>
            </a:xfrm>
            <a:prstGeom prst="rect">
              <a:avLst/>
            </a:prstGeom>
          </p:spPr>
          <p:txBody>
            <a:bodyPr anchor="ctr" rtlCol="false" tIns="0" lIns="0" bIns="0" rIns="0"/>
            <a:lstStyle/>
            <a:p>
              <a:pPr algn="l">
                <a:lnSpc>
                  <a:spcPts val="536"/>
                </a:lnSpc>
              </a:pPr>
              <a:r>
                <a:rPr lang="en-US" sz="493" b="true">
                  <a:solidFill>
                    <a:srgbClr val="565451"/>
                  </a:solidFill>
                  <a:latin typeface="TT Commons Pro Bold"/>
                  <a:ea typeface="TT Commons Pro Bold"/>
                  <a:cs typeface="TT Commons Pro Bold"/>
                  <a:sym typeface="TT Commons Pro Bold"/>
                </a:rPr>
                <a:t>రి చి రి</a:t>
              </a:r>
            </a:p>
          </p:txBody>
        </p:sp>
      </p:grpSp>
      <p:grpSp>
        <p:nvGrpSpPr>
          <p:cNvPr name="Group 289" id="289"/>
          <p:cNvGrpSpPr/>
          <p:nvPr/>
        </p:nvGrpSpPr>
        <p:grpSpPr>
          <a:xfrm rot="0">
            <a:off x="11280515" y="3850110"/>
            <a:ext cx="204168" cy="224542"/>
            <a:chOff x="0" y="0"/>
            <a:chExt cx="272224" cy="299390"/>
          </a:xfrm>
        </p:grpSpPr>
        <p:sp>
          <p:nvSpPr>
            <p:cNvPr name="Freeform 290" id="290"/>
            <p:cNvSpPr/>
            <p:nvPr/>
          </p:nvSpPr>
          <p:spPr>
            <a:xfrm flipH="false" flipV="false" rot="0">
              <a:off x="0" y="0"/>
              <a:ext cx="272288" cy="299339"/>
            </a:xfrm>
            <a:custGeom>
              <a:avLst/>
              <a:gdLst/>
              <a:ahLst/>
              <a:cxnLst/>
              <a:rect r="r" b="b" t="t" l="l"/>
              <a:pathLst>
                <a:path h="299339" w="272288">
                  <a:moveTo>
                    <a:pt x="0" y="0"/>
                  </a:moveTo>
                  <a:lnTo>
                    <a:pt x="272288" y="0"/>
                  </a:lnTo>
                  <a:lnTo>
                    <a:pt x="272288" y="299339"/>
                  </a:lnTo>
                  <a:lnTo>
                    <a:pt x="0" y="299339"/>
                  </a:lnTo>
                  <a:close/>
                </a:path>
              </a:pathLst>
            </a:custGeom>
            <a:blipFill>
              <a:blip r:embed="rId17">
                <a:alphaModFix amt="0"/>
              </a:blip>
              <a:stretch>
                <a:fillRect l="-91180" t="0" r="-91161" b="-16"/>
              </a:stretch>
            </a:blipFill>
          </p:spPr>
        </p:sp>
      </p:grpSp>
      <p:grpSp>
        <p:nvGrpSpPr>
          <p:cNvPr name="Group 291" id="291"/>
          <p:cNvGrpSpPr/>
          <p:nvPr/>
        </p:nvGrpSpPr>
        <p:grpSpPr>
          <a:xfrm rot="0">
            <a:off x="11280515" y="3878685"/>
            <a:ext cx="204168" cy="195967"/>
            <a:chOff x="0" y="0"/>
            <a:chExt cx="272224" cy="261290"/>
          </a:xfrm>
        </p:grpSpPr>
        <p:sp>
          <p:nvSpPr>
            <p:cNvPr name="Freeform 292" id="292"/>
            <p:cNvSpPr/>
            <p:nvPr/>
          </p:nvSpPr>
          <p:spPr>
            <a:xfrm flipH="false" flipV="false" rot="0">
              <a:off x="0" y="0"/>
              <a:ext cx="272224" cy="261295"/>
            </a:xfrm>
            <a:custGeom>
              <a:avLst/>
              <a:gdLst/>
              <a:ahLst/>
              <a:cxnLst/>
              <a:rect r="r" b="b" t="t" l="l"/>
              <a:pathLst>
                <a:path h="261295" w="272224">
                  <a:moveTo>
                    <a:pt x="0" y="0"/>
                  </a:moveTo>
                  <a:lnTo>
                    <a:pt x="272224" y="0"/>
                  </a:lnTo>
                  <a:lnTo>
                    <a:pt x="272224" y="261295"/>
                  </a:lnTo>
                  <a:lnTo>
                    <a:pt x="0" y="261295"/>
                  </a:lnTo>
                  <a:close/>
                </a:path>
              </a:pathLst>
            </a:custGeom>
            <a:blipFill>
              <a:blip r:embed="rId18">
                <a:alphaModFix amt="0"/>
              </a:blip>
              <a:stretch>
                <a:fillRect l="-73150" t="0" r="-73150" b="1"/>
              </a:stretch>
            </a:blipFill>
          </p:spPr>
        </p:sp>
        <p:sp>
          <p:nvSpPr>
            <p:cNvPr name="TextBox 293" id="293"/>
            <p:cNvSpPr txBox="true"/>
            <p:nvPr/>
          </p:nvSpPr>
          <p:spPr>
            <a:xfrm>
              <a:off x="0" y="38100"/>
              <a:ext cx="272224" cy="223190"/>
            </a:xfrm>
            <a:prstGeom prst="rect">
              <a:avLst/>
            </a:prstGeom>
          </p:spPr>
          <p:txBody>
            <a:bodyPr anchor="ctr" rtlCol="false" tIns="0" lIns="0" bIns="0" rIns="0"/>
            <a:lstStyle/>
            <a:p>
              <a:pPr algn="l">
                <a:lnSpc>
                  <a:spcPts val="802"/>
                </a:lnSpc>
              </a:pPr>
              <a:r>
                <a:rPr lang="en-US" sz="1067">
                  <a:solidFill>
                    <a:srgbClr val="7A6C67"/>
                  </a:solidFill>
                  <a:latin typeface="TT Commons Pro"/>
                  <a:ea typeface="TT Commons Pro"/>
                  <a:cs typeface="TT Commons Pro"/>
                  <a:sym typeface="TT Commons Pro"/>
                </a:rPr>
                <a:t>.1</a:t>
              </a:r>
            </a:p>
          </p:txBody>
        </p:sp>
      </p:grpSp>
      <p:grpSp>
        <p:nvGrpSpPr>
          <p:cNvPr name="Group 294" id="294"/>
          <p:cNvGrpSpPr/>
          <p:nvPr/>
        </p:nvGrpSpPr>
        <p:grpSpPr>
          <a:xfrm rot="0">
            <a:off x="11280515" y="3500095"/>
            <a:ext cx="211465" cy="110766"/>
            <a:chOff x="0" y="0"/>
            <a:chExt cx="281953" cy="147688"/>
          </a:xfrm>
        </p:grpSpPr>
        <p:sp>
          <p:nvSpPr>
            <p:cNvPr name="Freeform 295" id="295"/>
            <p:cNvSpPr/>
            <p:nvPr/>
          </p:nvSpPr>
          <p:spPr>
            <a:xfrm flipH="false" flipV="false" rot="0">
              <a:off x="0" y="0"/>
              <a:ext cx="281940" cy="147701"/>
            </a:xfrm>
            <a:custGeom>
              <a:avLst/>
              <a:gdLst/>
              <a:ahLst/>
              <a:cxnLst/>
              <a:rect r="r" b="b" t="t" l="l"/>
              <a:pathLst>
                <a:path h="147701" w="281940">
                  <a:moveTo>
                    <a:pt x="0" y="0"/>
                  </a:moveTo>
                  <a:lnTo>
                    <a:pt x="281940" y="0"/>
                  </a:lnTo>
                  <a:lnTo>
                    <a:pt x="281940" y="147701"/>
                  </a:lnTo>
                  <a:lnTo>
                    <a:pt x="0" y="147701"/>
                  </a:lnTo>
                  <a:close/>
                </a:path>
              </a:pathLst>
            </a:custGeom>
            <a:blipFill>
              <a:blip r:embed="rId17">
                <a:alphaModFix amt="0"/>
              </a:blip>
              <a:stretch>
                <a:fillRect l="-17256" t="0" r="-17256" b="8"/>
              </a:stretch>
            </a:blipFill>
          </p:spPr>
        </p:sp>
      </p:grpSp>
      <p:grpSp>
        <p:nvGrpSpPr>
          <p:cNvPr name="Group 296" id="296"/>
          <p:cNvGrpSpPr/>
          <p:nvPr/>
        </p:nvGrpSpPr>
        <p:grpSpPr>
          <a:xfrm rot="0">
            <a:off x="11280515" y="3514382"/>
            <a:ext cx="211465" cy="96488"/>
            <a:chOff x="0" y="0"/>
            <a:chExt cx="281953" cy="128651"/>
          </a:xfrm>
        </p:grpSpPr>
        <p:sp>
          <p:nvSpPr>
            <p:cNvPr name="Freeform 297" id="297"/>
            <p:cNvSpPr/>
            <p:nvPr/>
          </p:nvSpPr>
          <p:spPr>
            <a:xfrm flipH="false" flipV="false" rot="0">
              <a:off x="0" y="0"/>
              <a:ext cx="281953" cy="128649"/>
            </a:xfrm>
            <a:custGeom>
              <a:avLst/>
              <a:gdLst/>
              <a:ahLst/>
              <a:cxnLst/>
              <a:rect r="r" b="b" t="t" l="l"/>
              <a:pathLst>
                <a:path h="128649" w="281953">
                  <a:moveTo>
                    <a:pt x="0" y="0"/>
                  </a:moveTo>
                  <a:lnTo>
                    <a:pt x="281953" y="0"/>
                  </a:lnTo>
                  <a:lnTo>
                    <a:pt x="281953" y="128649"/>
                  </a:lnTo>
                  <a:lnTo>
                    <a:pt x="0" y="128649"/>
                  </a:lnTo>
                  <a:close/>
                </a:path>
              </a:pathLst>
            </a:custGeom>
            <a:blipFill>
              <a:blip r:embed="rId18">
                <a:alphaModFix amt="0"/>
              </a:blip>
              <a:stretch>
                <a:fillRect l="-8543" t="0" r="-8542" b="-1"/>
              </a:stretch>
            </a:blipFill>
          </p:spPr>
        </p:sp>
        <p:sp>
          <p:nvSpPr>
            <p:cNvPr name="TextBox 298" id="298"/>
            <p:cNvSpPr txBox="true"/>
            <p:nvPr/>
          </p:nvSpPr>
          <p:spPr>
            <a:xfrm>
              <a:off x="0" y="19050"/>
              <a:ext cx="281953" cy="109601"/>
            </a:xfrm>
            <a:prstGeom prst="rect">
              <a:avLst/>
            </a:prstGeom>
          </p:spPr>
          <p:txBody>
            <a:bodyPr anchor="ctr" rtlCol="false" tIns="0" lIns="0" bIns="0" rIns="0"/>
            <a:lstStyle/>
            <a:p>
              <a:pPr algn="l">
                <a:lnSpc>
                  <a:spcPts val="459"/>
                </a:lnSpc>
              </a:pPr>
              <a:r>
                <a:rPr lang="en-US" sz="516" b="true">
                  <a:solidFill>
                    <a:srgbClr val="807D7C"/>
                  </a:solidFill>
                  <a:latin typeface="TT Commons Pro Bold"/>
                  <a:ea typeface="TT Commons Pro Bold"/>
                  <a:cs typeface="TT Commons Pro Bold"/>
                  <a:sym typeface="TT Commons Pro Bold"/>
                </a:rPr>
                <a:t>రి తెలి</a:t>
              </a:r>
            </a:p>
          </p:txBody>
        </p:sp>
      </p:grpSp>
      <p:grpSp>
        <p:nvGrpSpPr>
          <p:cNvPr name="Group 299" id="299"/>
          <p:cNvGrpSpPr/>
          <p:nvPr/>
        </p:nvGrpSpPr>
        <p:grpSpPr>
          <a:xfrm rot="0">
            <a:off x="10843003" y="3850110"/>
            <a:ext cx="211465" cy="120110"/>
            <a:chOff x="0" y="0"/>
            <a:chExt cx="281953" cy="160147"/>
          </a:xfrm>
        </p:grpSpPr>
        <p:sp>
          <p:nvSpPr>
            <p:cNvPr name="Freeform 300" id="300"/>
            <p:cNvSpPr/>
            <p:nvPr/>
          </p:nvSpPr>
          <p:spPr>
            <a:xfrm flipH="false" flipV="false" rot="0">
              <a:off x="0" y="0"/>
              <a:ext cx="281940" cy="160147"/>
            </a:xfrm>
            <a:custGeom>
              <a:avLst/>
              <a:gdLst/>
              <a:ahLst/>
              <a:cxnLst/>
              <a:rect r="r" b="b" t="t" l="l"/>
              <a:pathLst>
                <a:path h="160147" w="281940">
                  <a:moveTo>
                    <a:pt x="0" y="0"/>
                  </a:moveTo>
                  <a:lnTo>
                    <a:pt x="281940" y="0"/>
                  </a:lnTo>
                  <a:lnTo>
                    <a:pt x="281940" y="160147"/>
                  </a:lnTo>
                  <a:lnTo>
                    <a:pt x="0" y="160147"/>
                  </a:lnTo>
                  <a:close/>
                </a:path>
              </a:pathLst>
            </a:custGeom>
            <a:blipFill>
              <a:blip r:embed="rId17">
                <a:alphaModFix amt="0"/>
              </a:blip>
              <a:stretch>
                <a:fillRect l="-22927" t="0" r="-22936" b="0"/>
              </a:stretch>
            </a:blipFill>
          </p:spPr>
        </p:sp>
      </p:grpSp>
      <p:grpSp>
        <p:nvGrpSpPr>
          <p:cNvPr name="Group 301" id="301"/>
          <p:cNvGrpSpPr/>
          <p:nvPr/>
        </p:nvGrpSpPr>
        <p:grpSpPr>
          <a:xfrm rot="0">
            <a:off x="10843003" y="3857254"/>
            <a:ext cx="211465" cy="112976"/>
            <a:chOff x="0" y="0"/>
            <a:chExt cx="281953" cy="150635"/>
          </a:xfrm>
        </p:grpSpPr>
        <p:sp>
          <p:nvSpPr>
            <p:cNvPr name="Freeform 302" id="302"/>
            <p:cNvSpPr/>
            <p:nvPr/>
          </p:nvSpPr>
          <p:spPr>
            <a:xfrm flipH="false" flipV="false" rot="0">
              <a:off x="0" y="0"/>
              <a:ext cx="281953" cy="150631"/>
            </a:xfrm>
            <a:custGeom>
              <a:avLst/>
              <a:gdLst/>
              <a:ahLst/>
              <a:cxnLst/>
              <a:rect r="r" b="b" t="t" l="l"/>
              <a:pathLst>
                <a:path h="150631" w="281953">
                  <a:moveTo>
                    <a:pt x="0" y="0"/>
                  </a:moveTo>
                  <a:lnTo>
                    <a:pt x="281953" y="0"/>
                  </a:lnTo>
                  <a:lnTo>
                    <a:pt x="281953" y="150631"/>
                  </a:lnTo>
                  <a:lnTo>
                    <a:pt x="0" y="150631"/>
                  </a:lnTo>
                  <a:close/>
                </a:path>
              </a:pathLst>
            </a:custGeom>
            <a:blipFill>
              <a:blip r:embed="rId18">
                <a:alphaModFix amt="0"/>
              </a:blip>
              <a:stretch>
                <a:fillRect l="-18546" t="0" r="-18546" b="-2"/>
              </a:stretch>
            </a:blipFill>
          </p:spPr>
        </p:sp>
        <p:sp>
          <p:nvSpPr>
            <p:cNvPr name="TextBox 303" id="303"/>
            <p:cNvSpPr txBox="true"/>
            <p:nvPr/>
          </p:nvSpPr>
          <p:spPr>
            <a:xfrm>
              <a:off x="0" y="9525"/>
              <a:ext cx="281953" cy="141110"/>
            </a:xfrm>
            <a:prstGeom prst="rect">
              <a:avLst/>
            </a:prstGeom>
          </p:spPr>
          <p:txBody>
            <a:bodyPr anchor="ctr" rtlCol="false" tIns="0" lIns="0" bIns="0" rIns="0"/>
            <a:lstStyle/>
            <a:p>
              <a:pPr algn="l">
                <a:lnSpc>
                  <a:spcPts val="531"/>
                </a:lnSpc>
              </a:pPr>
              <a:r>
                <a:rPr lang="en-US" sz="558">
                  <a:solidFill>
                    <a:srgbClr val="63605F"/>
                  </a:solidFill>
                  <a:latin typeface="TT Commons Pro"/>
                  <a:ea typeface="TT Commons Pro"/>
                  <a:cs typeface="TT Commons Pro"/>
                  <a:sym typeface="TT Commons Pro"/>
                </a:rPr>
                <a:t>రె రె రె</a:t>
              </a:r>
            </a:p>
          </p:txBody>
        </p:sp>
      </p:grpSp>
      <p:grpSp>
        <p:nvGrpSpPr>
          <p:cNvPr name="Group 304" id="304"/>
          <p:cNvGrpSpPr/>
          <p:nvPr/>
        </p:nvGrpSpPr>
        <p:grpSpPr>
          <a:xfrm rot="0">
            <a:off x="10325281" y="3857396"/>
            <a:ext cx="211465" cy="241392"/>
            <a:chOff x="0" y="0"/>
            <a:chExt cx="281953" cy="321856"/>
          </a:xfrm>
        </p:grpSpPr>
        <p:sp>
          <p:nvSpPr>
            <p:cNvPr name="Freeform 305" id="305"/>
            <p:cNvSpPr/>
            <p:nvPr/>
          </p:nvSpPr>
          <p:spPr>
            <a:xfrm flipH="false" flipV="false" rot="0">
              <a:off x="0" y="0"/>
              <a:ext cx="281940" cy="321818"/>
            </a:xfrm>
            <a:custGeom>
              <a:avLst/>
              <a:gdLst/>
              <a:ahLst/>
              <a:cxnLst/>
              <a:rect r="r" b="b" t="t" l="l"/>
              <a:pathLst>
                <a:path h="321818" w="281940">
                  <a:moveTo>
                    <a:pt x="0" y="0"/>
                  </a:moveTo>
                  <a:lnTo>
                    <a:pt x="281940" y="0"/>
                  </a:lnTo>
                  <a:lnTo>
                    <a:pt x="281940" y="321818"/>
                  </a:lnTo>
                  <a:lnTo>
                    <a:pt x="0" y="321818"/>
                  </a:lnTo>
                  <a:close/>
                </a:path>
              </a:pathLst>
            </a:custGeom>
            <a:blipFill>
              <a:blip r:embed="rId17">
                <a:alphaModFix amt="0"/>
              </a:blip>
              <a:stretch>
                <a:fillRect l="-96572" t="0" r="-96572" b="-11"/>
              </a:stretch>
            </a:blipFill>
          </p:spPr>
        </p:sp>
      </p:grpSp>
      <p:grpSp>
        <p:nvGrpSpPr>
          <p:cNvPr name="Group 306" id="306"/>
          <p:cNvGrpSpPr/>
          <p:nvPr/>
        </p:nvGrpSpPr>
        <p:grpSpPr>
          <a:xfrm rot="0">
            <a:off x="10325281" y="3914546"/>
            <a:ext cx="211465" cy="184242"/>
            <a:chOff x="0" y="0"/>
            <a:chExt cx="281953" cy="245656"/>
          </a:xfrm>
        </p:grpSpPr>
        <p:sp>
          <p:nvSpPr>
            <p:cNvPr name="Freeform 307" id="307"/>
            <p:cNvSpPr/>
            <p:nvPr/>
          </p:nvSpPr>
          <p:spPr>
            <a:xfrm flipH="false" flipV="false" rot="0">
              <a:off x="0" y="0"/>
              <a:ext cx="281953" cy="245659"/>
            </a:xfrm>
            <a:custGeom>
              <a:avLst/>
              <a:gdLst/>
              <a:ahLst/>
              <a:cxnLst/>
              <a:rect r="r" b="b" t="t" l="l"/>
              <a:pathLst>
                <a:path h="245659" w="281953">
                  <a:moveTo>
                    <a:pt x="0" y="0"/>
                  </a:moveTo>
                  <a:lnTo>
                    <a:pt x="281953" y="0"/>
                  </a:lnTo>
                  <a:lnTo>
                    <a:pt x="281953" y="245659"/>
                  </a:lnTo>
                  <a:lnTo>
                    <a:pt x="0" y="245659"/>
                  </a:lnTo>
                  <a:close/>
                </a:path>
              </a:pathLst>
            </a:custGeom>
            <a:blipFill>
              <a:blip r:embed="rId18">
                <a:alphaModFix amt="0"/>
              </a:blip>
              <a:stretch>
                <a:fillRect l="-61786" t="0" r="-61786" b="0"/>
              </a:stretch>
            </a:blipFill>
          </p:spPr>
        </p:sp>
        <p:sp>
          <p:nvSpPr>
            <p:cNvPr name="TextBox 308" id="308"/>
            <p:cNvSpPr txBox="true"/>
            <p:nvPr/>
          </p:nvSpPr>
          <p:spPr>
            <a:xfrm>
              <a:off x="0" y="76200"/>
              <a:ext cx="281953" cy="169456"/>
            </a:xfrm>
            <a:prstGeom prst="rect">
              <a:avLst/>
            </a:prstGeom>
          </p:spPr>
          <p:txBody>
            <a:bodyPr anchor="ctr" rtlCol="false" tIns="0" lIns="0" bIns="0" rIns="0"/>
            <a:lstStyle/>
            <a:p>
              <a:pPr algn="l">
                <a:lnSpc>
                  <a:spcPts val="573"/>
                </a:lnSpc>
              </a:pPr>
              <a:r>
                <a:rPr lang="en-US" sz="1142" b="true">
                  <a:solidFill>
                    <a:srgbClr val="766A67"/>
                  </a:solidFill>
                  <a:latin typeface="TT Commons Pro Bold"/>
                  <a:ea typeface="TT Commons Pro Bold"/>
                  <a:cs typeface="TT Commons Pro Bold"/>
                  <a:sym typeface="TT Commons Pro Bold"/>
                </a:rPr>
                <a:t>.</a:t>
              </a:r>
            </a:p>
          </p:txBody>
        </p:sp>
      </p:grpSp>
      <p:grpSp>
        <p:nvGrpSpPr>
          <p:cNvPr name="Group 309" id="309"/>
          <p:cNvGrpSpPr/>
          <p:nvPr/>
        </p:nvGrpSpPr>
        <p:grpSpPr>
          <a:xfrm rot="0">
            <a:off x="10325281" y="3500095"/>
            <a:ext cx="211465" cy="143285"/>
            <a:chOff x="0" y="0"/>
            <a:chExt cx="281953" cy="191046"/>
          </a:xfrm>
        </p:grpSpPr>
        <p:sp>
          <p:nvSpPr>
            <p:cNvPr name="Freeform 310" id="310"/>
            <p:cNvSpPr/>
            <p:nvPr/>
          </p:nvSpPr>
          <p:spPr>
            <a:xfrm flipH="false" flipV="false" rot="0">
              <a:off x="0" y="0"/>
              <a:ext cx="281940" cy="191008"/>
            </a:xfrm>
            <a:custGeom>
              <a:avLst/>
              <a:gdLst/>
              <a:ahLst/>
              <a:cxnLst/>
              <a:rect r="r" b="b" t="t" l="l"/>
              <a:pathLst>
                <a:path h="191008" w="281940">
                  <a:moveTo>
                    <a:pt x="0" y="0"/>
                  </a:moveTo>
                  <a:lnTo>
                    <a:pt x="281940" y="0"/>
                  </a:lnTo>
                  <a:lnTo>
                    <a:pt x="281940" y="191008"/>
                  </a:lnTo>
                  <a:lnTo>
                    <a:pt x="0" y="191008"/>
                  </a:lnTo>
                  <a:close/>
                </a:path>
              </a:pathLst>
            </a:custGeom>
            <a:blipFill>
              <a:blip r:embed="rId17">
                <a:alphaModFix amt="0"/>
              </a:blip>
              <a:stretch>
                <a:fillRect l="-36995" t="0" r="-37004" b="-19"/>
              </a:stretch>
            </a:blipFill>
          </p:spPr>
        </p:sp>
      </p:grpSp>
      <p:grpSp>
        <p:nvGrpSpPr>
          <p:cNvPr name="Group 311" id="311"/>
          <p:cNvGrpSpPr/>
          <p:nvPr/>
        </p:nvGrpSpPr>
        <p:grpSpPr>
          <a:xfrm rot="0">
            <a:off x="10325281" y="3514382"/>
            <a:ext cx="211465" cy="129007"/>
            <a:chOff x="0" y="0"/>
            <a:chExt cx="281953" cy="172009"/>
          </a:xfrm>
        </p:grpSpPr>
        <p:sp>
          <p:nvSpPr>
            <p:cNvPr name="Freeform 312" id="312"/>
            <p:cNvSpPr/>
            <p:nvPr/>
          </p:nvSpPr>
          <p:spPr>
            <a:xfrm flipH="false" flipV="false" rot="0">
              <a:off x="0" y="0"/>
              <a:ext cx="281953" cy="172003"/>
            </a:xfrm>
            <a:custGeom>
              <a:avLst/>
              <a:gdLst/>
              <a:ahLst/>
              <a:cxnLst/>
              <a:rect r="r" b="b" t="t" l="l"/>
              <a:pathLst>
                <a:path h="172003" w="281953">
                  <a:moveTo>
                    <a:pt x="0" y="0"/>
                  </a:moveTo>
                  <a:lnTo>
                    <a:pt x="281953" y="0"/>
                  </a:lnTo>
                  <a:lnTo>
                    <a:pt x="281953" y="172003"/>
                  </a:lnTo>
                  <a:lnTo>
                    <a:pt x="0" y="172003"/>
                  </a:lnTo>
                  <a:close/>
                </a:path>
              </a:pathLst>
            </a:custGeom>
            <a:blipFill>
              <a:blip r:embed="rId18">
                <a:alphaModFix amt="0"/>
              </a:blip>
              <a:stretch>
                <a:fillRect l="-28273" t="0" r="-28272" b="-3"/>
              </a:stretch>
            </a:blipFill>
          </p:spPr>
        </p:sp>
        <p:sp>
          <p:nvSpPr>
            <p:cNvPr name="TextBox 313" id="313"/>
            <p:cNvSpPr txBox="true"/>
            <p:nvPr/>
          </p:nvSpPr>
          <p:spPr>
            <a:xfrm>
              <a:off x="0" y="19050"/>
              <a:ext cx="281953" cy="152959"/>
            </a:xfrm>
            <a:prstGeom prst="rect">
              <a:avLst/>
            </a:prstGeom>
          </p:spPr>
          <p:txBody>
            <a:bodyPr anchor="ctr" rtlCol="false" tIns="0" lIns="0" bIns="0" rIns="0"/>
            <a:lstStyle/>
            <a:p>
              <a:pPr algn="l">
                <a:lnSpc>
                  <a:spcPts val="516"/>
                </a:lnSpc>
              </a:pPr>
              <a:r>
                <a:rPr lang="en-US" sz="699" b="true">
                  <a:solidFill>
                    <a:srgbClr val="81807E"/>
                  </a:solidFill>
                  <a:latin typeface="TT Commons Pro Bold"/>
                  <a:ea typeface="TT Commons Pro Bold"/>
                  <a:cs typeface="TT Commons Pro Bold"/>
                  <a:sym typeface="TT Commons Pro Bold"/>
                </a:rPr>
                <a:t>రె రె</a:t>
              </a:r>
            </a:p>
          </p:txBody>
        </p:sp>
      </p:grpSp>
      <p:grpSp>
        <p:nvGrpSpPr>
          <p:cNvPr name="Group 314" id="314"/>
          <p:cNvGrpSpPr/>
          <p:nvPr/>
        </p:nvGrpSpPr>
        <p:grpSpPr>
          <a:xfrm rot="0">
            <a:off x="10266950" y="3215716"/>
            <a:ext cx="1013565" cy="193834"/>
            <a:chOff x="0" y="0"/>
            <a:chExt cx="1351420" cy="258445"/>
          </a:xfrm>
        </p:grpSpPr>
        <p:sp>
          <p:nvSpPr>
            <p:cNvPr name="Freeform 315" id="315"/>
            <p:cNvSpPr/>
            <p:nvPr/>
          </p:nvSpPr>
          <p:spPr>
            <a:xfrm flipH="false" flipV="false" rot="0">
              <a:off x="0" y="0"/>
              <a:ext cx="1351407" cy="258445"/>
            </a:xfrm>
            <a:custGeom>
              <a:avLst/>
              <a:gdLst/>
              <a:ahLst/>
              <a:cxnLst/>
              <a:rect r="r" b="b" t="t" l="l"/>
              <a:pathLst>
                <a:path h="258445" w="1351407">
                  <a:moveTo>
                    <a:pt x="0" y="0"/>
                  </a:moveTo>
                  <a:lnTo>
                    <a:pt x="1351407" y="0"/>
                  </a:lnTo>
                  <a:lnTo>
                    <a:pt x="1351407" y="258445"/>
                  </a:lnTo>
                  <a:lnTo>
                    <a:pt x="0" y="258445"/>
                  </a:lnTo>
                  <a:close/>
                </a:path>
              </a:pathLst>
            </a:custGeom>
            <a:blipFill>
              <a:blip r:embed="rId17">
                <a:alphaModFix amt="0"/>
              </a:blip>
              <a:stretch>
                <a:fillRect l="0" t="-51818" r="0" b="-51818"/>
              </a:stretch>
            </a:blipFill>
          </p:spPr>
        </p:sp>
      </p:grpSp>
      <p:grpSp>
        <p:nvGrpSpPr>
          <p:cNvPr name="Group 316" id="316"/>
          <p:cNvGrpSpPr/>
          <p:nvPr/>
        </p:nvGrpSpPr>
        <p:grpSpPr>
          <a:xfrm rot="0">
            <a:off x="10266950" y="3230004"/>
            <a:ext cx="1013565" cy="179537"/>
            <a:chOff x="0" y="0"/>
            <a:chExt cx="1351420" cy="239382"/>
          </a:xfrm>
        </p:grpSpPr>
        <p:sp>
          <p:nvSpPr>
            <p:cNvPr name="Freeform 317" id="317"/>
            <p:cNvSpPr/>
            <p:nvPr/>
          </p:nvSpPr>
          <p:spPr>
            <a:xfrm flipH="false" flipV="false" rot="0">
              <a:off x="0" y="0"/>
              <a:ext cx="1351420" cy="239386"/>
            </a:xfrm>
            <a:custGeom>
              <a:avLst/>
              <a:gdLst/>
              <a:ahLst/>
              <a:cxnLst/>
              <a:rect r="r" b="b" t="t" l="l"/>
              <a:pathLst>
                <a:path h="239386" w="1351420">
                  <a:moveTo>
                    <a:pt x="0" y="0"/>
                  </a:moveTo>
                  <a:lnTo>
                    <a:pt x="1351420" y="0"/>
                  </a:lnTo>
                  <a:lnTo>
                    <a:pt x="1351420" y="239386"/>
                  </a:lnTo>
                  <a:lnTo>
                    <a:pt x="0" y="239386"/>
                  </a:lnTo>
                  <a:close/>
                </a:path>
              </a:pathLst>
            </a:custGeom>
            <a:blipFill>
              <a:blip r:embed="rId18">
                <a:alphaModFix amt="0"/>
              </a:blip>
              <a:stretch>
                <a:fillRect l="0" t="-60000" r="0" b="-59999"/>
              </a:stretch>
            </a:blipFill>
          </p:spPr>
        </p:sp>
        <p:sp>
          <p:nvSpPr>
            <p:cNvPr name="TextBox 318" id="318"/>
            <p:cNvSpPr txBox="true"/>
            <p:nvPr/>
          </p:nvSpPr>
          <p:spPr>
            <a:xfrm>
              <a:off x="0" y="19050"/>
              <a:ext cx="1351420" cy="220332"/>
            </a:xfrm>
            <a:prstGeom prst="rect">
              <a:avLst/>
            </a:prstGeom>
          </p:spPr>
          <p:txBody>
            <a:bodyPr anchor="ctr" rtlCol="false" tIns="0" lIns="0" bIns="0" rIns="0"/>
            <a:lstStyle/>
            <a:p>
              <a:pPr algn="l">
                <a:lnSpc>
                  <a:spcPts val="954"/>
                </a:lnSpc>
              </a:pPr>
              <a:r>
                <a:rPr lang="en-US" sz="927" b="true">
                  <a:solidFill>
                    <a:srgbClr val="767471"/>
                  </a:solidFill>
                  <a:latin typeface="TT Commons Pro Bold"/>
                  <a:ea typeface="TT Commons Pro Bold"/>
                  <a:cs typeface="TT Commons Pro Bold"/>
                  <a:sym typeface="TT Commons Pro Bold"/>
                </a:rPr>
                <a:t>Top Picks for You</a:t>
              </a:r>
            </a:p>
          </p:txBody>
        </p:sp>
      </p:grpSp>
      <p:grpSp>
        <p:nvGrpSpPr>
          <p:cNvPr name="Group 319" id="319"/>
          <p:cNvGrpSpPr/>
          <p:nvPr/>
        </p:nvGrpSpPr>
        <p:grpSpPr>
          <a:xfrm rot="0">
            <a:off x="11696157" y="2945911"/>
            <a:ext cx="328136" cy="110690"/>
            <a:chOff x="0" y="0"/>
            <a:chExt cx="437515" cy="147587"/>
          </a:xfrm>
        </p:grpSpPr>
        <p:sp>
          <p:nvSpPr>
            <p:cNvPr name="Freeform 320" id="320"/>
            <p:cNvSpPr/>
            <p:nvPr/>
          </p:nvSpPr>
          <p:spPr>
            <a:xfrm flipH="false" flipV="false" rot="0">
              <a:off x="0" y="0"/>
              <a:ext cx="437515" cy="147574"/>
            </a:xfrm>
            <a:custGeom>
              <a:avLst/>
              <a:gdLst/>
              <a:ahLst/>
              <a:cxnLst/>
              <a:rect r="r" b="b" t="t" l="l"/>
              <a:pathLst>
                <a:path h="147574" w="437515">
                  <a:moveTo>
                    <a:pt x="0" y="0"/>
                  </a:moveTo>
                  <a:lnTo>
                    <a:pt x="437515" y="0"/>
                  </a:lnTo>
                  <a:lnTo>
                    <a:pt x="437515" y="147574"/>
                  </a:lnTo>
                  <a:lnTo>
                    <a:pt x="0" y="147574"/>
                  </a:lnTo>
                  <a:close/>
                </a:path>
              </a:pathLst>
            </a:custGeom>
            <a:blipFill>
              <a:blip r:embed="rId17">
                <a:alphaModFix amt="0"/>
              </a:blip>
              <a:stretch>
                <a:fillRect l="0" t="-7719" r="0" b="-7736"/>
              </a:stretch>
            </a:blipFill>
          </p:spPr>
        </p:sp>
      </p:grpSp>
      <p:grpSp>
        <p:nvGrpSpPr>
          <p:cNvPr name="Group 321" id="321"/>
          <p:cNvGrpSpPr/>
          <p:nvPr/>
        </p:nvGrpSpPr>
        <p:grpSpPr>
          <a:xfrm rot="0">
            <a:off x="11696157" y="2953055"/>
            <a:ext cx="328136" cy="103546"/>
            <a:chOff x="0" y="0"/>
            <a:chExt cx="437515" cy="138062"/>
          </a:xfrm>
        </p:grpSpPr>
        <p:sp>
          <p:nvSpPr>
            <p:cNvPr name="Freeform 322" id="322"/>
            <p:cNvSpPr/>
            <p:nvPr/>
          </p:nvSpPr>
          <p:spPr>
            <a:xfrm flipH="false" flipV="false" rot="0">
              <a:off x="0" y="0"/>
              <a:ext cx="437515" cy="138064"/>
            </a:xfrm>
            <a:custGeom>
              <a:avLst/>
              <a:gdLst/>
              <a:ahLst/>
              <a:cxnLst/>
              <a:rect r="r" b="b" t="t" l="l"/>
              <a:pathLst>
                <a:path h="138064" w="437515">
                  <a:moveTo>
                    <a:pt x="0" y="0"/>
                  </a:moveTo>
                  <a:lnTo>
                    <a:pt x="437515" y="0"/>
                  </a:lnTo>
                  <a:lnTo>
                    <a:pt x="437515" y="138064"/>
                  </a:lnTo>
                  <a:lnTo>
                    <a:pt x="0" y="138064"/>
                  </a:lnTo>
                  <a:close/>
                </a:path>
              </a:pathLst>
            </a:custGeom>
            <a:blipFill>
              <a:blip r:embed="rId18">
                <a:alphaModFix amt="0"/>
              </a:blip>
              <a:stretch>
                <a:fillRect l="0" t="-11747" r="0" b="-11745"/>
              </a:stretch>
            </a:blipFill>
          </p:spPr>
        </p:sp>
        <p:sp>
          <p:nvSpPr>
            <p:cNvPr name="TextBox 323" id="323"/>
            <p:cNvSpPr txBox="true"/>
            <p:nvPr/>
          </p:nvSpPr>
          <p:spPr>
            <a:xfrm>
              <a:off x="0" y="9525"/>
              <a:ext cx="437515" cy="128537"/>
            </a:xfrm>
            <a:prstGeom prst="rect">
              <a:avLst/>
            </a:prstGeom>
          </p:spPr>
          <p:txBody>
            <a:bodyPr anchor="ctr" rtlCol="false" tIns="0" lIns="0" bIns="0" rIns="0"/>
            <a:lstStyle/>
            <a:p>
              <a:pPr algn="l">
                <a:lnSpc>
                  <a:spcPts val="573"/>
                </a:lnSpc>
              </a:pPr>
              <a:r>
                <a:rPr lang="en-US" sz="538">
                  <a:solidFill>
                    <a:srgbClr val="918B85"/>
                  </a:solidFill>
                  <a:latin typeface="TT Commons Pro"/>
                  <a:ea typeface="TT Commons Pro"/>
                  <a:cs typeface="TT Commons Pro"/>
                  <a:sym typeface="TT Commons Pro"/>
                </a:rPr>
                <a:t>Cetueerut</a:t>
              </a:r>
            </a:p>
          </p:txBody>
        </p:sp>
      </p:grpSp>
      <p:grpSp>
        <p:nvGrpSpPr>
          <p:cNvPr name="Group 324" id="324"/>
          <p:cNvGrpSpPr/>
          <p:nvPr/>
        </p:nvGrpSpPr>
        <p:grpSpPr>
          <a:xfrm rot="0">
            <a:off x="10726331" y="2953207"/>
            <a:ext cx="393764" cy="141875"/>
            <a:chOff x="0" y="0"/>
            <a:chExt cx="525018" cy="189166"/>
          </a:xfrm>
        </p:grpSpPr>
        <p:sp>
          <p:nvSpPr>
            <p:cNvPr name="Freeform 325" id="325"/>
            <p:cNvSpPr/>
            <p:nvPr/>
          </p:nvSpPr>
          <p:spPr>
            <a:xfrm flipH="false" flipV="false" rot="0">
              <a:off x="0" y="0"/>
              <a:ext cx="525018" cy="189230"/>
            </a:xfrm>
            <a:custGeom>
              <a:avLst/>
              <a:gdLst/>
              <a:ahLst/>
              <a:cxnLst/>
              <a:rect r="r" b="b" t="t" l="l"/>
              <a:pathLst>
                <a:path h="189230" w="525018">
                  <a:moveTo>
                    <a:pt x="0" y="0"/>
                  </a:moveTo>
                  <a:lnTo>
                    <a:pt x="525018" y="0"/>
                  </a:lnTo>
                  <a:lnTo>
                    <a:pt x="525018" y="189230"/>
                  </a:lnTo>
                  <a:lnTo>
                    <a:pt x="0" y="189230"/>
                  </a:lnTo>
                  <a:close/>
                </a:path>
              </a:pathLst>
            </a:custGeom>
            <a:blipFill>
              <a:blip r:embed="rId17">
                <a:alphaModFix amt="0"/>
              </a:blip>
              <a:stretch>
                <a:fillRect l="0" t="-4040" r="0" b="-4006"/>
              </a:stretch>
            </a:blipFill>
          </p:spPr>
        </p:sp>
      </p:grpSp>
      <p:grpSp>
        <p:nvGrpSpPr>
          <p:cNvPr name="Group 326" id="326"/>
          <p:cNvGrpSpPr/>
          <p:nvPr/>
        </p:nvGrpSpPr>
        <p:grpSpPr>
          <a:xfrm rot="0">
            <a:off x="10726331" y="2967495"/>
            <a:ext cx="393764" cy="127587"/>
            <a:chOff x="0" y="0"/>
            <a:chExt cx="525018" cy="170116"/>
          </a:xfrm>
        </p:grpSpPr>
        <p:sp>
          <p:nvSpPr>
            <p:cNvPr name="Freeform 327" id="327"/>
            <p:cNvSpPr/>
            <p:nvPr/>
          </p:nvSpPr>
          <p:spPr>
            <a:xfrm flipH="false" flipV="false" rot="0">
              <a:off x="0" y="0"/>
              <a:ext cx="525019" cy="170115"/>
            </a:xfrm>
            <a:custGeom>
              <a:avLst/>
              <a:gdLst/>
              <a:ahLst/>
              <a:cxnLst/>
              <a:rect r="r" b="b" t="t" l="l"/>
              <a:pathLst>
                <a:path h="170115" w="525019">
                  <a:moveTo>
                    <a:pt x="0" y="0"/>
                  </a:moveTo>
                  <a:lnTo>
                    <a:pt x="525019" y="0"/>
                  </a:lnTo>
                  <a:lnTo>
                    <a:pt x="525019" y="170115"/>
                  </a:lnTo>
                  <a:lnTo>
                    <a:pt x="0" y="170115"/>
                  </a:lnTo>
                  <a:close/>
                </a:path>
              </a:pathLst>
            </a:custGeom>
            <a:blipFill>
              <a:blip r:embed="rId18">
                <a:alphaModFix amt="0"/>
              </a:blip>
              <a:stretch>
                <a:fillRect l="0" t="-10135" r="0" b="-10135"/>
              </a:stretch>
            </a:blipFill>
          </p:spPr>
        </p:sp>
        <p:sp>
          <p:nvSpPr>
            <p:cNvPr name="TextBox 328" id="328"/>
            <p:cNvSpPr txBox="true"/>
            <p:nvPr/>
          </p:nvSpPr>
          <p:spPr>
            <a:xfrm>
              <a:off x="0" y="19050"/>
              <a:ext cx="525018" cy="151066"/>
            </a:xfrm>
            <a:prstGeom prst="rect">
              <a:avLst/>
            </a:prstGeom>
          </p:spPr>
          <p:txBody>
            <a:bodyPr anchor="ctr" rtlCol="false" tIns="0" lIns="0" bIns="0" rIns="0"/>
            <a:lstStyle/>
            <a:p>
              <a:pPr algn="l">
                <a:lnSpc>
                  <a:spcPts val="574"/>
                </a:lnSpc>
              </a:pPr>
              <a:r>
                <a:rPr lang="en-US" sz="682">
                  <a:solidFill>
                    <a:srgbClr val="9A9590"/>
                  </a:solidFill>
                  <a:latin typeface="TT Commons Pro"/>
                  <a:ea typeface="TT Commons Pro"/>
                  <a:cs typeface="TT Commons Pro"/>
                  <a:sym typeface="TT Commons Pro"/>
                </a:rPr>
                <a:t>bataret</a:t>
              </a:r>
            </a:p>
          </p:txBody>
        </p:sp>
      </p:grpSp>
      <p:grpSp>
        <p:nvGrpSpPr>
          <p:cNvPr name="Group 329" id="329"/>
          <p:cNvGrpSpPr/>
          <p:nvPr/>
        </p:nvGrpSpPr>
        <p:grpSpPr>
          <a:xfrm rot="0">
            <a:off x="10339864" y="2953207"/>
            <a:ext cx="233343" cy="158496"/>
            <a:chOff x="0" y="0"/>
            <a:chExt cx="311125" cy="211328"/>
          </a:xfrm>
        </p:grpSpPr>
        <p:sp>
          <p:nvSpPr>
            <p:cNvPr name="Freeform 330" id="330"/>
            <p:cNvSpPr/>
            <p:nvPr/>
          </p:nvSpPr>
          <p:spPr>
            <a:xfrm flipH="false" flipV="false" rot="0">
              <a:off x="0" y="0"/>
              <a:ext cx="311150" cy="211328"/>
            </a:xfrm>
            <a:custGeom>
              <a:avLst/>
              <a:gdLst/>
              <a:ahLst/>
              <a:cxnLst/>
              <a:rect r="r" b="b" t="t" l="l"/>
              <a:pathLst>
                <a:path h="211328" w="311150">
                  <a:moveTo>
                    <a:pt x="0" y="0"/>
                  </a:moveTo>
                  <a:lnTo>
                    <a:pt x="311150" y="0"/>
                  </a:lnTo>
                  <a:lnTo>
                    <a:pt x="311150" y="211328"/>
                  </a:lnTo>
                  <a:lnTo>
                    <a:pt x="0" y="211328"/>
                  </a:lnTo>
                  <a:close/>
                </a:path>
              </a:pathLst>
            </a:custGeom>
            <a:blipFill>
              <a:blip r:embed="rId17">
                <a:alphaModFix amt="0"/>
              </a:blip>
              <a:stretch>
                <a:fillRect l="-37208" t="0" r="-37199" b="0"/>
              </a:stretch>
            </a:blipFill>
          </p:spPr>
        </p:sp>
      </p:grpSp>
      <p:grpSp>
        <p:nvGrpSpPr>
          <p:cNvPr name="Group 331" id="331"/>
          <p:cNvGrpSpPr/>
          <p:nvPr/>
        </p:nvGrpSpPr>
        <p:grpSpPr>
          <a:xfrm rot="0">
            <a:off x="10339864" y="2967495"/>
            <a:ext cx="233343" cy="144208"/>
            <a:chOff x="0" y="0"/>
            <a:chExt cx="311125" cy="192278"/>
          </a:xfrm>
        </p:grpSpPr>
        <p:sp>
          <p:nvSpPr>
            <p:cNvPr name="Freeform 332" id="332"/>
            <p:cNvSpPr/>
            <p:nvPr/>
          </p:nvSpPr>
          <p:spPr>
            <a:xfrm flipH="false" flipV="false" rot="0">
              <a:off x="0" y="0"/>
              <a:ext cx="311124" cy="192281"/>
            </a:xfrm>
            <a:custGeom>
              <a:avLst/>
              <a:gdLst/>
              <a:ahLst/>
              <a:cxnLst/>
              <a:rect r="r" b="b" t="t" l="l"/>
              <a:pathLst>
                <a:path h="192281" w="311124">
                  <a:moveTo>
                    <a:pt x="0" y="0"/>
                  </a:moveTo>
                  <a:lnTo>
                    <a:pt x="311124" y="0"/>
                  </a:lnTo>
                  <a:lnTo>
                    <a:pt x="311124" y="192281"/>
                  </a:lnTo>
                  <a:lnTo>
                    <a:pt x="0" y="192281"/>
                  </a:lnTo>
                  <a:close/>
                </a:path>
              </a:pathLst>
            </a:custGeom>
            <a:blipFill>
              <a:blip r:embed="rId18">
                <a:alphaModFix amt="0"/>
              </a:blip>
              <a:stretch>
                <a:fillRect l="-29292" t="0" r="-29293" b="1"/>
              </a:stretch>
            </a:blipFill>
          </p:spPr>
        </p:sp>
        <p:sp>
          <p:nvSpPr>
            <p:cNvPr name="TextBox 333" id="333"/>
            <p:cNvSpPr txBox="true"/>
            <p:nvPr/>
          </p:nvSpPr>
          <p:spPr>
            <a:xfrm>
              <a:off x="0" y="19050"/>
              <a:ext cx="311125" cy="173228"/>
            </a:xfrm>
            <a:prstGeom prst="rect">
              <a:avLst/>
            </a:prstGeom>
          </p:spPr>
          <p:txBody>
            <a:bodyPr anchor="ctr" rtlCol="false" tIns="0" lIns="0" bIns="0" rIns="0"/>
            <a:lstStyle/>
            <a:p>
              <a:pPr algn="l">
                <a:lnSpc>
                  <a:spcPts val="673"/>
                </a:lnSpc>
              </a:pPr>
              <a:r>
                <a:rPr lang="en-US" sz="774">
                  <a:solidFill>
                    <a:srgbClr val="95918C"/>
                  </a:solidFill>
                  <a:latin typeface="TT Commons Pro"/>
                  <a:ea typeface="TT Commons Pro"/>
                  <a:cs typeface="TT Commons Pro"/>
                  <a:sym typeface="TT Commons Pro"/>
                </a:rPr>
                <a:t>Feud</a:t>
              </a:r>
            </a:p>
          </p:txBody>
        </p:sp>
      </p:grpSp>
      <p:grpSp>
        <p:nvGrpSpPr>
          <p:cNvPr name="Group 334" id="334"/>
          <p:cNvGrpSpPr/>
          <p:nvPr/>
        </p:nvGrpSpPr>
        <p:grpSpPr>
          <a:xfrm rot="0">
            <a:off x="10354447" y="2114645"/>
            <a:ext cx="860441" cy="158591"/>
            <a:chOff x="0" y="0"/>
            <a:chExt cx="1147254" cy="211455"/>
          </a:xfrm>
        </p:grpSpPr>
        <p:sp>
          <p:nvSpPr>
            <p:cNvPr name="Freeform 335" id="335"/>
            <p:cNvSpPr/>
            <p:nvPr/>
          </p:nvSpPr>
          <p:spPr>
            <a:xfrm flipH="false" flipV="false" rot="0">
              <a:off x="0" y="0"/>
              <a:ext cx="1147318" cy="211455"/>
            </a:xfrm>
            <a:custGeom>
              <a:avLst/>
              <a:gdLst/>
              <a:ahLst/>
              <a:cxnLst/>
              <a:rect r="r" b="b" t="t" l="l"/>
              <a:pathLst>
                <a:path h="211455" w="1147318">
                  <a:moveTo>
                    <a:pt x="0" y="0"/>
                  </a:moveTo>
                  <a:lnTo>
                    <a:pt x="1147318" y="0"/>
                  </a:lnTo>
                  <a:lnTo>
                    <a:pt x="1147318" y="211455"/>
                  </a:lnTo>
                  <a:lnTo>
                    <a:pt x="0" y="211455"/>
                  </a:lnTo>
                  <a:close/>
                </a:path>
              </a:pathLst>
            </a:custGeom>
            <a:blipFill>
              <a:blip r:embed="rId17">
                <a:alphaModFix amt="0"/>
              </a:blip>
              <a:stretch>
                <a:fillRect l="0" t="-55639" r="5" b="-55645"/>
              </a:stretch>
            </a:blipFill>
          </p:spPr>
        </p:sp>
      </p:grpSp>
      <p:grpSp>
        <p:nvGrpSpPr>
          <p:cNvPr name="Group 336" id="336"/>
          <p:cNvGrpSpPr/>
          <p:nvPr/>
        </p:nvGrpSpPr>
        <p:grpSpPr>
          <a:xfrm rot="0">
            <a:off x="10354447" y="2121789"/>
            <a:ext cx="860441" cy="151448"/>
            <a:chOff x="0" y="0"/>
            <a:chExt cx="1147254" cy="201930"/>
          </a:xfrm>
        </p:grpSpPr>
        <p:sp>
          <p:nvSpPr>
            <p:cNvPr name="Freeform 337" id="337"/>
            <p:cNvSpPr/>
            <p:nvPr/>
          </p:nvSpPr>
          <p:spPr>
            <a:xfrm flipH="false" flipV="false" rot="0">
              <a:off x="0" y="0"/>
              <a:ext cx="1147255" cy="201931"/>
            </a:xfrm>
            <a:custGeom>
              <a:avLst/>
              <a:gdLst/>
              <a:ahLst/>
              <a:cxnLst/>
              <a:rect r="r" b="b" t="t" l="l"/>
              <a:pathLst>
                <a:path h="201931" w="1147255">
                  <a:moveTo>
                    <a:pt x="0" y="0"/>
                  </a:moveTo>
                  <a:lnTo>
                    <a:pt x="1147255" y="0"/>
                  </a:lnTo>
                  <a:lnTo>
                    <a:pt x="1147255" y="201931"/>
                  </a:lnTo>
                  <a:lnTo>
                    <a:pt x="0" y="201931"/>
                  </a:lnTo>
                  <a:close/>
                </a:path>
              </a:pathLst>
            </a:custGeom>
            <a:blipFill>
              <a:blip r:embed="rId18">
                <a:alphaModFix amt="0"/>
              </a:blip>
              <a:stretch>
                <a:fillRect l="0" t="-60702" r="0" b="-60702"/>
              </a:stretch>
            </a:blipFill>
          </p:spPr>
        </p:sp>
        <p:sp>
          <p:nvSpPr>
            <p:cNvPr name="TextBox 338" id="338"/>
            <p:cNvSpPr txBox="true"/>
            <p:nvPr/>
          </p:nvSpPr>
          <p:spPr>
            <a:xfrm>
              <a:off x="0" y="9525"/>
              <a:ext cx="1147254" cy="192405"/>
            </a:xfrm>
            <a:prstGeom prst="rect">
              <a:avLst/>
            </a:prstGeom>
          </p:spPr>
          <p:txBody>
            <a:bodyPr anchor="ctr" rtlCol="false" tIns="0" lIns="0" bIns="0" rIns="0"/>
            <a:lstStyle/>
            <a:p>
              <a:pPr algn="l">
                <a:lnSpc>
                  <a:spcPts val="747"/>
                </a:lnSpc>
              </a:pPr>
              <a:r>
                <a:rPr lang="en-US" sz="774">
                  <a:solidFill>
                    <a:srgbClr val="7E6A58"/>
                  </a:solidFill>
                  <a:latin typeface="TT Commons Pro"/>
                  <a:ea typeface="TT Commons Pro"/>
                  <a:cs typeface="TT Commons Pro"/>
                  <a:sym typeface="TT Commons Pro"/>
                </a:rPr>
                <a:t>DELIVERED FAST</a:t>
              </a:r>
            </a:p>
          </p:txBody>
        </p:sp>
      </p:grpSp>
      <p:grpSp>
        <p:nvGrpSpPr>
          <p:cNvPr name="Group 339" id="339"/>
          <p:cNvGrpSpPr/>
          <p:nvPr/>
        </p:nvGrpSpPr>
        <p:grpSpPr>
          <a:xfrm rot="0">
            <a:off x="10354447" y="1954216"/>
            <a:ext cx="641680" cy="198196"/>
            <a:chOff x="0" y="0"/>
            <a:chExt cx="855574" cy="264262"/>
          </a:xfrm>
        </p:grpSpPr>
        <p:sp>
          <p:nvSpPr>
            <p:cNvPr name="Freeform 340" id="340"/>
            <p:cNvSpPr/>
            <p:nvPr/>
          </p:nvSpPr>
          <p:spPr>
            <a:xfrm flipH="false" flipV="false" rot="0">
              <a:off x="0" y="0"/>
              <a:ext cx="855599" cy="264287"/>
            </a:xfrm>
            <a:custGeom>
              <a:avLst/>
              <a:gdLst/>
              <a:ahLst/>
              <a:cxnLst/>
              <a:rect r="r" b="b" t="t" l="l"/>
              <a:pathLst>
                <a:path h="264287" w="855599">
                  <a:moveTo>
                    <a:pt x="0" y="0"/>
                  </a:moveTo>
                  <a:lnTo>
                    <a:pt x="855599" y="0"/>
                  </a:lnTo>
                  <a:lnTo>
                    <a:pt x="855599" y="264287"/>
                  </a:lnTo>
                  <a:lnTo>
                    <a:pt x="0" y="264287"/>
                  </a:lnTo>
                  <a:close/>
                </a:path>
              </a:pathLst>
            </a:custGeom>
            <a:blipFill>
              <a:blip r:embed="rId17">
                <a:alphaModFix amt="0"/>
              </a:blip>
              <a:stretch>
                <a:fillRect l="0" t="-13037" r="2" b="-13032"/>
              </a:stretch>
            </a:blipFill>
          </p:spPr>
        </p:sp>
      </p:grpSp>
      <p:grpSp>
        <p:nvGrpSpPr>
          <p:cNvPr name="Group 341" id="341"/>
          <p:cNvGrpSpPr/>
          <p:nvPr/>
        </p:nvGrpSpPr>
        <p:grpSpPr>
          <a:xfrm rot="0">
            <a:off x="10354447" y="1968503"/>
            <a:ext cx="641680" cy="183909"/>
            <a:chOff x="0" y="0"/>
            <a:chExt cx="855574" cy="245212"/>
          </a:xfrm>
        </p:grpSpPr>
        <p:sp>
          <p:nvSpPr>
            <p:cNvPr name="Freeform 342" id="342"/>
            <p:cNvSpPr/>
            <p:nvPr/>
          </p:nvSpPr>
          <p:spPr>
            <a:xfrm flipH="false" flipV="false" rot="0">
              <a:off x="0" y="0"/>
              <a:ext cx="855573" cy="245211"/>
            </a:xfrm>
            <a:custGeom>
              <a:avLst/>
              <a:gdLst/>
              <a:ahLst/>
              <a:cxnLst/>
              <a:rect r="r" b="b" t="t" l="l"/>
              <a:pathLst>
                <a:path h="245211" w="855573">
                  <a:moveTo>
                    <a:pt x="0" y="0"/>
                  </a:moveTo>
                  <a:lnTo>
                    <a:pt x="855573" y="0"/>
                  </a:lnTo>
                  <a:lnTo>
                    <a:pt x="855573" y="245211"/>
                  </a:lnTo>
                  <a:lnTo>
                    <a:pt x="0" y="245211"/>
                  </a:lnTo>
                  <a:close/>
                </a:path>
              </a:pathLst>
            </a:custGeom>
            <a:blipFill>
              <a:blip r:embed="rId18">
                <a:alphaModFix amt="0"/>
              </a:blip>
              <a:stretch>
                <a:fillRect l="0" t="-17985" r="0" b="-17985"/>
              </a:stretch>
            </a:blipFill>
          </p:spPr>
        </p:sp>
        <p:sp>
          <p:nvSpPr>
            <p:cNvPr name="TextBox 343" id="343"/>
            <p:cNvSpPr txBox="true"/>
            <p:nvPr/>
          </p:nvSpPr>
          <p:spPr>
            <a:xfrm>
              <a:off x="0" y="19050"/>
              <a:ext cx="855574" cy="226162"/>
            </a:xfrm>
            <a:prstGeom prst="rect">
              <a:avLst/>
            </a:prstGeom>
          </p:spPr>
          <p:txBody>
            <a:bodyPr anchor="ctr" rtlCol="false" tIns="0" lIns="0" bIns="0" rIns="0"/>
            <a:lstStyle/>
            <a:p>
              <a:pPr algn="l">
                <a:lnSpc>
                  <a:spcPts val="906"/>
                </a:lnSpc>
              </a:pPr>
              <a:r>
                <a:rPr lang="en-US" sz="919" b="true">
                  <a:solidFill>
                    <a:srgbClr val="7B6A58"/>
                  </a:solidFill>
                  <a:latin typeface="TT Commons Pro Bold"/>
                  <a:ea typeface="TT Commons Pro Bold"/>
                  <a:cs typeface="TT Commons Pro Bold"/>
                  <a:sym typeface="TT Commons Pro Bold"/>
                </a:rPr>
                <a:t>FOOD YOU</a:t>
              </a:r>
            </a:p>
          </p:txBody>
        </p:sp>
      </p:grpSp>
      <p:grpSp>
        <p:nvGrpSpPr>
          <p:cNvPr name="Group 344" id="344"/>
          <p:cNvGrpSpPr/>
          <p:nvPr/>
        </p:nvGrpSpPr>
        <p:grpSpPr>
          <a:xfrm rot="0">
            <a:off x="10514867" y="1502121"/>
            <a:ext cx="1013565" cy="157372"/>
            <a:chOff x="0" y="0"/>
            <a:chExt cx="1351420" cy="209829"/>
          </a:xfrm>
        </p:grpSpPr>
        <p:sp>
          <p:nvSpPr>
            <p:cNvPr name="Freeform 345" id="345"/>
            <p:cNvSpPr/>
            <p:nvPr/>
          </p:nvSpPr>
          <p:spPr>
            <a:xfrm flipH="false" flipV="false" rot="0">
              <a:off x="0" y="0"/>
              <a:ext cx="1351407" cy="209804"/>
            </a:xfrm>
            <a:custGeom>
              <a:avLst/>
              <a:gdLst/>
              <a:ahLst/>
              <a:cxnLst/>
              <a:rect r="r" b="b" t="t" l="l"/>
              <a:pathLst>
                <a:path h="209804" w="1351407">
                  <a:moveTo>
                    <a:pt x="0" y="0"/>
                  </a:moveTo>
                  <a:lnTo>
                    <a:pt x="1351407" y="0"/>
                  </a:lnTo>
                  <a:lnTo>
                    <a:pt x="1351407" y="209804"/>
                  </a:lnTo>
                  <a:lnTo>
                    <a:pt x="0" y="209804"/>
                  </a:lnTo>
                  <a:close/>
                </a:path>
              </a:pathLst>
            </a:custGeom>
            <a:blipFill>
              <a:blip r:embed="rId17">
                <a:alphaModFix amt="0"/>
              </a:blip>
              <a:stretch>
                <a:fillRect l="0" t="-75417" r="0" b="-75429"/>
              </a:stretch>
            </a:blipFill>
          </p:spPr>
        </p:sp>
      </p:grpSp>
      <p:grpSp>
        <p:nvGrpSpPr>
          <p:cNvPr name="Group 346" id="346"/>
          <p:cNvGrpSpPr/>
          <p:nvPr/>
        </p:nvGrpSpPr>
        <p:grpSpPr>
          <a:xfrm rot="0">
            <a:off x="10514867" y="1502121"/>
            <a:ext cx="1013565" cy="157372"/>
            <a:chOff x="0" y="0"/>
            <a:chExt cx="1351420" cy="209829"/>
          </a:xfrm>
        </p:grpSpPr>
        <p:sp>
          <p:nvSpPr>
            <p:cNvPr name="Freeform 347" id="347"/>
            <p:cNvSpPr/>
            <p:nvPr/>
          </p:nvSpPr>
          <p:spPr>
            <a:xfrm flipH="false" flipV="false" rot="0">
              <a:off x="0" y="0"/>
              <a:ext cx="1351420" cy="209828"/>
            </a:xfrm>
            <a:custGeom>
              <a:avLst/>
              <a:gdLst/>
              <a:ahLst/>
              <a:cxnLst/>
              <a:rect r="r" b="b" t="t" l="l"/>
              <a:pathLst>
                <a:path h="209828" w="1351420">
                  <a:moveTo>
                    <a:pt x="0" y="0"/>
                  </a:moveTo>
                  <a:lnTo>
                    <a:pt x="1351420" y="0"/>
                  </a:lnTo>
                  <a:lnTo>
                    <a:pt x="1351420" y="209828"/>
                  </a:lnTo>
                  <a:lnTo>
                    <a:pt x="0" y="209828"/>
                  </a:lnTo>
                  <a:close/>
                </a:path>
              </a:pathLst>
            </a:custGeom>
            <a:blipFill>
              <a:blip r:embed="rId18">
                <a:alphaModFix amt="0"/>
              </a:blip>
              <a:stretch>
                <a:fillRect l="0" t="-75495" r="0" b="-75495"/>
              </a:stretch>
            </a:blipFill>
          </p:spPr>
        </p:sp>
        <p:sp>
          <p:nvSpPr>
            <p:cNvPr name="TextBox 348" id="348"/>
            <p:cNvSpPr txBox="true"/>
            <p:nvPr/>
          </p:nvSpPr>
          <p:spPr>
            <a:xfrm>
              <a:off x="0" y="0"/>
              <a:ext cx="1351420" cy="209829"/>
            </a:xfrm>
            <a:prstGeom prst="rect">
              <a:avLst/>
            </a:prstGeom>
          </p:spPr>
          <p:txBody>
            <a:bodyPr anchor="ctr" rtlCol="false" tIns="0" lIns="0" bIns="0" rIns="0"/>
            <a:lstStyle/>
            <a:p>
              <a:pPr algn="l">
                <a:lnSpc>
                  <a:spcPts val="802"/>
                </a:lnSpc>
              </a:pPr>
              <a:r>
                <a:rPr lang="en-US" sz="757">
                  <a:solidFill>
                    <a:srgbClr val="BEBCBC"/>
                  </a:solidFill>
                  <a:latin typeface="TT Commons Pro"/>
                  <a:ea typeface="TT Commons Pro"/>
                  <a:cs typeface="TT Commons Pro"/>
                  <a:sym typeface="TT Commons Pro"/>
                </a:rPr>
                <a:t>Search for rettaurants</a:t>
              </a:r>
            </a:p>
          </p:txBody>
        </p:sp>
      </p:grpSp>
      <p:grpSp>
        <p:nvGrpSpPr>
          <p:cNvPr name="Group 349" id="349"/>
          <p:cNvGrpSpPr/>
          <p:nvPr/>
        </p:nvGrpSpPr>
        <p:grpSpPr>
          <a:xfrm rot="0">
            <a:off x="10864882" y="1195864"/>
            <a:ext cx="612515" cy="243211"/>
            <a:chOff x="0" y="0"/>
            <a:chExt cx="816686" cy="324282"/>
          </a:xfrm>
        </p:grpSpPr>
        <p:sp>
          <p:nvSpPr>
            <p:cNvPr name="Freeform 350" id="350"/>
            <p:cNvSpPr/>
            <p:nvPr/>
          </p:nvSpPr>
          <p:spPr>
            <a:xfrm flipH="false" flipV="false" rot="0">
              <a:off x="0" y="0"/>
              <a:ext cx="816737" cy="324231"/>
            </a:xfrm>
            <a:custGeom>
              <a:avLst/>
              <a:gdLst/>
              <a:ahLst/>
              <a:cxnLst/>
              <a:rect r="r" b="b" t="t" l="l"/>
              <a:pathLst>
                <a:path h="324231" w="816737">
                  <a:moveTo>
                    <a:pt x="0" y="0"/>
                  </a:moveTo>
                  <a:lnTo>
                    <a:pt x="816737" y="0"/>
                  </a:lnTo>
                  <a:lnTo>
                    <a:pt x="816737" y="324231"/>
                  </a:lnTo>
                  <a:lnTo>
                    <a:pt x="0" y="324231"/>
                  </a:lnTo>
                  <a:close/>
                </a:path>
              </a:pathLst>
            </a:custGeom>
            <a:blipFill>
              <a:blip r:embed="rId17">
                <a:alphaModFix amt="0"/>
              </a:blip>
              <a:stretch>
                <a:fillRect l="-979" t="0" r="-973" b="-15"/>
              </a:stretch>
            </a:blipFill>
          </p:spPr>
        </p:sp>
      </p:grpSp>
      <p:grpSp>
        <p:nvGrpSpPr>
          <p:cNvPr name="Group 351" id="351"/>
          <p:cNvGrpSpPr/>
          <p:nvPr/>
        </p:nvGrpSpPr>
        <p:grpSpPr>
          <a:xfrm rot="0">
            <a:off x="10864882" y="1224439"/>
            <a:ext cx="612515" cy="214627"/>
            <a:chOff x="0" y="0"/>
            <a:chExt cx="816686" cy="286169"/>
          </a:xfrm>
        </p:grpSpPr>
        <p:sp>
          <p:nvSpPr>
            <p:cNvPr name="Freeform 352" id="352"/>
            <p:cNvSpPr/>
            <p:nvPr/>
          </p:nvSpPr>
          <p:spPr>
            <a:xfrm flipH="false" flipV="false" rot="0">
              <a:off x="0" y="0"/>
              <a:ext cx="816687" cy="286171"/>
            </a:xfrm>
            <a:custGeom>
              <a:avLst/>
              <a:gdLst/>
              <a:ahLst/>
              <a:cxnLst/>
              <a:rect r="r" b="b" t="t" l="l"/>
              <a:pathLst>
                <a:path h="286171" w="816687">
                  <a:moveTo>
                    <a:pt x="0" y="0"/>
                  </a:moveTo>
                  <a:lnTo>
                    <a:pt x="816687" y="0"/>
                  </a:lnTo>
                  <a:lnTo>
                    <a:pt x="816687" y="286171"/>
                  </a:lnTo>
                  <a:lnTo>
                    <a:pt x="0" y="286171"/>
                  </a:lnTo>
                  <a:close/>
                </a:path>
              </a:pathLst>
            </a:custGeom>
            <a:blipFill>
              <a:blip r:embed="rId18">
                <a:alphaModFix amt="0"/>
              </a:blip>
              <a:stretch>
                <a:fillRect l="0" t="-5607" r="0" b="-5606"/>
              </a:stretch>
            </a:blipFill>
          </p:spPr>
        </p:sp>
        <p:sp>
          <p:nvSpPr>
            <p:cNvPr name="TextBox 353" id="353"/>
            <p:cNvSpPr txBox="true"/>
            <p:nvPr/>
          </p:nvSpPr>
          <p:spPr>
            <a:xfrm>
              <a:off x="0" y="38100"/>
              <a:ext cx="816686" cy="248069"/>
            </a:xfrm>
            <a:prstGeom prst="rect">
              <a:avLst/>
            </a:prstGeom>
          </p:spPr>
          <p:txBody>
            <a:bodyPr anchor="ctr" rtlCol="false" tIns="0" lIns="0" bIns="0" rIns="0"/>
            <a:lstStyle/>
            <a:p>
              <a:pPr algn="l">
                <a:lnSpc>
                  <a:spcPts val="904"/>
                </a:lnSpc>
              </a:pPr>
              <a:r>
                <a:rPr lang="en-US" sz="1125" b="true">
                  <a:solidFill>
                    <a:srgbClr val="EBA97A"/>
                  </a:solidFill>
                  <a:latin typeface="TT Commons Pro Bold"/>
                  <a:ea typeface="TT Commons Pro Bold"/>
                  <a:cs typeface="TT Commons Pro Bold"/>
                  <a:sym typeface="TT Commons Pro Bold"/>
                </a:rPr>
                <a:t>SWIGGY</a:t>
              </a:r>
            </a:p>
          </p:txBody>
        </p:sp>
      </p:grpSp>
      <p:grpSp>
        <p:nvGrpSpPr>
          <p:cNvPr name="Group 354" id="354"/>
          <p:cNvGrpSpPr/>
          <p:nvPr/>
        </p:nvGrpSpPr>
        <p:grpSpPr>
          <a:xfrm rot="0">
            <a:off x="10354447" y="539601"/>
            <a:ext cx="182299" cy="102079"/>
            <a:chOff x="0" y="0"/>
            <a:chExt cx="243065" cy="136106"/>
          </a:xfrm>
        </p:grpSpPr>
        <p:sp>
          <p:nvSpPr>
            <p:cNvPr name="Freeform 355" id="355"/>
            <p:cNvSpPr/>
            <p:nvPr/>
          </p:nvSpPr>
          <p:spPr>
            <a:xfrm flipH="false" flipV="false" rot="0">
              <a:off x="0" y="0"/>
              <a:ext cx="243078" cy="136144"/>
            </a:xfrm>
            <a:custGeom>
              <a:avLst/>
              <a:gdLst/>
              <a:ahLst/>
              <a:cxnLst/>
              <a:rect r="r" b="b" t="t" l="l"/>
              <a:pathLst>
                <a:path h="136144" w="243078">
                  <a:moveTo>
                    <a:pt x="0" y="0"/>
                  </a:moveTo>
                  <a:lnTo>
                    <a:pt x="243078" y="0"/>
                  </a:lnTo>
                  <a:lnTo>
                    <a:pt x="243078" y="136144"/>
                  </a:lnTo>
                  <a:lnTo>
                    <a:pt x="0" y="136144"/>
                  </a:lnTo>
                  <a:close/>
                </a:path>
              </a:pathLst>
            </a:custGeom>
            <a:blipFill>
              <a:blip r:embed="rId17">
                <a:alphaModFix amt="0"/>
              </a:blip>
              <a:stretch>
                <a:fillRect l="-21896" t="0" r="-21891" b="27"/>
              </a:stretch>
            </a:blipFill>
          </p:spPr>
        </p:sp>
      </p:grpSp>
      <p:grpSp>
        <p:nvGrpSpPr>
          <p:cNvPr name="Group 356" id="356"/>
          <p:cNvGrpSpPr/>
          <p:nvPr/>
        </p:nvGrpSpPr>
        <p:grpSpPr>
          <a:xfrm rot="0">
            <a:off x="10354447" y="553888"/>
            <a:ext cx="182299" cy="87801"/>
            <a:chOff x="0" y="0"/>
            <a:chExt cx="243065" cy="117069"/>
          </a:xfrm>
        </p:grpSpPr>
        <p:sp>
          <p:nvSpPr>
            <p:cNvPr name="Freeform 357" id="357"/>
            <p:cNvSpPr/>
            <p:nvPr/>
          </p:nvSpPr>
          <p:spPr>
            <a:xfrm flipH="false" flipV="false" rot="0">
              <a:off x="0" y="0"/>
              <a:ext cx="243065" cy="117065"/>
            </a:xfrm>
            <a:custGeom>
              <a:avLst/>
              <a:gdLst/>
              <a:ahLst/>
              <a:cxnLst/>
              <a:rect r="r" b="b" t="t" l="l"/>
              <a:pathLst>
                <a:path h="117065" w="243065">
                  <a:moveTo>
                    <a:pt x="0" y="0"/>
                  </a:moveTo>
                  <a:lnTo>
                    <a:pt x="243065" y="0"/>
                  </a:lnTo>
                  <a:lnTo>
                    <a:pt x="243065" y="117065"/>
                  </a:lnTo>
                  <a:lnTo>
                    <a:pt x="0" y="117065"/>
                  </a:lnTo>
                  <a:close/>
                </a:path>
              </a:pathLst>
            </a:custGeom>
            <a:blipFill>
              <a:blip r:embed="rId18">
                <a:alphaModFix amt="0"/>
              </a:blip>
              <a:stretch>
                <a:fillRect l="-11795" t="0" r="-11795" b="-3"/>
              </a:stretch>
            </a:blipFill>
          </p:spPr>
        </p:sp>
        <p:sp>
          <p:nvSpPr>
            <p:cNvPr name="TextBox 358" id="358"/>
            <p:cNvSpPr txBox="true"/>
            <p:nvPr/>
          </p:nvSpPr>
          <p:spPr>
            <a:xfrm>
              <a:off x="0" y="19050"/>
              <a:ext cx="243065" cy="98019"/>
            </a:xfrm>
            <a:prstGeom prst="rect">
              <a:avLst/>
            </a:prstGeom>
          </p:spPr>
          <p:txBody>
            <a:bodyPr anchor="ctr" rtlCol="false" tIns="0" lIns="0" bIns="0" rIns="0"/>
            <a:lstStyle/>
            <a:p>
              <a:pPr algn="l">
                <a:lnSpc>
                  <a:spcPts val="396"/>
                </a:lnSpc>
              </a:pPr>
              <a:r>
                <a:rPr lang="en-US" sz="470" b="true">
                  <a:solidFill>
                    <a:srgbClr val="A53E0A"/>
                  </a:solidFill>
                  <a:latin typeface="TT Commons Pro Bold"/>
                  <a:ea typeface="TT Commons Pro Bold"/>
                  <a:cs typeface="TT Commons Pro Bold"/>
                  <a:sym typeface="TT Commons Pro Bold"/>
                </a:rPr>
                <a:t>BEME</a:t>
              </a:r>
            </a:p>
          </p:txBody>
        </p:sp>
      </p:grpSp>
      <p:grpSp>
        <p:nvGrpSpPr>
          <p:cNvPr name="Group 359" id="359"/>
          <p:cNvGrpSpPr/>
          <p:nvPr/>
        </p:nvGrpSpPr>
        <p:grpSpPr>
          <a:xfrm rot="0">
            <a:off x="520094" y="2030292"/>
            <a:ext cx="7926257" cy="2356180"/>
            <a:chOff x="0" y="0"/>
            <a:chExt cx="10568343" cy="3141574"/>
          </a:xfrm>
        </p:grpSpPr>
        <p:sp>
          <p:nvSpPr>
            <p:cNvPr name="Freeform 360" id="360"/>
            <p:cNvSpPr/>
            <p:nvPr/>
          </p:nvSpPr>
          <p:spPr>
            <a:xfrm flipH="false" flipV="false" rot="0">
              <a:off x="0" y="0"/>
              <a:ext cx="10568305" cy="3141599"/>
            </a:xfrm>
            <a:custGeom>
              <a:avLst/>
              <a:gdLst/>
              <a:ahLst/>
              <a:cxnLst/>
              <a:rect r="r" b="b" t="t" l="l"/>
              <a:pathLst>
                <a:path h="3141599" w="10568305">
                  <a:moveTo>
                    <a:pt x="0" y="0"/>
                  </a:moveTo>
                  <a:lnTo>
                    <a:pt x="10568305" y="0"/>
                  </a:lnTo>
                  <a:lnTo>
                    <a:pt x="10568305" y="3141599"/>
                  </a:lnTo>
                  <a:lnTo>
                    <a:pt x="0" y="3141599"/>
                  </a:lnTo>
                  <a:close/>
                </a:path>
              </a:pathLst>
            </a:custGeom>
            <a:blipFill>
              <a:blip r:embed="rId17">
                <a:alphaModFix amt="0"/>
              </a:blip>
              <a:stretch>
                <a:fillRect l="0" t="-15502" r="0" b="-15501"/>
              </a:stretch>
            </a:blipFill>
          </p:spPr>
        </p:sp>
      </p:grpSp>
      <p:grpSp>
        <p:nvGrpSpPr>
          <p:cNvPr name="Group 361" id="361"/>
          <p:cNvGrpSpPr/>
          <p:nvPr/>
        </p:nvGrpSpPr>
        <p:grpSpPr>
          <a:xfrm rot="0">
            <a:off x="520094" y="1937423"/>
            <a:ext cx="7926257" cy="2449049"/>
            <a:chOff x="0" y="0"/>
            <a:chExt cx="10568343" cy="3265399"/>
          </a:xfrm>
        </p:grpSpPr>
        <p:sp>
          <p:nvSpPr>
            <p:cNvPr name="Freeform 362" id="362"/>
            <p:cNvSpPr/>
            <p:nvPr/>
          </p:nvSpPr>
          <p:spPr>
            <a:xfrm flipH="false" flipV="false" rot="0">
              <a:off x="0" y="0"/>
              <a:ext cx="10568349" cy="3265398"/>
            </a:xfrm>
            <a:custGeom>
              <a:avLst/>
              <a:gdLst/>
              <a:ahLst/>
              <a:cxnLst/>
              <a:rect r="r" b="b" t="t" l="l"/>
              <a:pathLst>
                <a:path h="3265398" w="10568349">
                  <a:moveTo>
                    <a:pt x="0" y="0"/>
                  </a:moveTo>
                  <a:lnTo>
                    <a:pt x="10568349" y="0"/>
                  </a:lnTo>
                  <a:lnTo>
                    <a:pt x="10568349" y="3265398"/>
                  </a:lnTo>
                  <a:lnTo>
                    <a:pt x="0" y="3265398"/>
                  </a:lnTo>
                  <a:close/>
                </a:path>
              </a:pathLst>
            </a:custGeom>
            <a:blipFill>
              <a:blip r:embed="rId18">
                <a:alphaModFix amt="0"/>
              </a:blip>
              <a:stretch>
                <a:fillRect l="0" t="-13062" r="0" b="-13062"/>
              </a:stretch>
            </a:blipFill>
          </p:spPr>
        </p:sp>
        <p:sp>
          <p:nvSpPr>
            <p:cNvPr name="TextBox 363" id="363"/>
            <p:cNvSpPr txBox="true"/>
            <p:nvPr/>
          </p:nvSpPr>
          <p:spPr>
            <a:xfrm>
              <a:off x="0" y="-123825"/>
              <a:ext cx="10568343" cy="3389224"/>
            </a:xfrm>
            <a:prstGeom prst="rect">
              <a:avLst/>
            </a:prstGeom>
          </p:spPr>
          <p:txBody>
            <a:bodyPr anchor="ctr" rtlCol="false" tIns="0" lIns="0" bIns="0" rIns="0"/>
            <a:lstStyle/>
            <a:p>
              <a:pPr algn="l">
                <a:lnSpc>
                  <a:spcPts val="3779"/>
                </a:lnSpc>
              </a:pPr>
              <a:r>
                <a:rPr lang="en-US" sz="2099">
                  <a:solidFill>
                    <a:srgbClr val="F2EFEB"/>
                  </a:solidFill>
                  <a:latin typeface="TT Commons Pro"/>
                  <a:ea typeface="TT Commons Pro"/>
                  <a:cs typeface="TT Commons Pro"/>
                  <a:sym typeface="TT Commons Pro"/>
                </a:rPr>
                <a:t>This project follows a structured data analysis workflow to</a:t>
              </a:r>
            </a:p>
            <a:p>
              <a:pPr algn="l">
                <a:lnSpc>
                  <a:spcPts val="3779"/>
                </a:lnSpc>
              </a:pPr>
              <a:r>
                <a:rPr lang="en-US" sz="2099">
                  <a:solidFill>
                    <a:srgbClr val="F2EFEB"/>
                  </a:solidFill>
                  <a:latin typeface="TT Commons Pro"/>
                  <a:ea typeface="TT Commons Pro"/>
                  <a:cs typeface="TT Commons Pro"/>
                  <a:sym typeface="TT Commons Pro"/>
                </a:rPr>
                <a:t>compare Swiggy and Zomato using the uploaded dataset.</a:t>
              </a:r>
            </a:p>
            <a:p>
              <a:pPr algn="l">
                <a:lnSpc>
                  <a:spcPts val="3779"/>
                </a:lnSpc>
              </a:pPr>
              <a:r>
                <a:rPr lang="en-US" sz="2099">
                  <a:solidFill>
                    <a:srgbClr val="F2EFEB"/>
                  </a:solidFill>
                  <a:latin typeface="TT Commons Pro"/>
                  <a:ea typeface="TT Commons Pro"/>
                  <a:cs typeface="TT Commons Pro"/>
                  <a:sym typeface="TT Commons Pro"/>
                </a:rPr>
                <a:t>The analysis focuses on delivery performance, ratings, pricing</a:t>
              </a:r>
            </a:p>
            <a:p>
              <a:pPr algn="l">
                <a:lnSpc>
                  <a:spcPts val="3779"/>
                </a:lnSpc>
              </a:pPr>
              <a:r>
                <a:rPr lang="en-US" sz="2099">
                  <a:solidFill>
                    <a:srgbClr val="F2EFEB"/>
                  </a:solidFill>
                  <a:latin typeface="TT Commons Pro"/>
                  <a:ea typeface="TT Commons Pro"/>
                  <a:cs typeface="TT Commons Pro"/>
                  <a:sym typeface="TT Commons Pro"/>
                </a:rPr>
                <a:t>revenue, profit, and other available attributes to generate</a:t>
              </a:r>
            </a:p>
            <a:p>
              <a:pPr algn="l">
                <a:lnSpc>
                  <a:spcPts val="3779"/>
                </a:lnSpc>
              </a:pPr>
              <a:r>
                <a:rPr lang="en-US" sz="2099">
                  <a:solidFill>
                    <a:srgbClr val="F2EFEB"/>
                  </a:solidFill>
                  <a:latin typeface="TT Commons Pro"/>
                  <a:ea typeface="TT Commons Pro"/>
                  <a:cs typeface="TT Commons Pro"/>
                  <a:sym typeface="TT Commons Pro"/>
                </a:rPr>
                <a:t>meaningful insights through Python.</a:t>
              </a:r>
            </a:p>
          </p:txBody>
        </p:sp>
      </p:grpSp>
      <p:grpSp>
        <p:nvGrpSpPr>
          <p:cNvPr name="Group 364" id="364"/>
          <p:cNvGrpSpPr/>
          <p:nvPr/>
        </p:nvGrpSpPr>
        <p:grpSpPr>
          <a:xfrm rot="0">
            <a:off x="3221126" y="627097"/>
            <a:ext cx="4227519" cy="1301544"/>
            <a:chOff x="0" y="0"/>
            <a:chExt cx="5636692" cy="1735392"/>
          </a:xfrm>
        </p:grpSpPr>
        <p:sp>
          <p:nvSpPr>
            <p:cNvPr name="Freeform 365" id="365"/>
            <p:cNvSpPr/>
            <p:nvPr/>
          </p:nvSpPr>
          <p:spPr>
            <a:xfrm flipH="false" flipV="false" rot="0">
              <a:off x="0" y="0"/>
              <a:ext cx="5636641" cy="1735455"/>
            </a:xfrm>
            <a:custGeom>
              <a:avLst/>
              <a:gdLst/>
              <a:ahLst/>
              <a:cxnLst/>
              <a:rect r="r" b="b" t="t" l="l"/>
              <a:pathLst>
                <a:path h="1735455" w="5636641">
                  <a:moveTo>
                    <a:pt x="0" y="0"/>
                  </a:moveTo>
                  <a:lnTo>
                    <a:pt x="5636641" y="0"/>
                  </a:lnTo>
                  <a:lnTo>
                    <a:pt x="5636641" y="1735455"/>
                  </a:lnTo>
                  <a:lnTo>
                    <a:pt x="0" y="1735455"/>
                  </a:lnTo>
                  <a:close/>
                </a:path>
              </a:pathLst>
            </a:custGeom>
            <a:blipFill>
              <a:blip r:embed="rId17">
                <a:alphaModFix amt="0"/>
              </a:blip>
              <a:stretch>
                <a:fillRect l="0" t="-13244" r="0" b="-13241"/>
              </a:stretch>
            </a:blipFill>
          </p:spPr>
        </p:sp>
      </p:grpSp>
      <p:grpSp>
        <p:nvGrpSpPr>
          <p:cNvPr name="Group 366" id="366"/>
          <p:cNvGrpSpPr/>
          <p:nvPr/>
        </p:nvGrpSpPr>
        <p:grpSpPr>
          <a:xfrm rot="0">
            <a:off x="3221126" y="827122"/>
            <a:ext cx="4227519" cy="1101519"/>
            <a:chOff x="0" y="0"/>
            <a:chExt cx="5636692" cy="1468692"/>
          </a:xfrm>
        </p:grpSpPr>
        <p:sp>
          <p:nvSpPr>
            <p:cNvPr name="Freeform 367" id="367"/>
            <p:cNvSpPr/>
            <p:nvPr/>
          </p:nvSpPr>
          <p:spPr>
            <a:xfrm flipH="false" flipV="false" rot="0">
              <a:off x="0" y="0"/>
              <a:ext cx="5636689" cy="1468691"/>
            </a:xfrm>
            <a:custGeom>
              <a:avLst/>
              <a:gdLst/>
              <a:ahLst/>
              <a:cxnLst/>
              <a:rect r="r" b="b" t="t" l="l"/>
              <a:pathLst>
                <a:path h="1468691" w="5636689">
                  <a:moveTo>
                    <a:pt x="0" y="0"/>
                  </a:moveTo>
                  <a:lnTo>
                    <a:pt x="5636689" y="0"/>
                  </a:lnTo>
                  <a:lnTo>
                    <a:pt x="5636689" y="1468691"/>
                  </a:lnTo>
                  <a:lnTo>
                    <a:pt x="0" y="1468691"/>
                  </a:lnTo>
                  <a:close/>
                </a:path>
              </a:pathLst>
            </a:custGeom>
            <a:blipFill>
              <a:blip r:embed="rId18">
                <a:alphaModFix amt="0"/>
              </a:blip>
              <a:stretch>
                <a:fillRect l="0" t="-24781" r="0" b="-24781"/>
              </a:stretch>
            </a:blipFill>
          </p:spPr>
        </p:sp>
        <p:sp>
          <p:nvSpPr>
            <p:cNvPr name="TextBox 368" id="368"/>
            <p:cNvSpPr txBox="true"/>
            <p:nvPr/>
          </p:nvSpPr>
          <p:spPr>
            <a:xfrm>
              <a:off x="0" y="266700"/>
              <a:ext cx="5636692" cy="1201992"/>
            </a:xfrm>
            <a:prstGeom prst="rect">
              <a:avLst/>
            </a:prstGeom>
          </p:spPr>
          <p:txBody>
            <a:bodyPr anchor="ctr" rtlCol="false" tIns="0" lIns="0" bIns="0" rIns="0"/>
            <a:lstStyle/>
            <a:p>
              <a:pPr algn="l">
                <a:lnSpc>
                  <a:spcPts val="4505"/>
                </a:lnSpc>
              </a:pPr>
              <a:r>
                <a:rPr lang="en-US" sz="6009" b="true">
                  <a:solidFill>
                    <a:srgbClr val="ED5E40"/>
                  </a:solidFill>
                  <a:latin typeface="TT Commons Pro Bold"/>
                  <a:ea typeface="TT Commons Pro Bold"/>
                  <a:cs typeface="TT Commons Pro Bold"/>
                  <a:sym typeface="TT Commons Pro Bold"/>
                </a:rPr>
                <a:t>Overview</a:t>
              </a:r>
            </a:p>
          </p:txBody>
        </p:sp>
      </p:grpSp>
      <p:grpSp>
        <p:nvGrpSpPr>
          <p:cNvPr name="Group 369" id="369"/>
          <p:cNvGrpSpPr/>
          <p:nvPr/>
        </p:nvGrpSpPr>
        <p:grpSpPr>
          <a:xfrm rot="0">
            <a:off x="498472" y="652605"/>
            <a:ext cx="2676115" cy="1235993"/>
            <a:chOff x="0" y="0"/>
            <a:chExt cx="3568154" cy="1647990"/>
          </a:xfrm>
        </p:grpSpPr>
        <p:sp>
          <p:nvSpPr>
            <p:cNvPr name="Freeform 370" id="370"/>
            <p:cNvSpPr/>
            <p:nvPr/>
          </p:nvSpPr>
          <p:spPr>
            <a:xfrm flipH="false" flipV="false" rot="0">
              <a:off x="0" y="0"/>
              <a:ext cx="3568192" cy="1647952"/>
            </a:xfrm>
            <a:custGeom>
              <a:avLst/>
              <a:gdLst/>
              <a:ahLst/>
              <a:cxnLst/>
              <a:rect r="r" b="b" t="t" l="l"/>
              <a:pathLst>
                <a:path h="1647952" w="3568192">
                  <a:moveTo>
                    <a:pt x="0" y="0"/>
                  </a:moveTo>
                  <a:lnTo>
                    <a:pt x="3568192" y="0"/>
                  </a:lnTo>
                  <a:lnTo>
                    <a:pt x="3568192" y="1647952"/>
                  </a:lnTo>
                  <a:lnTo>
                    <a:pt x="0" y="1647952"/>
                  </a:lnTo>
                  <a:close/>
                </a:path>
              </a:pathLst>
            </a:custGeom>
            <a:blipFill>
              <a:blip r:embed="rId17">
                <a:alphaModFix amt="0"/>
              </a:blip>
              <a:stretch>
                <a:fillRect l="-9299" t="0" r="-9298" b="-2"/>
              </a:stretch>
            </a:blipFill>
          </p:spPr>
        </p:sp>
      </p:grpSp>
      <p:grpSp>
        <p:nvGrpSpPr>
          <p:cNvPr name="Group 371" id="371"/>
          <p:cNvGrpSpPr/>
          <p:nvPr/>
        </p:nvGrpSpPr>
        <p:grpSpPr>
          <a:xfrm rot="0">
            <a:off x="498472" y="766905"/>
            <a:ext cx="2676115" cy="1121693"/>
            <a:chOff x="0" y="0"/>
            <a:chExt cx="3568154" cy="1495590"/>
          </a:xfrm>
        </p:grpSpPr>
        <p:sp>
          <p:nvSpPr>
            <p:cNvPr name="Freeform 372" id="372"/>
            <p:cNvSpPr/>
            <p:nvPr/>
          </p:nvSpPr>
          <p:spPr>
            <a:xfrm flipH="false" flipV="false" rot="0">
              <a:off x="0" y="0"/>
              <a:ext cx="3568154" cy="1495591"/>
            </a:xfrm>
            <a:custGeom>
              <a:avLst/>
              <a:gdLst/>
              <a:ahLst/>
              <a:cxnLst/>
              <a:rect r="r" b="b" t="t" l="l"/>
              <a:pathLst>
                <a:path h="1495591" w="3568154">
                  <a:moveTo>
                    <a:pt x="0" y="0"/>
                  </a:moveTo>
                  <a:lnTo>
                    <a:pt x="3568154" y="0"/>
                  </a:lnTo>
                  <a:lnTo>
                    <a:pt x="3568154" y="1495591"/>
                  </a:lnTo>
                  <a:lnTo>
                    <a:pt x="0" y="1495591"/>
                  </a:lnTo>
                  <a:close/>
                </a:path>
              </a:pathLst>
            </a:custGeom>
            <a:blipFill>
              <a:blip r:embed="rId18">
                <a:alphaModFix amt="0"/>
              </a:blip>
              <a:stretch>
                <a:fillRect l="-3778" t="0" r="-3778" b="0"/>
              </a:stretch>
            </a:blipFill>
          </p:spPr>
        </p:sp>
        <p:sp>
          <p:nvSpPr>
            <p:cNvPr name="TextBox 373" id="373"/>
            <p:cNvSpPr txBox="true"/>
            <p:nvPr/>
          </p:nvSpPr>
          <p:spPr>
            <a:xfrm>
              <a:off x="0" y="152400"/>
              <a:ext cx="3568154" cy="1343190"/>
            </a:xfrm>
            <a:prstGeom prst="rect">
              <a:avLst/>
            </a:prstGeom>
          </p:spPr>
          <p:txBody>
            <a:bodyPr anchor="ctr" rtlCol="false" tIns="0" lIns="0" bIns="0" rIns="0"/>
            <a:lstStyle/>
            <a:p>
              <a:pPr algn="l">
                <a:lnSpc>
                  <a:spcPts val="5397"/>
                </a:lnSpc>
              </a:pPr>
              <a:r>
                <a:rPr lang="en-US" sz="5745" b="true">
                  <a:solidFill>
                    <a:srgbClr val="D3D3D3"/>
                  </a:solidFill>
                  <a:latin typeface="TT Commons Pro Bold"/>
                  <a:ea typeface="TT Commons Pro Bold"/>
                  <a:cs typeface="TT Commons Pro Bold"/>
                  <a:sym typeface="TT Commons Pro Bold"/>
                </a:rPr>
                <a:t>Project</a:t>
              </a:r>
            </a:p>
          </p:txBody>
        </p:sp>
      </p:grpSp>
      <p:grpSp>
        <p:nvGrpSpPr>
          <p:cNvPr name="Group 374" id="374"/>
          <p:cNvGrpSpPr/>
          <p:nvPr/>
        </p:nvGrpSpPr>
        <p:grpSpPr>
          <a:xfrm rot="0">
            <a:off x="503139" y="277092"/>
            <a:ext cx="2464651" cy="500767"/>
            <a:chOff x="0" y="0"/>
            <a:chExt cx="3286201" cy="667690"/>
          </a:xfrm>
        </p:grpSpPr>
        <p:sp>
          <p:nvSpPr>
            <p:cNvPr name="Freeform 375" id="375"/>
            <p:cNvSpPr/>
            <p:nvPr/>
          </p:nvSpPr>
          <p:spPr>
            <a:xfrm flipH="false" flipV="false" rot="0">
              <a:off x="0" y="0"/>
              <a:ext cx="3286252" cy="667639"/>
            </a:xfrm>
            <a:custGeom>
              <a:avLst/>
              <a:gdLst/>
              <a:ahLst/>
              <a:cxnLst/>
              <a:rect r="r" b="b" t="t" l="l"/>
              <a:pathLst>
                <a:path h="667639" w="3286252">
                  <a:moveTo>
                    <a:pt x="0" y="0"/>
                  </a:moveTo>
                  <a:lnTo>
                    <a:pt x="3286252" y="0"/>
                  </a:lnTo>
                  <a:lnTo>
                    <a:pt x="3286252" y="667639"/>
                  </a:lnTo>
                  <a:lnTo>
                    <a:pt x="0" y="667639"/>
                  </a:lnTo>
                  <a:close/>
                </a:path>
              </a:pathLst>
            </a:custGeom>
            <a:blipFill>
              <a:blip r:embed="rId17">
                <a:alphaModFix amt="0"/>
              </a:blip>
              <a:stretch>
                <a:fillRect l="0" t="-45837" r="1" b="-45843"/>
              </a:stretch>
            </a:blipFill>
          </p:spPr>
        </p:sp>
      </p:grpSp>
      <p:grpSp>
        <p:nvGrpSpPr>
          <p:cNvPr name="Group 376" id="376"/>
          <p:cNvGrpSpPr/>
          <p:nvPr/>
        </p:nvGrpSpPr>
        <p:grpSpPr>
          <a:xfrm rot="0">
            <a:off x="503139" y="355673"/>
            <a:ext cx="2464651" cy="422186"/>
            <a:chOff x="0" y="0"/>
            <a:chExt cx="3286201" cy="562915"/>
          </a:xfrm>
        </p:grpSpPr>
        <p:sp>
          <p:nvSpPr>
            <p:cNvPr name="Freeform 377" id="377"/>
            <p:cNvSpPr/>
            <p:nvPr/>
          </p:nvSpPr>
          <p:spPr>
            <a:xfrm flipH="false" flipV="false" rot="0">
              <a:off x="0" y="0"/>
              <a:ext cx="3286201" cy="562912"/>
            </a:xfrm>
            <a:custGeom>
              <a:avLst/>
              <a:gdLst/>
              <a:ahLst/>
              <a:cxnLst/>
              <a:rect r="r" b="b" t="t" l="l"/>
              <a:pathLst>
                <a:path h="562912" w="3286201">
                  <a:moveTo>
                    <a:pt x="0" y="0"/>
                  </a:moveTo>
                  <a:lnTo>
                    <a:pt x="3286201" y="0"/>
                  </a:lnTo>
                  <a:lnTo>
                    <a:pt x="3286201" y="562912"/>
                  </a:lnTo>
                  <a:lnTo>
                    <a:pt x="0" y="562912"/>
                  </a:lnTo>
                  <a:close/>
                </a:path>
              </a:pathLst>
            </a:custGeom>
            <a:blipFill>
              <a:blip r:embed="rId18">
                <a:alphaModFix amt="0"/>
              </a:blip>
              <a:stretch>
                <a:fillRect l="0" t="-63750" r="0" b="-63751"/>
              </a:stretch>
            </a:blipFill>
          </p:spPr>
        </p:sp>
        <p:sp>
          <p:nvSpPr>
            <p:cNvPr name="TextBox 378" id="378"/>
            <p:cNvSpPr txBox="true"/>
            <p:nvPr/>
          </p:nvSpPr>
          <p:spPr>
            <a:xfrm>
              <a:off x="0" y="104775"/>
              <a:ext cx="3286201" cy="458140"/>
            </a:xfrm>
            <a:prstGeom prst="rect">
              <a:avLst/>
            </a:prstGeom>
          </p:spPr>
          <p:txBody>
            <a:bodyPr anchor="ctr" rtlCol="false" tIns="0" lIns="0" bIns="0" rIns="0"/>
            <a:lstStyle/>
            <a:p>
              <a:pPr algn="l">
                <a:lnSpc>
                  <a:spcPts val="1646"/>
                </a:lnSpc>
              </a:pPr>
              <a:r>
                <a:rPr lang="en-US" sz="2353" b="true">
                  <a:solidFill>
                    <a:srgbClr val="ED5E40"/>
                  </a:solidFill>
                  <a:latin typeface="TT Commons Pro Bold"/>
                  <a:ea typeface="TT Commons Pro Bold"/>
                  <a:cs typeface="TT Commons Pro Bold"/>
                  <a:sym typeface="TT Commons Pro Bold"/>
                </a:rPr>
                <a:t>THE APPROACH</a:t>
              </a:r>
            </a:p>
          </p:txBody>
        </p:sp>
      </p:grpSp>
      <p:grpSp>
        <p:nvGrpSpPr>
          <p:cNvPr name="Group 379" id="379"/>
          <p:cNvGrpSpPr/>
          <p:nvPr/>
        </p:nvGrpSpPr>
        <p:grpSpPr>
          <a:xfrm rot="0">
            <a:off x="17092136" y="9552346"/>
            <a:ext cx="641699" cy="532352"/>
            <a:chOff x="0" y="0"/>
            <a:chExt cx="855599" cy="709803"/>
          </a:xfrm>
        </p:grpSpPr>
        <p:sp>
          <p:nvSpPr>
            <p:cNvPr name="Freeform 380" id="380" descr="preencoded.png"/>
            <p:cNvSpPr/>
            <p:nvPr/>
          </p:nvSpPr>
          <p:spPr>
            <a:xfrm flipH="false" flipV="false" rot="0">
              <a:off x="0" y="0"/>
              <a:ext cx="855599" cy="709803"/>
            </a:xfrm>
            <a:custGeom>
              <a:avLst/>
              <a:gdLst/>
              <a:ahLst/>
              <a:cxnLst/>
              <a:rect r="r" b="b" t="t" l="l"/>
              <a:pathLst>
                <a:path h="709803" w="855599">
                  <a:moveTo>
                    <a:pt x="0" y="0"/>
                  </a:moveTo>
                  <a:lnTo>
                    <a:pt x="855599" y="0"/>
                  </a:lnTo>
                  <a:lnTo>
                    <a:pt x="855599" y="709803"/>
                  </a:lnTo>
                  <a:lnTo>
                    <a:pt x="0" y="709803"/>
                  </a:lnTo>
                  <a:lnTo>
                    <a:pt x="0" y="0"/>
                  </a:lnTo>
                  <a:close/>
                </a:path>
              </a:pathLst>
            </a:custGeom>
            <a:blipFill>
              <a:blip r:embed="rId75"/>
              <a:stretch>
                <a:fillRect l="-62" t="0" r="-60" b="0"/>
              </a:stretch>
            </a:blipFill>
          </p:spPr>
        </p:sp>
      </p:grpSp>
      <p:grpSp>
        <p:nvGrpSpPr>
          <p:cNvPr name="Group 381" id="381"/>
          <p:cNvGrpSpPr/>
          <p:nvPr/>
        </p:nvGrpSpPr>
        <p:grpSpPr>
          <a:xfrm rot="0">
            <a:off x="17332766" y="9690887"/>
            <a:ext cx="189586" cy="389287"/>
            <a:chOff x="0" y="0"/>
            <a:chExt cx="252781" cy="519049"/>
          </a:xfrm>
        </p:grpSpPr>
        <p:sp>
          <p:nvSpPr>
            <p:cNvPr name="Freeform 382" id="382"/>
            <p:cNvSpPr/>
            <p:nvPr/>
          </p:nvSpPr>
          <p:spPr>
            <a:xfrm flipH="false" flipV="false" rot="0">
              <a:off x="0" y="0"/>
              <a:ext cx="252730" cy="519049"/>
            </a:xfrm>
            <a:custGeom>
              <a:avLst/>
              <a:gdLst/>
              <a:ahLst/>
              <a:cxnLst/>
              <a:rect r="r" b="b" t="t" l="l"/>
              <a:pathLst>
                <a:path h="519049" w="252730">
                  <a:moveTo>
                    <a:pt x="0" y="0"/>
                  </a:moveTo>
                  <a:lnTo>
                    <a:pt x="252730" y="0"/>
                  </a:lnTo>
                  <a:lnTo>
                    <a:pt x="252730" y="519049"/>
                  </a:lnTo>
                  <a:lnTo>
                    <a:pt x="0" y="519049"/>
                  </a:lnTo>
                  <a:close/>
                </a:path>
              </a:pathLst>
            </a:custGeom>
            <a:blipFill>
              <a:blip r:embed="rId17">
                <a:alphaModFix amt="0"/>
              </a:blip>
              <a:stretch>
                <a:fillRect l="-213678" t="0" r="-213703" b="0"/>
              </a:stretch>
            </a:blipFill>
          </p:spPr>
        </p:sp>
      </p:grpSp>
      <p:grpSp>
        <p:nvGrpSpPr>
          <p:cNvPr name="Group 383" id="383"/>
          <p:cNvGrpSpPr/>
          <p:nvPr/>
        </p:nvGrpSpPr>
        <p:grpSpPr>
          <a:xfrm rot="0">
            <a:off x="17332766" y="9748037"/>
            <a:ext cx="189586" cy="332146"/>
            <a:chOff x="0" y="0"/>
            <a:chExt cx="252781" cy="442862"/>
          </a:xfrm>
        </p:grpSpPr>
        <p:sp>
          <p:nvSpPr>
            <p:cNvPr name="Freeform 384" id="384"/>
            <p:cNvSpPr/>
            <p:nvPr/>
          </p:nvSpPr>
          <p:spPr>
            <a:xfrm flipH="false" flipV="false" rot="0">
              <a:off x="0" y="0"/>
              <a:ext cx="252781" cy="442856"/>
            </a:xfrm>
            <a:custGeom>
              <a:avLst/>
              <a:gdLst/>
              <a:ahLst/>
              <a:cxnLst/>
              <a:rect r="r" b="b" t="t" l="l"/>
              <a:pathLst>
                <a:path h="442856" w="252781">
                  <a:moveTo>
                    <a:pt x="0" y="0"/>
                  </a:moveTo>
                  <a:lnTo>
                    <a:pt x="252781" y="0"/>
                  </a:lnTo>
                  <a:lnTo>
                    <a:pt x="252781" y="442856"/>
                  </a:lnTo>
                  <a:lnTo>
                    <a:pt x="0" y="442856"/>
                  </a:lnTo>
                  <a:close/>
                </a:path>
              </a:pathLst>
            </a:custGeom>
            <a:blipFill>
              <a:blip r:embed="rId18">
                <a:alphaModFix amt="0"/>
              </a:blip>
              <a:stretch>
                <a:fillRect l="-174782" t="0" r="-174782" b="-1"/>
              </a:stretch>
            </a:blipFill>
          </p:spPr>
        </p:sp>
        <p:sp>
          <p:nvSpPr>
            <p:cNvPr name="TextBox 385" id="385"/>
            <p:cNvSpPr txBox="true"/>
            <p:nvPr/>
          </p:nvSpPr>
          <p:spPr>
            <a:xfrm>
              <a:off x="0" y="76200"/>
              <a:ext cx="252781" cy="366662"/>
            </a:xfrm>
            <a:prstGeom prst="rect">
              <a:avLst/>
            </a:prstGeom>
          </p:spPr>
          <p:txBody>
            <a:bodyPr anchor="ctr" rtlCol="false" tIns="0" lIns="0" bIns="0" rIns="0"/>
            <a:lstStyle/>
            <a:p>
              <a:pPr algn="l">
                <a:lnSpc>
                  <a:spcPts val="1434"/>
                </a:lnSpc>
              </a:pPr>
              <a:r>
                <a:rPr lang="en-US" sz="1801">
                  <a:solidFill>
                    <a:srgbClr val="999898"/>
                  </a:solidFill>
                  <a:latin typeface="TT Commons Pro"/>
                  <a:ea typeface="TT Commons Pro"/>
                  <a:cs typeface="TT Commons Pro"/>
                  <a:sym typeface="TT Commons Pro"/>
                </a:rPr>
                <a:t>6</a:t>
              </a:r>
            </a:p>
          </p:txBody>
        </p:sp>
      </p:grpSp>
      <p:grpSp>
        <p:nvGrpSpPr>
          <p:cNvPr name="Group 386" id="386"/>
          <p:cNvGrpSpPr/>
          <p:nvPr/>
        </p:nvGrpSpPr>
        <p:grpSpPr>
          <a:xfrm rot="0">
            <a:off x="15553553" y="9603391"/>
            <a:ext cx="590645" cy="415671"/>
            <a:chOff x="0" y="0"/>
            <a:chExt cx="787527" cy="554228"/>
          </a:xfrm>
        </p:grpSpPr>
        <p:sp>
          <p:nvSpPr>
            <p:cNvPr name="Freeform 387" id="387" descr="preencoded.png"/>
            <p:cNvSpPr/>
            <p:nvPr/>
          </p:nvSpPr>
          <p:spPr>
            <a:xfrm flipH="false" flipV="false" rot="0">
              <a:off x="0" y="0"/>
              <a:ext cx="787527" cy="554228"/>
            </a:xfrm>
            <a:custGeom>
              <a:avLst/>
              <a:gdLst/>
              <a:ahLst/>
              <a:cxnLst/>
              <a:rect r="r" b="b" t="t" l="l"/>
              <a:pathLst>
                <a:path h="554228" w="787527">
                  <a:moveTo>
                    <a:pt x="0" y="0"/>
                  </a:moveTo>
                  <a:lnTo>
                    <a:pt x="787527" y="0"/>
                  </a:lnTo>
                  <a:lnTo>
                    <a:pt x="787527" y="554228"/>
                  </a:lnTo>
                  <a:lnTo>
                    <a:pt x="0" y="554228"/>
                  </a:lnTo>
                  <a:lnTo>
                    <a:pt x="0" y="0"/>
                  </a:lnTo>
                  <a:close/>
                </a:path>
              </a:pathLst>
            </a:custGeom>
            <a:blipFill>
              <a:blip r:embed="rId76"/>
              <a:stretch>
                <a:fillRect l="-195" t="0" r="-193" b="0"/>
              </a:stretch>
            </a:blipFill>
          </p:spPr>
        </p:sp>
      </p:grpSp>
      <p:grpSp>
        <p:nvGrpSpPr>
          <p:cNvPr name="Group 388" id="388"/>
          <p:cNvGrpSpPr/>
          <p:nvPr/>
        </p:nvGrpSpPr>
        <p:grpSpPr>
          <a:xfrm rot="0">
            <a:off x="14416021" y="9581512"/>
            <a:ext cx="401098" cy="452056"/>
            <a:chOff x="0" y="0"/>
            <a:chExt cx="534797" cy="602742"/>
          </a:xfrm>
        </p:grpSpPr>
        <p:sp>
          <p:nvSpPr>
            <p:cNvPr name="Freeform 389" id="389" descr="preencoded.png"/>
            <p:cNvSpPr/>
            <p:nvPr/>
          </p:nvSpPr>
          <p:spPr>
            <a:xfrm flipH="false" flipV="false" rot="0">
              <a:off x="0" y="0"/>
              <a:ext cx="534797" cy="602742"/>
            </a:xfrm>
            <a:custGeom>
              <a:avLst/>
              <a:gdLst/>
              <a:ahLst/>
              <a:cxnLst/>
              <a:rect r="r" b="b" t="t" l="l"/>
              <a:pathLst>
                <a:path h="602742" w="534797">
                  <a:moveTo>
                    <a:pt x="0" y="0"/>
                  </a:moveTo>
                  <a:lnTo>
                    <a:pt x="534797" y="0"/>
                  </a:lnTo>
                  <a:lnTo>
                    <a:pt x="534797" y="602742"/>
                  </a:lnTo>
                  <a:lnTo>
                    <a:pt x="0" y="602742"/>
                  </a:lnTo>
                  <a:lnTo>
                    <a:pt x="0" y="0"/>
                  </a:lnTo>
                  <a:close/>
                </a:path>
              </a:pathLst>
            </a:custGeom>
            <a:blipFill>
              <a:blip r:embed="rId77"/>
              <a:stretch>
                <a:fillRect l="-175" t="0" r="-178" b="0"/>
              </a:stretch>
            </a:blipFill>
          </p:spPr>
        </p:sp>
      </p:grpSp>
      <p:grpSp>
        <p:nvGrpSpPr>
          <p:cNvPr name="Group 390" id="390"/>
          <p:cNvGrpSpPr/>
          <p:nvPr/>
        </p:nvGrpSpPr>
        <p:grpSpPr>
          <a:xfrm rot="0">
            <a:off x="13110772" y="9588808"/>
            <a:ext cx="554164" cy="430244"/>
            <a:chOff x="0" y="0"/>
            <a:chExt cx="738886" cy="573659"/>
          </a:xfrm>
        </p:grpSpPr>
        <p:sp>
          <p:nvSpPr>
            <p:cNvPr name="Freeform 391" id="391" descr="preencoded.png"/>
            <p:cNvSpPr/>
            <p:nvPr/>
          </p:nvSpPr>
          <p:spPr>
            <a:xfrm flipH="false" flipV="false" rot="0">
              <a:off x="0" y="0"/>
              <a:ext cx="738886" cy="573659"/>
            </a:xfrm>
            <a:custGeom>
              <a:avLst/>
              <a:gdLst/>
              <a:ahLst/>
              <a:cxnLst/>
              <a:rect r="r" b="b" t="t" l="l"/>
              <a:pathLst>
                <a:path h="573659" w="738886">
                  <a:moveTo>
                    <a:pt x="0" y="0"/>
                  </a:moveTo>
                  <a:lnTo>
                    <a:pt x="738886" y="0"/>
                  </a:lnTo>
                  <a:lnTo>
                    <a:pt x="738886" y="573659"/>
                  </a:lnTo>
                  <a:lnTo>
                    <a:pt x="0" y="573659"/>
                  </a:lnTo>
                  <a:lnTo>
                    <a:pt x="0" y="0"/>
                  </a:lnTo>
                  <a:close/>
                </a:path>
              </a:pathLst>
            </a:custGeom>
            <a:blipFill>
              <a:blip r:embed="rId78"/>
              <a:stretch>
                <a:fillRect l="0" t="-247" r="0" b="-245"/>
              </a:stretch>
            </a:blipFill>
          </p:spPr>
        </p:sp>
      </p:grpSp>
      <p:grpSp>
        <p:nvGrpSpPr>
          <p:cNvPr name="Group 392" id="392"/>
          <p:cNvGrpSpPr/>
          <p:nvPr/>
        </p:nvGrpSpPr>
        <p:grpSpPr>
          <a:xfrm rot="0">
            <a:off x="11958657" y="9588808"/>
            <a:ext cx="393764" cy="452056"/>
            <a:chOff x="0" y="0"/>
            <a:chExt cx="525018" cy="602742"/>
          </a:xfrm>
        </p:grpSpPr>
        <p:sp>
          <p:nvSpPr>
            <p:cNvPr name="Freeform 393" id="393" descr="preencoded.png"/>
            <p:cNvSpPr/>
            <p:nvPr/>
          </p:nvSpPr>
          <p:spPr>
            <a:xfrm flipH="false" flipV="false" rot="0">
              <a:off x="0" y="0"/>
              <a:ext cx="525018" cy="602742"/>
            </a:xfrm>
            <a:custGeom>
              <a:avLst/>
              <a:gdLst/>
              <a:ahLst/>
              <a:cxnLst/>
              <a:rect r="r" b="b" t="t" l="l"/>
              <a:pathLst>
                <a:path h="602742" w="525018">
                  <a:moveTo>
                    <a:pt x="0" y="0"/>
                  </a:moveTo>
                  <a:lnTo>
                    <a:pt x="525018" y="0"/>
                  </a:lnTo>
                  <a:lnTo>
                    <a:pt x="525018" y="602742"/>
                  </a:lnTo>
                  <a:lnTo>
                    <a:pt x="0" y="602742"/>
                  </a:lnTo>
                  <a:lnTo>
                    <a:pt x="0" y="0"/>
                  </a:lnTo>
                  <a:close/>
                </a:path>
              </a:pathLst>
            </a:custGeom>
            <a:blipFill>
              <a:blip r:embed="rId79"/>
              <a:stretch>
                <a:fillRect l="-324" t="0" r="-326" b="0"/>
              </a:stretch>
            </a:blipFill>
          </p:spPr>
        </p:sp>
      </p:grpSp>
      <p:grpSp>
        <p:nvGrpSpPr>
          <p:cNvPr name="Group 394" id="394"/>
          <p:cNvGrpSpPr/>
          <p:nvPr/>
        </p:nvGrpSpPr>
        <p:grpSpPr>
          <a:xfrm rot="0">
            <a:off x="7459580" y="9705470"/>
            <a:ext cx="204216" cy="233362"/>
            <a:chOff x="0" y="0"/>
            <a:chExt cx="272288" cy="311150"/>
          </a:xfrm>
        </p:grpSpPr>
        <p:sp>
          <p:nvSpPr>
            <p:cNvPr name="Freeform 395" id="395"/>
            <p:cNvSpPr/>
            <p:nvPr/>
          </p:nvSpPr>
          <p:spPr>
            <a:xfrm flipH="false" flipV="false" rot="0">
              <a:off x="0" y="0"/>
              <a:ext cx="272288" cy="311150"/>
            </a:xfrm>
            <a:custGeom>
              <a:avLst/>
              <a:gdLst/>
              <a:ahLst/>
              <a:cxnLst/>
              <a:rect r="r" b="b" t="t" l="l"/>
              <a:pathLst>
                <a:path h="311150" w="272288">
                  <a:moveTo>
                    <a:pt x="0" y="0"/>
                  </a:moveTo>
                  <a:lnTo>
                    <a:pt x="272288" y="0"/>
                  </a:lnTo>
                  <a:lnTo>
                    <a:pt x="272288" y="311150"/>
                  </a:lnTo>
                  <a:lnTo>
                    <a:pt x="0" y="311150"/>
                  </a:lnTo>
                  <a:close/>
                </a:path>
              </a:pathLst>
            </a:custGeom>
            <a:solidFill>
              <a:srgbClr val="030303"/>
            </a:solidFill>
          </p:spPr>
        </p:sp>
      </p:grpSp>
      <p:grpSp>
        <p:nvGrpSpPr>
          <p:cNvPr name="Group 396" id="396"/>
          <p:cNvGrpSpPr/>
          <p:nvPr/>
        </p:nvGrpSpPr>
        <p:grpSpPr>
          <a:xfrm rot="0">
            <a:off x="503139" y="9566929"/>
            <a:ext cx="517684" cy="481298"/>
            <a:chOff x="0" y="0"/>
            <a:chExt cx="690245" cy="641731"/>
          </a:xfrm>
        </p:grpSpPr>
        <p:sp>
          <p:nvSpPr>
            <p:cNvPr name="Freeform 397" id="397" descr="preencoded.png"/>
            <p:cNvSpPr/>
            <p:nvPr/>
          </p:nvSpPr>
          <p:spPr>
            <a:xfrm flipH="false" flipV="false" rot="0">
              <a:off x="0" y="0"/>
              <a:ext cx="690245" cy="641731"/>
            </a:xfrm>
            <a:custGeom>
              <a:avLst/>
              <a:gdLst/>
              <a:ahLst/>
              <a:cxnLst/>
              <a:rect r="r" b="b" t="t" l="l"/>
              <a:pathLst>
                <a:path h="641731" w="690245">
                  <a:moveTo>
                    <a:pt x="0" y="0"/>
                  </a:moveTo>
                  <a:lnTo>
                    <a:pt x="690245" y="0"/>
                  </a:lnTo>
                  <a:lnTo>
                    <a:pt x="690245" y="641731"/>
                  </a:lnTo>
                  <a:lnTo>
                    <a:pt x="0" y="641731"/>
                  </a:lnTo>
                  <a:lnTo>
                    <a:pt x="0" y="0"/>
                  </a:lnTo>
                  <a:close/>
                </a:path>
              </a:pathLst>
            </a:custGeom>
            <a:blipFill>
              <a:blip r:embed="rId80"/>
              <a:stretch>
                <a:fillRect l="-16" t="0" r="-16" b="0"/>
              </a:stretch>
            </a:blipFill>
          </p:spPr>
        </p:sp>
      </p:grpSp>
      <p:grpSp>
        <p:nvGrpSpPr>
          <p:cNvPr name="Group 398" id="398"/>
          <p:cNvGrpSpPr/>
          <p:nvPr/>
        </p:nvGrpSpPr>
        <p:grpSpPr>
          <a:xfrm rot="0">
            <a:off x="1203150" y="9625470"/>
            <a:ext cx="896903" cy="393354"/>
            <a:chOff x="0" y="0"/>
            <a:chExt cx="1195870" cy="524472"/>
          </a:xfrm>
        </p:grpSpPr>
        <p:sp>
          <p:nvSpPr>
            <p:cNvPr name="Freeform 399" id="399"/>
            <p:cNvSpPr/>
            <p:nvPr/>
          </p:nvSpPr>
          <p:spPr>
            <a:xfrm flipH="false" flipV="false" rot="0">
              <a:off x="0" y="0"/>
              <a:ext cx="1195832" cy="524510"/>
            </a:xfrm>
            <a:custGeom>
              <a:avLst/>
              <a:gdLst/>
              <a:ahLst/>
              <a:cxnLst/>
              <a:rect r="r" b="b" t="t" l="l"/>
              <a:pathLst>
                <a:path h="524510" w="1195832">
                  <a:moveTo>
                    <a:pt x="0" y="0"/>
                  </a:moveTo>
                  <a:lnTo>
                    <a:pt x="1195832" y="0"/>
                  </a:lnTo>
                  <a:lnTo>
                    <a:pt x="1195832" y="524510"/>
                  </a:lnTo>
                  <a:lnTo>
                    <a:pt x="0" y="524510"/>
                  </a:lnTo>
                  <a:close/>
                </a:path>
              </a:pathLst>
            </a:custGeom>
            <a:blipFill>
              <a:blip r:embed="rId17">
                <a:alphaModFix amt="0"/>
              </a:blip>
              <a:stretch>
                <a:fillRect l="-6309" t="0" r="-6312" b="7"/>
              </a:stretch>
            </a:blipFill>
          </p:spPr>
        </p:sp>
      </p:grpSp>
      <p:grpSp>
        <p:nvGrpSpPr>
          <p:cNvPr name="Group 400" id="400"/>
          <p:cNvGrpSpPr/>
          <p:nvPr/>
        </p:nvGrpSpPr>
        <p:grpSpPr>
          <a:xfrm rot="0">
            <a:off x="1203150" y="9661188"/>
            <a:ext cx="896903" cy="357635"/>
            <a:chOff x="0" y="0"/>
            <a:chExt cx="1195870" cy="476847"/>
          </a:xfrm>
        </p:grpSpPr>
        <p:sp>
          <p:nvSpPr>
            <p:cNvPr name="Freeform 401" id="401"/>
            <p:cNvSpPr/>
            <p:nvPr/>
          </p:nvSpPr>
          <p:spPr>
            <a:xfrm flipH="false" flipV="false" rot="0">
              <a:off x="0" y="0"/>
              <a:ext cx="1195871" cy="476844"/>
            </a:xfrm>
            <a:custGeom>
              <a:avLst/>
              <a:gdLst/>
              <a:ahLst/>
              <a:cxnLst/>
              <a:rect r="r" b="b" t="t" l="l"/>
              <a:pathLst>
                <a:path h="476844" w="1195871">
                  <a:moveTo>
                    <a:pt x="0" y="0"/>
                  </a:moveTo>
                  <a:lnTo>
                    <a:pt x="1195871" y="0"/>
                  </a:lnTo>
                  <a:lnTo>
                    <a:pt x="1195871" y="476844"/>
                  </a:lnTo>
                  <a:lnTo>
                    <a:pt x="0" y="476844"/>
                  </a:lnTo>
                  <a:close/>
                </a:path>
              </a:pathLst>
            </a:custGeom>
            <a:blipFill>
              <a:blip r:embed="rId18">
                <a:alphaModFix amt="0"/>
              </a:blip>
              <a:stretch>
                <a:fillRect l="-1160" t="0" r="-1160" b="0"/>
              </a:stretch>
            </a:blipFill>
          </p:spPr>
        </p:sp>
        <p:sp>
          <p:nvSpPr>
            <p:cNvPr name="TextBox 402" id="402"/>
            <p:cNvSpPr txBox="true"/>
            <p:nvPr/>
          </p:nvSpPr>
          <p:spPr>
            <a:xfrm>
              <a:off x="0" y="47625"/>
              <a:ext cx="1195870" cy="429222"/>
            </a:xfrm>
            <a:prstGeom prst="rect">
              <a:avLst/>
            </a:prstGeom>
          </p:spPr>
          <p:txBody>
            <a:bodyPr anchor="ctr" rtlCol="false" tIns="0" lIns="0" bIns="0" rIns="0"/>
            <a:lstStyle/>
            <a:p>
              <a:pPr algn="l">
                <a:lnSpc>
                  <a:spcPts val="1765"/>
                </a:lnSpc>
              </a:pPr>
              <a:r>
                <a:rPr lang="en-US" sz="1839" b="true">
                  <a:solidFill>
                    <a:srgbClr val="949494"/>
                  </a:solidFill>
                  <a:latin typeface="TT Commons Pro Bold"/>
                  <a:ea typeface="TT Commons Pro Bold"/>
                  <a:cs typeface="TT Commons Pro Bold"/>
                  <a:sym typeface="TT Commons Pro Bold"/>
                </a:rPr>
                <a:t>Project:</a:t>
              </a:r>
            </a:p>
          </p:txBody>
        </p:sp>
      </p:grpSp>
      <p:sp>
        <p:nvSpPr>
          <p:cNvPr name="TextBox 403" id="403"/>
          <p:cNvSpPr txBox="true"/>
          <p:nvPr/>
        </p:nvSpPr>
        <p:spPr>
          <a:xfrm rot="0">
            <a:off x="1982553" y="9667370"/>
            <a:ext cx="7909179" cy="292732"/>
          </a:xfrm>
          <a:prstGeom prst="rect">
            <a:avLst/>
          </a:prstGeom>
        </p:spPr>
        <p:txBody>
          <a:bodyPr anchor="t" rtlCol="false" tIns="0" lIns="0" bIns="0" rIns="0">
            <a:spAutoFit/>
          </a:bodyPr>
          <a:lstStyle/>
          <a:p>
            <a:pPr algn="ctr">
              <a:lnSpc>
                <a:spcPts val="2210"/>
              </a:lnSpc>
            </a:pPr>
            <a:r>
              <a:rPr lang="en-US" sz="1700" b="true">
                <a:solidFill>
                  <a:srgbClr val="EC7624"/>
                </a:solidFill>
                <a:latin typeface="TT Commons Pro Bold"/>
                <a:ea typeface="TT Commons Pro Bold"/>
                <a:cs typeface="TT Commons Pro Bold"/>
                <a:sym typeface="TT Commons Pro Bold"/>
              </a:rPr>
              <a:t>SWIGGY</a:t>
            </a:r>
            <a:r>
              <a:rPr lang="en-US" sz="1700" b="true">
                <a:solidFill>
                  <a:srgbClr val="F2EFEB"/>
                </a:solidFill>
                <a:latin typeface="TT Commons Pro Bold"/>
                <a:ea typeface="TT Commons Pro Bold"/>
                <a:cs typeface="TT Commons Pro Bold"/>
                <a:sym typeface="TT Commons Pro Bold"/>
              </a:rPr>
              <a:t> VS</a:t>
            </a:r>
            <a:r>
              <a:rPr lang="en-US" sz="1700" b="true">
                <a:solidFill>
                  <a:srgbClr val="CF0B23"/>
                </a:solidFill>
                <a:latin typeface="TT Commons Pro Bold"/>
                <a:ea typeface="TT Commons Pro Bold"/>
                <a:cs typeface="TT Commons Pro Bold"/>
                <a:sym typeface="TT Commons Pro Bold"/>
              </a:rPr>
              <a:t> ZOMATO</a:t>
            </a:r>
            <a:r>
              <a:rPr lang="en-US" sz="1700" b="true">
                <a:solidFill>
                  <a:srgbClr val="F2EFEB"/>
                </a:solidFill>
                <a:latin typeface="TT Commons Pro Bold"/>
                <a:ea typeface="TT Commons Pro Bold"/>
                <a:cs typeface="TT Commons Pro Bold"/>
                <a:sym typeface="TT Commons Pro Bold"/>
              </a:rPr>
              <a:t>: Restaurant Performance and Customer Insights Analysis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8810"/>
            <a:chOff x="0" y="0"/>
            <a:chExt cx="24384000" cy="13718413"/>
          </a:xfrm>
        </p:grpSpPr>
        <p:sp>
          <p:nvSpPr>
            <p:cNvPr name="Freeform 3" id="3" descr="preencoded.png"/>
            <p:cNvSpPr/>
            <p:nvPr/>
          </p:nvSpPr>
          <p:spPr>
            <a:xfrm flipH="false" flipV="false" rot="0">
              <a:off x="0" y="0"/>
              <a:ext cx="24384000" cy="13718412"/>
            </a:xfrm>
            <a:custGeom>
              <a:avLst/>
              <a:gdLst/>
              <a:ahLst/>
              <a:cxnLst/>
              <a:rect r="r" b="b" t="t" l="l"/>
              <a:pathLst>
                <a:path h="13718412" w="24384000">
                  <a:moveTo>
                    <a:pt x="0" y="0"/>
                  </a:moveTo>
                  <a:lnTo>
                    <a:pt x="24384000" y="0"/>
                  </a:lnTo>
                  <a:lnTo>
                    <a:pt x="24384000" y="13718412"/>
                  </a:lnTo>
                  <a:lnTo>
                    <a:pt x="0" y="13718412"/>
                  </a:lnTo>
                  <a:lnTo>
                    <a:pt x="0" y="0"/>
                  </a:lnTo>
                  <a:close/>
                </a:path>
              </a:pathLst>
            </a:custGeom>
            <a:blipFill>
              <a:blip r:embed="rId2"/>
              <a:stretch>
                <a:fillRect l="-13" t="0" r="-13" b="0"/>
              </a:stretch>
            </a:blipFill>
          </p:spPr>
        </p:sp>
      </p:grpSp>
      <p:grpSp>
        <p:nvGrpSpPr>
          <p:cNvPr name="Group 4" id="4"/>
          <p:cNvGrpSpPr/>
          <p:nvPr/>
        </p:nvGrpSpPr>
        <p:grpSpPr>
          <a:xfrm rot="0">
            <a:off x="408346" y="8546068"/>
            <a:ext cx="17383792" cy="1188530"/>
            <a:chOff x="0" y="0"/>
            <a:chExt cx="23178389" cy="1584706"/>
          </a:xfrm>
        </p:grpSpPr>
        <p:sp>
          <p:nvSpPr>
            <p:cNvPr name="Freeform 5" id="5" descr="preencoded.png"/>
            <p:cNvSpPr/>
            <p:nvPr/>
          </p:nvSpPr>
          <p:spPr>
            <a:xfrm flipH="false" flipV="false" rot="0">
              <a:off x="0" y="0"/>
              <a:ext cx="23178388" cy="1584706"/>
            </a:xfrm>
            <a:custGeom>
              <a:avLst/>
              <a:gdLst/>
              <a:ahLst/>
              <a:cxnLst/>
              <a:rect r="r" b="b" t="t" l="l"/>
              <a:pathLst>
                <a:path h="1584706" w="23178388">
                  <a:moveTo>
                    <a:pt x="0" y="0"/>
                  </a:moveTo>
                  <a:lnTo>
                    <a:pt x="23178388" y="0"/>
                  </a:lnTo>
                  <a:lnTo>
                    <a:pt x="23178388" y="1584706"/>
                  </a:lnTo>
                  <a:lnTo>
                    <a:pt x="0" y="1584706"/>
                  </a:lnTo>
                  <a:lnTo>
                    <a:pt x="0" y="0"/>
                  </a:lnTo>
                  <a:close/>
                </a:path>
              </a:pathLst>
            </a:custGeom>
            <a:blipFill>
              <a:blip r:embed="rId3"/>
              <a:stretch>
                <a:fillRect l="0" t="-94" r="0" b="-94"/>
              </a:stretch>
            </a:blipFill>
          </p:spPr>
        </p:sp>
      </p:grpSp>
      <p:grpSp>
        <p:nvGrpSpPr>
          <p:cNvPr name="Group 6" id="6"/>
          <p:cNvGrpSpPr/>
          <p:nvPr/>
        </p:nvGrpSpPr>
        <p:grpSpPr>
          <a:xfrm rot="0">
            <a:off x="16887958" y="8910657"/>
            <a:ext cx="634365" cy="532352"/>
            <a:chOff x="0" y="0"/>
            <a:chExt cx="845820" cy="709803"/>
          </a:xfrm>
        </p:grpSpPr>
        <p:sp>
          <p:nvSpPr>
            <p:cNvPr name="Freeform 7" id="7" descr="preencoded.png"/>
            <p:cNvSpPr/>
            <p:nvPr/>
          </p:nvSpPr>
          <p:spPr>
            <a:xfrm flipH="false" flipV="false" rot="0">
              <a:off x="0" y="0"/>
              <a:ext cx="845820" cy="709803"/>
            </a:xfrm>
            <a:custGeom>
              <a:avLst/>
              <a:gdLst/>
              <a:ahLst/>
              <a:cxnLst/>
              <a:rect r="r" b="b" t="t" l="l"/>
              <a:pathLst>
                <a:path h="709803" w="845820">
                  <a:moveTo>
                    <a:pt x="0" y="0"/>
                  </a:moveTo>
                  <a:lnTo>
                    <a:pt x="845820" y="0"/>
                  </a:lnTo>
                  <a:lnTo>
                    <a:pt x="845820" y="709803"/>
                  </a:lnTo>
                  <a:lnTo>
                    <a:pt x="0" y="709803"/>
                  </a:lnTo>
                  <a:lnTo>
                    <a:pt x="0" y="0"/>
                  </a:lnTo>
                  <a:close/>
                </a:path>
              </a:pathLst>
            </a:custGeom>
            <a:blipFill>
              <a:blip r:embed="rId4"/>
              <a:stretch>
                <a:fillRect l="-157" t="0" r="-159" b="0"/>
              </a:stretch>
            </a:blipFill>
          </p:spPr>
        </p:sp>
      </p:grpSp>
      <p:grpSp>
        <p:nvGrpSpPr>
          <p:cNvPr name="Group 8" id="8"/>
          <p:cNvGrpSpPr/>
          <p:nvPr/>
        </p:nvGrpSpPr>
        <p:grpSpPr>
          <a:xfrm rot="0">
            <a:off x="17099423" y="9012746"/>
            <a:ext cx="247926" cy="543935"/>
            <a:chOff x="0" y="0"/>
            <a:chExt cx="330568" cy="725246"/>
          </a:xfrm>
        </p:grpSpPr>
        <p:sp>
          <p:nvSpPr>
            <p:cNvPr name="Freeform 9" id="9"/>
            <p:cNvSpPr/>
            <p:nvPr/>
          </p:nvSpPr>
          <p:spPr>
            <a:xfrm flipH="false" flipV="false" rot="0">
              <a:off x="0" y="0"/>
              <a:ext cx="330581" cy="725297"/>
            </a:xfrm>
            <a:custGeom>
              <a:avLst/>
              <a:gdLst/>
              <a:ahLst/>
              <a:cxnLst/>
              <a:rect r="r" b="b" t="t" l="l"/>
              <a:pathLst>
                <a:path h="725297" w="330581">
                  <a:moveTo>
                    <a:pt x="0" y="0"/>
                  </a:moveTo>
                  <a:lnTo>
                    <a:pt x="330581" y="0"/>
                  </a:lnTo>
                  <a:lnTo>
                    <a:pt x="330581" y="725297"/>
                  </a:lnTo>
                  <a:lnTo>
                    <a:pt x="0" y="725297"/>
                  </a:lnTo>
                  <a:close/>
                </a:path>
              </a:pathLst>
            </a:custGeom>
            <a:blipFill>
              <a:blip r:embed="rId5">
                <a:alphaModFix amt="0"/>
              </a:blip>
              <a:stretch>
                <a:fillRect l="-231678" t="0" r="-231674" b="7"/>
              </a:stretch>
            </a:blipFill>
          </p:spPr>
        </p:sp>
      </p:grpSp>
      <p:grpSp>
        <p:nvGrpSpPr>
          <p:cNvPr name="Group 10" id="10"/>
          <p:cNvGrpSpPr/>
          <p:nvPr/>
        </p:nvGrpSpPr>
        <p:grpSpPr>
          <a:xfrm rot="0">
            <a:off x="17099423" y="9098470"/>
            <a:ext cx="247926" cy="458219"/>
            <a:chOff x="0" y="0"/>
            <a:chExt cx="330568" cy="610959"/>
          </a:xfrm>
        </p:grpSpPr>
        <p:sp>
          <p:nvSpPr>
            <p:cNvPr name="Freeform 11" id="11"/>
            <p:cNvSpPr/>
            <p:nvPr/>
          </p:nvSpPr>
          <p:spPr>
            <a:xfrm flipH="false" flipV="false" rot="0">
              <a:off x="0" y="0"/>
              <a:ext cx="330568" cy="610959"/>
            </a:xfrm>
            <a:custGeom>
              <a:avLst/>
              <a:gdLst/>
              <a:ahLst/>
              <a:cxnLst/>
              <a:rect r="r" b="b" t="t" l="l"/>
              <a:pathLst>
                <a:path h="610959" w="330568">
                  <a:moveTo>
                    <a:pt x="0" y="0"/>
                  </a:moveTo>
                  <a:lnTo>
                    <a:pt x="330568" y="0"/>
                  </a:lnTo>
                  <a:lnTo>
                    <a:pt x="330568" y="610959"/>
                  </a:lnTo>
                  <a:lnTo>
                    <a:pt x="0" y="610959"/>
                  </a:lnTo>
                  <a:close/>
                </a:path>
              </a:pathLst>
            </a:custGeom>
            <a:blipFill>
              <a:blip r:embed="rId6">
                <a:alphaModFix amt="0"/>
              </a:blip>
              <a:stretch>
                <a:fillRect l="-187131" t="0" r="-187131" b="0"/>
              </a:stretch>
            </a:blipFill>
          </p:spPr>
        </p:sp>
        <p:sp>
          <p:nvSpPr>
            <p:cNvPr name="TextBox 12" id="12"/>
            <p:cNvSpPr txBox="true"/>
            <p:nvPr/>
          </p:nvSpPr>
          <p:spPr>
            <a:xfrm>
              <a:off x="0" y="114300"/>
              <a:ext cx="330568" cy="496659"/>
            </a:xfrm>
            <a:prstGeom prst="rect">
              <a:avLst/>
            </a:prstGeom>
          </p:spPr>
          <p:txBody>
            <a:bodyPr anchor="ctr" rtlCol="false" tIns="0" lIns="0" bIns="0" rIns="0"/>
            <a:lstStyle/>
            <a:p>
              <a:pPr algn="l">
                <a:lnSpc>
                  <a:spcPts val="1836"/>
                </a:lnSpc>
              </a:pPr>
              <a:r>
                <a:rPr lang="en-US" sz="2532" b="true">
                  <a:solidFill>
                    <a:srgbClr val="B1ACAB"/>
                  </a:solidFill>
                  <a:latin typeface="TT Commons Pro Bold"/>
                  <a:ea typeface="TT Commons Pro Bold"/>
                  <a:cs typeface="TT Commons Pro Bold"/>
                  <a:sym typeface="TT Commons Pro Bold"/>
                </a:rPr>
                <a:t>6</a:t>
              </a:r>
            </a:p>
          </p:txBody>
        </p:sp>
      </p:grpSp>
      <p:grpSp>
        <p:nvGrpSpPr>
          <p:cNvPr name="Group 13" id="13"/>
          <p:cNvGrpSpPr/>
          <p:nvPr/>
        </p:nvGrpSpPr>
        <p:grpSpPr>
          <a:xfrm rot="0">
            <a:off x="16516074" y="8925239"/>
            <a:ext cx="51054" cy="495872"/>
            <a:chOff x="0" y="0"/>
            <a:chExt cx="68072" cy="661162"/>
          </a:xfrm>
        </p:grpSpPr>
        <p:sp>
          <p:nvSpPr>
            <p:cNvPr name="Freeform 14" id="14" descr="preencoded.png"/>
            <p:cNvSpPr/>
            <p:nvPr/>
          </p:nvSpPr>
          <p:spPr>
            <a:xfrm flipH="false" flipV="false" rot="0">
              <a:off x="0" y="0"/>
              <a:ext cx="68072" cy="661162"/>
            </a:xfrm>
            <a:custGeom>
              <a:avLst/>
              <a:gdLst/>
              <a:ahLst/>
              <a:cxnLst/>
              <a:rect r="r" b="b" t="t" l="l"/>
              <a:pathLst>
                <a:path h="661162" w="68072">
                  <a:moveTo>
                    <a:pt x="0" y="0"/>
                  </a:moveTo>
                  <a:lnTo>
                    <a:pt x="68072" y="0"/>
                  </a:lnTo>
                  <a:lnTo>
                    <a:pt x="68072" y="661162"/>
                  </a:lnTo>
                  <a:lnTo>
                    <a:pt x="0" y="661162"/>
                  </a:lnTo>
                  <a:lnTo>
                    <a:pt x="0" y="0"/>
                  </a:lnTo>
                  <a:close/>
                </a:path>
              </a:pathLst>
            </a:custGeom>
            <a:blipFill>
              <a:blip r:embed="rId7"/>
              <a:stretch>
                <a:fillRect l="-3955" t="0" r="-3955" b="0"/>
              </a:stretch>
            </a:blipFill>
          </p:spPr>
        </p:sp>
      </p:grpSp>
      <p:grpSp>
        <p:nvGrpSpPr>
          <p:cNvPr name="Group 15" id="15"/>
          <p:cNvGrpSpPr/>
          <p:nvPr/>
        </p:nvGrpSpPr>
        <p:grpSpPr>
          <a:xfrm rot="0">
            <a:off x="15538971" y="8954414"/>
            <a:ext cx="743807" cy="408337"/>
            <a:chOff x="0" y="0"/>
            <a:chExt cx="991743" cy="544449"/>
          </a:xfrm>
        </p:grpSpPr>
        <p:sp>
          <p:nvSpPr>
            <p:cNvPr name="Freeform 16" id="16" descr="preencoded.png"/>
            <p:cNvSpPr/>
            <p:nvPr/>
          </p:nvSpPr>
          <p:spPr>
            <a:xfrm flipH="false" flipV="false" rot="0">
              <a:off x="0" y="0"/>
              <a:ext cx="991743" cy="544449"/>
            </a:xfrm>
            <a:custGeom>
              <a:avLst/>
              <a:gdLst/>
              <a:ahLst/>
              <a:cxnLst/>
              <a:rect r="r" b="b" t="t" l="l"/>
              <a:pathLst>
                <a:path h="544449" w="991743">
                  <a:moveTo>
                    <a:pt x="0" y="0"/>
                  </a:moveTo>
                  <a:lnTo>
                    <a:pt x="991743" y="0"/>
                  </a:lnTo>
                  <a:lnTo>
                    <a:pt x="991743" y="544449"/>
                  </a:lnTo>
                  <a:lnTo>
                    <a:pt x="0" y="544449"/>
                  </a:lnTo>
                  <a:lnTo>
                    <a:pt x="0" y="0"/>
                  </a:lnTo>
                  <a:close/>
                </a:path>
              </a:pathLst>
            </a:custGeom>
            <a:blipFill>
              <a:blip r:embed="rId8"/>
              <a:stretch>
                <a:fillRect l="0" t="-489" r="0" b="-487"/>
              </a:stretch>
            </a:blipFill>
          </p:spPr>
        </p:sp>
      </p:grpSp>
      <p:grpSp>
        <p:nvGrpSpPr>
          <p:cNvPr name="Group 17" id="17"/>
          <p:cNvGrpSpPr/>
          <p:nvPr/>
        </p:nvGrpSpPr>
        <p:grpSpPr>
          <a:xfrm rot="0">
            <a:off x="15261879" y="8903370"/>
            <a:ext cx="43720" cy="532352"/>
            <a:chOff x="0" y="0"/>
            <a:chExt cx="58293" cy="709803"/>
          </a:xfrm>
        </p:grpSpPr>
        <p:sp>
          <p:nvSpPr>
            <p:cNvPr name="Freeform 18" id="18" descr="preencoded.png"/>
            <p:cNvSpPr/>
            <p:nvPr/>
          </p:nvSpPr>
          <p:spPr>
            <a:xfrm flipH="false" flipV="false" rot="0">
              <a:off x="0" y="0"/>
              <a:ext cx="58293" cy="709803"/>
            </a:xfrm>
            <a:custGeom>
              <a:avLst/>
              <a:gdLst/>
              <a:ahLst/>
              <a:cxnLst/>
              <a:rect r="r" b="b" t="t" l="l"/>
              <a:pathLst>
                <a:path h="709803" w="58293">
                  <a:moveTo>
                    <a:pt x="0" y="0"/>
                  </a:moveTo>
                  <a:lnTo>
                    <a:pt x="58293" y="0"/>
                  </a:lnTo>
                  <a:lnTo>
                    <a:pt x="58293" y="709803"/>
                  </a:lnTo>
                  <a:lnTo>
                    <a:pt x="0" y="709803"/>
                  </a:lnTo>
                  <a:lnTo>
                    <a:pt x="0" y="0"/>
                  </a:lnTo>
                  <a:close/>
                </a:path>
              </a:pathLst>
            </a:custGeom>
            <a:blipFill>
              <a:blip r:embed="rId9"/>
              <a:stretch>
                <a:fillRect l="-2483" t="0" r="-2483" b="0"/>
              </a:stretch>
            </a:blipFill>
          </p:spPr>
        </p:sp>
      </p:grpSp>
      <p:grpSp>
        <p:nvGrpSpPr>
          <p:cNvPr name="Group 19" id="19"/>
          <p:cNvGrpSpPr/>
          <p:nvPr/>
        </p:nvGrpSpPr>
        <p:grpSpPr>
          <a:xfrm rot="0">
            <a:off x="14401438" y="8845029"/>
            <a:ext cx="546926" cy="532352"/>
            <a:chOff x="0" y="0"/>
            <a:chExt cx="729234" cy="709803"/>
          </a:xfrm>
        </p:grpSpPr>
        <p:sp>
          <p:nvSpPr>
            <p:cNvPr name="Freeform 20" id="20" descr="preencoded.png"/>
            <p:cNvSpPr/>
            <p:nvPr/>
          </p:nvSpPr>
          <p:spPr>
            <a:xfrm flipH="false" flipV="false" rot="0">
              <a:off x="0" y="0"/>
              <a:ext cx="729234" cy="709803"/>
            </a:xfrm>
            <a:custGeom>
              <a:avLst/>
              <a:gdLst/>
              <a:ahLst/>
              <a:cxnLst/>
              <a:rect r="r" b="b" t="t" l="l"/>
              <a:pathLst>
                <a:path h="709803" w="729234">
                  <a:moveTo>
                    <a:pt x="0" y="0"/>
                  </a:moveTo>
                  <a:lnTo>
                    <a:pt x="729234" y="0"/>
                  </a:lnTo>
                  <a:lnTo>
                    <a:pt x="729234" y="709803"/>
                  </a:lnTo>
                  <a:lnTo>
                    <a:pt x="0" y="709803"/>
                  </a:lnTo>
                  <a:lnTo>
                    <a:pt x="0" y="0"/>
                  </a:lnTo>
                  <a:close/>
                </a:path>
              </a:pathLst>
            </a:custGeom>
            <a:blipFill>
              <a:blip r:embed="rId10"/>
              <a:stretch>
                <a:fillRect l="0" t="-227" r="0" b="-227"/>
              </a:stretch>
            </a:blipFill>
          </p:spPr>
        </p:sp>
      </p:grpSp>
      <p:grpSp>
        <p:nvGrpSpPr>
          <p:cNvPr name="Group 21" id="21"/>
          <p:cNvGrpSpPr/>
          <p:nvPr/>
        </p:nvGrpSpPr>
        <p:grpSpPr>
          <a:xfrm rot="0">
            <a:off x="14080598" y="8866908"/>
            <a:ext cx="51054" cy="576072"/>
            <a:chOff x="0" y="0"/>
            <a:chExt cx="68072" cy="768096"/>
          </a:xfrm>
        </p:grpSpPr>
        <p:sp>
          <p:nvSpPr>
            <p:cNvPr name="Freeform 22" id="22" descr="preencoded.png"/>
            <p:cNvSpPr/>
            <p:nvPr/>
          </p:nvSpPr>
          <p:spPr>
            <a:xfrm flipH="false" flipV="false" rot="0">
              <a:off x="0" y="0"/>
              <a:ext cx="68072" cy="768096"/>
            </a:xfrm>
            <a:custGeom>
              <a:avLst/>
              <a:gdLst/>
              <a:ahLst/>
              <a:cxnLst/>
              <a:rect r="r" b="b" t="t" l="l"/>
              <a:pathLst>
                <a:path h="768096" w="68072">
                  <a:moveTo>
                    <a:pt x="0" y="0"/>
                  </a:moveTo>
                  <a:lnTo>
                    <a:pt x="68072" y="0"/>
                  </a:lnTo>
                  <a:lnTo>
                    <a:pt x="68072" y="768096"/>
                  </a:lnTo>
                  <a:lnTo>
                    <a:pt x="0" y="768096"/>
                  </a:lnTo>
                  <a:lnTo>
                    <a:pt x="0" y="0"/>
                  </a:lnTo>
                  <a:close/>
                </a:path>
              </a:pathLst>
            </a:custGeom>
            <a:blipFill>
              <a:blip r:embed="rId11"/>
              <a:stretch>
                <a:fillRect l="-3451" t="0" r="-3451" b="0"/>
              </a:stretch>
            </a:blipFill>
          </p:spPr>
        </p:sp>
      </p:grpSp>
      <p:grpSp>
        <p:nvGrpSpPr>
          <p:cNvPr name="Group 23" id="23"/>
          <p:cNvGrpSpPr/>
          <p:nvPr/>
        </p:nvGrpSpPr>
        <p:grpSpPr>
          <a:xfrm rot="0">
            <a:off x="13125355" y="8881491"/>
            <a:ext cx="692753" cy="481298"/>
            <a:chOff x="0" y="0"/>
            <a:chExt cx="923671" cy="641731"/>
          </a:xfrm>
        </p:grpSpPr>
        <p:sp>
          <p:nvSpPr>
            <p:cNvPr name="Freeform 24" id="24" descr="preencoded.png"/>
            <p:cNvSpPr/>
            <p:nvPr/>
          </p:nvSpPr>
          <p:spPr>
            <a:xfrm flipH="false" flipV="false" rot="0">
              <a:off x="0" y="0"/>
              <a:ext cx="923671" cy="641731"/>
            </a:xfrm>
            <a:custGeom>
              <a:avLst/>
              <a:gdLst/>
              <a:ahLst/>
              <a:cxnLst/>
              <a:rect r="r" b="b" t="t" l="l"/>
              <a:pathLst>
                <a:path h="641731" w="923671">
                  <a:moveTo>
                    <a:pt x="0" y="0"/>
                  </a:moveTo>
                  <a:lnTo>
                    <a:pt x="923671" y="0"/>
                  </a:lnTo>
                  <a:lnTo>
                    <a:pt x="923671" y="641731"/>
                  </a:lnTo>
                  <a:lnTo>
                    <a:pt x="0" y="641731"/>
                  </a:lnTo>
                  <a:lnTo>
                    <a:pt x="0" y="0"/>
                  </a:lnTo>
                  <a:close/>
                </a:path>
              </a:pathLst>
            </a:custGeom>
            <a:blipFill>
              <a:blip r:embed="rId12"/>
              <a:stretch>
                <a:fillRect l="0" t="-502" r="0" b="-504"/>
              </a:stretch>
            </a:blipFill>
          </p:spPr>
        </p:sp>
      </p:grpSp>
      <p:grpSp>
        <p:nvGrpSpPr>
          <p:cNvPr name="Group 25" id="25"/>
          <p:cNvGrpSpPr/>
          <p:nvPr/>
        </p:nvGrpSpPr>
        <p:grpSpPr>
          <a:xfrm rot="0">
            <a:off x="12819097" y="8845029"/>
            <a:ext cx="43720" cy="590645"/>
            <a:chOff x="0" y="0"/>
            <a:chExt cx="58293" cy="787527"/>
          </a:xfrm>
        </p:grpSpPr>
        <p:sp>
          <p:nvSpPr>
            <p:cNvPr name="Freeform 26" id="26" descr="preencoded.png"/>
            <p:cNvSpPr/>
            <p:nvPr/>
          </p:nvSpPr>
          <p:spPr>
            <a:xfrm flipH="false" flipV="false" rot="0">
              <a:off x="0" y="0"/>
              <a:ext cx="58293" cy="787527"/>
            </a:xfrm>
            <a:custGeom>
              <a:avLst/>
              <a:gdLst/>
              <a:ahLst/>
              <a:cxnLst/>
              <a:rect r="r" b="b" t="t" l="l"/>
              <a:pathLst>
                <a:path h="787527" w="58293">
                  <a:moveTo>
                    <a:pt x="0" y="0"/>
                  </a:moveTo>
                  <a:lnTo>
                    <a:pt x="58293" y="0"/>
                  </a:lnTo>
                  <a:lnTo>
                    <a:pt x="58293" y="787527"/>
                  </a:lnTo>
                  <a:lnTo>
                    <a:pt x="0" y="787527"/>
                  </a:lnTo>
                  <a:lnTo>
                    <a:pt x="0" y="0"/>
                  </a:lnTo>
                  <a:close/>
                </a:path>
              </a:pathLst>
            </a:custGeom>
            <a:blipFill>
              <a:blip r:embed="rId13"/>
              <a:stretch>
                <a:fillRect l="-2766" t="0" r="-2788" b="0"/>
              </a:stretch>
            </a:blipFill>
          </p:spPr>
        </p:sp>
      </p:grpSp>
      <p:grpSp>
        <p:nvGrpSpPr>
          <p:cNvPr name="Group 27" id="27"/>
          <p:cNvGrpSpPr/>
          <p:nvPr/>
        </p:nvGrpSpPr>
        <p:grpSpPr>
          <a:xfrm rot="0">
            <a:off x="11878447" y="8815864"/>
            <a:ext cx="685419" cy="612553"/>
            <a:chOff x="0" y="0"/>
            <a:chExt cx="913892" cy="816737"/>
          </a:xfrm>
        </p:grpSpPr>
        <p:sp>
          <p:nvSpPr>
            <p:cNvPr name="Freeform 28" id="28" descr="preencoded.png"/>
            <p:cNvSpPr/>
            <p:nvPr/>
          </p:nvSpPr>
          <p:spPr>
            <a:xfrm flipH="false" flipV="false" rot="0">
              <a:off x="0" y="0"/>
              <a:ext cx="913892" cy="816737"/>
            </a:xfrm>
            <a:custGeom>
              <a:avLst/>
              <a:gdLst/>
              <a:ahLst/>
              <a:cxnLst/>
              <a:rect r="r" b="b" t="t" l="l"/>
              <a:pathLst>
                <a:path h="816737" w="913892">
                  <a:moveTo>
                    <a:pt x="0" y="0"/>
                  </a:moveTo>
                  <a:lnTo>
                    <a:pt x="913892" y="0"/>
                  </a:lnTo>
                  <a:lnTo>
                    <a:pt x="913892" y="816737"/>
                  </a:lnTo>
                  <a:lnTo>
                    <a:pt x="0" y="816737"/>
                  </a:lnTo>
                  <a:lnTo>
                    <a:pt x="0" y="0"/>
                  </a:lnTo>
                  <a:close/>
                </a:path>
              </a:pathLst>
            </a:custGeom>
            <a:blipFill>
              <a:blip r:embed="rId14"/>
              <a:stretch>
                <a:fillRect l="-47" t="0" r="-45" b="0"/>
              </a:stretch>
            </a:blipFill>
          </p:spPr>
        </p:sp>
      </p:grpSp>
      <p:grpSp>
        <p:nvGrpSpPr>
          <p:cNvPr name="Group 29" id="29"/>
          <p:cNvGrpSpPr/>
          <p:nvPr/>
        </p:nvGrpSpPr>
        <p:grpSpPr>
          <a:xfrm rot="0">
            <a:off x="11477396" y="8793994"/>
            <a:ext cx="29146" cy="692753"/>
            <a:chOff x="0" y="0"/>
            <a:chExt cx="38862" cy="923671"/>
          </a:xfrm>
        </p:grpSpPr>
        <p:sp>
          <p:nvSpPr>
            <p:cNvPr name="Freeform 30" id="30" descr="preencoded.png"/>
            <p:cNvSpPr/>
            <p:nvPr/>
          </p:nvSpPr>
          <p:spPr>
            <a:xfrm flipH="false" flipV="false" rot="0">
              <a:off x="0" y="0"/>
              <a:ext cx="38862" cy="923671"/>
            </a:xfrm>
            <a:custGeom>
              <a:avLst/>
              <a:gdLst/>
              <a:ahLst/>
              <a:cxnLst/>
              <a:rect r="r" b="b" t="t" l="l"/>
              <a:pathLst>
                <a:path h="923671" w="38862">
                  <a:moveTo>
                    <a:pt x="0" y="0"/>
                  </a:moveTo>
                  <a:lnTo>
                    <a:pt x="38862" y="0"/>
                  </a:lnTo>
                  <a:lnTo>
                    <a:pt x="38862" y="923671"/>
                  </a:lnTo>
                  <a:lnTo>
                    <a:pt x="0" y="923671"/>
                  </a:lnTo>
                  <a:lnTo>
                    <a:pt x="0" y="0"/>
                  </a:lnTo>
                  <a:close/>
                </a:path>
              </a:pathLst>
            </a:custGeom>
            <a:blipFill>
              <a:blip r:embed="rId15"/>
              <a:stretch>
                <a:fillRect l="-5261" t="0" r="-5294" b="0"/>
              </a:stretch>
            </a:blipFill>
          </p:spPr>
        </p:sp>
      </p:grpSp>
      <p:grpSp>
        <p:nvGrpSpPr>
          <p:cNvPr name="Group 31" id="31"/>
          <p:cNvGrpSpPr/>
          <p:nvPr/>
        </p:nvGrpSpPr>
        <p:grpSpPr>
          <a:xfrm rot="0">
            <a:off x="6635601" y="8677323"/>
            <a:ext cx="4608481" cy="926020"/>
            <a:chOff x="0" y="0"/>
            <a:chExt cx="6144641" cy="1234694"/>
          </a:xfrm>
        </p:grpSpPr>
        <p:sp>
          <p:nvSpPr>
            <p:cNvPr name="Freeform 32" id="32" descr="preencoded.png"/>
            <p:cNvSpPr/>
            <p:nvPr/>
          </p:nvSpPr>
          <p:spPr>
            <a:xfrm flipH="false" flipV="false" rot="0">
              <a:off x="0" y="0"/>
              <a:ext cx="6144641" cy="1234694"/>
            </a:xfrm>
            <a:custGeom>
              <a:avLst/>
              <a:gdLst/>
              <a:ahLst/>
              <a:cxnLst/>
              <a:rect r="r" b="b" t="t" l="l"/>
              <a:pathLst>
                <a:path h="1234694" w="6144641">
                  <a:moveTo>
                    <a:pt x="0" y="0"/>
                  </a:moveTo>
                  <a:lnTo>
                    <a:pt x="6144641" y="0"/>
                  </a:lnTo>
                  <a:lnTo>
                    <a:pt x="6144641" y="1234694"/>
                  </a:lnTo>
                  <a:lnTo>
                    <a:pt x="0" y="1234694"/>
                  </a:lnTo>
                  <a:lnTo>
                    <a:pt x="0" y="0"/>
                  </a:lnTo>
                  <a:close/>
                </a:path>
              </a:pathLst>
            </a:custGeom>
            <a:blipFill>
              <a:blip r:embed="rId16"/>
              <a:stretch>
                <a:fillRect l="0" t="-291" r="0" b="-291"/>
              </a:stretch>
            </a:blipFill>
          </p:spPr>
        </p:sp>
      </p:grpSp>
      <p:grpSp>
        <p:nvGrpSpPr>
          <p:cNvPr name="Group 33" id="33"/>
          <p:cNvGrpSpPr/>
          <p:nvPr/>
        </p:nvGrpSpPr>
        <p:grpSpPr>
          <a:xfrm rot="0">
            <a:off x="6679349" y="8691905"/>
            <a:ext cx="2136553" cy="896874"/>
            <a:chOff x="0" y="0"/>
            <a:chExt cx="2848737" cy="1195832"/>
          </a:xfrm>
        </p:grpSpPr>
        <p:sp>
          <p:nvSpPr>
            <p:cNvPr name="Freeform 34" id="34" descr="preencoded.png"/>
            <p:cNvSpPr/>
            <p:nvPr/>
          </p:nvSpPr>
          <p:spPr>
            <a:xfrm flipH="false" flipV="false" rot="0">
              <a:off x="0" y="0"/>
              <a:ext cx="2848737" cy="1195832"/>
            </a:xfrm>
            <a:custGeom>
              <a:avLst/>
              <a:gdLst/>
              <a:ahLst/>
              <a:cxnLst/>
              <a:rect r="r" b="b" t="t" l="l"/>
              <a:pathLst>
                <a:path h="1195832" w="2848737">
                  <a:moveTo>
                    <a:pt x="0" y="0"/>
                  </a:moveTo>
                  <a:lnTo>
                    <a:pt x="2848737" y="0"/>
                  </a:lnTo>
                  <a:lnTo>
                    <a:pt x="2848737" y="1195832"/>
                  </a:lnTo>
                  <a:lnTo>
                    <a:pt x="0" y="1195832"/>
                  </a:lnTo>
                  <a:lnTo>
                    <a:pt x="0" y="0"/>
                  </a:lnTo>
                  <a:close/>
                </a:path>
              </a:pathLst>
            </a:custGeom>
            <a:blipFill>
              <a:blip r:embed="rId17"/>
              <a:stretch>
                <a:fillRect l="0" t="-80" r="0" b="-80"/>
              </a:stretch>
            </a:blipFill>
          </p:spPr>
        </p:sp>
      </p:grpSp>
      <p:grpSp>
        <p:nvGrpSpPr>
          <p:cNvPr name="Group 35" id="35"/>
          <p:cNvGrpSpPr/>
          <p:nvPr/>
        </p:nvGrpSpPr>
        <p:grpSpPr>
          <a:xfrm rot="0">
            <a:off x="6890814" y="8852325"/>
            <a:ext cx="459391" cy="590645"/>
            <a:chOff x="0" y="0"/>
            <a:chExt cx="612521" cy="787527"/>
          </a:xfrm>
        </p:grpSpPr>
        <p:sp>
          <p:nvSpPr>
            <p:cNvPr name="Freeform 36" id="36" descr="preencoded.png"/>
            <p:cNvSpPr/>
            <p:nvPr/>
          </p:nvSpPr>
          <p:spPr>
            <a:xfrm flipH="false" flipV="false" rot="0">
              <a:off x="0" y="0"/>
              <a:ext cx="612521" cy="787527"/>
            </a:xfrm>
            <a:custGeom>
              <a:avLst/>
              <a:gdLst/>
              <a:ahLst/>
              <a:cxnLst/>
              <a:rect r="r" b="b" t="t" l="l"/>
              <a:pathLst>
                <a:path h="787527" w="612521">
                  <a:moveTo>
                    <a:pt x="0" y="0"/>
                  </a:moveTo>
                  <a:lnTo>
                    <a:pt x="612521" y="0"/>
                  </a:lnTo>
                  <a:lnTo>
                    <a:pt x="612521" y="787527"/>
                  </a:lnTo>
                  <a:lnTo>
                    <a:pt x="0" y="787527"/>
                  </a:lnTo>
                  <a:lnTo>
                    <a:pt x="0" y="0"/>
                  </a:lnTo>
                  <a:close/>
                </a:path>
              </a:pathLst>
            </a:custGeom>
            <a:blipFill>
              <a:blip r:embed="rId18"/>
              <a:stretch>
                <a:fillRect l="0" t="-296" r="0" b="-296"/>
              </a:stretch>
            </a:blipFill>
          </p:spPr>
        </p:sp>
      </p:grpSp>
      <p:grpSp>
        <p:nvGrpSpPr>
          <p:cNvPr name="Group 37" id="37"/>
          <p:cNvGrpSpPr/>
          <p:nvPr/>
        </p:nvGrpSpPr>
        <p:grpSpPr>
          <a:xfrm rot="0">
            <a:off x="7488746" y="8990867"/>
            <a:ext cx="1130236" cy="419319"/>
            <a:chOff x="0" y="0"/>
            <a:chExt cx="1506982" cy="559092"/>
          </a:xfrm>
        </p:grpSpPr>
        <p:sp>
          <p:nvSpPr>
            <p:cNvPr name="Freeform 38" id="38"/>
            <p:cNvSpPr/>
            <p:nvPr/>
          </p:nvSpPr>
          <p:spPr>
            <a:xfrm flipH="false" flipV="false" rot="0">
              <a:off x="0" y="0"/>
              <a:ext cx="1506982" cy="559054"/>
            </a:xfrm>
            <a:custGeom>
              <a:avLst/>
              <a:gdLst/>
              <a:ahLst/>
              <a:cxnLst/>
              <a:rect r="r" b="b" t="t" l="l"/>
              <a:pathLst>
                <a:path h="559054" w="1506982">
                  <a:moveTo>
                    <a:pt x="0" y="0"/>
                  </a:moveTo>
                  <a:lnTo>
                    <a:pt x="1506982" y="0"/>
                  </a:lnTo>
                  <a:lnTo>
                    <a:pt x="1506982" y="559054"/>
                  </a:lnTo>
                  <a:lnTo>
                    <a:pt x="0" y="559054"/>
                  </a:lnTo>
                  <a:close/>
                </a:path>
              </a:pathLst>
            </a:custGeom>
            <a:blipFill>
              <a:blip r:embed="rId5">
                <a:alphaModFix amt="0"/>
              </a:blip>
              <a:stretch>
                <a:fillRect l="0" t="-2482" r="0" b="-2492"/>
              </a:stretch>
            </a:blipFill>
          </p:spPr>
        </p:sp>
      </p:grpSp>
      <p:grpSp>
        <p:nvGrpSpPr>
          <p:cNvPr name="Group 39" id="39"/>
          <p:cNvGrpSpPr/>
          <p:nvPr/>
        </p:nvGrpSpPr>
        <p:grpSpPr>
          <a:xfrm rot="0">
            <a:off x="7488746" y="9055160"/>
            <a:ext cx="1130236" cy="355025"/>
            <a:chOff x="0" y="0"/>
            <a:chExt cx="1506982" cy="473367"/>
          </a:xfrm>
        </p:grpSpPr>
        <p:sp>
          <p:nvSpPr>
            <p:cNvPr name="Freeform 40" id="40"/>
            <p:cNvSpPr/>
            <p:nvPr/>
          </p:nvSpPr>
          <p:spPr>
            <a:xfrm flipH="false" flipV="false" rot="0">
              <a:off x="0" y="0"/>
              <a:ext cx="1506981" cy="473368"/>
            </a:xfrm>
            <a:custGeom>
              <a:avLst/>
              <a:gdLst/>
              <a:ahLst/>
              <a:cxnLst/>
              <a:rect r="r" b="b" t="t" l="l"/>
              <a:pathLst>
                <a:path h="473368" w="1506981">
                  <a:moveTo>
                    <a:pt x="0" y="0"/>
                  </a:moveTo>
                  <a:lnTo>
                    <a:pt x="1506981" y="0"/>
                  </a:lnTo>
                  <a:lnTo>
                    <a:pt x="1506981" y="473368"/>
                  </a:lnTo>
                  <a:lnTo>
                    <a:pt x="0" y="473368"/>
                  </a:lnTo>
                  <a:close/>
                </a:path>
              </a:pathLst>
            </a:custGeom>
            <a:blipFill>
              <a:blip r:embed="rId6">
                <a:alphaModFix amt="0"/>
              </a:blip>
              <a:stretch>
                <a:fillRect l="0" t="-12031" r="0" b="-12031"/>
              </a:stretch>
            </a:blipFill>
          </p:spPr>
        </p:sp>
        <p:sp>
          <p:nvSpPr>
            <p:cNvPr name="TextBox 41" id="41"/>
            <p:cNvSpPr txBox="true"/>
            <p:nvPr/>
          </p:nvSpPr>
          <p:spPr>
            <a:xfrm>
              <a:off x="0" y="85725"/>
              <a:ext cx="1506982" cy="387642"/>
            </a:xfrm>
            <a:prstGeom prst="rect">
              <a:avLst/>
            </a:prstGeom>
          </p:spPr>
          <p:txBody>
            <a:bodyPr anchor="ctr" rtlCol="false" tIns="0" lIns="0" bIns="0" rIns="0"/>
            <a:lstStyle/>
            <a:p>
              <a:pPr algn="l">
                <a:lnSpc>
                  <a:spcPts val="1491"/>
                </a:lnSpc>
              </a:pPr>
              <a:r>
                <a:rPr lang="en-US" sz="1975" b="true">
                  <a:solidFill>
                    <a:srgbClr val="E3A578"/>
                  </a:solidFill>
                  <a:latin typeface="TT Commons Pro Bold"/>
                  <a:ea typeface="TT Commons Pro Bold"/>
                  <a:cs typeface="TT Commons Pro Bold"/>
                  <a:sym typeface="TT Commons Pro Bold"/>
                </a:rPr>
                <a:t>SWIGGY</a:t>
              </a:r>
            </a:p>
          </p:txBody>
        </p:sp>
      </p:grpSp>
      <p:grpSp>
        <p:nvGrpSpPr>
          <p:cNvPr name="Group 42" id="42"/>
          <p:cNvGrpSpPr/>
          <p:nvPr/>
        </p:nvGrpSpPr>
        <p:grpSpPr>
          <a:xfrm rot="0">
            <a:off x="8815864" y="8691905"/>
            <a:ext cx="2406301" cy="896874"/>
            <a:chOff x="0" y="0"/>
            <a:chExt cx="3208401" cy="1195832"/>
          </a:xfrm>
        </p:grpSpPr>
        <p:sp>
          <p:nvSpPr>
            <p:cNvPr name="Freeform 43" id="43" descr="preencoded.png"/>
            <p:cNvSpPr/>
            <p:nvPr/>
          </p:nvSpPr>
          <p:spPr>
            <a:xfrm flipH="false" flipV="false" rot="0">
              <a:off x="0" y="0"/>
              <a:ext cx="3208401" cy="1195832"/>
            </a:xfrm>
            <a:custGeom>
              <a:avLst/>
              <a:gdLst/>
              <a:ahLst/>
              <a:cxnLst/>
              <a:rect r="r" b="b" t="t" l="l"/>
              <a:pathLst>
                <a:path h="1195832" w="3208401">
                  <a:moveTo>
                    <a:pt x="0" y="0"/>
                  </a:moveTo>
                  <a:lnTo>
                    <a:pt x="3208401" y="0"/>
                  </a:lnTo>
                  <a:lnTo>
                    <a:pt x="3208401" y="1195832"/>
                  </a:lnTo>
                  <a:lnTo>
                    <a:pt x="0" y="1195832"/>
                  </a:lnTo>
                  <a:lnTo>
                    <a:pt x="0" y="0"/>
                  </a:lnTo>
                  <a:close/>
                </a:path>
              </a:pathLst>
            </a:custGeom>
            <a:blipFill>
              <a:blip r:embed="rId19"/>
              <a:stretch>
                <a:fillRect l="0" t="-137" r="0" b="-135"/>
              </a:stretch>
            </a:blipFill>
          </p:spPr>
        </p:sp>
      </p:grpSp>
      <p:grpSp>
        <p:nvGrpSpPr>
          <p:cNvPr name="Group 44" id="44"/>
          <p:cNvGrpSpPr/>
          <p:nvPr/>
        </p:nvGrpSpPr>
        <p:grpSpPr>
          <a:xfrm rot="0">
            <a:off x="8801281" y="8823160"/>
            <a:ext cx="758380" cy="685419"/>
            <a:chOff x="0" y="0"/>
            <a:chExt cx="1011174" cy="913892"/>
          </a:xfrm>
        </p:grpSpPr>
        <p:sp>
          <p:nvSpPr>
            <p:cNvPr name="Freeform 45" id="45" descr="preencoded.png"/>
            <p:cNvSpPr/>
            <p:nvPr/>
          </p:nvSpPr>
          <p:spPr>
            <a:xfrm flipH="false" flipV="false" rot="0">
              <a:off x="0" y="0"/>
              <a:ext cx="1011174" cy="913892"/>
            </a:xfrm>
            <a:custGeom>
              <a:avLst/>
              <a:gdLst/>
              <a:ahLst/>
              <a:cxnLst/>
              <a:rect r="r" b="b" t="t" l="l"/>
              <a:pathLst>
                <a:path h="913892" w="1011174">
                  <a:moveTo>
                    <a:pt x="0" y="0"/>
                  </a:moveTo>
                  <a:lnTo>
                    <a:pt x="1011174" y="0"/>
                  </a:lnTo>
                  <a:lnTo>
                    <a:pt x="1011174" y="913892"/>
                  </a:lnTo>
                  <a:lnTo>
                    <a:pt x="0" y="913892"/>
                  </a:lnTo>
                  <a:lnTo>
                    <a:pt x="0" y="0"/>
                  </a:lnTo>
                  <a:close/>
                </a:path>
              </a:pathLst>
            </a:custGeom>
            <a:blipFill>
              <a:blip r:embed="rId20"/>
              <a:stretch>
                <a:fillRect l="0" t="-11" r="0" b="-11"/>
              </a:stretch>
            </a:blipFill>
          </p:spPr>
        </p:sp>
      </p:grpSp>
      <p:grpSp>
        <p:nvGrpSpPr>
          <p:cNvPr name="Group 46" id="46"/>
          <p:cNvGrpSpPr/>
          <p:nvPr/>
        </p:nvGrpSpPr>
        <p:grpSpPr>
          <a:xfrm rot="0">
            <a:off x="8947118" y="8983580"/>
            <a:ext cx="481260" cy="546173"/>
            <a:chOff x="0" y="0"/>
            <a:chExt cx="641680" cy="728231"/>
          </a:xfrm>
        </p:grpSpPr>
        <p:sp>
          <p:nvSpPr>
            <p:cNvPr name="Freeform 47" id="47"/>
            <p:cNvSpPr/>
            <p:nvPr/>
          </p:nvSpPr>
          <p:spPr>
            <a:xfrm flipH="false" flipV="false" rot="0">
              <a:off x="0" y="0"/>
              <a:ext cx="641731" cy="728218"/>
            </a:xfrm>
            <a:custGeom>
              <a:avLst/>
              <a:gdLst/>
              <a:ahLst/>
              <a:cxnLst/>
              <a:rect r="r" b="b" t="t" l="l"/>
              <a:pathLst>
                <a:path h="728218" w="641731">
                  <a:moveTo>
                    <a:pt x="0" y="0"/>
                  </a:moveTo>
                  <a:lnTo>
                    <a:pt x="641731" y="0"/>
                  </a:lnTo>
                  <a:lnTo>
                    <a:pt x="641731" y="728218"/>
                  </a:lnTo>
                  <a:lnTo>
                    <a:pt x="0" y="728218"/>
                  </a:lnTo>
                  <a:close/>
                </a:path>
              </a:pathLst>
            </a:custGeom>
            <a:blipFill>
              <a:blip r:embed="rId5">
                <a:alphaModFix amt="0"/>
              </a:blip>
              <a:stretch>
                <a:fillRect l="-95703" t="0" r="-95695" b="-1"/>
              </a:stretch>
            </a:blipFill>
          </p:spPr>
        </p:sp>
      </p:grpSp>
      <p:grpSp>
        <p:nvGrpSpPr>
          <p:cNvPr name="Group 48" id="48"/>
          <p:cNvGrpSpPr/>
          <p:nvPr/>
        </p:nvGrpSpPr>
        <p:grpSpPr>
          <a:xfrm rot="0">
            <a:off x="8947118" y="9069305"/>
            <a:ext cx="481260" cy="460448"/>
            <a:chOff x="0" y="0"/>
            <a:chExt cx="641680" cy="613931"/>
          </a:xfrm>
        </p:grpSpPr>
        <p:sp>
          <p:nvSpPr>
            <p:cNvPr name="Freeform 49" id="49"/>
            <p:cNvSpPr/>
            <p:nvPr/>
          </p:nvSpPr>
          <p:spPr>
            <a:xfrm flipH="false" flipV="false" rot="0">
              <a:off x="0" y="0"/>
              <a:ext cx="641680" cy="613936"/>
            </a:xfrm>
            <a:custGeom>
              <a:avLst/>
              <a:gdLst/>
              <a:ahLst/>
              <a:cxnLst/>
              <a:rect r="r" b="b" t="t" l="l"/>
              <a:pathLst>
                <a:path h="613936" w="641680">
                  <a:moveTo>
                    <a:pt x="0" y="0"/>
                  </a:moveTo>
                  <a:lnTo>
                    <a:pt x="641680" y="0"/>
                  </a:lnTo>
                  <a:lnTo>
                    <a:pt x="641680" y="613936"/>
                  </a:lnTo>
                  <a:lnTo>
                    <a:pt x="0" y="613936"/>
                  </a:lnTo>
                  <a:close/>
                </a:path>
              </a:pathLst>
            </a:custGeom>
            <a:blipFill>
              <a:blip r:embed="rId6">
                <a:alphaModFix amt="0"/>
              </a:blip>
              <a:stretch>
                <a:fillRect l="-72755" t="0" r="-72755" b="0"/>
              </a:stretch>
            </a:blipFill>
          </p:spPr>
        </p:sp>
        <p:sp>
          <p:nvSpPr>
            <p:cNvPr name="TextBox 50" id="50"/>
            <p:cNvSpPr txBox="true"/>
            <p:nvPr/>
          </p:nvSpPr>
          <p:spPr>
            <a:xfrm>
              <a:off x="0" y="114300"/>
              <a:ext cx="641680" cy="499631"/>
            </a:xfrm>
            <a:prstGeom prst="rect">
              <a:avLst/>
            </a:prstGeom>
          </p:spPr>
          <p:txBody>
            <a:bodyPr anchor="ctr" rtlCol="false" tIns="0" lIns="0" bIns="0" rIns="0"/>
            <a:lstStyle/>
            <a:p>
              <a:pPr algn="l">
                <a:lnSpc>
                  <a:spcPts val="1894"/>
                </a:lnSpc>
              </a:pPr>
              <a:r>
                <a:rPr lang="en-US" sz="2532" b="true">
                  <a:solidFill>
                    <a:srgbClr val="B4B4B5"/>
                  </a:solidFill>
                  <a:latin typeface="TT Commons Pro Bold"/>
                  <a:ea typeface="TT Commons Pro Bold"/>
                  <a:cs typeface="TT Commons Pro Bold"/>
                  <a:sym typeface="TT Commons Pro Bold"/>
                </a:rPr>
                <a:t>VS</a:t>
              </a:r>
            </a:p>
          </p:txBody>
        </p:sp>
      </p:grpSp>
      <p:grpSp>
        <p:nvGrpSpPr>
          <p:cNvPr name="Group 51" id="51"/>
          <p:cNvGrpSpPr/>
          <p:nvPr/>
        </p:nvGrpSpPr>
        <p:grpSpPr>
          <a:xfrm rot="0">
            <a:off x="9778394" y="8961701"/>
            <a:ext cx="1239622" cy="527428"/>
            <a:chOff x="0" y="0"/>
            <a:chExt cx="1652829" cy="703237"/>
          </a:xfrm>
        </p:grpSpPr>
        <p:sp>
          <p:nvSpPr>
            <p:cNvPr name="Freeform 52" id="52"/>
            <p:cNvSpPr/>
            <p:nvPr/>
          </p:nvSpPr>
          <p:spPr>
            <a:xfrm flipH="false" flipV="false" rot="0">
              <a:off x="0" y="0"/>
              <a:ext cx="1652778" cy="703199"/>
            </a:xfrm>
            <a:custGeom>
              <a:avLst/>
              <a:gdLst/>
              <a:ahLst/>
              <a:cxnLst/>
              <a:rect r="r" b="b" t="t" l="l"/>
              <a:pathLst>
                <a:path h="703199" w="1652778">
                  <a:moveTo>
                    <a:pt x="0" y="0"/>
                  </a:moveTo>
                  <a:lnTo>
                    <a:pt x="1652778" y="0"/>
                  </a:lnTo>
                  <a:lnTo>
                    <a:pt x="1652778" y="703199"/>
                  </a:lnTo>
                  <a:lnTo>
                    <a:pt x="0" y="703199"/>
                  </a:lnTo>
                  <a:close/>
                </a:path>
              </a:pathLst>
            </a:custGeom>
            <a:blipFill>
              <a:blip r:embed="rId5">
                <a:alphaModFix amt="0"/>
              </a:blip>
              <a:stretch>
                <a:fillRect l="-4628" t="0" r="-4631" b="-5"/>
              </a:stretch>
            </a:blipFill>
          </p:spPr>
        </p:sp>
      </p:grpSp>
      <p:grpSp>
        <p:nvGrpSpPr>
          <p:cNvPr name="Group 53" id="53"/>
          <p:cNvGrpSpPr/>
          <p:nvPr/>
        </p:nvGrpSpPr>
        <p:grpSpPr>
          <a:xfrm rot="0">
            <a:off x="9778394" y="9040282"/>
            <a:ext cx="1239622" cy="448856"/>
            <a:chOff x="0" y="0"/>
            <a:chExt cx="1652829" cy="598475"/>
          </a:xfrm>
        </p:grpSpPr>
        <p:sp>
          <p:nvSpPr>
            <p:cNvPr name="Freeform 54" id="54"/>
            <p:cNvSpPr/>
            <p:nvPr/>
          </p:nvSpPr>
          <p:spPr>
            <a:xfrm flipH="false" flipV="false" rot="0">
              <a:off x="0" y="0"/>
              <a:ext cx="1652829" cy="598470"/>
            </a:xfrm>
            <a:custGeom>
              <a:avLst/>
              <a:gdLst/>
              <a:ahLst/>
              <a:cxnLst/>
              <a:rect r="r" b="b" t="t" l="l"/>
              <a:pathLst>
                <a:path h="598470" w="1652829">
                  <a:moveTo>
                    <a:pt x="0" y="0"/>
                  </a:moveTo>
                  <a:lnTo>
                    <a:pt x="1652829" y="0"/>
                  </a:lnTo>
                  <a:lnTo>
                    <a:pt x="1652829" y="598470"/>
                  </a:lnTo>
                  <a:lnTo>
                    <a:pt x="0" y="598470"/>
                  </a:lnTo>
                  <a:close/>
                </a:path>
              </a:pathLst>
            </a:custGeom>
            <a:blipFill>
              <a:blip r:embed="rId6">
                <a:alphaModFix amt="0"/>
              </a:blip>
              <a:stretch>
                <a:fillRect l="0" t="-3812" r="0" b="-3813"/>
              </a:stretch>
            </a:blipFill>
          </p:spPr>
        </p:sp>
        <p:sp>
          <p:nvSpPr>
            <p:cNvPr name="TextBox 55" id="55"/>
            <p:cNvSpPr txBox="true"/>
            <p:nvPr/>
          </p:nvSpPr>
          <p:spPr>
            <a:xfrm>
              <a:off x="0" y="104775"/>
              <a:ext cx="1652829" cy="493700"/>
            </a:xfrm>
            <a:prstGeom prst="rect">
              <a:avLst/>
            </a:prstGeom>
          </p:spPr>
          <p:txBody>
            <a:bodyPr anchor="ctr" rtlCol="false" tIns="0" lIns="0" bIns="0" rIns="0"/>
            <a:lstStyle/>
            <a:p>
              <a:pPr algn="l">
                <a:lnSpc>
                  <a:spcPts val="1893"/>
                </a:lnSpc>
              </a:pPr>
              <a:r>
                <a:rPr lang="en-US" b="true" sz="2444" i="true">
                  <a:solidFill>
                    <a:srgbClr val="E0ABAF"/>
                  </a:solidFill>
                  <a:latin typeface="TT Commons Pro Bold Italics"/>
                  <a:ea typeface="TT Commons Pro Bold Italics"/>
                  <a:cs typeface="TT Commons Pro Bold Italics"/>
                  <a:sym typeface="TT Commons Pro Bold Italics"/>
                </a:rPr>
                <a:t>zomato</a:t>
              </a:r>
            </a:p>
          </p:txBody>
        </p:sp>
      </p:grpSp>
      <p:grpSp>
        <p:nvGrpSpPr>
          <p:cNvPr name="Group 56" id="56"/>
          <p:cNvGrpSpPr/>
          <p:nvPr/>
        </p:nvGrpSpPr>
        <p:grpSpPr>
          <a:xfrm rot="0">
            <a:off x="6409553" y="8874204"/>
            <a:ext cx="29146" cy="612553"/>
            <a:chOff x="0" y="0"/>
            <a:chExt cx="38862" cy="816737"/>
          </a:xfrm>
        </p:grpSpPr>
        <p:sp>
          <p:nvSpPr>
            <p:cNvPr name="Freeform 57" id="57" descr="preencoded.png"/>
            <p:cNvSpPr/>
            <p:nvPr/>
          </p:nvSpPr>
          <p:spPr>
            <a:xfrm flipH="false" flipV="false" rot="0">
              <a:off x="0" y="0"/>
              <a:ext cx="38862" cy="816737"/>
            </a:xfrm>
            <a:custGeom>
              <a:avLst/>
              <a:gdLst/>
              <a:ahLst/>
              <a:cxnLst/>
              <a:rect r="r" b="b" t="t" l="l"/>
              <a:pathLst>
                <a:path h="816737" w="38862">
                  <a:moveTo>
                    <a:pt x="0" y="0"/>
                  </a:moveTo>
                  <a:lnTo>
                    <a:pt x="38862" y="0"/>
                  </a:lnTo>
                  <a:lnTo>
                    <a:pt x="38862" y="816737"/>
                  </a:lnTo>
                  <a:lnTo>
                    <a:pt x="0" y="816737"/>
                  </a:lnTo>
                  <a:lnTo>
                    <a:pt x="0" y="0"/>
                  </a:lnTo>
                  <a:close/>
                </a:path>
              </a:pathLst>
            </a:custGeom>
            <a:blipFill>
              <a:blip r:embed="rId21"/>
              <a:stretch>
                <a:fillRect l="-2026" t="0" r="-2026" b="0"/>
              </a:stretch>
            </a:blipFill>
          </p:spPr>
        </p:sp>
      </p:grpSp>
      <p:grpSp>
        <p:nvGrpSpPr>
          <p:cNvPr name="Group 58" id="58"/>
          <p:cNvGrpSpPr/>
          <p:nvPr/>
        </p:nvGrpSpPr>
        <p:grpSpPr>
          <a:xfrm rot="0">
            <a:off x="860441" y="8823160"/>
            <a:ext cx="539591" cy="641699"/>
            <a:chOff x="0" y="0"/>
            <a:chExt cx="719455" cy="855599"/>
          </a:xfrm>
        </p:grpSpPr>
        <p:sp>
          <p:nvSpPr>
            <p:cNvPr name="Freeform 59" id="59" descr="preencoded.png"/>
            <p:cNvSpPr/>
            <p:nvPr/>
          </p:nvSpPr>
          <p:spPr>
            <a:xfrm flipH="false" flipV="false" rot="0">
              <a:off x="0" y="0"/>
              <a:ext cx="719455" cy="855599"/>
            </a:xfrm>
            <a:custGeom>
              <a:avLst/>
              <a:gdLst/>
              <a:ahLst/>
              <a:cxnLst/>
              <a:rect r="r" b="b" t="t" l="l"/>
              <a:pathLst>
                <a:path h="855599" w="719455">
                  <a:moveTo>
                    <a:pt x="0" y="0"/>
                  </a:moveTo>
                  <a:lnTo>
                    <a:pt x="719455" y="0"/>
                  </a:lnTo>
                  <a:lnTo>
                    <a:pt x="719455" y="855599"/>
                  </a:lnTo>
                  <a:lnTo>
                    <a:pt x="0" y="855599"/>
                  </a:lnTo>
                  <a:lnTo>
                    <a:pt x="0" y="0"/>
                  </a:lnTo>
                  <a:close/>
                </a:path>
              </a:pathLst>
            </a:custGeom>
            <a:blipFill>
              <a:blip r:embed="rId22"/>
              <a:stretch>
                <a:fillRect l="0" t="-166" r="0" b="-166"/>
              </a:stretch>
            </a:blipFill>
          </p:spPr>
        </p:sp>
      </p:grpSp>
      <p:grpSp>
        <p:nvGrpSpPr>
          <p:cNvPr name="Group 60" id="60"/>
          <p:cNvGrpSpPr/>
          <p:nvPr/>
        </p:nvGrpSpPr>
        <p:grpSpPr>
          <a:xfrm rot="0">
            <a:off x="2690698" y="9107776"/>
            <a:ext cx="3624053" cy="297723"/>
            <a:chOff x="0" y="0"/>
            <a:chExt cx="4832071" cy="396964"/>
          </a:xfrm>
        </p:grpSpPr>
        <p:sp>
          <p:nvSpPr>
            <p:cNvPr name="Freeform 61" id="61"/>
            <p:cNvSpPr/>
            <p:nvPr/>
          </p:nvSpPr>
          <p:spPr>
            <a:xfrm flipH="false" flipV="false" rot="0">
              <a:off x="0" y="0"/>
              <a:ext cx="4832096" cy="397002"/>
            </a:xfrm>
            <a:custGeom>
              <a:avLst/>
              <a:gdLst/>
              <a:ahLst/>
              <a:cxnLst/>
              <a:rect r="r" b="b" t="t" l="l"/>
              <a:pathLst>
                <a:path h="397002" w="4832096">
                  <a:moveTo>
                    <a:pt x="0" y="0"/>
                  </a:moveTo>
                  <a:lnTo>
                    <a:pt x="4832096" y="0"/>
                  </a:lnTo>
                  <a:lnTo>
                    <a:pt x="4832096" y="397002"/>
                  </a:lnTo>
                  <a:lnTo>
                    <a:pt x="0" y="397002"/>
                  </a:lnTo>
                  <a:close/>
                </a:path>
              </a:pathLst>
            </a:custGeom>
            <a:blipFill>
              <a:blip r:embed="rId5">
                <a:alphaModFix amt="0"/>
              </a:blip>
              <a:stretch>
                <a:fillRect l="0" t="-186999" r="0" b="-186992"/>
              </a:stretch>
            </a:blipFill>
          </p:spPr>
        </p:sp>
      </p:grpSp>
      <p:grpSp>
        <p:nvGrpSpPr>
          <p:cNvPr name="Group 62" id="62"/>
          <p:cNvGrpSpPr/>
          <p:nvPr/>
        </p:nvGrpSpPr>
        <p:grpSpPr>
          <a:xfrm rot="0">
            <a:off x="2690698" y="9114920"/>
            <a:ext cx="3624053" cy="290589"/>
            <a:chOff x="0" y="0"/>
            <a:chExt cx="4832071" cy="387452"/>
          </a:xfrm>
        </p:grpSpPr>
        <p:sp>
          <p:nvSpPr>
            <p:cNvPr name="Freeform 63" id="63"/>
            <p:cNvSpPr/>
            <p:nvPr/>
          </p:nvSpPr>
          <p:spPr>
            <a:xfrm flipH="false" flipV="false" rot="0">
              <a:off x="0" y="0"/>
              <a:ext cx="4832071" cy="387446"/>
            </a:xfrm>
            <a:custGeom>
              <a:avLst/>
              <a:gdLst/>
              <a:ahLst/>
              <a:cxnLst/>
              <a:rect r="r" b="b" t="t" l="l"/>
              <a:pathLst>
                <a:path h="387446" w="4832071">
                  <a:moveTo>
                    <a:pt x="0" y="0"/>
                  </a:moveTo>
                  <a:lnTo>
                    <a:pt x="4832071" y="0"/>
                  </a:lnTo>
                  <a:lnTo>
                    <a:pt x="4832071" y="387446"/>
                  </a:lnTo>
                  <a:lnTo>
                    <a:pt x="0" y="387446"/>
                  </a:lnTo>
                  <a:close/>
                </a:path>
              </a:pathLst>
            </a:custGeom>
            <a:blipFill>
              <a:blip r:embed="rId6">
                <a:alphaModFix amt="0"/>
              </a:blip>
              <a:stretch>
                <a:fillRect l="0" t="-193009" r="0" b="-193010"/>
              </a:stretch>
            </a:blipFill>
          </p:spPr>
        </p:sp>
        <p:sp>
          <p:nvSpPr>
            <p:cNvPr name="TextBox 64" id="64"/>
            <p:cNvSpPr txBox="true"/>
            <p:nvPr/>
          </p:nvSpPr>
          <p:spPr>
            <a:xfrm>
              <a:off x="0" y="9525"/>
              <a:ext cx="4832071" cy="377927"/>
            </a:xfrm>
            <a:prstGeom prst="rect">
              <a:avLst/>
            </a:prstGeom>
          </p:spPr>
          <p:txBody>
            <a:bodyPr anchor="ctr" rtlCol="false" tIns="0" lIns="0" bIns="0" rIns="0"/>
            <a:lstStyle/>
            <a:p>
              <a:pPr algn="l">
                <a:lnSpc>
                  <a:spcPts val="1544"/>
                </a:lnSpc>
              </a:pPr>
              <a:r>
                <a:rPr lang="en-US" sz="1399">
                  <a:solidFill>
                    <a:srgbClr val="F2EFEB"/>
                  </a:solidFill>
                  <a:latin typeface="TT Commons Pro"/>
                  <a:ea typeface="TT Commons Pro"/>
                  <a:cs typeface="TT Commons Pro"/>
                  <a:sym typeface="TT Commons Pro"/>
                </a:rPr>
                <a:t>Collected from publicly available data</a:t>
              </a:r>
            </a:p>
          </p:txBody>
        </p:sp>
      </p:grpSp>
      <p:grpSp>
        <p:nvGrpSpPr>
          <p:cNvPr name="Group 65" id="65"/>
          <p:cNvGrpSpPr/>
          <p:nvPr/>
        </p:nvGrpSpPr>
        <p:grpSpPr>
          <a:xfrm rot="0">
            <a:off x="2690698" y="8859622"/>
            <a:ext cx="3529260" cy="298961"/>
            <a:chOff x="0" y="0"/>
            <a:chExt cx="4705680" cy="398615"/>
          </a:xfrm>
        </p:grpSpPr>
        <p:sp>
          <p:nvSpPr>
            <p:cNvPr name="Freeform 66" id="66"/>
            <p:cNvSpPr/>
            <p:nvPr/>
          </p:nvSpPr>
          <p:spPr>
            <a:xfrm flipH="false" flipV="false" rot="0">
              <a:off x="0" y="0"/>
              <a:ext cx="4705731" cy="398653"/>
            </a:xfrm>
            <a:custGeom>
              <a:avLst/>
              <a:gdLst/>
              <a:ahLst/>
              <a:cxnLst/>
              <a:rect r="r" b="b" t="t" l="l"/>
              <a:pathLst>
                <a:path h="398653" w="4705731">
                  <a:moveTo>
                    <a:pt x="0" y="0"/>
                  </a:moveTo>
                  <a:lnTo>
                    <a:pt x="4705731" y="0"/>
                  </a:lnTo>
                  <a:lnTo>
                    <a:pt x="4705731" y="398653"/>
                  </a:lnTo>
                  <a:lnTo>
                    <a:pt x="0" y="398653"/>
                  </a:lnTo>
                  <a:close/>
                </a:path>
              </a:pathLst>
            </a:custGeom>
            <a:blipFill>
              <a:blip r:embed="rId5">
                <a:alphaModFix amt="0"/>
              </a:blip>
              <a:stretch>
                <a:fillRect l="0" t="-179843" r="1" b="-179837"/>
              </a:stretch>
            </a:blipFill>
          </p:spPr>
        </p:sp>
      </p:grpSp>
      <p:grpSp>
        <p:nvGrpSpPr>
          <p:cNvPr name="Group 67" id="67"/>
          <p:cNvGrpSpPr/>
          <p:nvPr/>
        </p:nvGrpSpPr>
        <p:grpSpPr>
          <a:xfrm rot="0">
            <a:off x="2690698" y="8873909"/>
            <a:ext cx="3529260" cy="284683"/>
            <a:chOff x="0" y="0"/>
            <a:chExt cx="4705680" cy="379578"/>
          </a:xfrm>
        </p:grpSpPr>
        <p:sp>
          <p:nvSpPr>
            <p:cNvPr name="Freeform 68" id="68"/>
            <p:cNvSpPr/>
            <p:nvPr/>
          </p:nvSpPr>
          <p:spPr>
            <a:xfrm flipH="false" flipV="false" rot="0">
              <a:off x="0" y="0"/>
              <a:ext cx="4705680" cy="379573"/>
            </a:xfrm>
            <a:custGeom>
              <a:avLst/>
              <a:gdLst/>
              <a:ahLst/>
              <a:cxnLst/>
              <a:rect r="r" b="b" t="t" l="l"/>
              <a:pathLst>
                <a:path h="379573" w="4705680">
                  <a:moveTo>
                    <a:pt x="0" y="0"/>
                  </a:moveTo>
                  <a:lnTo>
                    <a:pt x="4705680" y="0"/>
                  </a:lnTo>
                  <a:lnTo>
                    <a:pt x="4705680" y="379573"/>
                  </a:lnTo>
                  <a:lnTo>
                    <a:pt x="0" y="379573"/>
                  </a:lnTo>
                  <a:close/>
                </a:path>
              </a:pathLst>
            </a:custGeom>
            <a:blipFill>
              <a:blip r:embed="rId6">
                <a:alphaModFix amt="0"/>
              </a:blip>
              <a:stretch>
                <a:fillRect l="0" t="-191561" r="0" b="-191562"/>
              </a:stretch>
            </a:blipFill>
          </p:spPr>
        </p:sp>
        <p:sp>
          <p:nvSpPr>
            <p:cNvPr name="TextBox 69" id="69"/>
            <p:cNvSpPr txBox="true"/>
            <p:nvPr/>
          </p:nvSpPr>
          <p:spPr>
            <a:xfrm>
              <a:off x="0" y="19050"/>
              <a:ext cx="4705680" cy="360528"/>
            </a:xfrm>
            <a:prstGeom prst="rect">
              <a:avLst/>
            </a:prstGeom>
          </p:spPr>
          <p:txBody>
            <a:bodyPr anchor="ctr" rtlCol="false" tIns="0" lIns="0" bIns="0" rIns="0"/>
            <a:lstStyle/>
            <a:p>
              <a:pPr algn="l">
                <a:lnSpc>
                  <a:spcPts val="1468"/>
                </a:lnSpc>
              </a:pPr>
              <a:r>
                <a:rPr lang="en-US" sz="1399">
                  <a:solidFill>
                    <a:srgbClr val="F2EFEB"/>
                  </a:solidFill>
                  <a:latin typeface="TT Commons Pro"/>
                  <a:ea typeface="TT Commons Pro"/>
                  <a:cs typeface="TT Commons Pro"/>
                  <a:sym typeface="TT Commons Pro"/>
                </a:rPr>
                <a:t>Swiggy vs Zomato Dataset (CSV File)</a:t>
              </a:r>
            </a:p>
          </p:txBody>
        </p:sp>
      </p:grpSp>
      <p:grpSp>
        <p:nvGrpSpPr>
          <p:cNvPr name="Group 70" id="70"/>
          <p:cNvGrpSpPr/>
          <p:nvPr/>
        </p:nvGrpSpPr>
        <p:grpSpPr>
          <a:xfrm rot="0">
            <a:off x="1771926" y="8859622"/>
            <a:ext cx="853145" cy="374323"/>
            <a:chOff x="0" y="0"/>
            <a:chExt cx="1137526" cy="499097"/>
          </a:xfrm>
        </p:grpSpPr>
        <p:sp>
          <p:nvSpPr>
            <p:cNvPr name="Freeform 71" id="71"/>
            <p:cNvSpPr/>
            <p:nvPr/>
          </p:nvSpPr>
          <p:spPr>
            <a:xfrm flipH="false" flipV="false" rot="0">
              <a:off x="0" y="0"/>
              <a:ext cx="1137539" cy="499110"/>
            </a:xfrm>
            <a:custGeom>
              <a:avLst/>
              <a:gdLst/>
              <a:ahLst/>
              <a:cxnLst/>
              <a:rect r="r" b="b" t="t" l="l"/>
              <a:pathLst>
                <a:path h="499110" w="1137539">
                  <a:moveTo>
                    <a:pt x="0" y="0"/>
                  </a:moveTo>
                  <a:lnTo>
                    <a:pt x="1137539" y="0"/>
                  </a:lnTo>
                  <a:lnTo>
                    <a:pt x="1137539" y="499110"/>
                  </a:lnTo>
                  <a:lnTo>
                    <a:pt x="0" y="499110"/>
                  </a:lnTo>
                  <a:close/>
                </a:path>
              </a:pathLst>
            </a:custGeom>
            <a:blipFill>
              <a:blip r:embed="rId5">
                <a:alphaModFix amt="0"/>
              </a:blip>
              <a:stretch>
                <a:fillRect l="-6333" t="0" r="-6332" b="2"/>
              </a:stretch>
            </a:blipFill>
          </p:spPr>
        </p:sp>
      </p:grpSp>
      <p:grpSp>
        <p:nvGrpSpPr>
          <p:cNvPr name="Group 72" id="72"/>
          <p:cNvGrpSpPr/>
          <p:nvPr/>
        </p:nvGrpSpPr>
        <p:grpSpPr>
          <a:xfrm rot="0">
            <a:off x="1771926" y="8916772"/>
            <a:ext cx="853145" cy="317173"/>
            <a:chOff x="0" y="0"/>
            <a:chExt cx="1137526" cy="422897"/>
          </a:xfrm>
        </p:grpSpPr>
        <p:sp>
          <p:nvSpPr>
            <p:cNvPr name="Freeform 73" id="73"/>
            <p:cNvSpPr/>
            <p:nvPr/>
          </p:nvSpPr>
          <p:spPr>
            <a:xfrm flipH="false" flipV="false" rot="0">
              <a:off x="0" y="0"/>
              <a:ext cx="1137527" cy="422900"/>
            </a:xfrm>
            <a:custGeom>
              <a:avLst/>
              <a:gdLst/>
              <a:ahLst/>
              <a:cxnLst/>
              <a:rect r="r" b="b" t="t" l="l"/>
              <a:pathLst>
                <a:path h="422900" w="1137527">
                  <a:moveTo>
                    <a:pt x="0" y="0"/>
                  </a:moveTo>
                  <a:lnTo>
                    <a:pt x="1137527" y="0"/>
                  </a:lnTo>
                  <a:lnTo>
                    <a:pt x="1137527" y="422900"/>
                  </a:lnTo>
                  <a:lnTo>
                    <a:pt x="0" y="422900"/>
                  </a:lnTo>
                  <a:close/>
                </a:path>
              </a:pathLst>
            </a:custGeom>
            <a:blipFill>
              <a:blip r:embed="rId6">
                <a:alphaModFix amt="0"/>
              </a:blip>
              <a:stretch>
                <a:fillRect l="0" t="-2411" r="0" b="-2411"/>
              </a:stretch>
            </a:blipFill>
          </p:spPr>
        </p:sp>
        <p:sp>
          <p:nvSpPr>
            <p:cNvPr name="TextBox 74" id="74"/>
            <p:cNvSpPr txBox="true"/>
            <p:nvPr/>
          </p:nvSpPr>
          <p:spPr>
            <a:xfrm>
              <a:off x="0" y="76200"/>
              <a:ext cx="1137526" cy="346697"/>
            </a:xfrm>
            <a:prstGeom prst="rect">
              <a:avLst/>
            </a:prstGeom>
          </p:spPr>
          <p:txBody>
            <a:bodyPr anchor="ctr" rtlCol="false" tIns="0" lIns="0" bIns="0" rIns="0"/>
            <a:lstStyle/>
            <a:p>
              <a:pPr algn="l">
                <a:lnSpc>
                  <a:spcPts val="1314"/>
                </a:lnSpc>
              </a:pPr>
              <a:r>
                <a:rPr lang="en-US" sz="1750" b="true">
                  <a:solidFill>
                    <a:srgbClr val="83513D"/>
                  </a:solidFill>
                  <a:latin typeface="TT Commons Pro Bold"/>
                  <a:ea typeface="TT Commons Pro Bold"/>
                  <a:cs typeface="TT Commons Pro Bold"/>
                  <a:sym typeface="TT Commons Pro Bold"/>
                </a:rPr>
                <a:t>Source:</a:t>
              </a:r>
            </a:p>
          </p:txBody>
        </p:sp>
      </p:grpSp>
      <p:sp>
        <p:nvSpPr>
          <p:cNvPr name="Freeform 75" id="75"/>
          <p:cNvSpPr/>
          <p:nvPr/>
        </p:nvSpPr>
        <p:spPr>
          <a:xfrm flipH="false" flipV="false" rot="0">
            <a:off x="11926767" y="1441056"/>
            <a:ext cx="2258673" cy="2010737"/>
          </a:xfrm>
          <a:custGeom>
            <a:avLst/>
            <a:gdLst/>
            <a:ahLst/>
            <a:cxnLst/>
            <a:rect r="r" b="b" t="t" l="l"/>
            <a:pathLst>
              <a:path h="2010737" w="2258673">
                <a:moveTo>
                  <a:pt x="0" y="0"/>
                </a:moveTo>
                <a:lnTo>
                  <a:pt x="2258673" y="0"/>
                </a:lnTo>
                <a:lnTo>
                  <a:pt x="2258673" y="2010737"/>
                </a:lnTo>
                <a:lnTo>
                  <a:pt x="0" y="201073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76" id="76"/>
          <p:cNvGrpSpPr/>
          <p:nvPr/>
        </p:nvGrpSpPr>
        <p:grpSpPr>
          <a:xfrm rot="0">
            <a:off x="12235748" y="2377145"/>
            <a:ext cx="1728216" cy="43720"/>
            <a:chOff x="0" y="0"/>
            <a:chExt cx="2304288" cy="58293"/>
          </a:xfrm>
        </p:grpSpPr>
        <p:sp>
          <p:nvSpPr>
            <p:cNvPr name="Freeform 77" id="77" descr="preencoded.png"/>
            <p:cNvSpPr/>
            <p:nvPr/>
          </p:nvSpPr>
          <p:spPr>
            <a:xfrm flipH="false" flipV="false" rot="0">
              <a:off x="0" y="0"/>
              <a:ext cx="2304288" cy="58293"/>
            </a:xfrm>
            <a:custGeom>
              <a:avLst/>
              <a:gdLst/>
              <a:ahLst/>
              <a:cxnLst/>
              <a:rect r="r" b="b" t="t" l="l"/>
              <a:pathLst>
                <a:path h="58293" w="2304288">
                  <a:moveTo>
                    <a:pt x="0" y="0"/>
                  </a:moveTo>
                  <a:lnTo>
                    <a:pt x="2304288" y="0"/>
                  </a:lnTo>
                  <a:lnTo>
                    <a:pt x="2304288" y="58293"/>
                  </a:lnTo>
                  <a:lnTo>
                    <a:pt x="0" y="58293"/>
                  </a:lnTo>
                  <a:lnTo>
                    <a:pt x="0" y="0"/>
                  </a:lnTo>
                  <a:close/>
                </a:path>
              </a:pathLst>
            </a:custGeom>
            <a:blipFill>
              <a:blip r:embed="rId25"/>
              <a:stretch>
                <a:fillRect l="0" t="-43" r="0" b="-21"/>
              </a:stretch>
            </a:blipFill>
          </p:spPr>
        </p:sp>
      </p:grpSp>
      <p:grpSp>
        <p:nvGrpSpPr>
          <p:cNvPr name="Group 78" id="78"/>
          <p:cNvGrpSpPr/>
          <p:nvPr/>
        </p:nvGrpSpPr>
        <p:grpSpPr>
          <a:xfrm rot="0">
            <a:off x="12133669" y="1655254"/>
            <a:ext cx="729234" cy="619792"/>
            <a:chOff x="0" y="0"/>
            <a:chExt cx="972312" cy="826389"/>
          </a:xfrm>
        </p:grpSpPr>
        <p:sp>
          <p:nvSpPr>
            <p:cNvPr name="Freeform 79" id="79" descr="preencoded.png"/>
            <p:cNvSpPr/>
            <p:nvPr/>
          </p:nvSpPr>
          <p:spPr>
            <a:xfrm flipH="false" flipV="false" rot="0">
              <a:off x="0" y="0"/>
              <a:ext cx="972312" cy="826389"/>
            </a:xfrm>
            <a:custGeom>
              <a:avLst/>
              <a:gdLst/>
              <a:ahLst/>
              <a:cxnLst/>
              <a:rect r="r" b="b" t="t" l="l"/>
              <a:pathLst>
                <a:path h="826389" w="972312">
                  <a:moveTo>
                    <a:pt x="0" y="0"/>
                  </a:moveTo>
                  <a:lnTo>
                    <a:pt x="972312" y="0"/>
                  </a:lnTo>
                  <a:lnTo>
                    <a:pt x="972312" y="826389"/>
                  </a:lnTo>
                  <a:lnTo>
                    <a:pt x="0" y="826389"/>
                  </a:lnTo>
                  <a:lnTo>
                    <a:pt x="0" y="0"/>
                  </a:lnTo>
                  <a:close/>
                </a:path>
              </a:pathLst>
            </a:custGeom>
            <a:blipFill>
              <a:blip r:embed="rId26"/>
              <a:stretch>
                <a:fillRect l="-69" t="0" r="-70" b="0"/>
              </a:stretch>
            </a:blipFill>
          </p:spPr>
        </p:sp>
      </p:grpSp>
      <p:grpSp>
        <p:nvGrpSpPr>
          <p:cNvPr name="Group 80" id="80"/>
          <p:cNvGrpSpPr/>
          <p:nvPr/>
        </p:nvGrpSpPr>
        <p:grpSpPr>
          <a:xfrm rot="0">
            <a:off x="12067537" y="2509857"/>
            <a:ext cx="2417245" cy="812864"/>
            <a:chOff x="0" y="0"/>
            <a:chExt cx="3222993" cy="1083818"/>
          </a:xfrm>
        </p:grpSpPr>
        <p:sp>
          <p:nvSpPr>
            <p:cNvPr name="Freeform 81" id="81"/>
            <p:cNvSpPr/>
            <p:nvPr/>
          </p:nvSpPr>
          <p:spPr>
            <a:xfrm flipH="false" flipV="false" rot="0">
              <a:off x="0" y="0"/>
              <a:ext cx="3223006" cy="1083818"/>
            </a:xfrm>
            <a:custGeom>
              <a:avLst/>
              <a:gdLst/>
              <a:ahLst/>
              <a:cxnLst/>
              <a:rect r="r" b="b" t="t" l="l"/>
              <a:pathLst>
                <a:path h="1083818" w="3223006">
                  <a:moveTo>
                    <a:pt x="0" y="0"/>
                  </a:moveTo>
                  <a:lnTo>
                    <a:pt x="3223006" y="0"/>
                  </a:lnTo>
                  <a:lnTo>
                    <a:pt x="3223006" y="1083818"/>
                  </a:lnTo>
                  <a:lnTo>
                    <a:pt x="0" y="1083818"/>
                  </a:lnTo>
                  <a:close/>
                </a:path>
              </a:pathLst>
            </a:custGeom>
            <a:blipFill>
              <a:blip r:embed="rId5">
                <a:alphaModFix amt="0"/>
              </a:blip>
              <a:stretch>
                <a:fillRect l="0" t="-7903" r="0" b="-7902"/>
              </a:stretch>
            </a:blipFill>
          </p:spPr>
        </p:sp>
      </p:grpSp>
      <p:grpSp>
        <p:nvGrpSpPr>
          <p:cNvPr name="Group 82" id="82"/>
          <p:cNvGrpSpPr/>
          <p:nvPr/>
        </p:nvGrpSpPr>
        <p:grpSpPr>
          <a:xfrm rot="0">
            <a:off x="12067537" y="2502713"/>
            <a:ext cx="2417254" cy="819998"/>
            <a:chOff x="0" y="0"/>
            <a:chExt cx="3223006" cy="1093330"/>
          </a:xfrm>
        </p:grpSpPr>
        <p:sp>
          <p:nvSpPr>
            <p:cNvPr name="Freeform 83" id="83"/>
            <p:cNvSpPr/>
            <p:nvPr/>
          </p:nvSpPr>
          <p:spPr>
            <a:xfrm flipH="false" flipV="false" rot="0">
              <a:off x="0" y="0"/>
              <a:ext cx="3223005" cy="1093336"/>
            </a:xfrm>
            <a:custGeom>
              <a:avLst/>
              <a:gdLst/>
              <a:ahLst/>
              <a:cxnLst/>
              <a:rect r="r" b="b" t="t" l="l"/>
              <a:pathLst>
                <a:path h="1093336" w="3223005">
                  <a:moveTo>
                    <a:pt x="0" y="0"/>
                  </a:moveTo>
                  <a:lnTo>
                    <a:pt x="3223005" y="0"/>
                  </a:lnTo>
                  <a:lnTo>
                    <a:pt x="3223005" y="1093336"/>
                  </a:lnTo>
                  <a:lnTo>
                    <a:pt x="0" y="1093336"/>
                  </a:lnTo>
                  <a:close/>
                </a:path>
              </a:pathLst>
            </a:custGeom>
            <a:blipFill>
              <a:blip r:embed="rId6">
                <a:alphaModFix amt="0"/>
              </a:blip>
              <a:stretch>
                <a:fillRect l="0" t="-7439" r="0" b="-7439"/>
              </a:stretch>
            </a:blipFill>
          </p:spPr>
        </p:sp>
        <p:sp>
          <p:nvSpPr>
            <p:cNvPr name="TextBox 84" id="84"/>
            <p:cNvSpPr txBox="true"/>
            <p:nvPr/>
          </p:nvSpPr>
          <p:spPr>
            <a:xfrm>
              <a:off x="0" y="-9525"/>
              <a:ext cx="3223006" cy="1102855"/>
            </a:xfrm>
            <a:prstGeom prst="rect">
              <a:avLst/>
            </a:prstGeom>
          </p:spPr>
          <p:txBody>
            <a:bodyPr anchor="ctr" rtlCol="false" tIns="0" lIns="0" bIns="0" rIns="0"/>
            <a:lstStyle/>
            <a:p>
              <a:pPr algn="l">
                <a:lnSpc>
                  <a:spcPts val="1945"/>
                </a:lnSpc>
              </a:pPr>
              <a:r>
                <a:rPr lang="en-US" sz="1595">
                  <a:solidFill>
                    <a:srgbClr val="F2EFEB"/>
                  </a:solidFill>
                  <a:latin typeface="TT Commons Pro"/>
                  <a:ea typeface="TT Commons Pro"/>
                  <a:cs typeface="TT Commons Pro"/>
                  <a:sym typeface="TT Commons Pro"/>
                </a:rPr>
                <a:t>Revenue,Profit.</a:t>
              </a:r>
            </a:p>
            <a:p>
              <a:pPr algn="l">
                <a:lnSpc>
                  <a:spcPts val="1945"/>
                </a:lnSpc>
              </a:pPr>
              <a:r>
                <a:rPr lang="en-US" sz="1595">
                  <a:solidFill>
                    <a:srgbClr val="F2EFEB"/>
                  </a:solidFill>
                  <a:latin typeface="TT Commons Pro"/>
                  <a:ea typeface="TT Commons Pro"/>
                  <a:cs typeface="TT Commons Pro"/>
                  <a:sym typeface="TT Commons Pro"/>
                </a:rPr>
                <a:t>Orders, Commission &amp;</a:t>
              </a:r>
            </a:p>
            <a:p>
              <a:pPr algn="l">
                <a:lnSpc>
                  <a:spcPts val="1945"/>
                </a:lnSpc>
              </a:pPr>
              <a:r>
                <a:rPr lang="en-US" sz="1595">
                  <a:solidFill>
                    <a:srgbClr val="F2EFEB"/>
                  </a:solidFill>
                  <a:latin typeface="TT Commons Pro"/>
                  <a:ea typeface="TT Commons Pro"/>
                  <a:cs typeface="TT Commons Pro"/>
                  <a:sym typeface="TT Commons Pro"/>
                </a:rPr>
                <a:t>Market Share</a:t>
              </a:r>
            </a:p>
          </p:txBody>
        </p:sp>
      </p:grpSp>
      <p:grpSp>
        <p:nvGrpSpPr>
          <p:cNvPr name="Group 85" id="85"/>
          <p:cNvGrpSpPr/>
          <p:nvPr/>
        </p:nvGrpSpPr>
        <p:grpSpPr>
          <a:xfrm rot="0">
            <a:off x="12939055" y="2045398"/>
            <a:ext cx="670846" cy="317163"/>
            <a:chOff x="0" y="0"/>
            <a:chExt cx="894461" cy="422885"/>
          </a:xfrm>
        </p:grpSpPr>
        <p:sp>
          <p:nvSpPr>
            <p:cNvPr name="Freeform 86" id="86"/>
            <p:cNvSpPr/>
            <p:nvPr/>
          </p:nvSpPr>
          <p:spPr>
            <a:xfrm flipH="false" flipV="false" rot="0">
              <a:off x="0" y="0"/>
              <a:ext cx="894461" cy="422910"/>
            </a:xfrm>
            <a:custGeom>
              <a:avLst/>
              <a:gdLst/>
              <a:ahLst/>
              <a:cxnLst/>
              <a:rect r="r" b="b" t="t" l="l"/>
              <a:pathLst>
                <a:path h="422910" w="894461">
                  <a:moveTo>
                    <a:pt x="0" y="0"/>
                  </a:moveTo>
                  <a:lnTo>
                    <a:pt x="894461" y="0"/>
                  </a:lnTo>
                  <a:lnTo>
                    <a:pt x="894461" y="422910"/>
                  </a:lnTo>
                  <a:lnTo>
                    <a:pt x="0" y="422910"/>
                  </a:lnTo>
                  <a:close/>
                </a:path>
              </a:pathLst>
            </a:custGeom>
            <a:blipFill>
              <a:blip r:embed="rId5">
                <a:alphaModFix amt="0"/>
              </a:blip>
              <a:stretch>
                <a:fillRect l="-10702" t="0" r="-10702" b="6"/>
              </a:stretch>
            </a:blipFill>
          </p:spPr>
        </p:sp>
      </p:grpSp>
      <p:grpSp>
        <p:nvGrpSpPr>
          <p:cNvPr name="Group 87" id="87"/>
          <p:cNvGrpSpPr/>
          <p:nvPr/>
        </p:nvGrpSpPr>
        <p:grpSpPr>
          <a:xfrm rot="0">
            <a:off x="12939055" y="2073974"/>
            <a:ext cx="670855" cy="288588"/>
            <a:chOff x="0" y="0"/>
            <a:chExt cx="894474" cy="384785"/>
          </a:xfrm>
        </p:grpSpPr>
        <p:sp>
          <p:nvSpPr>
            <p:cNvPr name="Freeform 88" id="88"/>
            <p:cNvSpPr/>
            <p:nvPr/>
          </p:nvSpPr>
          <p:spPr>
            <a:xfrm flipH="false" flipV="false" rot="0">
              <a:off x="0" y="0"/>
              <a:ext cx="894473" cy="384787"/>
            </a:xfrm>
            <a:custGeom>
              <a:avLst/>
              <a:gdLst/>
              <a:ahLst/>
              <a:cxnLst/>
              <a:rect r="r" b="b" t="t" l="l"/>
              <a:pathLst>
                <a:path h="384787" w="894473">
                  <a:moveTo>
                    <a:pt x="0" y="0"/>
                  </a:moveTo>
                  <a:lnTo>
                    <a:pt x="894473" y="0"/>
                  </a:lnTo>
                  <a:lnTo>
                    <a:pt x="894473" y="384787"/>
                  </a:lnTo>
                  <a:lnTo>
                    <a:pt x="0" y="384787"/>
                  </a:lnTo>
                  <a:close/>
                </a:path>
              </a:pathLst>
            </a:custGeom>
            <a:blipFill>
              <a:blip r:embed="rId6">
                <a:alphaModFix amt="0"/>
              </a:blip>
              <a:stretch>
                <a:fillRect l="-5193" t="0" r="-5193" b="0"/>
              </a:stretch>
            </a:blipFill>
          </p:spPr>
        </p:sp>
        <p:sp>
          <p:nvSpPr>
            <p:cNvPr name="TextBox 89" id="89"/>
            <p:cNvSpPr txBox="true"/>
            <p:nvPr/>
          </p:nvSpPr>
          <p:spPr>
            <a:xfrm>
              <a:off x="0" y="38100"/>
              <a:ext cx="894474" cy="346685"/>
            </a:xfrm>
            <a:prstGeom prst="rect">
              <a:avLst/>
            </a:prstGeom>
          </p:spPr>
          <p:txBody>
            <a:bodyPr anchor="ctr" rtlCol="false" tIns="0" lIns="0" bIns="0" rIns="0"/>
            <a:lstStyle/>
            <a:p>
              <a:pPr algn="l">
                <a:lnSpc>
                  <a:spcPts val="1336"/>
                </a:lnSpc>
              </a:pPr>
              <a:r>
                <a:rPr lang="en-US" sz="1498" b="true">
                  <a:solidFill>
                    <a:srgbClr val="F2EFEB"/>
                  </a:solidFill>
                  <a:latin typeface="TT Commons Pro Bold"/>
                  <a:ea typeface="TT Commons Pro Bold"/>
                  <a:cs typeface="TT Commons Pro Bold"/>
                  <a:sym typeface="TT Commons Pro Bold"/>
                </a:rPr>
                <a:t>Data</a:t>
              </a:r>
            </a:p>
          </p:txBody>
        </p:sp>
      </p:grpSp>
      <p:grpSp>
        <p:nvGrpSpPr>
          <p:cNvPr name="Group 90" id="90"/>
          <p:cNvGrpSpPr/>
          <p:nvPr/>
        </p:nvGrpSpPr>
        <p:grpSpPr>
          <a:xfrm rot="0">
            <a:off x="12913900" y="1730416"/>
            <a:ext cx="1181281" cy="426701"/>
            <a:chOff x="0" y="0"/>
            <a:chExt cx="1575041" cy="568935"/>
          </a:xfrm>
        </p:grpSpPr>
        <p:sp>
          <p:nvSpPr>
            <p:cNvPr name="Freeform 91" id="91"/>
            <p:cNvSpPr/>
            <p:nvPr/>
          </p:nvSpPr>
          <p:spPr>
            <a:xfrm flipH="false" flipV="false" rot="0">
              <a:off x="0" y="0"/>
              <a:ext cx="1575054" cy="568960"/>
            </a:xfrm>
            <a:custGeom>
              <a:avLst/>
              <a:gdLst/>
              <a:ahLst/>
              <a:cxnLst/>
              <a:rect r="r" b="b" t="t" l="l"/>
              <a:pathLst>
                <a:path h="568960" w="1575054">
                  <a:moveTo>
                    <a:pt x="0" y="0"/>
                  </a:moveTo>
                  <a:lnTo>
                    <a:pt x="1575054" y="0"/>
                  </a:lnTo>
                  <a:lnTo>
                    <a:pt x="1575054" y="568960"/>
                  </a:lnTo>
                  <a:lnTo>
                    <a:pt x="0" y="568960"/>
                  </a:lnTo>
                  <a:close/>
                </a:path>
              </a:pathLst>
            </a:custGeom>
            <a:blipFill>
              <a:blip r:embed="rId5">
                <a:alphaModFix amt="0"/>
              </a:blip>
              <a:stretch>
                <a:fillRect l="0" t="-3904" r="0" b="-3901"/>
              </a:stretch>
            </a:blipFill>
          </p:spPr>
        </p:sp>
      </p:grpSp>
      <p:grpSp>
        <p:nvGrpSpPr>
          <p:cNvPr name="Group 92" id="92"/>
          <p:cNvGrpSpPr/>
          <p:nvPr/>
        </p:nvGrpSpPr>
        <p:grpSpPr>
          <a:xfrm rot="0">
            <a:off x="12913900" y="1787566"/>
            <a:ext cx="1181281" cy="369551"/>
            <a:chOff x="0" y="0"/>
            <a:chExt cx="1575041" cy="492735"/>
          </a:xfrm>
        </p:grpSpPr>
        <p:sp>
          <p:nvSpPr>
            <p:cNvPr name="Freeform 93" id="93"/>
            <p:cNvSpPr/>
            <p:nvPr/>
          </p:nvSpPr>
          <p:spPr>
            <a:xfrm flipH="false" flipV="false" rot="0">
              <a:off x="0" y="0"/>
              <a:ext cx="1575041" cy="492737"/>
            </a:xfrm>
            <a:custGeom>
              <a:avLst/>
              <a:gdLst/>
              <a:ahLst/>
              <a:cxnLst/>
              <a:rect r="r" b="b" t="t" l="l"/>
              <a:pathLst>
                <a:path h="492737" w="1575041">
                  <a:moveTo>
                    <a:pt x="0" y="0"/>
                  </a:moveTo>
                  <a:lnTo>
                    <a:pt x="1575041" y="0"/>
                  </a:lnTo>
                  <a:lnTo>
                    <a:pt x="1575041" y="492737"/>
                  </a:lnTo>
                  <a:lnTo>
                    <a:pt x="0" y="492737"/>
                  </a:lnTo>
                  <a:close/>
                </a:path>
              </a:pathLst>
            </a:custGeom>
            <a:blipFill>
              <a:blip r:embed="rId6">
                <a:alphaModFix amt="0"/>
              </a:blip>
              <a:stretch>
                <a:fillRect l="0" t="-12284" r="0" b="-12283"/>
              </a:stretch>
            </a:blipFill>
          </p:spPr>
        </p:sp>
        <p:sp>
          <p:nvSpPr>
            <p:cNvPr name="TextBox 94" id="94"/>
            <p:cNvSpPr txBox="true"/>
            <p:nvPr/>
          </p:nvSpPr>
          <p:spPr>
            <a:xfrm>
              <a:off x="0" y="76200"/>
              <a:ext cx="1575041" cy="416535"/>
            </a:xfrm>
            <a:prstGeom prst="rect">
              <a:avLst/>
            </a:prstGeom>
          </p:spPr>
          <p:txBody>
            <a:bodyPr anchor="ctr" rtlCol="false" tIns="0" lIns="0" bIns="0" rIns="0"/>
            <a:lstStyle/>
            <a:p>
              <a:pPr algn="l">
                <a:lnSpc>
                  <a:spcPts val="1552"/>
                </a:lnSpc>
              </a:pPr>
              <a:r>
                <a:rPr lang="en-US" sz="2000" b="true">
                  <a:solidFill>
                    <a:srgbClr val="ED5E40"/>
                  </a:solidFill>
                  <a:latin typeface="TT Commons Pro Bold"/>
                  <a:ea typeface="TT Commons Pro Bold"/>
                  <a:cs typeface="TT Commons Pro Bold"/>
                  <a:sym typeface="TT Commons Pro Bold"/>
                </a:rPr>
                <a:t>Financial</a:t>
              </a:r>
            </a:p>
          </p:txBody>
        </p:sp>
      </p:grpSp>
      <p:grpSp>
        <p:nvGrpSpPr>
          <p:cNvPr name="Group 95" id="95"/>
          <p:cNvGrpSpPr/>
          <p:nvPr/>
        </p:nvGrpSpPr>
        <p:grpSpPr>
          <a:xfrm rot="0">
            <a:off x="15546257" y="2865701"/>
            <a:ext cx="2734437" cy="5549075"/>
            <a:chOff x="0" y="0"/>
            <a:chExt cx="3645916" cy="7398766"/>
          </a:xfrm>
        </p:grpSpPr>
        <p:sp>
          <p:nvSpPr>
            <p:cNvPr name="Freeform 96" id="96" descr="preencoded.png"/>
            <p:cNvSpPr/>
            <p:nvPr/>
          </p:nvSpPr>
          <p:spPr>
            <a:xfrm flipH="false" flipV="false" rot="0">
              <a:off x="0" y="0"/>
              <a:ext cx="3645916" cy="7398766"/>
            </a:xfrm>
            <a:custGeom>
              <a:avLst/>
              <a:gdLst/>
              <a:ahLst/>
              <a:cxnLst/>
              <a:rect r="r" b="b" t="t" l="l"/>
              <a:pathLst>
                <a:path h="7398766" w="3645916">
                  <a:moveTo>
                    <a:pt x="0" y="0"/>
                  </a:moveTo>
                  <a:lnTo>
                    <a:pt x="3645916" y="0"/>
                  </a:lnTo>
                  <a:lnTo>
                    <a:pt x="3645916" y="7398766"/>
                  </a:lnTo>
                  <a:lnTo>
                    <a:pt x="0" y="7398766"/>
                  </a:lnTo>
                  <a:lnTo>
                    <a:pt x="0" y="0"/>
                  </a:lnTo>
                  <a:close/>
                </a:path>
              </a:pathLst>
            </a:custGeom>
            <a:blipFill>
              <a:blip r:embed="rId27"/>
              <a:stretch>
                <a:fillRect l="-66" t="0" r="-66" b="0"/>
              </a:stretch>
            </a:blipFill>
          </p:spPr>
        </p:sp>
      </p:grpSp>
      <p:grpSp>
        <p:nvGrpSpPr>
          <p:cNvPr name="Group 97" id="97"/>
          <p:cNvGrpSpPr/>
          <p:nvPr/>
        </p:nvGrpSpPr>
        <p:grpSpPr>
          <a:xfrm rot="0">
            <a:off x="16326488" y="4243864"/>
            <a:ext cx="729186" cy="342719"/>
            <a:chOff x="0" y="0"/>
            <a:chExt cx="972249" cy="456959"/>
          </a:xfrm>
        </p:grpSpPr>
        <p:sp>
          <p:nvSpPr>
            <p:cNvPr name="Freeform 98" id="98"/>
            <p:cNvSpPr/>
            <p:nvPr/>
          </p:nvSpPr>
          <p:spPr>
            <a:xfrm flipH="false" flipV="false" rot="0">
              <a:off x="0" y="0"/>
              <a:ext cx="972185" cy="456946"/>
            </a:xfrm>
            <a:custGeom>
              <a:avLst/>
              <a:gdLst/>
              <a:ahLst/>
              <a:cxnLst/>
              <a:rect r="r" b="b" t="t" l="l"/>
              <a:pathLst>
                <a:path h="456946" w="972185">
                  <a:moveTo>
                    <a:pt x="0" y="0"/>
                  </a:moveTo>
                  <a:lnTo>
                    <a:pt x="972185" y="0"/>
                  </a:lnTo>
                  <a:lnTo>
                    <a:pt x="972185" y="456946"/>
                  </a:lnTo>
                  <a:lnTo>
                    <a:pt x="0" y="456946"/>
                  </a:lnTo>
                  <a:close/>
                </a:path>
              </a:pathLst>
            </a:custGeom>
            <a:blipFill>
              <a:blip r:embed="rId5">
                <a:alphaModFix amt="0"/>
              </a:blip>
              <a:stretch>
                <a:fillRect l="-10344" t="0" r="-10351" b="-2"/>
              </a:stretch>
            </a:blipFill>
          </p:spPr>
        </p:sp>
      </p:grpSp>
      <p:grpSp>
        <p:nvGrpSpPr>
          <p:cNvPr name="Group 99" id="99"/>
          <p:cNvGrpSpPr/>
          <p:nvPr/>
        </p:nvGrpSpPr>
        <p:grpSpPr>
          <a:xfrm rot="0">
            <a:off x="16326488" y="4215289"/>
            <a:ext cx="729186" cy="371294"/>
            <a:chOff x="0" y="0"/>
            <a:chExt cx="972249" cy="495059"/>
          </a:xfrm>
        </p:grpSpPr>
        <p:sp>
          <p:nvSpPr>
            <p:cNvPr name="Freeform 100" id="100"/>
            <p:cNvSpPr/>
            <p:nvPr/>
          </p:nvSpPr>
          <p:spPr>
            <a:xfrm flipH="false" flipV="false" rot="0">
              <a:off x="0" y="0"/>
              <a:ext cx="972248" cy="495057"/>
            </a:xfrm>
            <a:custGeom>
              <a:avLst/>
              <a:gdLst/>
              <a:ahLst/>
              <a:cxnLst/>
              <a:rect r="r" b="b" t="t" l="l"/>
              <a:pathLst>
                <a:path h="495057" w="972248">
                  <a:moveTo>
                    <a:pt x="0" y="0"/>
                  </a:moveTo>
                  <a:lnTo>
                    <a:pt x="972248" y="0"/>
                  </a:lnTo>
                  <a:lnTo>
                    <a:pt x="972248" y="495057"/>
                  </a:lnTo>
                  <a:lnTo>
                    <a:pt x="0" y="495057"/>
                  </a:lnTo>
                  <a:close/>
                </a:path>
              </a:pathLst>
            </a:custGeom>
            <a:blipFill>
              <a:blip r:embed="rId6">
                <a:alphaModFix amt="0"/>
              </a:blip>
              <a:stretch>
                <a:fillRect l="-15330" t="0" r="-15330" b="0"/>
              </a:stretch>
            </a:blipFill>
          </p:spPr>
        </p:sp>
        <p:sp>
          <p:nvSpPr>
            <p:cNvPr name="TextBox 101" id="101"/>
            <p:cNvSpPr txBox="true"/>
            <p:nvPr/>
          </p:nvSpPr>
          <p:spPr>
            <a:xfrm>
              <a:off x="0" y="-38100"/>
              <a:ext cx="972249" cy="533159"/>
            </a:xfrm>
            <a:prstGeom prst="rect">
              <a:avLst/>
            </a:prstGeom>
          </p:spPr>
          <p:txBody>
            <a:bodyPr anchor="ctr" rtlCol="false" tIns="0" lIns="0" bIns="0" rIns="0"/>
            <a:lstStyle/>
            <a:p>
              <a:pPr algn="l">
                <a:lnSpc>
                  <a:spcPts val="1243"/>
                </a:lnSpc>
              </a:pPr>
              <a:r>
                <a:rPr lang="en-US" sz="785" b="true">
                  <a:solidFill>
                    <a:srgbClr val="D17375"/>
                  </a:solidFill>
                  <a:latin typeface="TT Commons Pro Bold"/>
                  <a:ea typeface="TT Commons Pro Bold"/>
                  <a:cs typeface="TT Commons Pro Bold"/>
                  <a:sym typeface="TT Commons Pro Bold"/>
                </a:rPr>
                <a:t>GREAT FOOD</a:t>
              </a:r>
            </a:p>
            <a:p>
              <a:pPr algn="l">
                <a:lnSpc>
                  <a:spcPts val="1243"/>
                </a:lnSpc>
              </a:pPr>
              <a:r>
                <a:rPr lang="en-US" sz="785" b="true">
                  <a:solidFill>
                    <a:srgbClr val="D17375"/>
                  </a:solidFill>
                  <a:latin typeface="TT Commons Pro Bold"/>
                  <a:ea typeface="TT Commons Pro Bold"/>
                  <a:cs typeface="TT Commons Pro Bold"/>
                  <a:sym typeface="TT Commons Pro Bold"/>
                </a:rPr>
                <a:t>GREAT DEALS</a:t>
              </a:r>
            </a:p>
          </p:txBody>
        </p:sp>
      </p:grpSp>
      <p:grpSp>
        <p:nvGrpSpPr>
          <p:cNvPr name="Group 102" id="102"/>
          <p:cNvGrpSpPr/>
          <p:nvPr/>
        </p:nvGrpSpPr>
        <p:grpSpPr>
          <a:xfrm rot="0">
            <a:off x="16377533" y="3886562"/>
            <a:ext cx="87535" cy="87535"/>
            <a:chOff x="0" y="0"/>
            <a:chExt cx="116713" cy="116713"/>
          </a:xfrm>
        </p:grpSpPr>
        <p:sp>
          <p:nvSpPr>
            <p:cNvPr name="Freeform 103" id="103" descr="preencoded.png"/>
            <p:cNvSpPr/>
            <p:nvPr/>
          </p:nvSpPr>
          <p:spPr>
            <a:xfrm flipH="false" flipV="false" rot="0">
              <a:off x="0" y="0"/>
              <a:ext cx="116713" cy="116713"/>
            </a:xfrm>
            <a:custGeom>
              <a:avLst/>
              <a:gdLst/>
              <a:ahLst/>
              <a:cxnLst/>
              <a:rect r="r" b="b" t="t" l="l"/>
              <a:pathLst>
                <a:path h="116713" w="116713">
                  <a:moveTo>
                    <a:pt x="0" y="0"/>
                  </a:moveTo>
                  <a:lnTo>
                    <a:pt x="116713" y="0"/>
                  </a:lnTo>
                  <a:lnTo>
                    <a:pt x="116713" y="116713"/>
                  </a:lnTo>
                  <a:lnTo>
                    <a:pt x="0" y="116713"/>
                  </a:lnTo>
                  <a:lnTo>
                    <a:pt x="0" y="0"/>
                  </a:lnTo>
                  <a:close/>
                </a:path>
              </a:pathLst>
            </a:custGeom>
            <a:blipFill>
              <a:blip r:embed="rId28"/>
              <a:stretch>
                <a:fillRect l="0" t="0" r="0" b="0"/>
              </a:stretch>
            </a:blipFill>
          </p:spPr>
        </p:sp>
      </p:grpSp>
      <p:grpSp>
        <p:nvGrpSpPr>
          <p:cNvPr name="Group 104" id="104"/>
          <p:cNvGrpSpPr/>
          <p:nvPr/>
        </p:nvGrpSpPr>
        <p:grpSpPr>
          <a:xfrm rot="0">
            <a:off x="16640042" y="3551139"/>
            <a:ext cx="998982" cy="116681"/>
            <a:chOff x="0" y="0"/>
            <a:chExt cx="1331976" cy="155575"/>
          </a:xfrm>
        </p:grpSpPr>
        <p:sp>
          <p:nvSpPr>
            <p:cNvPr name="Freeform 105" id="105" descr="preencoded.png"/>
            <p:cNvSpPr/>
            <p:nvPr/>
          </p:nvSpPr>
          <p:spPr>
            <a:xfrm flipH="false" flipV="false" rot="0">
              <a:off x="0" y="0"/>
              <a:ext cx="1331976" cy="155575"/>
            </a:xfrm>
            <a:custGeom>
              <a:avLst/>
              <a:gdLst/>
              <a:ahLst/>
              <a:cxnLst/>
              <a:rect r="r" b="b" t="t" l="l"/>
              <a:pathLst>
                <a:path h="155575" w="1331976">
                  <a:moveTo>
                    <a:pt x="0" y="0"/>
                  </a:moveTo>
                  <a:lnTo>
                    <a:pt x="1331976" y="0"/>
                  </a:lnTo>
                  <a:lnTo>
                    <a:pt x="1331976" y="155575"/>
                  </a:lnTo>
                  <a:lnTo>
                    <a:pt x="0" y="155575"/>
                  </a:lnTo>
                  <a:lnTo>
                    <a:pt x="0" y="0"/>
                  </a:lnTo>
                  <a:close/>
                </a:path>
              </a:pathLst>
            </a:custGeom>
            <a:blipFill>
              <a:blip r:embed="rId29"/>
              <a:stretch>
                <a:fillRect l="0" t="-563" r="0" b="-555"/>
              </a:stretch>
            </a:blipFill>
          </p:spPr>
        </p:sp>
      </p:grpSp>
      <p:grpSp>
        <p:nvGrpSpPr>
          <p:cNvPr name="Group 106" id="106"/>
          <p:cNvGrpSpPr/>
          <p:nvPr/>
        </p:nvGrpSpPr>
        <p:grpSpPr>
          <a:xfrm rot="0">
            <a:off x="14095181" y="5177228"/>
            <a:ext cx="284416" cy="153162"/>
            <a:chOff x="0" y="0"/>
            <a:chExt cx="379222" cy="204216"/>
          </a:xfrm>
        </p:grpSpPr>
        <p:sp>
          <p:nvSpPr>
            <p:cNvPr name="Freeform 107" id="107" descr="preencoded.png"/>
            <p:cNvSpPr/>
            <p:nvPr/>
          </p:nvSpPr>
          <p:spPr>
            <a:xfrm flipH="false" flipV="false" rot="0">
              <a:off x="0" y="0"/>
              <a:ext cx="379222" cy="204216"/>
            </a:xfrm>
            <a:custGeom>
              <a:avLst/>
              <a:gdLst/>
              <a:ahLst/>
              <a:cxnLst/>
              <a:rect r="r" b="b" t="t" l="l"/>
              <a:pathLst>
                <a:path h="204216" w="379222">
                  <a:moveTo>
                    <a:pt x="0" y="0"/>
                  </a:moveTo>
                  <a:lnTo>
                    <a:pt x="379222" y="0"/>
                  </a:lnTo>
                  <a:lnTo>
                    <a:pt x="379222" y="204216"/>
                  </a:lnTo>
                  <a:lnTo>
                    <a:pt x="0" y="204216"/>
                  </a:lnTo>
                  <a:lnTo>
                    <a:pt x="0" y="0"/>
                  </a:lnTo>
                  <a:close/>
                </a:path>
              </a:pathLst>
            </a:custGeom>
            <a:blipFill>
              <a:blip r:embed="rId30"/>
              <a:stretch>
                <a:fillRect l="0" t="-460" r="0" b="-460"/>
              </a:stretch>
            </a:blipFill>
          </p:spPr>
        </p:sp>
      </p:grpSp>
      <p:grpSp>
        <p:nvGrpSpPr>
          <p:cNvPr name="Group 108" id="108"/>
          <p:cNvGrpSpPr/>
          <p:nvPr/>
        </p:nvGrpSpPr>
        <p:grpSpPr>
          <a:xfrm rot="0">
            <a:off x="17843192" y="3106331"/>
            <a:ext cx="109347" cy="51054"/>
            <a:chOff x="0" y="0"/>
            <a:chExt cx="145796" cy="68072"/>
          </a:xfrm>
        </p:grpSpPr>
        <p:sp>
          <p:nvSpPr>
            <p:cNvPr name="Freeform 109" id="109" descr="preencoded.png"/>
            <p:cNvSpPr/>
            <p:nvPr/>
          </p:nvSpPr>
          <p:spPr>
            <a:xfrm flipH="false" flipV="false" rot="0">
              <a:off x="0" y="0"/>
              <a:ext cx="145796" cy="68072"/>
            </a:xfrm>
            <a:custGeom>
              <a:avLst/>
              <a:gdLst/>
              <a:ahLst/>
              <a:cxnLst/>
              <a:rect r="r" b="b" t="t" l="l"/>
              <a:pathLst>
                <a:path h="68072" w="145796">
                  <a:moveTo>
                    <a:pt x="0" y="0"/>
                  </a:moveTo>
                  <a:lnTo>
                    <a:pt x="145796" y="0"/>
                  </a:lnTo>
                  <a:lnTo>
                    <a:pt x="145796" y="68072"/>
                  </a:lnTo>
                  <a:lnTo>
                    <a:pt x="0" y="68072"/>
                  </a:lnTo>
                  <a:lnTo>
                    <a:pt x="0" y="0"/>
                  </a:lnTo>
                  <a:close/>
                </a:path>
              </a:pathLst>
            </a:custGeom>
            <a:blipFill>
              <a:blip r:embed="rId31"/>
              <a:stretch>
                <a:fillRect l="-932" t="0" r="-932" b="0"/>
              </a:stretch>
            </a:blipFill>
          </p:spPr>
        </p:sp>
      </p:grpSp>
      <p:grpSp>
        <p:nvGrpSpPr>
          <p:cNvPr name="Group 110" id="110"/>
          <p:cNvGrpSpPr/>
          <p:nvPr/>
        </p:nvGrpSpPr>
        <p:grpSpPr>
          <a:xfrm rot="0">
            <a:off x="17748399" y="3106331"/>
            <a:ext cx="58293" cy="43720"/>
            <a:chOff x="0" y="0"/>
            <a:chExt cx="77724" cy="58293"/>
          </a:xfrm>
        </p:grpSpPr>
        <p:sp>
          <p:nvSpPr>
            <p:cNvPr name="Freeform 111" id="111" descr="preencoded.png"/>
            <p:cNvSpPr/>
            <p:nvPr/>
          </p:nvSpPr>
          <p:spPr>
            <a:xfrm flipH="false" flipV="false" rot="0">
              <a:off x="0" y="0"/>
              <a:ext cx="77724" cy="58293"/>
            </a:xfrm>
            <a:custGeom>
              <a:avLst/>
              <a:gdLst/>
              <a:ahLst/>
              <a:cxnLst/>
              <a:rect r="r" b="b" t="t" l="l"/>
              <a:pathLst>
                <a:path h="58293" w="77724">
                  <a:moveTo>
                    <a:pt x="0" y="0"/>
                  </a:moveTo>
                  <a:lnTo>
                    <a:pt x="77724" y="0"/>
                  </a:lnTo>
                  <a:lnTo>
                    <a:pt x="77724" y="58293"/>
                  </a:lnTo>
                  <a:lnTo>
                    <a:pt x="0" y="58293"/>
                  </a:lnTo>
                  <a:lnTo>
                    <a:pt x="0" y="0"/>
                  </a:lnTo>
                  <a:close/>
                </a:path>
              </a:pathLst>
            </a:custGeom>
            <a:blipFill>
              <a:blip r:embed="rId32"/>
              <a:stretch>
                <a:fillRect l="0" t="0" r="0" b="0"/>
              </a:stretch>
            </a:blipFill>
          </p:spPr>
        </p:sp>
      </p:grpSp>
      <p:grpSp>
        <p:nvGrpSpPr>
          <p:cNvPr name="Group 112" id="112"/>
          <p:cNvGrpSpPr/>
          <p:nvPr/>
        </p:nvGrpSpPr>
        <p:grpSpPr>
          <a:xfrm rot="0">
            <a:off x="17631727" y="3113627"/>
            <a:ext cx="94774" cy="51054"/>
            <a:chOff x="0" y="0"/>
            <a:chExt cx="126365" cy="68072"/>
          </a:xfrm>
        </p:grpSpPr>
        <p:sp>
          <p:nvSpPr>
            <p:cNvPr name="Freeform 113" id="113" descr="preencoded.png"/>
            <p:cNvSpPr/>
            <p:nvPr/>
          </p:nvSpPr>
          <p:spPr>
            <a:xfrm flipH="false" flipV="false" rot="0">
              <a:off x="0" y="0"/>
              <a:ext cx="126365" cy="68072"/>
            </a:xfrm>
            <a:custGeom>
              <a:avLst/>
              <a:gdLst/>
              <a:ahLst/>
              <a:cxnLst/>
              <a:rect r="r" b="b" t="t" l="l"/>
              <a:pathLst>
                <a:path h="68072" w="126365">
                  <a:moveTo>
                    <a:pt x="0" y="0"/>
                  </a:moveTo>
                  <a:lnTo>
                    <a:pt x="126365" y="0"/>
                  </a:lnTo>
                  <a:lnTo>
                    <a:pt x="126365" y="68072"/>
                  </a:lnTo>
                  <a:lnTo>
                    <a:pt x="0" y="68072"/>
                  </a:lnTo>
                  <a:lnTo>
                    <a:pt x="0" y="0"/>
                  </a:lnTo>
                  <a:close/>
                </a:path>
              </a:pathLst>
            </a:custGeom>
            <a:blipFill>
              <a:blip r:embed="rId33"/>
              <a:stretch>
                <a:fillRect l="0" t="-2201" r="0" b="-2220"/>
              </a:stretch>
            </a:blipFill>
          </p:spPr>
        </p:sp>
      </p:grpSp>
      <p:grpSp>
        <p:nvGrpSpPr>
          <p:cNvPr name="Group 114" id="114"/>
          <p:cNvGrpSpPr/>
          <p:nvPr/>
        </p:nvGrpSpPr>
        <p:grpSpPr>
          <a:xfrm rot="0">
            <a:off x="14270184" y="1472956"/>
            <a:ext cx="2267807" cy="1954244"/>
            <a:chOff x="0" y="0"/>
            <a:chExt cx="3023743" cy="2605659"/>
          </a:xfrm>
        </p:grpSpPr>
        <p:sp>
          <p:nvSpPr>
            <p:cNvPr name="Freeform 115" id="115" descr="preencoded.png"/>
            <p:cNvSpPr/>
            <p:nvPr/>
          </p:nvSpPr>
          <p:spPr>
            <a:xfrm flipH="false" flipV="false" rot="0">
              <a:off x="0" y="0"/>
              <a:ext cx="3023743" cy="2605659"/>
            </a:xfrm>
            <a:custGeom>
              <a:avLst/>
              <a:gdLst/>
              <a:ahLst/>
              <a:cxnLst/>
              <a:rect r="r" b="b" t="t" l="l"/>
              <a:pathLst>
                <a:path h="2605659" w="3023743">
                  <a:moveTo>
                    <a:pt x="0" y="0"/>
                  </a:moveTo>
                  <a:lnTo>
                    <a:pt x="3023743" y="0"/>
                  </a:lnTo>
                  <a:lnTo>
                    <a:pt x="3023743" y="2605659"/>
                  </a:lnTo>
                  <a:lnTo>
                    <a:pt x="0" y="2605659"/>
                  </a:lnTo>
                  <a:lnTo>
                    <a:pt x="0" y="0"/>
                  </a:lnTo>
                  <a:close/>
                </a:path>
              </a:pathLst>
            </a:custGeom>
            <a:blipFill>
              <a:blip r:embed="rId34"/>
              <a:stretch>
                <a:fillRect l="0" t="-148" r="0" b="-148"/>
              </a:stretch>
            </a:blipFill>
          </p:spPr>
        </p:sp>
      </p:grpSp>
      <p:grpSp>
        <p:nvGrpSpPr>
          <p:cNvPr name="Group 116" id="116"/>
          <p:cNvGrpSpPr/>
          <p:nvPr/>
        </p:nvGrpSpPr>
        <p:grpSpPr>
          <a:xfrm rot="0">
            <a:off x="14459769" y="2377145"/>
            <a:ext cx="1903190" cy="43720"/>
            <a:chOff x="0" y="0"/>
            <a:chExt cx="2537587" cy="58293"/>
          </a:xfrm>
        </p:grpSpPr>
        <p:sp>
          <p:nvSpPr>
            <p:cNvPr name="Freeform 117" id="117" descr="preencoded.png"/>
            <p:cNvSpPr/>
            <p:nvPr/>
          </p:nvSpPr>
          <p:spPr>
            <a:xfrm flipH="false" flipV="false" rot="0">
              <a:off x="0" y="0"/>
              <a:ext cx="2537587" cy="58293"/>
            </a:xfrm>
            <a:custGeom>
              <a:avLst/>
              <a:gdLst/>
              <a:ahLst/>
              <a:cxnLst/>
              <a:rect r="r" b="b" t="t" l="l"/>
              <a:pathLst>
                <a:path h="58293" w="2537587">
                  <a:moveTo>
                    <a:pt x="0" y="0"/>
                  </a:moveTo>
                  <a:lnTo>
                    <a:pt x="2537587" y="0"/>
                  </a:lnTo>
                  <a:lnTo>
                    <a:pt x="2537587" y="58293"/>
                  </a:lnTo>
                  <a:lnTo>
                    <a:pt x="0" y="58293"/>
                  </a:lnTo>
                  <a:lnTo>
                    <a:pt x="0" y="0"/>
                  </a:lnTo>
                  <a:close/>
                </a:path>
              </a:pathLst>
            </a:custGeom>
            <a:blipFill>
              <a:blip r:embed="rId35"/>
              <a:stretch>
                <a:fillRect l="0" t="-43" r="0" b="-21"/>
              </a:stretch>
            </a:blipFill>
          </p:spPr>
        </p:sp>
      </p:grpSp>
      <p:grpSp>
        <p:nvGrpSpPr>
          <p:cNvPr name="Group 118" id="118"/>
          <p:cNvGrpSpPr/>
          <p:nvPr/>
        </p:nvGrpSpPr>
        <p:grpSpPr>
          <a:xfrm rot="0">
            <a:off x="14408725" y="1655254"/>
            <a:ext cx="729234" cy="619792"/>
            <a:chOff x="0" y="0"/>
            <a:chExt cx="972312" cy="826389"/>
          </a:xfrm>
        </p:grpSpPr>
        <p:sp>
          <p:nvSpPr>
            <p:cNvPr name="Freeform 119" id="119" descr="preencoded.png"/>
            <p:cNvSpPr/>
            <p:nvPr/>
          </p:nvSpPr>
          <p:spPr>
            <a:xfrm flipH="false" flipV="false" rot="0">
              <a:off x="0" y="0"/>
              <a:ext cx="972312" cy="826389"/>
            </a:xfrm>
            <a:custGeom>
              <a:avLst/>
              <a:gdLst/>
              <a:ahLst/>
              <a:cxnLst/>
              <a:rect r="r" b="b" t="t" l="l"/>
              <a:pathLst>
                <a:path h="826389" w="972312">
                  <a:moveTo>
                    <a:pt x="0" y="0"/>
                  </a:moveTo>
                  <a:lnTo>
                    <a:pt x="972312" y="0"/>
                  </a:lnTo>
                  <a:lnTo>
                    <a:pt x="972312" y="826389"/>
                  </a:lnTo>
                  <a:lnTo>
                    <a:pt x="0" y="826389"/>
                  </a:lnTo>
                  <a:lnTo>
                    <a:pt x="0" y="0"/>
                  </a:lnTo>
                  <a:close/>
                </a:path>
              </a:pathLst>
            </a:custGeom>
            <a:blipFill>
              <a:blip r:embed="rId36"/>
              <a:stretch>
                <a:fillRect l="-69" t="0" r="-70" b="0"/>
              </a:stretch>
            </a:blipFill>
          </p:spPr>
        </p:sp>
      </p:grpSp>
      <p:grpSp>
        <p:nvGrpSpPr>
          <p:cNvPr name="Group 120" id="120"/>
          <p:cNvGrpSpPr/>
          <p:nvPr/>
        </p:nvGrpSpPr>
        <p:grpSpPr>
          <a:xfrm rot="0">
            <a:off x="14476543" y="2476090"/>
            <a:ext cx="2322595" cy="841705"/>
            <a:chOff x="0" y="0"/>
            <a:chExt cx="3096793" cy="1122274"/>
          </a:xfrm>
        </p:grpSpPr>
        <p:sp>
          <p:nvSpPr>
            <p:cNvPr name="Freeform 121" id="121"/>
            <p:cNvSpPr/>
            <p:nvPr/>
          </p:nvSpPr>
          <p:spPr>
            <a:xfrm flipH="false" flipV="false" rot="0">
              <a:off x="0" y="0"/>
              <a:ext cx="3096768" cy="1122299"/>
            </a:xfrm>
            <a:custGeom>
              <a:avLst/>
              <a:gdLst/>
              <a:ahLst/>
              <a:cxnLst/>
              <a:rect r="r" b="b" t="t" l="l"/>
              <a:pathLst>
                <a:path h="1122299" w="3096768">
                  <a:moveTo>
                    <a:pt x="0" y="0"/>
                  </a:moveTo>
                  <a:lnTo>
                    <a:pt x="3096768" y="0"/>
                  </a:lnTo>
                  <a:lnTo>
                    <a:pt x="3096768" y="1122299"/>
                  </a:lnTo>
                  <a:lnTo>
                    <a:pt x="0" y="1122299"/>
                  </a:lnTo>
                  <a:close/>
                </a:path>
              </a:pathLst>
            </a:custGeom>
            <a:blipFill>
              <a:blip r:embed="rId5">
                <a:alphaModFix amt="0"/>
              </a:blip>
              <a:stretch>
                <a:fillRect l="0" t="-3729" r="0" b="-3726"/>
              </a:stretch>
            </a:blipFill>
          </p:spPr>
        </p:sp>
      </p:grpSp>
      <p:grpSp>
        <p:nvGrpSpPr>
          <p:cNvPr name="Group 122" id="122"/>
          <p:cNvGrpSpPr/>
          <p:nvPr/>
        </p:nvGrpSpPr>
        <p:grpSpPr>
          <a:xfrm rot="0">
            <a:off x="14476543" y="2468947"/>
            <a:ext cx="2322595" cy="848849"/>
            <a:chOff x="0" y="0"/>
            <a:chExt cx="3096793" cy="1131799"/>
          </a:xfrm>
        </p:grpSpPr>
        <p:sp>
          <p:nvSpPr>
            <p:cNvPr name="Freeform 123" id="123"/>
            <p:cNvSpPr/>
            <p:nvPr/>
          </p:nvSpPr>
          <p:spPr>
            <a:xfrm flipH="false" flipV="false" rot="0">
              <a:off x="0" y="0"/>
              <a:ext cx="3096793" cy="1131798"/>
            </a:xfrm>
            <a:custGeom>
              <a:avLst/>
              <a:gdLst/>
              <a:ahLst/>
              <a:cxnLst/>
              <a:rect r="r" b="b" t="t" l="l"/>
              <a:pathLst>
                <a:path h="1131798" w="3096793">
                  <a:moveTo>
                    <a:pt x="0" y="0"/>
                  </a:moveTo>
                  <a:lnTo>
                    <a:pt x="3096793" y="0"/>
                  </a:lnTo>
                  <a:lnTo>
                    <a:pt x="3096793" y="1131798"/>
                  </a:lnTo>
                  <a:lnTo>
                    <a:pt x="0" y="1131798"/>
                  </a:lnTo>
                  <a:close/>
                </a:path>
              </a:pathLst>
            </a:custGeom>
            <a:blipFill>
              <a:blip r:embed="rId6">
                <a:alphaModFix amt="0"/>
              </a:blip>
              <a:stretch>
                <a:fillRect l="0" t="-3314" r="0" b="-3314"/>
              </a:stretch>
            </a:blipFill>
          </p:spPr>
        </p:sp>
        <p:sp>
          <p:nvSpPr>
            <p:cNvPr name="TextBox 124" id="124"/>
            <p:cNvSpPr txBox="true"/>
            <p:nvPr/>
          </p:nvSpPr>
          <p:spPr>
            <a:xfrm>
              <a:off x="0" y="-9525"/>
              <a:ext cx="3096793" cy="1141324"/>
            </a:xfrm>
            <a:prstGeom prst="rect">
              <a:avLst/>
            </a:prstGeom>
          </p:spPr>
          <p:txBody>
            <a:bodyPr anchor="ctr" rtlCol="false" tIns="0" lIns="0" bIns="0" rIns="0"/>
            <a:lstStyle/>
            <a:p>
              <a:pPr algn="l">
                <a:lnSpc>
                  <a:spcPts val="1950"/>
                </a:lnSpc>
              </a:pPr>
              <a:r>
                <a:rPr lang="en-US" sz="1599">
                  <a:solidFill>
                    <a:srgbClr val="F2EFEB"/>
                  </a:solidFill>
                  <a:latin typeface="TT Commons Pro"/>
                  <a:ea typeface="TT Commons Pro"/>
                  <a:cs typeface="TT Commons Pro"/>
                  <a:sym typeface="TT Commons Pro"/>
                </a:rPr>
                <a:t>Delivery Time, Delivery</a:t>
              </a:r>
            </a:p>
            <a:p>
              <a:pPr algn="l">
                <a:lnSpc>
                  <a:spcPts val="1950"/>
                </a:lnSpc>
              </a:pPr>
              <a:r>
                <a:rPr lang="en-US" sz="1599">
                  <a:solidFill>
                    <a:srgbClr val="F2EFEB"/>
                  </a:solidFill>
                  <a:latin typeface="TT Commons Pro"/>
                  <a:ea typeface="TT Commons Pro"/>
                  <a:cs typeface="TT Commons Pro"/>
                  <a:sym typeface="TT Commons Pro"/>
                </a:rPr>
                <a:t>Fee, Discounts.</a:t>
              </a:r>
            </a:p>
            <a:p>
              <a:pPr algn="l">
                <a:lnSpc>
                  <a:spcPts val="1950"/>
                </a:lnSpc>
              </a:pPr>
              <a:r>
                <a:rPr lang="en-US" sz="1599">
                  <a:solidFill>
                    <a:srgbClr val="F2EFEB"/>
                  </a:solidFill>
                  <a:latin typeface="TT Commons Pro"/>
                  <a:ea typeface="TT Commons Pro"/>
                  <a:cs typeface="TT Commons Pro"/>
                  <a:sym typeface="TT Commons Pro"/>
                </a:rPr>
                <a:t>Opening Hours &amp; More</a:t>
              </a:r>
            </a:p>
          </p:txBody>
        </p:sp>
      </p:grpSp>
      <p:grpSp>
        <p:nvGrpSpPr>
          <p:cNvPr name="Group 125" id="125"/>
          <p:cNvGrpSpPr/>
          <p:nvPr/>
        </p:nvGrpSpPr>
        <p:grpSpPr>
          <a:xfrm rot="0">
            <a:off x="15173792" y="2004403"/>
            <a:ext cx="1188577" cy="471678"/>
            <a:chOff x="0" y="0"/>
            <a:chExt cx="1584770" cy="628904"/>
          </a:xfrm>
        </p:grpSpPr>
        <p:sp>
          <p:nvSpPr>
            <p:cNvPr name="Freeform 126" id="126"/>
            <p:cNvSpPr/>
            <p:nvPr/>
          </p:nvSpPr>
          <p:spPr>
            <a:xfrm flipH="false" flipV="false" rot="0">
              <a:off x="0" y="0"/>
              <a:ext cx="1584706" cy="628904"/>
            </a:xfrm>
            <a:custGeom>
              <a:avLst/>
              <a:gdLst/>
              <a:ahLst/>
              <a:cxnLst/>
              <a:rect r="r" b="b" t="t" l="l"/>
              <a:pathLst>
                <a:path h="628904" w="1584706">
                  <a:moveTo>
                    <a:pt x="0" y="0"/>
                  </a:moveTo>
                  <a:lnTo>
                    <a:pt x="1584706" y="0"/>
                  </a:lnTo>
                  <a:lnTo>
                    <a:pt x="1584706" y="628904"/>
                  </a:lnTo>
                  <a:lnTo>
                    <a:pt x="0" y="628904"/>
                  </a:lnTo>
                  <a:close/>
                </a:path>
              </a:pathLst>
            </a:custGeom>
            <a:blipFill>
              <a:blip r:embed="rId5">
                <a:alphaModFix amt="0"/>
              </a:blip>
              <a:stretch>
                <a:fillRect l="-952" t="0" r="-956" b="0"/>
              </a:stretch>
            </a:blipFill>
          </p:spPr>
        </p:sp>
      </p:grpSp>
      <p:grpSp>
        <p:nvGrpSpPr>
          <p:cNvPr name="Group 127" id="127"/>
          <p:cNvGrpSpPr/>
          <p:nvPr/>
        </p:nvGrpSpPr>
        <p:grpSpPr>
          <a:xfrm rot="0">
            <a:off x="15173792" y="2040122"/>
            <a:ext cx="1188577" cy="435969"/>
            <a:chOff x="0" y="0"/>
            <a:chExt cx="1584770" cy="581292"/>
          </a:xfrm>
        </p:grpSpPr>
        <p:sp>
          <p:nvSpPr>
            <p:cNvPr name="Freeform 128" id="128"/>
            <p:cNvSpPr/>
            <p:nvPr/>
          </p:nvSpPr>
          <p:spPr>
            <a:xfrm flipH="false" flipV="false" rot="0">
              <a:off x="0" y="0"/>
              <a:ext cx="1584769" cy="581288"/>
            </a:xfrm>
            <a:custGeom>
              <a:avLst/>
              <a:gdLst/>
              <a:ahLst/>
              <a:cxnLst/>
              <a:rect r="r" b="b" t="t" l="l"/>
              <a:pathLst>
                <a:path h="581288" w="1584769">
                  <a:moveTo>
                    <a:pt x="0" y="0"/>
                  </a:moveTo>
                  <a:lnTo>
                    <a:pt x="1584769" y="0"/>
                  </a:lnTo>
                  <a:lnTo>
                    <a:pt x="1584769" y="581288"/>
                  </a:lnTo>
                  <a:lnTo>
                    <a:pt x="0" y="581288"/>
                  </a:lnTo>
                  <a:close/>
                </a:path>
              </a:pathLst>
            </a:custGeom>
            <a:blipFill>
              <a:blip r:embed="rId6">
                <a:alphaModFix amt="0"/>
              </a:blip>
              <a:stretch>
                <a:fillRect l="0" t="-3121" r="0" b="-3122"/>
              </a:stretch>
            </a:blipFill>
          </p:spPr>
        </p:sp>
        <p:sp>
          <p:nvSpPr>
            <p:cNvPr name="TextBox 129" id="129"/>
            <p:cNvSpPr txBox="true"/>
            <p:nvPr/>
          </p:nvSpPr>
          <p:spPr>
            <a:xfrm>
              <a:off x="0" y="47625"/>
              <a:ext cx="1584770" cy="533667"/>
            </a:xfrm>
            <a:prstGeom prst="rect">
              <a:avLst/>
            </a:prstGeom>
          </p:spPr>
          <p:txBody>
            <a:bodyPr anchor="ctr" rtlCol="false" tIns="0" lIns="0" bIns="0" rIns="0"/>
            <a:lstStyle/>
            <a:p>
              <a:pPr algn="l">
                <a:lnSpc>
                  <a:spcPts val="1244"/>
                </a:lnSpc>
              </a:pPr>
              <a:r>
                <a:rPr lang="en-US" sz="1498" b="true">
                  <a:solidFill>
                    <a:srgbClr val="F2EFEB"/>
                  </a:solidFill>
                  <a:latin typeface="TT Commons Pro Bold"/>
                  <a:ea typeface="TT Commons Pro Bold"/>
                  <a:cs typeface="TT Commons Pro Bold"/>
                  <a:sym typeface="TT Commons Pro Bold"/>
                </a:rPr>
                <a:t>Operational Data</a:t>
              </a:r>
            </a:p>
          </p:txBody>
        </p:sp>
      </p:grpSp>
      <p:grpSp>
        <p:nvGrpSpPr>
          <p:cNvPr name="Group 130" id="130"/>
          <p:cNvGrpSpPr/>
          <p:nvPr/>
        </p:nvGrpSpPr>
        <p:grpSpPr>
          <a:xfrm rot="0">
            <a:off x="15173792" y="1690573"/>
            <a:ext cx="1444371" cy="430730"/>
            <a:chOff x="0" y="0"/>
            <a:chExt cx="1925828" cy="574307"/>
          </a:xfrm>
        </p:grpSpPr>
        <p:sp>
          <p:nvSpPr>
            <p:cNvPr name="Freeform 131" id="131"/>
            <p:cNvSpPr/>
            <p:nvPr/>
          </p:nvSpPr>
          <p:spPr>
            <a:xfrm flipH="false" flipV="false" rot="0">
              <a:off x="0" y="0"/>
              <a:ext cx="1925828" cy="574294"/>
            </a:xfrm>
            <a:custGeom>
              <a:avLst/>
              <a:gdLst/>
              <a:ahLst/>
              <a:cxnLst/>
              <a:rect r="r" b="b" t="t" l="l"/>
              <a:pathLst>
                <a:path h="574294" w="1925828">
                  <a:moveTo>
                    <a:pt x="0" y="0"/>
                  </a:moveTo>
                  <a:lnTo>
                    <a:pt x="1925828" y="0"/>
                  </a:lnTo>
                  <a:lnTo>
                    <a:pt x="1925828" y="574294"/>
                  </a:lnTo>
                  <a:lnTo>
                    <a:pt x="0" y="574294"/>
                  </a:lnTo>
                  <a:close/>
                </a:path>
              </a:pathLst>
            </a:custGeom>
            <a:blipFill>
              <a:blip r:embed="rId5">
                <a:alphaModFix amt="0"/>
              </a:blip>
              <a:stretch>
                <a:fillRect l="0" t="-15294" r="0" b="-15296"/>
              </a:stretch>
            </a:blipFill>
          </p:spPr>
        </p:sp>
      </p:grpSp>
      <p:grpSp>
        <p:nvGrpSpPr>
          <p:cNvPr name="Group 132" id="132"/>
          <p:cNvGrpSpPr/>
          <p:nvPr/>
        </p:nvGrpSpPr>
        <p:grpSpPr>
          <a:xfrm rot="0">
            <a:off x="15173792" y="1719148"/>
            <a:ext cx="1444371" cy="402165"/>
            <a:chOff x="0" y="0"/>
            <a:chExt cx="1925828" cy="536219"/>
          </a:xfrm>
        </p:grpSpPr>
        <p:sp>
          <p:nvSpPr>
            <p:cNvPr name="Freeform 133" id="133"/>
            <p:cNvSpPr/>
            <p:nvPr/>
          </p:nvSpPr>
          <p:spPr>
            <a:xfrm flipH="false" flipV="false" rot="0">
              <a:off x="0" y="0"/>
              <a:ext cx="1925827" cy="536213"/>
            </a:xfrm>
            <a:custGeom>
              <a:avLst/>
              <a:gdLst/>
              <a:ahLst/>
              <a:cxnLst/>
              <a:rect r="r" b="b" t="t" l="l"/>
              <a:pathLst>
                <a:path h="536213" w="1925827">
                  <a:moveTo>
                    <a:pt x="0" y="0"/>
                  </a:moveTo>
                  <a:lnTo>
                    <a:pt x="1925827" y="0"/>
                  </a:lnTo>
                  <a:lnTo>
                    <a:pt x="1925827" y="536213"/>
                  </a:lnTo>
                  <a:lnTo>
                    <a:pt x="0" y="536213"/>
                  </a:lnTo>
                  <a:close/>
                </a:path>
              </a:pathLst>
            </a:custGeom>
            <a:blipFill>
              <a:blip r:embed="rId6">
                <a:alphaModFix amt="0"/>
              </a:blip>
              <a:stretch>
                <a:fillRect l="0" t="-19980" r="0" b="-19981"/>
              </a:stretch>
            </a:blipFill>
          </p:spPr>
        </p:sp>
        <p:sp>
          <p:nvSpPr>
            <p:cNvPr name="TextBox 134" id="134"/>
            <p:cNvSpPr txBox="true"/>
            <p:nvPr/>
          </p:nvSpPr>
          <p:spPr>
            <a:xfrm>
              <a:off x="0" y="38100"/>
              <a:ext cx="1925828" cy="498119"/>
            </a:xfrm>
            <a:prstGeom prst="rect">
              <a:avLst/>
            </a:prstGeom>
          </p:spPr>
          <p:txBody>
            <a:bodyPr anchor="ctr" rtlCol="false" tIns="0" lIns="0" bIns="0" rIns="0"/>
            <a:lstStyle/>
            <a:p>
              <a:pPr algn="l">
                <a:lnSpc>
                  <a:spcPts val="1970"/>
                </a:lnSpc>
              </a:pPr>
              <a:r>
                <a:rPr lang="en-US" sz="2000" b="true">
                  <a:solidFill>
                    <a:srgbClr val="ED5E40"/>
                  </a:solidFill>
                  <a:latin typeface="TT Commons Pro Bold"/>
                  <a:ea typeface="TT Commons Pro Bold"/>
                  <a:cs typeface="TT Commons Pro Bold"/>
                  <a:sym typeface="TT Commons Pro Bold"/>
                </a:rPr>
                <a:t>Complete</a:t>
              </a:r>
            </a:p>
          </p:txBody>
        </p:sp>
      </p:grpSp>
      <p:grpSp>
        <p:nvGrpSpPr>
          <p:cNvPr name="Group 135" id="135"/>
          <p:cNvGrpSpPr/>
          <p:nvPr/>
        </p:nvGrpSpPr>
        <p:grpSpPr>
          <a:xfrm rot="0">
            <a:off x="16465029" y="3150089"/>
            <a:ext cx="153162" cy="51054"/>
            <a:chOff x="0" y="0"/>
            <a:chExt cx="204216" cy="68072"/>
          </a:xfrm>
        </p:grpSpPr>
        <p:sp>
          <p:nvSpPr>
            <p:cNvPr name="Freeform 136" id="136" descr="preencoded.png"/>
            <p:cNvSpPr/>
            <p:nvPr/>
          </p:nvSpPr>
          <p:spPr>
            <a:xfrm flipH="false" flipV="false" rot="0">
              <a:off x="0" y="0"/>
              <a:ext cx="204216" cy="68072"/>
            </a:xfrm>
            <a:custGeom>
              <a:avLst/>
              <a:gdLst/>
              <a:ahLst/>
              <a:cxnLst/>
              <a:rect r="r" b="b" t="t" l="l"/>
              <a:pathLst>
                <a:path h="68072" w="204216">
                  <a:moveTo>
                    <a:pt x="0" y="0"/>
                  </a:moveTo>
                  <a:lnTo>
                    <a:pt x="204216" y="0"/>
                  </a:lnTo>
                  <a:lnTo>
                    <a:pt x="204216" y="68072"/>
                  </a:lnTo>
                  <a:lnTo>
                    <a:pt x="0" y="68072"/>
                  </a:lnTo>
                  <a:lnTo>
                    <a:pt x="0" y="0"/>
                  </a:lnTo>
                  <a:close/>
                </a:path>
              </a:pathLst>
            </a:custGeom>
            <a:blipFill>
              <a:blip r:embed="rId37"/>
              <a:stretch>
                <a:fillRect l="0" t="0" r="0" b="0"/>
              </a:stretch>
            </a:blipFill>
          </p:spPr>
        </p:sp>
      </p:grpSp>
      <p:grpSp>
        <p:nvGrpSpPr>
          <p:cNvPr name="Group 137" id="137"/>
          <p:cNvGrpSpPr/>
          <p:nvPr/>
        </p:nvGrpSpPr>
        <p:grpSpPr>
          <a:xfrm rot="0">
            <a:off x="16516074" y="947947"/>
            <a:ext cx="503110" cy="670846"/>
            <a:chOff x="0" y="0"/>
            <a:chExt cx="670814" cy="894461"/>
          </a:xfrm>
        </p:grpSpPr>
        <p:sp>
          <p:nvSpPr>
            <p:cNvPr name="Freeform 138" id="138" descr="preencoded.png"/>
            <p:cNvSpPr/>
            <p:nvPr/>
          </p:nvSpPr>
          <p:spPr>
            <a:xfrm flipH="false" flipV="false" rot="0">
              <a:off x="0" y="0"/>
              <a:ext cx="670814" cy="894461"/>
            </a:xfrm>
            <a:custGeom>
              <a:avLst/>
              <a:gdLst/>
              <a:ahLst/>
              <a:cxnLst/>
              <a:rect r="r" b="b" t="t" l="l"/>
              <a:pathLst>
                <a:path h="894461" w="670814">
                  <a:moveTo>
                    <a:pt x="0" y="0"/>
                  </a:moveTo>
                  <a:lnTo>
                    <a:pt x="670814" y="0"/>
                  </a:lnTo>
                  <a:lnTo>
                    <a:pt x="670814" y="894461"/>
                  </a:lnTo>
                  <a:lnTo>
                    <a:pt x="0" y="894461"/>
                  </a:lnTo>
                  <a:lnTo>
                    <a:pt x="0" y="0"/>
                  </a:lnTo>
                  <a:close/>
                </a:path>
              </a:pathLst>
            </a:custGeom>
            <a:blipFill>
              <a:blip r:embed="rId38"/>
              <a:stretch>
                <a:fillRect l="0" t="-147" r="0" b="-149"/>
              </a:stretch>
            </a:blipFill>
          </p:spPr>
        </p:sp>
      </p:grpSp>
      <p:grpSp>
        <p:nvGrpSpPr>
          <p:cNvPr name="Group 139" id="139"/>
          <p:cNvGrpSpPr/>
          <p:nvPr/>
        </p:nvGrpSpPr>
        <p:grpSpPr>
          <a:xfrm rot="0">
            <a:off x="7058530" y="3344142"/>
            <a:ext cx="8972607" cy="5070634"/>
            <a:chOff x="0" y="0"/>
            <a:chExt cx="11963476" cy="6760845"/>
          </a:xfrm>
        </p:grpSpPr>
        <p:sp>
          <p:nvSpPr>
            <p:cNvPr name="Freeform 140" id="140"/>
            <p:cNvSpPr/>
            <p:nvPr/>
          </p:nvSpPr>
          <p:spPr>
            <a:xfrm flipH="false" flipV="false" rot="0">
              <a:off x="0" y="0"/>
              <a:ext cx="11963527" cy="6760845"/>
            </a:xfrm>
            <a:custGeom>
              <a:avLst/>
              <a:gdLst/>
              <a:ahLst/>
              <a:cxnLst/>
              <a:rect r="r" b="b" t="t" l="l"/>
              <a:pathLst>
                <a:path h="6760845" w="11963527">
                  <a:moveTo>
                    <a:pt x="0" y="0"/>
                  </a:moveTo>
                  <a:lnTo>
                    <a:pt x="11963527" y="0"/>
                  </a:lnTo>
                  <a:lnTo>
                    <a:pt x="11963527" y="6760845"/>
                  </a:lnTo>
                  <a:lnTo>
                    <a:pt x="0" y="6760845"/>
                  </a:lnTo>
                  <a:lnTo>
                    <a:pt x="0" y="0"/>
                  </a:lnTo>
                  <a:close/>
                </a:path>
              </a:pathLst>
            </a:custGeom>
            <a:blipFill>
              <a:blip r:embed="rId39"/>
              <a:stretch>
                <a:fillRect l="0" t="-4992" r="0" b="-4992"/>
              </a:stretch>
            </a:blipFill>
          </p:spPr>
        </p:sp>
      </p:grpSp>
      <p:grpSp>
        <p:nvGrpSpPr>
          <p:cNvPr name="Group 141" id="141"/>
          <p:cNvGrpSpPr/>
          <p:nvPr/>
        </p:nvGrpSpPr>
        <p:grpSpPr>
          <a:xfrm rot="0">
            <a:off x="0" y="6329343"/>
            <a:ext cx="2355247" cy="2005298"/>
            <a:chOff x="0" y="0"/>
            <a:chExt cx="3140329" cy="2673731"/>
          </a:xfrm>
        </p:grpSpPr>
        <p:sp>
          <p:nvSpPr>
            <p:cNvPr name="Freeform 142" id="142" descr="preencoded.png"/>
            <p:cNvSpPr/>
            <p:nvPr/>
          </p:nvSpPr>
          <p:spPr>
            <a:xfrm flipH="false" flipV="false" rot="0">
              <a:off x="0" y="0"/>
              <a:ext cx="3140329" cy="2673731"/>
            </a:xfrm>
            <a:custGeom>
              <a:avLst/>
              <a:gdLst/>
              <a:ahLst/>
              <a:cxnLst/>
              <a:rect r="r" b="b" t="t" l="l"/>
              <a:pathLst>
                <a:path h="2673731" w="3140329">
                  <a:moveTo>
                    <a:pt x="0" y="0"/>
                  </a:moveTo>
                  <a:lnTo>
                    <a:pt x="3140329" y="0"/>
                  </a:lnTo>
                  <a:lnTo>
                    <a:pt x="3140329" y="2673731"/>
                  </a:lnTo>
                  <a:lnTo>
                    <a:pt x="0" y="2673731"/>
                  </a:lnTo>
                  <a:lnTo>
                    <a:pt x="0" y="0"/>
                  </a:lnTo>
                  <a:close/>
                </a:path>
              </a:pathLst>
            </a:custGeom>
            <a:blipFill>
              <a:blip r:embed="rId40"/>
              <a:stretch>
                <a:fillRect l="0" t="-47" r="0" b="-47"/>
              </a:stretch>
            </a:blipFill>
          </p:spPr>
        </p:sp>
      </p:grpSp>
      <p:sp>
        <p:nvSpPr>
          <p:cNvPr name="Freeform 143" id="143"/>
          <p:cNvSpPr/>
          <p:nvPr/>
        </p:nvSpPr>
        <p:spPr>
          <a:xfrm flipH="false" flipV="false" rot="0">
            <a:off x="9527734" y="1441056"/>
            <a:ext cx="2353447" cy="2018071"/>
          </a:xfrm>
          <a:custGeom>
            <a:avLst/>
            <a:gdLst/>
            <a:ahLst/>
            <a:cxnLst/>
            <a:rect r="r" b="b" t="t" l="l"/>
            <a:pathLst>
              <a:path h="2018071" w="2353447">
                <a:moveTo>
                  <a:pt x="0" y="0"/>
                </a:moveTo>
                <a:lnTo>
                  <a:pt x="2353446" y="0"/>
                </a:lnTo>
                <a:lnTo>
                  <a:pt x="2353446" y="2018072"/>
                </a:lnTo>
                <a:lnTo>
                  <a:pt x="0" y="2018072"/>
                </a:lnTo>
                <a:lnTo>
                  <a:pt x="0" y="0"/>
                </a:lnTo>
                <a:close/>
              </a:path>
            </a:pathLst>
          </a:custGeom>
          <a:blipFill>
            <a:blip r:embed="rId41">
              <a:extLst>
                <a:ext uri="{96DAC541-7B7A-43D3-8B79-37D633B846F1}">
                  <asvg:svgBlip xmlns:asvg="http://schemas.microsoft.com/office/drawing/2016/SVG/main" r:embed="rId42"/>
                </a:ext>
              </a:extLst>
            </a:blip>
            <a:stretch>
              <a:fillRect l="0" t="0" r="0" b="0"/>
            </a:stretch>
          </a:blipFill>
        </p:spPr>
      </p:sp>
      <p:grpSp>
        <p:nvGrpSpPr>
          <p:cNvPr name="Group 144" id="144"/>
          <p:cNvGrpSpPr/>
          <p:nvPr/>
        </p:nvGrpSpPr>
        <p:grpSpPr>
          <a:xfrm rot="0">
            <a:off x="9763811" y="2355275"/>
            <a:ext cx="1917764" cy="65627"/>
            <a:chOff x="0" y="0"/>
            <a:chExt cx="2557018" cy="87503"/>
          </a:xfrm>
        </p:grpSpPr>
        <p:sp>
          <p:nvSpPr>
            <p:cNvPr name="Freeform 145" id="145" descr="preencoded.png"/>
            <p:cNvSpPr/>
            <p:nvPr/>
          </p:nvSpPr>
          <p:spPr>
            <a:xfrm flipH="false" flipV="false" rot="0">
              <a:off x="0" y="0"/>
              <a:ext cx="2557018" cy="87503"/>
            </a:xfrm>
            <a:custGeom>
              <a:avLst/>
              <a:gdLst/>
              <a:ahLst/>
              <a:cxnLst/>
              <a:rect r="r" b="b" t="t" l="l"/>
              <a:pathLst>
                <a:path h="87503" w="2557018">
                  <a:moveTo>
                    <a:pt x="0" y="0"/>
                  </a:moveTo>
                  <a:lnTo>
                    <a:pt x="2557018" y="0"/>
                  </a:lnTo>
                  <a:lnTo>
                    <a:pt x="2557018" y="87503"/>
                  </a:lnTo>
                  <a:lnTo>
                    <a:pt x="0" y="87503"/>
                  </a:lnTo>
                  <a:lnTo>
                    <a:pt x="0" y="0"/>
                  </a:lnTo>
                  <a:close/>
                </a:path>
              </a:pathLst>
            </a:custGeom>
            <a:blipFill>
              <a:blip r:embed="rId43"/>
              <a:stretch>
                <a:fillRect l="0" t="-5486" r="0" b="-5486"/>
              </a:stretch>
            </a:blipFill>
          </p:spPr>
        </p:sp>
      </p:grpSp>
      <p:grpSp>
        <p:nvGrpSpPr>
          <p:cNvPr name="Group 146" id="146"/>
          <p:cNvGrpSpPr/>
          <p:nvPr/>
        </p:nvGrpSpPr>
        <p:grpSpPr>
          <a:xfrm rot="0">
            <a:off x="9727349" y="1655254"/>
            <a:ext cx="714566" cy="619792"/>
            <a:chOff x="0" y="0"/>
            <a:chExt cx="952754" cy="826389"/>
          </a:xfrm>
        </p:grpSpPr>
        <p:sp>
          <p:nvSpPr>
            <p:cNvPr name="Freeform 147" id="147" descr="preencoded.png"/>
            <p:cNvSpPr/>
            <p:nvPr/>
          </p:nvSpPr>
          <p:spPr>
            <a:xfrm flipH="false" flipV="false" rot="0">
              <a:off x="0" y="0"/>
              <a:ext cx="952754" cy="826389"/>
            </a:xfrm>
            <a:custGeom>
              <a:avLst/>
              <a:gdLst/>
              <a:ahLst/>
              <a:cxnLst/>
              <a:rect r="r" b="b" t="t" l="l"/>
              <a:pathLst>
                <a:path h="826389" w="952754">
                  <a:moveTo>
                    <a:pt x="0" y="0"/>
                  </a:moveTo>
                  <a:lnTo>
                    <a:pt x="952754" y="0"/>
                  </a:lnTo>
                  <a:lnTo>
                    <a:pt x="952754" y="826389"/>
                  </a:lnTo>
                  <a:lnTo>
                    <a:pt x="0" y="826389"/>
                  </a:lnTo>
                  <a:lnTo>
                    <a:pt x="0" y="0"/>
                  </a:lnTo>
                  <a:close/>
                </a:path>
              </a:pathLst>
            </a:custGeom>
            <a:blipFill>
              <a:blip r:embed="rId44"/>
              <a:stretch>
                <a:fillRect l="0" t="-255" r="0" b="-255"/>
              </a:stretch>
            </a:blipFill>
          </p:spPr>
        </p:sp>
      </p:grpSp>
      <p:grpSp>
        <p:nvGrpSpPr>
          <p:cNvPr name="Group 148" id="148"/>
          <p:cNvGrpSpPr/>
          <p:nvPr/>
        </p:nvGrpSpPr>
        <p:grpSpPr>
          <a:xfrm rot="0">
            <a:off x="9687744" y="2483387"/>
            <a:ext cx="2128409" cy="841705"/>
            <a:chOff x="0" y="0"/>
            <a:chExt cx="2837878" cy="1122274"/>
          </a:xfrm>
        </p:grpSpPr>
        <p:sp>
          <p:nvSpPr>
            <p:cNvPr name="Freeform 149" id="149"/>
            <p:cNvSpPr/>
            <p:nvPr/>
          </p:nvSpPr>
          <p:spPr>
            <a:xfrm flipH="false" flipV="false" rot="0">
              <a:off x="0" y="0"/>
              <a:ext cx="2837815" cy="1122299"/>
            </a:xfrm>
            <a:custGeom>
              <a:avLst/>
              <a:gdLst/>
              <a:ahLst/>
              <a:cxnLst/>
              <a:rect r="r" b="b" t="t" l="l"/>
              <a:pathLst>
                <a:path h="1122299" w="2837815">
                  <a:moveTo>
                    <a:pt x="0" y="0"/>
                  </a:moveTo>
                  <a:lnTo>
                    <a:pt x="2837815" y="0"/>
                  </a:lnTo>
                  <a:lnTo>
                    <a:pt x="2837815" y="1122299"/>
                  </a:lnTo>
                  <a:lnTo>
                    <a:pt x="0" y="1122299"/>
                  </a:lnTo>
                  <a:close/>
                </a:path>
              </a:pathLst>
            </a:custGeom>
            <a:blipFill>
              <a:blip r:embed="rId5">
                <a:alphaModFix amt="0"/>
              </a:blip>
              <a:stretch>
                <a:fillRect l="-774" t="0" r="-776" b="2"/>
              </a:stretch>
            </a:blipFill>
          </p:spPr>
        </p:sp>
      </p:grpSp>
      <p:grpSp>
        <p:nvGrpSpPr>
          <p:cNvPr name="Group 150" id="150"/>
          <p:cNvGrpSpPr/>
          <p:nvPr/>
        </p:nvGrpSpPr>
        <p:grpSpPr>
          <a:xfrm rot="0">
            <a:off x="9687744" y="2476243"/>
            <a:ext cx="2128409" cy="848849"/>
            <a:chOff x="0" y="0"/>
            <a:chExt cx="2837878" cy="1131799"/>
          </a:xfrm>
        </p:grpSpPr>
        <p:sp>
          <p:nvSpPr>
            <p:cNvPr name="Freeform 151" id="151"/>
            <p:cNvSpPr/>
            <p:nvPr/>
          </p:nvSpPr>
          <p:spPr>
            <a:xfrm flipH="false" flipV="false" rot="0">
              <a:off x="0" y="0"/>
              <a:ext cx="2837879" cy="1131798"/>
            </a:xfrm>
            <a:custGeom>
              <a:avLst/>
              <a:gdLst/>
              <a:ahLst/>
              <a:cxnLst/>
              <a:rect r="r" b="b" t="t" l="l"/>
              <a:pathLst>
                <a:path h="1131798" w="2837879">
                  <a:moveTo>
                    <a:pt x="0" y="0"/>
                  </a:moveTo>
                  <a:lnTo>
                    <a:pt x="2837879" y="0"/>
                  </a:lnTo>
                  <a:lnTo>
                    <a:pt x="2837879" y="1131798"/>
                  </a:lnTo>
                  <a:lnTo>
                    <a:pt x="0" y="1131798"/>
                  </a:lnTo>
                  <a:close/>
                </a:path>
              </a:pathLst>
            </a:custGeom>
            <a:blipFill>
              <a:blip r:embed="rId6">
                <a:alphaModFix amt="0"/>
              </a:blip>
              <a:stretch>
                <a:fillRect l="-1169" t="0" r="-1169" b="0"/>
              </a:stretch>
            </a:blipFill>
          </p:spPr>
        </p:sp>
        <p:sp>
          <p:nvSpPr>
            <p:cNvPr name="TextBox 152" id="152"/>
            <p:cNvSpPr txBox="true"/>
            <p:nvPr/>
          </p:nvSpPr>
          <p:spPr>
            <a:xfrm>
              <a:off x="0" y="-9525"/>
              <a:ext cx="2837878" cy="1141324"/>
            </a:xfrm>
            <a:prstGeom prst="rect">
              <a:avLst/>
            </a:prstGeom>
          </p:spPr>
          <p:txBody>
            <a:bodyPr anchor="ctr" rtlCol="false" tIns="0" lIns="0" bIns="0" rIns="0"/>
            <a:lstStyle/>
            <a:p>
              <a:pPr algn="l">
                <a:lnSpc>
                  <a:spcPts val="1950"/>
                </a:lnSpc>
              </a:pPr>
              <a:r>
                <a:rPr lang="en-US" sz="1599">
                  <a:solidFill>
                    <a:srgbClr val="F2EFEB"/>
                  </a:solidFill>
                  <a:latin typeface="TT Commons Pro"/>
                  <a:ea typeface="TT Commons Pro"/>
                  <a:cs typeface="TT Commons Pro"/>
                  <a:sym typeface="TT Commons Pro"/>
                </a:rPr>
                <a:t>Swiggy Rating.</a:t>
              </a:r>
            </a:p>
            <a:p>
              <a:pPr algn="l">
                <a:lnSpc>
                  <a:spcPts val="1950"/>
                </a:lnSpc>
              </a:pPr>
              <a:r>
                <a:rPr lang="en-US" sz="1599">
                  <a:solidFill>
                    <a:srgbClr val="F2EFEB"/>
                  </a:solidFill>
                  <a:latin typeface="TT Commons Pro"/>
                  <a:ea typeface="TT Commons Pro"/>
                  <a:cs typeface="TT Commons Pro"/>
                  <a:sym typeface="TT Commons Pro"/>
                </a:rPr>
                <a:t>Zomato Rating &amp;</a:t>
              </a:r>
            </a:p>
            <a:p>
              <a:pPr algn="l">
                <a:lnSpc>
                  <a:spcPts val="1950"/>
                </a:lnSpc>
              </a:pPr>
              <a:r>
                <a:rPr lang="en-US" sz="1599">
                  <a:solidFill>
                    <a:srgbClr val="F2EFEB"/>
                  </a:solidFill>
                  <a:latin typeface="TT Commons Pro"/>
                  <a:ea typeface="TT Commons Pro"/>
                  <a:cs typeface="TT Commons Pro"/>
                  <a:sym typeface="TT Commons Pro"/>
                </a:rPr>
                <a:t>Average Rating</a:t>
              </a:r>
            </a:p>
          </p:txBody>
        </p:sp>
      </p:grpSp>
      <p:grpSp>
        <p:nvGrpSpPr>
          <p:cNvPr name="Group 153" id="153"/>
          <p:cNvGrpSpPr/>
          <p:nvPr/>
        </p:nvGrpSpPr>
        <p:grpSpPr>
          <a:xfrm rot="0">
            <a:off x="10489578" y="1979657"/>
            <a:ext cx="1239622" cy="484680"/>
            <a:chOff x="0" y="0"/>
            <a:chExt cx="1652829" cy="646240"/>
          </a:xfrm>
        </p:grpSpPr>
        <p:sp>
          <p:nvSpPr>
            <p:cNvPr name="Freeform 154" id="154"/>
            <p:cNvSpPr/>
            <p:nvPr/>
          </p:nvSpPr>
          <p:spPr>
            <a:xfrm flipH="false" flipV="false" rot="0">
              <a:off x="0" y="0"/>
              <a:ext cx="1652778" cy="646303"/>
            </a:xfrm>
            <a:custGeom>
              <a:avLst/>
              <a:gdLst/>
              <a:ahLst/>
              <a:cxnLst/>
              <a:rect r="r" b="b" t="t" l="l"/>
              <a:pathLst>
                <a:path h="646303" w="1652778">
                  <a:moveTo>
                    <a:pt x="0" y="0"/>
                  </a:moveTo>
                  <a:lnTo>
                    <a:pt x="1652778" y="0"/>
                  </a:lnTo>
                  <a:lnTo>
                    <a:pt x="1652778" y="646303"/>
                  </a:lnTo>
                  <a:lnTo>
                    <a:pt x="0" y="646303"/>
                  </a:lnTo>
                  <a:close/>
                </a:path>
              </a:pathLst>
            </a:custGeom>
            <a:blipFill>
              <a:blip r:embed="rId5">
                <a:alphaModFix amt="0"/>
              </a:blip>
              <a:stretch>
                <a:fillRect l="-201" t="0" r="-203" b="9"/>
              </a:stretch>
            </a:blipFill>
          </p:spPr>
        </p:sp>
      </p:grpSp>
      <p:grpSp>
        <p:nvGrpSpPr>
          <p:cNvPr name="Group 155" id="155"/>
          <p:cNvGrpSpPr/>
          <p:nvPr/>
        </p:nvGrpSpPr>
        <p:grpSpPr>
          <a:xfrm rot="0">
            <a:off x="10489578" y="2015376"/>
            <a:ext cx="1239622" cy="448961"/>
            <a:chOff x="0" y="0"/>
            <a:chExt cx="1652829" cy="598614"/>
          </a:xfrm>
        </p:grpSpPr>
        <p:sp>
          <p:nvSpPr>
            <p:cNvPr name="Freeform 156" id="156"/>
            <p:cNvSpPr/>
            <p:nvPr/>
          </p:nvSpPr>
          <p:spPr>
            <a:xfrm flipH="false" flipV="false" rot="0">
              <a:off x="0" y="0"/>
              <a:ext cx="1652829" cy="598616"/>
            </a:xfrm>
            <a:custGeom>
              <a:avLst/>
              <a:gdLst/>
              <a:ahLst/>
              <a:cxnLst/>
              <a:rect r="r" b="b" t="t" l="l"/>
              <a:pathLst>
                <a:path h="598616" w="1652829">
                  <a:moveTo>
                    <a:pt x="0" y="0"/>
                  </a:moveTo>
                  <a:lnTo>
                    <a:pt x="1652829" y="0"/>
                  </a:lnTo>
                  <a:lnTo>
                    <a:pt x="1652829" y="598616"/>
                  </a:lnTo>
                  <a:lnTo>
                    <a:pt x="0" y="598616"/>
                  </a:lnTo>
                  <a:close/>
                </a:path>
              </a:pathLst>
            </a:custGeom>
            <a:blipFill>
              <a:blip r:embed="rId6">
                <a:alphaModFix amt="0"/>
              </a:blip>
              <a:stretch>
                <a:fillRect l="0" t="-3799" r="0" b="-3799"/>
              </a:stretch>
            </a:blipFill>
          </p:spPr>
        </p:sp>
        <p:sp>
          <p:nvSpPr>
            <p:cNvPr name="TextBox 157" id="157"/>
            <p:cNvSpPr txBox="true"/>
            <p:nvPr/>
          </p:nvSpPr>
          <p:spPr>
            <a:xfrm>
              <a:off x="0" y="47625"/>
              <a:ext cx="1652829" cy="550989"/>
            </a:xfrm>
            <a:prstGeom prst="rect">
              <a:avLst/>
            </a:prstGeom>
          </p:spPr>
          <p:txBody>
            <a:bodyPr anchor="ctr" rtlCol="false" tIns="0" lIns="0" bIns="0" rIns="0"/>
            <a:lstStyle/>
            <a:p>
              <a:pPr algn="l">
                <a:lnSpc>
                  <a:spcPts val="1291"/>
                </a:lnSpc>
              </a:pPr>
              <a:r>
                <a:rPr lang="en-US" sz="1498" b="true">
                  <a:solidFill>
                    <a:srgbClr val="F2EFEB"/>
                  </a:solidFill>
                  <a:latin typeface="TT Commons Pro Bold"/>
                  <a:ea typeface="TT Commons Pro Bold"/>
                  <a:cs typeface="TT Commons Pro Bold"/>
                  <a:sym typeface="TT Commons Pro Bold"/>
                </a:rPr>
                <a:t>From Both Platforms</a:t>
              </a:r>
            </a:p>
          </p:txBody>
        </p:sp>
      </p:grpSp>
      <p:grpSp>
        <p:nvGrpSpPr>
          <p:cNvPr name="Group 158" id="158"/>
          <p:cNvGrpSpPr/>
          <p:nvPr/>
        </p:nvGrpSpPr>
        <p:grpSpPr>
          <a:xfrm rot="0">
            <a:off x="10508628" y="1734055"/>
            <a:ext cx="1144829" cy="425320"/>
            <a:chOff x="0" y="0"/>
            <a:chExt cx="1526438" cy="567093"/>
          </a:xfrm>
        </p:grpSpPr>
        <p:sp>
          <p:nvSpPr>
            <p:cNvPr name="Freeform 159" id="159"/>
            <p:cNvSpPr/>
            <p:nvPr/>
          </p:nvSpPr>
          <p:spPr>
            <a:xfrm flipH="false" flipV="false" rot="0">
              <a:off x="0" y="0"/>
              <a:ext cx="1526413" cy="567055"/>
            </a:xfrm>
            <a:custGeom>
              <a:avLst/>
              <a:gdLst/>
              <a:ahLst/>
              <a:cxnLst/>
              <a:rect r="r" b="b" t="t" l="l"/>
              <a:pathLst>
                <a:path h="567055" w="1526413">
                  <a:moveTo>
                    <a:pt x="0" y="0"/>
                  </a:moveTo>
                  <a:lnTo>
                    <a:pt x="1526413" y="0"/>
                  </a:lnTo>
                  <a:lnTo>
                    <a:pt x="1526413" y="567055"/>
                  </a:lnTo>
                  <a:lnTo>
                    <a:pt x="0" y="567055"/>
                  </a:lnTo>
                  <a:close/>
                </a:path>
              </a:pathLst>
            </a:custGeom>
            <a:blipFill>
              <a:blip r:embed="rId5">
                <a:alphaModFix amt="0"/>
              </a:blip>
              <a:stretch>
                <a:fillRect l="0" t="-2412" r="-1" b="-2416"/>
              </a:stretch>
            </a:blipFill>
          </p:spPr>
        </p:sp>
      </p:grpSp>
      <p:grpSp>
        <p:nvGrpSpPr>
          <p:cNvPr name="Group 160" id="160"/>
          <p:cNvGrpSpPr/>
          <p:nvPr/>
        </p:nvGrpSpPr>
        <p:grpSpPr>
          <a:xfrm rot="0">
            <a:off x="10508628" y="1755486"/>
            <a:ext cx="1144829" cy="403889"/>
            <a:chOff x="0" y="0"/>
            <a:chExt cx="1526438" cy="538518"/>
          </a:xfrm>
        </p:grpSpPr>
        <p:sp>
          <p:nvSpPr>
            <p:cNvPr name="Freeform 161" id="161"/>
            <p:cNvSpPr/>
            <p:nvPr/>
          </p:nvSpPr>
          <p:spPr>
            <a:xfrm flipH="false" flipV="false" rot="0">
              <a:off x="0" y="0"/>
              <a:ext cx="1526439" cy="538517"/>
            </a:xfrm>
            <a:custGeom>
              <a:avLst/>
              <a:gdLst/>
              <a:ahLst/>
              <a:cxnLst/>
              <a:rect r="r" b="b" t="t" l="l"/>
              <a:pathLst>
                <a:path h="538517" w="1526439">
                  <a:moveTo>
                    <a:pt x="0" y="0"/>
                  </a:moveTo>
                  <a:lnTo>
                    <a:pt x="1526439" y="0"/>
                  </a:lnTo>
                  <a:lnTo>
                    <a:pt x="1526439" y="538517"/>
                  </a:lnTo>
                  <a:lnTo>
                    <a:pt x="0" y="538517"/>
                  </a:lnTo>
                  <a:close/>
                </a:path>
              </a:pathLst>
            </a:custGeom>
            <a:blipFill>
              <a:blip r:embed="rId6">
                <a:alphaModFix amt="0"/>
              </a:blip>
              <a:stretch>
                <a:fillRect l="0" t="-5230" r="0" b="-5230"/>
              </a:stretch>
            </a:blipFill>
          </p:spPr>
        </p:sp>
        <p:sp>
          <p:nvSpPr>
            <p:cNvPr name="TextBox 162" id="162"/>
            <p:cNvSpPr txBox="true"/>
            <p:nvPr/>
          </p:nvSpPr>
          <p:spPr>
            <a:xfrm>
              <a:off x="0" y="28575"/>
              <a:ext cx="1526438" cy="509943"/>
            </a:xfrm>
            <a:prstGeom prst="rect">
              <a:avLst/>
            </a:prstGeom>
          </p:spPr>
          <p:txBody>
            <a:bodyPr anchor="ctr" rtlCol="false" tIns="0" lIns="0" bIns="0" rIns="0"/>
            <a:lstStyle/>
            <a:p>
              <a:pPr algn="l">
                <a:lnSpc>
                  <a:spcPts val="2013"/>
                </a:lnSpc>
              </a:pPr>
              <a:r>
                <a:rPr lang="en-US" sz="2000" b="true">
                  <a:solidFill>
                    <a:srgbClr val="ED5E40"/>
                  </a:solidFill>
                  <a:latin typeface="TT Commons Pro Bold"/>
                  <a:ea typeface="TT Commons Pro Bold"/>
                  <a:cs typeface="TT Commons Pro Bold"/>
                  <a:sym typeface="TT Commons Pro Bold"/>
                </a:rPr>
                <a:t>Ratings</a:t>
              </a:r>
            </a:p>
          </p:txBody>
        </p:sp>
      </p:grpSp>
      <p:sp>
        <p:nvSpPr>
          <p:cNvPr name="Freeform 163" id="163"/>
          <p:cNvSpPr/>
          <p:nvPr/>
        </p:nvSpPr>
        <p:spPr>
          <a:xfrm flipH="false" flipV="false" rot="0">
            <a:off x="7113222" y="1447438"/>
            <a:ext cx="2340645" cy="2005270"/>
          </a:xfrm>
          <a:custGeom>
            <a:avLst/>
            <a:gdLst/>
            <a:ahLst/>
            <a:cxnLst/>
            <a:rect r="r" b="b" t="t" l="l"/>
            <a:pathLst>
              <a:path h="2005270" w="2340645">
                <a:moveTo>
                  <a:pt x="0" y="0"/>
                </a:moveTo>
                <a:lnTo>
                  <a:pt x="2340645" y="0"/>
                </a:lnTo>
                <a:lnTo>
                  <a:pt x="2340645" y="2005270"/>
                </a:lnTo>
                <a:lnTo>
                  <a:pt x="0" y="2005270"/>
                </a:lnTo>
                <a:lnTo>
                  <a:pt x="0" y="0"/>
                </a:lnTo>
                <a:close/>
              </a:path>
            </a:pathLst>
          </a:custGeom>
          <a:blipFill>
            <a:blip r:embed="rId45">
              <a:extLst>
                <a:ext uri="{96DAC541-7B7A-43D3-8B79-37D633B846F1}">
                  <asvg:svgBlip xmlns:asvg="http://schemas.microsoft.com/office/drawing/2016/SVG/main" r:embed="rId46"/>
                </a:ext>
              </a:extLst>
            </a:blip>
            <a:stretch>
              <a:fillRect l="0" t="0" r="0" b="0"/>
            </a:stretch>
          </a:blipFill>
        </p:spPr>
      </p:sp>
      <p:grpSp>
        <p:nvGrpSpPr>
          <p:cNvPr name="Group 164" id="164"/>
          <p:cNvGrpSpPr/>
          <p:nvPr/>
        </p:nvGrpSpPr>
        <p:grpSpPr>
          <a:xfrm rot="0">
            <a:off x="7350204" y="2377145"/>
            <a:ext cx="1917764" cy="43720"/>
            <a:chOff x="0" y="0"/>
            <a:chExt cx="2557018" cy="58293"/>
          </a:xfrm>
        </p:grpSpPr>
        <p:sp>
          <p:nvSpPr>
            <p:cNvPr name="Freeform 165" id="165" descr="preencoded.png"/>
            <p:cNvSpPr/>
            <p:nvPr/>
          </p:nvSpPr>
          <p:spPr>
            <a:xfrm flipH="false" flipV="false" rot="0">
              <a:off x="0" y="0"/>
              <a:ext cx="2557018" cy="58293"/>
            </a:xfrm>
            <a:custGeom>
              <a:avLst/>
              <a:gdLst/>
              <a:ahLst/>
              <a:cxnLst/>
              <a:rect r="r" b="b" t="t" l="l"/>
              <a:pathLst>
                <a:path h="58293" w="2557018">
                  <a:moveTo>
                    <a:pt x="0" y="0"/>
                  </a:moveTo>
                  <a:lnTo>
                    <a:pt x="2557018" y="0"/>
                  </a:lnTo>
                  <a:lnTo>
                    <a:pt x="2557018" y="58293"/>
                  </a:lnTo>
                  <a:lnTo>
                    <a:pt x="0" y="58293"/>
                  </a:lnTo>
                  <a:lnTo>
                    <a:pt x="0" y="0"/>
                  </a:lnTo>
                  <a:close/>
                </a:path>
              </a:pathLst>
            </a:custGeom>
            <a:blipFill>
              <a:blip r:embed="rId47"/>
              <a:stretch>
                <a:fillRect l="0" t="-43" r="0" b="-21"/>
              </a:stretch>
            </a:blipFill>
          </p:spPr>
        </p:sp>
      </p:grpSp>
      <p:grpSp>
        <p:nvGrpSpPr>
          <p:cNvPr name="Group 166" id="166"/>
          <p:cNvGrpSpPr/>
          <p:nvPr/>
        </p:nvGrpSpPr>
        <p:grpSpPr>
          <a:xfrm rot="0">
            <a:off x="7313743" y="1655254"/>
            <a:ext cx="721900" cy="619792"/>
            <a:chOff x="0" y="0"/>
            <a:chExt cx="962533" cy="826389"/>
          </a:xfrm>
        </p:grpSpPr>
        <p:sp>
          <p:nvSpPr>
            <p:cNvPr name="Freeform 167" id="167" descr="preencoded.png"/>
            <p:cNvSpPr/>
            <p:nvPr/>
          </p:nvSpPr>
          <p:spPr>
            <a:xfrm flipH="false" flipV="false" rot="0">
              <a:off x="0" y="0"/>
              <a:ext cx="962533" cy="826389"/>
            </a:xfrm>
            <a:custGeom>
              <a:avLst/>
              <a:gdLst/>
              <a:ahLst/>
              <a:cxnLst/>
              <a:rect r="r" b="b" t="t" l="l"/>
              <a:pathLst>
                <a:path h="826389" w="962533">
                  <a:moveTo>
                    <a:pt x="0" y="0"/>
                  </a:moveTo>
                  <a:lnTo>
                    <a:pt x="962533" y="0"/>
                  </a:lnTo>
                  <a:lnTo>
                    <a:pt x="962533" y="826389"/>
                  </a:lnTo>
                  <a:lnTo>
                    <a:pt x="0" y="826389"/>
                  </a:lnTo>
                  <a:lnTo>
                    <a:pt x="0" y="0"/>
                  </a:lnTo>
                  <a:close/>
                </a:path>
              </a:pathLst>
            </a:custGeom>
            <a:blipFill>
              <a:blip r:embed="rId48"/>
              <a:stretch>
                <a:fillRect l="-153" t="0" r="-153" b="0"/>
              </a:stretch>
            </a:blipFill>
          </p:spPr>
        </p:sp>
      </p:grpSp>
      <p:grpSp>
        <p:nvGrpSpPr>
          <p:cNvPr name="Group 168" id="168"/>
          <p:cNvGrpSpPr/>
          <p:nvPr/>
        </p:nvGrpSpPr>
        <p:grpSpPr>
          <a:xfrm rot="0">
            <a:off x="7267489" y="2451926"/>
            <a:ext cx="2157565" cy="812968"/>
            <a:chOff x="0" y="0"/>
            <a:chExt cx="2876753" cy="1083958"/>
          </a:xfrm>
        </p:grpSpPr>
        <p:sp>
          <p:nvSpPr>
            <p:cNvPr name="Freeform 169" id="169"/>
            <p:cNvSpPr/>
            <p:nvPr/>
          </p:nvSpPr>
          <p:spPr>
            <a:xfrm flipH="false" flipV="false" rot="0">
              <a:off x="0" y="0"/>
              <a:ext cx="2876804" cy="1083945"/>
            </a:xfrm>
            <a:custGeom>
              <a:avLst/>
              <a:gdLst/>
              <a:ahLst/>
              <a:cxnLst/>
              <a:rect r="r" b="b" t="t" l="l"/>
              <a:pathLst>
                <a:path h="1083945" w="2876804">
                  <a:moveTo>
                    <a:pt x="0" y="0"/>
                  </a:moveTo>
                  <a:lnTo>
                    <a:pt x="2876804" y="0"/>
                  </a:lnTo>
                  <a:lnTo>
                    <a:pt x="2876804" y="1083945"/>
                  </a:lnTo>
                  <a:lnTo>
                    <a:pt x="0" y="1083945"/>
                  </a:lnTo>
                  <a:close/>
                </a:path>
              </a:pathLst>
            </a:custGeom>
            <a:blipFill>
              <a:blip r:embed="rId5">
                <a:alphaModFix amt="0"/>
              </a:blip>
              <a:stretch>
                <a:fillRect l="0" t="-1675" r="1" b="-1677"/>
              </a:stretch>
            </a:blipFill>
          </p:spPr>
        </p:sp>
      </p:grpSp>
      <p:grpSp>
        <p:nvGrpSpPr>
          <p:cNvPr name="Group 170" id="170"/>
          <p:cNvGrpSpPr/>
          <p:nvPr/>
        </p:nvGrpSpPr>
        <p:grpSpPr>
          <a:xfrm rot="0">
            <a:off x="7267489" y="2444782"/>
            <a:ext cx="2157565" cy="820112"/>
            <a:chOff x="0" y="0"/>
            <a:chExt cx="2876753" cy="1093483"/>
          </a:xfrm>
        </p:grpSpPr>
        <p:sp>
          <p:nvSpPr>
            <p:cNvPr name="Freeform 171" id="171"/>
            <p:cNvSpPr/>
            <p:nvPr/>
          </p:nvSpPr>
          <p:spPr>
            <a:xfrm flipH="false" flipV="false" rot="0">
              <a:off x="0" y="0"/>
              <a:ext cx="2876753" cy="1093485"/>
            </a:xfrm>
            <a:custGeom>
              <a:avLst/>
              <a:gdLst/>
              <a:ahLst/>
              <a:cxnLst/>
              <a:rect r="r" b="b" t="t" l="l"/>
              <a:pathLst>
                <a:path h="1093485" w="2876753">
                  <a:moveTo>
                    <a:pt x="0" y="0"/>
                  </a:moveTo>
                  <a:lnTo>
                    <a:pt x="2876753" y="0"/>
                  </a:lnTo>
                  <a:lnTo>
                    <a:pt x="2876753" y="1093485"/>
                  </a:lnTo>
                  <a:lnTo>
                    <a:pt x="0" y="1093485"/>
                  </a:lnTo>
                  <a:close/>
                </a:path>
              </a:pathLst>
            </a:custGeom>
            <a:blipFill>
              <a:blip r:embed="rId6">
                <a:alphaModFix amt="0"/>
              </a:blip>
              <a:stretch>
                <a:fillRect l="0" t="-1261" r="0" b="-1261"/>
              </a:stretch>
            </a:blipFill>
          </p:spPr>
        </p:sp>
        <p:sp>
          <p:nvSpPr>
            <p:cNvPr name="TextBox 172" id="172"/>
            <p:cNvSpPr txBox="true"/>
            <p:nvPr/>
          </p:nvSpPr>
          <p:spPr>
            <a:xfrm>
              <a:off x="0" y="-9525"/>
              <a:ext cx="2876753" cy="1103008"/>
            </a:xfrm>
            <a:prstGeom prst="rect">
              <a:avLst/>
            </a:prstGeom>
          </p:spPr>
          <p:txBody>
            <a:bodyPr anchor="ctr" rtlCol="false" tIns="0" lIns="0" bIns="0" rIns="0"/>
            <a:lstStyle/>
            <a:p>
              <a:pPr algn="l">
                <a:lnSpc>
                  <a:spcPts val="1949"/>
                </a:lnSpc>
              </a:pPr>
              <a:r>
                <a:rPr lang="en-US" sz="1597">
                  <a:solidFill>
                    <a:srgbClr val="F2EFEB"/>
                  </a:solidFill>
                  <a:latin typeface="TT Commons Pro"/>
                  <a:ea typeface="TT Commons Pro"/>
                  <a:cs typeface="TT Commons Pro"/>
                  <a:sym typeface="TT Commons Pro"/>
                </a:rPr>
                <a:t>Wide variety of</a:t>
              </a:r>
            </a:p>
            <a:p>
              <a:pPr algn="l">
                <a:lnSpc>
                  <a:spcPts val="1949"/>
                </a:lnSpc>
              </a:pPr>
              <a:r>
                <a:rPr lang="en-US" sz="1597">
                  <a:solidFill>
                    <a:srgbClr val="F2EFEB"/>
                  </a:solidFill>
                  <a:latin typeface="TT Commons Pro"/>
                  <a:ea typeface="TT Commons Pro"/>
                  <a:cs typeface="TT Commons Pro"/>
                  <a:sym typeface="TT Commons Pro"/>
                </a:rPr>
                <a:t>cuisines and restaurant</a:t>
              </a:r>
            </a:p>
            <a:p>
              <a:pPr algn="l">
                <a:lnSpc>
                  <a:spcPts val="1949"/>
                </a:lnSpc>
              </a:pPr>
              <a:r>
                <a:rPr lang="en-US" sz="1597">
                  <a:solidFill>
                    <a:srgbClr val="F2EFEB"/>
                  </a:solidFill>
                  <a:latin typeface="TT Commons Pro"/>
                  <a:ea typeface="TT Commons Pro"/>
                  <a:cs typeface="TT Commons Pro"/>
                  <a:sym typeface="TT Commons Pro"/>
                </a:rPr>
                <a:t>types included</a:t>
              </a:r>
            </a:p>
          </p:txBody>
        </p:sp>
      </p:grpSp>
      <p:grpSp>
        <p:nvGrpSpPr>
          <p:cNvPr name="Group 173" id="173"/>
          <p:cNvGrpSpPr/>
          <p:nvPr/>
        </p:nvGrpSpPr>
        <p:grpSpPr>
          <a:xfrm rot="0">
            <a:off x="8097622" y="2016138"/>
            <a:ext cx="775030" cy="315973"/>
            <a:chOff x="0" y="0"/>
            <a:chExt cx="1033374" cy="421297"/>
          </a:xfrm>
        </p:grpSpPr>
        <p:sp>
          <p:nvSpPr>
            <p:cNvPr name="Freeform 174" id="174"/>
            <p:cNvSpPr/>
            <p:nvPr/>
          </p:nvSpPr>
          <p:spPr>
            <a:xfrm flipH="false" flipV="false" rot="0">
              <a:off x="0" y="0"/>
              <a:ext cx="1033399" cy="421259"/>
            </a:xfrm>
            <a:custGeom>
              <a:avLst/>
              <a:gdLst/>
              <a:ahLst/>
              <a:cxnLst/>
              <a:rect r="r" b="b" t="t" l="l"/>
              <a:pathLst>
                <a:path h="421259" w="1033399">
                  <a:moveTo>
                    <a:pt x="0" y="0"/>
                  </a:moveTo>
                  <a:lnTo>
                    <a:pt x="1033399" y="0"/>
                  </a:lnTo>
                  <a:lnTo>
                    <a:pt x="1033399" y="421259"/>
                  </a:lnTo>
                  <a:lnTo>
                    <a:pt x="0" y="421259"/>
                  </a:lnTo>
                  <a:close/>
                </a:path>
              </a:pathLst>
            </a:custGeom>
            <a:blipFill>
              <a:blip r:embed="rId5">
                <a:alphaModFix amt="0"/>
              </a:blip>
              <a:stretch>
                <a:fillRect l="-2343" t="0" r="-2342" b="-9"/>
              </a:stretch>
            </a:blipFill>
          </p:spPr>
        </p:sp>
      </p:grpSp>
      <p:grpSp>
        <p:nvGrpSpPr>
          <p:cNvPr name="Group 175" id="175"/>
          <p:cNvGrpSpPr/>
          <p:nvPr/>
        </p:nvGrpSpPr>
        <p:grpSpPr>
          <a:xfrm rot="0">
            <a:off x="8097622" y="2037569"/>
            <a:ext cx="775030" cy="294542"/>
            <a:chOff x="0" y="0"/>
            <a:chExt cx="1033374" cy="392722"/>
          </a:xfrm>
        </p:grpSpPr>
        <p:sp>
          <p:nvSpPr>
            <p:cNvPr name="Freeform 176" id="176"/>
            <p:cNvSpPr/>
            <p:nvPr/>
          </p:nvSpPr>
          <p:spPr>
            <a:xfrm flipH="false" flipV="false" rot="0">
              <a:off x="0" y="0"/>
              <a:ext cx="1033373" cy="392717"/>
            </a:xfrm>
            <a:custGeom>
              <a:avLst/>
              <a:gdLst/>
              <a:ahLst/>
              <a:cxnLst/>
              <a:rect r="r" b="b" t="t" l="l"/>
              <a:pathLst>
                <a:path h="392717" w="1033373">
                  <a:moveTo>
                    <a:pt x="0" y="0"/>
                  </a:moveTo>
                  <a:lnTo>
                    <a:pt x="1033373" y="0"/>
                  </a:lnTo>
                  <a:lnTo>
                    <a:pt x="1033373" y="392717"/>
                  </a:lnTo>
                  <a:lnTo>
                    <a:pt x="0" y="392717"/>
                  </a:lnTo>
                  <a:close/>
                </a:path>
              </a:pathLst>
            </a:custGeom>
            <a:blipFill>
              <a:blip r:embed="rId6">
                <a:alphaModFix amt="0"/>
              </a:blip>
              <a:stretch>
                <a:fillRect l="0" t="-1271" r="0" b="-1272"/>
              </a:stretch>
            </a:blipFill>
          </p:spPr>
        </p:sp>
        <p:sp>
          <p:nvSpPr>
            <p:cNvPr name="TextBox 177" id="177"/>
            <p:cNvSpPr txBox="true"/>
            <p:nvPr/>
          </p:nvSpPr>
          <p:spPr>
            <a:xfrm>
              <a:off x="0" y="28575"/>
              <a:ext cx="1033374" cy="364147"/>
            </a:xfrm>
            <a:prstGeom prst="rect">
              <a:avLst/>
            </a:prstGeom>
          </p:spPr>
          <p:txBody>
            <a:bodyPr anchor="ctr" rtlCol="false" tIns="0" lIns="0" bIns="0" rIns="0"/>
            <a:lstStyle/>
            <a:p>
              <a:pPr algn="l">
                <a:lnSpc>
                  <a:spcPts val="1421"/>
                </a:lnSpc>
              </a:pPr>
              <a:r>
                <a:rPr lang="en-US" sz="1498" b="true">
                  <a:solidFill>
                    <a:srgbClr val="F2EFEB"/>
                  </a:solidFill>
                  <a:latin typeface="TT Commons Pro Bold"/>
                  <a:ea typeface="TT Commons Pro Bold"/>
                  <a:cs typeface="TT Commons Pro Bold"/>
                  <a:sym typeface="TT Commons Pro Bold"/>
                </a:rPr>
                <a:t>Culsines</a:t>
              </a:r>
            </a:p>
          </p:txBody>
        </p:sp>
      </p:grpSp>
      <p:grpSp>
        <p:nvGrpSpPr>
          <p:cNvPr name="Group 178" id="178"/>
          <p:cNvGrpSpPr/>
          <p:nvPr/>
        </p:nvGrpSpPr>
        <p:grpSpPr>
          <a:xfrm rot="0">
            <a:off x="8097622" y="1699212"/>
            <a:ext cx="1137533" cy="429539"/>
            <a:chOff x="0" y="0"/>
            <a:chExt cx="1516710" cy="572719"/>
          </a:xfrm>
        </p:grpSpPr>
        <p:sp>
          <p:nvSpPr>
            <p:cNvPr name="Freeform 179" id="179"/>
            <p:cNvSpPr/>
            <p:nvPr/>
          </p:nvSpPr>
          <p:spPr>
            <a:xfrm flipH="false" flipV="false" rot="0">
              <a:off x="0" y="0"/>
              <a:ext cx="1516761" cy="572770"/>
            </a:xfrm>
            <a:custGeom>
              <a:avLst/>
              <a:gdLst/>
              <a:ahLst/>
              <a:cxnLst/>
              <a:rect r="r" b="b" t="t" l="l"/>
              <a:pathLst>
                <a:path h="572770" w="1516761">
                  <a:moveTo>
                    <a:pt x="0" y="0"/>
                  </a:moveTo>
                  <a:lnTo>
                    <a:pt x="1516761" y="0"/>
                  </a:lnTo>
                  <a:lnTo>
                    <a:pt x="1516761" y="572770"/>
                  </a:lnTo>
                  <a:lnTo>
                    <a:pt x="0" y="572770"/>
                  </a:lnTo>
                  <a:close/>
                </a:path>
              </a:pathLst>
            </a:custGeom>
            <a:blipFill>
              <a:blip r:embed="rId5">
                <a:alphaModFix amt="0"/>
              </a:blip>
              <a:stretch>
                <a:fillRect l="0" t="-1565" r="3" b="-1556"/>
              </a:stretch>
            </a:blipFill>
          </p:spPr>
        </p:sp>
      </p:grpSp>
      <p:grpSp>
        <p:nvGrpSpPr>
          <p:cNvPr name="Group 180" id="180"/>
          <p:cNvGrpSpPr/>
          <p:nvPr/>
        </p:nvGrpSpPr>
        <p:grpSpPr>
          <a:xfrm rot="0">
            <a:off x="8097622" y="1727787"/>
            <a:ext cx="1137533" cy="400964"/>
            <a:chOff x="0" y="0"/>
            <a:chExt cx="1516710" cy="534619"/>
          </a:xfrm>
        </p:grpSpPr>
        <p:sp>
          <p:nvSpPr>
            <p:cNvPr name="Freeform 181" id="181"/>
            <p:cNvSpPr/>
            <p:nvPr/>
          </p:nvSpPr>
          <p:spPr>
            <a:xfrm flipH="false" flipV="false" rot="0">
              <a:off x="0" y="0"/>
              <a:ext cx="1516711" cy="534625"/>
            </a:xfrm>
            <a:custGeom>
              <a:avLst/>
              <a:gdLst/>
              <a:ahLst/>
              <a:cxnLst/>
              <a:rect r="r" b="b" t="t" l="l"/>
              <a:pathLst>
                <a:path h="534625" w="1516711">
                  <a:moveTo>
                    <a:pt x="0" y="0"/>
                  </a:moveTo>
                  <a:lnTo>
                    <a:pt x="1516711" y="0"/>
                  </a:lnTo>
                  <a:lnTo>
                    <a:pt x="1516711" y="534625"/>
                  </a:lnTo>
                  <a:lnTo>
                    <a:pt x="0" y="534625"/>
                  </a:lnTo>
                  <a:close/>
                </a:path>
              </a:pathLst>
            </a:custGeom>
            <a:blipFill>
              <a:blip r:embed="rId6">
                <a:alphaModFix amt="0"/>
              </a:blip>
              <a:stretch>
                <a:fillRect l="0" t="-5278" r="0" b="-5277"/>
              </a:stretch>
            </a:blipFill>
          </p:spPr>
        </p:sp>
        <p:sp>
          <p:nvSpPr>
            <p:cNvPr name="TextBox 182" id="182"/>
            <p:cNvSpPr txBox="true"/>
            <p:nvPr/>
          </p:nvSpPr>
          <p:spPr>
            <a:xfrm>
              <a:off x="0" y="38100"/>
              <a:ext cx="1516710" cy="496519"/>
            </a:xfrm>
            <a:prstGeom prst="rect">
              <a:avLst/>
            </a:prstGeom>
          </p:spPr>
          <p:txBody>
            <a:bodyPr anchor="ctr" rtlCol="false" tIns="0" lIns="0" bIns="0" rIns="0"/>
            <a:lstStyle/>
            <a:p>
              <a:pPr algn="l">
                <a:lnSpc>
                  <a:spcPts val="1904"/>
                </a:lnSpc>
              </a:pPr>
              <a:r>
                <a:rPr lang="en-US" sz="2000" b="true">
                  <a:solidFill>
                    <a:srgbClr val="ED5E40"/>
                  </a:solidFill>
                  <a:latin typeface="TT Commons Pro Bold"/>
                  <a:ea typeface="TT Commons Pro Bold"/>
                  <a:cs typeface="TT Commons Pro Bold"/>
                  <a:sym typeface="TT Commons Pro Bold"/>
                </a:rPr>
                <a:t>Multiple</a:t>
              </a:r>
            </a:p>
          </p:txBody>
        </p:sp>
      </p:grpSp>
      <p:sp>
        <p:nvSpPr>
          <p:cNvPr name="Freeform 183" id="183"/>
          <p:cNvSpPr/>
          <p:nvPr/>
        </p:nvSpPr>
        <p:spPr>
          <a:xfrm flipH="false" flipV="false" rot="0">
            <a:off x="4743364" y="1447438"/>
            <a:ext cx="2296925" cy="2005174"/>
          </a:xfrm>
          <a:custGeom>
            <a:avLst/>
            <a:gdLst/>
            <a:ahLst/>
            <a:cxnLst/>
            <a:rect r="r" b="b" t="t" l="l"/>
            <a:pathLst>
              <a:path h="2005174" w="2296925">
                <a:moveTo>
                  <a:pt x="0" y="0"/>
                </a:moveTo>
                <a:lnTo>
                  <a:pt x="2296925" y="0"/>
                </a:lnTo>
                <a:lnTo>
                  <a:pt x="2296925" y="2005174"/>
                </a:lnTo>
                <a:lnTo>
                  <a:pt x="0" y="2005174"/>
                </a:lnTo>
                <a:lnTo>
                  <a:pt x="0" y="0"/>
                </a:lnTo>
                <a:close/>
              </a:path>
            </a:pathLst>
          </a:custGeom>
          <a:blipFill>
            <a:blip r:embed="rId49">
              <a:extLst>
                <a:ext uri="{96DAC541-7B7A-43D3-8B79-37D633B846F1}">
                  <asvg:svgBlip xmlns:asvg="http://schemas.microsoft.com/office/drawing/2016/SVG/main" r:embed="rId50"/>
                </a:ext>
              </a:extLst>
            </a:blip>
            <a:stretch>
              <a:fillRect l="0" t="0" r="0" b="0"/>
            </a:stretch>
          </a:blipFill>
        </p:spPr>
      </p:sp>
      <p:grpSp>
        <p:nvGrpSpPr>
          <p:cNvPr name="Group 184" id="184"/>
          <p:cNvGrpSpPr/>
          <p:nvPr/>
        </p:nvGrpSpPr>
        <p:grpSpPr>
          <a:xfrm rot="0">
            <a:off x="4987633" y="2362562"/>
            <a:ext cx="1859470" cy="65627"/>
            <a:chOff x="0" y="0"/>
            <a:chExt cx="2479294" cy="87503"/>
          </a:xfrm>
        </p:grpSpPr>
        <p:sp>
          <p:nvSpPr>
            <p:cNvPr name="Freeform 185" id="185" descr="preencoded.png"/>
            <p:cNvSpPr/>
            <p:nvPr/>
          </p:nvSpPr>
          <p:spPr>
            <a:xfrm flipH="false" flipV="false" rot="0">
              <a:off x="0" y="0"/>
              <a:ext cx="2479294" cy="87503"/>
            </a:xfrm>
            <a:custGeom>
              <a:avLst/>
              <a:gdLst/>
              <a:ahLst/>
              <a:cxnLst/>
              <a:rect r="r" b="b" t="t" l="l"/>
              <a:pathLst>
                <a:path h="87503" w="2479294">
                  <a:moveTo>
                    <a:pt x="0" y="0"/>
                  </a:moveTo>
                  <a:lnTo>
                    <a:pt x="2479294" y="0"/>
                  </a:lnTo>
                  <a:lnTo>
                    <a:pt x="2479294" y="87503"/>
                  </a:lnTo>
                  <a:lnTo>
                    <a:pt x="0" y="87503"/>
                  </a:lnTo>
                  <a:lnTo>
                    <a:pt x="0" y="0"/>
                  </a:lnTo>
                  <a:close/>
                </a:path>
              </a:pathLst>
            </a:custGeom>
            <a:blipFill>
              <a:blip r:embed="rId51"/>
              <a:stretch>
                <a:fillRect l="0" t="-5442" r="0" b="-5428"/>
              </a:stretch>
            </a:blipFill>
          </p:spPr>
        </p:sp>
      </p:grpSp>
      <p:grpSp>
        <p:nvGrpSpPr>
          <p:cNvPr name="Group 186" id="186"/>
          <p:cNvGrpSpPr/>
          <p:nvPr/>
        </p:nvGrpSpPr>
        <p:grpSpPr>
          <a:xfrm rot="0">
            <a:off x="4951181" y="1655254"/>
            <a:ext cx="714566" cy="612553"/>
            <a:chOff x="0" y="0"/>
            <a:chExt cx="952754" cy="816737"/>
          </a:xfrm>
        </p:grpSpPr>
        <p:sp>
          <p:nvSpPr>
            <p:cNvPr name="Freeform 187" id="187" descr="preencoded.png"/>
            <p:cNvSpPr/>
            <p:nvPr/>
          </p:nvSpPr>
          <p:spPr>
            <a:xfrm flipH="false" flipV="false" rot="0">
              <a:off x="0" y="0"/>
              <a:ext cx="952754" cy="816737"/>
            </a:xfrm>
            <a:custGeom>
              <a:avLst/>
              <a:gdLst/>
              <a:ahLst/>
              <a:cxnLst/>
              <a:rect r="r" b="b" t="t" l="l"/>
              <a:pathLst>
                <a:path h="816737" w="952754">
                  <a:moveTo>
                    <a:pt x="0" y="0"/>
                  </a:moveTo>
                  <a:lnTo>
                    <a:pt x="952754" y="0"/>
                  </a:lnTo>
                  <a:lnTo>
                    <a:pt x="952754" y="816737"/>
                  </a:lnTo>
                  <a:lnTo>
                    <a:pt x="0" y="816737"/>
                  </a:lnTo>
                  <a:lnTo>
                    <a:pt x="0" y="0"/>
                  </a:lnTo>
                  <a:close/>
                </a:path>
              </a:pathLst>
            </a:custGeom>
            <a:blipFill>
              <a:blip r:embed="rId52"/>
              <a:stretch>
                <a:fillRect l="-5" t="0" r="-5" b="0"/>
              </a:stretch>
            </a:blipFill>
          </p:spPr>
        </p:sp>
      </p:grpSp>
      <p:grpSp>
        <p:nvGrpSpPr>
          <p:cNvPr name="Group 188" id="188"/>
          <p:cNvGrpSpPr/>
          <p:nvPr/>
        </p:nvGrpSpPr>
        <p:grpSpPr>
          <a:xfrm rot="0">
            <a:off x="4942065" y="2509857"/>
            <a:ext cx="1881311" cy="857745"/>
            <a:chOff x="0" y="0"/>
            <a:chExt cx="2508415" cy="1143660"/>
          </a:xfrm>
        </p:grpSpPr>
        <p:sp>
          <p:nvSpPr>
            <p:cNvPr name="Freeform 189" id="189"/>
            <p:cNvSpPr/>
            <p:nvPr/>
          </p:nvSpPr>
          <p:spPr>
            <a:xfrm flipH="false" flipV="false" rot="0">
              <a:off x="0" y="0"/>
              <a:ext cx="2508377" cy="1143635"/>
            </a:xfrm>
            <a:custGeom>
              <a:avLst/>
              <a:gdLst/>
              <a:ahLst/>
              <a:cxnLst/>
              <a:rect r="r" b="b" t="t" l="l"/>
              <a:pathLst>
                <a:path h="1143635" w="2508377">
                  <a:moveTo>
                    <a:pt x="0" y="0"/>
                  </a:moveTo>
                  <a:lnTo>
                    <a:pt x="2508377" y="0"/>
                  </a:lnTo>
                  <a:lnTo>
                    <a:pt x="2508377" y="1143635"/>
                  </a:lnTo>
                  <a:lnTo>
                    <a:pt x="0" y="1143635"/>
                  </a:lnTo>
                  <a:close/>
                </a:path>
              </a:pathLst>
            </a:custGeom>
            <a:blipFill>
              <a:blip r:embed="rId5">
                <a:alphaModFix amt="0"/>
              </a:blip>
              <a:stretch>
                <a:fillRect l="-8538" t="0" r="-8539" b="-2"/>
              </a:stretch>
            </a:blipFill>
          </p:spPr>
        </p:sp>
      </p:grpSp>
      <p:grpSp>
        <p:nvGrpSpPr>
          <p:cNvPr name="Group 190" id="190"/>
          <p:cNvGrpSpPr/>
          <p:nvPr/>
        </p:nvGrpSpPr>
        <p:grpSpPr>
          <a:xfrm rot="0">
            <a:off x="4942065" y="2509857"/>
            <a:ext cx="1881311" cy="857745"/>
            <a:chOff x="0" y="0"/>
            <a:chExt cx="2508415" cy="1143660"/>
          </a:xfrm>
        </p:grpSpPr>
        <p:sp>
          <p:nvSpPr>
            <p:cNvPr name="Freeform 191" id="191"/>
            <p:cNvSpPr/>
            <p:nvPr/>
          </p:nvSpPr>
          <p:spPr>
            <a:xfrm flipH="false" flipV="false" rot="0">
              <a:off x="0" y="0"/>
              <a:ext cx="2508415" cy="1143664"/>
            </a:xfrm>
            <a:custGeom>
              <a:avLst/>
              <a:gdLst/>
              <a:ahLst/>
              <a:cxnLst/>
              <a:rect r="r" b="b" t="t" l="l"/>
              <a:pathLst>
                <a:path h="1143664" w="2508415">
                  <a:moveTo>
                    <a:pt x="0" y="0"/>
                  </a:moveTo>
                  <a:lnTo>
                    <a:pt x="2508415" y="0"/>
                  </a:lnTo>
                  <a:lnTo>
                    <a:pt x="2508415" y="1143664"/>
                  </a:lnTo>
                  <a:lnTo>
                    <a:pt x="0" y="1143664"/>
                  </a:lnTo>
                  <a:close/>
                </a:path>
              </a:pathLst>
            </a:custGeom>
            <a:blipFill>
              <a:blip r:embed="rId6">
                <a:alphaModFix amt="0"/>
              </a:blip>
              <a:stretch>
                <a:fillRect l="-8497" t="0" r="-8497" b="0"/>
              </a:stretch>
            </a:blipFill>
          </p:spPr>
        </p:sp>
        <p:sp>
          <p:nvSpPr>
            <p:cNvPr name="TextBox 192" id="192"/>
            <p:cNvSpPr txBox="true"/>
            <p:nvPr/>
          </p:nvSpPr>
          <p:spPr>
            <a:xfrm>
              <a:off x="0" y="0"/>
              <a:ext cx="2508415" cy="1143660"/>
            </a:xfrm>
            <a:prstGeom prst="rect">
              <a:avLst/>
            </a:prstGeom>
          </p:spPr>
          <p:txBody>
            <a:bodyPr anchor="ctr" rtlCol="false" tIns="0" lIns="0" bIns="0" rIns="0"/>
            <a:lstStyle/>
            <a:p>
              <a:pPr algn="l">
                <a:lnSpc>
                  <a:spcPts val="2058"/>
                </a:lnSpc>
              </a:pPr>
              <a:r>
                <a:rPr lang="en-US" sz="1604">
                  <a:solidFill>
                    <a:srgbClr val="F2EFEB"/>
                  </a:solidFill>
                  <a:latin typeface="TT Commons Pro"/>
                  <a:ea typeface="TT Commons Pro"/>
                  <a:cs typeface="TT Commons Pro"/>
                  <a:sym typeface="TT Commons Pro"/>
                </a:rPr>
                <a:t>Restaurants from</a:t>
              </a:r>
            </a:p>
            <a:p>
              <a:pPr algn="l">
                <a:lnSpc>
                  <a:spcPts val="2058"/>
                </a:lnSpc>
              </a:pPr>
              <a:r>
                <a:rPr lang="en-US" sz="1604">
                  <a:solidFill>
                    <a:srgbClr val="F2EFEB"/>
                  </a:solidFill>
                  <a:latin typeface="TT Commons Pro"/>
                  <a:ea typeface="TT Commons Pro"/>
                  <a:cs typeface="TT Commons Pro"/>
                  <a:sym typeface="TT Commons Pro"/>
                </a:rPr>
                <a:t>different cities</a:t>
              </a:r>
            </a:p>
            <a:p>
              <a:pPr algn="l">
                <a:lnSpc>
                  <a:spcPts val="2058"/>
                </a:lnSpc>
              </a:pPr>
              <a:r>
                <a:rPr lang="en-US" sz="1604">
                  <a:solidFill>
                    <a:srgbClr val="F2EFEB"/>
                  </a:solidFill>
                  <a:latin typeface="TT Commons Pro"/>
                  <a:ea typeface="TT Commons Pro"/>
                  <a:cs typeface="TT Commons Pro"/>
                  <a:sym typeface="TT Commons Pro"/>
                </a:rPr>
                <a:t>and localities</a:t>
              </a:r>
            </a:p>
          </p:txBody>
        </p:sp>
      </p:grpSp>
      <p:grpSp>
        <p:nvGrpSpPr>
          <p:cNvPr name="Group 193" id="193"/>
          <p:cNvGrpSpPr/>
          <p:nvPr/>
        </p:nvGrpSpPr>
        <p:grpSpPr>
          <a:xfrm rot="0">
            <a:off x="5775160" y="2041722"/>
            <a:ext cx="1093775" cy="499472"/>
            <a:chOff x="0" y="0"/>
            <a:chExt cx="1458366" cy="665963"/>
          </a:xfrm>
        </p:grpSpPr>
        <p:sp>
          <p:nvSpPr>
            <p:cNvPr name="Freeform 194" id="194"/>
            <p:cNvSpPr/>
            <p:nvPr/>
          </p:nvSpPr>
          <p:spPr>
            <a:xfrm flipH="false" flipV="false" rot="0">
              <a:off x="0" y="0"/>
              <a:ext cx="1458341" cy="665988"/>
            </a:xfrm>
            <a:custGeom>
              <a:avLst/>
              <a:gdLst/>
              <a:ahLst/>
              <a:cxnLst/>
              <a:rect r="r" b="b" t="t" l="l"/>
              <a:pathLst>
                <a:path h="665988" w="1458341">
                  <a:moveTo>
                    <a:pt x="0" y="0"/>
                  </a:moveTo>
                  <a:lnTo>
                    <a:pt x="1458341" y="0"/>
                  </a:lnTo>
                  <a:lnTo>
                    <a:pt x="1458341" y="665988"/>
                  </a:lnTo>
                  <a:lnTo>
                    <a:pt x="0" y="665988"/>
                  </a:lnTo>
                  <a:close/>
                </a:path>
              </a:pathLst>
            </a:custGeom>
            <a:blipFill>
              <a:blip r:embed="rId5">
                <a:alphaModFix amt="0"/>
              </a:blip>
              <a:stretch>
                <a:fillRect l="-8630" t="0" r="-8632" b="3"/>
              </a:stretch>
            </a:blipFill>
          </p:spPr>
        </p:sp>
      </p:grpSp>
      <p:grpSp>
        <p:nvGrpSpPr>
          <p:cNvPr name="Group 195" id="195"/>
          <p:cNvGrpSpPr/>
          <p:nvPr/>
        </p:nvGrpSpPr>
        <p:grpSpPr>
          <a:xfrm rot="0">
            <a:off x="5775160" y="2063153"/>
            <a:ext cx="1093784" cy="478041"/>
            <a:chOff x="0" y="0"/>
            <a:chExt cx="1458379" cy="637388"/>
          </a:xfrm>
        </p:grpSpPr>
        <p:sp>
          <p:nvSpPr>
            <p:cNvPr name="Freeform 196" id="196"/>
            <p:cNvSpPr/>
            <p:nvPr/>
          </p:nvSpPr>
          <p:spPr>
            <a:xfrm flipH="false" flipV="false" rot="0">
              <a:off x="0" y="0"/>
              <a:ext cx="1458379" cy="637382"/>
            </a:xfrm>
            <a:custGeom>
              <a:avLst/>
              <a:gdLst/>
              <a:ahLst/>
              <a:cxnLst/>
              <a:rect r="r" b="b" t="t" l="l"/>
              <a:pathLst>
                <a:path h="637382" w="1458379">
                  <a:moveTo>
                    <a:pt x="0" y="0"/>
                  </a:moveTo>
                  <a:lnTo>
                    <a:pt x="1458379" y="0"/>
                  </a:lnTo>
                  <a:lnTo>
                    <a:pt x="1458379" y="637382"/>
                  </a:lnTo>
                  <a:lnTo>
                    <a:pt x="0" y="637382"/>
                  </a:lnTo>
                  <a:close/>
                </a:path>
              </a:pathLst>
            </a:custGeom>
            <a:blipFill>
              <a:blip r:embed="rId6">
                <a:alphaModFix amt="0"/>
              </a:blip>
              <a:stretch>
                <a:fillRect l="-6075" t="0" r="-6075" b="0"/>
              </a:stretch>
            </a:blipFill>
          </p:spPr>
        </p:sp>
        <p:sp>
          <p:nvSpPr>
            <p:cNvPr name="TextBox 197" id="197"/>
            <p:cNvSpPr txBox="true"/>
            <p:nvPr/>
          </p:nvSpPr>
          <p:spPr>
            <a:xfrm>
              <a:off x="0" y="28575"/>
              <a:ext cx="1458379" cy="608813"/>
            </a:xfrm>
            <a:prstGeom prst="rect">
              <a:avLst/>
            </a:prstGeom>
          </p:spPr>
          <p:txBody>
            <a:bodyPr anchor="ctr" rtlCol="false" tIns="0" lIns="0" bIns="0" rIns="0"/>
            <a:lstStyle/>
            <a:p>
              <a:pPr algn="l">
                <a:lnSpc>
                  <a:spcPts val="1476"/>
                </a:lnSpc>
              </a:pPr>
              <a:r>
                <a:rPr lang="en-US" sz="1498" b="true">
                  <a:solidFill>
                    <a:srgbClr val="F2EFEB"/>
                  </a:solidFill>
                  <a:latin typeface="TT Commons Pro Bold"/>
                  <a:ea typeface="TT Commons Pro Bold"/>
                  <a:cs typeface="TT Commons Pro Bold"/>
                  <a:sym typeface="TT Commons Pro Bold"/>
                </a:rPr>
                <a:t>Cities Covered</a:t>
              </a:r>
            </a:p>
          </p:txBody>
        </p:sp>
      </p:grpSp>
      <p:grpSp>
        <p:nvGrpSpPr>
          <p:cNvPr name="Group 198" id="198"/>
          <p:cNvGrpSpPr/>
          <p:nvPr/>
        </p:nvGrpSpPr>
        <p:grpSpPr>
          <a:xfrm rot="0">
            <a:off x="5743851" y="1690573"/>
            <a:ext cx="1376658" cy="431102"/>
            <a:chOff x="0" y="0"/>
            <a:chExt cx="1835544" cy="574802"/>
          </a:xfrm>
        </p:grpSpPr>
        <p:sp>
          <p:nvSpPr>
            <p:cNvPr name="Freeform 199" id="199"/>
            <p:cNvSpPr/>
            <p:nvPr/>
          </p:nvSpPr>
          <p:spPr>
            <a:xfrm flipH="false" flipV="false" rot="0">
              <a:off x="0" y="0"/>
              <a:ext cx="1835531" cy="574802"/>
            </a:xfrm>
            <a:custGeom>
              <a:avLst/>
              <a:gdLst/>
              <a:ahLst/>
              <a:cxnLst/>
              <a:rect r="r" b="b" t="t" l="l"/>
              <a:pathLst>
                <a:path h="574802" w="1835531">
                  <a:moveTo>
                    <a:pt x="0" y="0"/>
                  </a:moveTo>
                  <a:lnTo>
                    <a:pt x="1835531" y="0"/>
                  </a:lnTo>
                  <a:lnTo>
                    <a:pt x="1835531" y="574802"/>
                  </a:lnTo>
                  <a:lnTo>
                    <a:pt x="0" y="574802"/>
                  </a:lnTo>
                  <a:close/>
                </a:path>
              </a:pathLst>
            </a:custGeom>
            <a:blipFill>
              <a:blip r:embed="rId5">
                <a:alphaModFix amt="0"/>
              </a:blip>
              <a:stretch>
                <a:fillRect l="0" t="-12180" r="0" b="-12178"/>
              </a:stretch>
            </a:blipFill>
          </p:spPr>
        </p:sp>
      </p:grpSp>
      <p:grpSp>
        <p:nvGrpSpPr>
          <p:cNvPr name="Group 200" id="200"/>
          <p:cNvGrpSpPr/>
          <p:nvPr/>
        </p:nvGrpSpPr>
        <p:grpSpPr>
          <a:xfrm rot="0">
            <a:off x="5743851" y="1697717"/>
            <a:ext cx="1376658" cy="423958"/>
            <a:chOff x="0" y="0"/>
            <a:chExt cx="1835544" cy="565277"/>
          </a:xfrm>
        </p:grpSpPr>
        <p:sp>
          <p:nvSpPr>
            <p:cNvPr name="Freeform 201" id="201"/>
            <p:cNvSpPr/>
            <p:nvPr/>
          </p:nvSpPr>
          <p:spPr>
            <a:xfrm flipH="false" flipV="false" rot="0">
              <a:off x="0" y="0"/>
              <a:ext cx="1835544" cy="565274"/>
            </a:xfrm>
            <a:custGeom>
              <a:avLst/>
              <a:gdLst/>
              <a:ahLst/>
              <a:cxnLst/>
              <a:rect r="r" b="b" t="t" l="l"/>
              <a:pathLst>
                <a:path h="565274" w="1835544">
                  <a:moveTo>
                    <a:pt x="0" y="0"/>
                  </a:moveTo>
                  <a:lnTo>
                    <a:pt x="1835544" y="0"/>
                  </a:lnTo>
                  <a:lnTo>
                    <a:pt x="1835544" y="565274"/>
                  </a:lnTo>
                  <a:lnTo>
                    <a:pt x="0" y="565274"/>
                  </a:lnTo>
                  <a:close/>
                </a:path>
              </a:pathLst>
            </a:custGeom>
            <a:blipFill>
              <a:blip r:embed="rId6">
                <a:alphaModFix amt="0"/>
              </a:blip>
              <a:stretch>
                <a:fillRect l="0" t="-13271" r="0" b="-13271"/>
              </a:stretch>
            </a:blipFill>
          </p:spPr>
        </p:sp>
        <p:sp>
          <p:nvSpPr>
            <p:cNvPr name="TextBox 202" id="202"/>
            <p:cNvSpPr txBox="true"/>
            <p:nvPr/>
          </p:nvSpPr>
          <p:spPr>
            <a:xfrm>
              <a:off x="0" y="9525"/>
              <a:ext cx="1835544" cy="555752"/>
            </a:xfrm>
            <a:prstGeom prst="rect">
              <a:avLst/>
            </a:prstGeom>
          </p:spPr>
          <p:txBody>
            <a:bodyPr anchor="ctr" rtlCol="false" tIns="0" lIns="0" bIns="0" rIns="0"/>
            <a:lstStyle/>
            <a:p>
              <a:pPr algn="l">
                <a:lnSpc>
                  <a:spcPts val="2267"/>
                </a:lnSpc>
              </a:pPr>
              <a:r>
                <a:rPr lang="en-US" sz="2000" b="true">
                  <a:solidFill>
                    <a:srgbClr val="ED5E40"/>
                  </a:solidFill>
                  <a:latin typeface="TT Commons Pro Bold"/>
                  <a:ea typeface="TT Commons Pro Bold"/>
                  <a:cs typeface="TT Commons Pro Bold"/>
                  <a:sym typeface="TT Commons Pro Bold"/>
                </a:rPr>
                <a:t>Multiple</a:t>
              </a:r>
            </a:p>
          </p:txBody>
        </p:sp>
      </p:grpSp>
      <p:sp>
        <p:nvSpPr>
          <p:cNvPr name="Freeform 203" id="203"/>
          <p:cNvSpPr/>
          <p:nvPr/>
        </p:nvSpPr>
        <p:spPr>
          <a:xfrm flipH="false" flipV="false" rot="0">
            <a:off x="2439133" y="3605832"/>
            <a:ext cx="4491866" cy="4652267"/>
          </a:xfrm>
          <a:custGeom>
            <a:avLst/>
            <a:gdLst/>
            <a:ahLst/>
            <a:cxnLst/>
            <a:rect r="r" b="b" t="t" l="l"/>
            <a:pathLst>
              <a:path h="4652267" w="4491866">
                <a:moveTo>
                  <a:pt x="0" y="0"/>
                </a:moveTo>
                <a:lnTo>
                  <a:pt x="4491867" y="0"/>
                </a:lnTo>
                <a:lnTo>
                  <a:pt x="4491867" y="4652267"/>
                </a:lnTo>
                <a:lnTo>
                  <a:pt x="0" y="4652267"/>
                </a:lnTo>
                <a:lnTo>
                  <a:pt x="0" y="0"/>
                </a:lnTo>
                <a:close/>
              </a:path>
            </a:pathLst>
          </a:custGeom>
          <a:blipFill>
            <a:blip r:embed="rId53">
              <a:extLst>
                <a:ext uri="{96DAC541-7B7A-43D3-8B79-37D633B846F1}">
                  <asvg:svgBlip xmlns:asvg="http://schemas.microsoft.com/office/drawing/2016/SVG/main" r:embed="rId54"/>
                </a:ext>
              </a:extLst>
            </a:blip>
            <a:stretch>
              <a:fillRect l="0" t="0" r="0" b="0"/>
            </a:stretch>
          </a:blipFill>
        </p:spPr>
      </p:sp>
      <p:grpSp>
        <p:nvGrpSpPr>
          <p:cNvPr name="Group 204" id="204"/>
          <p:cNvGrpSpPr/>
          <p:nvPr/>
        </p:nvGrpSpPr>
        <p:grpSpPr>
          <a:xfrm rot="0">
            <a:off x="2792787" y="7590834"/>
            <a:ext cx="313563" cy="298990"/>
            <a:chOff x="0" y="0"/>
            <a:chExt cx="418084" cy="398653"/>
          </a:xfrm>
        </p:grpSpPr>
        <p:sp>
          <p:nvSpPr>
            <p:cNvPr name="Freeform 205" id="205" descr="preencoded.png"/>
            <p:cNvSpPr/>
            <p:nvPr/>
          </p:nvSpPr>
          <p:spPr>
            <a:xfrm flipH="false" flipV="false" rot="0">
              <a:off x="0" y="0"/>
              <a:ext cx="418084" cy="398653"/>
            </a:xfrm>
            <a:custGeom>
              <a:avLst/>
              <a:gdLst/>
              <a:ahLst/>
              <a:cxnLst/>
              <a:rect r="r" b="b" t="t" l="l"/>
              <a:pathLst>
                <a:path h="398653" w="418084">
                  <a:moveTo>
                    <a:pt x="0" y="0"/>
                  </a:moveTo>
                  <a:lnTo>
                    <a:pt x="418084" y="0"/>
                  </a:lnTo>
                  <a:lnTo>
                    <a:pt x="418084" y="398653"/>
                  </a:lnTo>
                  <a:lnTo>
                    <a:pt x="0" y="398653"/>
                  </a:lnTo>
                  <a:lnTo>
                    <a:pt x="0" y="0"/>
                  </a:lnTo>
                  <a:close/>
                </a:path>
              </a:pathLst>
            </a:custGeom>
            <a:blipFill>
              <a:blip r:embed="rId55"/>
              <a:stretch>
                <a:fillRect l="-656" t="0" r="-656" b="0"/>
              </a:stretch>
            </a:blipFill>
          </p:spPr>
        </p:sp>
      </p:grpSp>
      <p:grpSp>
        <p:nvGrpSpPr>
          <p:cNvPr name="Group 206" id="206"/>
          <p:cNvGrpSpPr/>
          <p:nvPr/>
        </p:nvGrpSpPr>
        <p:grpSpPr>
          <a:xfrm rot="0">
            <a:off x="2719864" y="7466867"/>
            <a:ext cx="4017836" cy="51054"/>
            <a:chOff x="0" y="0"/>
            <a:chExt cx="5357114" cy="68072"/>
          </a:xfrm>
        </p:grpSpPr>
        <p:sp>
          <p:nvSpPr>
            <p:cNvPr name="Freeform 207" id="207" descr="preencoded.png"/>
            <p:cNvSpPr/>
            <p:nvPr/>
          </p:nvSpPr>
          <p:spPr>
            <a:xfrm flipH="false" flipV="false" rot="0">
              <a:off x="0" y="0"/>
              <a:ext cx="5357114" cy="68072"/>
            </a:xfrm>
            <a:custGeom>
              <a:avLst/>
              <a:gdLst/>
              <a:ahLst/>
              <a:cxnLst/>
              <a:rect r="r" b="b" t="t" l="l"/>
              <a:pathLst>
                <a:path h="68072" w="5357114">
                  <a:moveTo>
                    <a:pt x="0" y="0"/>
                  </a:moveTo>
                  <a:lnTo>
                    <a:pt x="5357114" y="0"/>
                  </a:lnTo>
                  <a:lnTo>
                    <a:pt x="5357114" y="68072"/>
                  </a:lnTo>
                  <a:lnTo>
                    <a:pt x="0" y="68072"/>
                  </a:lnTo>
                  <a:lnTo>
                    <a:pt x="0" y="0"/>
                  </a:lnTo>
                  <a:close/>
                </a:path>
              </a:pathLst>
            </a:custGeom>
            <a:blipFill>
              <a:blip r:embed="rId56"/>
              <a:stretch>
                <a:fillRect l="0" t="-5541" r="0" b="-5522"/>
              </a:stretch>
            </a:blipFill>
          </p:spPr>
        </p:sp>
      </p:grpSp>
      <p:grpSp>
        <p:nvGrpSpPr>
          <p:cNvPr name="Group 208" id="208"/>
          <p:cNvGrpSpPr/>
          <p:nvPr/>
        </p:nvGrpSpPr>
        <p:grpSpPr>
          <a:xfrm rot="0">
            <a:off x="2792787" y="7036651"/>
            <a:ext cx="306229" cy="313563"/>
            <a:chOff x="0" y="0"/>
            <a:chExt cx="408305" cy="418084"/>
          </a:xfrm>
        </p:grpSpPr>
        <p:sp>
          <p:nvSpPr>
            <p:cNvPr name="Freeform 209" id="209" descr="preencoded.png"/>
            <p:cNvSpPr/>
            <p:nvPr/>
          </p:nvSpPr>
          <p:spPr>
            <a:xfrm flipH="false" flipV="false" rot="0">
              <a:off x="0" y="0"/>
              <a:ext cx="408305" cy="418084"/>
            </a:xfrm>
            <a:custGeom>
              <a:avLst/>
              <a:gdLst/>
              <a:ahLst/>
              <a:cxnLst/>
              <a:rect r="r" b="b" t="t" l="l"/>
              <a:pathLst>
                <a:path h="418084" w="408305">
                  <a:moveTo>
                    <a:pt x="0" y="0"/>
                  </a:moveTo>
                  <a:lnTo>
                    <a:pt x="408305" y="0"/>
                  </a:lnTo>
                  <a:lnTo>
                    <a:pt x="408305" y="418084"/>
                  </a:lnTo>
                  <a:lnTo>
                    <a:pt x="0" y="418084"/>
                  </a:lnTo>
                  <a:lnTo>
                    <a:pt x="0" y="0"/>
                  </a:lnTo>
                  <a:close/>
                </a:path>
              </a:pathLst>
            </a:custGeom>
            <a:blipFill>
              <a:blip r:embed="rId57"/>
              <a:stretch>
                <a:fillRect l="-174" t="0" r="-174" b="0"/>
              </a:stretch>
            </a:blipFill>
          </p:spPr>
        </p:sp>
      </p:grpSp>
      <p:grpSp>
        <p:nvGrpSpPr>
          <p:cNvPr name="Group 210" id="210"/>
          <p:cNvGrpSpPr/>
          <p:nvPr/>
        </p:nvGrpSpPr>
        <p:grpSpPr>
          <a:xfrm rot="0">
            <a:off x="2690698" y="6890814"/>
            <a:ext cx="4025074" cy="65627"/>
            <a:chOff x="0" y="0"/>
            <a:chExt cx="5366766" cy="87503"/>
          </a:xfrm>
        </p:grpSpPr>
        <p:sp>
          <p:nvSpPr>
            <p:cNvPr name="Freeform 211" id="211" descr="preencoded.png"/>
            <p:cNvSpPr/>
            <p:nvPr/>
          </p:nvSpPr>
          <p:spPr>
            <a:xfrm flipH="false" flipV="false" rot="0">
              <a:off x="0" y="0"/>
              <a:ext cx="5366766" cy="87503"/>
            </a:xfrm>
            <a:custGeom>
              <a:avLst/>
              <a:gdLst/>
              <a:ahLst/>
              <a:cxnLst/>
              <a:rect r="r" b="b" t="t" l="l"/>
              <a:pathLst>
                <a:path h="87503" w="5366766">
                  <a:moveTo>
                    <a:pt x="0" y="0"/>
                  </a:moveTo>
                  <a:lnTo>
                    <a:pt x="5366766" y="0"/>
                  </a:lnTo>
                  <a:lnTo>
                    <a:pt x="5366766" y="87503"/>
                  </a:lnTo>
                  <a:lnTo>
                    <a:pt x="0" y="87503"/>
                  </a:lnTo>
                  <a:lnTo>
                    <a:pt x="0" y="0"/>
                  </a:lnTo>
                  <a:close/>
                </a:path>
              </a:pathLst>
            </a:custGeom>
            <a:blipFill>
              <a:blip r:embed="rId58"/>
              <a:stretch>
                <a:fillRect l="0" t="-5529" r="0" b="-5529"/>
              </a:stretch>
            </a:blipFill>
          </p:spPr>
        </p:sp>
      </p:grpSp>
      <p:grpSp>
        <p:nvGrpSpPr>
          <p:cNvPr name="Group 212" id="212"/>
          <p:cNvGrpSpPr/>
          <p:nvPr/>
        </p:nvGrpSpPr>
        <p:grpSpPr>
          <a:xfrm rot="0">
            <a:off x="2814657" y="6497050"/>
            <a:ext cx="277082" cy="306229"/>
            <a:chOff x="0" y="0"/>
            <a:chExt cx="369443" cy="408305"/>
          </a:xfrm>
        </p:grpSpPr>
        <p:sp>
          <p:nvSpPr>
            <p:cNvPr name="Freeform 213" id="213" descr="preencoded.png"/>
            <p:cNvSpPr/>
            <p:nvPr/>
          </p:nvSpPr>
          <p:spPr>
            <a:xfrm flipH="false" flipV="false" rot="0">
              <a:off x="0" y="0"/>
              <a:ext cx="369443" cy="408305"/>
            </a:xfrm>
            <a:custGeom>
              <a:avLst/>
              <a:gdLst/>
              <a:ahLst/>
              <a:cxnLst/>
              <a:rect r="r" b="b" t="t" l="l"/>
              <a:pathLst>
                <a:path h="408305" w="369443">
                  <a:moveTo>
                    <a:pt x="0" y="0"/>
                  </a:moveTo>
                  <a:lnTo>
                    <a:pt x="369443" y="0"/>
                  </a:lnTo>
                  <a:lnTo>
                    <a:pt x="369443" y="408305"/>
                  </a:lnTo>
                  <a:lnTo>
                    <a:pt x="0" y="408305"/>
                  </a:lnTo>
                  <a:lnTo>
                    <a:pt x="0" y="0"/>
                  </a:lnTo>
                  <a:close/>
                </a:path>
              </a:pathLst>
            </a:custGeom>
            <a:blipFill>
              <a:blip r:embed="rId59"/>
              <a:stretch>
                <a:fillRect l="0" t="-158" r="0" b="-158"/>
              </a:stretch>
            </a:blipFill>
          </p:spPr>
        </p:sp>
      </p:grpSp>
      <p:grpSp>
        <p:nvGrpSpPr>
          <p:cNvPr name="Group 214" id="214"/>
          <p:cNvGrpSpPr/>
          <p:nvPr/>
        </p:nvGrpSpPr>
        <p:grpSpPr>
          <a:xfrm rot="0">
            <a:off x="2712577" y="6351213"/>
            <a:ext cx="3995928" cy="65627"/>
            <a:chOff x="0" y="0"/>
            <a:chExt cx="5327904" cy="87503"/>
          </a:xfrm>
        </p:grpSpPr>
        <p:sp>
          <p:nvSpPr>
            <p:cNvPr name="Freeform 215" id="215" descr="preencoded.png"/>
            <p:cNvSpPr/>
            <p:nvPr/>
          </p:nvSpPr>
          <p:spPr>
            <a:xfrm flipH="false" flipV="false" rot="0">
              <a:off x="0" y="0"/>
              <a:ext cx="5327904" cy="87503"/>
            </a:xfrm>
            <a:custGeom>
              <a:avLst/>
              <a:gdLst/>
              <a:ahLst/>
              <a:cxnLst/>
              <a:rect r="r" b="b" t="t" l="l"/>
              <a:pathLst>
                <a:path h="87503" w="5327904">
                  <a:moveTo>
                    <a:pt x="0" y="0"/>
                  </a:moveTo>
                  <a:lnTo>
                    <a:pt x="5327904" y="0"/>
                  </a:lnTo>
                  <a:lnTo>
                    <a:pt x="5327904" y="87503"/>
                  </a:lnTo>
                  <a:lnTo>
                    <a:pt x="0" y="87503"/>
                  </a:lnTo>
                  <a:lnTo>
                    <a:pt x="0" y="0"/>
                  </a:lnTo>
                  <a:close/>
                </a:path>
              </a:pathLst>
            </a:custGeom>
            <a:blipFill>
              <a:blip r:embed="rId60"/>
              <a:stretch>
                <a:fillRect l="0" t="-5471" r="0" b="-5457"/>
              </a:stretch>
            </a:blipFill>
          </p:spPr>
        </p:sp>
      </p:grpSp>
      <p:grpSp>
        <p:nvGrpSpPr>
          <p:cNvPr name="Group 216" id="216"/>
          <p:cNvGrpSpPr/>
          <p:nvPr/>
        </p:nvGrpSpPr>
        <p:grpSpPr>
          <a:xfrm rot="0">
            <a:off x="2792787" y="5957459"/>
            <a:ext cx="313563" cy="291656"/>
            <a:chOff x="0" y="0"/>
            <a:chExt cx="418084" cy="388874"/>
          </a:xfrm>
        </p:grpSpPr>
        <p:sp>
          <p:nvSpPr>
            <p:cNvPr name="Freeform 217" id="217" descr="preencoded.png"/>
            <p:cNvSpPr/>
            <p:nvPr/>
          </p:nvSpPr>
          <p:spPr>
            <a:xfrm flipH="false" flipV="false" rot="0">
              <a:off x="0" y="0"/>
              <a:ext cx="418084" cy="388874"/>
            </a:xfrm>
            <a:custGeom>
              <a:avLst/>
              <a:gdLst/>
              <a:ahLst/>
              <a:cxnLst/>
              <a:rect r="r" b="b" t="t" l="l"/>
              <a:pathLst>
                <a:path h="388874" w="418084">
                  <a:moveTo>
                    <a:pt x="0" y="0"/>
                  </a:moveTo>
                  <a:lnTo>
                    <a:pt x="418084" y="0"/>
                  </a:lnTo>
                  <a:lnTo>
                    <a:pt x="418084" y="388874"/>
                  </a:lnTo>
                  <a:lnTo>
                    <a:pt x="0" y="388874"/>
                  </a:lnTo>
                  <a:lnTo>
                    <a:pt x="0" y="0"/>
                  </a:lnTo>
                  <a:close/>
                </a:path>
              </a:pathLst>
            </a:custGeom>
            <a:blipFill>
              <a:blip r:embed="rId61"/>
              <a:stretch>
                <a:fillRect l="-258" t="0" r="-255" b="0"/>
              </a:stretch>
            </a:blipFill>
          </p:spPr>
        </p:sp>
      </p:grpSp>
      <p:grpSp>
        <p:nvGrpSpPr>
          <p:cNvPr name="Group 218" id="218"/>
          <p:cNvGrpSpPr/>
          <p:nvPr/>
        </p:nvGrpSpPr>
        <p:grpSpPr>
          <a:xfrm rot="0">
            <a:off x="2705281" y="5826204"/>
            <a:ext cx="4025074" cy="51054"/>
            <a:chOff x="0" y="0"/>
            <a:chExt cx="5366766" cy="68072"/>
          </a:xfrm>
        </p:grpSpPr>
        <p:sp>
          <p:nvSpPr>
            <p:cNvPr name="Freeform 219" id="219" descr="preencoded.png"/>
            <p:cNvSpPr/>
            <p:nvPr/>
          </p:nvSpPr>
          <p:spPr>
            <a:xfrm flipH="false" flipV="false" rot="0">
              <a:off x="0" y="0"/>
              <a:ext cx="5366766" cy="68072"/>
            </a:xfrm>
            <a:custGeom>
              <a:avLst/>
              <a:gdLst/>
              <a:ahLst/>
              <a:cxnLst/>
              <a:rect r="r" b="b" t="t" l="l"/>
              <a:pathLst>
                <a:path h="68072" w="5366766">
                  <a:moveTo>
                    <a:pt x="0" y="0"/>
                  </a:moveTo>
                  <a:lnTo>
                    <a:pt x="5366766" y="0"/>
                  </a:lnTo>
                  <a:lnTo>
                    <a:pt x="5366766" y="68072"/>
                  </a:lnTo>
                  <a:lnTo>
                    <a:pt x="0" y="68072"/>
                  </a:lnTo>
                  <a:lnTo>
                    <a:pt x="0" y="0"/>
                  </a:lnTo>
                  <a:close/>
                </a:path>
              </a:pathLst>
            </a:custGeom>
            <a:blipFill>
              <a:blip r:embed="rId62"/>
              <a:stretch>
                <a:fillRect l="0" t="-5522" r="0" b="-5522"/>
              </a:stretch>
            </a:blipFill>
          </p:spPr>
        </p:sp>
      </p:grpSp>
      <p:grpSp>
        <p:nvGrpSpPr>
          <p:cNvPr name="Group 220" id="220"/>
          <p:cNvGrpSpPr/>
          <p:nvPr/>
        </p:nvGrpSpPr>
        <p:grpSpPr>
          <a:xfrm rot="0">
            <a:off x="3274047" y="5577068"/>
            <a:ext cx="2617775" cy="214398"/>
            <a:chOff x="0" y="0"/>
            <a:chExt cx="3490366" cy="285864"/>
          </a:xfrm>
        </p:grpSpPr>
        <p:sp>
          <p:nvSpPr>
            <p:cNvPr name="Freeform 221" id="221"/>
            <p:cNvSpPr/>
            <p:nvPr/>
          </p:nvSpPr>
          <p:spPr>
            <a:xfrm flipH="false" flipV="false" rot="0">
              <a:off x="0" y="0"/>
              <a:ext cx="3490341" cy="285877"/>
            </a:xfrm>
            <a:custGeom>
              <a:avLst/>
              <a:gdLst/>
              <a:ahLst/>
              <a:cxnLst/>
              <a:rect r="r" b="b" t="t" l="l"/>
              <a:pathLst>
                <a:path h="285877" w="3490341">
                  <a:moveTo>
                    <a:pt x="0" y="0"/>
                  </a:moveTo>
                  <a:lnTo>
                    <a:pt x="3490341" y="0"/>
                  </a:lnTo>
                  <a:lnTo>
                    <a:pt x="3490341" y="285877"/>
                  </a:lnTo>
                  <a:lnTo>
                    <a:pt x="0" y="285877"/>
                  </a:lnTo>
                  <a:close/>
                </a:path>
              </a:pathLst>
            </a:custGeom>
            <a:blipFill>
              <a:blip r:embed="rId5">
                <a:alphaModFix amt="0"/>
              </a:blip>
              <a:stretch>
                <a:fillRect l="0" t="-187734" r="0" b="-187734"/>
              </a:stretch>
            </a:blipFill>
          </p:spPr>
        </p:sp>
      </p:grpSp>
      <p:grpSp>
        <p:nvGrpSpPr>
          <p:cNvPr name="Group 222" id="222"/>
          <p:cNvGrpSpPr/>
          <p:nvPr/>
        </p:nvGrpSpPr>
        <p:grpSpPr>
          <a:xfrm rot="0">
            <a:off x="3274047" y="5598500"/>
            <a:ext cx="2617784" cy="192967"/>
            <a:chOff x="0" y="0"/>
            <a:chExt cx="3490379" cy="257289"/>
          </a:xfrm>
        </p:grpSpPr>
        <p:sp>
          <p:nvSpPr>
            <p:cNvPr name="Freeform 223" id="223"/>
            <p:cNvSpPr/>
            <p:nvPr/>
          </p:nvSpPr>
          <p:spPr>
            <a:xfrm flipH="false" flipV="false" rot="0">
              <a:off x="0" y="0"/>
              <a:ext cx="3490379" cy="257293"/>
            </a:xfrm>
            <a:custGeom>
              <a:avLst/>
              <a:gdLst/>
              <a:ahLst/>
              <a:cxnLst/>
              <a:rect r="r" b="b" t="t" l="l"/>
              <a:pathLst>
                <a:path h="257293" w="3490379">
                  <a:moveTo>
                    <a:pt x="0" y="0"/>
                  </a:moveTo>
                  <a:lnTo>
                    <a:pt x="3490379" y="0"/>
                  </a:lnTo>
                  <a:lnTo>
                    <a:pt x="3490379" y="257293"/>
                  </a:lnTo>
                  <a:lnTo>
                    <a:pt x="0" y="257293"/>
                  </a:lnTo>
                  <a:close/>
                </a:path>
              </a:pathLst>
            </a:custGeom>
            <a:blipFill>
              <a:blip r:embed="rId6">
                <a:alphaModFix amt="0"/>
              </a:blip>
              <a:stretch>
                <a:fillRect l="0" t="-214330" r="0" b="-214328"/>
              </a:stretch>
            </a:blipFill>
          </p:spPr>
        </p:sp>
        <p:sp>
          <p:nvSpPr>
            <p:cNvPr name="TextBox 224" id="224"/>
            <p:cNvSpPr txBox="true"/>
            <p:nvPr/>
          </p:nvSpPr>
          <p:spPr>
            <a:xfrm>
              <a:off x="0" y="28575"/>
              <a:ext cx="3490379" cy="228714"/>
            </a:xfrm>
            <a:prstGeom prst="rect">
              <a:avLst/>
            </a:prstGeom>
          </p:spPr>
          <p:txBody>
            <a:bodyPr anchor="ctr" rtlCol="false" tIns="0" lIns="0" bIns="0" rIns="0"/>
            <a:lstStyle/>
            <a:p>
              <a:pPr algn="l">
                <a:lnSpc>
                  <a:spcPts val="842"/>
                </a:lnSpc>
              </a:pPr>
              <a:r>
                <a:rPr lang="en-US" sz="1000" b="true">
                  <a:solidFill>
                    <a:srgbClr val="FDFDFD"/>
                  </a:solidFill>
                  <a:latin typeface="TT Commons Pro Bold"/>
                  <a:ea typeface="TT Commons Pro Bold"/>
                  <a:cs typeface="TT Commons Pro Bold"/>
                  <a:sym typeface="TT Commons Pro Bold"/>
                </a:rPr>
                <a:t>Delivery Time, Delivery Fee, Discounts</a:t>
              </a:r>
            </a:p>
          </p:txBody>
        </p:sp>
      </p:grpSp>
      <p:grpSp>
        <p:nvGrpSpPr>
          <p:cNvPr name="Group 225" id="225"/>
          <p:cNvGrpSpPr/>
          <p:nvPr/>
        </p:nvGrpSpPr>
        <p:grpSpPr>
          <a:xfrm rot="0">
            <a:off x="3288630" y="5409324"/>
            <a:ext cx="1877644" cy="228952"/>
            <a:chOff x="0" y="0"/>
            <a:chExt cx="2503526" cy="305270"/>
          </a:xfrm>
        </p:grpSpPr>
        <p:sp>
          <p:nvSpPr>
            <p:cNvPr name="Freeform 226" id="226"/>
            <p:cNvSpPr/>
            <p:nvPr/>
          </p:nvSpPr>
          <p:spPr>
            <a:xfrm flipH="false" flipV="false" rot="0">
              <a:off x="0" y="0"/>
              <a:ext cx="2503551" cy="305308"/>
            </a:xfrm>
            <a:custGeom>
              <a:avLst/>
              <a:gdLst/>
              <a:ahLst/>
              <a:cxnLst/>
              <a:rect r="r" b="b" t="t" l="l"/>
              <a:pathLst>
                <a:path h="305308" w="2503551">
                  <a:moveTo>
                    <a:pt x="0" y="0"/>
                  </a:moveTo>
                  <a:lnTo>
                    <a:pt x="2503551" y="0"/>
                  </a:lnTo>
                  <a:lnTo>
                    <a:pt x="2503551" y="305308"/>
                  </a:lnTo>
                  <a:lnTo>
                    <a:pt x="0" y="305308"/>
                  </a:lnTo>
                  <a:close/>
                </a:path>
              </a:pathLst>
            </a:custGeom>
            <a:blipFill>
              <a:blip r:embed="rId5">
                <a:alphaModFix amt="0"/>
              </a:blip>
              <a:stretch>
                <a:fillRect l="0" t="-109671" r="1" b="-109663"/>
              </a:stretch>
            </a:blipFill>
          </p:spPr>
        </p:sp>
      </p:grpSp>
      <p:grpSp>
        <p:nvGrpSpPr>
          <p:cNvPr name="Group 227" id="227"/>
          <p:cNvGrpSpPr/>
          <p:nvPr/>
        </p:nvGrpSpPr>
        <p:grpSpPr>
          <a:xfrm rot="0">
            <a:off x="3288630" y="5416467"/>
            <a:ext cx="1877654" cy="221809"/>
            <a:chOff x="0" y="0"/>
            <a:chExt cx="2503538" cy="295745"/>
          </a:xfrm>
        </p:grpSpPr>
        <p:sp>
          <p:nvSpPr>
            <p:cNvPr name="Freeform 228" id="228"/>
            <p:cNvSpPr/>
            <p:nvPr/>
          </p:nvSpPr>
          <p:spPr>
            <a:xfrm flipH="false" flipV="false" rot="0">
              <a:off x="0" y="0"/>
              <a:ext cx="2503539" cy="295739"/>
            </a:xfrm>
            <a:custGeom>
              <a:avLst/>
              <a:gdLst/>
              <a:ahLst/>
              <a:cxnLst/>
              <a:rect r="r" b="b" t="t" l="l"/>
              <a:pathLst>
                <a:path h="295739" w="2503539">
                  <a:moveTo>
                    <a:pt x="0" y="0"/>
                  </a:moveTo>
                  <a:lnTo>
                    <a:pt x="2503539" y="0"/>
                  </a:lnTo>
                  <a:lnTo>
                    <a:pt x="2503539" y="295739"/>
                  </a:lnTo>
                  <a:lnTo>
                    <a:pt x="0" y="295739"/>
                  </a:lnTo>
                  <a:close/>
                </a:path>
              </a:pathLst>
            </a:custGeom>
            <a:blipFill>
              <a:blip r:embed="rId6">
                <a:alphaModFix amt="0"/>
              </a:blip>
              <a:stretch>
                <a:fillRect l="0" t="-114946" r="0" b="-114948"/>
              </a:stretch>
            </a:blipFill>
          </p:spPr>
        </p:sp>
        <p:sp>
          <p:nvSpPr>
            <p:cNvPr name="TextBox 229" id="229"/>
            <p:cNvSpPr txBox="true"/>
            <p:nvPr/>
          </p:nvSpPr>
          <p:spPr>
            <a:xfrm>
              <a:off x="0" y="9525"/>
              <a:ext cx="2503538" cy="286220"/>
            </a:xfrm>
            <a:prstGeom prst="rect">
              <a:avLst/>
            </a:prstGeom>
          </p:spPr>
          <p:txBody>
            <a:bodyPr anchor="ctr" rtlCol="false" tIns="0" lIns="0" bIns="0" rIns="0"/>
            <a:lstStyle/>
            <a:p>
              <a:pPr algn="l">
                <a:lnSpc>
                  <a:spcPts val="1198"/>
                </a:lnSpc>
              </a:pPr>
              <a:r>
                <a:rPr lang="en-US" sz="1100" b="true">
                  <a:solidFill>
                    <a:srgbClr val="F2EFEB"/>
                  </a:solidFill>
                  <a:latin typeface="TT Commons Pro Bold"/>
                  <a:ea typeface="TT Commons Pro Bold"/>
                  <a:cs typeface="TT Commons Pro Bold"/>
                  <a:sym typeface="TT Commons Pro Bold"/>
                </a:rPr>
                <a:t>Delivery Information</a:t>
              </a:r>
            </a:p>
          </p:txBody>
        </p:sp>
      </p:grpSp>
      <p:grpSp>
        <p:nvGrpSpPr>
          <p:cNvPr name="Group 230" id="230"/>
          <p:cNvGrpSpPr/>
          <p:nvPr/>
        </p:nvGrpSpPr>
        <p:grpSpPr>
          <a:xfrm rot="0">
            <a:off x="2800074" y="5410562"/>
            <a:ext cx="313563" cy="298990"/>
            <a:chOff x="0" y="0"/>
            <a:chExt cx="418084" cy="398653"/>
          </a:xfrm>
        </p:grpSpPr>
        <p:sp>
          <p:nvSpPr>
            <p:cNvPr name="Freeform 231" id="231" descr="preencoded.png"/>
            <p:cNvSpPr/>
            <p:nvPr/>
          </p:nvSpPr>
          <p:spPr>
            <a:xfrm flipH="false" flipV="false" rot="0">
              <a:off x="0" y="0"/>
              <a:ext cx="418084" cy="398653"/>
            </a:xfrm>
            <a:custGeom>
              <a:avLst/>
              <a:gdLst/>
              <a:ahLst/>
              <a:cxnLst/>
              <a:rect r="r" b="b" t="t" l="l"/>
              <a:pathLst>
                <a:path h="398653" w="418084">
                  <a:moveTo>
                    <a:pt x="0" y="0"/>
                  </a:moveTo>
                  <a:lnTo>
                    <a:pt x="418084" y="0"/>
                  </a:lnTo>
                  <a:lnTo>
                    <a:pt x="418084" y="398653"/>
                  </a:lnTo>
                  <a:lnTo>
                    <a:pt x="0" y="398653"/>
                  </a:lnTo>
                  <a:lnTo>
                    <a:pt x="0" y="0"/>
                  </a:lnTo>
                  <a:close/>
                </a:path>
              </a:pathLst>
            </a:custGeom>
            <a:blipFill>
              <a:blip r:embed="rId63"/>
              <a:stretch>
                <a:fillRect l="0" t="-379" r="0" b="-382"/>
              </a:stretch>
            </a:blipFill>
          </p:spPr>
        </p:sp>
      </p:grpSp>
      <p:grpSp>
        <p:nvGrpSpPr>
          <p:cNvPr name="Group 232" id="232"/>
          <p:cNvGrpSpPr/>
          <p:nvPr/>
        </p:nvGrpSpPr>
        <p:grpSpPr>
          <a:xfrm rot="0">
            <a:off x="2712577" y="5279307"/>
            <a:ext cx="4003262" cy="43720"/>
            <a:chOff x="0" y="0"/>
            <a:chExt cx="5337683" cy="58293"/>
          </a:xfrm>
        </p:grpSpPr>
        <p:sp>
          <p:nvSpPr>
            <p:cNvPr name="Freeform 233" id="233" descr="preencoded.png"/>
            <p:cNvSpPr/>
            <p:nvPr/>
          </p:nvSpPr>
          <p:spPr>
            <a:xfrm flipH="false" flipV="false" rot="0">
              <a:off x="0" y="0"/>
              <a:ext cx="5337683" cy="58293"/>
            </a:xfrm>
            <a:custGeom>
              <a:avLst/>
              <a:gdLst/>
              <a:ahLst/>
              <a:cxnLst/>
              <a:rect r="r" b="b" t="t" l="l"/>
              <a:pathLst>
                <a:path h="58293" w="5337683">
                  <a:moveTo>
                    <a:pt x="0" y="0"/>
                  </a:moveTo>
                  <a:lnTo>
                    <a:pt x="5337683" y="0"/>
                  </a:lnTo>
                  <a:lnTo>
                    <a:pt x="5337683" y="58293"/>
                  </a:lnTo>
                  <a:lnTo>
                    <a:pt x="0" y="58293"/>
                  </a:lnTo>
                  <a:lnTo>
                    <a:pt x="0" y="0"/>
                  </a:lnTo>
                  <a:close/>
                </a:path>
              </a:pathLst>
            </a:custGeom>
            <a:blipFill>
              <a:blip r:embed="rId64"/>
              <a:stretch>
                <a:fillRect l="0" t="-43" r="0" b="-21"/>
              </a:stretch>
            </a:blipFill>
          </p:spPr>
        </p:sp>
      </p:grpSp>
      <p:grpSp>
        <p:nvGrpSpPr>
          <p:cNvPr name="Group 234" id="234"/>
          <p:cNvGrpSpPr/>
          <p:nvPr/>
        </p:nvGrpSpPr>
        <p:grpSpPr>
          <a:xfrm rot="0">
            <a:off x="3288630" y="4962058"/>
            <a:ext cx="3463633" cy="372847"/>
            <a:chOff x="0" y="0"/>
            <a:chExt cx="4618177" cy="497129"/>
          </a:xfrm>
        </p:grpSpPr>
        <p:sp>
          <p:nvSpPr>
            <p:cNvPr name="Freeform 235" id="235"/>
            <p:cNvSpPr/>
            <p:nvPr/>
          </p:nvSpPr>
          <p:spPr>
            <a:xfrm flipH="false" flipV="false" rot="0">
              <a:off x="0" y="0"/>
              <a:ext cx="4618228" cy="497078"/>
            </a:xfrm>
            <a:custGeom>
              <a:avLst/>
              <a:gdLst/>
              <a:ahLst/>
              <a:cxnLst/>
              <a:rect r="r" b="b" t="t" l="l"/>
              <a:pathLst>
                <a:path h="497078" w="4618228">
                  <a:moveTo>
                    <a:pt x="0" y="0"/>
                  </a:moveTo>
                  <a:lnTo>
                    <a:pt x="4618228" y="0"/>
                  </a:lnTo>
                  <a:lnTo>
                    <a:pt x="4618228" y="497078"/>
                  </a:lnTo>
                  <a:lnTo>
                    <a:pt x="0" y="497078"/>
                  </a:lnTo>
                  <a:close/>
                </a:path>
              </a:pathLst>
            </a:custGeom>
            <a:blipFill>
              <a:blip r:embed="rId5">
                <a:alphaModFix amt="0"/>
              </a:blip>
              <a:stretch>
                <a:fillRect l="0" t="-130896" r="1" b="-130909"/>
              </a:stretch>
            </a:blipFill>
          </p:spPr>
        </p:sp>
      </p:grpSp>
      <p:grpSp>
        <p:nvGrpSpPr>
          <p:cNvPr name="Group 236" id="236"/>
          <p:cNvGrpSpPr/>
          <p:nvPr/>
        </p:nvGrpSpPr>
        <p:grpSpPr>
          <a:xfrm rot="0">
            <a:off x="3288630" y="4947771"/>
            <a:ext cx="3463633" cy="387134"/>
            <a:chOff x="0" y="0"/>
            <a:chExt cx="4618177" cy="516179"/>
          </a:xfrm>
        </p:grpSpPr>
        <p:sp>
          <p:nvSpPr>
            <p:cNvPr name="Freeform 237" id="237"/>
            <p:cNvSpPr/>
            <p:nvPr/>
          </p:nvSpPr>
          <p:spPr>
            <a:xfrm flipH="false" flipV="false" rot="0">
              <a:off x="0" y="0"/>
              <a:ext cx="4618177" cy="516178"/>
            </a:xfrm>
            <a:custGeom>
              <a:avLst/>
              <a:gdLst/>
              <a:ahLst/>
              <a:cxnLst/>
              <a:rect r="r" b="b" t="t" l="l"/>
              <a:pathLst>
                <a:path h="516178" w="4618177">
                  <a:moveTo>
                    <a:pt x="0" y="0"/>
                  </a:moveTo>
                  <a:lnTo>
                    <a:pt x="4618177" y="0"/>
                  </a:lnTo>
                  <a:lnTo>
                    <a:pt x="4618177" y="516178"/>
                  </a:lnTo>
                  <a:lnTo>
                    <a:pt x="0" y="516178"/>
                  </a:lnTo>
                  <a:close/>
                </a:path>
              </a:pathLst>
            </a:custGeom>
            <a:blipFill>
              <a:blip r:embed="rId6">
                <a:alphaModFix amt="0"/>
              </a:blip>
              <a:stretch>
                <a:fillRect l="0" t="-124330" r="0" b="-124330"/>
              </a:stretch>
            </a:blipFill>
          </p:spPr>
        </p:sp>
        <p:sp>
          <p:nvSpPr>
            <p:cNvPr name="TextBox 238" id="238"/>
            <p:cNvSpPr txBox="true"/>
            <p:nvPr/>
          </p:nvSpPr>
          <p:spPr>
            <a:xfrm>
              <a:off x="0" y="-19050"/>
              <a:ext cx="4618177" cy="535229"/>
            </a:xfrm>
            <a:prstGeom prst="rect">
              <a:avLst/>
            </a:prstGeom>
          </p:spPr>
          <p:txBody>
            <a:bodyPr anchor="ctr" rtlCol="false" tIns="0" lIns="0" bIns="0" rIns="0"/>
            <a:lstStyle/>
            <a:p>
              <a:pPr algn="l">
                <a:lnSpc>
                  <a:spcPts val="1320"/>
                </a:lnSpc>
              </a:pPr>
              <a:r>
                <a:rPr lang="en-US" sz="999" b="true">
                  <a:solidFill>
                    <a:srgbClr val="F2EFEB"/>
                  </a:solidFill>
                  <a:latin typeface="TT Commons Pro Bold"/>
                  <a:ea typeface="TT Commons Pro Bold"/>
                  <a:cs typeface="TT Commons Pro Bold"/>
                  <a:sym typeface="TT Commons Pro Bold"/>
                </a:rPr>
                <a:t>Swiggy Rating, Zomato Rating, Total Reviews, Average Rating</a:t>
              </a:r>
            </a:p>
          </p:txBody>
        </p:sp>
      </p:grpSp>
      <p:grpSp>
        <p:nvGrpSpPr>
          <p:cNvPr name="Group 239" id="239"/>
          <p:cNvGrpSpPr/>
          <p:nvPr/>
        </p:nvGrpSpPr>
        <p:grpSpPr>
          <a:xfrm rot="0">
            <a:off x="3303213" y="4780521"/>
            <a:ext cx="1385459" cy="234601"/>
            <a:chOff x="0" y="0"/>
            <a:chExt cx="1847279" cy="312801"/>
          </a:xfrm>
        </p:grpSpPr>
        <p:sp>
          <p:nvSpPr>
            <p:cNvPr name="Freeform 240" id="240"/>
            <p:cNvSpPr/>
            <p:nvPr/>
          </p:nvSpPr>
          <p:spPr>
            <a:xfrm flipH="false" flipV="false" rot="0">
              <a:off x="0" y="0"/>
              <a:ext cx="1847215" cy="312801"/>
            </a:xfrm>
            <a:custGeom>
              <a:avLst/>
              <a:gdLst/>
              <a:ahLst/>
              <a:cxnLst/>
              <a:rect r="r" b="b" t="t" l="l"/>
              <a:pathLst>
                <a:path h="312801" w="1847215">
                  <a:moveTo>
                    <a:pt x="0" y="0"/>
                  </a:moveTo>
                  <a:lnTo>
                    <a:pt x="1847215" y="0"/>
                  </a:lnTo>
                  <a:lnTo>
                    <a:pt x="1847215" y="312801"/>
                  </a:lnTo>
                  <a:lnTo>
                    <a:pt x="0" y="312801"/>
                  </a:lnTo>
                  <a:close/>
                </a:path>
              </a:pathLst>
            </a:custGeom>
            <a:blipFill>
              <a:blip r:embed="rId5">
                <a:alphaModFix amt="0"/>
              </a:blip>
              <a:stretch>
                <a:fillRect l="0" t="-64989" r="-3" b="-64989"/>
              </a:stretch>
            </a:blipFill>
          </p:spPr>
        </p:sp>
      </p:grpSp>
      <p:grpSp>
        <p:nvGrpSpPr>
          <p:cNvPr name="Group 241" id="241"/>
          <p:cNvGrpSpPr/>
          <p:nvPr/>
        </p:nvGrpSpPr>
        <p:grpSpPr>
          <a:xfrm rot="0">
            <a:off x="3303213" y="4794809"/>
            <a:ext cx="1385459" cy="220313"/>
            <a:chOff x="0" y="0"/>
            <a:chExt cx="1847279" cy="293751"/>
          </a:xfrm>
        </p:grpSpPr>
        <p:sp>
          <p:nvSpPr>
            <p:cNvPr name="Freeform 242" id="242"/>
            <p:cNvSpPr/>
            <p:nvPr/>
          </p:nvSpPr>
          <p:spPr>
            <a:xfrm flipH="false" flipV="false" rot="0">
              <a:off x="0" y="0"/>
              <a:ext cx="1847279" cy="293751"/>
            </a:xfrm>
            <a:custGeom>
              <a:avLst/>
              <a:gdLst/>
              <a:ahLst/>
              <a:cxnLst/>
              <a:rect r="r" b="b" t="t" l="l"/>
              <a:pathLst>
                <a:path h="293751" w="1847279">
                  <a:moveTo>
                    <a:pt x="0" y="0"/>
                  </a:moveTo>
                  <a:lnTo>
                    <a:pt x="1847279" y="0"/>
                  </a:lnTo>
                  <a:lnTo>
                    <a:pt x="1847279" y="293751"/>
                  </a:lnTo>
                  <a:lnTo>
                    <a:pt x="0" y="293751"/>
                  </a:lnTo>
                  <a:close/>
                </a:path>
              </a:pathLst>
            </a:custGeom>
            <a:blipFill>
              <a:blip r:embed="rId6">
                <a:alphaModFix amt="0"/>
              </a:blip>
              <a:stretch>
                <a:fillRect l="0" t="-72533" r="0" b="-72533"/>
              </a:stretch>
            </a:blipFill>
          </p:spPr>
        </p:sp>
        <p:sp>
          <p:nvSpPr>
            <p:cNvPr name="TextBox 243" id="243"/>
            <p:cNvSpPr txBox="true"/>
            <p:nvPr/>
          </p:nvSpPr>
          <p:spPr>
            <a:xfrm>
              <a:off x="0" y="19050"/>
              <a:ext cx="1847279" cy="274701"/>
            </a:xfrm>
            <a:prstGeom prst="rect">
              <a:avLst/>
            </a:prstGeom>
          </p:spPr>
          <p:txBody>
            <a:bodyPr anchor="ctr" rtlCol="false" tIns="0" lIns="0" bIns="0" rIns="0"/>
            <a:lstStyle/>
            <a:p>
              <a:pPr algn="l">
                <a:lnSpc>
                  <a:spcPts val="1079"/>
                </a:lnSpc>
              </a:pPr>
              <a:r>
                <a:rPr lang="en-US" sz="1100" b="true">
                  <a:solidFill>
                    <a:srgbClr val="F2EFEB"/>
                  </a:solidFill>
                  <a:latin typeface="TT Commons Pro Bold"/>
                  <a:ea typeface="TT Commons Pro Bold"/>
                  <a:cs typeface="TT Commons Pro Bold"/>
                  <a:sym typeface="TT Commons Pro Bold"/>
                </a:rPr>
                <a:t>Ratings &amp; Reviews</a:t>
              </a:r>
            </a:p>
          </p:txBody>
        </p:sp>
      </p:grpSp>
      <p:grpSp>
        <p:nvGrpSpPr>
          <p:cNvPr name="Group 244" id="244"/>
          <p:cNvGrpSpPr/>
          <p:nvPr/>
        </p:nvGrpSpPr>
        <p:grpSpPr>
          <a:xfrm rot="0">
            <a:off x="2778204" y="4870971"/>
            <a:ext cx="357283" cy="284416"/>
            <a:chOff x="0" y="0"/>
            <a:chExt cx="476377" cy="379222"/>
          </a:xfrm>
        </p:grpSpPr>
        <p:sp>
          <p:nvSpPr>
            <p:cNvPr name="Freeform 245" id="245" descr="preencoded.png"/>
            <p:cNvSpPr/>
            <p:nvPr/>
          </p:nvSpPr>
          <p:spPr>
            <a:xfrm flipH="false" flipV="false" rot="0">
              <a:off x="0" y="0"/>
              <a:ext cx="476377" cy="379222"/>
            </a:xfrm>
            <a:custGeom>
              <a:avLst/>
              <a:gdLst/>
              <a:ahLst/>
              <a:cxnLst/>
              <a:rect r="r" b="b" t="t" l="l"/>
              <a:pathLst>
                <a:path h="379222" w="476377">
                  <a:moveTo>
                    <a:pt x="0" y="0"/>
                  </a:moveTo>
                  <a:lnTo>
                    <a:pt x="476377" y="0"/>
                  </a:lnTo>
                  <a:lnTo>
                    <a:pt x="476377" y="379222"/>
                  </a:lnTo>
                  <a:lnTo>
                    <a:pt x="0" y="379222"/>
                  </a:lnTo>
                  <a:lnTo>
                    <a:pt x="0" y="0"/>
                  </a:lnTo>
                  <a:close/>
                </a:path>
              </a:pathLst>
            </a:custGeom>
            <a:blipFill>
              <a:blip r:embed="rId65"/>
              <a:stretch>
                <a:fillRect l="0" t="-33" r="0" b="-36"/>
              </a:stretch>
            </a:blipFill>
          </p:spPr>
        </p:sp>
      </p:grpSp>
      <p:grpSp>
        <p:nvGrpSpPr>
          <p:cNvPr name="Group 246" id="246"/>
          <p:cNvGrpSpPr/>
          <p:nvPr/>
        </p:nvGrpSpPr>
        <p:grpSpPr>
          <a:xfrm rot="0">
            <a:off x="2705281" y="4725133"/>
            <a:ext cx="4025074" cy="58293"/>
            <a:chOff x="0" y="0"/>
            <a:chExt cx="5366766" cy="77724"/>
          </a:xfrm>
        </p:grpSpPr>
        <p:sp>
          <p:nvSpPr>
            <p:cNvPr name="Freeform 247" id="247" descr="preencoded.png"/>
            <p:cNvSpPr/>
            <p:nvPr/>
          </p:nvSpPr>
          <p:spPr>
            <a:xfrm flipH="false" flipV="false" rot="0">
              <a:off x="0" y="0"/>
              <a:ext cx="5366766" cy="77724"/>
            </a:xfrm>
            <a:custGeom>
              <a:avLst/>
              <a:gdLst/>
              <a:ahLst/>
              <a:cxnLst/>
              <a:rect r="r" b="b" t="t" l="l"/>
              <a:pathLst>
                <a:path h="77724" w="5366766">
                  <a:moveTo>
                    <a:pt x="0" y="0"/>
                  </a:moveTo>
                  <a:lnTo>
                    <a:pt x="5366766" y="0"/>
                  </a:lnTo>
                  <a:lnTo>
                    <a:pt x="5366766" y="77724"/>
                  </a:lnTo>
                  <a:lnTo>
                    <a:pt x="0" y="77724"/>
                  </a:lnTo>
                  <a:lnTo>
                    <a:pt x="0" y="0"/>
                  </a:lnTo>
                  <a:close/>
                </a:path>
              </a:pathLst>
            </a:custGeom>
            <a:blipFill>
              <a:blip r:embed="rId66"/>
              <a:stretch>
                <a:fillRect l="0" t="-5571" r="0" b="-5571"/>
              </a:stretch>
            </a:blipFill>
          </p:spPr>
        </p:sp>
      </p:grpSp>
      <p:grpSp>
        <p:nvGrpSpPr>
          <p:cNvPr name="Group 248" id="248"/>
          <p:cNvGrpSpPr/>
          <p:nvPr/>
        </p:nvGrpSpPr>
        <p:grpSpPr>
          <a:xfrm rot="0">
            <a:off x="3303213" y="4491790"/>
            <a:ext cx="2304231" cy="211150"/>
            <a:chOff x="0" y="0"/>
            <a:chExt cx="3072308" cy="281534"/>
          </a:xfrm>
        </p:grpSpPr>
        <p:sp>
          <p:nvSpPr>
            <p:cNvPr name="Freeform 249" id="249"/>
            <p:cNvSpPr/>
            <p:nvPr/>
          </p:nvSpPr>
          <p:spPr>
            <a:xfrm flipH="false" flipV="false" rot="0">
              <a:off x="0" y="0"/>
              <a:ext cx="3072257" cy="281559"/>
            </a:xfrm>
            <a:custGeom>
              <a:avLst/>
              <a:gdLst/>
              <a:ahLst/>
              <a:cxnLst/>
              <a:rect r="r" b="b" t="t" l="l"/>
              <a:pathLst>
                <a:path h="281559" w="3072257">
                  <a:moveTo>
                    <a:pt x="0" y="0"/>
                  </a:moveTo>
                  <a:lnTo>
                    <a:pt x="3072257" y="0"/>
                  </a:lnTo>
                  <a:lnTo>
                    <a:pt x="3072257" y="281559"/>
                  </a:lnTo>
                  <a:lnTo>
                    <a:pt x="0" y="281559"/>
                  </a:lnTo>
                  <a:close/>
                </a:path>
              </a:pathLst>
            </a:custGeom>
            <a:blipFill>
              <a:blip r:embed="rId5">
                <a:alphaModFix amt="0"/>
              </a:blip>
              <a:stretch>
                <a:fillRect l="0" t="-162471" r="-1" b="-162462"/>
              </a:stretch>
            </a:blipFill>
          </p:spPr>
        </p:sp>
      </p:grpSp>
      <p:grpSp>
        <p:nvGrpSpPr>
          <p:cNvPr name="Group 250" id="250"/>
          <p:cNvGrpSpPr/>
          <p:nvPr/>
        </p:nvGrpSpPr>
        <p:grpSpPr>
          <a:xfrm rot="0">
            <a:off x="3303213" y="4484646"/>
            <a:ext cx="2304231" cy="218294"/>
            <a:chOff x="0" y="0"/>
            <a:chExt cx="3072308" cy="291059"/>
          </a:xfrm>
        </p:grpSpPr>
        <p:sp>
          <p:nvSpPr>
            <p:cNvPr name="Freeform 251" id="251"/>
            <p:cNvSpPr/>
            <p:nvPr/>
          </p:nvSpPr>
          <p:spPr>
            <a:xfrm flipH="false" flipV="false" rot="0">
              <a:off x="0" y="0"/>
              <a:ext cx="3072308" cy="291057"/>
            </a:xfrm>
            <a:custGeom>
              <a:avLst/>
              <a:gdLst/>
              <a:ahLst/>
              <a:cxnLst/>
              <a:rect r="r" b="b" t="t" l="l"/>
              <a:pathLst>
                <a:path h="291057" w="3072308">
                  <a:moveTo>
                    <a:pt x="0" y="0"/>
                  </a:moveTo>
                  <a:lnTo>
                    <a:pt x="3072308" y="0"/>
                  </a:lnTo>
                  <a:lnTo>
                    <a:pt x="3072308" y="291057"/>
                  </a:lnTo>
                  <a:lnTo>
                    <a:pt x="0" y="291057"/>
                  </a:lnTo>
                  <a:close/>
                </a:path>
              </a:pathLst>
            </a:custGeom>
            <a:blipFill>
              <a:blip r:embed="rId6">
                <a:alphaModFix amt="0"/>
              </a:blip>
              <a:stretch>
                <a:fillRect l="0" t="-155677" r="0" b="-155678"/>
              </a:stretch>
            </a:blipFill>
          </p:spPr>
        </p:sp>
        <p:sp>
          <p:nvSpPr>
            <p:cNvPr name="TextBox 252" id="252"/>
            <p:cNvSpPr txBox="true"/>
            <p:nvPr/>
          </p:nvSpPr>
          <p:spPr>
            <a:xfrm>
              <a:off x="0" y="-9525"/>
              <a:ext cx="3072308" cy="300584"/>
            </a:xfrm>
            <a:prstGeom prst="rect">
              <a:avLst/>
            </a:prstGeom>
          </p:spPr>
          <p:txBody>
            <a:bodyPr anchor="ctr" rtlCol="false" tIns="0" lIns="0" bIns="0" rIns="0"/>
            <a:lstStyle/>
            <a:p>
              <a:pPr algn="l">
                <a:lnSpc>
                  <a:spcPts val="1242"/>
                </a:lnSpc>
              </a:pPr>
              <a:r>
                <a:rPr lang="en-US" sz="999" b="true">
                  <a:solidFill>
                    <a:srgbClr val="F2EFEB"/>
                  </a:solidFill>
                  <a:latin typeface="TT Commons Pro Bold"/>
                  <a:ea typeface="TT Commons Pro Bold"/>
                  <a:cs typeface="TT Commons Pro Bold"/>
                  <a:sym typeface="TT Commons Pro Bold"/>
                </a:rPr>
                <a:t>Id, City, Locality, Type, Cuisines</a:t>
              </a:r>
            </a:p>
          </p:txBody>
        </p:sp>
      </p:grpSp>
      <p:grpSp>
        <p:nvGrpSpPr>
          <p:cNvPr name="Group 253" id="253"/>
          <p:cNvGrpSpPr/>
          <p:nvPr/>
        </p:nvGrpSpPr>
        <p:grpSpPr>
          <a:xfrm rot="0">
            <a:off x="3303213" y="4294908"/>
            <a:ext cx="1370876" cy="231934"/>
            <a:chOff x="0" y="0"/>
            <a:chExt cx="1827835" cy="309245"/>
          </a:xfrm>
        </p:grpSpPr>
        <p:sp>
          <p:nvSpPr>
            <p:cNvPr name="Freeform 254" id="254"/>
            <p:cNvSpPr/>
            <p:nvPr/>
          </p:nvSpPr>
          <p:spPr>
            <a:xfrm flipH="false" flipV="false" rot="0">
              <a:off x="0" y="0"/>
              <a:ext cx="1827784" cy="309245"/>
            </a:xfrm>
            <a:custGeom>
              <a:avLst/>
              <a:gdLst/>
              <a:ahLst/>
              <a:cxnLst/>
              <a:rect r="r" b="b" t="t" l="l"/>
              <a:pathLst>
                <a:path h="309245" w="1827784">
                  <a:moveTo>
                    <a:pt x="0" y="0"/>
                  </a:moveTo>
                  <a:lnTo>
                    <a:pt x="1827784" y="0"/>
                  </a:lnTo>
                  <a:lnTo>
                    <a:pt x="1827784" y="309245"/>
                  </a:lnTo>
                  <a:lnTo>
                    <a:pt x="0" y="309245"/>
                  </a:lnTo>
                  <a:close/>
                </a:path>
              </a:pathLst>
            </a:custGeom>
            <a:blipFill>
              <a:blip r:embed="rId5">
                <a:alphaModFix amt="0"/>
              </a:blip>
              <a:stretch>
                <a:fillRect l="0" t="-65088" r="-2" b="-65088"/>
              </a:stretch>
            </a:blipFill>
          </p:spPr>
        </p:sp>
      </p:grpSp>
      <p:grpSp>
        <p:nvGrpSpPr>
          <p:cNvPr name="Group 255" id="255"/>
          <p:cNvGrpSpPr/>
          <p:nvPr/>
        </p:nvGrpSpPr>
        <p:grpSpPr>
          <a:xfrm rot="0">
            <a:off x="3303213" y="4323483"/>
            <a:ext cx="1370867" cy="203359"/>
            <a:chOff x="0" y="0"/>
            <a:chExt cx="1827822" cy="271145"/>
          </a:xfrm>
        </p:grpSpPr>
        <p:sp>
          <p:nvSpPr>
            <p:cNvPr name="Freeform 256" id="256"/>
            <p:cNvSpPr/>
            <p:nvPr/>
          </p:nvSpPr>
          <p:spPr>
            <a:xfrm flipH="false" flipV="false" rot="0">
              <a:off x="0" y="0"/>
              <a:ext cx="1827823" cy="271148"/>
            </a:xfrm>
            <a:custGeom>
              <a:avLst/>
              <a:gdLst/>
              <a:ahLst/>
              <a:cxnLst/>
              <a:rect r="r" b="b" t="t" l="l"/>
              <a:pathLst>
                <a:path h="271148" w="1827823">
                  <a:moveTo>
                    <a:pt x="0" y="0"/>
                  </a:moveTo>
                  <a:lnTo>
                    <a:pt x="1827823" y="0"/>
                  </a:lnTo>
                  <a:lnTo>
                    <a:pt x="1827823" y="271148"/>
                  </a:lnTo>
                  <a:lnTo>
                    <a:pt x="0" y="271148"/>
                  </a:lnTo>
                  <a:close/>
                </a:path>
              </a:pathLst>
            </a:custGeom>
            <a:blipFill>
              <a:blip r:embed="rId6">
                <a:alphaModFix amt="0"/>
              </a:blip>
              <a:stretch>
                <a:fillRect l="0" t="-81350" r="0" b="-81348"/>
              </a:stretch>
            </a:blipFill>
          </p:spPr>
        </p:sp>
        <p:sp>
          <p:nvSpPr>
            <p:cNvPr name="TextBox 257" id="257"/>
            <p:cNvSpPr txBox="true"/>
            <p:nvPr/>
          </p:nvSpPr>
          <p:spPr>
            <a:xfrm>
              <a:off x="0" y="38100"/>
              <a:ext cx="1827822" cy="233045"/>
            </a:xfrm>
            <a:prstGeom prst="rect">
              <a:avLst/>
            </a:prstGeom>
          </p:spPr>
          <p:txBody>
            <a:bodyPr anchor="ctr" rtlCol="false" tIns="0" lIns="0" bIns="0" rIns="0"/>
            <a:lstStyle/>
            <a:p>
              <a:pPr algn="l">
                <a:lnSpc>
                  <a:spcPts val="875"/>
                </a:lnSpc>
              </a:pPr>
              <a:r>
                <a:rPr lang="en-US" sz="1100" b="true">
                  <a:solidFill>
                    <a:srgbClr val="F2EFEB"/>
                  </a:solidFill>
                  <a:latin typeface="TT Commons Pro Bold"/>
                  <a:ea typeface="TT Commons Pro Bold"/>
                  <a:cs typeface="TT Commons Pro Bold"/>
                  <a:sym typeface="TT Commons Pro Bold"/>
                </a:rPr>
                <a:t>Restaurant Details</a:t>
              </a:r>
            </a:p>
          </p:txBody>
        </p:sp>
      </p:grpSp>
      <p:grpSp>
        <p:nvGrpSpPr>
          <p:cNvPr name="Group 258" id="258"/>
          <p:cNvGrpSpPr/>
          <p:nvPr/>
        </p:nvGrpSpPr>
        <p:grpSpPr>
          <a:xfrm rot="0">
            <a:off x="2807370" y="4324074"/>
            <a:ext cx="298990" cy="298990"/>
            <a:chOff x="0" y="0"/>
            <a:chExt cx="398653" cy="398653"/>
          </a:xfrm>
        </p:grpSpPr>
        <p:sp>
          <p:nvSpPr>
            <p:cNvPr name="Freeform 259" id="259" descr="preencoded.png"/>
            <p:cNvSpPr/>
            <p:nvPr/>
          </p:nvSpPr>
          <p:spPr>
            <a:xfrm flipH="false" flipV="false" rot="0">
              <a:off x="0" y="0"/>
              <a:ext cx="398653" cy="398653"/>
            </a:xfrm>
            <a:custGeom>
              <a:avLst/>
              <a:gdLst/>
              <a:ahLst/>
              <a:cxnLst/>
              <a:rect r="r" b="b" t="t" l="l"/>
              <a:pathLst>
                <a:path h="398653" w="398653">
                  <a:moveTo>
                    <a:pt x="0" y="0"/>
                  </a:moveTo>
                  <a:lnTo>
                    <a:pt x="398653" y="0"/>
                  </a:lnTo>
                  <a:lnTo>
                    <a:pt x="398653" y="398653"/>
                  </a:lnTo>
                  <a:lnTo>
                    <a:pt x="0" y="398653"/>
                  </a:lnTo>
                  <a:lnTo>
                    <a:pt x="0" y="0"/>
                  </a:lnTo>
                  <a:close/>
                </a:path>
              </a:pathLst>
            </a:custGeom>
            <a:blipFill>
              <a:blip r:embed="rId67"/>
              <a:stretch>
                <a:fillRect l="0" t="0" r="0" b="0"/>
              </a:stretch>
            </a:blipFill>
          </p:spPr>
        </p:sp>
      </p:grpSp>
      <p:grpSp>
        <p:nvGrpSpPr>
          <p:cNvPr name="Group 260" id="260"/>
          <p:cNvGrpSpPr/>
          <p:nvPr/>
        </p:nvGrpSpPr>
        <p:grpSpPr>
          <a:xfrm rot="0">
            <a:off x="2712577" y="4170950"/>
            <a:ext cx="4003262" cy="51054"/>
            <a:chOff x="0" y="0"/>
            <a:chExt cx="5337683" cy="68072"/>
          </a:xfrm>
        </p:grpSpPr>
        <p:sp>
          <p:nvSpPr>
            <p:cNvPr name="Freeform 261" id="261" descr="preencoded.png"/>
            <p:cNvSpPr/>
            <p:nvPr/>
          </p:nvSpPr>
          <p:spPr>
            <a:xfrm flipH="false" flipV="false" rot="0">
              <a:off x="0" y="0"/>
              <a:ext cx="5337683" cy="68072"/>
            </a:xfrm>
            <a:custGeom>
              <a:avLst/>
              <a:gdLst/>
              <a:ahLst/>
              <a:cxnLst/>
              <a:rect r="r" b="b" t="t" l="l"/>
              <a:pathLst>
                <a:path h="68072" w="5337683">
                  <a:moveTo>
                    <a:pt x="0" y="0"/>
                  </a:moveTo>
                  <a:lnTo>
                    <a:pt x="5337683" y="0"/>
                  </a:lnTo>
                  <a:lnTo>
                    <a:pt x="5337683" y="68072"/>
                  </a:lnTo>
                  <a:lnTo>
                    <a:pt x="0" y="68072"/>
                  </a:lnTo>
                  <a:lnTo>
                    <a:pt x="0" y="0"/>
                  </a:lnTo>
                  <a:close/>
                </a:path>
              </a:pathLst>
            </a:custGeom>
            <a:blipFill>
              <a:blip r:embed="rId68"/>
              <a:stretch>
                <a:fillRect l="0" t="-5447" r="0" b="-5429"/>
              </a:stretch>
            </a:blipFill>
          </p:spPr>
        </p:sp>
      </p:grpSp>
      <p:grpSp>
        <p:nvGrpSpPr>
          <p:cNvPr name="Group 262" id="262"/>
          <p:cNvGrpSpPr/>
          <p:nvPr/>
        </p:nvGrpSpPr>
        <p:grpSpPr>
          <a:xfrm rot="0">
            <a:off x="2821953" y="3740725"/>
            <a:ext cx="320802" cy="350044"/>
            <a:chOff x="0" y="0"/>
            <a:chExt cx="427736" cy="466725"/>
          </a:xfrm>
        </p:grpSpPr>
        <p:sp>
          <p:nvSpPr>
            <p:cNvPr name="Freeform 263" id="263" descr="preencoded.png"/>
            <p:cNvSpPr/>
            <p:nvPr/>
          </p:nvSpPr>
          <p:spPr>
            <a:xfrm flipH="false" flipV="false" rot="0">
              <a:off x="0" y="0"/>
              <a:ext cx="427736" cy="466725"/>
            </a:xfrm>
            <a:custGeom>
              <a:avLst/>
              <a:gdLst/>
              <a:ahLst/>
              <a:cxnLst/>
              <a:rect r="r" b="b" t="t" l="l"/>
              <a:pathLst>
                <a:path h="466725" w="427736">
                  <a:moveTo>
                    <a:pt x="0" y="0"/>
                  </a:moveTo>
                  <a:lnTo>
                    <a:pt x="427736" y="0"/>
                  </a:lnTo>
                  <a:lnTo>
                    <a:pt x="427736" y="466725"/>
                  </a:lnTo>
                  <a:lnTo>
                    <a:pt x="0" y="466725"/>
                  </a:lnTo>
                  <a:lnTo>
                    <a:pt x="0" y="0"/>
                  </a:lnTo>
                  <a:close/>
                </a:path>
              </a:pathLst>
            </a:custGeom>
            <a:blipFill>
              <a:blip r:embed="rId69"/>
              <a:stretch>
                <a:fillRect l="0" t="-228" r="0" b="-228"/>
              </a:stretch>
            </a:blipFill>
          </p:spPr>
        </p:sp>
      </p:grpSp>
      <p:grpSp>
        <p:nvGrpSpPr>
          <p:cNvPr name="Group 264" id="264"/>
          <p:cNvGrpSpPr/>
          <p:nvPr/>
        </p:nvGrpSpPr>
        <p:grpSpPr>
          <a:xfrm rot="0">
            <a:off x="3288630" y="7773133"/>
            <a:ext cx="3463633" cy="397183"/>
            <a:chOff x="0" y="0"/>
            <a:chExt cx="4618177" cy="529577"/>
          </a:xfrm>
        </p:grpSpPr>
        <p:sp>
          <p:nvSpPr>
            <p:cNvPr name="Freeform 265" id="265"/>
            <p:cNvSpPr/>
            <p:nvPr/>
          </p:nvSpPr>
          <p:spPr>
            <a:xfrm flipH="false" flipV="false" rot="0">
              <a:off x="0" y="0"/>
              <a:ext cx="4618228" cy="529590"/>
            </a:xfrm>
            <a:custGeom>
              <a:avLst/>
              <a:gdLst/>
              <a:ahLst/>
              <a:cxnLst/>
              <a:rect r="r" b="b" t="t" l="l"/>
              <a:pathLst>
                <a:path h="529590" w="4618228">
                  <a:moveTo>
                    <a:pt x="0" y="0"/>
                  </a:moveTo>
                  <a:lnTo>
                    <a:pt x="4618228" y="0"/>
                  </a:lnTo>
                  <a:lnTo>
                    <a:pt x="4618228" y="529590"/>
                  </a:lnTo>
                  <a:lnTo>
                    <a:pt x="0" y="529590"/>
                  </a:lnTo>
                  <a:close/>
                </a:path>
              </a:pathLst>
            </a:custGeom>
            <a:blipFill>
              <a:blip r:embed="rId5">
                <a:alphaModFix amt="0"/>
              </a:blip>
              <a:stretch>
                <a:fillRect l="0" t="-119798" r="1" b="-119796"/>
              </a:stretch>
            </a:blipFill>
          </p:spPr>
        </p:sp>
      </p:grpSp>
      <p:grpSp>
        <p:nvGrpSpPr>
          <p:cNvPr name="Group 266" id="266"/>
          <p:cNvGrpSpPr/>
          <p:nvPr/>
        </p:nvGrpSpPr>
        <p:grpSpPr>
          <a:xfrm rot="0">
            <a:off x="3288630" y="7751702"/>
            <a:ext cx="3463633" cy="418614"/>
            <a:chOff x="0" y="0"/>
            <a:chExt cx="4618177" cy="558152"/>
          </a:xfrm>
        </p:grpSpPr>
        <p:sp>
          <p:nvSpPr>
            <p:cNvPr name="Freeform 267" id="267"/>
            <p:cNvSpPr/>
            <p:nvPr/>
          </p:nvSpPr>
          <p:spPr>
            <a:xfrm flipH="false" flipV="false" rot="0">
              <a:off x="0" y="0"/>
              <a:ext cx="4618177" cy="558152"/>
            </a:xfrm>
            <a:custGeom>
              <a:avLst/>
              <a:gdLst/>
              <a:ahLst/>
              <a:cxnLst/>
              <a:rect r="r" b="b" t="t" l="l"/>
              <a:pathLst>
                <a:path h="558152" w="4618177">
                  <a:moveTo>
                    <a:pt x="0" y="0"/>
                  </a:moveTo>
                  <a:lnTo>
                    <a:pt x="4618177" y="0"/>
                  </a:lnTo>
                  <a:lnTo>
                    <a:pt x="4618177" y="558152"/>
                  </a:lnTo>
                  <a:lnTo>
                    <a:pt x="0" y="558152"/>
                  </a:lnTo>
                  <a:close/>
                </a:path>
              </a:pathLst>
            </a:custGeom>
            <a:blipFill>
              <a:blip r:embed="rId6">
                <a:alphaModFix amt="0"/>
              </a:blip>
              <a:stretch>
                <a:fillRect l="0" t="-111220" r="0" b="-111220"/>
              </a:stretch>
            </a:blipFill>
          </p:spPr>
        </p:sp>
        <p:sp>
          <p:nvSpPr>
            <p:cNvPr name="TextBox 268" id="268"/>
            <p:cNvSpPr txBox="true"/>
            <p:nvPr/>
          </p:nvSpPr>
          <p:spPr>
            <a:xfrm>
              <a:off x="0" y="-28575"/>
              <a:ext cx="4618177" cy="586727"/>
            </a:xfrm>
            <a:prstGeom prst="rect">
              <a:avLst/>
            </a:prstGeom>
          </p:spPr>
          <p:txBody>
            <a:bodyPr anchor="ctr" rtlCol="false" tIns="0" lIns="0" bIns="0" rIns="0"/>
            <a:lstStyle/>
            <a:p>
              <a:pPr algn="l">
                <a:lnSpc>
                  <a:spcPts val="1428"/>
                </a:lnSpc>
              </a:pPr>
              <a:r>
                <a:rPr lang="en-US" sz="999" b="true">
                  <a:solidFill>
                    <a:srgbClr val="F2EFEB"/>
                  </a:solidFill>
                  <a:latin typeface="TT Commons Pro Bold"/>
                  <a:ea typeface="TT Commons Pro Bold"/>
                  <a:cs typeface="TT Commons Pro Bold"/>
                  <a:sym typeface="TT Commons Pro Bold"/>
                </a:rPr>
                <a:t>Amenities, Own Website, Own App, Food License Verified etc.</a:t>
              </a:r>
            </a:p>
          </p:txBody>
        </p:sp>
      </p:grpSp>
      <p:grpSp>
        <p:nvGrpSpPr>
          <p:cNvPr name="Group 269" id="269"/>
          <p:cNvGrpSpPr/>
          <p:nvPr/>
        </p:nvGrpSpPr>
        <p:grpSpPr>
          <a:xfrm rot="0">
            <a:off x="3303213" y="7568956"/>
            <a:ext cx="1363580" cy="231391"/>
            <a:chOff x="0" y="0"/>
            <a:chExt cx="1818107" cy="308521"/>
          </a:xfrm>
        </p:grpSpPr>
        <p:sp>
          <p:nvSpPr>
            <p:cNvPr name="Freeform 270" id="270"/>
            <p:cNvSpPr/>
            <p:nvPr/>
          </p:nvSpPr>
          <p:spPr>
            <a:xfrm flipH="false" flipV="false" rot="0">
              <a:off x="0" y="0"/>
              <a:ext cx="1818132" cy="308483"/>
            </a:xfrm>
            <a:custGeom>
              <a:avLst/>
              <a:gdLst/>
              <a:ahLst/>
              <a:cxnLst/>
              <a:rect r="r" b="b" t="t" l="l"/>
              <a:pathLst>
                <a:path h="308483" w="1818132">
                  <a:moveTo>
                    <a:pt x="0" y="0"/>
                  </a:moveTo>
                  <a:lnTo>
                    <a:pt x="1818132" y="0"/>
                  </a:lnTo>
                  <a:lnTo>
                    <a:pt x="1818132" y="308483"/>
                  </a:lnTo>
                  <a:lnTo>
                    <a:pt x="0" y="308483"/>
                  </a:lnTo>
                  <a:close/>
                </a:path>
              </a:pathLst>
            </a:custGeom>
            <a:blipFill>
              <a:blip r:embed="rId5">
                <a:alphaModFix amt="0"/>
              </a:blip>
              <a:stretch>
                <a:fillRect l="0" t="-64755" r="1" b="-64763"/>
              </a:stretch>
            </a:blipFill>
          </p:spPr>
        </p:sp>
      </p:grpSp>
      <p:grpSp>
        <p:nvGrpSpPr>
          <p:cNvPr name="Group 271" id="271"/>
          <p:cNvGrpSpPr/>
          <p:nvPr/>
        </p:nvGrpSpPr>
        <p:grpSpPr>
          <a:xfrm rot="0">
            <a:off x="3303213" y="7590387"/>
            <a:ext cx="1363580" cy="209960"/>
            <a:chOff x="0" y="0"/>
            <a:chExt cx="1818107" cy="279946"/>
          </a:xfrm>
        </p:grpSpPr>
        <p:sp>
          <p:nvSpPr>
            <p:cNvPr name="Freeform 272" id="272"/>
            <p:cNvSpPr/>
            <p:nvPr/>
          </p:nvSpPr>
          <p:spPr>
            <a:xfrm flipH="false" flipV="false" rot="0">
              <a:off x="0" y="0"/>
              <a:ext cx="1818107" cy="279946"/>
            </a:xfrm>
            <a:custGeom>
              <a:avLst/>
              <a:gdLst/>
              <a:ahLst/>
              <a:cxnLst/>
              <a:rect r="r" b="b" t="t" l="l"/>
              <a:pathLst>
                <a:path h="279946" w="1818107">
                  <a:moveTo>
                    <a:pt x="0" y="0"/>
                  </a:moveTo>
                  <a:lnTo>
                    <a:pt x="1818107" y="0"/>
                  </a:lnTo>
                  <a:lnTo>
                    <a:pt x="1818107" y="279946"/>
                  </a:lnTo>
                  <a:lnTo>
                    <a:pt x="0" y="279946"/>
                  </a:lnTo>
                  <a:close/>
                </a:path>
              </a:pathLst>
            </a:custGeom>
            <a:blipFill>
              <a:blip r:embed="rId6">
                <a:alphaModFix amt="0"/>
              </a:blip>
              <a:stretch>
                <a:fillRect l="0" t="-76545" r="0" b="-76545"/>
              </a:stretch>
            </a:blipFill>
          </p:spPr>
        </p:sp>
        <p:sp>
          <p:nvSpPr>
            <p:cNvPr name="TextBox 273" id="273"/>
            <p:cNvSpPr txBox="true"/>
            <p:nvPr/>
          </p:nvSpPr>
          <p:spPr>
            <a:xfrm>
              <a:off x="0" y="28575"/>
              <a:ext cx="1818107" cy="251371"/>
            </a:xfrm>
            <a:prstGeom prst="rect">
              <a:avLst/>
            </a:prstGeom>
          </p:spPr>
          <p:txBody>
            <a:bodyPr anchor="ctr" rtlCol="false" tIns="0" lIns="0" bIns="0" rIns="0"/>
            <a:lstStyle/>
            <a:p>
              <a:pPr algn="l">
                <a:lnSpc>
                  <a:spcPts val="954"/>
                </a:lnSpc>
              </a:pPr>
              <a:r>
                <a:rPr lang="en-US" sz="1100" b="true">
                  <a:solidFill>
                    <a:srgbClr val="F2EFEB"/>
                  </a:solidFill>
                  <a:latin typeface="TT Commons Pro Bold"/>
                  <a:ea typeface="TT Commons Pro Bold"/>
                  <a:cs typeface="TT Commons Pro Bold"/>
                  <a:sym typeface="TT Commons Pro Bold"/>
                </a:rPr>
                <a:t>Platform Features</a:t>
              </a:r>
            </a:p>
          </p:txBody>
        </p:sp>
      </p:grpSp>
      <p:grpSp>
        <p:nvGrpSpPr>
          <p:cNvPr name="Group 274" id="274"/>
          <p:cNvGrpSpPr/>
          <p:nvPr/>
        </p:nvGrpSpPr>
        <p:grpSpPr>
          <a:xfrm rot="0">
            <a:off x="3303213" y="7211654"/>
            <a:ext cx="3543843" cy="386382"/>
            <a:chOff x="0" y="0"/>
            <a:chExt cx="4725124" cy="515176"/>
          </a:xfrm>
        </p:grpSpPr>
        <p:sp>
          <p:nvSpPr>
            <p:cNvPr name="Freeform 275" id="275"/>
            <p:cNvSpPr/>
            <p:nvPr/>
          </p:nvSpPr>
          <p:spPr>
            <a:xfrm flipH="false" flipV="false" rot="0">
              <a:off x="0" y="0"/>
              <a:ext cx="4725162" cy="515239"/>
            </a:xfrm>
            <a:custGeom>
              <a:avLst/>
              <a:gdLst/>
              <a:ahLst/>
              <a:cxnLst/>
              <a:rect r="r" b="b" t="t" l="l"/>
              <a:pathLst>
                <a:path h="515239" w="4725162">
                  <a:moveTo>
                    <a:pt x="0" y="0"/>
                  </a:moveTo>
                  <a:lnTo>
                    <a:pt x="4725162" y="0"/>
                  </a:lnTo>
                  <a:lnTo>
                    <a:pt x="4725162" y="515239"/>
                  </a:lnTo>
                  <a:lnTo>
                    <a:pt x="0" y="515239"/>
                  </a:lnTo>
                  <a:close/>
                </a:path>
              </a:pathLst>
            </a:custGeom>
            <a:blipFill>
              <a:blip r:embed="rId5">
                <a:alphaModFix amt="0"/>
              </a:blip>
              <a:stretch>
                <a:fillRect l="0" t="-128575" r="0" b="-128560"/>
              </a:stretch>
            </a:blipFill>
          </p:spPr>
        </p:sp>
      </p:grpSp>
      <p:grpSp>
        <p:nvGrpSpPr>
          <p:cNvPr name="Group 276" id="276"/>
          <p:cNvGrpSpPr/>
          <p:nvPr/>
        </p:nvGrpSpPr>
        <p:grpSpPr>
          <a:xfrm rot="0">
            <a:off x="3303213" y="7197366"/>
            <a:ext cx="3543843" cy="400669"/>
            <a:chOff x="0" y="0"/>
            <a:chExt cx="4725124" cy="534226"/>
          </a:xfrm>
        </p:grpSpPr>
        <p:sp>
          <p:nvSpPr>
            <p:cNvPr name="Freeform 277" id="277"/>
            <p:cNvSpPr/>
            <p:nvPr/>
          </p:nvSpPr>
          <p:spPr>
            <a:xfrm flipH="false" flipV="false" rot="0">
              <a:off x="0" y="0"/>
              <a:ext cx="4725124" cy="534223"/>
            </a:xfrm>
            <a:custGeom>
              <a:avLst/>
              <a:gdLst/>
              <a:ahLst/>
              <a:cxnLst/>
              <a:rect r="r" b="b" t="t" l="l"/>
              <a:pathLst>
                <a:path h="534223" w="4725124">
                  <a:moveTo>
                    <a:pt x="0" y="0"/>
                  </a:moveTo>
                  <a:lnTo>
                    <a:pt x="4725124" y="0"/>
                  </a:lnTo>
                  <a:lnTo>
                    <a:pt x="4725124" y="534223"/>
                  </a:lnTo>
                  <a:lnTo>
                    <a:pt x="0" y="534223"/>
                  </a:lnTo>
                  <a:close/>
                </a:path>
              </a:pathLst>
            </a:custGeom>
            <a:blipFill>
              <a:blip r:embed="rId6">
                <a:alphaModFix amt="0"/>
              </a:blip>
              <a:stretch>
                <a:fillRect l="0" t="-122341" r="0" b="-122342"/>
              </a:stretch>
            </a:blipFill>
          </p:spPr>
        </p:sp>
        <p:sp>
          <p:nvSpPr>
            <p:cNvPr name="TextBox 278" id="278"/>
            <p:cNvSpPr txBox="true"/>
            <p:nvPr/>
          </p:nvSpPr>
          <p:spPr>
            <a:xfrm>
              <a:off x="0" y="-19050"/>
              <a:ext cx="4725124" cy="553276"/>
            </a:xfrm>
            <a:prstGeom prst="rect">
              <a:avLst/>
            </a:prstGeom>
          </p:spPr>
          <p:txBody>
            <a:bodyPr anchor="ctr" rtlCol="false" tIns="0" lIns="0" bIns="0" rIns="0"/>
            <a:lstStyle/>
            <a:p>
              <a:pPr algn="l">
                <a:lnSpc>
                  <a:spcPts val="1363"/>
                </a:lnSpc>
              </a:pPr>
              <a:r>
                <a:rPr lang="en-US" sz="999" b="true">
                  <a:solidFill>
                    <a:srgbClr val="F2EFEB"/>
                  </a:solidFill>
                  <a:latin typeface="TT Commons Pro Bold"/>
                  <a:ea typeface="TT Commons Pro Bold"/>
                  <a:cs typeface="TT Commons Pro Bold"/>
                  <a:sym typeface="TT Commons Pro Bold"/>
                </a:rPr>
                <a:t>Monthly Orders, Revenue, Net Profit, Commission, Market Share</a:t>
              </a:r>
            </a:p>
          </p:txBody>
        </p:sp>
      </p:grpSp>
      <p:grpSp>
        <p:nvGrpSpPr>
          <p:cNvPr name="Group 279" id="279"/>
          <p:cNvGrpSpPr/>
          <p:nvPr/>
        </p:nvGrpSpPr>
        <p:grpSpPr>
          <a:xfrm rot="0">
            <a:off x="3303213" y="7007485"/>
            <a:ext cx="2136515" cy="229076"/>
            <a:chOff x="0" y="0"/>
            <a:chExt cx="2848686" cy="305435"/>
          </a:xfrm>
        </p:grpSpPr>
        <p:sp>
          <p:nvSpPr>
            <p:cNvPr name="Freeform 280" id="280"/>
            <p:cNvSpPr/>
            <p:nvPr/>
          </p:nvSpPr>
          <p:spPr>
            <a:xfrm flipH="false" flipV="false" rot="0">
              <a:off x="0" y="0"/>
              <a:ext cx="2848737" cy="305435"/>
            </a:xfrm>
            <a:custGeom>
              <a:avLst/>
              <a:gdLst/>
              <a:ahLst/>
              <a:cxnLst/>
              <a:rect r="r" b="b" t="t" l="l"/>
              <a:pathLst>
                <a:path h="305435" w="2848737">
                  <a:moveTo>
                    <a:pt x="0" y="0"/>
                  </a:moveTo>
                  <a:lnTo>
                    <a:pt x="2848737" y="0"/>
                  </a:lnTo>
                  <a:lnTo>
                    <a:pt x="2848737" y="305435"/>
                  </a:lnTo>
                  <a:lnTo>
                    <a:pt x="0" y="305435"/>
                  </a:lnTo>
                  <a:close/>
                </a:path>
              </a:pathLst>
            </a:custGeom>
            <a:blipFill>
              <a:blip r:embed="rId5">
                <a:alphaModFix amt="0"/>
              </a:blip>
              <a:stretch>
                <a:fillRect l="0" t="-131604" r="1" b="-131604"/>
              </a:stretch>
            </a:blipFill>
          </p:spPr>
        </p:sp>
      </p:grpSp>
      <p:grpSp>
        <p:nvGrpSpPr>
          <p:cNvPr name="Group 281" id="281"/>
          <p:cNvGrpSpPr/>
          <p:nvPr/>
        </p:nvGrpSpPr>
        <p:grpSpPr>
          <a:xfrm rot="0">
            <a:off x="3303213" y="7021773"/>
            <a:ext cx="2136515" cy="214789"/>
            <a:chOff x="0" y="0"/>
            <a:chExt cx="2848686" cy="286385"/>
          </a:xfrm>
        </p:grpSpPr>
        <p:sp>
          <p:nvSpPr>
            <p:cNvPr name="Freeform 282" id="282"/>
            <p:cNvSpPr/>
            <p:nvPr/>
          </p:nvSpPr>
          <p:spPr>
            <a:xfrm flipH="false" flipV="false" rot="0">
              <a:off x="0" y="0"/>
              <a:ext cx="2848687" cy="286385"/>
            </a:xfrm>
            <a:custGeom>
              <a:avLst/>
              <a:gdLst/>
              <a:ahLst/>
              <a:cxnLst/>
              <a:rect r="r" b="b" t="t" l="l"/>
              <a:pathLst>
                <a:path h="286385" w="2848687">
                  <a:moveTo>
                    <a:pt x="0" y="0"/>
                  </a:moveTo>
                  <a:lnTo>
                    <a:pt x="2848687" y="0"/>
                  </a:lnTo>
                  <a:lnTo>
                    <a:pt x="2848687" y="286385"/>
                  </a:lnTo>
                  <a:lnTo>
                    <a:pt x="0" y="286385"/>
                  </a:lnTo>
                  <a:close/>
                </a:path>
              </a:pathLst>
            </a:custGeom>
            <a:blipFill>
              <a:blip r:embed="rId6">
                <a:alphaModFix amt="0"/>
              </a:blip>
              <a:stretch>
                <a:fillRect l="0" t="-143818" r="0" b="-143818"/>
              </a:stretch>
            </a:blipFill>
          </p:spPr>
        </p:sp>
        <p:sp>
          <p:nvSpPr>
            <p:cNvPr name="TextBox 283" id="283"/>
            <p:cNvSpPr txBox="true"/>
            <p:nvPr/>
          </p:nvSpPr>
          <p:spPr>
            <a:xfrm>
              <a:off x="0" y="19050"/>
              <a:ext cx="2848686" cy="267335"/>
            </a:xfrm>
            <a:prstGeom prst="rect">
              <a:avLst/>
            </a:prstGeom>
          </p:spPr>
          <p:txBody>
            <a:bodyPr anchor="ctr" rtlCol="false" tIns="0" lIns="0" bIns="0" rIns="0"/>
            <a:lstStyle/>
            <a:p>
              <a:pPr algn="l">
                <a:lnSpc>
                  <a:spcPts val="1047"/>
                </a:lnSpc>
              </a:pPr>
              <a:r>
                <a:rPr lang="en-US" sz="1100" b="true">
                  <a:solidFill>
                    <a:srgbClr val="F2EFEB"/>
                  </a:solidFill>
                  <a:latin typeface="TT Commons Pro Bold"/>
                  <a:ea typeface="TT Commons Pro Bold"/>
                  <a:cs typeface="TT Commons Pro Bold"/>
                  <a:sym typeface="TT Commons Pro Bold"/>
                </a:rPr>
                <a:t>Business &amp; Financial Metrics</a:t>
              </a:r>
            </a:p>
          </p:txBody>
        </p:sp>
      </p:grpSp>
      <p:grpSp>
        <p:nvGrpSpPr>
          <p:cNvPr name="Group 284" id="284"/>
          <p:cNvGrpSpPr/>
          <p:nvPr/>
        </p:nvGrpSpPr>
        <p:grpSpPr>
          <a:xfrm rot="0">
            <a:off x="3288630" y="6657470"/>
            <a:ext cx="2697994" cy="209121"/>
            <a:chOff x="0" y="0"/>
            <a:chExt cx="3597326" cy="278828"/>
          </a:xfrm>
        </p:grpSpPr>
        <p:sp>
          <p:nvSpPr>
            <p:cNvPr name="Freeform 285" id="285"/>
            <p:cNvSpPr/>
            <p:nvPr/>
          </p:nvSpPr>
          <p:spPr>
            <a:xfrm flipH="false" flipV="false" rot="0">
              <a:off x="0" y="0"/>
              <a:ext cx="3597275" cy="278892"/>
            </a:xfrm>
            <a:custGeom>
              <a:avLst/>
              <a:gdLst/>
              <a:ahLst/>
              <a:cxnLst/>
              <a:rect r="r" b="b" t="t" l="l"/>
              <a:pathLst>
                <a:path h="278892" w="3597275">
                  <a:moveTo>
                    <a:pt x="0" y="0"/>
                  </a:moveTo>
                  <a:lnTo>
                    <a:pt x="3597275" y="0"/>
                  </a:lnTo>
                  <a:lnTo>
                    <a:pt x="3597275" y="278892"/>
                  </a:lnTo>
                  <a:lnTo>
                    <a:pt x="0" y="278892"/>
                  </a:lnTo>
                  <a:close/>
                </a:path>
              </a:pathLst>
            </a:custGeom>
            <a:blipFill>
              <a:blip r:embed="rId5">
                <a:alphaModFix amt="0"/>
              </a:blip>
              <a:stretch>
                <a:fillRect l="0" t="-201165" r="-1" b="-201142"/>
              </a:stretch>
            </a:blipFill>
          </p:spPr>
        </p:sp>
      </p:grpSp>
      <p:grpSp>
        <p:nvGrpSpPr>
          <p:cNvPr name="Group 286" id="286"/>
          <p:cNvGrpSpPr/>
          <p:nvPr/>
        </p:nvGrpSpPr>
        <p:grpSpPr>
          <a:xfrm rot="0">
            <a:off x="3288630" y="6664614"/>
            <a:ext cx="2697994" cy="201978"/>
            <a:chOff x="0" y="0"/>
            <a:chExt cx="3597326" cy="269304"/>
          </a:xfrm>
        </p:grpSpPr>
        <p:sp>
          <p:nvSpPr>
            <p:cNvPr name="Freeform 287" id="287"/>
            <p:cNvSpPr/>
            <p:nvPr/>
          </p:nvSpPr>
          <p:spPr>
            <a:xfrm flipH="false" flipV="false" rot="0">
              <a:off x="0" y="0"/>
              <a:ext cx="3597325" cy="269304"/>
            </a:xfrm>
            <a:custGeom>
              <a:avLst/>
              <a:gdLst/>
              <a:ahLst/>
              <a:cxnLst/>
              <a:rect r="r" b="b" t="t" l="l"/>
              <a:pathLst>
                <a:path h="269304" w="3597325">
                  <a:moveTo>
                    <a:pt x="0" y="0"/>
                  </a:moveTo>
                  <a:lnTo>
                    <a:pt x="3597325" y="0"/>
                  </a:lnTo>
                  <a:lnTo>
                    <a:pt x="3597325" y="269304"/>
                  </a:lnTo>
                  <a:lnTo>
                    <a:pt x="0" y="269304"/>
                  </a:lnTo>
                  <a:close/>
                </a:path>
              </a:pathLst>
            </a:custGeom>
            <a:blipFill>
              <a:blip r:embed="rId6">
                <a:alphaModFix amt="0"/>
              </a:blip>
              <a:stretch>
                <a:fillRect l="0" t="-210278" r="0" b="-210277"/>
              </a:stretch>
            </a:blipFill>
          </p:spPr>
        </p:sp>
        <p:sp>
          <p:nvSpPr>
            <p:cNvPr name="TextBox 288" id="288"/>
            <p:cNvSpPr txBox="true"/>
            <p:nvPr/>
          </p:nvSpPr>
          <p:spPr>
            <a:xfrm>
              <a:off x="0" y="9525"/>
              <a:ext cx="3597326" cy="259779"/>
            </a:xfrm>
            <a:prstGeom prst="rect">
              <a:avLst/>
            </a:prstGeom>
          </p:spPr>
          <p:txBody>
            <a:bodyPr anchor="ctr" rtlCol="false" tIns="0" lIns="0" bIns="0" rIns="0"/>
            <a:lstStyle/>
            <a:p>
              <a:pPr algn="l">
                <a:lnSpc>
                  <a:spcPts val="1034"/>
                </a:lnSpc>
              </a:pPr>
              <a:r>
                <a:rPr lang="en-US" sz="999" b="true">
                  <a:solidFill>
                    <a:srgbClr val="F2EFEB"/>
                  </a:solidFill>
                  <a:latin typeface="TT Commons Pro Bold"/>
                  <a:ea typeface="TT Commons Pro Bold"/>
                  <a:cs typeface="TT Commons Pro Bold"/>
                  <a:sym typeface="TT Commons Pro Bold"/>
                </a:rPr>
                <a:t>Opening/Closing Time, Days Operational</a:t>
              </a:r>
            </a:p>
          </p:txBody>
        </p:sp>
      </p:grpSp>
      <p:grpSp>
        <p:nvGrpSpPr>
          <p:cNvPr name="Group 289" id="289"/>
          <p:cNvGrpSpPr/>
          <p:nvPr/>
        </p:nvGrpSpPr>
        <p:grpSpPr>
          <a:xfrm rot="0">
            <a:off x="3303213" y="6460598"/>
            <a:ext cx="1465669" cy="233420"/>
            <a:chOff x="0" y="0"/>
            <a:chExt cx="1954225" cy="311226"/>
          </a:xfrm>
        </p:grpSpPr>
        <p:sp>
          <p:nvSpPr>
            <p:cNvPr name="Freeform 290" id="290"/>
            <p:cNvSpPr/>
            <p:nvPr/>
          </p:nvSpPr>
          <p:spPr>
            <a:xfrm flipH="false" flipV="false" rot="0">
              <a:off x="0" y="0"/>
              <a:ext cx="1954276" cy="311277"/>
            </a:xfrm>
            <a:custGeom>
              <a:avLst/>
              <a:gdLst/>
              <a:ahLst/>
              <a:cxnLst/>
              <a:rect r="r" b="b" t="t" l="l"/>
              <a:pathLst>
                <a:path h="311277" w="1954276">
                  <a:moveTo>
                    <a:pt x="0" y="0"/>
                  </a:moveTo>
                  <a:lnTo>
                    <a:pt x="1954276" y="0"/>
                  </a:lnTo>
                  <a:lnTo>
                    <a:pt x="1954276" y="311277"/>
                  </a:lnTo>
                  <a:lnTo>
                    <a:pt x="0" y="311277"/>
                  </a:lnTo>
                  <a:close/>
                </a:path>
              </a:pathLst>
            </a:custGeom>
            <a:blipFill>
              <a:blip r:embed="rId5">
                <a:alphaModFix amt="0"/>
              </a:blip>
              <a:stretch>
                <a:fillRect l="0" t="-72252" r="2" b="-72235"/>
              </a:stretch>
            </a:blipFill>
          </p:spPr>
        </p:sp>
      </p:grpSp>
      <p:grpSp>
        <p:nvGrpSpPr>
          <p:cNvPr name="Group 291" id="291"/>
          <p:cNvGrpSpPr/>
          <p:nvPr/>
        </p:nvGrpSpPr>
        <p:grpSpPr>
          <a:xfrm rot="0">
            <a:off x="3303213" y="6389160"/>
            <a:ext cx="1465669" cy="304857"/>
            <a:chOff x="0" y="0"/>
            <a:chExt cx="1954225" cy="406476"/>
          </a:xfrm>
        </p:grpSpPr>
        <p:sp>
          <p:nvSpPr>
            <p:cNvPr name="Freeform 292" id="292"/>
            <p:cNvSpPr/>
            <p:nvPr/>
          </p:nvSpPr>
          <p:spPr>
            <a:xfrm flipH="false" flipV="false" rot="0">
              <a:off x="0" y="0"/>
              <a:ext cx="1954225" cy="406478"/>
            </a:xfrm>
            <a:custGeom>
              <a:avLst/>
              <a:gdLst/>
              <a:ahLst/>
              <a:cxnLst/>
              <a:rect r="r" b="b" t="t" l="l"/>
              <a:pathLst>
                <a:path h="406478" w="1954225">
                  <a:moveTo>
                    <a:pt x="0" y="0"/>
                  </a:moveTo>
                  <a:lnTo>
                    <a:pt x="1954225" y="0"/>
                  </a:lnTo>
                  <a:lnTo>
                    <a:pt x="1954225" y="406478"/>
                  </a:lnTo>
                  <a:lnTo>
                    <a:pt x="0" y="406478"/>
                  </a:lnTo>
                  <a:close/>
                </a:path>
              </a:pathLst>
            </a:custGeom>
            <a:blipFill>
              <a:blip r:embed="rId6">
                <a:alphaModFix amt="0"/>
              </a:blip>
              <a:stretch>
                <a:fillRect l="0" t="-43678" r="0" b="-43678"/>
              </a:stretch>
            </a:blipFill>
          </p:spPr>
        </p:sp>
        <p:sp>
          <p:nvSpPr>
            <p:cNvPr name="TextBox 293" id="293"/>
            <p:cNvSpPr txBox="true"/>
            <p:nvPr/>
          </p:nvSpPr>
          <p:spPr>
            <a:xfrm>
              <a:off x="0" y="-95250"/>
              <a:ext cx="1954225" cy="501726"/>
            </a:xfrm>
            <a:prstGeom prst="rect">
              <a:avLst/>
            </a:prstGeom>
          </p:spPr>
          <p:txBody>
            <a:bodyPr anchor="ctr" rtlCol="false" tIns="0" lIns="0" bIns="0" rIns="0"/>
            <a:lstStyle/>
            <a:p>
              <a:pPr algn="l">
                <a:lnSpc>
                  <a:spcPts val="2288"/>
                </a:lnSpc>
              </a:pPr>
              <a:r>
                <a:rPr lang="en-US" sz="1100" b="true">
                  <a:solidFill>
                    <a:srgbClr val="F2EFEB"/>
                  </a:solidFill>
                  <a:latin typeface="TT Commons Pro Bold"/>
                  <a:ea typeface="TT Commons Pro Bold"/>
                  <a:cs typeface="TT Commons Pro Bold"/>
                  <a:sym typeface="TT Commons Pro Bold"/>
                </a:rPr>
                <a:t>Operational Details</a:t>
              </a:r>
            </a:p>
          </p:txBody>
        </p:sp>
      </p:grpSp>
      <p:grpSp>
        <p:nvGrpSpPr>
          <p:cNvPr name="Group 294" id="294"/>
          <p:cNvGrpSpPr/>
          <p:nvPr/>
        </p:nvGrpSpPr>
        <p:grpSpPr>
          <a:xfrm rot="0">
            <a:off x="3288630" y="6117879"/>
            <a:ext cx="2756325" cy="213493"/>
            <a:chOff x="0" y="0"/>
            <a:chExt cx="3675101" cy="284658"/>
          </a:xfrm>
        </p:grpSpPr>
        <p:sp>
          <p:nvSpPr>
            <p:cNvPr name="Freeform 295" id="295"/>
            <p:cNvSpPr/>
            <p:nvPr/>
          </p:nvSpPr>
          <p:spPr>
            <a:xfrm flipH="false" flipV="false" rot="0">
              <a:off x="0" y="0"/>
              <a:ext cx="3675126" cy="284607"/>
            </a:xfrm>
            <a:custGeom>
              <a:avLst/>
              <a:gdLst/>
              <a:ahLst/>
              <a:cxnLst/>
              <a:rect r="r" b="b" t="t" l="l"/>
              <a:pathLst>
                <a:path h="284607" w="3675126">
                  <a:moveTo>
                    <a:pt x="0" y="0"/>
                  </a:moveTo>
                  <a:lnTo>
                    <a:pt x="3675126" y="0"/>
                  </a:lnTo>
                  <a:lnTo>
                    <a:pt x="3675126" y="284607"/>
                  </a:lnTo>
                  <a:lnTo>
                    <a:pt x="0" y="284607"/>
                  </a:lnTo>
                  <a:close/>
                </a:path>
              </a:pathLst>
            </a:custGeom>
            <a:blipFill>
              <a:blip r:embed="rId5">
                <a:alphaModFix amt="0"/>
              </a:blip>
              <a:stretch>
                <a:fillRect l="0" t="-201423" r="0" b="-201441"/>
              </a:stretch>
            </a:blipFill>
          </p:spPr>
        </p:sp>
      </p:grpSp>
      <p:grpSp>
        <p:nvGrpSpPr>
          <p:cNvPr name="Group 296" id="296"/>
          <p:cNvGrpSpPr/>
          <p:nvPr/>
        </p:nvGrpSpPr>
        <p:grpSpPr>
          <a:xfrm rot="0">
            <a:off x="3288630" y="6132166"/>
            <a:ext cx="2756325" cy="199196"/>
            <a:chOff x="0" y="0"/>
            <a:chExt cx="3675101" cy="265595"/>
          </a:xfrm>
        </p:grpSpPr>
        <p:sp>
          <p:nvSpPr>
            <p:cNvPr name="Freeform 297" id="297"/>
            <p:cNvSpPr/>
            <p:nvPr/>
          </p:nvSpPr>
          <p:spPr>
            <a:xfrm flipH="false" flipV="false" rot="0">
              <a:off x="0" y="0"/>
              <a:ext cx="3675100" cy="265599"/>
            </a:xfrm>
            <a:custGeom>
              <a:avLst/>
              <a:gdLst/>
              <a:ahLst/>
              <a:cxnLst/>
              <a:rect r="r" b="b" t="t" l="l"/>
              <a:pathLst>
                <a:path h="265599" w="3675100">
                  <a:moveTo>
                    <a:pt x="0" y="0"/>
                  </a:moveTo>
                  <a:lnTo>
                    <a:pt x="3675100" y="0"/>
                  </a:lnTo>
                  <a:lnTo>
                    <a:pt x="3675100" y="265599"/>
                  </a:lnTo>
                  <a:lnTo>
                    <a:pt x="0" y="265599"/>
                  </a:lnTo>
                  <a:close/>
                </a:path>
              </a:pathLst>
            </a:custGeom>
            <a:blipFill>
              <a:blip r:embed="rId6">
                <a:alphaModFix amt="0"/>
              </a:blip>
              <a:stretch>
                <a:fillRect l="0" t="-219615" r="0" b="-219613"/>
              </a:stretch>
            </a:blipFill>
          </p:spPr>
        </p:sp>
        <p:sp>
          <p:nvSpPr>
            <p:cNvPr name="TextBox 298" id="298"/>
            <p:cNvSpPr txBox="true"/>
            <p:nvPr/>
          </p:nvSpPr>
          <p:spPr>
            <a:xfrm>
              <a:off x="0" y="19050"/>
              <a:ext cx="3675101" cy="246545"/>
            </a:xfrm>
            <a:prstGeom prst="rect">
              <a:avLst/>
            </a:prstGeom>
          </p:spPr>
          <p:txBody>
            <a:bodyPr anchor="ctr" rtlCol="false" tIns="0" lIns="0" bIns="0" rIns="0"/>
            <a:lstStyle/>
            <a:p>
              <a:pPr algn="l">
                <a:lnSpc>
                  <a:spcPts val="999"/>
                </a:lnSpc>
              </a:pPr>
              <a:r>
                <a:rPr lang="en-US" sz="999" b="true">
                  <a:solidFill>
                    <a:srgbClr val="F2EFEB"/>
                  </a:solidFill>
                  <a:latin typeface="TT Commons Pro Bold"/>
                  <a:ea typeface="TT Commons Pro Bold"/>
                  <a:cs typeface="TT Commons Pro Bold"/>
                  <a:sym typeface="TT Commons Pro Bold"/>
                </a:rPr>
                <a:t>Average Cost per Person, Price Category</a:t>
              </a:r>
            </a:p>
          </p:txBody>
        </p:sp>
      </p:grpSp>
      <p:grpSp>
        <p:nvGrpSpPr>
          <p:cNvPr name="Group 299" id="299"/>
          <p:cNvGrpSpPr/>
          <p:nvPr/>
        </p:nvGrpSpPr>
        <p:grpSpPr>
          <a:xfrm rot="0">
            <a:off x="3299565" y="5869057"/>
            <a:ext cx="1071905" cy="233991"/>
            <a:chOff x="0" y="0"/>
            <a:chExt cx="1429207" cy="311988"/>
          </a:xfrm>
        </p:grpSpPr>
        <p:sp>
          <p:nvSpPr>
            <p:cNvPr name="Freeform 300" id="300"/>
            <p:cNvSpPr/>
            <p:nvPr/>
          </p:nvSpPr>
          <p:spPr>
            <a:xfrm flipH="false" flipV="false" rot="0">
              <a:off x="0" y="0"/>
              <a:ext cx="1429258" cy="312039"/>
            </a:xfrm>
            <a:custGeom>
              <a:avLst/>
              <a:gdLst/>
              <a:ahLst/>
              <a:cxnLst/>
              <a:rect r="r" b="b" t="t" l="l"/>
              <a:pathLst>
                <a:path h="312039" w="1429258">
                  <a:moveTo>
                    <a:pt x="0" y="0"/>
                  </a:moveTo>
                  <a:lnTo>
                    <a:pt x="1429258" y="0"/>
                  </a:lnTo>
                  <a:lnTo>
                    <a:pt x="1429258" y="312039"/>
                  </a:lnTo>
                  <a:lnTo>
                    <a:pt x="0" y="312039"/>
                  </a:lnTo>
                  <a:close/>
                </a:path>
              </a:pathLst>
            </a:custGeom>
            <a:blipFill>
              <a:blip r:embed="rId5">
                <a:alphaModFix amt="0"/>
              </a:blip>
              <a:stretch>
                <a:fillRect l="0" t="-39190" r="3" b="-39177"/>
              </a:stretch>
            </a:blipFill>
          </p:spPr>
        </p:sp>
      </p:grpSp>
      <p:grpSp>
        <p:nvGrpSpPr>
          <p:cNvPr name="Group 301" id="301"/>
          <p:cNvGrpSpPr/>
          <p:nvPr/>
        </p:nvGrpSpPr>
        <p:grpSpPr>
          <a:xfrm rot="0">
            <a:off x="3299565" y="5883345"/>
            <a:ext cx="1071905" cy="219704"/>
            <a:chOff x="0" y="0"/>
            <a:chExt cx="1429207" cy="292938"/>
          </a:xfrm>
        </p:grpSpPr>
        <p:sp>
          <p:nvSpPr>
            <p:cNvPr name="Freeform 302" id="302"/>
            <p:cNvSpPr/>
            <p:nvPr/>
          </p:nvSpPr>
          <p:spPr>
            <a:xfrm flipH="false" flipV="false" rot="0">
              <a:off x="0" y="0"/>
              <a:ext cx="1429207" cy="292934"/>
            </a:xfrm>
            <a:custGeom>
              <a:avLst/>
              <a:gdLst/>
              <a:ahLst/>
              <a:cxnLst/>
              <a:rect r="r" b="b" t="t" l="l"/>
              <a:pathLst>
                <a:path h="292934" w="1429207">
                  <a:moveTo>
                    <a:pt x="0" y="0"/>
                  </a:moveTo>
                  <a:lnTo>
                    <a:pt x="1429207" y="0"/>
                  </a:lnTo>
                  <a:lnTo>
                    <a:pt x="1429207" y="292934"/>
                  </a:lnTo>
                  <a:lnTo>
                    <a:pt x="0" y="292934"/>
                  </a:lnTo>
                  <a:close/>
                </a:path>
              </a:pathLst>
            </a:custGeom>
            <a:blipFill>
              <a:blip r:embed="rId6">
                <a:alphaModFix amt="0"/>
              </a:blip>
              <a:stretch>
                <a:fillRect l="0" t="-45065" r="0" b="-45067"/>
              </a:stretch>
            </a:blipFill>
          </p:spPr>
        </p:sp>
        <p:sp>
          <p:nvSpPr>
            <p:cNvPr name="TextBox 303" id="303"/>
            <p:cNvSpPr txBox="true"/>
            <p:nvPr/>
          </p:nvSpPr>
          <p:spPr>
            <a:xfrm>
              <a:off x="0" y="19050"/>
              <a:ext cx="1429207" cy="273888"/>
            </a:xfrm>
            <a:prstGeom prst="rect">
              <a:avLst/>
            </a:prstGeom>
          </p:spPr>
          <p:txBody>
            <a:bodyPr anchor="ctr" rtlCol="false" tIns="0" lIns="0" bIns="0" rIns="0"/>
            <a:lstStyle/>
            <a:p>
              <a:pPr algn="l">
                <a:lnSpc>
                  <a:spcPts val="1009"/>
                </a:lnSpc>
              </a:pPr>
              <a:r>
                <a:rPr lang="en-US" sz="1100" b="true">
                  <a:solidFill>
                    <a:srgbClr val="F2EFEB"/>
                  </a:solidFill>
                  <a:latin typeface="TT Commons Pro Bold"/>
                  <a:ea typeface="TT Commons Pro Bold"/>
                  <a:cs typeface="TT Commons Pro Bold"/>
                  <a:sym typeface="TT Commons Pro Bold"/>
                </a:rPr>
                <a:t>Pricing &amp; Cost</a:t>
              </a:r>
            </a:p>
          </p:txBody>
        </p:sp>
      </p:grpSp>
      <p:grpSp>
        <p:nvGrpSpPr>
          <p:cNvPr name="Group 304" id="304"/>
          <p:cNvGrpSpPr/>
          <p:nvPr/>
        </p:nvGrpSpPr>
        <p:grpSpPr>
          <a:xfrm rot="0">
            <a:off x="3449050" y="3813648"/>
            <a:ext cx="2792787" cy="372608"/>
            <a:chOff x="0" y="0"/>
            <a:chExt cx="3723716" cy="496811"/>
          </a:xfrm>
        </p:grpSpPr>
        <p:sp>
          <p:nvSpPr>
            <p:cNvPr name="Freeform 305" id="305"/>
            <p:cNvSpPr/>
            <p:nvPr/>
          </p:nvSpPr>
          <p:spPr>
            <a:xfrm flipH="false" flipV="false" rot="0">
              <a:off x="0" y="0"/>
              <a:ext cx="3723767" cy="496824"/>
            </a:xfrm>
            <a:custGeom>
              <a:avLst/>
              <a:gdLst/>
              <a:ahLst/>
              <a:cxnLst/>
              <a:rect r="r" b="b" t="t" l="l"/>
              <a:pathLst>
                <a:path h="496824" w="3723767">
                  <a:moveTo>
                    <a:pt x="0" y="0"/>
                  </a:moveTo>
                  <a:lnTo>
                    <a:pt x="3723767" y="0"/>
                  </a:lnTo>
                  <a:lnTo>
                    <a:pt x="3723767" y="496824"/>
                  </a:lnTo>
                  <a:lnTo>
                    <a:pt x="0" y="496824"/>
                  </a:lnTo>
                  <a:close/>
                </a:path>
              </a:pathLst>
            </a:custGeom>
            <a:blipFill>
              <a:blip r:embed="rId5">
                <a:alphaModFix amt="0"/>
              </a:blip>
              <a:stretch>
                <a:fillRect l="0" t="-95940" r="1" b="-95938"/>
              </a:stretch>
            </a:blipFill>
          </p:spPr>
        </p:sp>
      </p:grpSp>
      <p:grpSp>
        <p:nvGrpSpPr>
          <p:cNvPr name="Group 306" id="306"/>
          <p:cNvGrpSpPr/>
          <p:nvPr/>
        </p:nvGrpSpPr>
        <p:grpSpPr>
          <a:xfrm rot="0">
            <a:off x="3449050" y="3849367"/>
            <a:ext cx="2792787" cy="336890"/>
            <a:chOff x="0" y="0"/>
            <a:chExt cx="3723716" cy="449186"/>
          </a:xfrm>
        </p:grpSpPr>
        <p:sp>
          <p:nvSpPr>
            <p:cNvPr name="Freeform 307" id="307"/>
            <p:cNvSpPr/>
            <p:nvPr/>
          </p:nvSpPr>
          <p:spPr>
            <a:xfrm flipH="false" flipV="false" rot="0">
              <a:off x="0" y="0"/>
              <a:ext cx="3723716" cy="449190"/>
            </a:xfrm>
            <a:custGeom>
              <a:avLst/>
              <a:gdLst/>
              <a:ahLst/>
              <a:cxnLst/>
              <a:rect r="r" b="b" t="t" l="l"/>
              <a:pathLst>
                <a:path h="449190" w="3723716">
                  <a:moveTo>
                    <a:pt x="0" y="0"/>
                  </a:moveTo>
                  <a:lnTo>
                    <a:pt x="3723716" y="0"/>
                  </a:lnTo>
                  <a:lnTo>
                    <a:pt x="3723716" y="449190"/>
                  </a:lnTo>
                  <a:lnTo>
                    <a:pt x="0" y="449190"/>
                  </a:lnTo>
                  <a:close/>
                </a:path>
              </a:pathLst>
            </a:custGeom>
            <a:blipFill>
              <a:blip r:embed="rId6">
                <a:alphaModFix amt="0"/>
              </a:blip>
              <a:stretch>
                <a:fillRect l="0" t="-111528" r="0" b="-111527"/>
              </a:stretch>
            </a:blipFill>
          </p:spPr>
        </p:sp>
        <p:sp>
          <p:nvSpPr>
            <p:cNvPr name="TextBox 308" id="308"/>
            <p:cNvSpPr txBox="true"/>
            <p:nvPr/>
          </p:nvSpPr>
          <p:spPr>
            <a:xfrm>
              <a:off x="0" y="47625"/>
              <a:ext cx="3723716" cy="401561"/>
            </a:xfrm>
            <a:prstGeom prst="rect">
              <a:avLst/>
            </a:prstGeom>
          </p:spPr>
          <p:txBody>
            <a:bodyPr anchor="ctr" rtlCol="false" tIns="0" lIns="0" bIns="0" rIns="0"/>
            <a:lstStyle/>
            <a:p>
              <a:pPr algn="l">
                <a:lnSpc>
                  <a:spcPts val="1665"/>
                </a:lnSpc>
              </a:pPr>
              <a:r>
                <a:rPr lang="en-US" sz="1728">
                  <a:solidFill>
                    <a:srgbClr val="F2EFEB"/>
                  </a:solidFill>
                  <a:latin typeface="TT Commons Pro"/>
                  <a:ea typeface="TT Commons Pro"/>
                  <a:cs typeface="TT Commons Pro"/>
                  <a:sym typeface="TT Commons Pro"/>
                </a:rPr>
                <a:t>Key Parameters in Dataset</a:t>
              </a:r>
            </a:p>
          </p:txBody>
        </p:sp>
      </p:grpSp>
      <p:grpSp>
        <p:nvGrpSpPr>
          <p:cNvPr name="Group 309" id="309"/>
          <p:cNvGrpSpPr/>
          <p:nvPr/>
        </p:nvGrpSpPr>
        <p:grpSpPr>
          <a:xfrm rot="0">
            <a:off x="29166" y="2420903"/>
            <a:ext cx="2501074" cy="3901154"/>
            <a:chOff x="0" y="0"/>
            <a:chExt cx="3334766" cy="5201539"/>
          </a:xfrm>
        </p:grpSpPr>
        <p:sp>
          <p:nvSpPr>
            <p:cNvPr name="Freeform 310" id="310" descr="preencoded.png"/>
            <p:cNvSpPr/>
            <p:nvPr/>
          </p:nvSpPr>
          <p:spPr>
            <a:xfrm flipH="false" flipV="false" rot="0">
              <a:off x="0" y="0"/>
              <a:ext cx="3334766" cy="5201539"/>
            </a:xfrm>
            <a:custGeom>
              <a:avLst/>
              <a:gdLst/>
              <a:ahLst/>
              <a:cxnLst/>
              <a:rect r="r" b="b" t="t" l="l"/>
              <a:pathLst>
                <a:path h="5201539" w="3334766">
                  <a:moveTo>
                    <a:pt x="0" y="0"/>
                  </a:moveTo>
                  <a:lnTo>
                    <a:pt x="3334766" y="0"/>
                  </a:lnTo>
                  <a:lnTo>
                    <a:pt x="3334766" y="5201539"/>
                  </a:lnTo>
                  <a:lnTo>
                    <a:pt x="0" y="5201539"/>
                  </a:lnTo>
                  <a:lnTo>
                    <a:pt x="0" y="0"/>
                  </a:lnTo>
                  <a:close/>
                </a:path>
              </a:pathLst>
            </a:custGeom>
            <a:blipFill>
              <a:blip r:embed="rId70"/>
              <a:stretch>
                <a:fillRect l="0" t="-2" r="0" b="-2"/>
              </a:stretch>
            </a:blipFill>
          </p:spPr>
        </p:sp>
      </p:grpSp>
      <p:sp>
        <p:nvSpPr>
          <p:cNvPr name="Freeform 311" id="311"/>
          <p:cNvSpPr/>
          <p:nvPr/>
        </p:nvSpPr>
        <p:spPr>
          <a:xfrm flipH="false" flipV="false" rot="0">
            <a:off x="2359838" y="1441056"/>
            <a:ext cx="2295058" cy="2017976"/>
          </a:xfrm>
          <a:custGeom>
            <a:avLst/>
            <a:gdLst/>
            <a:ahLst/>
            <a:cxnLst/>
            <a:rect r="r" b="b" t="t" l="l"/>
            <a:pathLst>
              <a:path h="2017976" w="2295058">
                <a:moveTo>
                  <a:pt x="0" y="0"/>
                </a:moveTo>
                <a:lnTo>
                  <a:pt x="2295058" y="0"/>
                </a:lnTo>
                <a:lnTo>
                  <a:pt x="2295058" y="2017976"/>
                </a:lnTo>
                <a:lnTo>
                  <a:pt x="0" y="2017976"/>
                </a:lnTo>
                <a:lnTo>
                  <a:pt x="0" y="0"/>
                </a:lnTo>
                <a:close/>
              </a:path>
            </a:pathLst>
          </a:custGeom>
          <a:blipFill>
            <a:blip r:embed="rId71">
              <a:extLst>
                <a:ext uri="{96DAC541-7B7A-43D3-8B79-37D633B846F1}">
                  <asvg:svgBlip xmlns:asvg="http://schemas.microsoft.com/office/drawing/2016/SVG/main" r:embed="rId72"/>
                </a:ext>
              </a:extLst>
            </a:blip>
            <a:stretch>
              <a:fillRect l="0" t="0" r="0" b="0"/>
            </a:stretch>
          </a:blipFill>
        </p:spPr>
      </p:sp>
      <p:grpSp>
        <p:nvGrpSpPr>
          <p:cNvPr name="Group 312" id="312"/>
          <p:cNvGrpSpPr/>
          <p:nvPr/>
        </p:nvGrpSpPr>
        <p:grpSpPr>
          <a:xfrm rot="0">
            <a:off x="2610488" y="2362562"/>
            <a:ext cx="1852136" cy="58293"/>
            <a:chOff x="0" y="0"/>
            <a:chExt cx="2469515" cy="77724"/>
          </a:xfrm>
        </p:grpSpPr>
        <p:sp>
          <p:nvSpPr>
            <p:cNvPr name="Freeform 313" id="313" descr="preencoded.png"/>
            <p:cNvSpPr/>
            <p:nvPr/>
          </p:nvSpPr>
          <p:spPr>
            <a:xfrm flipH="false" flipV="false" rot="0">
              <a:off x="0" y="0"/>
              <a:ext cx="2469515" cy="77724"/>
            </a:xfrm>
            <a:custGeom>
              <a:avLst/>
              <a:gdLst/>
              <a:ahLst/>
              <a:cxnLst/>
              <a:rect r="r" b="b" t="t" l="l"/>
              <a:pathLst>
                <a:path h="77724" w="2469515">
                  <a:moveTo>
                    <a:pt x="0" y="0"/>
                  </a:moveTo>
                  <a:lnTo>
                    <a:pt x="2469515" y="0"/>
                  </a:lnTo>
                  <a:lnTo>
                    <a:pt x="2469515" y="77724"/>
                  </a:lnTo>
                  <a:lnTo>
                    <a:pt x="0" y="77724"/>
                  </a:lnTo>
                  <a:lnTo>
                    <a:pt x="0" y="0"/>
                  </a:lnTo>
                  <a:close/>
                </a:path>
              </a:pathLst>
            </a:custGeom>
            <a:blipFill>
              <a:blip r:embed="rId73"/>
              <a:stretch>
                <a:fillRect l="0" t="-5506" r="0" b="-5490"/>
              </a:stretch>
            </a:blipFill>
          </p:spPr>
        </p:sp>
      </p:grpSp>
      <p:grpSp>
        <p:nvGrpSpPr>
          <p:cNvPr name="Group 314" id="314"/>
          <p:cNvGrpSpPr/>
          <p:nvPr/>
        </p:nvGrpSpPr>
        <p:grpSpPr>
          <a:xfrm rot="0">
            <a:off x="2574026" y="1655254"/>
            <a:ext cx="729234" cy="619792"/>
            <a:chOff x="0" y="0"/>
            <a:chExt cx="972312" cy="826389"/>
          </a:xfrm>
        </p:grpSpPr>
        <p:sp>
          <p:nvSpPr>
            <p:cNvPr name="Freeform 315" id="315" descr="preencoded.png"/>
            <p:cNvSpPr/>
            <p:nvPr/>
          </p:nvSpPr>
          <p:spPr>
            <a:xfrm flipH="false" flipV="false" rot="0">
              <a:off x="0" y="0"/>
              <a:ext cx="972312" cy="826389"/>
            </a:xfrm>
            <a:custGeom>
              <a:avLst/>
              <a:gdLst/>
              <a:ahLst/>
              <a:cxnLst/>
              <a:rect r="r" b="b" t="t" l="l"/>
              <a:pathLst>
                <a:path h="826389" w="972312">
                  <a:moveTo>
                    <a:pt x="0" y="0"/>
                  </a:moveTo>
                  <a:lnTo>
                    <a:pt x="972312" y="0"/>
                  </a:lnTo>
                  <a:lnTo>
                    <a:pt x="972312" y="826389"/>
                  </a:lnTo>
                  <a:lnTo>
                    <a:pt x="0" y="826389"/>
                  </a:lnTo>
                  <a:lnTo>
                    <a:pt x="0" y="0"/>
                  </a:lnTo>
                  <a:close/>
                </a:path>
              </a:pathLst>
            </a:custGeom>
            <a:blipFill>
              <a:blip r:embed="rId74"/>
              <a:stretch>
                <a:fillRect l="-69" t="0" r="-70" b="0"/>
              </a:stretch>
            </a:blipFill>
          </p:spPr>
        </p:sp>
      </p:grpSp>
      <p:grpSp>
        <p:nvGrpSpPr>
          <p:cNvPr name="Group 316" id="316"/>
          <p:cNvGrpSpPr/>
          <p:nvPr/>
        </p:nvGrpSpPr>
        <p:grpSpPr>
          <a:xfrm rot="0">
            <a:off x="2625071" y="2606230"/>
            <a:ext cx="1688840" cy="582406"/>
            <a:chOff x="0" y="0"/>
            <a:chExt cx="2251786" cy="776542"/>
          </a:xfrm>
        </p:grpSpPr>
        <p:sp>
          <p:nvSpPr>
            <p:cNvPr name="Freeform 317" id="317"/>
            <p:cNvSpPr/>
            <p:nvPr/>
          </p:nvSpPr>
          <p:spPr>
            <a:xfrm flipH="false" flipV="false" rot="0">
              <a:off x="0" y="0"/>
              <a:ext cx="2251837" cy="776605"/>
            </a:xfrm>
            <a:custGeom>
              <a:avLst/>
              <a:gdLst/>
              <a:ahLst/>
              <a:cxnLst/>
              <a:rect r="r" b="b" t="t" l="l"/>
              <a:pathLst>
                <a:path h="776605" w="2251837">
                  <a:moveTo>
                    <a:pt x="0" y="0"/>
                  </a:moveTo>
                  <a:lnTo>
                    <a:pt x="2251837" y="0"/>
                  </a:lnTo>
                  <a:lnTo>
                    <a:pt x="2251837" y="776605"/>
                  </a:lnTo>
                  <a:lnTo>
                    <a:pt x="0" y="776605"/>
                  </a:lnTo>
                  <a:close/>
                </a:path>
              </a:pathLst>
            </a:custGeom>
            <a:blipFill>
              <a:blip r:embed="rId5">
                <a:alphaModFix amt="0"/>
              </a:blip>
              <a:stretch>
                <a:fillRect l="0" t="-6461" r="2" b="-6454"/>
              </a:stretch>
            </a:blipFill>
          </p:spPr>
        </p:sp>
      </p:grpSp>
      <p:grpSp>
        <p:nvGrpSpPr>
          <p:cNvPr name="Group 318" id="318"/>
          <p:cNvGrpSpPr/>
          <p:nvPr/>
        </p:nvGrpSpPr>
        <p:grpSpPr>
          <a:xfrm rot="0">
            <a:off x="2625071" y="2606230"/>
            <a:ext cx="1688840" cy="582406"/>
            <a:chOff x="0" y="0"/>
            <a:chExt cx="2251786" cy="776542"/>
          </a:xfrm>
        </p:grpSpPr>
        <p:sp>
          <p:nvSpPr>
            <p:cNvPr name="Freeform 319" id="319"/>
            <p:cNvSpPr/>
            <p:nvPr/>
          </p:nvSpPr>
          <p:spPr>
            <a:xfrm flipH="false" flipV="false" rot="0">
              <a:off x="0" y="0"/>
              <a:ext cx="2251787" cy="776541"/>
            </a:xfrm>
            <a:custGeom>
              <a:avLst/>
              <a:gdLst/>
              <a:ahLst/>
              <a:cxnLst/>
              <a:rect r="r" b="b" t="t" l="l"/>
              <a:pathLst>
                <a:path h="776541" w="2251787">
                  <a:moveTo>
                    <a:pt x="0" y="0"/>
                  </a:moveTo>
                  <a:lnTo>
                    <a:pt x="2251787" y="0"/>
                  </a:lnTo>
                  <a:lnTo>
                    <a:pt x="2251787" y="776541"/>
                  </a:lnTo>
                  <a:lnTo>
                    <a:pt x="0" y="776541"/>
                  </a:lnTo>
                  <a:close/>
                </a:path>
              </a:pathLst>
            </a:custGeom>
            <a:blipFill>
              <a:blip r:embed="rId6">
                <a:alphaModFix amt="0"/>
              </a:blip>
              <a:stretch>
                <a:fillRect l="0" t="-6501" r="0" b="-6502"/>
              </a:stretch>
            </a:blipFill>
          </p:spPr>
        </p:sp>
        <p:sp>
          <p:nvSpPr>
            <p:cNvPr name="TextBox 320" id="320"/>
            <p:cNvSpPr txBox="true"/>
            <p:nvPr/>
          </p:nvSpPr>
          <p:spPr>
            <a:xfrm>
              <a:off x="0" y="0"/>
              <a:ext cx="2251786" cy="776542"/>
            </a:xfrm>
            <a:prstGeom prst="rect">
              <a:avLst/>
            </a:prstGeom>
          </p:spPr>
          <p:txBody>
            <a:bodyPr anchor="ctr" rtlCol="false" tIns="0" lIns="0" bIns="0" rIns="0"/>
            <a:lstStyle/>
            <a:p>
              <a:pPr algn="l">
                <a:lnSpc>
                  <a:spcPts val="1893"/>
                </a:lnSpc>
              </a:pPr>
              <a:r>
                <a:rPr lang="en-US" sz="1599">
                  <a:solidFill>
                    <a:srgbClr val="F2EFEB"/>
                  </a:solidFill>
                  <a:latin typeface="TT Commons Pro"/>
                  <a:ea typeface="TT Commons Pro"/>
                  <a:cs typeface="TT Commons Pro"/>
                  <a:sym typeface="TT Commons Pro"/>
                </a:rPr>
                <a:t>Records in</a:t>
              </a:r>
            </a:p>
            <a:p>
              <a:pPr algn="l">
                <a:lnSpc>
                  <a:spcPts val="1893"/>
                </a:lnSpc>
              </a:pPr>
              <a:r>
                <a:rPr lang="en-US" sz="1599">
                  <a:solidFill>
                    <a:srgbClr val="F2EFEB"/>
                  </a:solidFill>
                  <a:latin typeface="TT Commons Pro"/>
                  <a:ea typeface="TT Commons Pro"/>
                  <a:cs typeface="TT Commons Pro"/>
                  <a:sym typeface="TT Commons Pro"/>
                </a:rPr>
                <a:t>the dataset</a:t>
              </a:r>
            </a:p>
          </p:txBody>
        </p:sp>
      </p:grpSp>
      <p:grpSp>
        <p:nvGrpSpPr>
          <p:cNvPr name="Group 321" id="321"/>
          <p:cNvGrpSpPr/>
          <p:nvPr/>
        </p:nvGrpSpPr>
        <p:grpSpPr>
          <a:xfrm rot="0">
            <a:off x="3405302" y="2049018"/>
            <a:ext cx="1144819" cy="553583"/>
            <a:chOff x="0" y="0"/>
            <a:chExt cx="1526426" cy="738111"/>
          </a:xfrm>
        </p:grpSpPr>
        <p:sp>
          <p:nvSpPr>
            <p:cNvPr name="Freeform 322" id="322"/>
            <p:cNvSpPr/>
            <p:nvPr/>
          </p:nvSpPr>
          <p:spPr>
            <a:xfrm flipH="false" flipV="false" rot="0">
              <a:off x="0" y="0"/>
              <a:ext cx="1526413" cy="738124"/>
            </a:xfrm>
            <a:custGeom>
              <a:avLst/>
              <a:gdLst/>
              <a:ahLst/>
              <a:cxnLst/>
              <a:rect r="r" b="b" t="t" l="l"/>
              <a:pathLst>
                <a:path h="738124" w="1526413">
                  <a:moveTo>
                    <a:pt x="0" y="0"/>
                  </a:moveTo>
                  <a:lnTo>
                    <a:pt x="1526413" y="0"/>
                  </a:lnTo>
                  <a:lnTo>
                    <a:pt x="1526413" y="738124"/>
                  </a:lnTo>
                  <a:lnTo>
                    <a:pt x="0" y="738124"/>
                  </a:lnTo>
                  <a:close/>
                </a:path>
              </a:pathLst>
            </a:custGeom>
            <a:blipFill>
              <a:blip r:embed="rId5">
                <a:alphaModFix amt="0"/>
              </a:blip>
              <a:stretch>
                <a:fillRect l="-12085" t="0" r="-12086" b="1"/>
              </a:stretch>
            </a:blipFill>
          </p:spPr>
        </p:sp>
      </p:grpSp>
      <p:grpSp>
        <p:nvGrpSpPr>
          <p:cNvPr name="Group 323" id="323"/>
          <p:cNvGrpSpPr/>
          <p:nvPr/>
        </p:nvGrpSpPr>
        <p:grpSpPr>
          <a:xfrm rot="0">
            <a:off x="3405302" y="2034730"/>
            <a:ext cx="1144819" cy="567880"/>
            <a:chOff x="0" y="0"/>
            <a:chExt cx="1526426" cy="757174"/>
          </a:xfrm>
        </p:grpSpPr>
        <p:sp>
          <p:nvSpPr>
            <p:cNvPr name="Freeform 324" id="324"/>
            <p:cNvSpPr/>
            <p:nvPr/>
          </p:nvSpPr>
          <p:spPr>
            <a:xfrm flipH="false" flipV="false" rot="0">
              <a:off x="0" y="0"/>
              <a:ext cx="1526425" cy="757174"/>
            </a:xfrm>
            <a:custGeom>
              <a:avLst/>
              <a:gdLst/>
              <a:ahLst/>
              <a:cxnLst/>
              <a:rect r="r" b="b" t="t" l="l"/>
              <a:pathLst>
                <a:path h="757174" w="1526425">
                  <a:moveTo>
                    <a:pt x="0" y="0"/>
                  </a:moveTo>
                  <a:lnTo>
                    <a:pt x="1526425" y="0"/>
                  </a:lnTo>
                  <a:lnTo>
                    <a:pt x="1526425" y="757174"/>
                  </a:lnTo>
                  <a:lnTo>
                    <a:pt x="0" y="757174"/>
                  </a:lnTo>
                  <a:close/>
                </a:path>
              </a:pathLst>
            </a:custGeom>
            <a:blipFill>
              <a:blip r:embed="rId6">
                <a:alphaModFix amt="0"/>
              </a:blip>
              <a:stretch>
                <a:fillRect l="-13644" t="0" r="-13644" b="0"/>
              </a:stretch>
            </a:blipFill>
          </p:spPr>
        </p:sp>
        <p:sp>
          <p:nvSpPr>
            <p:cNvPr name="TextBox 325" id="325"/>
            <p:cNvSpPr txBox="true"/>
            <p:nvPr/>
          </p:nvSpPr>
          <p:spPr>
            <a:xfrm>
              <a:off x="0" y="-19050"/>
              <a:ext cx="1526426" cy="776224"/>
            </a:xfrm>
            <a:prstGeom prst="rect">
              <a:avLst/>
            </a:prstGeom>
          </p:spPr>
          <p:txBody>
            <a:bodyPr anchor="ctr" rtlCol="false" tIns="0" lIns="0" bIns="0" rIns="0"/>
            <a:lstStyle/>
            <a:p>
              <a:pPr algn="l">
                <a:lnSpc>
                  <a:spcPts val="1949"/>
                </a:lnSpc>
              </a:pPr>
              <a:r>
                <a:rPr lang="en-US" sz="1498" b="true">
                  <a:solidFill>
                    <a:srgbClr val="F2EFEB"/>
                  </a:solidFill>
                  <a:latin typeface="TT Commons Pro Bold"/>
                  <a:ea typeface="TT Commons Pro Bold"/>
                  <a:cs typeface="TT Commons Pro Bold"/>
                  <a:sym typeface="TT Commons Pro Bold"/>
                </a:rPr>
                <a:t>Total Restaurants</a:t>
              </a:r>
            </a:p>
          </p:txBody>
        </p:sp>
      </p:grpSp>
      <p:grpSp>
        <p:nvGrpSpPr>
          <p:cNvPr name="Group 326" id="326"/>
          <p:cNvGrpSpPr/>
          <p:nvPr/>
        </p:nvGrpSpPr>
        <p:grpSpPr>
          <a:xfrm rot="0">
            <a:off x="3419885" y="1728168"/>
            <a:ext cx="780231" cy="431206"/>
            <a:chOff x="0" y="0"/>
            <a:chExt cx="1040308" cy="574942"/>
          </a:xfrm>
        </p:grpSpPr>
        <p:sp>
          <p:nvSpPr>
            <p:cNvPr name="Freeform 327" id="327"/>
            <p:cNvSpPr/>
            <p:nvPr/>
          </p:nvSpPr>
          <p:spPr>
            <a:xfrm flipH="false" flipV="false" rot="0">
              <a:off x="0" y="0"/>
              <a:ext cx="1040257" cy="574929"/>
            </a:xfrm>
            <a:custGeom>
              <a:avLst/>
              <a:gdLst/>
              <a:ahLst/>
              <a:cxnLst/>
              <a:rect r="r" b="b" t="t" l="l"/>
              <a:pathLst>
                <a:path h="574929" w="1040257">
                  <a:moveTo>
                    <a:pt x="0" y="0"/>
                  </a:moveTo>
                  <a:lnTo>
                    <a:pt x="1040257" y="0"/>
                  </a:lnTo>
                  <a:lnTo>
                    <a:pt x="1040257" y="574929"/>
                  </a:lnTo>
                  <a:lnTo>
                    <a:pt x="0" y="574929"/>
                  </a:lnTo>
                  <a:close/>
                </a:path>
              </a:pathLst>
            </a:custGeom>
            <a:blipFill>
              <a:blip r:embed="rId5">
                <a:alphaModFix amt="0"/>
              </a:blip>
              <a:stretch>
                <a:fillRect l="-20959" t="0" r="-20964" b="-2"/>
              </a:stretch>
            </a:blipFill>
          </p:spPr>
        </p:sp>
      </p:grpSp>
      <p:grpSp>
        <p:nvGrpSpPr>
          <p:cNvPr name="Group 328" id="328"/>
          <p:cNvGrpSpPr/>
          <p:nvPr/>
        </p:nvGrpSpPr>
        <p:grpSpPr>
          <a:xfrm rot="0">
            <a:off x="3419885" y="1778175"/>
            <a:ext cx="780231" cy="381200"/>
            <a:chOff x="0" y="0"/>
            <a:chExt cx="1040308" cy="508267"/>
          </a:xfrm>
        </p:grpSpPr>
        <p:sp>
          <p:nvSpPr>
            <p:cNvPr name="Freeform 329" id="329"/>
            <p:cNvSpPr/>
            <p:nvPr/>
          </p:nvSpPr>
          <p:spPr>
            <a:xfrm flipH="false" flipV="false" rot="0">
              <a:off x="0" y="0"/>
              <a:ext cx="1040308" cy="508269"/>
            </a:xfrm>
            <a:custGeom>
              <a:avLst/>
              <a:gdLst/>
              <a:ahLst/>
              <a:cxnLst/>
              <a:rect r="r" b="b" t="t" l="l"/>
              <a:pathLst>
                <a:path h="508269" w="1040308">
                  <a:moveTo>
                    <a:pt x="0" y="0"/>
                  </a:moveTo>
                  <a:lnTo>
                    <a:pt x="1040308" y="0"/>
                  </a:lnTo>
                  <a:lnTo>
                    <a:pt x="1040308" y="508269"/>
                  </a:lnTo>
                  <a:lnTo>
                    <a:pt x="0" y="508269"/>
                  </a:lnTo>
                  <a:close/>
                </a:path>
              </a:pathLst>
            </a:custGeom>
            <a:blipFill>
              <a:blip r:embed="rId6">
                <a:alphaModFix amt="0"/>
              </a:blip>
              <a:stretch>
                <a:fillRect l="-12685" t="0" r="-12685" b="0"/>
              </a:stretch>
            </a:blipFill>
          </p:spPr>
        </p:sp>
        <p:sp>
          <p:nvSpPr>
            <p:cNvPr name="TextBox 330" id="330"/>
            <p:cNvSpPr txBox="true"/>
            <p:nvPr/>
          </p:nvSpPr>
          <p:spPr>
            <a:xfrm>
              <a:off x="0" y="66675"/>
              <a:ext cx="1040308" cy="441592"/>
            </a:xfrm>
            <a:prstGeom prst="rect">
              <a:avLst/>
            </a:prstGeom>
          </p:spPr>
          <p:txBody>
            <a:bodyPr anchor="ctr" rtlCol="false" tIns="0" lIns="0" bIns="0" rIns="0"/>
            <a:lstStyle/>
            <a:p>
              <a:pPr algn="l">
                <a:lnSpc>
                  <a:spcPts val="1666"/>
                </a:lnSpc>
              </a:pPr>
              <a:r>
                <a:rPr lang="en-US" sz="2000" b="true">
                  <a:solidFill>
                    <a:srgbClr val="ED5E40"/>
                  </a:solidFill>
                  <a:latin typeface="TT Commons Pro Bold"/>
                  <a:ea typeface="TT Commons Pro Bold"/>
                  <a:cs typeface="TT Commons Pro Bold"/>
                  <a:sym typeface="TT Commons Pro Bold"/>
                </a:rPr>
                <a:t>2,500</a:t>
              </a:r>
            </a:p>
          </p:txBody>
        </p:sp>
      </p:grpSp>
      <p:grpSp>
        <p:nvGrpSpPr>
          <p:cNvPr name="Group 331" id="331"/>
          <p:cNvGrpSpPr/>
          <p:nvPr/>
        </p:nvGrpSpPr>
        <p:grpSpPr>
          <a:xfrm rot="0">
            <a:off x="1917764" y="3288630"/>
            <a:ext cx="109347" cy="153162"/>
            <a:chOff x="0" y="0"/>
            <a:chExt cx="145796" cy="204216"/>
          </a:xfrm>
        </p:grpSpPr>
        <p:sp>
          <p:nvSpPr>
            <p:cNvPr name="Freeform 332" id="332" descr="preencoded.png"/>
            <p:cNvSpPr/>
            <p:nvPr/>
          </p:nvSpPr>
          <p:spPr>
            <a:xfrm flipH="false" flipV="false" rot="0">
              <a:off x="0" y="0"/>
              <a:ext cx="145796" cy="204216"/>
            </a:xfrm>
            <a:custGeom>
              <a:avLst/>
              <a:gdLst/>
              <a:ahLst/>
              <a:cxnLst/>
              <a:rect r="r" b="b" t="t" l="l"/>
              <a:pathLst>
                <a:path h="204216" w="145796">
                  <a:moveTo>
                    <a:pt x="0" y="0"/>
                  </a:moveTo>
                  <a:lnTo>
                    <a:pt x="145796" y="0"/>
                  </a:lnTo>
                  <a:lnTo>
                    <a:pt x="145796" y="204216"/>
                  </a:lnTo>
                  <a:lnTo>
                    <a:pt x="0" y="204216"/>
                  </a:lnTo>
                  <a:lnTo>
                    <a:pt x="0" y="0"/>
                  </a:lnTo>
                  <a:close/>
                </a:path>
              </a:pathLst>
            </a:custGeom>
            <a:blipFill>
              <a:blip r:embed="rId75"/>
              <a:stretch>
                <a:fillRect l="-16350" t="0" r="-16350" b="0"/>
              </a:stretch>
            </a:blipFill>
          </p:spPr>
        </p:sp>
      </p:grpSp>
      <p:grpSp>
        <p:nvGrpSpPr>
          <p:cNvPr name="Group 333" id="333"/>
          <p:cNvGrpSpPr/>
          <p:nvPr/>
        </p:nvGrpSpPr>
        <p:grpSpPr>
          <a:xfrm rot="0">
            <a:off x="714604" y="3317796"/>
            <a:ext cx="918782" cy="131254"/>
            <a:chOff x="0" y="0"/>
            <a:chExt cx="1225042" cy="175006"/>
          </a:xfrm>
        </p:grpSpPr>
        <p:sp>
          <p:nvSpPr>
            <p:cNvPr name="Freeform 334" id="334" descr="preencoded.png"/>
            <p:cNvSpPr/>
            <p:nvPr/>
          </p:nvSpPr>
          <p:spPr>
            <a:xfrm flipH="false" flipV="false" rot="0">
              <a:off x="0" y="0"/>
              <a:ext cx="1225042" cy="175006"/>
            </a:xfrm>
            <a:custGeom>
              <a:avLst/>
              <a:gdLst/>
              <a:ahLst/>
              <a:cxnLst/>
              <a:rect r="r" b="b" t="t" l="l"/>
              <a:pathLst>
                <a:path h="175006" w="1225042">
                  <a:moveTo>
                    <a:pt x="0" y="0"/>
                  </a:moveTo>
                  <a:lnTo>
                    <a:pt x="1225042" y="0"/>
                  </a:lnTo>
                  <a:lnTo>
                    <a:pt x="1225042" y="175006"/>
                  </a:lnTo>
                  <a:lnTo>
                    <a:pt x="0" y="175006"/>
                  </a:lnTo>
                  <a:lnTo>
                    <a:pt x="0" y="0"/>
                  </a:lnTo>
                  <a:close/>
                </a:path>
              </a:pathLst>
            </a:custGeom>
            <a:blipFill>
              <a:blip r:embed="rId76"/>
              <a:stretch>
                <a:fillRect l="0" t="-1291" r="0" b="-1291"/>
              </a:stretch>
            </a:blipFill>
          </p:spPr>
        </p:sp>
      </p:grpSp>
      <p:grpSp>
        <p:nvGrpSpPr>
          <p:cNvPr name="Group 335" id="335"/>
          <p:cNvGrpSpPr/>
          <p:nvPr/>
        </p:nvGrpSpPr>
        <p:grpSpPr>
          <a:xfrm rot="0">
            <a:off x="772935" y="3040704"/>
            <a:ext cx="977113" cy="178994"/>
            <a:chOff x="0" y="0"/>
            <a:chExt cx="1302817" cy="238658"/>
          </a:xfrm>
        </p:grpSpPr>
        <p:sp>
          <p:nvSpPr>
            <p:cNvPr name="Freeform 336" id="336"/>
            <p:cNvSpPr/>
            <p:nvPr/>
          </p:nvSpPr>
          <p:spPr>
            <a:xfrm flipH="false" flipV="false" rot="0">
              <a:off x="0" y="0"/>
              <a:ext cx="1302766" cy="238633"/>
            </a:xfrm>
            <a:custGeom>
              <a:avLst/>
              <a:gdLst/>
              <a:ahLst/>
              <a:cxnLst/>
              <a:rect r="r" b="b" t="t" l="l"/>
              <a:pathLst>
                <a:path h="238633" w="1302766">
                  <a:moveTo>
                    <a:pt x="0" y="0"/>
                  </a:moveTo>
                  <a:lnTo>
                    <a:pt x="1302766" y="0"/>
                  </a:lnTo>
                  <a:lnTo>
                    <a:pt x="1302766" y="238633"/>
                  </a:lnTo>
                  <a:lnTo>
                    <a:pt x="0" y="238633"/>
                  </a:lnTo>
                  <a:close/>
                </a:path>
              </a:pathLst>
            </a:custGeom>
            <a:blipFill>
              <a:blip r:embed="rId5">
                <a:alphaModFix amt="0"/>
              </a:blip>
              <a:stretch>
                <a:fillRect l="0" t="-56295" r="-3" b="-56311"/>
              </a:stretch>
            </a:blipFill>
          </p:spPr>
        </p:sp>
      </p:grpSp>
      <p:grpSp>
        <p:nvGrpSpPr>
          <p:cNvPr name="Group 337" id="337"/>
          <p:cNvGrpSpPr/>
          <p:nvPr/>
        </p:nvGrpSpPr>
        <p:grpSpPr>
          <a:xfrm rot="0">
            <a:off x="772935" y="3047848"/>
            <a:ext cx="977113" cy="171850"/>
            <a:chOff x="0" y="0"/>
            <a:chExt cx="1302817" cy="229133"/>
          </a:xfrm>
        </p:grpSpPr>
        <p:sp>
          <p:nvSpPr>
            <p:cNvPr name="Freeform 338" id="338"/>
            <p:cNvSpPr/>
            <p:nvPr/>
          </p:nvSpPr>
          <p:spPr>
            <a:xfrm flipH="false" flipV="false" rot="0">
              <a:off x="0" y="0"/>
              <a:ext cx="1302817" cy="229139"/>
            </a:xfrm>
            <a:custGeom>
              <a:avLst/>
              <a:gdLst/>
              <a:ahLst/>
              <a:cxnLst/>
              <a:rect r="r" b="b" t="t" l="l"/>
              <a:pathLst>
                <a:path h="229139" w="1302817">
                  <a:moveTo>
                    <a:pt x="0" y="0"/>
                  </a:moveTo>
                  <a:lnTo>
                    <a:pt x="1302817" y="0"/>
                  </a:lnTo>
                  <a:lnTo>
                    <a:pt x="1302817" y="229139"/>
                  </a:lnTo>
                  <a:lnTo>
                    <a:pt x="0" y="229139"/>
                  </a:lnTo>
                  <a:close/>
                </a:path>
              </a:pathLst>
            </a:custGeom>
            <a:blipFill>
              <a:blip r:embed="rId6">
                <a:alphaModFix amt="0"/>
              </a:blip>
              <a:stretch>
                <a:fillRect l="0" t="-60787" r="0" b="-60784"/>
              </a:stretch>
            </a:blipFill>
          </p:spPr>
        </p:sp>
        <p:sp>
          <p:nvSpPr>
            <p:cNvPr name="TextBox 339" id="339"/>
            <p:cNvSpPr txBox="true"/>
            <p:nvPr/>
          </p:nvSpPr>
          <p:spPr>
            <a:xfrm>
              <a:off x="0" y="9525"/>
              <a:ext cx="1302817" cy="219608"/>
            </a:xfrm>
            <a:prstGeom prst="rect">
              <a:avLst/>
            </a:prstGeom>
          </p:spPr>
          <p:txBody>
            <a:bodyPr anchor="ctr" rtlCol="false" tIns="0" lIns="0" bIns="0" rIns="0"/>
            <a:lstStyle/>
            <a:p>
              <a:pPr algn="l">
                <a:lnSpc>
                  <a:spcPts val="975"/>
                </a:lnSpc>
              </a:pPr>
              <a:r>
                <a:rPr lang="en-US" sz="825">
                  <a:solidFill>
                    <a:srgbClr val="ED9456"/>
                  </a:solidFill>
                  <a:latin typeface="TT Commons Pro"/>
                  <a:ea typeface="TT Commons Pro"/>
                  <a:cs typeface="TT Commons Pro"/>
                  <a:sym typeface="TT Commons Pro"/>
                </a:rPr>
                <a:t>Delveneg Happiees</a:t>
              </a:r>
            </a:p>
          </p:txBody>
        </p:sp>
      </p:grpSp>
      <p:grpSp>
        <p:nvGrpSpPr>
          <p:cNvPr name="Group 340" id="340"/>
          <p:cNvGrpSpPr/>
          <p:nvPr/>
        </p:nvGrpSpPr>
        <p:grpSpPr>
          <a:xfrm rot="0">
            <a:off x="1881302" y="2836535"/>
            <a:ext cx="145837" cy="200482"/>
            <a:chOff x="0" y="0"/>
            <a:chExt cx="194450" cy="267310"/>
          </a:xfrm>
        </p:grpSpPr>
        <p:sp>
          <p:nvSpPr>
            <p:cNvPr name="Freeform 341" id="341"/>
            <p:cNvSpPr/>
            <p:nvPr/>
          </p:nvSpPr>
          <p:spPr>
            <a:xfrm flipH="false" flipV="false" rot="0">
              <a:off x="0" y="0"/>
              <a:ext cx="194437" cy="267335"/>
            </a:xfrm>
            <a:custGeom>
              <a:avLst/>
              <a:gdLst/>
              <a:ahLst/>
              <a:cxnLst/>
              <a:rect r="r" b="b" t="t" l="l"/>
              <a:pathLst>
                <a:path h="267335" w="194437">
                  <a:moveTo>
                    <a:pt x="0" y="0"/>
                  </a:moveTo>
                  <a:lnTo>
                    <a:pt x="194437" y="0"/>
                  </a:lnTo>
                  <a:lnTo>
                    <a:pt x="194437" y="267335"/>
                  </a:lnTo>
                  <a:lnTo>
                    <a:pt x="0" y="267335"/>
                  </a:lnTo>
                  <a:close/>
                </a:path>
              </a:pathLst>
            </a:custGeom>
            <a:blipFill>
              <a:blip r:embed="rId5">
                <a:alphaModFix amt="0"/>
              </a:blip>
              <a:stretch>
                <a:fillRect l="-126505" t="0" r="-126518" b="9"/>
              </a:stretch>
            </a:blipFill>
          </p:spPr>
        </p:sp>
      </p:grpSp>
      <p:grpSp>
        <p:nvGrpSpPr>
          <p:cNvPr name="Group 342" id="342"/>
          <p:cNvGrpSpPr/>
          <p:nvPr/>
        </p:nvGrpSpPr>
        <p:grpSpPr>
          <a:xfrm rot="0">
            <a:off x="1881302" y="2850823"/>
            <a:ext cx="145837" cy="186195"/>
            <a:chOff x="0" y="0"/>
            <a:chExt cx="194450" cy="248260"/>
          </a:xfrm>
        </p:grpSpPr>
        <p:sp>
          <p:nvSpPr>
            <p:cNvPr name="Freeform 343" id="343"/>
            <p:cNvSpPr/>
            <p:nvPr/>
          </p:nvSpPr>
          <p:spPr>
            <a:xfrm flipH="false" flipV="false" rot="0">
              <a:off x="0" y="0"/>
              <a:ext cx="194449" cy="248262"/>
            </a:xfrm>
            <a:custGeom>
              <a:avLst/>
              <a:gdLst/>
              <a:ahLst/>
              <a:cxnLst/>
              <a:rect r="r" b="b" t="t" l="l"/>
              <a:pathLst>
                <a:path h="248262" w="194449">
                  <a:moveTo>
                    <a:pt x="0" y="0"/>
                  </a:moveTo>
                  <a:lnTo>
                    <a:pt x="194449" y="0"/>
                  </a:lnTo>
                  <a:lnTo>
                    <a:pt x="194449" y="248262"/>
                  </a:lnTo>
                  <a:lnTo>
                    <a:pt x="0" y="248262"/>
                  </a:lnTo>
                  <a:close/>
                </a:path>
              </a:pathLst>
            </a:custGeom>
            <a:blipFill>
              <a:blip r:embed="rId6">
                <a:alphaModFix amt="0"/>
              </a:blip>
              <a:stretch>
                <a:fillRect l="-113809" t="0" r="-113809" b="0"/>
              </a:stretch>
            </a:blipFill>
          </p:spPr>
        </p:sp>
        <p:sp>
          <p:nvSpPr>
            <p:cNvPr name="TextBox 344" id="344"/>
            <p:cNvSpPr txBox="true"/>
            <p:nvPr/>
          </p:nvSpPr>
          <p:spPr>
            <a:xfrm>
              <a:off x="0" y="19050"/>
              <a:ext cx="194450" cy="229210"/>
            </a:xfrm>
            <a:prstGeom prst="rect">
              <a:avLst/>
            </a:prstGeom>
          </p:spPr>
          <p:txBody>
            <a:bodyPr anchor="ctr" rtlCol="false" tIns="0" lIns="0" bIns="0" rIns="0"/>
            <a:lstStyle/>
            <a:p>
              <a:pPr algn="ctr">
                <a:lnSpc>
                  <a:spcPts val="918"/>
                </a:lnSpc>
              </a:pPr>
              <a:r>
                <a:rPr lang="en-US" sz="936" b="true">
                  <a:solidFill>
                    <a:srgbClr val="EC8C48"/>
                  </a:solidFill>
                  <a:latin typeface="TT Commons Pro Bold"/>
                  <a:ea typeface="TT Commons Pro Bold"/>
                  <a:cs typeface="TT Commons Pro Bold"/>
                  <a:sym typeface="TT Commons Pro Bold"/>
                </a:rPr>
                <a:t>ర్</a:t>
              </a:r>
            </a:p>
          </p:txBody>
        </p:sp>
      </p:grpSp>
      <p:grpSp>
        <p:nvGrpSpPr>
          <p:cNvPr name="Group 345" id="345"/>
          <p:cNvGrpSpPr/>
          <p:nvPr/>
        </p:nvGrpSpPr>
        <p:grpSpPr>
          <a:xfrm rot="0">
            <a:off x="1057323" y="2829239"/>
            <a:ext cx="561470" cy="213455"/>
            <a:chOff x="0" y="0"/>
            <a:chExt cx="748627" cy="284607"/>
          </a:xfrm>
        </p:grpSpPr>
        <p:sp>
          <p:nvSpPr>
            <p:cNvPr name="Freeform 346" id="346"/>
            <p:cNvSpPr/>
            <p:nvPr/>
          </p:nvSpPr>
          <p:spPr>
            <a:xfrm flipH="false" flipV="false" rot="0">
              <a:off x="0" y="0"/>
              <a:ext cx="748665" cy="284607"/>
            </a:xfrm>
            <a:custGeom>
              <a:avLst/>
              <a:gdLst/>
              <a:ahLst/>
              <a:cxnLst/>
              <a:rect r="r" b="b" t="t" l="l"/>
              <a:pathLst>
                <a:path h="284607" w="748665">
                  <a:moveTo>
                    <a:pt x="0" y="0"/>
                  </a:moveTo>
                  <a:lnTo>
                    <a:pt x="748665" y="0"/>
                  </a:lnTo>
                  <a:lnTo>
                    <a:pt x="748665" y="284607"/>
                  </a:lnTo>
                  <a:lnTo>
                    <a:pt x="0" y="284607"/>
                  </a:lnTo>
                  <a:close/>
                </a:path>
              </a:pathLst>
            </a:custGeom>
            <a:blipFill>
              <a:blip r:embed="rId5">
                <a:alphaModFix amt="0"/>
              </a:blip>
              <a:stretch>
                <a:fillRect l="0" t="-1218" r="5" b="-1218"/>
              </a:stretch>
            </a:blipFill>
          </p:spPr>
        </p:sp>
      </p:grpSp>
      <p:grpSp>
        <p:nvGrpSpPr>
          <p:cNvPr name="Group 347" id="347"/>
          <p:cNvGrpSpPr/>
          <p:nvPr/>
        </p:nvGrpSpPr>
        <p:grpSpPr>
          <a:xfrm rot="0">
            <a:off x="1057323" y="2857814"/>
            <a:ext cx="561470" cy="184880"/>
            <a:chOff x="0" y="0"/>
            <a:chExt cx="748627" cy="246507"/>
          </a:xfrm>
        </p:grpSpPr>
        <p:sp>
          <p:nvSpPr>
            <p:cNvPr name="Freeform 348" id="348"/>
            <p:cNvSpPr/>
            <p:nvPr/>
          </p:nvSpPr>
          <p:spPr>
            <a:xfrm flipH="false" flipV="false" rot="0">
              <a:off x="0" y="0"/>
              <a:ext cx="748627" cy="246512"/>
            </a:xfrm>
            <a:custGeom>
              <a:avLst/>
              <a:gdLst/>
              <a:ahLst/>
              <a:cxnLst/>
              <a:rect r="r" b="b" t="t" l="l"/>
              <a:pathLst>
                <a:path h="246512" w="748627">
                  <a:moveTo>
                    <a:pt x="0" y="0"/>
                  </a:moveTo>
                  <a:lnTo>
                    <a:pt x="748627" y="0"/>
                  </a:lnTo>
                  <a:lnTo>
                    <a:pt x="748627" y="246512"/>
                  </a:lnTo>
                  <a:lnTo>
                    <a:pt x="0" y="246512"/>
                  </a:lnTo>
                  <a:close/>
                </a:path>
              </a:pathLst>
            </a:custGeom>
            <a:blipFill>
              <a:blip r:embed="rId6">
                <a:alphaModFix amt="0"/>
              </a:blip>
              <a:stretch>
                <a:fillRect l="0" t="-9174" r="0" b="-9172"/>
              </a:stretch>
            </a:blipFill>
          </p:spPr>
        </p:sp>
        <p:sp>
          <p:nvSpPr>
            <p:cNvPr name="TextBox 349" id="349"/>
            <p:cNvSpPr txBox="true"/>
            <p:nvPr/>
          </p:nvSpPr>
          <p:spPr>
            <a:xfrm>
              <a:off x="0" y="38100"/>
              <a:ext cx="748627" cy="208407"/>
            </a:xfrm>
            <a:prstGeom prst="rect">
              <a:avLst/>
            </a:prstGeom>
          </p:spPr>
          <p:txBody>
            <a:bodyPr anchor="ctr" rtlCol="false" tIns="0" lIns="0" bIns="0" rIns="0"/>
            <a:lstStyle/>
            <a:p>
              <a:pPr algn="l">
                <a:lnSpc>
                  <a:spcPts val="899"/>
                </a:lnSpc>
              </a:pPr>
              <a:r>
                <a:rPr lang="en-US" sz="1028" b="true">
                  <a:solidFill>
                    <a:srgbClr val="E89D65"/>
                  </a:solidFill>
                  <a:latin typeface="TT Commons Pro Bold"/>
                  <a:ea typeface="TT Commons Pro Bold"/>
                  <a:cs typeface="TT Commons Pro Bold"/>
                  <a:sym typeface="TT Commons Pro Bold"/>
                </a:rPr>
                <a:t>SWIGGY</a:t>
              </a:r>
            </a:p>
          </p:txBody>
        </p:sp>
      </p:grpSp>
      <p:grpSp>
        <p:nvGrpSpPr>
          <p:cNvPr name="Group 350" id="350"/>
          <p:cNvGrpSpPr/>
          <p:nvPr/>
        </p:nvGrpSpPr>
        <p:grpSpPr>
          <a:xfrm rot="0">
            <a:off x="845858" y="2778204"/>
            <a:ext cx="175003" cy="467154"/>
            <a:chOff x="0" y="0"/>
            <a:chExt cx="233337" cy="622872"/>
          </a:xfrm>
        </p:grpSpPr>
        <p:sp>
          <p:nvSpPr>
            <p:cNvPr name="Freeform 351" id="351"/>
            <p:cNvSpPr/>
            <p:nvPr/>
          </p:nvSpPr>
          <p:spPr>
            <a:xfrm flipH="false" flipV="false" rot="0">
              <a:off x="0" y="0"/>
              <a:ext cx="233299" cy="622935"/>
            </a:xfrm>
            <a:custGeom>
              <a:avLst/>
              <a:gdLst/>
              <a:ahLst/>
              <a:cxnLst/>
              <a:rect r="r" b="b" t="t" l="l"/>
              <a:pathLst>
                <a:path h="622935" w="233299">
                  <a:moveTo>
                    <a:pt x="0" y="0"/>
                  </a:moveTo>
                  <a:lnTo>
                    <a:pt x="233299" y="0"/>
                  </a:lnTo>
                  <a:lnTo>
                    <a:pt x="233299" y="622935"/>
                  </a:lnTo>
                  <a:lnTo>
                    <a:pt x="0" y="622935"/>
                  </a:lnTo>
                  <a:close/>
                </a:path>
              </a:pathLst>
            </a:custGeom>
            <a:blipFill>
              <a:blip r:embed="rId5">
                <a:alphaModFix amt="0"/>
              </a:blip>
              <a:stretch>
                <a:fillRect l="-292781" t="0" r="-292798" b="10"/>
              </a:stretch>
            </a:blipFill>
          </p:spPr>
        </p:sp>
      </p:grpSp>
      <p:grpSp>
        <p:nvGrpSpPr>
          <p:cNvPr name="Group 352" id="352"/>
          <p:cNvGrpSpPr/>
          <p:nvPr/>
        </p:nvGrpSpPr>
        <p:grpSpPr>
          <a:xfrm rot="0">
            <a:off x="845858" y="2842498"/>
            <a:ext cx="175003" cy="402860"/>
            <a:chOff x="0" y="0"/>
            <a:chExt cx="233337" cy="537146"/>
          </a:xfrm>
        </p:grpSpPr>
        <p:sp>
          <p:nvSpPr>
            <p:cNvPr name="Freeform 353" id="353"/>
            <p:cNvSpPr/>
            <p:nvPr/>
          </p:nvSpPr>
          <p:spPr>
            <a:xfrm flipH="false" flipV="false" rot="0">
              <a:off x="0" y="0"/>
              <a:ext cx="233337" cy="537147"/>
            </a:xfrm>
            <a:custGeom>
              <a:avLst/>
              <a:gdLst/>
              <a:ahLst/>
              <a:cxnLst/>
              <a:rect r="r" b="b" t="t" l="l"/>
              <a:pathLst>
                <a:path h="537147" w="233337">
                  <a:moveTo>
                    <a:pt x="0" y="0"/>
                  </a:moveTo>
                  <a:lnTo>
                    <a:pt x="233337" y="0"/>
                  </a:lnTo>
                  <a:lnTo>
                    <a:pt x="233337" y="537147"/>
                  </a:lnTo>
                  <a:lnTo>
                    <a:pt x="0" y="537147"/>
                  </a:lnTo>
                  <a:close/>
                </a:path>
              </a:pathLst>
            </a:custGeom>
            <a:blipFill>
              <a:blip r:embed="rId6">
                <a:alphaModFix amt="0"/>
              </a:blip>
              <a:stretch>
                <a:fillRect l="-245357" t="0" r="-245356" b="0"/>
              </a:stretch>
            </a:blipFill>
          </p:spPr>
        </p:sp>
        <p:sp>
          <p:nvSpPr>
            <p:cNvPr name="TextBox 354" id="354"/>
            <p:cNvSpPr txBox="true"/>
            <p:nvPr/>
          </p:nvSpPr>
          <p:spPr>
            <a:xfrm>
              <a:off x="0" y="85725"/>
              <a:ext cx="233337" cy="451421"/>
            </a:xfrm>
            <a:prstGeom prst="rect">
              <a:avLst/>
            </a:prstGeom>
          </p:spPr>
          <p:txBody>
            <a:bodyPr anchor="ctr" rtlCol="false" tIns="0" lIns="0" bIns="0" rIns="0"/>
            <a:lstStyle/>
            <a:p>
              <a:pPr algn="ctr">
                <a:lnSpc>
                  <a:spcPts val="1665"/>
                </a:lnSpc>
              </a:pPr>
              <a:r>
                <a:rPr lang="en-US" sz="2164" b="true">
                  <a:solidFill>
                    <a:srgbClr val="E9C19A"/>
                  </a:solidFill>
                  <a:latin typeface="TT Commons Pro Bold"/>
                  <a:ea typeface="TT Commons Pro Bold"/>
                  <a:cs typeface="TT Commons Pro Bold"/>
                  <a:sym typeface="TT Commons Pro Bold"/>
                </a:rPr>
                <a:t>9</a:t>
              </a:r>
            </a:p>
          </p:txBody>
        </p:sp>
      </p:grpSp>
      <p:grpSp>
        <p:nvGrpSpPr>
          <p:cNvPr name="Group 355" id="355"/>
          <p:cNvGrpSpPr/>
          <p:nvPr/>
        </p:nvGrpSpPr>
        <p:grpSpPr>
          <a:xfrm rot="0">
            <a:off x="452095" y="2858414"/>
            <a:ext cx="80200" cy="116681"/>
            <a:chOff x="0" y="0"/>
            <a:chExt cx="106934" cy="155575"/>
          </a:xfrm>
        </p:grpSpPr>
        <p:sp>
          <p:nvSpPr>
            <p:cNvPr name="Freeform 356" id="356" descr="preencoded.png"/>
            <p:cNvSpPr/>
            <p:nvPr/>
          </p:nvSpPr>
          <p:spPr>
            <a:xfrm flipH="false" flipV="false" rot="0">
              <a:off x="0" y="0"/>
              <a:ext cx="106934" cy="155575"/>
            </a:xfrm>
            <a:custGeom>
              <a:avLst/>
              <a:gdLst/>
              <a:ahLst/>
              <a:cxnLst/>
              <a:rect r="r" b="b" t="t" l="l"/>
              <a:pathLst>
                <a:path h="155575" w="106934">
                  <a:moveTo>
                    <a:pt x="0" y="0"/>
                  </a:moveTo>
                  <a:lnTo>
                    <a:pt x="106934" y="0"/>
                  </a:lnTo>
                  <a:lnTo>
                    <a:pt x="106934" y="155575"/>
                  </a:lnTo>
                  <a:lnTo>
                    <a:pt x="0" y="155575"/>
                  </a:lnTo>
                  <a:lnTo>
                    <a:pt x="0" y="0"/>
                  </a:lnTo>
                  <a:close/>
                </a:path>
              </a:pathLst>
            </a:custGeom>
            <a:blipFill>
              <a:blip r:embed="rId77"/>
              <a:stretch>
                <a:fillRect l="0" t="-228" r="0" b="-228"/>
              </a:stretch>
            </a:blipFill>
          </p:spPr>
        </p:sp>
      </p:grpSp>
      <p:grpSp>
        <p:nvGrpSpPr>
          <p:cNvPr name="Group 357" id="357"/>
          <p:cNvGrpSpPr/>
          <p:nvPr/>
        </p:nvGrpSpPr>
        <p:grpSpPr>
          <a:xfrm rot="0">
            <a:off x="1895885" y="2668819"/>
            <a:ext cx="87535" cy="43720"/>
            <a:chOff x="0" y="0"/>
            <a:chExt cx="116713" cy="58293"/>
          </a:xfrm>
        </p:grpSpPr>
        <p:sp>
          <p:nvSpPr>
            <p:cNvPr name="Freeform 358" id="358" descr="preencoded.png"/>
            <p:cNvSpPr/>
            <p:nvPr/>
          </p:nvSpPr>
          <p:spPr>
            <a:xfrm flipH="false" flipV="false" rot="0">
              <a:off x="0" y="0"/>
              <a:ext cx="116713" cy="58293"/>
            </a:xfrm>
            <a:custGeom>
              <a:avLst/>
              <a:gdLst/>
              <a:ahLst/>
              <a:cxnLst/>
              <a:rect r="r" b="b" t="t" l="l"/>
              <a:pathLst>
                <a:path h="58293" w="116713">
                  <a:moveTo>
                    <a:pt x="0" y="0"/>
                  </a:moveTo>
                  <a:lnTo>
                    <a:pt x="116713" y="0"/>
                  </a:lnTo>
                  <a:lnTo>
                    <a:pt x="116713" y="58293"/>
                  </a:lnTo>
                  <a:lnTo>
                    <a:pt x="0" y="58293"/>
                  </a:lnTo>
                  <a:lnTo>
                    <a:pt x="0" y="0"/>
                  </a:lnTo>
                  <a:close/>
                </a:path>
              </a:pathLst>
            </a:custGeom>
            <a:blipFill>
              <a:blip r:embed="rId78"/>
              <a:stretch>
                <a:fillRect l="0" t="-2679" r="0" b="-2701"/>
              </a:stretch>
            </a:blipFill>
          </p:spPr>
        </p:sp>
      </p:grpSp>
      <p:grpSp>
        <p:nvGrpSpPr>
          <p:cNvPr name="Group 359" id="359"/>
          <p:cNvGrpSpPr/>
          <p:nvPr/>
        </p:nvGrpSpPr>
        <p:grpSpPr>
          <a:xfrm rot="0">
            <a:off x="1699003" y="2668819"/>
            <a:ext cx="123920" cy="43720"/>
            <a:chOff x="0" y="0"/>
            <a:chExt cx="165227" cy="58293"/>
          </a:xfrm>
        </p:grpSpPr>
        <p:sp>
          <p:nvSpPr>
            <p:cNvPr name="Freeform 360" id="360" descr="preencoded.png"/>
            <p:cNvSpPr/>
            <p:nvPr/>
          </p:nvSpPr>
          <p:spPr>
            <a:xfrm flipH="false" flipV="false" rot="0">
              <a:off x="0" y="0"/>
              <a:ext cx="165227" cy="58293"/>
            </a:xfrm>
            <a:custGeom>
              <a:avLst/>
              <a:gdLst/>
              <a:ahLst/>
              <a:cxnLst/>
              <a:rect r="r" b="b" t="t" l="l"/>
              <a:pathLst>
                <a:path h="58293" w="165227">
                  <a:moveTo>
                    <a:pt x="0" y="0"/>
                  </a:moveTo>
                  <a:lnTo>
                    <a:pt x="165227" y="0"/>
                  </a:lnTo>
                  <a:lnTo>
                    <a:pt x="165227" y="58293"/>
                  </a:lnTo>
                  <a:lnTo>
                    <a:pt x="0" y="58293"/>
                  </a:lnTo>
                  <a:lnTo>
                    <a:pt x="0" y="0"/>
                  </a:lnTo>
                  <a:close/>
                </a:path>
              </a:pathLst>
            </a:custGeom>
            <a:blipFill>
              <a:blip r:embed="rId79"/>
              <a:stretch>
                <a:fillRect l="0" t="-610" r="0" b="-610"/>
              </a:stretch>
            </a:blipFill>
          </p:spPr>
        </p:sp>
      </p:grpSp>
      <p:grpSp>
        <p:nvGrpSpPr>
          <p:cNvPr name="Group 361" id="361"/>
          <p:cNvGrpSpPr/>
          <p:nvPr/>
        </p:nvGrpSpPr>
        <p:grpSpPr>
          <a:xfrm rot="0">
            <a:off x="6114240" y="995582"/>
            <a:ext cx="6693922" cy="517284"/>
            <a:chOff x="0" y="0"/>
            <a:chExt cx="8925230" cy="689712"/>
          </a:xfrm>
        </p:grpSpPr>
        <p:sp>
          <p:nvSpPr>
            <p:cNvPr name="Freeform 362" id="362"/>
            <p:cNvSpPr/>
            <p:nvPr/>
          </p:nvSpPr>
          <p:spPr>
            <a:xfrm flipH="false" flipV="false" rot="0">
              <a:off x="0" y="0"/>
              <a:ext cx="8925179" cy="689737"/>
            </a:xfrm>
            <a:custGeom>
              <a:avLst/>
              <a:gdLst/>
              <a:ahLst/>
              <a:cxnLst/>
              <a:rect r="r" b="b" t="t" l="l"/>
              <a:pathLst>
                <a:path h="689737" w="8925179">
                  <a:moveTo>
                    <a:pt x="0" y="0"/>
                  </a:moveTo>
                  <a:lnTo>
                    <a:pt x="8925179" y="0"/>
                  </a:lnTo>
                  <a:lnTo>
                    <a:pt x="8925179" y="689737"/>
                  </a:lnTo>
                  <a:lnTo>
                    <a:pt x="0" y="689737"/>
                  </a:lnTo>
                  <a:close/>
                </a:path>
              </a:pathLst>
            </a:custGeom>
            <a:blipFill>
              <a:blip r:embed="rId5">
                <a:alphaModFix amt="0"/>
              </a:blip>
              <a:stretch>
                <a:fillRect l="0" t="-201962" r="0" b="-201960"/>
              </a:stretch>
            </a:blipFill>
          </p:spPr>
        </p:sp>
      </p:grpSp>
      <p:grpSp>
        <p:nvGrpSpPr>
          <p:cNvPr name="Group 363" id="363"/>
          <p:cNvGrpSpPr/>
          <p:nvPr/>
        </p:nvGrpSpPr>
        <p:grpSpPr>
          <a:xfrm rot="0">
            <a:off x="6114240" y="1024157"/>
            <a:ext cx="6693922" cy="488718"/>
            <a:chOff x="0" y="0"/>
            <a:chExt cx="8925230" cy="651624"/>
          </a:xfrm>
        </p:grpSpPr>
        <p:sp>
          <p:nvSpPr>
            <p:cNvPr name="Freeform 364" id="364"/>
            <p:cNvSpPr/>
            <p:nvPr/>
          </p:nvSpPr>
          <p:spPr>
            <a:xfrm flipH="false" flipV="false" rot="0">
              <a:off x="0" y="0"/>
              <a:ext cx="8925230" cy="651619"/>
            </a:xfrm>
            <a:custGeom>
              <a:avLst/>
              <a:gdLst/>
              <a:ahLst/>
              <a:cxnLst/>
              <a:rect r="r" b="b" t="t" l="l"/>
              <a:pathLst>
                <a:path h="651619" w="8925230">
                  <a:moveTo>
                    <a:pt x="0" y="0"/>
                  </a:moveTo>
                  <a:lnTo>
                    <a:pt x="8925230" y="0"/>
                  </a:lnTo>
                  <a:lnTo>
                    <a:pt x="8925230" y="651619"/>
                  </a:lnTo>
                  <a:lnTo>
                    <a:pt x="0" y="651619"/>
                  </a:lnTo>
                  <a:close/>
                </a:path>
              </a:pathLst>
            </a:custGeom>
            <a:blipFill>
              <a:blip r:embed="rId6">
                <a:alphaModFix amt="0"/>
              </a:blip>
              <a:stretch>
                <a:fillRect l="0" t="-216886" r="0" b="-216887"/>
              </a:stretch>
            </a:blipFill>
          </p:spPr>
        </p:sp>
        <p:sp>
          <p:nvSpPr>
            <p:cNvPr name="TextBox 365" id="365"/>
            <p:cNvSpPr txBox="true"/>
            <p:nvPr/>
          </p:nvSpPr>
          <p:spPr>
            <a:xfrm>
              <a:off x="0" y="38100"/>
              <a:ext cx="8925230" cy="613524"/>
            </a:xfrm>
            <a:prstGeom prst="rect">
              <a:avLst/>
            </a:prstGeom>
          </p:spPr>
          <p:txBody>
            <a:bodyPr anchor="ctr" rtlCol="false" tIns="0" lIns="0" bIns="0" rIns="0"/>
            <a:lstStyle/>
            <a:p>
              <a:pPr algn="l">
                <a:lnSpc>
                  <a:spcPts val="2346"/>
                </a:lnSpc>
              </a:pPr>
              <a:r>
                <a:rPr lang="en-US" sz="2400" b="true">
                  <a:solidFill>
                    <a:srgbClr val="ED5E40"/>
                  </a:solidFill>
                  <a:latin typeface="TT Commons Pro Bold"/>
                  <a:ea typeface="TT Commons Pro Bold"/>
                  <a:cs typeface="TT Commons Pro Bold"/>
                  <a:sym typeface="TT Commons Pro Bold"/>
                </a:rPr>
                <a:t>Swiggy</a:t>
              </a:r>
              <a:r>
                <a:rPr lang="en-US" sz="2400" b="true">
                  <a:solidFill>
                    <a:srgbClr val="9E9E9F"/>
                  </a:solidFill>
                  <a:latin typeface="TT Commons Pro Bold"/>
                  <a:ea typeface="TT Commons Pro Bold"/>
                  <a:cs typeface="TT Commons Pro Bold"/>
                  <a:sym typeface="TT Commons Pro Bold"/>
                </a:rPr>
                <a:t> </a:t>
              </a:r>
              <a:r>
                <a:rPr lang="en-US" sz="2400" b="true">
                  <a:solidFill>
                    <a:srgbClr val="E1E1E2"/>
                  </a:solidFill>
                  <a:latin typeface="TT Commons Pro Bold"/>
                  <a:ea typeface="TT Commons Pro Bold"/>
                  <a:cs typeface="TT Commons Pro Bold"/>
                  <a:sym typeface="TT Commons Pro Bold"/>
                </a:rPr>
                <a:t>vs</a:t>
              </a:r>
              <a:r>
                <a:rPr lang="en-US" sz="2400" b="true">
                  <a:solidFill>
                    <a:srgbClr val="FFFFFF"/>
                  </a:solidFill>
                  <a:latin typeface="TT Commons Pro Bold"/>
                  <a:ea typeface="TT Commons Pro Bold"/>
                  <a:cs typeface="TT Commons Pro Bold"/>
                  <a:sym typeface="TT Commons Pro Bold"/>
                </a:rPr>
                <a:t> </a:t>
              </a:r>
              <a:r>
                <a:rPr lang="en-US" sz="2400" b="true">
                  <a:solidFill>
                    <a:srgbClr val="BB031B"/>
                  </a:solidFill>
                  <a:latin typeface="TT Commons Pro Bold"/>
                  <a:ea typeface="TT Commons Pro Bold"/>
                  <a:cs typeface="TT Commons Pro Bold"/>
                  <a:sym typeface="TT Commons Pro Bold"/>
                </a:rPr>
                <a:t>Zomato</a:t>
              </a:r>
              <a:r>
                <a:rPr lang="en-US" sz="2400" b="true">
                  <a:solidFill>
                    <a:srgbClr val="9E9E9F"/>
                  </a:solidFill>
                  <a:latin typeface="TT Commons Pro Bold"/>
                  <a:ea typeface="TT Commons Pro Bold"/>
                  <a:cs typeface="TT Commons Pro Bold"/>
                  <a:sym typeface="TT Commons Pro Bold"/>
                </a:rPr>
                <a:t> </a:t>
              </a:r>
              <a:r>
                <a:rPr lang="en-US" sz="2400" b="true">
                  <a:solidFill>
                    <a:srgbClr val="E1E1E2"/>
                  </a:solidFill>
                  <a:latin typeface="TT Commons Pro Bold"/>
                  <a:ea typeface="TT Commons Pro Bold"/>
                  <a:cs typeface="TT Commons Pro Bold"/>
                  <a:sym typeface="TT Commons Pro Bold"/>
                </a:rPr>
                <a:t>Platform Comparison</a:t>
              </a:r>
            </a:p>
          </p:txBody>
        </p:sp>
      </p:grpSp>
      <p:grpSp>
        <p:nvGrpSpPr>
          <p:cNvPr name="Group 366" id="366"/>
          <p:cNvGrpSpPr/>
          <p:nvPr/>
        </p:nvGrpSpPr>
        <p:grpSpPr>
          <a:xfrm rot="0">
            <a:off x="554184" y="1013565"/>
            <a:ext cx="1057323" cy="332832"/>
            <a:chOff x="0" y="0"/>
            <a:chExt cx="1409764" cy="443776"/>
          </a:xfrm>
        </p:grpSpPr>
        <p:sp>
          <p:nvSpPr>
            <p:cNvPr name="Freeform 367" id="367"/>
            <p:cNvSpPr/>
            <p:nvPr/>
          </p:nvSpPr>
          <p:spPr>
            <a:xfrm flipH="false" flipV="false" rot="0">
              <a:off x="0" y="0"/>
              <a:ext cx="1409700" cy="443738"/>
            </a:xfrm>
            <a:custGeom>
              <a:avLst/>
              <a:gdLst/>
              <a:ahLst/>
              <a:cxnLst/>
              <a:rect r="r" b="b" t="t" l="l"/>
              <a:pathLst>
                <a:path h="443738" w="1409700">
                  <a:moveTo>
                    <a:pt x="0" y="0"/>
                  </a:moveTo>
                  <a:lnTo>
                    <a:pt x="1409700" y="0"/>
                  </a:lnTo>
                  <a:lnTo>
                    <a:pt x="1409700" y="443738"/>
                  </a:lnTo>
                  <a:lnTo>
                    <a:pt x="0" y="443738"/>
                  </a:lnTo>
                  <a:close/>
                </a:path>
              </a:pathLst>
            </a:custGeom>
            <a:blipFill>
              <a:blip r:embed="rId5">
                <a:alphaModFix amt="0"/>
              </a:blip>
              <a:stretch>
                <a:fillRect l="0" t="-11857" r="-4" b="-11866"/>
              </a:stretch>
            </a:blipFill>
          </p:spPr>
        </p:sp>
      </p:grpSp>
      <p:grpSp>
        <p:nvGrpSpPr>
          <p:cNvPr name="Group 368" id="368"/>
          <p:cNvGrpSpPr/>
          <p:nvPr/>
        </p:nvGrpSpPr>
        <p:grpSpPr>
          <a:xfrm rot="0">
            <a:off x="554184" y="1056427"/>
            <a:ext cx="1057323" cy="289970"/>
            <a:chOff x="0" y="0"/>
            <a:chExt cx="1409764" cy="386626"/>
          </a:xfrm>
        </p:grpSpPr>
        <p:sp>
          <p:nvSpPr>
            <p:cNvPr name="Freeform 369" id="369"/>
            <p:cNvSpPr/>
            <p:nvPr/>
          </p:nvSpPr>
          <p:spPr>
            <a:xfrm flipH="false" flipV="false" rot="0">
              <a:off x="0" y="0"/>
              <a:ext cx="1409764" cy="386627"/>
            </a:xfrm>
            <a:custGeom>
              <a:avLst/>
              <a:gdLst/>
              <a:ahLst/>
              <a:cxnLst/>
              <a:rect r="r" b="b" t="t" l="l"/>
              <a:pathLst>
                <a:path h="386627" w="1409764">
                  <a:moveTo>
                    <a:pt x="0" y="0"/>
                  </a:moveTo>
                  <a:lnTo>
                    <a:pt x="1409764" y="0"/>
                  </a:lnTo>
                  <a:lnTo>
                    <a:pt x="1409764" y="386627"/>
                  </a:lnTo>
                  <a:lnTo>
                    <a:pt x="0" y="386627"/>
                  </a:lnTo>
                  <a:close/>
                </a:path>
              </a:pathLst>
            </a:custGeom>
            <a:blipFill>
              <a:blip r:embed="rId6">
                <a:alphaModFix amt="0"/>
              </a:blip>
              <a:stretch>
                <a:fillRect l="0" t="-21048" r="0" b="-21048"/>
              </a:stretch>
            </a:blipFill>
          </p:spPr>
        </p:sp>
        <p:sp>
          <p:nvSpPr>
            <p:cNvPr name="TextBox 370" id="370"/>
            <p:cNvSpPr txBox="true"/>
            <p:nvPr/>
          </p:nvSpPr>
          <p:spPr>
            <a:xfrm>
              <a:off x="0" y="57150"/>
              <a:ext cx="1409764" cy="329476"/>
            </a:xfrm>
            <a:prstGeom prst="rect">
              <a:avLst/>
            </a:prstGeom>
          </p:spPr>
          <p:txBody>
            <a:bodyPr anchor="ctr" rtlCol="false" tIns="0" lIns="0" bIns="0" rIns="0"/>
            <a:lstStyle/>
            <a:p>
              <a:pPr algn="l">
                <a:lnSpc>
                  <a:spcPts val="1263"/>
                </a:lnSpc>
              </a:pPr>
              <a:r>
                <a:rPr lang="en-US" sz="1573" b="true">
                  <a:solidFill>
                    <a:srgbClr val="835039"/>
                  </a:solidFill>
                  <a:latin typeface="TT Commons Pro Bold"/>
                  <a:ea typeface="TT Commons Pro Bold"/>
                  <a:cs typeface="TT Commons Pro Bold"/>
                  <a:sym typeface="TT Commons Pro Bold"/>
                </a:rPr>
                <a:t>SWIGGY</a:t>
              </a:r>
            </a:p>
          </p:txBody>
        </p:sp>
      </p:grpSp>
      <p:grpSp>
        <p:nvGrpSpPr>
          <p:cNvPr name="Group 371" id="371"/>
          <p:cNvGrpSpPr/>
          <p:nvPr/>
        </p:nvGrpSpPr>
        <p:grpSpPr>
          <a:xfrm rot="0">
            <a:off x="15830645" y="422929"/>
            <a:ext cx="1917764" cy="811187"/>
            <a:chOff x="0" y="0"/>
            <a:chExt cx="2557018" cy="1081583"/>
          </a:xfrm>
        </p:grpSpPr>
        <p:sp>
          <p:nvSpPr>
            <p:cNvPr name="Freeform 372" id="372"/>
            <p:cNvSpPr/>
            <p:nvPr/>
          </p:nvSpPr>
          <p:spPr>
            <a:xfrm flipH="false" flipV="false" rot="0">
              <a:off x="0" y="0"/>
              <a:ext cx="2557018" cy="1081532"/>
            </a:xfrm>
            <a:custGeom>
              <a:avLst/>
              <a:gdLst/>
              <a:ahLst/>
              <a:cxnLst/>
              <a:rect r="r" b="b" t="t" l="l"/>
              <a:pathLst>
                <a:path h="1081532" w="2557018">
                  <a:moveTo>
                    <a:pt x="0" y="0"/>
                  </a:moveTo>
                  <a:lnTo>
                    <a:pt x="2557018" y="0"/>
                  </a:lnTo>
                  <a:lnTo>
                    <a:pt x="2557018" y="1081532"/>
                  </a:lnTo>
                  <a:lnTo>
                    <a:pt x="0" y="1081532"/>
                  </a:lnTo>
                  <a:close/>
                </a:path>
              </a:pathLst>
            </a:custGeom>
            <a:blipFill>
              <a:blip r:embed="rId5">
                <a:alphaModFix amt="0"/>
              </a:blip>
              <a:stretch>
                <a:fillRect l="-4308" t="0" r="-4308" b="-4"/>
              </a:stretch>
            </a:blipFill>
          </p:spPr>
        </p:sp>
      </p:grpSp>
      <p:grpSp>
        <p:nvGrpSpPr>
          <p:cNvPr name="Group 373" id="373"/>
          <p:cNvGrpSpPr/>
          <p:nvPr/>
        </p:nvGrpSpPr>
        <p:grpSpPr>
          <a:xfrm rot="0">
            <a:off x="15830645" y="544373"/>
            <a:ext cx="1917764" cy="689743"/>
            <a:chOff x="0" y="0"/>
            <a:chExt cx="2557018" cy="919658"/>
          </a:xfrm>
        </p:grpSpPr>
        <p:sp>
          <p:nvSpPr>
            <p:cNvPr name="Freeform 374" id="374"/>
            <p:cNvSpPr/>
            <p:nvPr/>
          </p:nvSpPr>
          <p:spPr>
            <a:xfrm flipH="false" flipV="false" rot="0">
              <a:off x="0" y="0"/>
              <a:ext cx="2557019" cy="919652"/>
            </a:xfrm>
            <a:custGeom>
              <a:avLst/>
              <a:gdLst/>
              <a:ahLst/>
              <a:cxnLst/>
              <a:rect r="r" b="b" t="t" l="l"/>
              <a:pathLst>
                <a:path h="919652" w="2557019">
                  <a:moveTo>
                    <a:pt x="0" y="0"/>
                  </a:moveTo>
                  <a:lnTo>
                    <a:pt x="2557019" y="0"/>
                  </a:lnTo>
                  <a:lnTo>
                    <a:pt x="2557019" y="919652"/>
                  </a:lnTo>
                  <a:lnTo>
                    <a:pt x="0" y="919652"/>
                  </a:lnTo>
                  <a:close/>
                </a:path>
              </a:pathLst>
            </a:custGeom>
            <a:blipFill>
              <a:blip r:embed="rId6">
                <a:alphaModFix amt="0"/>
              </a:blip>
              <a:stretch>
                <a:fillRect l="0" t="-4176" r="0" b="-4176"/>
              </a:stretch>
            </a:blipFill>
          </p:spPr>
        </p:sp>
        <p:sp>
          <p:nvSpPr>
            <p:cNvPr name="TextBox 375" id="375"/>
            <p:cNvSpPr txBox="true"/>
            <p:nvPr/>
          </p:nvSpPr>
          <p:spPr>
            <a:xfrm>
              <a:off x="0" y="161925"/>
              <a:ext cx="2557018" cy="757733"/>
            </a:xfrm>
            <a:prstGeom prst="rect">
              <a:avLst/>
            </a:prstGeom>
          </p:spPr>
          <p:txBody>
            <a:bodyPr anchor="ctr" rtlCol="false" tIns="0" lIns="0" bIns="0" rIns="0"/>
            <a:lstStyle/>
            <a:p>
              <a:pPr algn="l">
                <a:lnSpc>
                  <a:spcPts val="2813"/>
                </a:lnSpc>
              </a:pPr>
              <a:r>
                <a:rPr lang="en-US" sz="3766" b="true">
                  <a:solidFill>
                    <a:srgbClr val="DACBCA"/>
                  </a:solidFill>
                  <a:latin typeface="TT Commons Pro Bold"/>
                  <a:ea typeface="TT Commons Pro Bold"/>
                  <a:cs typeface="TT Commons Pro Bold"/>
                  <a:sym typeface="TT Commons Pro Bold"/>
                </a:rPr>
                <a:t>zomato</a:t>
              </a:r>
            </a:p>
          </p:txBody>
        </p:sp>
      </p:grpSp>
      <p:grpSp>
        <p:nvGrpSpPr>
          <p:cNvPr name="Group 376" id="376"/>
          <p:cNvGrpSpPr/>
          <p:nvPr/>
        </p:nvGrpSpPr>
        <p:grpSpPr>
          <a:xfrm rot="0">
            <a:off x="13154530" y="597932"/>
            <a:ext cx="1895856" cy="116681"/>
            <a:chOff x="0" y="0"/>
            <a:chExt cx="2527808" cy="155575"/>
          </a:xfrm>
        </p:grpSpPr>
        <p:sp>
          <p:nvSpPr>
            <p:cNvPr name="Freeform 377" id="377" descr="preencoded.png"/>
            <p:cNvSpPr/>
            <p:nvPr/>
          </p:nvSpPr>
          <p:spPr>
            <a:xfrm flipH="false" flipV="false" rot="0">
              <a:off x="0" y="0"/>
              <a:ext cx="2527808" cy="155575"/>
            </a:xfrm>
            <a:custGeom>
              <a:avLst/>
              <a:gdLst/>
              <a:ahLst/>
              <a:cxnLst/>
              <a:rect r="r" b="b" t="t" l="l"/>
              <a:pathLst>
                <a:path h="155575" w="2527808">
                  <a:moveTo>
                    <a:pt x="0" y="0"/>
                  </a:moveTo>
                  <a:lnTo>
                    <a:pt x="2527808" y="0"/>
                  </a:lnTo>
                  <a:lnTo>
                    <a:pt x="2527808" y="155575"/>
                  </a:lnTo>
                  <a:lnTo>
                    <a:pt x="0" y="155575"/>
                  </a:lnTo>
                  <a:lnTo>
                    <a:pt x="0" y="0"/>
                  </a:lnTo>
                  <a:close/>
                </a:path>
              </a:pathLst>
            </a:custGeom>
            <a:blipFill>
              <a:blip r:embed="rId80"/>
              <a:stretch>
                <a:fillRect l="0" t="-2073" r="0" b="-2081"/>
              </a:stretch>
            </a:blipFill>
          </p:spPr>
        </p:sp>
      </p:grpSp>
      <p:grpSp>
        <p:nvGrpSpPr>
          <p:cNvPr name="Group 378" id="378"/>
          <p:cNvGrpSpPr/>
          <p:nvPr/>
        </p:nvGrpSpPr>
        <p:grpSpPr>
          <a:xfrm rot="0">
            <a:off x="8779402" y="-53664"/>
            <a:ext cx="4061565" cy="1379925"/>
            <a:chOff x="0" y="0"/>
            <a:chExt cx="5415420" cy="1839900"/>
          </a:xfrm>
        </p:grpSpPr>
        <p:sp>
          <p:nvSpPr>
            <p:cNvPr name="Freeform 379" id="379"/>
            <p:cNvSpPr/>
            <p:nvPr/>
          </p:nvSpPr>
          <p:spPr>
            <a:xfrm flipH="false" flipV="false" rot="0">
              <a:off x="0" y="0"/>
              <a:ext cx="5415407" cy="1839849"/>
            </a:xfrm>
            <a:custGeom>
              <a:avLst/>
              <a:gdLst/>
              <a:ahLst/>
              <a:cxnLst/>
              <a:rect r="r" b="b" t="t" l="l"/>
              <a:pathLst>
                <a:path h="1839849" w="5415407">
                  <a:moveTo>
                    <a:pt x="0" y="0"/>
                  </a:moveTo>
                  <a:lnTo>
                    <a:pt x="5415407" y="0"/>
                  </a:lnTo>
                  <a:lnTo>
                    <a:pt x="5415407" y="1839849"/>
                  </a:lnTo>
                  <a:lnTo>
                    <a:pt x="0" y="1839849"/>
                  </a:lnTo>
                  <a:close/>
                </a:path>
              </a:pathLst>
            </a:custGeom>
            <a:blipFill>
              <a:blip r:embed="rId5">
                <a:alphaModFix amt="0"/>
              </a:blip>
              <a:stretch>
                <a:fillRect l="0" t="-7311" r="0" b="-7313"/>
              </a:stretch>
            </a:blipFill>
          </p:spPr>
        </p:sp>
      </p:grpSp>
      <p:grpSp>
        <p:nvGrpSpPr>
          <p:cNvPr name="Group 380" id="380"/>
          <p:cNvGrpSpPr/>
          <p:nvPr/>
        </p:nvGrpSpPr>
        <p:grpSpPr>
          <a:xfrm rot="0">
            <a:off x="8779402" y="132074"/>
            <a:ext cx="4061565" cy="1194178"/>
            <a:chOff x="0" y="0"/>
            <a:chExt cx="5415420" cy="1592237"/>
          </a:xfrm>
        </p:grpSpPr>
        <p:sp>
          <p:nvSpPr>
            <p:cNvPr name="Freeform 381" id="381"/>
            <p:cNvSpPr/>
            <p:nvPr/>
          </p:nvSpPr>
          <p:spPr>
            <a:xfrm flipH="false" flipV="false" rot="0">
              <a:off x="0" y="0"/>
              <a:ext cx="5415420" cy="1592242"/>
            </a:xfrm>
            <a:custGeom>
              <a:avLst/>
              <a:gdLst/>
              <a:ahLst/>
              <a:cxnLst/>
              <a:rect r="r" b="b" t="t" l="l"/>
              <a:pathLst>
                <a:path h="1592242" w="5415420">
                  <a:moveTo>
                    <a:pt x="0" y="0"/>
                  </a:moveTo>
                  <a:lnTo>
                    <a:pt x="5415420" y="0"/>
                  </a:lnTo>
                  <a:lnTo>
                    <a:pt x="5415420" y="1592242"/>
                  </a:lnTo>
                  <a:lnTo>
                    <a:pt x="0" y="1592242"/>
                  </a:lnTo>
                  <a:close/>
                </a:path>
              </a:pathLst>
            </a:custGeom>
            <a:blipFill>
              <a:blip r:embed="rId6">
                <a:alphaModFix amt="0"/>
              </a:blip>
              <a:stretch>
                <a:fillRect l="0" t="-16271" r="0" b="-16270"/>
              </a:stretch>
            </a:blipFill>
          </p:spPr>
        </p:sp>
        <p:sp>
          <p:nvSpPr>
            <p:cNvPr name="TextBox 382" id="382"/>
            <p:cNvSpPr txBox="true"/>
            <p:nvPr/>
          </p:nvSpPr>
          <p:spPr>
            <a:xfrm>
              <a:off x="0" y="247650"/>
              <a:ext cx="5415420" cy="1344587"/>
            </a:xfrm>
            <a:prstGeom prst="rect">
              <a:avLst/>
            </a:prstGeom>
          </p:spPr>
          <p:txBody>
            <a:bodyPr anchor="ctr" rtlCol="false" tIns="0" lIns="0" bIns="0" rIns="0"/>
            <a:lstStyle/>
            <a:p>
              <a:pPr algn="l">
                <a:lnSpc>
                  <a:spcPts val="4927"/>
                </a:lnSpc>
              </a:pPr>
              <a:r>
                <a:rPr lang="en-US" sz="6398" b="true">
                  <a:solidFill>
                    <a:srgbClr val="EB6934"/>
                  </a:solidFill>
                  <a:latin typeface="TT Commons Pro Bold"/>
                  <a:ea typeface="TT Commons Pro Bold"/>
                  <a:cs typeface="TT Commons Pro Bold"/>
                  <a:sym typeface="TT Commons Pro Bold"/>
                </a:rPr>
                <a:t>Overview</a:t>
              </a:r>
            </a:p>
          </p:txBody>
        </p:sp>
      </p:grpSp>
      <p:grpSp>
        <p:nvGrpSpPr>
          <p:cNvPr name="Group 383" id="383"/>
          <p:cNvGrpSpPr/>
          <p:nvPr/>
        </p:nvGrpSpPr>
        <p:grpSpPr>
          <a:xfrm rot="0">
            <a:off x="5180867" y="-81629"/>
            <a:ext cx="3332378" cy="1378991"/>
            <a:chOff x="0" y="0"/>
            <a:chExt cx="4443171" cy="1838655"/>
          </a:xfrm>
        </p:grpSpPr>
        <p:sp>
          <p:nvSpPr>
            <p:cNvPr name="Freeform 384" id="384"/>
            <p:cNvSpPr/>
            <p:nvPr/>
          </p:nvSpPr>
          <p:spPr>
            <a:xfrm flipH="false" flipV="false" rot="0">
              <a:off x="0" y="0"/>
              <a:ext cx="4443222" cy="1838706"/>
            </a:xfrm>
            <a:custGeom>
              <a:avLst/>
              <a:gdLst/>
              <a:ahLst/>
              <a:cxnLst/>
              <a:rect r="r" b="b" t="t" l="l"/>
              <a:pathLst>
                <a:path h="1838706" w="4443222">
                  <a:moveTo>
                    <a:pt x="0" y="0"/>
                  </a:moveTo>
                  <a:lnTo>
                    <a:pt x="4443222" y="0"/>
                  </a:lnTo>
                  <a:lnTo>
                    <a:pt x="4443222" y="1838706"/>
                  </a:lnTo>
                  <a:lnTo>
                    <a:pt x="0" y="1838706"/>
                  </a:lnTo>
                  <a:close/>
                </a:path>
              </a:pathLst>
            </a:custGeom>
            <a:blipFill>
              <a:blip r:embed="rId5">
                <a:alphaModFix amt="0"/>
              </a:blip>
              <a:stretch>
                <a:fillRect l="-3130" t="0" r="-3129" b="2"/>
              </a:stretch>
            </a:blipFill>
          </p:spPr>
        </p:sp>
      </p:grpSp>
      <p:grpSp>
        <p:nvGrpSpPr>
          <p:cNvPr name="Group 385" id="385"/>
          <p:cNvGrpSpPr/>
          <p:nvPr/>
        </p:nvGrpSpPr>
        <p:grpSpPr>
          <a:xfrm rot="0">
            <a:off x="5180867" y="139827"/>
            <a:ext cx="3332378" cy="1157526"/>
            <a:chOff x="0" y="0"/>
            <a:chExt cx="4443171" cy="1543368"/>
          </a:xfrm>
        </p:grpSpPr>
        <p:sp>
          <p:nvSpPr>
            <p:cNvPr name="Freeform 386" id="386"/>
            <p:cNvSpPr/>
            <p:nvPr/>
          </p:nvSpPr>
          <p:spPr>
            <a:xfrm flipH="false" flipV="false" rot="0">
              <a:off x="0" y="0"/>
              <a:ext cx="4443171" cy="1543372"/>
            </a:xfrm>
            <a:custGeom>
              <a:avLst/>
              <a:gdLst/>
              <a:ahLst/>
              <a:cxnLst/>
              <a:rect r="r" b="b" t="t" l="l"/>
              <a:pathLst>
                <a:path h="1543372" w="4443171">
                  <a:moveTo>
                    <a:pt x="0" y="0"/>
                  </a:moveTo>
                  <a:lnTo>
                    <a:pt x="4443171" y="0"/>
                  </a:lnTo>
                  <a:lnTo>
                    <a:pt x="4443171" y="1543372"/>
                  </a:lnTo>
                  <a:lnTo>
                    <a:pt x="0" y="1543372"/>
                  </a:lnTo>
                  <a:close/>
                </a:path>
              </a:pathLst>
            </a:custGeom>
            <a:blipFill>
              <a:blip r:embed="rId6">
                <a:alphaModFix amt="0"/>
              </a:blip>
              <a:stretch>
                <a:fillRect l="0" t="-6095" r="0" b="-6094"/>
              </a:stretch>
            </a:blipFill>
          </p:spPr>
        </p:sp>
        <p:sp>
          <p:nvSpPr>
            <p:cNvPr name="TextBox 387" id="387"/>
            <p:cNvSpPr txBox="true"/>
            <p:nvPr/>
          </p:nvSpPr>
          <p:spPr>
            <a:xfrm>
              <a:off x="0" y="295275"/>
              <a:ext cx="4443171" cy="1248093"/>
            </a:xfrm>
            <a:prstGeom prst="rect">
              <a:avLst/>
            </a:prstGeom>
          </p:spPr>
          <p:txBody>
            <a:bodyPr anchor="ctr" rtlCol="false" tIns="0" lIns="0" bIns="0" rIns="0"/>
            <a:lstStyle/>
            <a:p>
              <a:pPr algn="l">
                <a:lnSpc>
                  <a:spcPts val="4409"/>
                </a:lnSpc>
              </a:pPr>
              <a:r>
                <a:rPr lang="en-US" sz="6398" b="true">
                  <a:solidFill>
                    <a:srgbClr val="E1E1E2"/>
                  </a:solidFill>
                  <a:latin typeface="TT Commons Pro Bold"/>
                  <a:ea typeface="TT Commons Pro Bold"/>
                  <a:cs typeface="TT Commons Pro Bold"/>
                  <a:sym typeface="TT Commons Pro Bold"/>
                </a:rPr>
                <a:t>Dataset</a:t>
              </a:r>
            </a:p>
          </p:txBody>
        </p:sp>
      </p:grpSp>
      <p:grpSp>
        <p:nvGrpSpPr>
          <p:cNvPr name="Group 388" id="388"/>
          <p:cNvGrpSpPr/>
          <p:nvPr/>
        </p:nvGrpSpPr>
        <p:grpSpPr>
          <a:xfrm rot="0">
            <a:off x="2851118" y="597932"/>
            <a:ext cx="1932337" cy="116681"/>
            <a:chOff x="0" y="0"/>
            <a:chExt cx="2576449" cy="155575"/>
          </a:xfrm>
        </p:grpSpPr>
        <p:sp>
          <p:nvSpPr>
            <p:cNvPr name="Freeform 389" id="389" descr="preencoded.png"/>
            <p:cNvSpPr/>
            <p:nvPr/>
          </p:nvSpPr>
          <p:spPr>
            <a:xfrm flipH="false" flipV="false" rot="0">
              <a:off x="0" y="0"/>
              <a:ext cx="2576449" cy="155575"/>
            </a:xfrm>
            <a:custGeom>
              <a:avLst/>
              <a:gdLst/>
              <a:ahLst/>
              <a:cxnLst/>
              <a:rect r="r" b="b" t="t" l="l"/>
              <a:pathLst>
                <a:path h="155575" w="2576449">
                  <a:moveTo>
                    <a:pt x="0" y="0"/>
                  </a:moveTo>
                  <a:lnTo>
                    <a:pt x="2576449" y="0"/>
                  </a:lnTo>
                  <a:lnTo>
                    <a:pt x="2576449" y="155575"/>
                  </a:lnTo>
                  <a:lnTo>
                    <a:pt x="0" y="155575"/>
                  </a:lnTo>
                  <a:lnTo>
                    <a:pt x="0" y="0"/>
                  </a:lnTo>
                  <a:close/>
                </a:path>
              </a:pathLst>
            </a:custGeom>
            <a:blipFill>
              <a:blip r:embed="rId81"/>
              <a:stretch>
                <a:fillRect l="0" t="-1967" r="0" b="-1967"/>
              </a:stretch>
            </a:blipFill>
          </p:spPr>
        </p:sp>
      </p:grpSp>
      <p:grpSp>
        <p:nvGrpSpPr>
          <p:cNvPr name="Group 390" id="390"/>
          <p:cNvGrpSpPr/>
          <p:nvPr/>
        </p:nvGrpSpPr>
        <p:grpSpPr>
          <a:xfrm rot="0">
            <a:off x="765648" y="247926"/>
            <a:ext cx="576072" cy="714566"/>
            <a:chOff x="0" y="0"/>
            <a:chExt cx="768096" cy="952754"/>
          </a:xfrm>
        </p:grpSpPr>
        <p:sp>
          <p:nvSpPr>
            <p:cNvPr name="Freeform 391" id="391" descr="preencoded.png"/>
            <p:cNvSpPr/>
            <p:nvPr/>
          </p:nvSpPr>
          <p:spPr>
            <a:xfrm flipH="false" flipV="false" rot="0">
              <a:off x="0" y="0"/>
              <a:ext cx="768096" cy="952754"/>
            </a:xfrm>
            <a:custGeom>
              <a:avLst/>
              <a:gdLst/>
              <a:ahLst/>
              <a:cxnLst/>
              <a:rect r="r" b="b" t="t" l="l"/>
              <a:pathLst>
                <a:path h="952754" w="768096">
                  <a:moveTo>
                    <a:pt x="0" y="0"/>
                  </a:moveTo>
                  <a:lnTo>
                    <a:pt x="768096" y="0"/>
                  </a:lnTo>
                  <a:lnTo>
                    <a:pt x="768096" y="952754"/>
                  </a:lnTo>
                  <a:lnTo>
                    <a:pt x="0" y="952754"/>
                  </a:lnTo>
                  <a:lnTo>
                    <a:pt x="0" y="0"/>
                  </a:lnTo>
                  <a:close/>
                </a:path>
              </a:pathLst>
            </a:custGeom>
            <a:blipFill>
              <a:blip r:embed="rId82"/>
              <a:stretch>
                <a:fillRect l="0" t="-67" r="0" b="-67"/>
              </a:stretch>
            </a:blipFill>
          </p:spPr>
        </p:sp>
      </p:grpSp>
      <p:grpSp>
        <p:nvGrpSpPr>
          <p:cNvPr name="Group 392" id="392"/>
          <p:cNvGrpSpPr/>
          <p:nvPr/>
        </p:nvGrpSpPr>
        <p:grpSpPr>
          <a:xfrm rot="0">
            <a:off x="17354645" y="6788725"/>
            <a:ext cx="860441" cy="370046"/>
            <a:chOff x="0" y="0"/>
            <a:chExt cx="1147254" cy="493395"/>
          </a:xfrm>
        </p:grpSpPr>
        <p:sp>
          <p:nvSpPr>
            <p:cNvPr name="Freeform 393" id="393"/>
            <p:cNvSpPr/>
            <p:nvPr/>
          </p:nvSpPr>
          <p:spPr>
            <a:xfrm flipH="false" flipV="false" rot="0">
              <a:off x="0" y="0"/>
              <a:ext cx="1147318" cy="493395"/>
            </a:xfrm>
            <a:custGeom>
              <a:avLst/>
              <a:gdLst/>
              <a:ahLst/>
              <a:cxnLst/>
              <a:rect r="r" b="b" t="t" l="l"/>
              <a:pathLst>
                <a:path h="493395" w="1147318">
                  <a:moveTo>
                    <a:pt x="0" y="0"/>
                  </a:moveTo>
                  <a:lnTo>
                    <a:pt x="1147318" y="0"/>
                  </a:lnTo>
                  <a:lnTo>
                    <a:pt x="1147318" y="493395"/>
                  </a:lnTo>
                  <a:lnTo>
                    <a:pt x="0" y="493395"/>
                  </a:lnTo>
                  <a:close/>
                </a:path>
              </a:pathLst>
            </a:custGeom>
            <a:blipFill>
              <a:blip r:embed="rId5">
                <a:alphaModFix amt="0"/>
              </a:blip>
              <a:stretch>
                <a:fillRect l="-5215" t="0" r="-5211" b="0"/>
              </a:stretch>
            </a:blipFill>
          </p:spPr>
        </p:sp>
      </p:grpSp>
      <p:grpSp>
        <p:nvGrpSpPr>
          <p:cNvPr name="Group 394" id="394"/>
          <p:cNvGrpSpPr/>
          <p:nvPr/>
        </p:nvGrpSpPr>
        <p:grpSpPr>
          <a:xfrm rot="0">
            <a:off x="17354645" y="6817300"/>
            <a:ext cx="860441" cy="341462"/>
            <a:chOff x="0" y="0"/>
            <a:chExt cx="1147254" cy="455282"/>
          </a:xfrm>
        </p:grpSpPr>
        <p:sp>
          <p:nvSpPr>
            <p:cNvPr name="Freeform 395" id="395"/>
            <p:cNvSpPr/>
            <p:nvPr/>
          </p:nvSpPr>
          <p:spPr>
            <a:xfrm flipH="false" flipV="false" rot="0">
              <a:off x="0" y="0"/>
              <a:ext cx="1147255" cy="455287"/>
            </a:xfrm>
            <a:custGeom>
              <a:avLst/>
              <a:gdLst/>
              <a:ahLst/>
              <a:cxnLst/>
              <a:rect r="r" b="b" t="t" l="l"/>
              <a:pathLst>
                <a:path h="455287" w="1147255">
                  <a:moveTo>
                    <a:pt x="0" y="0"/>
                  </a:moveTo>
                  <a:lnTo>
                    <a:pt x="1147255" y="0"/>
                  </a:lnTo>
                  <a:lnTo>
                    <a:pt x="1147255" y="455287"/>
                  </a:lnTo>
                  <a:lnTo>
                    <a:pt x="0" y="455287"/>
                  </a:lnTo>
                  <a:close/>
                </a:path>
              </a:pathLst>
            </a:custGeom>
            <a:blipFill>
              <a:blip r:embed="rId6">
                <a:alphaModFix amt="0"/>
              </a:blip>
              <a:stretch>
                <a:fillRect l="-916" t="0" r="-916" b="0"/>
              </a:stretch>
            </a:blipFill>
          </p:spPr>
        </p:sp>
        <p:sp>
          <p:nvSpPr>
            <p:cNvPr name="TextBox 396" id="396"/>
            <p:cNvSpPr txBox="true"/>
            <p:nvPr/>
          </p:nvSpPr>
          <p:spPr>
            <a:xfrm>
              <a:off x="0" y="38100"/>
              <a:ext cx="1147254" cy="417182"/>
            </a:xfrm>
            <a:prstGeom prst="rect">
              <a:avLst/>
            </a:prstGeom>
          </p:spPr>
          <p:txBody>
            <a:bodyPr anchor="ctr" rtlCol="false" tIns="0" lIns="0" bIns="0" rIns="0"/>
            <a:lstStyle/>
            <a:p>
              <a:pPr algn="l">
                <a:lnSpc>
                  <a:spcPts val="1779"/>
                </a:lnSpc>
              </a:pPr>
              <a:r>
                <a:rPr lang="en-US" b="true" sz="1740" i="true">
                  <a:solidFill>
                    <a:srgbClr val="D69FA1"/>
                  </a:solidFill>
                  <a:latin typeface="TT Commons Pro Bold Italics"/>
                  <a:ea typeface="TT Commons Pro Bold Italics"/>
                  <a:cs typeface="TT Commons Pro Bold Italics"/>
                  <a:sym typeface="TT Commons Pro Bold Italics"/>
                </a:rPr>
                <a:t>zomato</a:t>
              </a:r>
            </a:p>
          </p:txBody>
        </p:sp>
      </p:grpSp>
      <p:grpSp>
        <p:nvGrpSpPr>
          <p:cNvPr name="Group 397" id="397"/>
          <p:cNvGrpSpPr/>
          <p:nvPr/>
        </p:nvGrpSpPr>
        <p:grpSpPr>
          <a:xfrm rot="0">
            <a:off x="16523370" y="3864693"/>
            <a:ext cx="875024" cy="139055"/>
            <a:chOff x="0" y="0"/>
            <a:chExt cx="1166698" cy="185407"/>
          </a:xfrm>
        </p:grpSpPr>
        <p:sp>
          <p:nvSpPr>
            <p:cNvPr name="Freeform 398" id="398"/>
            <p:cNvSpPr/>
            <p:nvPr/>
          </p:nvSpPr>
          <p:spPr>
            <a:xfrm flipH="false" flipV="false" rot="0">
              <a:off x="0" y="0"/>
              <a:ext cx="1166749" cy="185420"/>
            </a:xfrm>
            <a:custGeom>
              <a:avLst/>
              <a:gdLst/>
              <a:ahLst/>
              <a:cxnLst/>
              <a:rect r="r" b="b" t="t" l="l"/>
              <a:pathLst>
                <a:path h="185420" w="1166749">
                  <a:moveTo>
                    <a:pt x="0" y="0"/>
                  </a:moveTo>
                  <a:lnTo>
                    <a:pt x="1166749" y="0"/>
                  </a:lnTo>
                  <a:lnTo>
                    <a:pt x="1166749" y="185420"/>
                  </a:lnTo>
                  <a:lnTo>
                    <a:pt x="0" y="185420"/>
                  </a:lnTo>
                  <a:close/>
                </a:path>
              </a:pathLst>
            </a:custGeom>
            <a:blipFill>
              <a:blip r:embed="rId5">
                <a:alphaModFix amt="0"/>
              </a:blip>
              <a:stretch>
                <a:fillRect l="0" t="-72520" r="4" b="-72513"/>
              </a:stretch>
            </a:blipFill>
          </p:spPr>
        </p:sp>
      </p:grpSp>
      <p:grpSp>
        <p:nvGrpSpPr>
          <p:cNvPr name="Group 399" id="399"/>
          <p:cNvGrpSpPr/>
          <p:nvPr/>
        </p:nvGrpSpPr>
        <p:grpSpPr>
          <a:xfrm rot="0">
            <a:off x="16523370" y="3864693"/>
            <a:ext cx="875024" cy="139046"/>
            <a:chOff x="0" y="0"/>
            <a:chExt cx="1166698" cy="185395"/>
          </a:xfrm>
        </p:grpSpPr>
        <p:sp>
          <p:nvSpPr>
            <p:cNvPr name="Freeform 400" id="400"/>
            <p:cNvSpPr/>
            <p:nvPr/>
          </p:nvSpPr>
          <p:spPr>
            <a:xfrm flipH="false" flipV="false" rot="0">
              <a:off x="0" y="0"/>
              <a:ext cx="1166699" cy="185399"/>
            </a:xfrm>
            <a:custGeom>
              <a:avLst/>
              <a:gdLst/>
              <a:ahLst/>
              <a:cxnLst/>
              <a:rect r="r" b="b" t="t" l="l"/>
              <a:pathLst>
                <a:path h="185399" w="1166699">
                  <a:moveTo>
                    <a:pt x="0" y="0"/>
                  </a:moveTo>
                  <a:lnTo>
                    <a:pt x="1166699" y="0"/>
                  </a:lnTo>
                  <a:lnTo>
                    <a:pt x="1166699" y="185399"/>
                  </a:lnTo>
                  <a:lnTo>
                    <a:pt x="0" y="185399"/>
                  </a:lnTo>
                  <a:close/>
                </a:path>
              </a:pathLst>
            </a:custGeom>
            <a:blipFill>
              <a:blip r:embed="rId6">
                <a:alphaModFix amt="0"/>
              </a:blip>
              <a:stretch>
                <a:fillRect l="0" t="-72618" r="0" b="-72616"/>
              </a:stretch>
            </a:blipFill>
          </p:spPr>
        </p:sp>
        <p:sp>
          <p:nvSpPr>
            <p:cNvPr name="TextBox 401" id="401"/>
            <p:cNvSpPr txBox="true"/>
            <p:nvPr/>
          </p:nvSpPr>
          <p:spPr>
            <a:xfrm>
              <a:off x="0" y="0"/>
              <a:ext cx="1166698" cy="185395"/>
            </a:xfrm>
            <a:prstGeom prst="rect">
              <a:avLst/>
            </a:prstGeom>
          </p:spPr>
          <p:txBody>
            <a:bodyPr anchor="ctr" rtlCol="false" tIns="0" lIns="0" bIns="0" rIns="0"/>
            <a:lstStyle/>
            <a:p>
              <a:pPr algn="l">
                <a:lnSpc>
                  <a:spcPts val="746"/>
                </a:lnSpc>
              </a:pPr>
              <a:r>
                <a:rPr lang="en-US" sz="682">
                  <a:solidFill>
                    <a:srgbClr val="A89F9B"/>
                  </a:solidFill>
                  <a:latin typeface="TT Commons Pro"/>
                  <a:ea typeface="TT Commons Pro"/>
                  <a:cs typeface="TT Commons Pro"/>
                  <a:sym typeface="TT Commons Pro"/>
                </a:rPr>
                <a:t>Beath fof reslaurants</a:t>
              </a:r>
            </a:p>
          </p:txBody>
        </p:sp>
      </p:grpSp>
      <p:grpSp>
        <p:nvGrpSpPr>
          <p:cNvPr name="Group 402" id="402"/>
          <p:cNvGrpSpPr/>
          <p:nvPr/>
        </p:nvGrpSpPr>
        <p:grpSpPr>
          <a:xfrm rot="0">
            <a:off x="16727538" y="3325092"/>
            <a:ext cx="845858" cy="352482"/>
            <a:chOff x="0" y="0"/>
            <a:chExt cx="1127811" cy="469976"/>
          </a:xfrm>
        </p:grpSpPr>
        <p:sp>
          <p:nvSpPr>
            <p:cNvPr name="Freeform 403" id="403"/>
            <p:cNvSpPr/>
            <p:nvPr/>
          </p:nvSpPr>
          <p:spPr>
            <a:xfrm flipH="false" flipV="false" rot="0">
              <a:off x="0" y="0"/>
              <a:ext cx="1127760" cy="470027"/>
            </a:xfrm>
            <a:custGeom>
              <a:avLst/>
              <a:gdLst/>
              <a:ahLst/>
              <a:cxnLst/>
              <a:rect r="r" b="b" t="t" l="l"/>
              <a:pathLst>
                <a:path h="470027" w="1127760">
                  <a:moveTo>
                    <a:pt x="0" y="0"/>
                  </a:moveTo>
                  <a:lnTo>
                    <a:pt x="1127760" y="0"/>
                  </a:lnTo>
                  <a:lnTo>
                    <a:pt x="1127760" y="470027"/>
                  </a:lnTo>
                  <a:lnTo>
                    <a:pt x="0" y="470027"/>
                  </a:lnTo>
                  <a:close/>
                </a:path>
              </a:pathLst>
            </a:custGeom>
            <a:blipFill>
              <a:blip r:embed="rId5">
                <a:alphaModFix amt="0"/>
              </a:blip>
              <a:stretch>
                <a:fillRect l="-3503" t="0" r="-3506" b="10"/>
              </a:stretch>
            </a:blipFill>
          </p:spPr>
        </p:sp>
      </p:grpSp>
      <p:grpSp>
        <p:nvGrpSpPr>
          <p:cNvPr name="Group 404" id="404"/>
          <p:cNvGrpSpPr/>
          <p:nvPr/>
        </p:nvGrpSpPr>
        <p:grpSpPr>
          <a:xfrm rot="0">
            <a:off x="16727538" y="3375098"/>
            <a:ext cx="845858" cy="302476"/>
            <a:chOff x="0" y="0"/>
            <a:chExt cx="1127811" cy="403301"/>
          </a:xfrm>
        </p:grpSpPr>
        <p:sp>
          <p:nvSpPr>
            <p:cNvPr name="Freeform 405" id="405"/>
            <p:cNvSpPr/>
            <p:nvPr/>
          </p:nvSpPr>
          <p:spPr>
            <a:xfrm flipH="false" flipV="false" rot="0">
              <a:off x="0" y="0"/>
              <a:ext cx="1127811" cy="403301"/>
            </a:xfrm>
            <a:custGeom>
              <a:avLst/>
              <a:gdLst/>
              <a:ahLst/>
              <a:cxnLst/>
              <a:rect r="r" b="b" t="t" l="l"/>
              <a:pathLst>
                <a:path h="403301" w="1127811">
                  <a:moveTo>
                    <a:pt x="0" y="0"/>
                  </a:moveTo>
                  <a:lnTo>
                    <a:pt x="1127811" y="0"/>
                  </a:lnTo>
                  <a:lnTo>
                    <a:pt x="1127811" y="403301"/>
                  </a:lnTo>
                  <a:lnTo>
                    <a:pt x="0" y="403301"/>
                  </a:lnTo>
                  <a:close/>
                </a:path>
              </a:pathLst>
            </a:custGeom>
            <a:blipFill>
              <a:blip r:embed="rId6">
                <a:alphaModFix amt="0"/>
              </a:blip>
              <a:stretch>
                <a:fillRect l="0" t="-4488" r="0" b="-4488"/>
              </a:stretch>
            </a:blipFill>
          </p:spPr>
        </p:sp>
        <p:sp>
          <p:nvSpPr>
            <p:cNvPr name="TextBox 406" id="406"/>
            <p:cNvSpPr txBox="true"/>
            <p:nvPr/>
          </p:nvSpPr>
          <p:spPr>
            <a:xfrm>
              <a:off x="0" y="66675"/>
              <a:ext cx="1127811" cy="336626"/>
            </a:xfrm>
            <a:prstGeom prst="rect">
              <a:avLst/>
            </a:prstGeom>
          </p:spPr>
          <p:txBody>
            <a:bodyPr anchor="ctr" rtlCol="false" tIns="0" lIns="0" bIns="0" rIns="0"/>
            <a:lstStyle/>
            <a:p>
              <a:pPr algn="l">
                <a:lnSpc>
                  <a:spcPts val="1320"/>
                </a:lnSpc>
              </a:pPr>
              <a:r>
                <a:rPr lang="en-US" b="true" sz="1653" i="true">
                  <a:solidFill>
                    <a:srgbClr val="D69D9E"/>
                  </a:solidFill>
                  <a:latin typeface="TT Commons Pro Bold Italics"/>
                  <a:ea typeface="TT Commons Pro Bold Italics"/>
                  <a:cs typeface="TT Commons Pro Bold Italics"/>
                  <a:sym typeface="TT Commons Pro Bold Italics"/>
                </a:rPr>
                <a:t>zomato</a:t>
              </a:r>
            </a:p>
          </p:txBody>
        </p:sp>
      </p:grpSp>
      <p:sp>
        <p:nvSpPr>
          <p:cNvPr name="TextBox 407" id="407"/>
          <p:cNvSpPr txBox="true"/>
          <p:nvPr/>
        </p:nvSpPr>
        <p:spPr>
          <a:xfrm rot="0">
            <a:off x="1789262" y="9772745"/>
            <a:ext cx="7909179" cy="292732"/>
          </a:xfrm>
          <a:prstGeom prst="rect">
            <a:avLst/>
          </a:prstGeom>
        </p:spPr>
        <p:txBody>
          <a:bodyPr anchor="t" rtlCol="false" tIns="0" lIns="0" bIns="0" rIns="0">
            <a:spAutoFit/>
          </a:bodyPr>
          <a:lstStyle/>
          <a:p>
            <a:pPr algn="ctr">
              <a:lnSpc>
                <a:spcPts val="2210"/>
              </a:lnSpc>
            </a:pPr>
            <a:r>
              <a:rPr lang="en-US" sz="1700" b="true">
                <a:solidFill>
                  <a:srgbClr val="EC7624"/>
                </a:solidFill>
                <a:latin typeface="TT Commons Pro Bold"/>
                <a:ea typeface="TT Commons Pro Bold"/>
                <a:cs typeface="TT Commons Pro Bold"/>
                <a:sym typeface="TT Commons Pro Bold"/>
              </a:rPr>
              <a:t>SWIGGY</a:t>
            </a:r>
            <a:r>
              <a:rPr lang="en-US" sz="1700" b="true">
                <a:solidFill>
                  <a:srgbClr val="F2EFEB"/>
                </a:solidFill>
                <a:latin typeface="TT Commons Pro Bold"/>
                <a:ea typeface="TT Commons Pro Bold"/>
                <a:cs typeface="TT Commons Pro Bold"/>
                <a:sym typeface="TT Commons Pro Bold"/>
              </a:rPr>
              <a:t> VS</a:t>
            </a:r>
            <a:r>
              <a:rPr lang="en-US" sz="1700" b="true">
                <a:solidFill>
                  <a:srgbClr val="CF0B23"/>
                </a:solidFill>
                <a:latin typeface="TT Commons Pro Bold"/>
                <a:ea typeface="TT Commons Pro Bold"/>
                <a:cs typeface="TT Commons Pro Bold"/>
                <a:sym typeface="TT Commons Pro Bold"/>
              </a:rPr>
              <a:t> ZOMATO</a:t>
            </a:r>
            <a:r>
              <a:rPr lang="en-US" sz="1700" b="true">
                <a:solidFill>
                  <a:srgbClr val="F2EFEB"/>
                </a:solidFill>
                <a:latin typeface="TT Commons Pro Bold"/>
                <a:ea typeface="TT Commons Pro Bold"/>
                <a:cs typeface="TT Commons Pro Bold"/>
                <a:sym typeface="TT Commons Pro Bold"/>
              </a:rPr>
              <a:t>: Restaurant Performance and Customer Insights Analysis</a:t>
            </a:r>
          </a:p>
        </p:txBody>
      </p:sp>
      <p:grpSp>
        <p:nvGrpSpPr>
          <p:cNvPr name="Group 408" id="408"/>
          <p:cNvGrpSpPr/>
          <p:nvPr/>
        </p:nvGrpSpPr>
        <p:grpSpPr>
          <a:xfrm rot="0">
            <a:off x="998982" y="9672133"/>
            <a:ext cx="896903" cy="393354"/>
            <a:chOff x="0" y="0"/>
            <a:chExt cx="1195870" cy="524472"/>
          </a:xfrm>
        </p:grpSpPr>
        <p:sp>
          <p:nvSpPr>
            <p:cNvPr name="Freeform 409" id="409"/>
            <p:cNvSpPr/>
            <p:nvPr/>
          </p:nvSpPr>
          <p:spPr>
            <a:xfrm flipH="false" flipV="false" rot="0">
              <a:off x="0" y="0"/>
              <a:ext cx="1195832" cy="524510"/>
            </a:xfrm>
            <a:custGeom>
              <a:avLst/>
              <a:gdLst/>
              <a:ahLst/>
              <a:cxnLst/>
              <a:rect r="r" b="b" t="t" l="l"/>
              <a:pathLst>
                <a:path h="524510" w="1195832">
                  <a:moveTo>
                    <a:pt x="0" y="0"/>
                  </a:moveTo>
                  <a:lnTo>
                    <a:pt x="1195832" y="0"/>
                  </a:lnTo>
                  <a:lnTo>
                    <a:pt x="1195832" y="524510"/>
                  </a:lnTo>
                  <a:lnTo>
                    <a:pt x="0" y="524510"/>
                  </a:lnTo>
                  <a:close/>
                </a:path>
              </a:pathLst>
            </a:custGeom>
            <a:blipFill>
              <a:blip r:embed="rId5">
                <a:alphaModFix amt="0"/>
              </a:blip>
              <a:stretch>
                <a:fillRect l="-6309" t="0" r="-6312" b="7"/>
              </a:stretch>
            </a:blipFill>
          </p:spPr>
        </p:sp>
      </p:grpSp>
      <p:grpSp>
        <p:nvGrpSpPr>
          <p:cNvPr name="Group 410" id="410"/>
          <p:cNvGrpSpPr/>
          <p:nvPr/>
        </p:nvGrpSpPr>
        <p:grpSpPr>
          <a:xfrm rot="0">
            <a:off x="998982" y="9707851"/>
            <a:ext cx="896903" cy="357635"/>
            <a:chOff x="0" y="0"/>
            <a:chExt cx="1195870" cy="476847"/>
          </a:xfrm>
        </p:grpSpPr>
        <p:sp>
          <p:nvSpPr>
            <p:cNvPr name="Freeform 411" id="411"/>
            <p:cNvSpPr/>
            <p:nvPr/>
          </p:nvSpPr>
          <p:spPr>
            <a:xfrm flipH="false" flipV="false" rot="0">
              <a:off x="0" y="0"/>
              <a:ext cx="1195871" cy="476844"/>
            </a:xfrm>
            <a:custGeom>
              <a:avLst/>
              <a:gdLst/>
              <a:ahLst/>
              <a:cxnLst/>
              <a:rect r="r" b="b" t="t" l="l"/>
              <a:pathLst>
                <a:path h="476844" w="1195871">
                  <a:moveTo>
                    <a:pt x="0" y="0"/>
                  </a:moveTo>
                  <a:lnTo>
                    <a:pt x="1195871" y="0"/>
                  </a:lnTo>
                  <a:lnTo>
                    <a:pt x="1195871" y="476844"/>
                  </a:lnTo>
                  <a:lnTo>
                    <a:pt x="0" y="476844"/>
                  </a:lnTo>
                  <a:close/>
                </a:path>
              </a:pathLst>
            </a:custGeom>
            <a:blipFill>
              <a:blip r:embed="rId6">
                <a:alphaModFix amt="0"/>
              </a:blip>
              <a:stretch>
                <a:fillRect l="-1160" t="0" r="-1160" b="0"/>
              </a:stretch>
            </a:blipFill>
          </p:spPr>
        </p:sp>
        <p:sp>
          <p:nvSpPr>
            <p:cNvPr name="TextBox 412" id="412"/>
            <p:cNvSpPr txBox="true"/>
            <p:nvPr/>
          </p:nvSpPr>
          <p:spPr>
            <a:xfrm>
              <a:off x="0" y="47625"/>
              <a:ext cx="1195870" cy="429222"/>
            </a:xfrm>
            <a:prstGeom prst="rect">
              <a:avLst/>
            </a:prstGeom>
          </p:spPr>
          <p:txBody>
            <a:bodyPr anchor="ctr" rtlCol="false" tIns="0" lIns="0" bIns="0" rIns="0"/>
            <a:lstStyle/>
            <a:p>
              <a:pPr algn="l">
                <a:lnSpc>
                  <a:spcPts val="1765"/>
                </a:lnSpc>
              </a:pPr>
              <a:r>
                <a:rPr lang="en-US" sz="1839" b="true">
                  <a:solidFill>
                    <a:srgbClr val="949494"/>
                  </a:solidFill>
                  <a:latin typeface="TT Commons Pro Bold"/>
                  <a:ea typeface="TT Commons Pro Bold"/>
                  <a:cs typeface="TT Commons Pro Bold"/>
                  <a:sym typeface="TT Commons Pro Bold"/>
                </a:rPr>
                <a:t>Project: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8810"/>
            <a:chOff x="0" y="0"/>
            <a:chExt cx="24384000" cy="13718413"/>
          </a:xfrm>
        </p:grpSpPr>
        <p:sp>
          <p:nvSpPr>
            <p:cNvPr name="Freeform 3" id="3" descr="preencoded.png"/>
            <p:cNvSpPr/>
            <p:nvPr/>
          </p:nvSpPr>
          <p:spPr>
            <a:xfrm flipH="false" flipV="false" rot="0">
              <a:off x="0" y="0"/>
              <a:ext cx="24384000" cy="13718412"/>
            </a:xfrm>
            <a:custGeom>
              <a:avLst/>
              <a:gdLst/>
              <a:ahLst/>
              <a:cxnLst/>
              <a:rect r="r" b="b" t="t" l="l"/>
              <a:pathLst>
                <a:path h="13718412" w="24384000">
                  <a:moveTo>
                    <a:pt x="0" y="0"/>
                  </a:moveTo>
                  <a:lnTo>
                    <a:pt x="24384000" y="0"/>
                  </a:lnTo>
                  <a:lnTo>
                    <a:pt x="24384000" y="13718412"/>
                  </a:lnTo>
                  <a:lnTo>
                    <a:pt x="0" y="13718412"/>
                  </a:lnTo>
                  <a:lnTo>
                    <a:pt x="0" y="0"/>
                  </a:lnTo>
                  <a:close/>
                </a:path>
              </a:pathLst>
            </a:custGeom>
            <a:blipFill>
              <a:blip r:embed="rId2"/>
              <a:stretch>
                <a:fillRect l="-13" t="0" r="-13" b="0"/>
              </a:stretch>
            </a:blipFill>
          </p:spPr>
        </p:sp>
      </p:grpSp>
      <p:grpSp>
        <p:nvGrpSpPr>
          <p:cNvPr name="Group 4" id="4"/>
          <p:cNvGrpSpPr/>
          <p:nvPr/>
        </p:nvGrpSpPr>
        <p:grpSpPr>
          <a:xfrm rot="0">
            <a:off x="417462" y="9444790"/>
            <a:ext cx="17467688" cy="849516"/>
            <a:chOff x="0" y="0"/>
            <a:chExt cx="23290251" cy="1132688"/>
          </a:xfrm>
        </p:grpSpPr>
        <p:sp>
          <p:nvSpPr>
            <p:cNvPr name="Freeform 5" id="5"/>
            <p:cNvSpPr/>
            <p:nvPr/>
          </p:nvSpPr>
          <p:spPr>
            <a:xfrm flipH="false" flipV="false" rot="0">
              <a:off x="0" y="0"/>
              <a:ext cx="23290276" cy="1132713"/>
            </a:xfrm>
            <a:custGeom>
              <a:avLst/>
              <a:gdLst/>
              <a:ahLst/>
              <a:cxnLst/>
              <a:rect r="r" b="b" t="t" l="l"/>
              <a:pathLst>
                <a:path h="1132713" w="23290276">
                  <a:moveTo>
                    <a:pt x="0" y="0"/>
                  </a:moveTo>
                  <a:lnTo>
                    <a:pt x="23290276" y="0"/>
                  </a:lnTo>
                  <a:lnTo>
                    <a:pt x="23290276" y="1132713"/>
                  </a:lnTo>
                  <a:lnTo>
                    <a:pt x="0" y="1132713"/>
                  </a:lnTo>
                  <a:close/>
                </a:path>
              </a:pathLst>
            </a:custGeom>
            <a:solidFill>
              <a:srgbClr val="010000"/>
            </a:solidFill>
            <a:ln w="14584" cap="sq">
              <a:solidFill>
                <a:srgbClr val="1E0F0D"/>
              </a:solidFill>
              <a:prstDash val="solid"/>
              <a:miter/>
            </a:ln>
          </p:spPr>
        </p:sp>
      </p:grpSp>
      <p:grpSp>
        <p:nvGrpSpPr>
          <p:cNvPr name="Group 6" id="6"/>
          <p:cNvGrpSpPr/>
          <p:nvPr/>
        </p:nvGrpSpPr>
        <p:grpSpPr>
          <a:xfrm rot="0">
            <a:off x="17303601" y="9610677"/>
            <a:ext cx="532352" cy="510445"/>
            <a:chOff x="0" y="0"/>
            <a:chExt cx="709803" cy="680593"/>
          </a:xfrm>
        </p:grpSpPr>
        <p:sp>
          <p:nvSpPr>
            <p:cNvPr name="Freeform 7" id="7" descr="preencoded.png"/>
            <p:cNvSpPr/>
            <p:nvPr/>
          </p:nvSpPr>
          <p:spPr>
            <a:xfrm flipH="false" flipV="false" rot="0">
              <a:off x="0" y="0"/>
              <a:ext cx="709803" cy="680593"/>
            </a:xfrm>
            <a:custGeom>
              <a:avLst/>
              <a:gdLst/>
              <a:ahLst/>
              <a:cxnLst/>
              <a:rect r="r" b="b" t="t" l="l"/>
              <a:pathLst>
                <a:path h="680593" w="709803">
                  <a:moveTo>
                    <a:pt x="0" y="0"/>
                  </a:moveTo>
                  <a:lnTo>
                    <a:pt x="709803" y="0"/>
                  </a:lnTo>
                  <a:lnTo>
                    <a:pt x="709803" y="680593"/>
                  </a:lnTo>
                  <a:lnTo>
                    <a:pt x="0" y="680593"/>
                  </a:lnTo>
                  <a:lnTo>
                    <a:pt x="0" y="0"/>
                  </a:lnTo>
                  <a:close/>
                </a:path>
              </a:pathLst>
            </a:custGeom>
            <a:blipFill>
              <a:blip r:embed="rId3"/>
              <a:stretch>
                <a:fillRect l="-146" t="0" r="-146" b="0"/>
              </a:stretch>
            </a:blipFill>
          </p:spPr>
        </p:sp>
      </p:grpSp>
      <p:grpSp>
        <p:nvGrpSpPr>
          <p:cNvPr name="Group 8" id="8"/>
          <p:cNvGrpSpPr/>
          <p:nvPr/>
        </p:nvGrpSpPr>
        <p:grpSpPr>
          <a:xfrm rot="0">
            <a:off x="17485890" y="9741932"/>
            <a:ext cx="189586" cy="420643"/>
            <a:chOff x="0" y="0"/>
            <a:chExt cx="252781" cy="560857"/>
          </a:xfrm>
        </p:grpSpPr>
        <p:sp>
          <p:nvSpPr>
            <p:cNvPr name="Freeform 9" id="9"/>
            <p:cNvSpPr/>
            <p:nvPr/>
          </p:nvSpPr>
          <p:spPr>
            <a:xfrm flipH="false" flipV="false" rot="0">
              <a:off x="0" y="0"/>
              <a:ext cx="252730" cy="560832"/>
            </a:xfrm>
            <a:custGeom>
              <a:avLst/>
              <a:gdLst/>
              <a:ahLst/>
              <a:cxnLst/>
              <a:rect r="r" b="b" t="t" l="l"/>
              <a:pathLst>
                <a:path h="560832" w="252730">
                  <a:moveTo>
                    <a:pt x="0" y="0"/>
                  </a:moveTo>
                  <a:lnTo>
                    <a:pt x="252730" y="0"/>
                  </a:lnTo>
                  <a:lnTo>
                    <a:pt x="252730" y="560832"/>
                  </a:lnTo>
                  <a:lnTo>
                    <a:pt x="0" y="560832"/>
                  </a:lnTo>
                  <a:close/>
                </a:path>
              </a:pathLst>
            </a:custGeom>
            <a:blipFill>
              <a:blip r:embed="rId4">
                <a:alphaModFix amt="0"/>
              </a:blip>
              <a:stretch>
                <a:fillRect l="-234919" t="0" r="-234939" b="-4"/>
              </a:stretch>
            </a:blipFill>
          </p:spPr>
        </p:sp>
      </p:grpSp>
      <p:grpSp>
        <p:nvGrpSpPr>
          <p:cNvPr name="Group 10" id="10"/>
          <p:cNvGrpSpPr/>
          <p:nvPr/>
        </p:nvGrpSpPr>
        <p:grpSpPr>
          <a:xfrm rot="0">
            <a:off x="17485890" y="9806226"/>
            <a:ext cx="189586" cy="356349"/>
            <a:chOff x="0" y="0"/>
            <a:chExt cx="252781" cy="475132"/>
          </a:xfrm>
        </p:grpSpPr>
        <p:sp>
          <p:nvSpPr>
            <p:cNvPr name="Freeform 11" id="11"/>
            <p:cNvSpPr/>
            <p:nvPr/>
          </p:nvSpPr>
          <p:spPr>
            <a:xfrm flipH="false" flipV="false" rot="0">
              <a:off x="0" y="0"/>
              <a:ext cx="252781" cy="475138"/>
            </a:xfrm>
            <a:custGeom>
              <a:avLst/>
              <a:gdLst/>
              <a:ahLst/>
              <a:cxnLst/>
              <a:rect r="r" b="b" t="t" l="l"/>
              <a:pathLst>
                <a:path h="475138" w="252781">
                  <a:moveTo>
                    <a:pt x="0" y="0"/>
                  </a:moveTo>
                  <a:lnTo>
                    <a:pt x="252781" y="0"/>
                  </a:lnTo>
                  <a:lnTo>
                    <a:pt x="252781" y="475138"/>
                  </a:lnTo>
                  <a:lnTo>
                    <a:pt x="0" y="475138"/>
                  </a:lnTo>
                  <a:close/>
                </a:path>
              </a:pathLst>
            </a:custGeom>
            <a:blipFill>
              <a:blip r:embed="rId5">
                <a:alphaModFix amt="0"/>
              </a:blip>
              <a:stretch>
                <a:fillRect l="-191161" t="0" r="-191161" b="1"/>
              </a:stretch>
            </a:blipFill>
          </p:spPr>
        </p:sp>
        <p:sp>
          <p:nvSpPr>
            <p:cNvPr name="TextBox 12" id="12"/>
            <p:cNvSpPr txBox="true"/>
            <p:nvPr/>
          </p:nvSpPr>
          <p:spPr>
            <a:xfrm>
              <a:off x="0" y="85725"/>
              <a:ext cx="252781" cy="389407"/>
            </a:xfrm>
            <a:prstGeom prst="rect">
              <a:avLst/>
            </a:prstGeom>
          </p:spPr>
          <p:txBody>
            <a:bodyPr anchor="ctr" rtlCol="false" tIns="0" lIns="0" bIns="0" rIns="0"/>
            <a:lstStyle/>
            <a:p>
              <a:pPr algn="l">
                <a:lnSpc>
                  <a:spcPts val="1492"/>
                </a:lnSpc>
              </a:pPr>
              <a:r>
                <a:rPr lang="en-US" sz="1980" b="true">
                  <a:solidFill>
                    <a:srgbClr val="A3A4A3"/>
                  </a:solidFill>
                  <a:latin typeface="TT Commons Pro Bold"/>
                  <a:ea typeface="TT Commons Pro Bold"/>
                  <a:cs typeface="TT Commons Pro Bold"/>
                  <a:sym typeface="TT Commons Pro Bold"/>
                </a:rPr>
                <a:t>5</a:t>
              </a:r>
            </a:p>
          </p:txBody>
        </p:sp>
      </p:grpSp>
      <p:grpSp>
        <p:nvGrpSpPr>
          <p:cNvPr name="Group 13" id="13"/>
          <p:cNvGrpSpPr/>
          <p:nvPr/>
        </p:nvGrpSpPr>
        <p:grpSpPr>
          <a:xfrm rot="0">
            <a:off x="15757722" y="9632556"/>
            <a:ext cx="641699" cy="437483"/>
            <a:chOff x="0" y="0"/>
            <a:chExt cx="855599" cy="583311"/>
          </a:xfrm>
        </p:grpSpPr>
        <p:sp>
          <p:nvSpPr>
            <p:cNvPr name="Freeform 14" id="14" descr="preencoded.png"/>
            <p:cNvSpPr/>
            <p:nvPr/>
          </p:nvSpPr>
          <p:spPr>
            <a:xfrm flipH="false" flipV="false" rot="0">
              <a:off x="0" y="0"/>
              <a:ext cx="855599" cy="583311"/>
            </a:xfrm>
            <a:custGeom>
              <a:avLst/>
              <a:gdLst/>
              <a:ahLst/>
              <a:cxnLst/>
              <a:rect r="r" b="b" t="t" l="l"/>
              <a:pathLst>
                <a:path h="583311" w="855599">
                  <a:moveTo>
                    <a:pt x="0" y="0"/>
                  </a:moveTo>
                  <a:lnTo>
                    <a:pt x="855599" y="0"/>
                  </a:lnTo>
                  <a:lnTo>
                    <a:pt x="855599" y="583311"/>
                  </a:lnTo>
                  <a:lnTo>
                    <a:pt x="0" y="583311"/>
                  </a:lnTo>
                  <a:lnTo>
                    <a:pt x="0" y="0"/>
                  </a:lnTo>
                  <a:close/>
                </a:path>
              </a:pathLst>
            </a:custGeom>
            <a:blipFill>
              <a:blip r:embed="rId6"/>
              <a:stretch>
                <a:fillRect l="0" t="-289" r="0" b="-291"/>
              </a:stretch>
            </a:blipFill>
          </p:spPr>
        </p:sp>
      </p:grpSp>
      <p:grpSp>
        <p:nvGrpSpPr>
          <p:cNvPr name="Group 15" id="15"/>
          <p:cNvGrpSpPr/>
          <p:nvPr/>
        </p:nvGrpSpPr>
        <p:grpSpPr>
          <a:xfrm rot="0">
            <a:off x="14474352" y="9632556"/>
            <a:ext cx="546926" cy="466725"/>
            <a:chOff x="0" y="0"/>
            <a:chExt cx="729234" cy="622300"/>
          </a:xfrm>
        </p:grpSpPr>
        <p:sp>
          <p:nvSpPr>
            <p:cNvPr name="Freeform 16" id="16" descr="preencoded.png"/>
            <p:cNvSpPr/>
            <p:nvPr/>
          </p:nvSpPr>
          <p:spPr>
            <a:xfrm flipH="false" flipV="false" rot="0">
              <a:off x="0" y="0"/>
              <a:ext cx="729234" cy="622300"/>
            </a:xfrm>
            <a:custGeom>
              <a:avLst/>
              <a:gdLst/>
              <a:ahLst/>
              <a:cxnLst/>
              <a:rect r="r" b="b" t="t" l="l"/>
              <a:pathLst>
                <a:path h="622300" w="729234">
                  <a:moveTo>
                    <a:pt x="0" y="0"/>
                  </a:moveTo>
                  <a:lnTo>
                    <a:pt x="729234" y="0"/>
                  </a:lnTo>
                  <a:lnTo>
                    <a:pt x="729234" y="622300"/>
                  </a:lnTo>
                  <a:lnTo>
                    <a:pt x="0" y="622300"/>
                  </a:lnTo>
                  <a:lnTo>
                    <a:pt x="0" y="0"/>
                  </a:lnTo>
                  <a:close/>
                </a:path>
              </a:pathLst>
            </a:custGeom>
            <a:blipFill>
              <a:blip r:embed="rId7"/>
              <a:stretch>
                <a:fillRect l="0" t="-32" r="0" b="-34"/>
              </a:stretch>
            </a:blipFill>
          </p:spPr>
        </p:sp>
      </p:grpSp>
      <p:grpSp>
        <p:nvGrpSpPr>
          <p:cNvPr name="Group 17" id="17"/>
          <p:cNvGrpSpPr/>
          <p:nvPr/>
        </p:nvGrpSpPr>
        <p:grpSpPr>
          <a:xfrm rot="0">
            <a:off x="13088903" y="9617974"/>
            <a:ext cx="648938" cy="495872"/>
            <a:chOff x="0" y="0"/>
            <a:chExt cx="865251" cy="661162"/>
          </a:xfrm>
        </p:grpSpPr>
        <p:sp>
          <p:nvSpPr>
            <p:cNvPr name="Freeform 18" id="18" descr="preencoded.png"/>
            <p:cNvSpPr/>
            <p:nvPr/>
          </p:nvSpPr>
          <p:spPr>
            <a:xfrm flipH="false" flipV="false" rot="0">
              <a:off x="0" y="0"/>
              <a:ext cx="865251" cy="661162"/>
            </a:xfrm>
            <a:custGeom>
              <a:avLst/>
              <a:gdLst/>
              <a:ahLst/>
              <a:cxnLst/>
              <a:rect r="r" b="b" t="t" l="l"/>
              <a:pathLst>
                <a:path h="661162" w="865251">
                  <a:moveTo>
                    <a:pt x="0" y="0"/>
                  </a:moveTo>
                  <a:lnTo>
                    <a:pt x="865251" y="0"/>
                  </a:lnTo>
                  <a:lnTo>
                    <a:pt x="865251" y="661162"/>
                  </a:lnTo>
                  <a:lnTo>
                    <a:pt x="0" y="661162"/>
                  </a:lnTo>
                  <a:lnTo>
                    <a:pt x="0" y="0"/>
                  </a:lnTo>
                  <a:close/>
                </a:path>
              </a:pathLst>
            </a:custGeom>
            <a:blipFill>
              <a:blip r:embed="rId8"/>
              <a:stretch>
                <a:fillRect l="0" t="-1" r="0" b="-2"/>
              </a:stretch>
            </a:blipFill>
          </p:spPr>
        </p:sp>
      </p:grpSp>
      <p:grpSp>
        <p:nvGrpSpPr>
          <p:cNvPr name="Group 19" id="19"/>
          <p:cNvGrpSpPr/>
          <p:nvPr/>
        </p:nvGrpSpPr>
        <p:grpSpPr>
          <a:xfrm rot="0">
            <a:off x="12002414" y="9610677"/>
            <a:ext cx="386429" cy="503110"/>
            <a:chOff x="0" y="0"/>
            <a:chExt cx="515239" cy="670814"/>
          </a:xfrm>
        </p:grpSpPr>
        <p:sp>
          <p:nvSpPr>
            <p:cNvPr name="Freeform 20" id="20" descr="preencoded.png"/>
            <p:cNvSpPr/>
            <p:nvPr/>
          </p:nvSpPr>
          <p:spPr>
            <a:xfrm flipH="false" flipV="false" rot="0">
              <a:off x="0" y="0"/>
              <a:ext cx="515239" cy="670814"/>
            </a:xfrm>
            <a:custGeom>
              <a:avLst/>
              <a:gdLst/>
              <a:ahLst/>
              <a:cxnLst/>
              <a:rect r="r" b="b" t="t" l="l"/>
              <a:pathLst>
                <a:path h="670814" w="515239">
                  <a:moveTo>
                    <a:pt x="0" y="0"/>
                  </a:moveTo>
                  <a:lnTo>
                    <a:pt x="515239" y="0"/>
                  </a:lnTo>
                  <a:lnTo>
                    <a:pt x="515239" y="670814"/>
                  </a:lnTo>
                  <a:lnTo>
                    <a:pt x="0" y="670814"/>
                  </a:lnTo>
                  <a:lnTo>
                    <a:pt x="0" y="0"/>
                  </a:lnTo>
                  <a:close/>
                </a:path>
              </a:pathLst>
            </a:custGeom>
            <a:blipFill>
              <a:blip r:embed="rId9"/>
              <a:stretch>
                <a:fillRect l="0" t="-596" r="0" b="-594"/>
              </a:stretch>
            </a:blipFill>
          </p:spPr>
        </p:sp>
      </p:grpSp>
      <p:grpSp>
        <p:nvGrpSpPr>
          <p:cNvPr name="Group 21" id="21"/>
          <p:cNvGrpSpPr/>
          <p:nvPr/>
        </p:nvGrpSpPr>
        <p:grpSpPr>
          <a:xfrm rot="0">
            <a:off x="488556" y="9603391"/>
            <a:ext cx="415671" cy="510445"/>
            <a:chOff x="0" y="0"/>
            <a:chExt cx="554228" cy="680593"/>
          </a:xfrm>
        </p:grpSpPr>
        <p:sp>
          <p:nvSpPr>
            <p:cNvPr name="Freeform 22" id="22" descr="preencoded.png"/>
            <p:cNvSpPr/>
            <p:nvPr/>
          </p:nvSpPr>
          <p:spPr>
            <a:xfrm flipH="false" flipV="false" rot="0">
              <a:off x="0" y="0"/>
              <a:ext cx="554228" cy="680593"/>
            </a:xfrm>
            <a:custGeom>
              <a:avLst/>
              <a:gdLst/>
              <a:ahLst/>
              <a:cxnLst/>
              <a:rect r="r" b="b" t="t" l="l"/>
              <a:pathLst>
                <a:path h="680593" w="554228">
                  <a:moveTo>
                    <a:pt x="0" y="0"/>
                  </a:moveTo>
                  <a:lnTo>
                    <a:pt x="554228" y="0"/>
                  </a:lnTo>
                  <a:lnTo>
                    <a:pt x="554228" y="680593"/>
                  </a:lnTo>
                  <a:lnTo>
                    <a:pt x="0" y="680593"/>
                  </a:lnTo>
                  <a:lnTo>
                    <a:pt x="0" y="0"/>
                  </a:lnTo>
                  <a:close/>
                </a:path>
              </a:pathLst>
            </a:custGeom>
            <a:blipFill>
              <a:blip r:embed="rId10"/>
              <a:stretch>
                <a:fillRect l="0" t="-440" r="0" b="-440"/>
              </a:stretch>
            </a:blipFill>
          </p:spPr>
        </p:sp>
      </p:grpSp>
      <p:sp>
        <p:nvSpPr>
          <p:cNvPr name="Freeform 23" id="23"/>
          <p:cNvSpPr/>
          <p:nvPr/>
        </p:nvSpPr>
        <p:spPr>
          <a:xfrm flipH="false" flipV="false" rot="0">
            <a:off x="353663" y="8097622"/>
            <a:ext cx="17500444" cy="1276036"/>
          </a:xfrm>
          <a:custGeom>
            <a:avLst/>
            <a:gdLst/>
            <a:ahLst/>
            <a:cxnLst/>
            <a:rect r="r" b="b" t="t" l="l"/>
            <a:pathLst>
              <a:path h="1276036" w="17500444">
                <a:moveTo>
                  <a:pt x="0" y="0"/>
                </a:moveTo>
                <a:lnTo>
                  <a:pt x="17500445" y="0"/>
                </a:lnTo>
                <a:lnTo>
                  <a:pt x="17500445" y="1276035"/>
                </a:lnTo>
                <a:lnTo>
                  <a:pt x="0" y="127603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4" id="24"/>
          <p:cNvGrpSpPr/>
          <p:nvPr/>
        </p:nvGrpSpPr>
        <p:grpSpPr>
          <a:xfrm rot="0">
            <a:off x="16909837" y="8451275"/>
            <a:ext cx="576072" cy="568738"/>
            <a:chOff x="0" y="0"/>
            <a:chExt cx="768096" cy="758317"/>
          </a:xfrm>
        </p:grpSpPr>
        <p:sp>
          <p:nvSpPr>
            <p:cNvPr name="Freeform 25" id="25" descr="preencoded.png"/>
            <p:cNvSpPr/>
            <p:nvPr/>
          </p:nvSpPr>
          <p:spPr>
            <a:xfrm flipH="false" flipV="false" rot="0">
              <a:off x="0" y="0"/>
              <a:ext cx="768096" cy="758317"/>
            </a:xfrm>
            <a:custGeom>
              <a:avLst/>
              <a:gdLst/>
              <a:ahLst/>
              <a:cxnLst/>
              <a:rect r="r" b="b" t="t" l="l"/>
              <a:pathLst>
                <a:path h="758317" w="768096">
                  <a:moveTo>
                    <a:pt x="0" y="0"/>
                  </a:moveTo>
                  <a:lnTo>
                    <a:pt x="768096" y="0"/>
                  </a:lnTo>
                  <a:lnTo>
                    <a:pt x="768096" y="758317"/>
                  </a:lnTo>
                  <a:lnTo>
                    <a:pt x="0" y="758317"/>
                  </a:lnTo>
                  <a:lnTo>
                    <a:pt x="0" y="0"/>
                  </a:lnTo>
                  <a:close/>
                </a:path>
              </a:pathLst>
            </a:custGeom>
            <a:blipFill>
              <a:blip r:embed="rId13"/>
              <a:stretch>
                <a:fillRect l="0" t="-105" r="0" b="-107"/>
              </a:stretch>
            </a:blipFill>
          </p:spPr>
        </p:sp>
      </p:grpSp>
      <p:grpSp>
        <p:nvGrpSpPr>
          <p:cNvPr name="Group 26" id="26"/>
          <p:cNvGrpSpPr/>
          <p:nvPr/>
        </p:nvGrpSpPr>
        <p:grpSpPr>
          <a:xfrm rot="0">
            <a:off x="16537953" y="8400231"/>
            <a:ext cx="51054" cy="714566"/>
            <a:chOff x="0" y="0"/>
            <a:chExt cx="68072" cy="952754"/>
          </a:xfrm>
        </p:grpSpPr>
        <p:sp>
          <p:nvSpPr>
            <p:cNvPr name="Freeform 27" id="27" descr="preencoded.png"/>
            <p:cNvSpPr/>
            <p:nvPr/>
          </p:nvSpPr>
          <p:spPr>
            <a:xfrm flipH="false" flipV="false" rot="0">
              <a:off x="0" y="0"/>
              <a:ext cx="68072" cy="952754"/>
            </a:xfrm>
            <a:custGeom>
              <a:avLst/>
              <a:gdLst/>
              <a:ahLst/>
              <a:cxnLst/>
              <a:rect r="r" b="b" t="t" l="l"/>
              <a:pathLst>
                <a:path h="952754" w="68072">
                  <a:moveTo>
                    <a:pt x="0" y="0"/>
                  </a:moveTo>
                  <a:lnTo>
                    <a:pt x="68072" y="0"/>
                  </a:lnTo>
                  <a:lnTo>
                    <a:pt x="68072" y="952754"/>
                  </a:lnTo>
                  <a:lnTo>
                    <a:pt x="0" y="952754"/>
                  </a:lnTo>
                  <a:lnTo>
                    <a:pt x="0" y="0"/>
                  </a:lnTo>
                  <a:close/>
                </a:path>
              </a:pathLst>
            </a:custGeom>
            <a:blipFill>
              <a:blip r:embed="rId14"/>
              <a:stretch>
                <a:fillRect l="-5037" t="0" r="-5037" b="0"/>
              </a:stretch>
            </a:blipFill>
          </p:spPr>
        </p:sp>
      </p:grpSp>
      <p:grpSp>
        <p:nvGrpSpPr>
          <p:cNvPr name="Group 28" id="28"/>
          <p:cNvGrpSpPr/>
          <p:nvPr/>
        </p:nvGrpSpPr>
        <p:grpSpPr>
          <a:xfrm rot="0">
            <a:off x="15641050" y="8516903"/>
            <a:ext cx="546926" cy="525018"/>
            <a:chOff x="0" y="0"/>
            <a:chExt cx="729234" cy="700024"/>
          </a:xfrm>
        </p:grpSpPr>
        <p:sp>
          <p:nvSpPr>
            <p:cNvPr name="Freeform 29" id="29" descr="preencoded.png"/>
            <p:cNvSpPr/>
            <p:nvPr/>
          </p:nvSpPr>
          <p:spPr>
            <a:xfrm flipH="false" flipV="false" rot="0">
              <a:off x="0" y="0"/>
              <a:ext cx="729234" cy="700024"/>
            </a:xfrm>
            <a:custGeom>
              <a:avLst/>
              <a:gdLst/>
              <a:ahLst/>
              <a:cxnLst/>
              <a:rect r="r" b="b" t="t" l="l"/>
              <a:pathLst>
                <a:path h="700024" w="729234">
                  <a:moveTo>
                    <a:pt x="0" y="0"/>
                  </a:moveTo>
                  <a:lnTo>
                    <a:pt x="729234" y="0"/>
                  </a:lnTo>
                  <a:lnTo>
                    <a:pt x="729234" y="700024"/>
                  </a:lnTo>
                  <a:lnTo>
                    <a:pt x="0" y="700024"/>
                  </a:lnTo>
                  <a:lnTo>
                    <a:pt x="0" y="0"/>
                  </a:lnTo>
                  <a:close/>
                </a:path>
              </a:pathLst>
            </a:custGeom>
            <a:blipFill>
              <a:blip r:embed="rId15"/>
              <a:stretch>
                <a:fillRect l="0" t="-330" r="0" b="-330"/>
              </a:stretch>
            </a:blipFill>
          </p:spPr>
        </p:sp>
      </p:grpSp>
      <p:grpSp>
        <p:nvGrpSpPr>
          <p:cNvPr name="Group 30" id="30"/>
          <p:cNvGrpSpPr/>
          <p:nvPr/>
        </p:nvGrpSpPr>
        <p:grpSpPr>
          <a:xfrm rot="0">
            <a:off x="15269166" y="8458562"/>
            <a:ext cx="43720" cy="663607"/>
            <a:chOff x="0" y="0"/>
            <a:chExt cx="58293" cy="884809"/>
          </a:xfrm>
        </p:grpSpPr>
        <p:sp>
          <p:nvSpPr>
            <p:cNvPr name="Freeform 31" id="31" descr="preencoded.png"/>
            <p:cNvSpPr/>
            <p:nvPr/>
          </p:nvSpPr>
          <p:spPr>
            <a:xfrm flipH="false" flipV="false" rot="0">
              <a:off x="0" y="0"/>
              <a:ext cx="58293" cy="884809"/>
            </a:xfrm>
            <a:custGeom>
              <a:avLst/>
              <a:gdLst/>
              <a:ahLst/>
              <a:cxnLst/>
              <a:rect r="r" b="b" t="t" l="l"/>
              <a:pathLst>
                <a:path h="884809" w="58293">
                  <a:moveTo>
                    <a:pt x="0" y="0"/>
                  </a:moveTo>
                  <a:lnTo>
                    <a:pt x="58293" y="0"/>
                  </a:lnTo>
                  <a:lnTo>
                    <a:pt x="58293" y="884809"/>
                  </a:lnTo>
                  <a:lnTo>
                    <a:pt x="0" y="884809"/>
                  </a:lnTo>
                  <a:lnTo>
                    <a:pt x="0" y="0"/>
                  </a:lnTo>
                  <a:close/>
                </a:path>
              </a:pathLst>
            </a:custGeom>
            <a:blipFill>
              <a:blip r:embed="rId16"/>
              <a:stretch>
                <a:fillRect l="-2331" t="0" r="-2352" b="0"/>
              </a:stretch>
            </a:blipFill>
          </p:spPr>
        </p:sp>
      </p:grpSp>
      <p:grpSp>
        <p:nvGrpSpPr>
          <p:cNvPr name="Group 32" id="32"/>
          <p:cNvGrpSpPr/>
          <p:nvPr/>
        </p:nvGrpSpPr>
        <p:grpSpPr>
          <a:xfrm rot="0">
            <a:off x="14496231" y="8516903"/>
            <a:ext cx="466725" cy="503110"/>
            <a:chOff x="0" y="0"/>
            <a:chExt cx="622300" cy="670814"/>
          </a:xfrm>
        </p:grpSpPr>
        <p:sp>
          <p:nvSpPr>
            <p:cNvPr name="Freeform 33" id="33" descr="preencoded.png"/>
            <p:cNvSpPr/>
            <p:nvPr/>
          </p:nvSpPr>
          <p:spPr>
            <a:xfrm flipH="false" flipV="false" rot="0">
              <a:off x="0" y="0"/>
              <a:ext cx="622300" cy="670814"/>
            </a:xfrm>
            <a:custGeom>
              <a:avLst/>
              <a:gdLst/>
              <a:ahLst/>
              <a:cxnLst/>
              <a:rect r="r" b="b" t="t" l="l"/>
              <a:pathLst>
                <a:path h="670814" w="622300">
                  <a:moveTo>
                    <a:pt x="0" y="0"/>
                  </a:moveTo>
                  <a:lnTo>
                    <a:pt x="622300" y="0"/>
                  </a:lnTo>
                  <a:lnTo>
                    <a:pt x="622300" y="670814"/>
                  </a:lnTo>
                  <a:lnTo>
                    <a:pt x="0" y="670814"/>
                  </a:lnTo>
                  <a:lnTo>
                    <a:pt x="0" y="0"/>
                  </a:lnTo>
                  <a:close/>
                </a:path>
              </a:pathLst>
            </a:custGeom>
            <a:blipFill>
              <a:blip r:embed="rId17"/>
              <a:stretch>
                <a:fillRect l="0" t="-45" r="0" b="-45"/>
              </a:stretch>
            </a:blipFill>
          </p:spPr>
        </p:sp>
      </p:grpSp>
      <p:grpSp>
        <p:nvGrpSpPr>
          <p:cNvPr name="Group 34" id="34"/>
          <p:cNvGrpSpPr/>
          <p:nvPr/>
        </p:nvGrpSpPr>
        <p:grpSpPr>
          <a:xfrm rot="0">
            <a:off x="14095181" y="8414814"/>
            <a:ext cx="43720" cy="685419"/>
            <a:chOff x="0" y="0"/>
            <a:chExt cx="58293" cy="913892"/>
          </a:xfrm>
        </p:grpSpPr>
        <p:sp>
          <p:nvSpPr>
            <p:cNvPr name="Freeform 35" id="35" descr="preencoded.png"/>
            <p:cNvSpPr/>
            <p:nvPr/>
          </p:nvSpPr>
          <p:spPr>
            <a:xfrm flipH="false" flipV="false" rot="0">
              <a:off x="0" y="0"/>
              <a:ext cx="58293" cy="913892"/>
            </a:xfrm>
            <a:custGeom>
              <a:avLst/>
              <a:gdLst/>
              <a:ahLst/>
              <a:cxnLst/>
              <a:rect r="r" b="b" t="t" l="l"/>
              <a:pathLst>
                <a:path h="913892" w="58293">
                  <a:moveTo>
                    <a:pt x="0" y="0"/>
                  </a:moveTo>
                  <a:lnTo>
                    <a:pt x="58293" y="0"/>
                  </a:lnTo>
                  <a:lnTo>
                    <a:pt x="58293" y="913892"/>
                  </a:lnTo>
                  <a:lnTo>
                    <a:pt x="0" y="913892"/>
                  </a:lnTo>
                  <a:lnTo>
                    <a:pt x="0" y="0"/>
                  </a:lnTo>
                  <a:close/>
                </a:path>
              </a:pathLst>
            </a:custGeom>
            <a:blipFill>
              <a:blip r:embed="rId18"/>
              <a:stretch>
                <a:fillRect l="-2265" t="0" r="-2244" b="0"/>
              </a:stretch>
            </a:blipFill>
          </p:spPr>
        </p:sp>
      </p:grpSp>
      <p:grpSp>
        <p:nvGrpSpPr>
          <p:cNvPr name="Group 36" id="36"/>
          <p:cNvGrpSpPr/>
          <p:nvPr/>
        </p:nvGrpSpPr>
        <p:grpSpPr>
          <a:xfrm rot="0">
            <a:off x="13322237" y="8531485"/>
            <a:ext cx="495872" cy="481298"/>
            <a:chOff x="0" y="0"/>
            <a:chExt cx="661162" cy="641731"/>
          </a:xfrm>
        </p:grpSpPr>
        <p:sp>
          <p:nvSpPr>
            <p:cNvPr name="Freeform 37" id="37" descr="preencoded.png"/>
            <p:cNvSpPr/>
            <p:nvPr/>
          </p:nvSpPr>
          <p:spPr>
            <a:xfrm flipH="false" flipV="false" rot="0">
              <a:off x="0" y="0"/>
              <a:ext cx="661162" cy="641731"/>
            </a:xfrm>
            <a:custGeom>
              <a:avLst/>
              <a:gdLst/>
              <a:ahLst/>
              <a:cxnLst/>
              <a:rect r="r" b="b" t="t" l="l"/>
              <a:pathLst>
                <a:path h="641731" w="661162">
                  <a:moveTo>
                    <a:pt x="0" y="0"/>
                  </a:moveTo>
                  <a:lnTo>
                    <a:pt x="661162" y="0"/>
                  </a:lnTo>
                  <a:lnTo>
                    <a:pt x="661162" y="641731"/>
                  </a:lnTo>
                  <a:lnTo>
                    <a:pt x="0" y="641731"/>
                  </a:lnTo>
                  <a:lnTo>
                    <a:pt x="0" y="0"/>
                  </a:lnTo>
                  <a:close/>
                </a:path>
              </a:pathLst>
            </a:custGeom>
            <a:blipFill>
              <a:blip r:embed="rId19"/>
              <a:stretch>
                <a:fillRect l="0" t="-241" r="0" b="-243"/>
              </a:stretch>
            </a:blipFill>
          </p:spPr>
        </p:sp>
      </p:grpSp>
      <p:grpSp>
        <p:nvGrpSpPr>
          <p:cNvPr name="Group 38" id="38"/>
          <p:cNvGrpSpPr/>
          <p:nvPr/>
        </p:nvGrpSpPr>
        <p:grpSpPr>
          <a:xfrm rot="0">
            <a:off x="12979517" y="8414814"/>
            <a:ext cx="87535" cy="707327"/>
            <a:chOff x="0" y="0"/>
            <a:chExt cx="116713" cy="943102"/>
          </a:xfrm>
        </p:grpSpPr>
        <p:sp>
          <p:nvSpPr>
            <p:cNvPr name="Freeform 39" id="39" descr="preencoded.png"/>
            <p:cNvSpPr/>
            <p:nvPr/>
          </p:nvSpPr>
          <p:spPr>
            <a:xfrm flipH="false" flipV="false" rot="0">
              <a:off x="0" y="0"/>
              <a:ext cx="116713" cy="943102"/>
            </a:xfrm>
            <a:custGeom>
              <a:avLst/>
              <a:gdLst/>
              <a:ahLst/>
              <a:cxnLst/>
              <a:rect r="r" b="b" t="t" l="l"/>
              <a:pathLst>
                <a:path h="943102" w="116713">
                  <a:moveTo>
                    <a:pt x="0" y="0"/>
                  </a:moveTo>
                  <a:lnTo>
                    <a:pt x="116713" y="0"/>
                  </a:lnTo>
                  <a:lnTo>
                    <a:pt x="116713" y="943102"/>
                  </a:lnTo>
                  <a:lnTo>
                    <a:pt x="0" y="943102"/>
                  </a:lnTo>
                  <a:lnTo>
                    <a:pt x="0" y="0"/>
                  </a:lnTo>
                  <a:close/>
                </a:path>
              </a:pathLst>
            </a:custGeom>
            <a:blipFill>
              <a:blip r:embed="rId20"/>
              <a:stretch>
                <a:fillRect l="-500" t="0" r="-500" b="0"/>
              </a:stretch>
            </a:blipFill>
          </p:spPr>
        </p:sp>
      </p:grpSp>
      <p:sp>
        <p:nvSpPr>
          <p:cNvPr name="Freeform 40" id="40"/>
          <p:cNvSpPr/>
          <p:nvPr/>
        </p:nvSpPr>
        <p:spPr>
          <a:xfrm flipH="false" flipV="false" rot="0">
            <a:off x="9249737" y="8236163"/>
            <a:ext cx="1895923" cy="1006288"/>
          </a:xfrm>
          <a:custGeom>
            <a:avLst/>
            <a:gdLst/>
            <a:ahLst/>
            <a:cxnLst/>
            <a:rect r="r" b="b" t="t" l="l"/>
            <a:pathLst>
              <a:path h="1006288" w="1895923">
                <a:moveTo>
                  <a:pt x="0" y="0"/>
                </a:moveTo>
                <a:lnTo>
                  <a:pt x="1895923" y="0"/>
                </a:lnTo>
                <a:lnTo>
                  <a:pt x="1895923" y="1006287"/>
                </a:lnTo>
                <a:lnTo>
                  <a:pt x="0" y="100628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41" id="41"/>
          <p:cNvGrpSpPr/>
          <p:nvPr/>
        </p:nvGrpSpPr>
        <p:grpSpPr>
          <a:xfrm rot="0">
            <a:off x="9428378" y="8524189"/>
            <a:ext cx="328136" cy="481298"/>
            <a:chOff x="0" y="0"/>
            <a:chExt cx="437515" cy="641731"/>
          </a:xfrm>
        </p:grpSpPr>
        <p:sp>
          <p:nvSpPr>
            <p:cNvPr name="Freeform 42" id="42" descr="preencoded.png"/>
            <p:cNvSpPr/>
            <p:nvPr/>
          </p:nvSpPr>
          <p:spPr>
            <a:xfrm flipH="false" flipV="false" rot="0">
              <a:off x="0" y="0"/>
              <a:ext cx="437515" cy="641731"/>
            </a:xfrm>
            <a:custGeom>
              <a:avLst/>
              <a:gdLst/>
              <a:ahLst/>
              <a:cxnLst/>
              <a:rect r="r" b="b" t="t" l="l"/>
              <a:pathLst>
                <a:path h="641731" w="437515">
                  <a:moveTo>
                    <a:pt x="0" y="0"/>
                  </a:moveTo>
                  <a:lnTo>
                    <a:pt x="437515" y="0"/>
                  </a:lnTo>
                  <a:lnTo>
                    <a:pt x="437515" y="641731"/>
                  </a:lnTo>
                  <a:lnTo>
                    <a:pt x="0" y="641731"/>
                  </a:lnTo>
                  <a:lnTo>
                    <a:pt x="0" y="0"/>
                  </a:lnTo>
                  <a:close/>
                </a:path>
              </a:pathLst>
            </a:custGeom>
            <a:blipFill>
              <a:blip r:embed="rId23"/>
              <a:stretch>
                <a:fillRect l="0" t="-500" r="0" b="-502"/>
              </a:stretch>
            </a:blipFill>
          </p:spPr>
        </p:sp>
      </p:grpSp>
      <p:grpSp>
        <p:nvGrpSpPr>
          <p:cNvPr name="Group 43" id="43"/>
          <p:cNvGrpSpPr/>
          <p:nvPr/>
        </p:nvGrpSpPr>
        <p:grpSpPr>
          <a:xfrm rot="0">
            <a:off x="9836725" y="8604399"/>
            <a:ext cx="947947" cy="371151"/>
            <a:chOff x="0" y="0"/>
            <a:chExt cx="1263929" cy="494868"/>
          </a:xfrm>
        </p:grpSpPr>
        <p:sp>
          <p:nvSpPr>
            <p:cNvPr name="Freeform 44" id="44"/>
            <p:cNvSpPr/>
            <p:nvPr/>
          </p:nvSpPr>
          <p:spPr>
            <a:xfrm flipH="false" flipV="false" rot="0">
              <a:off x="0" y="0"/>
              <a:ext cx="1263904" cy="494919"/>
            </a:xfrm>
            <a:custGeom>
              <a:avLst/>
              <a:gdLst/>
              <a:ahLst/>
              <a:cxnLst/>
              <a:rect r="r" b="b" t="t" l="l"/>
              <a:pathLst>
                <a:path h="494919" w="1263904">
                  <a:moveTo>
                    <a:pt x="0" y="0"/>
                  </a:moveTo>
                  <a:lnTo>
                    <a:pt x="1263904" y="0"/>
                  </a:lnTo>
                  <a:lnTo>
                    <a:pt x="1263904" y="494919"/>
                  </a:lnTo>
                  <a:lnTo>
                    <a:pt x="0" y="494919"/>
                  </a:lnTo>
                  <a:close/>
                </a:path>
              </a:pathLst>
            </a:custGeom>
            <a:blipFill>
              <a:blip r:embed="rId4">
                <a:alphaModFix amt="0"/>
              </a:blip>
              <a:stretch>
                <a:fillRect l="-270" t="0" r="-272" b="10"/>
              </a:stretch>
            </a:blipFill>
          </p:spPr>
        </p:sp>
      </p:grpSp>
      <p:grpSp>
        <p:nvGrpSpPr>
          <p:cNvPr name="Group 45" id="45"/>
          <p:cNvGrpSpPr/>
          <p:nvPr/>
        </p:nvGrpSpPr>
        <p:grpSpPr>
          <a:xfrm rot="0">
            <a:off x="9836725" y="8668693"/>
            <a:ext cx="947947" cy="306867"/>
            <a:chOff x="0" y="0"/>
            <a:chExt cx="1263929" cy="409156"/>
          </a:xfrm>
        </p:grpSpPr>
        <p:sp>
          <p:nvSpPr>
            <p:cNvPr name="Freeform 46" id="46"/>
            <p:cNvSpPr/>
            <p:nvPr/>
          </p:nvSpPr>
          <p:spPr>
            <a:xfrm flipH="false" flipV="false" rot="0">
              <a:off x="0" y="0"/>
              <a:ext cx="1263929" cy="409154"/>
            </a:xfrm>
            <a:custGeom>
              <a:avLst/>
              <a:gdLst/>
              <a:ahLst/>
              <a:cxnLst/>
              <a:rect r="r" b="b" t="t" l="l"/>
              <a:pathLst>
                <a:path h="409154" w="1263929">
                  <a:moveTo>
                    <a:pt x="0" y="0"/>
                  </a:moveTo>
                  <a:lnTo>
                    <a:pt x="1263929" y="0"/>
                  </a:lnTo>
                  <a:lnTo>
                    <a:pt x="1263929" y="409154"/>
                  </a:lnTo>
                  <a:lnTo>
                    <a:pt x="0" y="409154"/>
                  </a:lnTo>
                  <a:close/>
                </a:path>
              </a:pathLst>
            </a:custGeom>
            <a:blipFill>
              <a:blip r:embed="rId5">
                <a:alphaModFix amt="0"/>
              </a:blip>
              <a:stretch>
                <a:fillRect l="0" t="-10191" r="0" b="-10192"/>
              </a:stretch>
            </a:blipFill>
          </p:spPr>
        </p:sp>
        <p:sp>
          <p:nvSpPr>
            <p:cNvPr name="TextBox 47" id="47"/>
            <p:cNvSpPr txBox="true"/>
            <p:nvPr/>
          </p:nvSpPr>
          <p:spPr>
            <a:xfrm>
              <a:off x="0" y="85725"/>
              <a:ext cx="1263929" cy="323431"/>
            </a:xfrm>
            <a:prstGeom prst="rect">
              <a:avLst/>
            </a:prstGeom>
          </p:spPr>
          <p:txBody>
            <a:bodyPr anchor="ctr" rtlCol="false" tIns="0" lIns="0" bIns="0" rIns="0"/>
            <a:lstStyle/>
            <a:p>
              <a:pPr algn="l">
                <a:lnSpc>
                  <a:spcPts val="1266"/>
                </a:lnSpc>
              </a:pPr>
              <a:r>
                <a:rPr lang="en-US" sz="1752" b="true">
                  <a:solidFill>
                    <a:srgbClr val="EFB98B"/>
                  </a:solidFill>
                  <a:latin typeface="TT Commons Pro Bold"/>
                  <a:ea typeface="TT Commons Pro Bold"/>
                  <a:cs typeface="TT Commons Pro Bold"/>
                  <a:sym typeface="TT Commons Pro Bold"/>
                </a:rPr>
                <a:t>SWIGGY</a:t>
              </a:r>
            </a:p>
          </p:txBody>
        </p:sp>
      </p:grpSp>
      <p:sp>
        <p:nvSpPr>
          <p:cNvPr name="Freeform 48" id="48"/>
          <p:cNvSpPr/>
          <p:nvPr/>
        </p:nvSpPr>
        <p:spPr>
          <a:xfrm flipH="false" flipV="false" rot="0">
            <a:off x="11142888" y="8262595"/>
            <a:ext cx="1653388" cy="953395"/>
          </a:xfrm>
          <a:custGeom>
            <a:avLst/>
            <a:gdLst/>
            <a:ahLst/>
            <a:cxnLst/>
            <a:rect r="r" b="b" t="t" l="l"/>
            <a:pathLst>
              <a:path h="953395" w="1653388">
                <a:moveTo>
                  <a:pt x="0" y="0"/>
                </a:moveTo>
                <a:lnTo>
                  <a:pt x="1653388" y="0"/>
                </a:lnTo>
                <a:lnTo>
                  <a:pt x="1653388" y="953395"/>
                </a:lnTo>
                <a:lnTo>
                  <a:pt x="0" y="95339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grpSp>
        <p:nvGrpSpPr>
          <p:cNvPr name="Group 49" id="49"/>
          <p:cNvGrpSpPr/>
          <p:nvPr/>
        </p:nvGrpSpPr>
        <p:grpSpPr>
          <a:xfrm rot="0">
            <a:off x="11535728" y="8567947"/>
            <a:ext cx="1137533" cy="532305"/>
            <a:chOff x="0" y="0"/>
            <a:chExt cx="1516710" cy="709740"/>
          </a:xfrm>
        </p:grpSpPr>
        <p:sp>
          <p:nvSpPr>
            <p:cNvPr name="Freeform 50" id="50"/>
            <p:cNvSpPr/>
            <p:nvPr/>
          </p:nvSpPr>
          <p:spPr>
            <a:xfrm flipH="false" flipV="false" rot="0">
              <a:off x="0" y="0"/>
              <a:ext cx="1516761" cy="709803"/>
            </a:xfrm>
            <a:custGeom>
              <a:avLst/>
              <a:gdLst/>
              <a:ahLst/>
              <a:cxnLst/>
              <a:rect r="r" b="b" t="t" l="l"/>
              <a:pathLst>
                <a:path h="709803" w="1516761">
                  <a:moveTo>
                    <a:pt x="0" y="0"/>
                  </a:moveTo>
                  <a:lnTo>
                    <a:pt x="1516761" y="0"/>
                  </a:lnTo>
                  <a:lnTo>
                    <a:pt x="1516761" y="709803"/>
                  </a:lnTo>
                  <a:lnTo>
                    <a:pt x="0" y="709803"/>
                  </a:lnTo>
                  <a:close/>
                </a:path>
              </a:pathLst>
            </a:custGeom>
            <a:blipFill>
              <a:blip r:embed="rId4">
                <a:alphaModFix amt="0"/>
              </a:blip>
              <a:stretch>
                <a:fillRect l="-10081" t="0" r="-10077" b="8"/>
              </a:stretch>
            </a:blipFill>
          </p:spPr>
        </p:sp>
      </p:grpSp>
      <p:grpSp>
        <p:nvGrpSpPr>
          <p:cNvPr name="Group 51" id="51"/>
          <p:cNvGrpSpPr/>
          <p:nvPr/>
        </p:nvGrpSpPr>
        <p:grpSpPr>
          <a:xfrm rot="0">
            <a:off x="11535728" y="8639385"/>
            <a:ext cx="1137533" cy="460877"/>
            <a:chOff x="0" y="0"/>
            <a:chExt cx="1516710" cy="614502"/>
          </a:xfrm>
        </p:grpSpPr>
        <p:sp>
          <p:nvSpPr>
            <p:cNvPr name="Freeform 52" id="52"/>
            <p:cNvSpPr/>
            <p:nvPr/>
          </p:nvSpPr>
          <p:spPr>
            <a:xfrm flipH="false" flipV="false" rot="0">
              <a:off x="0" y="0"/>
              <a:ext cx="1516711" cy="614501"/>
            </a:xfrm>
            <a:custGeom>
              <a:avLst/>
              <a:gdLst/>
              <a:ahLst/>
              <a:cxnLst/>
              <a:rect r="r" b="b" t="t" l="l"/>
              <a:pathLst>
                <a:path h="614501" w="1516711">
                  <a:moveTo>
                    <a:pt x="0" y="0"/>
                  </a:moveTo>
                  <a:lnTo>
                    <a:pt x="1516711" y="0"/>
                  </a:lnTo>
                  <a:lnTo>
                    <a:pt x="1516711" y="614501"/>
                  </a:lnTo>
                  <a:lnTo>
                    <a:pt x="0" y="614501"/>
                  </a:lnTo>
                  <a:close/>
                </a:path>
              </a:pathLst>
            </a:custGeom>
            <a:blipFill>
              <a:blip r:embed="rId5">
                <a:alphaModFix amt="0"/>
              </a:blip>
              <a:stretch>
                <a:fillRect l="-1982" t="0" r="-1982" b="0"/>
              </a:stretch>
            </a:blipFill>
          </p:spPr>
        </p:sp>
        <p:sp>
          <p:nvSpPr>
            <p:cNvPr name="TextBox 53" id="53"/>
            <p:cNvSpPr txBox="true"/>
            <p:nvPr/>
          </p:nvSpPr>
          <p:spPr>
            <a:xfrm>
              <a:off x="0" y="95250"/>
              <a:ext cx="1516710" cy="519252"/>
            </a:xfrm>
            <a:prstGeom prst="rect">
              <a:avLst/>
            </a:prstGeom>
          </p:spPr>
          <p:txBody>
            <a:bodyPr anchor="ctr" rtlCol="false" tIns="0" lIns="0" bIns="0" rIns="0"/>
            <a:lstStyle/>
            <a:p>
              <a:pPr algn="l">
                <a:lnSpc>
                  <a:spcPts val="1917"/>
                </a:lnSpc>
              </a:pPr>
              <a:r>
                <a:rPr lang="en-US" b="true" sz="2481" i="true">
                  <a:solidFill>
                    <a:srgbClr val="EAB9BE"/>
                  </a:solidFill>
                  <a:latin typeface="TT Commons Pro Bold Italics"/>
                  <a:ea typeface="TT Commons Pro Bold Italics"/>
                  <a:cs typeface="TT Commons Pro Bold Italics"/>
                  <a:sym typeface="TT Commons Pro Bold Italics"/>
                </a:rPr>
                <a:t>zomato</a:t>
              </a:r>
            </a:p>
          </p:txBody>
        </p:sp>
      </p:grpSp>
      <p:grpSp>
        <p:nvGrpSpPr>
          <p:cNvPr name="Group 54" id="54"/>
          <p:cNvGrpSpPr/>
          <p:nvPr/>
        </p:nvGrpSpPr>
        <p:grpSpPr>
          <a:xfrm rot="0">
            <a:off x="10843003" y="8429396"/>
            <a:ext cx="590645" cy="634365"/>
            <a:chOff x="0" y="0"/>
            <a:chExt cx="787527" cy="845820"/>
          </a:xfrm>
        </p:grpSpPr>
        <p:sp>
          <p:nvSpPr>
            <p:cNvPr name="Freeform 55" id="55" descr="preencoded.png"/>
            <p:cNvSpPr/>
            <p:nvPr/>
          </p:nvSpPr>
          <p:spPr>
            <a:xfrm flipH="false" flipV="false" rot="0">
              <a:off x="0" y="0"/>
              <a:ext cx="787527" cy="845820"/>
            </a:xfrm>
            <a:custGeom>
              <a:avLst/>
              <a:gdLst/>
              <a:ahLst/>
              <a:cxnLst/>
              <a:rect r="r" b="b" t="t" l="l"/>
              <a:pathLst>
                <a:path h="845820" w="787527">
                  <a:moveTo>
                    <a:pt x="0" y="0"/>
                  </a:moveTo>
                  <a:lnTo>
                    <a:pt x="787527" y="0"/>
                  </a:lnTo>
                  <a:lnTo>
                    <a:pt x="787527" y="845820"/>
                  </a:lnTo>
                  <a:lnTo>
                    <a:pt x="0" y="845820"/>
                  </a:lnTo>
                  <a:lnTo>
                    <a:pt x="0" y="0"/>
                  </a:lnTo>
                  <a:close/>
                </a:path>
              </a:pathLst>
            </a:custGeom>
            <a:blipFill>
              <a:blip r:embed="rId26"/>
              <a:stretch>
                <a:fillRect l="-120" t="0" r="-120" b="0"/>
              </a:stretch>
            </a:blipFill>
          </p:spPr>
        </p:sp>
      </p:grpSp>
      <p:grpSp>
        <p:nvGrpSpPr>
          <p:cNvPr name="Group 56" id="56"/>
          <p:cNvGrpSpPr/>
          <p:nvPr/>
        </p:nvGrpSpPr>
        <p:grpSpPr>
          <a:xfrm rot="0">
            <a:off x="10966971" y="8589816"/>
            <a:ext cx="350006" cy="306257"/>
            <a:chOff x="0" y="0"/>
            <a:chExt cx="466674" cy="408343"/>
          </a:xfrm>
        </p:grpSpPr>
        <p:sp>
          <p:nvSpPr>
            <p:cNvPr name="Freeform 57" id="57"/>
            <p:cNvSpPr/>
            <p:nvPr/>
          </p:nvSpPr>
          <p:spPr>
            <a:xfrm flipH="false" flipV="false" rot="0">
              <a:off x="0" y="0"/>
              <a:ext cx="466725" cy="408305"/>
            </a:xfrm>
            <a:custGeom>
              <a:avLst/>
              <a:gdLst/>
              <a:ahLst/>
              <a:cxnLst/>
              <a:rect r="r" b="b" t="t" l="l"/>
              <a:pathLst>
                <a:path h="408305" w="466725">
                  <a:moveTo>
                    <a:pt x="0" y="0"/>
                  </a:moveTo>
                  <a:lnTo>
                    <a:pt x="466725" y="0"/>
                  </a:lnTo>
                  <a:lnTo>
                    <a:pt x="466725" y="408305"/>
                  </a:lnTo>
                  <a:lnTo>
                    <a:pt x="0" y="408305"/>
                  </a:lnTo>
                  <a:close/>
                </a:path>
              </a:pathLst>
            </a:custGeom>
            <a:blipFill>
              <a:blip r:embed="rId4">
                <a:alphaModFix amt="0"/>
              </a:blip>
              <a:stretch>
                <a:fillRect l="-62337" t="0" r="-62329" b="-9"/>
              </a:stretch>
            </a:blipFill>
          </p:spPr>
        </p:sp>
      </p:grpSp>
      <p:grpSp>
        <p:nvGrpSpPr>
          <p:cNvPr name="Group 58" id="58"/>
          <p:cNvGrpSpPr/>
          <p:nvPr/>
        </p:nvGrpSpPr>
        <p:grpSpPr>
          <a:xfrm rot="0">
            <a:off x="10966971" y="8625535"/>
            <a:ext cx="350006" cy="270539"/>
            <a:chOff x="0" y="0"/>
            <a:chExt cx="466674" cy="360718"/>
          </a:xfrm>
        </p:grpSpPr>
        <p:sp>
          <p:nvSpPr>
            <p:cNvPr name="Freeform 59" id="59"/>
            <p:cNvSpPr/>
            <p:nvPr/>
          </p:nvSpPr>
          <p:spPr>
            <a:xfrm flipH="false" flipV="false" rot="0">
              <a:off x="0" y="0"/>
              <a:ext cx="466675" cy="360718"/>
            </a:xfrm>
            <a:custGeom>
              <a:avLst/>
              <a:gdLst/>
              <a:ahLst/>
              <a:cxnLst/>
              <a:rect r="r" b="b" t="t" l="l"/>
              <a:pathLst>
                <a:path h="360718" w="466675">
                  <a:moveTo>
                    <a:pt x="0" y="0"/>
                  </a:moveTo>
                  <a:lnTo>
                    <a:pt x="466675" y="0"/>
                  </a:lnTo>
                  <a:lnTo>
                    <a:pt x="466675" y="360718"/>
                  </a:lnTo>
                  <a:lnTo>
                    <a:pt x="0" y="360718"/>
                  </a:lnTo>
                  <a:close/>
                </a:path>
              </a:pathLst>
            </a:custGeom>
            <a:blipFill>
              <a:blip r:embed="rId5">
                <a:alphaModFix amt="0"/>
              </a:blip>
              <a:stretch>
                <a:fillRect l="-49172" t="0" r="-49172" b="0"/>
              </a:stretch>
            </a:blipFill>
          </p:spPr>
        </p:sp>
        <p:sp>
          <p:nvSpPr>
            <p:cNvPr name="TextBox 60" id="60"/>
            <p:cNvSpPr txBox="true"/>
            <p:nvPr/>
          </p:nvSpPr>
          <p:spPr>
            <a:xfrm>
              <a:off x="0" y="47625"/>
              <a:ext cx="466674" cy="313093"/>
            </a:xfrm>
            <a:prstGeom prst="rect">
              <a:avLst/>
            </a:prstGeom>
          </p:spPr>
          <p:txBody>
            <a:bodyPr anchor="ctr" rtlCol="false" tIns="0" lIns="0" bIns="0" rIns="0"/>
            <a:lstStyle/>
            <a:p>
              <a:pPr algn="l">
                <a:lnSpc>
                  <a:spcPts val="1549"/>
                </a:lnSpc>
              </a:pPr>
              <a:r>
                <a:rPr lang="en-US" sz="2026" b="true">
                  <a:solidFill>
                    <a:srgbClr val="B5B5B5"/>
                  </a:solidFill>
                  <a:latin typeface="Consolas Bold"/>
                  <a:ea typeface="Consolas Bold"/>
                  <a:cs typeface="Consolas Bold"/>
                  <a:sym typeface="Consolas Bold"/>
                </a:rPr>
                <a:t>VS</a:t>
              </a:r>
            </a:p>
          </p:txBody>
        </p:sp>
      </p:grpSp>
      <p:grpSp>
        <p:nvGrpSpPr>
          <p:cNvPr name="Group 61" id="61"/>
          <p:cNvGrpSpPr/>
          <p:nvPr/>
        </p:nvGrpSpPr>
        <p:grpSpPr>
          <a:xfrm rot="0">
            <a:off x="714604" y="8334604"/>
            <a:ext cx="743807" cy="729234"/>
            <a:chOff x="0" y="0"/>
            <a:chExt cx="991743" cy="972312"/>
          </a:xfrm>
        </p:grpSpPr>
        <p:sp>
          <p:nvSpPr>
            <p:cNvPr name="Freeform 62" id="62" descr="preencoded.png"/>
            <p:cNvSpPr/>
            <p:nvPr/>
          </p:nvSpPr>
          <p:spPr>
            <a:xfrm flipH="false" flipV="false" rot="0">
              <a:off x="0" y="0"/>
              <a:ext cx="991743" cy="972312"/>
            </a:xfrm>
            <a:custGeom>
              <a:avLst/>
              <a:gdLst/>
              <a:ahLst/>
              <a:cxnLst/>
              <a:rect r="r" b="b" t="t" l="l"/>
              <a:pathLst>
                <a:path h="972312" w="991743">
                  <a:moveTo>
                    <a:pt x="0" y="0"/>
                  </a:moveTo>
                  <a:lnTo>
                    <a:pt x="991743" y="0"/>
                  </a:lnTo>
                  <a:lnTo>
                    <a:pt x="991743" y="972312"/>
                  </a:lnTo>
                  <a:lnTo>
                    <a:pt x="0" y="972312"/>
                  </a:lnTo>
                  <a:lnTo>
                    <a:pt x="0" y="0"/>
                  </a:lnTo>
                  <a:close/>
                </a:path>
              </a:pathLst>
            </a:custGeom>
            <a:blipFill>
              <a:blip r:embed="rId27"/>
              <a:stretch>
                <a:fillRect l="0" t="-163" r="0" b="-163"/>
              </a:stretch>
            </a:blipFill>
          </p:spPr>
        </p:sp>
      </p:grpSp>
      <p:grpSp>
        <p:nvGrpSpPr>
          <p:cNvPr name="Group 63" id="63"/>
          <p:cNvGrpSpPr/>
          <p:nvPr/>
        </p:nvGrpSpPr>
        <p:grpSpPr>
          <a:xfrm rot="0">
            <a:off x="2238604" y="8320021"/>
            <a:ext cx="6292882" cy="751780"/>
            <a:chOff x="0" y="0"/>
            <a:chExt cx="8390509" cy="1002373"/>
          </a:xfrm>
        </p:grpSpPr>
        <p:sp>
          <p:nvSpPr>
            <p:cNvPr name="Freeform 64" id="64"/>
            <p:cNvSpPr/>
            <p:nvPr/>
          </p:nvSpPr>
          <p:spPr>
            <a:xfrm flipH="false" flipV="false" rot="0">
              <a:off x="0" y="0"/>
              <a:ext cx="8390509" cy="1002411"/>
            </a:xfrm>
            <a:custGeom>
              <a:avLst/>
              <a:gdLst/>
              <a:ahLst/>
              <a:cxnLst/>
              <a:rect r="r" b="b" t="t" l="l"/>
              <a:pathLst>
                <a:path h="1002411" w="8390509">
                  <a:moveTo>
                    <a:pt x="0" y="0"/>
                  </a:moveTo>
                  <a:lnTo>
                    <a:pt x="8390509" y="0"/>
                  </a:lnTo>
                  <a:lnTo>
                    <a:pt x="8390509" y="1002411"/>
                  </a:lnTo>
                  <a:lnTo>
                    <a:pt x="0" y="1002411"/>
                  </a:lnTo>
                  <a:close/>
                </a:path>
              </a:pathLst>
            </a:custGeom>
            <a:blipFill>
              <a:blip r:embed="rId4">
                <a:alphaModFix amt="0"/>
              </a:blip>
              <a:stretch>
                <a:fillRect l="0" t="-112984" r="0" b="-112981"/>
              </a:stretch>
            </a:blipFill>
          </p:spPr>
        </p:sp>
      </p:grpSp>
      <p:grpSp>
        <p:nvGrpSpPr>
          <p:cNvPr name="Group 65" id="65"/>
          <p:cNvGrpSpPr/>
          <p:nvPr/>
        </p:nvGrpSpPr>
        <p:grpSpPr>
          <a:xfrm rot="0">
            <a:off x="2238604" y="8334308"/>
            <a:ext cx="6292882" cy="737511"/>
            <a:chOff x="0" y="0"/>
            <a:chExt cx="8390509" cy="983348"/>
          </a:xfrm>
        </p:grpSpPr>
        <p:sp>
          <p:nvSpPr>
            <p:cNvPr name="Freeform 66" id="66"/>
            <p:cNvSpPr/>
            <p:nvPr/>
          </p:nvSpPr>
          <p:spPr>
            <a:xfrm flipH="false" flipV="false" rot="0">
              <a:off x="0" y="0"/>
              <a:ext cx="8390510" cy="983342"/>
            </a:xfrm>
            <a:custGeom>
              <a:avLst/>
              <a:gdLst/>
              <a:ahLst/>
              <a:cxnLst/>
              <a:rect r="r" b="b" t="t" l="l"/>
              <a:pathLst>
                <a:path h="983342" w="8390510">
                  <a:moveTo>
                    <a:pt x="0" y="0"/>
                  </a:moveTo>
                  <a:lnTo>
                    <a:pt x="8390510" y="0"/>
                  </a:lnTo>
                  <a:lnTo>
                    <a:pt x="8390510" y="983342"/>
                  </a:lnTo>
                  <a:lnTo>
                    <a:pt x="0" y="983342"/>
                  </a:lnTo>
                  <a:close/>
                </a:path>
              </a:pathLst>
            </a:custGeom>
            <a:blipFill>
              <a:blip r:embed="rId5">
                <a:alphaModFix amt="0"/>
              </a:blip>
              <a:stretch>
                <a:fillRect l="0" t="-116258" r="0" b="-116259"/>
              </a:stretch>
            </a:blipFill>
          </p:spPr>
        </p:sp>
        <p:sp>
          <p:nvSpPr>
            <p:cNvPr name="TextBox 67" id="67"/>
            <p:cNvSpPr txBox="true"/>
            <p:nvPr/>
          </p:nvSpPr>
          <p:spPr>
            <a:xfrm>
              <a:off x="0" y="19050"/>
              <a:ext cx="8390509" cy="964298"/>
            </a:xfrm>
            <a:prstGeom prst="rect">
              <a:avLst/>
            </a:prstGeom>
          </p:spPr>
          <p:txBody>
            <a:bodyPr anchor="ctr" rtlCol="false" tIns="0" lIns="0" bIns="0" rIns="0"/>
            <a:lstStyle/>
            <a:p>
              <a:pPr algn="l">
                <a:lnSpc>
                  <a:spcPts val="1684"/>
                </a:lnSpc>
              </a:pPr>
              <a:r>
                <a:rPr lang="en-US" sz="1555">
                  <a:solidFill>
                    <a:srgbClr val="F2EFEB"/>
                  </a:solidFill>
                  <a:latin typeface="TT Commons Pro"/>
                  <a:ea typeface="TT Commons Pro"/>
                  <a:cs typeface="TT Commons Pro"/>
                  <a:sym typeface="TT Commons Pro"/>
                </a:rPr>
                <a:t>To perform a data-driven comparison of Swiggy and Zomato using the available CSV dataset and generate meaningful insights through Python analysis and visualization.</a:t>
              </a:r>
            </a:p>
          </p:txBody>
        </p:sp>
      </p:grpSp>
      <p:grpSp>
        <p:nvGrpSpPr>
          <p:cNvPr name="Group 68" id="68"/>
          <p:cNvGrpSpPr/>
          <p:nvPr/>
        </p:nvGrpSpPr>
        <p:grpSpPr>
          <a:xfrm rot="0">
            <a:off x="1662541" y="8334604"/>
            <a:ext cx="510435" cy="322640"/>
            <a:chOff x="0" y="0"/>
            <a:chExt cx="680580" cy="430187"/>
          </a:xfrm>
        </p:grpSpPr>
        <p:sp>
          <p:nvSpPr>
            <p:cNvPr name="Freeform 69" id="69"/>
            <p:cNvSpPr/>
            <p:nvPr/>
          </p:nvSpPr>
          <p:spPr>
            <a:xfrm flipH="false" flipV="false" rot="0">
              <a:off x="0" y="0"/>
              <a:ext cx="680593" cy="430149"/>
            </a:xfrm>
            <a:custGeom>
              <a:avLst/>
              <a:gdLst/>
              <a:ahLst/>
              <a:cxnLst/>
              <a:rect r="r" b="b" t="t" l="l"/>
              <a:pathLst>
                <a:path h="430149" w="680593">
                  <a:moveTo>
                    <a:pt x="0" y="0"/>
                  </a:moveTo>
                  <a:lnTo>
                    <a:pt x="680593" y="0"/>
                  </a:lnTo>
                  <a:lnTo>
                    <a:pt x="680593" y="430149"/>
                  </a:lnTo>
                  <a:lnTo>
                    <a:pt x="0" y="430149"/>
                  </a:lnTo>
                  <a:close/>
                </a:path>
              </a:pathLst>
            </a:custGeom>
            <a:blipFill>
              <a:blip r:embed="rId4">
                <a:alphaModFix amt="0"/>
              </a:blip>
              <a:stretch>
                <a:fillRect l="-31156" t="0" r="-31153" b="-8"/>
              </a:stretch>
            </a:blipFill>
          </p:spPr>
        </p:sp>
      </p:grpSp>
      <p:grpSp>
        <p:nvGrpSpPr>
          <p:cNvPr name="Group 70" id="70"/>
          <p:cNvGrpSpPr/>
          <p:nvPr/>
        </p:nvGrpSpPr>
        <p:grpSpPr>
          <a:xfrm rot="0">
            <a:off x="1662541" y="8377466"/>
            <a:ext cx="510435" cy="279787"/>
            <a:chOff x="0" y="0"/>
            <a:chExt cx="680580" cy="373050"/>
          </a:xfrm>
        </p:grpSpPr>
        <p:sp>
          <p:nvSpPr>
            <p:cNvPr name="Freeform 71" id="71"/>
            <p:cNvSpPr/>
            <p:nvPr/>
          </p:nvSpPr>
          <p:spPr>
            <a:xfrm flipH="false" flipV="false" rot="0">
              <a:off x="0" y="0"/>
              <a:ext cx="680580" cy="373045"/>
            </a:xfrm>
            <a:custGeom>
              <a:avLst/>
              <a:gdLst/>
              <a:ahLst/>
              <a:cxnLst/>
              <a:rect r="r" b="b" t="t" l="l"/>
              <a:pathLst>
                <a:path h="373045" w="680580">
                  <a:moveTo>
                    <a:pt x="0" y="0"/>
                  </a:moveTo>
                  <a:lnTo>
                    <a:pt x="680580" y="0"/>
                  </a:lnTo>
                  <a:lnTo>
                    <a:pt x="680580" y="373045"/>
                  </a:lnTo>
                  <a:lnTo>
                    <a:pt x="0" y="373045"/>
                  </a:lnTo>
                  <a:close/>
                </a:path>
              </a:pathLst>
            </a:custGeom>
            <a:blipFill>
              <a:blip r:embed="rId5">
                <a:alphaModFix amt="0"/>
              </a:blip>
              <a:stretch>
                <a:fillRect l="-20327" t="0" r="-20327" b="-1"/>
              </a:stretch>
            </a:blipFill>
          </p:spPr>
        </p:sp>
        <p:sp>
          <p:nvSpPr>
            <p:cNvPr name="TextBox 72" id="72"/>
            <p:cNvSpPr txBox="true"/>
            <p:nvPr/>
          </p:nvSpPr>
          <p:spPr>
            <a:xfrm>
              <a:off x="0" y="57150"/>
              <a:ext cx="680580" cy="315900"/>
            </a:xfrm>
            <a:prstGeom prst="rect">
              <a:avLst/>
            </a:prstGeom>
          </p:spPr>
          <p:txBody>
            <a:bodyPr anchor="ctr" rtlCol="false" tIns="0" lIns="0" bIns="0" rIns="0"/>
            <a:lstStyle/>
            <a:p>
              <a:pPr algn="l">
                <a:lnSpc>
                  <a:spcPts val="1262"/>
                </a:lnSpc>
              </a:pPr>
              <a:r>
                <a:rPr lang="en-US" sz="1525" b="true">
                  <a:solidFill>
                    <a:srgbClr val="95532B"/>
                  </a:solidFill>
                  <a:latin typeface="TT Commons Pro Bold"/>
                  <a:ea typeface="TT Commons Pro Bold"/>
                  <a:cs typeface="TT Commons Pro Bold"/>
                  <a:sym typeface="TT Commons Pro Bold"/>
                </a:rPr>
                <a:t>Goal:</a:t>
              </a:r>
            </a:p>
          </p:txBody>
        </p:sp>
      </p:grpSp>
      <p:grpSp>
        <p:nvGrpSpPr>
          <p:cNvPr name="Group 73" id="73"/>
          <p:cNvGrpSpPr/>
          <p:nvPr/>
        </p:nvGrpSpPr>
        <p:grpSpPr>
          <a:xfrm rot="0">
            <a:off x="14379559" y="2457355"/>
            <a:ext cx="3215735" cy="5089684"/>
            <a:chOff x="0" y="0"/>
            <a:chExt cx="4287647" cy="6786245"/>
          </a:xfrm>
        </p:grpSpPr>
        <p:sp>
          <p:nvSpPr>
            <p:cNvPr name="Freeform 74" id="74" descr="preencoded.png"/>
            <p:cNvSpPr/>
            <p:nvPr/>
          </p:nvSpPr>
          <p:spPr>
            <a:xfrm flipH="false" flipV="false" rot="0">
              <a:off x="0" y="0"/>
              <a:ext cx="4287647" cy="6786245"/>
            </a:xfrm>
            <a:custGeom>
              <a:avLst/>
              <a:gdLst/>
              <a:ahLst/>
              <a:cxnLst/>
              <a:rect r="r" b="b" t="t" l="l"/>
              <a:pathLst>
                <a:path h="6786245" w="4287647">
                  <a:moveTo>
                    <a:pt x="0" y="0"/>
                  </a:moveTo>
                  <a:lnTo>
                    <a:pt x="4287647" y="0"/>
                  </a:lnTo>
                  <a:lnTo>
                    <a:pt x="4287647" y="6786245"/>
                  </a:lnTo>
                  <a:lnTo>
                    <a:pt x="0" y="6786245"/>
                  </a:lnTo>
                  <a:lnTo>
                    <a:pt x="0" y="0"/>
                  </a:lnTo>
                  <a:close/>
                </a:path>
              </a:pathLst>
            </a:custGeom>
            <a:blipFill>
              <a:blip r:embed="rId28"/>
              <a:stretch>
                <a:fillRect l="0" t="-51" r="0" b="-51"/>
              </a:stretch>
            </a:blipFill>
          </p:spPr>
        </p:sp>
      </p:grpSp>
      <p:grpSp>
        <p:nvGrpSpPr>
          <p:cNvPr name="Group 75" id="75"/>
          <p:cNvGrpSpPr/>
          <p:nvPr/>
        </p:nvGrpSpPr>
        <p:grpSpPr>
          <a:xfrm rot="0">
            <a:off x="15699391" y="6154331"/>
            <a:ext cx="247926" cy="128359"/>
            <a:chOff x="0" y="0"/>
            <a:chExt cx="330568" cy="171145"/>
          </a:xfrm>
        </p:grpSpPr>
        <p:sp>
          <p:nvSpPr>
            <p:cNvPr name="Freeform 76" id="76"/>
            <p:cNvSpPr/>
            <p:nvPr/>
          </p:nvSpPr>
          <p:spPr>
            <a:xfrm flipH="false" flipV="false" rot="0">
              <a:off x="0" y="0"/>
              <a:ext cx="330581" cy="171196"/>
            </a:xfrm>
            <a:custGeom>
              <a:avLst/>
              <a:gdLst/>
              <a:ahLst/>
              <a:cxnLst/>
              <a:rect r="r" b="b" t="t" l="l"/>
              <a:pathLst>
                <a:path h="171196" w="330581">
                  <a:moveTo>
                    <a:pt x="0" y="0"/>
                  </a:moveTo>
                  <a:lnTo>
                    <a:pt x="330581" y="0"/>
                  </a:lnTo>
                  <a:lnTo>
                    <a:pt x="330581" y="171196"/>
                  </a:lnTo>
                  <a:lnTo>
                    <a:pt x="0" y="171196"/>
                  </a:lnTo>
                  <a:close/>
                </a:path>
              </a:pathLst>
            </a:custGeom>
            <a:blipFill>
              <a:blip r:embed="rId4">
                <a:alphaModFix amt="0"/>
              </a:blip>
              <a:stretch>
                <a:fillRect l="-16473" t="0" r="-16465" b="29"/>
              </a:stretch>
            </a:blipFill>
          </p:spPr>
        </p:sp>
      </p:grpSp>
      <p:grpSp>
        <p:nvGrpSpPr>
          <p:cNvPr name="Group 77" id="77"/>
          <p:cNvGrpSpPr/>
          <p:nvPr/>
        </p:nvGrpSpPr>
        <p:grpSpPr>
          <a:xfrm rot="0">
            <a:off x="15699391" y="6168619"/>
            <a:ext cx="247926" cy="114071"/>
            <a:chOff x="0" y="0"/>
            <a:chExt cx="330568" cy="152095"/>
          </a:xfrm>
        </p:grpSpPr>
        <p:sp>
          <p:nvSpPr>
            <p:cNvPr name="Freeform 78" id="78"/>
            <p:cNvSpPr/>
            <p:nvPr/>
          </p:nvSpPr>
          <p:spPr>
            <a:xfrm flipH="false" flipV="false" rot="0">
              <a:off x="0" y="0"/>
              <a:ext cx="330568" cy="152099"/>
            </a:xfrm>
            <a:custGeom>
              <a:avLst/>
              <a:gdLst/>
              <a:ahLst/>
              <a:cxnLst/>
              <a:rect r="r" b="b" t="t" l="l"/>
              <a:pathLst>
                <a:path h="152099" w="330568">
                  <a:moveTo>
                    <a:pt x="0" y="0"/>
                  </a:moveTo>
                  <a:lnTo>
                    <a:pt x="330568" y="0"/>
                  </a:lnTo>
                  <a:lnTo>
                    <a:pt x="330568" y="152099"/>
                  </a:lnTo>
                  <a:lnTo>
                    <a:pt x="0" y="152099"/>
                  </a:lnTo>
                  <a:close/>
                </a:path>
              </a:pathLst>
            </a:custGeom>
            <a:blipFill>
              <a:blip r:embed="rId5">
                <a:alphaModFix amt="0"/>
              </a:blip>
              <a:stretch>
                <a:fillRect l="-9032" t="0" r="-9032" b="2"/>
              </a:stretch>
            </a:blipFill>
          </p:spPr>
        </p:sp>
        <p:sp>
          <p:nvSpPr>
            <p:cNvPr name="TextBox 79" id="79"/>
            <p:cNvSpPr txBox="true"/>
            <p:nvPr/>
          </p:nvSpPr>
          <p:spPr>
            <a:xfrm>
              <a:off x="0" y="19050"/>
              <a:ext cx="330568" cy="133045"/>
            </a:xfrm>
            <a:prstGeom prst="rect">
              <a:avLst/>
            </a:prstGeom>
          </p:spPr>
          <p:txBody>
            <a:bodyPr anchor="ctr" rtlCol="false" tIns="0" lIns="0" bIns="0" rIns="0"/>
            <a:lstStyle/>
            <a:p>
              <a:pPr algn="l">
                <a:lnSpc>
                  <a:spcPts val="516"/>
                </a:lnSpc>
              </a:pPr>
              <a:r>
                <a:rPr lang="en-US" sz="631">
                  <a:solidFill>
                    <a:srgbClr val="666664"/>
                  </a:solidFill>
                  <a:latin typeface="TT Commons Pro"/>
                  <a:ea typeface="TT Commons Pro"/>
                  <a:cs typeface="TT Commons Pro"/>
                  <a:sym typeface="TT Commons Pro"/>
                </a:rPr>
                <a:t>45</a:t>
              </a:r>
            </a:p>
          </p:txBody>
        </p:sp>
      </p:grpSp>
      <p:grpSp>
        <p:nvGrpSpPr>
          <p:cNvPr name="Group 80" id="80"/>
          <p:cNvGrpSpPr/>
          <p:nvPr/>
        </p:nvGrpSpPr>
        <p:grpSpPr>
          <a:xfrm rot="0">
            <a:off x="16341071" y="6380378"/>
            <a:ext cx="473974" cy="155953"/>
            <a:chOff x="0" y="0"/>
            <a:chExt cx="631965" cy="207937"/>
          </a:xfrm>
        </p:grpSpPr>
        <p:sp>
          <p:nvSpPr>
            <p:cNvPr name="Freeform 81" id="81"/>
            <p:cNvSpPr/>
            <p:nvPr/>
          </p:nvSpPr>
          <p:spPr>
            <a:xfrm flipH="false" flipV="false" rot="0">
              <a:off x="0" y="0"/>
              <a:ext cx="631952" cy="207899"/>
            </a:xfrm>
            <a:custGeom>
              <a:avLst/>
              <a:gdLst/>
              <a:ahLst/>
              <a:cxnLst/>
              <a:rect r="r" b="b" t="t" l="l"/>
              <a:pathLst>
                <a:path h="207899" w="631952">
                  <a:moveTo>
                    <a:pt x="0" y="0"/>
                  </a:moveTo>
                  <a:lnTo>
                    <a:pt x="631952" y="0"/>
                  </a:lnTo>
                  <a:lnTo>
                    <a:pt x="631952" y="207899"/>
                  </a:lnTo>
                  <a:lnTo>
                    <a:pt x="0" y="207899"/>
                  </a:lnTo>
                  <a:close/>
                </a:path>
              </a:pathLst>
            </a:custGeom>
            <a:blipFill>
              <a:blip r:embed="rId4">
                <a:alphaModFix amt="0"/>
              </a:blip>
              <a:stretch>
                <a:fillRect l="0" t="-9175" r="-2" b="-9199"/>
              </a:stretch>
            </a:blipFill>
          </p:spPr>
        </p:sp>
      </p:grpSp>
      <p:grpSp>
        <p:nvGrpSpPr>
          <p:cNvPr name="Group 82" id="82"/>
          <p:cNvGrpSpPr/>
          <p:nvPr/>
        </p:nvGrpSpPr>
        <p:grpSpPr>
          <a:xfrm rot="0">
            <a:off x="16341071" y="6380378"/>
            <a:ext cx="473974" cy="155953"/>
            <a:chOff x="0" y="0"/>
            <a:chExt cx="631965" cy="207937"/>
          </a:xfrm>
        </p:grpSpPr>
        <p:sp>
          <p:nvSpPr>
            <p:cNvPr name="Freeform 83" id="83"/>
            <p:cNvSpPr/>
            <p:nvPr/>
          </p:nvSpPr>
          <p:spPr>
            <a:xfrm flipH="false" flipV="false" rot="0">
              <a:off x="0" y="0"/>
              <a:ext cx="631965" cy="207940"/>
            </a:xfrm>
            <a:custGeom>
              <a:avLst/>
              <a:gdLst/>
              <a:ahLst/>
              <a:cxnLst/>
              <a:rect r="r" b="b" t="t" l="l"/>
              <a:pathLst>
                <a:path h="207940" w="631965">
                  <a:moveTo>
                    <a:pt x="0" y="0"/>
                  </a:moveTo>
                  <a:lnTo>
                    <a:pt x="631965" y="0"/>
                  </a:lnTo>
                  <a:lnTo>
                    <a:pt x="631965" y="207940"/>
                  </a:lnTo>
                  <a:lnTo>
                    <a:pt x="0" y="207940"/>
                  </a:lnTo>
                  <a:close/>
                </a:path>
              </a:pathLst>
            </a:custGeom>
            <a:blipFill>
              <a:blip r:embed="rId5">
                <a:alphaModFix amt="0"/>
              </a:blip>
              <a:stretch>
                <a:fillRect l="0" t="-9219" r="0" b="-9217"/>
              </a:stretch>
            </a:blipFill>
          </p:spPr>
        </p:sp>
        <p:sp>
          <p:nvSpPr>
            <p:cNvPr name="TextBox 84" id="84"/>
            <p:cNvSpPr txBox="true"/>
            <p:nvPr/>
          </p:nvSpPr>
          <p:spPr>
            <a:xfrm>
              <a:off x="0" y="0"/>
              <a:ext cx="631965" cy="207937"/>
            </a:xfrm>
            <a:prstGeom prst="rect">
              <a:avLst/>
            </a:prstGeom>
          </p:spPr>
          <p:txBody>
            <a:bodyPr anchor="ctr" rtlCol="false" tIns="0" lIns="0" bIns="0" rIns="0"/>
            <a:lstStyle/>
            <a:p>
              <a:pPr algn="l">
                <a:lnSpc>
                  <a:spcPts val="861"/>
                </a:lnSpc>
              </a:pPr>
              <a:r>
                <a:rPr lang="en-US" sz="740" b="true">
                  <a:solidFill>
                    <a:srgbClr val="96928F"/>
                  </a:solidFill>
                  <a:latin typeface="TT Commons Pro Bold"/>
                  <a:ea typeface="TT Commons Pro Bold"/>
                  <a:cs typeface="TT Commons Pro Bold"/>
                  <a:sym typeface="TT Commons Pro Bold"/>
                </a:rPr>
                <a:t>25-15me4</a:t>
              </a:r>
            </a:p>
          </p:txBody>
        </p:sp>
      </p:grpSp>
      <p:grpSp>
        <p:nvGrpSpPr>
          <p:cNvPr name="Group 85" id="85"/>
          <p:cNvGrpSpPr/>
          <p:nvPr/>
        </p:nvGrpSpPr>
        <p:grpSpPr>
          <a:xfrm rot="0">
            <a:off x="16122320" y="5643905"/>
            <a:ext cx="926020" cy="670846"/>
            <a:chOff x="0" y="0"/>
            <a:chExt cx="1234694" cy="894461"/>
          </a:xfrm>
        </p:grpSpPr>
        <p:sp>
          <p:nvSpPr>
            <p:cNvPr name="Freeform 86" id="86" descr="preencoded.png"/>
            <p:cNvSpPr/>
            <p:nvPr/>
          </p:nvSpPr>
          <p:spPr>
            <a:xfrm flipH="false" flipV="false" rot="0">
              <a:off x="0" y="0"/>
              <a:ext cx="1234694" cy="894461"/>
            </a:xfrm>
            <a:custGeom>
              <a:avLst/>
              <a:gdLst/>
              <a:ahLst/>
              <a:cxnLst/>
              <a:rect r="r" b="b" t="t" l="l"/>
              <a:pathLst>
                <a:path h="894461" w="1234694">
                  <a:moveTo>
                    <a:pt x="0" y="0"/>
                  </a:moveTo>
                  <a:lnTo>
                    <a:pt x="1234694" y="0"/>
                  </a:lnTo>
                  <a:lnTo>
                    <a:pt x="1234694" y="894461"/>
                  </a:lnTo>
                  <a:lnTo>
                    <a:pt x="0" y="894461"/>
                  </a:lnTo>
                  <a:lnTo>
                    <a:pt x="0" y="0"/>
                  </a:lnTo>
                  <a:close/>
                </a:path>
              </a:pathLst>
            </a:custGeom>
            <a:blipFill>
              <a:blip r:embed="rId29"/>
              <a:stretch>
                <a:fillRect l="-187" t="0" r="-187" b="0"/>
              </a:stretch>
            </a:blipFill>
          </p:spPr>
        </p:sp>
      </p:grpSp>
      <p:grpSp>
        <p:nvGrpSpPr>
          <p:cNvPr name="Group 87" id="87"/>
          <p:cNvGrpSpPr/>
          <p:nvPr/>
        </p:nvGrpSpPr>
        <p:grpSpPr>
          <a:xfrm rot="0">
            <a:off x="16669207" y="6176210"/>
            <a:ext cx="328136" cy="164011"/>
            <a:chOff x="0" y="0"/>
            <a:chExt cx="437515" cy="218681"/>
          </a:xfrm>
        </p:grpSpPr>
        <p:sp>
          <p:nvSpPr>
            <p:cNvPr name="Freeform 88" id="88"/>
            <p:cNvSpPr/>
            <p:nvPr/>
          </p:nvSpPr>
          <p:spPr>
            <a:xfrm flipH="false" flipV="false" rot="0">
              <a:off x="0" y="0"/>
              <a:ext cx="437515" cy="218694"/>
            </a:xfrm>
            <a:custGeom>
              <a:avLst/>
              <a:gdLst/>
              <a:ahLst/>
              <a:cxnLst/>
              <a:rect r="r" b="b" t="t" l="l"/>
              <a:pathLst>
                <a:path h="218694" w="437515">
                  <a:moveTo>
                    <a:pt x="0" y="0"/>
                  </a:moveTo>
                  <a:lnTo>
                    <a:pt x="437515" y="0"/>
                  </a:lnTo>
                  <a:lnTo>
                    <a:pt x="437515" y="218694"/>
                  </a:lnTo>
                  <a:lnTo>
                    <a:pt x="0" y="218694"/>
                  </a:lnTo>
                  <a:close/>
                </a:path>
              </a:pathLst>
            </a:custGeom>
            <a:blipFill>
              <a:blip r:embed="rId4">
                <a:alphaModFix amt="0"/>
              </a:blip>
              <a:stretch>
                <a:fillRect l="-14171" t="0" r="-14174" b="5"/>
              </a:stretch>
            </a:blipFill>
          </p:spPr>
        </p:sp>
      </p:grpSp>
      <p:grpSp>
        <p:nvGrpSpPr>
          <p:cNvPr name="Group 89" id="89"/>
          <p:cNvGrpSpPr/>
          <p:nvPr/>
        </p:nvGrpSpPr>
        <p:grpSpPr>
          <a:xfrm rot="0">
            <a:off x="16669207" y="6190498"/>
            <a:ext cx="328136" cy="149723"/>
            <a:chOff x="0" y="0"/>
            <a:chExt cx="437515" cy="199631"/>
          </a:xfrm>
        </p:grpSpPr>
        <p:sp>
          <p:nvSpPr>
            <p:cNvPr name="Freeform 90" id="90"/>
            <p:cNvSpPr/>
            <p:nvPr/>
          </p:nvSpPr>
          <p:spPr>
            <a:xfrm flipH="false" flipV="false" rot="0">
              <a:off x="0" y="0"/>
              <a:ext cx="437515" cy="199631"/>
            </a:xfrm>
            <a:custGeom>
              <a:avLst/>
              <a:gdLst/>
              <a:ahLst/>
              <a:cxnLst/>
              <a:rect r="r" b="b" t="t" l="l"/>
              <a:pathLst>
                <a:path h="199631" w="437515">
                  <a:moveTo>
                    <a:pt x="0" y="0"/>
                  </a:moveTo>
                  <a:lnTo>
                    <a:pt x="437515" y="0"/>
                  </a:lnTo>
                  <a:lnTo>
                    <a:pt x="437515" y="199631"/>
                  </a:lnTo>
                  <a:lnTo>
                    <a:pt x="0" y="199631"/>
                  </a:lnTo>
                  <a:close/>
                </a:path>
              </a:pathLst>
            </a:custGeom>
            <a:blipFill>
              <a:blip r:embed="rId5">
                <a:alphaModFix amt="0"/>
              </a:blip>
              <a:stretch>
                <a:fillRect l="-8542" t="0" r="-8543" b="0"/>
              </a:stretch>
            </a:blipFill>
          </p:spPr>
        </p:sp>
        <p:sp>
          <p:nvSpPr>
            <p:cNvPr name="TextBox 91" id="91"/>
            <p:cNvSpPr txBox="true"/>
            <p:nvPr/>
          </p:nvSpPr>
          <p:spPr>
            <a:xfrm>
              <a:off x="0" y="19050"/>
              <a:ext cx="437515" cy="180581"/>
            </a:xfrm>
            <a:prstGeom prst="rect">
              <a:avLst/>
            </a:prstGeom>
          </p:spPr>
          <p:txBody>
            <a:bodyPr anchor="ctr" rtlCol="false" tIns="0" lIns="0" bIns="0" rIns="0"/>
            <a:lstStyle/>
            <a:p>
              <a:pPr algn="l">
                <a:lnSpc>
                  <a:spcPts val="631"/>
                </a:lnSpc>
              </a:pPr>
              <a:r>
                <a:rPr lang="en-US" sz="774">
                  <a:solidFill>
                    <a:srgbClr val="5F5D5D"/>
                  </a:solidFill>
                  <a:latin typeface="TT Commons Pro"/>
                  <a:ea typeface="TT Commons Pro"/>
                  <a:cs typeface="TT Commons Pro"/>
                  <a:sym typeface="TT Commons Pro"/>
                </a:rPr>
                <a:t>BaHLS</a:t>
              </a:r>
            </a:p>
          </p:txBody>
        </p:sp>
      </p:grpSp>
      <p:grpSp>
        <p:nvGrpSpPr>
          <p:cNvPr name="Group 92" id="92"/>
          <p:cNvGrpSpPr/>
          <p:nvPr/>
        </p:nvGrpSpPr>
        <p:grpSpPr>
          <a:xfrm rot="0">
            <a:off x="16158772" y="6168923"/>
            <a:ext cx="262509" cy="102079"/>
            <a:chOff x="0" y="0"/>
            <a:chExt cx="350012" cy="136106"/>
          </a:xfrm>
        </p:grpSpPr>
        <p:sp>
          <p:nvSpPr>
            <p:cNvPr name="Freeform 93" id="93"/>
            <p:cNvSpPr/>
            <p:nvPr/>
          </p:nvSpPr>
          <p:spPr>
            <a:xfrm flipH="false" flipV="false" rot="0">
              <a:off x="0" y="0"/>
              <a:ext cx="350012" cy="136144"/>
            </a:xfrm>
            <a:custGeom>
              <a:avLst/>
              <a:gdLst/>
              <a:ahLst/>
              <a:cxnLst/>
              <a:rect r="r" b="b" t="t" l="l"/>
              <a:pathLst>
                <a:path h="136144" w="350012">
                  <a:moveTo>
                    <a:pt x="0" y="0"/>
                  </a:moveTo>
                  <a:lnTo>
                    <a:pt x="350012" y="0"/>
                  </a:lnTo>
                  <a:lnTo>
                    <a:pt x="350012" y="136144"/>
                  </a:lnTo>
                  <a:lnTo>
                    <a:pt x="0" y="136144"/>
                  </a:lnTo>
                  <a:close/>
                </a:path>
              </a:pathLst>
            </a:custGeom>
            <a:blipFill>
              <a:blip r:embed="rId4">
                <a:alphaModFix amt="0"/>
              </a:blip>
              <a:stretch>
                <a:fillRect l="0" t="-74" r="0" b="-46"/>
              </a:stretch>
            </a:blipFill>
          </p:spPr>
        </p:sp>
      </p:grpSp>
      <p:grpSp>
        <p:nvGrpSpPr>
          <p:cNvPr name="Group 94" id="94"/>
          <p:cNvGrpSpPr/>
          <p:nvPr/>
        </p:nvGrpSpPr>
        <p:grpSpPr>
          <a:xfrm rot="0">
            <a:off x="16158772" y="6161780"/>
            <a:ext cx="262509" cy="109233"/>
            <a:chOff x="0" y="0"/>
            <a:chExt cx="350012" cy="145644"/>
          </a:xfrm>
        </p:grpSpPr>
        <p:sp>
          <p:nvSpPr>
            <p:cNvPr name="Freeform 95" id="95"/>
            <p:cNvSpPr/>
            <p:nvPr/>
          </p:nvSpPr>
          <p:spPr>
            <a:xfrm flipH="false" flipV="false" rot="0">
              <a:off x="0" y="0"/>
              <a:ext cx="350012" cy="145640"/>
            </a:xfrm>
            <a:custGeom>
              <a:avLst/>
              <a:gdLst/>
              <a:ahLst/>
              <a:cxnLst/>
              <a:rect r="r" b="b" t="t" l="l"/>
              <a:pathLst>
                <a:path h="145640" w="350012">
                  <a:moveTo>
                    <a:pt x="0" y="0"/>
                  </a:moveTo>
                  <a:lnTo>
                    <a:pt x="350012" y="0"/>
                  </a:lnTo>
                  <a:lnTo>
                    <a:pt x="350012" y="145640"/>
                  </a:lnTo>
                  <a:lnTo>
                    <a:pt x="0" y="145640"/>
                  </a:lnTo>
                  <a:close/>
                </a:path>
              </a:pathLst>
            </a:custGeom>
            <a:blipFill>
              <a:blip r:embed="rId5">
                <a:alphaModFix amt="0"/>
              </a:blip>
              <a:stretch>
                <a:fillRect l="-3388" t="0" r="-3388" b="-2"/>
              </a:stretch>
            </a:blipFill>
          </p:spPr>
        </p:sp>
        <p:sp>
          <p:nvSpPr>
            <p:cNvPr name="TextBox 96" id="96"/>
            <p:cNvSpPr txBox="true"/>
            <p:nvPr/>
          </p:nvSpPr>
          <p:spPr>
            <a:xfrm>
              <a:off x="0" y="-9525"/>
              <a:ext cx="350012" cy="155169"/>
            </a:xfrm>
            <a:prstGeom prst="rect">
              <a:avLst/>
            </a:prstGeom>
          </p:spPr>
          <p:txBody>
            <a:bodyPr anchor="ctr" rtlCol="false" tIns="0" lIns="0" bIns="0" rIns="0"/>
            <a:lstStyle/>
            <a:p>
              <a:pPr algn="l">
                <a:lnSpc>
                  <a:spcPts val="685"/>
                </a:lnSpc>
              </a:pPr>
              <a:r>
                <a:rPr lang="en-US" sz="468">
                  <a:solidFill>
                    <a:srgbClr val="6E6E6C"/>
                  </a:solidFill>
                  <a:latin typeface="TT Commons Pro"/>
                  <a:ea typeface="TT Commons Pro"/>
                  <a:cs typeface="TT Commons Pro"/>
                  <a:sym typeface="TT Commons Pro"/>
                </a:rPr>
                <a:t>ర్ ని శ్రీ శ్రీ</a:t>
              </a:r>
            </a:p>
          </p:txBody>
        </p:sp>
      </p:grpSp>
      <p:grpSp>
        <p:nvGrpSpPr>
          <p:cNvPr name="Group 97" id="97"/>
          <p:cNvGrpSpPr/>
          <p:nvPr/>
        </p:nvGrpSpPr>
        <p:grpSpPr>
          <a:xfrm rot="0">
            <a:off x="16158772" y="5075139"/>
            <a:ext cx="379181" cy="168326"/>
            <a:chOff x="0" y="0"/>
            <a:chExt cx="505574" cy="224434"/>
          </a:xfrm>
        </p:grpSpPr>
        <p:sp>
          <p:nvSpPr>
            <p:cNvPr name="Freeform 98" id="98"/>
            <p:cNvSpPr/>
            <p:nvPr/>
          </p:nvSpPr>
          <p:spPr>
            <a:xfrm flipH="false" flipV="false" rot="0">
              <a:off x="0" y="0"/>
              <a:ext cx="505587" cy="224409"/>
            </a:xfrm>
            <a:custGeom>
              <a:avLst/>
              <a:gdLst/>
              <a:ahLst/>
              <a:cxnLst/>
              <a:rect r="r" b="b" t="t" l="l"/>
              <a:pathLst>
                <a:path h="224409" w="505587">
                  <a:moveTo>
                    <a:pt x="0" y="0"/>
                  </a:moveTo>
                  <a:lnTo>
                    <a:pt x="505587" y="0"/>
                  </a:lnTo>
                  <a:lnTo>
                    <a:pt x="505587" y="224409"/>
                  </a:lnTo>
                  <a:lnTo>
                    <a:pt x="0" y="224409"/>
                  </a:lnTo>
                  <a:close/>
                </a:path>
              </a:pathLst>
            </a:custGeom>
            <a:blipFill>
              <a:blip r:embed="rId4">
                <a:alphaModFix amt="0"/>
              </a:blip>
              <a:stretch>
                <a:fillRect l="-6995" t="0" r="-6993" b="-11"/>
              </a:stretch>
            </a:blipFill>
          </p:spPr>
        </p:sp>
      </p:grpSp>
      <p:grpSp>
        <p:nvGrpSpPr>
          <p:cNvPr name="Group 99" id="99"/>
          <p:cNvGrpSpPr/>
          <p:nvPr/>
        </p:nvGrpSpPr>
        <p:grpSpPr>
          <a:xfrm rot="0">
            <a:off x="16158772" y="5075139"/>
            <a:ext cx="379181" cy="168326"/>
            <a:chOff x="0" y="0"/>
            <a:chExt cx="505574" cy="224434"/>
          </a:xfrm>
        </p:grpSpPr>
        <p:sp>
          <p:nvSpPr>
            <p:cNvPr name="Freeform 100" id="100"/>
            <p:cNvSpPr/>
            <p:nvPr/>
          </p:nvSpPr>
          <p:spPr>
            <a:xfrm flipH="false" flipV="false" rot="0">
              <a:off x="0" y="0"/>
              <a:ext cx="505575" cy="224435"/>
            </a:xfrm>
            <a:custGeom>
              <a:avLst/>
              <a:gdLst/>
              <a:ahLst/>
              <a:cxnLst/>
              <a:rect r="r" b="b" t="t" l="l"/>
              <a:pathLst>
                <a:path h="224435" w="505575">
                  <a:moveTo>
                    <a:pt x="0" y="0"/>
                  </a:moveTo>
                  <a:lnTo>
                    <a:pt x="505575" y="0"/>
                  </a:lnTo>
                  <a:lnTo>
                    <a:pt x="505575" y="224435"/>
                  </a:lnTo>
                  <a:lnTo>
                    <a:pt x="0" y="224435"/>
                  </a:lnTo>
                  <a:close/>
                </a:path>
              </a:pathLst>
            </a:custGeom>
            <a:blipFill>
              <a:blip r:embed="rId5">
                <a:alphaModFix amt="0"/>
              </a:blip>
              <a:stretch>
                <a:fillRect l="-6956" t="0" r="-6956" b="0"/>
              </a:stretch>
            </a:blipFill>
          </p:spPr>
        </p:sp>
        <p:sp>
          <p:nvSpPr>
            <p:cNvPr name="TextBox 101" id="101"/>
            <p:cNvSpPr txBox="true"/>
            <p:nvPr/>
          </p:nvSpPr>
          <p:spPr>
            <a:xfrm>
              <a:off x="0" y="0"/>
              <a:ext cx="505574" cy="224434"/>
            </a:xfrm>
            <a:prstGeom prst="rect">
              <a:avLst/>
            </a:prstGeom>
          </p:spPr>
          <p:txBody>
            <a:bodyPr anchor="ctr" rtlCol="false" tIns="0" lIns="0" bIns="0" rIns="0"/>
            <a:lstStyle/>
            <a:p>
              <a:pPr algn="l">
                <a:lnSpc>
                  <a:spcPts val="860"/>
                </a:lnSpc>
              </a:pPr>
              <a:r>
                <a:rPr lang="en-US" sz="796">
                  <a:solidFill>
                    <a:srgbClr val="8D8886"/>
                  </a:solidFill>
                  <a:latin typeface="TT Commons Pro"/>
                  <a:ea typeface="TT Commons Pro"/>
                  <a:cs typeface="TT Commons Pro"/>
                  <a:sym typeface="TT Commons Pro"/>
                </a:rPr>
                <a:t>Monade</a:t>
              </a:r>
            </a:p>
          </p:txBody>
        </p:sp>
      </p:grpSp>
      <p:grpSp>
        <p:nvGrpSpPr>
          <p:cNvPr name="Group 102" id="102"/>
          <p:cNvGrpSpPr/>
          <p:nvPr/>
        </p:nvGrpSpPr>
        <p:grpSpPr>
          <a:xfrm rot="0">
            <a:off x="16268157" y="4812630"/>
            <a:ext cx="182308" cy="204216"/>
            <a:chOff x="0" y="0"/>
            <a:chExt cx="243078" cy="272288"/>
          </a:xfrm>
        </p:grpSpPr>
        <p:sp>
          <p:nvSpPr>
            <p:cNvPr name="Freeform 103" id="103" descr="preencoded.png"/>
            <p:cNvSpPr/>
            <p:nvPr/>
          </p:nvSpPr>
          <p:spPr>
            <a:xfrm flipH="false" flipV="false" rot="0">
              <a:off x="0" y="0"/>
              <a:ext cx="243078" cy="272288"/>
            </a:xfrm>
            <a:custGeom>
              <a:avLst/>
              <a:gdLst/>
              <a:ahLst/>
              <a:cxnLst/>
              <a:rect r="r" b="b" t="t" l="l"/>
              <a:pathLst>
                <a:path h="272288" w="243078">
                  <a:moveTo>
                    <a:pt x="0" y="0"/>
                  </a:moveTo>
                  <a:lnTo>
                    <a:pt x="243078" y="0"/>
                  </a:lnTo>
                  <a:lnTo>
                    <a:pt x="243078" y="272288"/>
                  </a:lnTo>
                  <a:lnTo>
                    <a:pt x="0" y="272288"/>
                  </a:lnTo>
                  <a:lnTo>
                    <a:pt x="0" y="0"/>
                  </a:lnTo>
                  <a:close/>
                </a:path>
              </a:pathLst>
            </a:custGeom>
            <a:blipFill>
              <a:blip r:embed="rId30"/>
              <a:stretch>
                <a:fillRect l="0" t="-508" r="0" b="-508"/>
              </a:stretch>
            </a:blipFill>
          </p:spPr>
        </p:sp>
      </p:grpSp>
      <p:grpSp>
        <p:nvGrpSpPr>
          <p:cNvPr name="Group 104" id="104"/>
          <p:cNvGrpSpPr/>
          <p:nvPr/>
        </p:nvGrpSpPr>
        <p:grpSpPr>
          <a:xfrm rot="0">
            <a:off x="15699391" y="5075139"/>
            <a:ext cx="284378" cy="161839"/>
            <a:chOff x="0" y="0"/>
            <a:chExt cx="379171" cy="215786"/>
          </a:xfrm>
        </p:grpSpPr>
        <p:sp>
          <p:nvSpPr>
            <p:cNvPr name="Freeform 105" id="105"/>
            <p:cNvSpPr/>
            <p:nvPr/>
          </p:nvSpPr>
          <p:spPr>
            <a:xfrm flipH="false" flipV="false" rot="0">
              <a:off x="0" y="0"/>
              <a:ext cx="379222" cy="215773"/>
            </a:xfrm>
            <a:custGeom>
              <a:avLst/>
              <a:gdLst/>
              <a:ahLst/>
              <a:cxnLst/>
              <a:rect r="r" b="b" t="t" l="l"/>
              <a:pathLst>
                <a:path h="215773" w="379222">
                  <a:moveTo>
                    <a:pt x="0" y="0"/>
                  </a:moveTo>
                  <a:lnTo>
                    <a:pt x="379222" y="0"/>
                  </a:lnTo>
                  <a:lnTo>
                    <a:pt x="379222" y="215773"/>
                  </a:lnTo>
                  <a:lnTo>
                    <a:pt x="0" y="215773"/>
                  </a:lnTo>
                  <a:close/>
                </a:path>
              </a:pathLst>
            </a:custGeom>
            <a:blipFill>
              <a:blip r:embed="rId4">
                <a:alphaModFix amt="0"/>
              </a:blip>
              <a:stretch>
                <a:fillRect l="-23064" t="0" r="-23047" b="-5"/>
              </a:stretch>
            </a:blipFill>
          </p:spPr>
        </p:sp>
      </p:grpSp>
      <p:grpSp>
        <p:nvGrpSpPr>
          <p:cNvPr name="Group 106" id="106"/>
          <p:cNvGrpSpPr/>
          <p:nvPr/>
        </p:nvGrpSpPr>
        <p:grpSpPr>
          <a:xfrm rot="0">
            <a:off x="15699391" y="5067995"/>
            <a:ext cx="284378" cy="168983"/>
            <a:chOff x="0" y="0"/>
            <a:chExt cx="379171" cy="225311"/>
          </a:xfrm>
        </p:grpSpPr>
        <p:sp>
          <p:nvSpPr>
            <p:cNvPr name="Freeform 107" id="107"/>
            <p:cNvSpPr/>
            <p:nvPr/>
          </p:nvSpPr>
          <p:spPr>
            <a:xfrm flipH="false" flipV="false" rot="0">
              <a:off x="0" y="0"/>
              <a:ext cx="379171" cy="225308"/>
            </a:xfrm>
            <a:custGeom>
              <a:avLst/>
              <a:gdLst/>
              <a:ahLst/>
              <a:cxnLst/>
              <a:rect r="r" b="b" t="t" l="l"/>
              <a:pathLst>
                <a:path h="225308" w="379171">
                  <a:moveTo>
                    <a:pt x="0" y="0"/>
                  </a:moveTo>
                  <a:lnTo>
                    <a:pt x="379171" y="0"/>
                  </a:lnTo>
                  <a:lnTo>
                    <a:pt x="379171" y="225308"/>
                  </a:lnTo>
                  <a:lnTo>
                    <a:pt x="0" y="225308"/>
                  </a:lnTo>
                  <a:close/>
                </a:path>
              </a:pathLst>
            </a:custGeom>
            <a:blipFill>
              <a:blip r:embed="rId5">
                <a:alphaModFix amt="0"/>
              </a:blip>
              <a:stretch>
                <a:fillRect l="-26240" t="0" r="-26240" b="-1"/>
              </a:stretch>
            </a:blipFill>
          </p:spPr>
        </p:sp>
        <p:sp>
          <p:nvSpPr>
            <p:cNvPr name="TextBox 108" id="108"/>
            <p:cNvSpPr txBox="true"/>
            <p:nvPr/>
          </p:nvSpPr>
          <p:spPr>
            <a:xfrm>
              <a:off x="0" y="-9525"/>
              <a:ext cx="379171" cy="234836"/>
            </a:xfrm>
            <a:prstGeom prst="rect">
              <a:avLst/>
            </a:prstGeom>
          </p:spPr>
          <p:txBody>
            <a:bodyPr anchor="ctr" rtlCol="false" tIns="0" lIns="0" bIns="0" rIns="0"/>
            <a:lstStyle/>
            <a:p>
              <a:pPr algn="l">
                <a:lnSpc>
                  <a:spcPts val="918"/>
                </a:lnSpc>
              </a:pPr>
              <a:r>
                <a:rPr lang="en-US" sz="757">
                  <a:solidFill>
                    <a:srgbClr val="928E8D"/>
                  </a:solidFill>
                  <a:latin typeface="TT Commons Pro"/>
                  <a:ea typeface="TT Commons Pro"/>
                  <a:cs typeface="TT Commons Pro"/>
                  <a:sym typeface="TT Commons Pro"/>
                </a:rPr>
                <a:t>Dining</a:t>
              </a:r>
            </a:p>
          </p:txBody>
        </p:sp>
      </p:grpSp>
      <p:grpSp>
        <p:nvGrpSpPr>
          <p:cNvPr name="Group 109" id="109"/>
          <p:cNvGrpSpPr/>
          <p:nvPr/>
        </p:nvGrpSpPr>
        <p:grpSpPr>
          <a:xfrm rot="0">
            <a:off x="15772305" y="4819926"/>
            <a:ext cx="153162" cy="204216"/>
            <a:chOff x="0" y="0"/>
            <a:chExt cx="204216" cy="272288"/>
          </a:xfrm>
        </p:grpSpPr>
        <p:sp>
          <p:nvSpPr>
            <p:cNvPr name="Freeform 110" id="110" descr="preencoded.png"/>
            <p:cNvSpPr/>
            <p:nvPr/>
          </p:nvSpPr>
          <p:spPr>
            <a:xfrm flipH="false" flipV="false" rot="0">
              <a:off x="0" y="0"/>
              <a:ext cx="204216" cy="272288"/>
            </a:xfrm>
            <a:custGeom>
              <a:avLst/>
              <a:gdLst/>
              <a:ahLst/>
              <a:cxnLst/>
              <a:rect r="r" b="b" t="t" l="l"/>
              <a:pathLst>
                <a:path h="272288" w="204216">
                  <a:moveTo>
                    <a:pt x="0" y="0"/>
                  </a:moveTo>
                  <a:lnTo>
                    <a:pt x="204216" y="0"/>
                  </a:lnTo>
                  <a:lnTo>
                    <a:pt x="204216" y="272288"/>
                  </a:lnTo>
                  <a:lnTo>
                    <a:pt x="0" y="272288"/>
                  </a:lnTo>
                  <a:lnTo>
                    <a:pt x="0" y="0"/>
                  </a:lnTo>
                  <a:close/>
                </a:path>
              </a:pathLst>
            </a:custGeom>
            <a:blipFill>
              <a:blip r:embed="rId31"/>
              <a:stretch>
                <a:fillRect l="0" t="0" r="0" b="0"/>
              </a:stretch>
            </a:blipFill>
          </p:spPr>
        </p:sp>
      </p:grpSp>
      <p:grpSp>
        <p:nvGrpSpPr>
          <p:cNvPr name="Group 111" id="111"/>
          <p:cNvGrpSpPr/>
          <p:nvPr/>
        </p:nvGrpSpPr>
        <p:grpSpPr>
          <a:xfrm rot="0">
            <a:off x="16800462" y="4812630"/>
            <a:ext cx="182308" cy="196882"/>
            <a:chOff x="0" y="0"/>
            <a:chExt cx="243078" cy="262509"/>
          </a:xfrm>
        </p:grpSpPr>
        <p:sp>
          <p:nvSpPr>
            <p:cNvPr name="Freeform 112" id="112" descr="preencoded.png"/>
            <p:cNvSpPr/>
            <p:nvPr/>
          </p:nvSpPr>
          <p:spPr>
            <a:xfrm flipH="false" flipV="false" rot="0">
              <a:off x="0" y="0"/>
              <a:ext cx="243078" cy="262509"/>
            </a:xfrm>
            <a:custGeom>
              <a:avLst/>
              <a:gdLst/>
              <a:ahLst/>
              <a:cxnLst/>
              <a:rect r="r" b="b" t="t" l="l"/>
              <a:pathLst>
                <a:path h="262509" w="243078">
                  <a:moveTo>
                    <a:pt x="0" y="0"/>
                  </a:moveTo>
                  <a:lnTo>
                    <a:pt x="243078" y="0"/>
                  </a:lnTo>
                  <a:lnTo>
                    <a:pt x="243078" y="262509"/>
                  </a:lnTo>
                  <a:lnTo>
                    <a:pt x="0" y="262509"/>
                  </a:lnTo>
                  <a:lnTo>
                    <a:pt x="0" y="0"/>
                  </a:lnTo>
                  <a:close/>
                </a:path>
              </a:pathLst>
            </a:custGeom>
            <a:blipFill>
              <a:blip r:embed="rId32"/>
              <a:stretch>
                <a:fillRect l="-621" t="0" r="-621" b="0"/>
              </a:stretch>
            </a:blipFill>
          </p:spPr>
        </p:sp>
      </p:grpSp>
      <p:grpSp>
        <p:nvGrpSpPr>
          <p:cNvPr name="Group 113" id="113"/>
          <p:cNvGrpSpPr/>
          <p:nvPr/>
        </p:nvGrpSpPr>
        <p:grpSpPr>
          <a:xfrm rot="0">
            <a:off x="15261879" y="4841796"/>
            <a:ext cx="211455" cy="167735"/>
            <a:chOff x="0" y="0"/>
            <a:chExt cx="281940" cy="223647"/>
          </a:xfrm>
        </p:grpSpPr>
        <p:sp>
          <p:nvSpPr>
            <p:cNvPr name="Freeform 114" id="114" descr="preencoded.png"/>
            <p:cNvSpPr/>
            <p:nvPr/>
          </p:nvSpPr>
          <p:spPr>
            <a:xfrm flipH="false" flipV="false" rot="0">
              <a:off x="0" y="0"/>
              <a:ext cx="281940" cy="223647"/>
            </a:xfrm>
            <a:custGeom>
              <a:avLst/>
              <a:gdLst/>
              <a:ahLst/>
              <a:cxnLst/>
              <a:rect r="r" b="b" t="t" l="l"/>
              <a:pathLst>
                <a:path h="223647" w="281940">
                  <a:moveTo>
                    <a:pt x="0" y="0"/>
                  </a:moveTo>
                  <a:lnTo>
                    <a:pt x="281940" y="0"/>
                  </a:lnTo>
                  <a:lnTo>
                    <a:pt x="281940" y="223647"/>
                  </a:lnTo>
                  <a:lnTo>
                    <a:pt x="0" y="223647"/>
                  </a:lnTo>
                  <a:lnTo>
                    <a:pt x="0" y="0"/>
                  </a:lnTo>
                  <a:close/>
                </a:path>
              </a:pathLst>
            </a:custGeom>
            <a:blipFill>
              <a:blip r:embed="rId33"/>
              <a:stretch>
                <a:fillRect l="0" t="-425" r="0" b="-425"/>
              </a:stretch>
            </a:blipFill>
          </p:spPr>
        </p:sp>
      </p:grpSp>
      <p:grpSp>
        <p:nvGrpSpPr>
          <p:cNvPr name="Group 115" id="115"/>
          <p:cNvGrpSpPr/>
          <p:nvPr/>
        </p:nvGrpSpPr>
        <p:grpSpPr>
          <a:xfrm rot="0">
            <a:off x="16501491" y="3981355"/>
            <a:ext cx="692753" cy="634365"/>
            <a:chOff x="0" y="0"/>
            <a:chExt cx="923671" cy="845820"/>
          </a:xfrm>
        </p:grpSpPr>
        <p:sp>
          <p:nvSpPr>
            <p:cNvPr name="Freeform 116" id="116" descr="preencoded.png"/>
            <p:cNvSpPr/>
            <p:nvPr/>
          </p:nvSpPr>
          <p:spPr>
            <a:xfrm flipH="false" flipV="false" rot="0">
              <a:off x="0" y="0"/>
              <a:ext cx="923671" cy="845820"/>
            </a:xfrm>
            <a:custGeom>
              <a:avLst/>
              <a:gdLst/>
              <a:ahLst/>
              <a:cxnLst/>
              <a:rect r="r" b="b" t="t" l="l"/>
              <a:pathLst>
                <a:path h="845820" w="923671">
                  <a:moveTo>
                    <a:pt x="0" y="0"/>
                  </a:moveTo>
                  <a:lnTo>
                    <a:pt x="923671" y="0"/>
                  </a:lnTo>
                  <a:lnTo>
                    <a:pt x="923671" y="845820"/>
                  </a:lnTo>
                  <a:lnTo>
                    <a:pt x="0" y="845820"/>
                  </a:lnTo>
                  <a:lnTo>
                    <a:pt x="0" y="0"/>
                  </a:lnTo>
                  <a:close/>
                </a:path>
              </a:pathLst>
            </a:custGeom>
            <a:blipFill>
              <a:blip r:embed="rId34"/>
              <a:stretch>
                <a:fillRect l="-188" t="0" r="-188" b="0"/>
              </a:stretch>
            </a:blipFill>
          </p:spPr>
        </p:sp>
      </p:grpSp>
      <p:grpSp>
        <p:nvGrpSpPr>
          <p:cNvPr name="Group 117" id="117"/>
          <p:cNvGrpSpPr/>
          <p:nvPr/>
        </p:nvGrpSpPr>
        <p:grpSpPr>
          <a:xfrm rot="0">
            <a:off x="15240000" y="4243864"/>
            <a:ext cx="977113" cy="207683"/>
            <a:chOff x="0" y="0"/>
            <a:chExt cx="1302817" cy="276911"/>
          </a:xfrm>
        </p:grpSpPr>
        <p:sp>
          <p:nvSpPr>
            <p:cNvPr name="Freeform 118" id="118"/>
            <p:cNvSpPr/>
            <p:nvPr/>
          </p:nvSpPr>
          <p:spPr>
            <a:xfrm flipH="false" flipV="false" rot="0">
              <a:off x="0" y="0"/>
              <a:ext cx="1302766" cy="276860"/>
            </a:xfrm>
            <a:custGeom>
              <a:avLst/>
              <a:gdLst/>
              <a:ahLst/>
              <a:cxnLst/>
              <a:rect r="r" b="b" t="t" l="l"/>
              <a:pathLst>
                <a:path h="276860" w="1302766">
                  <a:moveTo>
                    <a:pt x="0" y="0"/>
                  </a:moveTo>
                  <a:lnTo>
                    <a:pt x="1302766" y="0"/>
                  </a:lnTo>
                  <a:lnTo>
                    <a:pt x="1302766" y="276860"/>
                  </a:lnTo>
                  <a:lnTo>
                    <a:pt x="0" y="276860"/>
                  </a:lnTo>
                  <a:close/>
                </a:path>
              </a:pathLst>
            </a:custGeom>
            <a:blipFill>
              <a:blip r:embed="rId4">
                <a:alphaModFix amt="0"/>
              </a:blip>
              <a:stretch>
                <a:fillRect l="0" t="-41619" r="-3" b="-41633"/>
              </a:stretch>
            </a:blipFill>
          </p:spPr>
        </p:sp>
      </p:grpSp>
      <p:grpSp>
        <p:nvGrpSpPr>
          <p:cNvPr name="Group 119" id="119"/>
          <p:cNvGrpSpPr/>
          <p:nvPr/>
        </p:nvGrpSpPr>
        <p:grpSpPr>
          <a:xfrm rot="0">
            <a:off x="15240000" y="4258151"/>
            <a:ext cx="977113" cy="193396"/>
            <a:chOff x="0" y="0"/>
            <a:chExt cx="1302817" cy="257861"/>
          </a:xfrm>
        </p:grpSpPr>
        <p:sp>
          <p:nvSpPr>
            <p:cNvPr name="Freeform 120" id="120"/>
            <p:cNvSpPr/>
            <p:nvPr/>
          </p:nvSpPr>
          <p:spPr>
            <a:xfrm flipH="false" flipV="false" rot="0">
              <a:off x="0" y="0"/>
              <a:ext cx="1302817" cy="257863"/>
            </a:xfrm>
            <a:custGeom>
              <a:avLst/>
              <a:gdLst/>
              <a:ahLst/>
              <a:cxnLst/>
              <a:rect r="r" b="b" t="t" l="l"/>
              <a:pathLst>
                <a:path h="257863" w="1302817">
                  <a:moveTo>
                    <a:pt x="0" y="0"/>
                  </a:moveTo>
                  <a:lnTo>
                    <a:pt x="1302817" y="0"/>
                  </a:lnTo>
                  <a:lnTo>
                    <a:pt x="1302817" y="257863"/>
                  </a:lnTo>
                  <a:lnTo>
                    <a:pt x="0" y="257863"/>
                  </a:lnTo>
                  <a:close/>
                </a:path>
              </a:pathLst>
            </a:custGeom>
            <a:blipFill>
              <a:blip r:embed="rId5">
                <a:alphaModFix amt="0"/>
              </a:blip>
              <a:stretch>
                <a:fillRect l="0" t="-48445" r="0" b="-48444"/>
              </a:stretch>
            </a:blipFill>
          </p:spPr>
        </p:sp>
        <p:sp>
          <p:nvSpPr>
            <p:cNvPr name="TextBox 121" id="121"/>
            <p:cNvSpPr txBox="true"/>
            <p:nvPr/>
          </p:nvSpPr>
          <p:spPr>
            <a:xfrm>
              <a:off x="0" y="19050"/>
              <a:ext cx="1302817" cy="238811"/>
            </a:xfrm>
            <a:prstGeom prst="rect">
              <a:avLst/>
            </a:prstGeom>
          </p:spPr>
          <p:txBody>
            <a:bodyPr anchor="ctr" rtlCol="false" tIns="0" lIns="0" bIns="0" rIns="0"/>
            <a:lstStyle/>
            <a:p>
              <a:pPr algn="l">
                <a:lnSpc>
                  <a:spcPts val="918"/>
                </a:lnSpc>
              </a:pPr>
              <a:r>
                <a:rPr lang="en-US" sz="968">
                  <a:solidFill>
                    <a:srgbClr val="DA7D81"/>
                  </a:solidFill>
                  <a:latin typeface="TT Commons Pro"/>
                  <a:ea typeface="TT Commons Pro"/>
                  <a:cs typeface="TT Commons Pro"/>
                  <a:sym typeface="TT Commons Pro"/>
                </a:rPr>
                <a:t>GREAT OFFERS</a:t>
              </a:r>
            </a:p>
          </p:txBody>
        </p:sp>
      </p:grpSp>
      <p:grpSp>
        <p:nvGrpSpPr>
          <p:cNvPr name="Group 122" id="122"/>
          <p:cNvGrpSpPr/>
          <p:nvPr/>
        </p:nvGrpSpPr>
        <p:grpSpPr>
          <a:xfrm rot="0">
            <a:off x="15254583" y="4046982"/>
            <a:ext cx="845858" cy="204683"/>
            <a:chOff x="0" y="0"/>
            <a:chExt cx="1127811" cy="272910"/>
          </a:xfrm>
        </p:grpSpPr>
        <p:sp>
          <p:nvSpPr>
            <p:cNvPr name="Freeform 123" id="123"/>
            <p:cNvSpPr/>
            <p:nvPr/>
          </p:nvSpPr>
          <p:spPr>
            <a:xfrm flipH="false" flipV="false" rot="0">
              <a:off x="0" y="0"/>
              <a:ext cx="1127760" cy="272923"/>
            </a:xfrm>
            <a:custGeom>
              <a:avLst/>
              <a:gdLst/>
              <a:ahLst/>
              <a:cxnLst/>
              <a:rect r="r" b="b" t="t" l="l"/>
              <a:pathLst>
                <a:path h="272923" w="1127760">
                  <a:moveTo>
                    <a:pt x="0" y="0"/>
                  </a:moveTo>
                  <a:lnTo>
                    <a:pt x="1127760" y="0"/>
                  </a:lnTo>
                  <a:lnTo>
                    <a:pt x="1127760" y="272923"/>
                  </a:lnTo>
                  <a:lnTo>
                    <a:pt x="0" y="272923"/>
                  </a:lnTo>
                  <a:close/>
                </a:path>
              </a:pathLst>
            </a:custGeom>
            <a:blipFill>
              <a:blip r:embed="rId4">
                <a:alphaModFix amt="0"/>
              </a:blip>
              <a:stretch>
                <a:fillRect l="0" t="-30465" r="-4" b="-30460"/>
              </a:stretch>
            </a:blipFill>
          </p:spPr>
        </p:sp>
      </p:grpSp>
      <p:grpSp>
        <p:nvGrpSpPr>
          <p:cNvPr name="Group 124" id="124"/>
          <p:cNvGrpSpPr/>
          <p:nvPr/>
        </p:nvGrpSpPr>
        <p:grpSpPr>
          <a:xfrm rot="0">
            <a:off x="15254583" y="4082701"/>
            <a:ext cx="845858" cy="168954"/>
            <a:chOff x="0" y="0"/>
            <a:chExt cx="1127811" cy="225273"/>
          </a:xfrm>
        </p:grpSpPr>
        <p:sp>
          <p:nvSpPr>
            <p:cNvPr name="Freeform 125" id="125"/>
            <p:cNvSpPr/>
            <p:nvPr/>
          </p:nvSpPr>
          <p:spPr>
            <a:xfrm flipH="false" flipV="false" rot="0">
              <a:off x="0" y="0"/>
              <a:ext cx="1127811" cy="225278"/>
            </a:xfrm>
            <a:custGeom>
              <a:avLst/>
              <a:gdLst/>
              <a:ahLst/>
              <a:cxnLst/>
              <a:rect r="r" b="b" t="t" l="l"/>
              <a:pathLst>
                <a:path h="225278" w="1127811">
                  <a:moveTo>
                    <a:pt x="0" y="0"/>
                  </a:moveTo>
                  <a:lnTo>
                    <a:pt x="1127811" y="0"/>
                  </a:lnTo>
                  <a:lnTo>
                    <a:pt x="1127811" y="225278"/>
                  </a:lnTo>
                  <a:lnTo>
                    <a:pt x="0" y="225278"/>
                  </a:lnTo>
                  <a:close/>
                </a:path>
              </a:pathLst>
            </a:custGeom>
            <a:blipFill>
              <a:blip r:embed="rId5">
                <a:alphaModFix amt="0"/>
              </a:blip>
              <a:stretch>
                <a:fillRect l="0" t="-47549" r="0" b="-47547"/>
              </a:stretch>
            </a:blipFill>
          </p:spPr>
        </p:sp>
        <p:sp>
          <p:nvSpPr>
            <p:cNvPr name="TextBox 126" id="126"/>
            <p:cNvSpPr txBox="true"/>
            <p:nvPr/>
          </p:nvSpPr>
          <p:spPr>
            <a:xfrm>
              <a:off x="0" y="47625"/>
              <a:ext cx="1127811" cy="177648"/>
            </a:xfrm>
            <a:prstGeom prst="rect">
              <a:avLst/>
            </a:prstGeom>
          </p:spPr>
          <p:txBody>
            <a:bodyPr anchor="ctr" rtlCol="false" tIns="0" lIns="0" bIns="0" rIns="0"/>
            <a:lstStyle/>
            <a:p>
              <a:pPr algn="l">
                <a:lnSpc>
                  <a:spcPts val="674"/>
                </a:lnSpc>
              </a:pPr>
              <a:r>
                <a:rPr lang="en-US" sz="988">
                  <a:solidFill>
                    <a:srgbClr val="D8777C"/>
                  </a:solidFill>
                  <a:latin typeface="TT Commons Pro"/>
                  <a:ea typeface="TT Commons Pro"/>
                  <a:cs typeface="TT Commons Pro"/>
                  <a:sym typeface="TT Commons Pro"/>
                </a:rPr>
                <a:t>GREAT FOOD</a:t>
              </a:r>
            </a:p>
          </p:txBody>
        </p:sp>
      </p:grpSp>
      <p:grpSp>
        <p:nvGrpSpPr>
          <p:cNvPr name="Group 127" id="127"/>
          <p:cNvGrpSpPr/>
          <p:nvPr/>
        </p:nvGrpSpPr>
        <p:grpSpPr>
          <a:xfrm rot="0">
            <a:off x="15312923" y="3616766"/>
            <a:ext cx="123920" cy="145828"/>
            <a:chOff x="0" y="0"/>
            <a:chExt cx="165227" cy="194437"/>
          </a:xfrm>
        </p:grpSpPr>
        <p:sp>
          <p:nvSpPr>
            <p:cNvPr name="Freeform 128" id="128" descr="preencoded.png"/>
            <p:cNvSpPr/>
            <p:nvPr/>
          </p:nvSpPr>
          <p:spPr>
            <a:xfrm flipH="false" flipV="false" rot="0">
              <a:off x="0" y="0"/>
              <a:ext cx="165227" cy="194437"/>
            </a:xfrm>
            <a:custGeom>
              <a:avLst/>
              <a:gdLst/>
              <a:ahLst/>
              <a:cxnLst/>
              <a:rect r="r" b="b" t="t" l="l"/>
              <a:pathLst>
                <a:path h="194437" w="165227">
                  <a:moveTo>
                    <a:pt x="0" y="0"/>
                  </a:moveTo>
                  <a:lnTo>
                    <a:pt x="165227" y="0"/>
                  </a:lnTo>
                  <a:lnTo>
                    <a:pt x="165227" y="194437"/>
                  </a:lnTo>
                  <a:lnTo>
                    <a:pt x="0" y="194437"/>
                  </a:lnTo>
                  <a:lnTo>
                    <a:pt x="0" y="0"/>
                  </a:lnTo>
                  <a:close/>
                </a:path>
              </a:pathLst>
            </a:custGeom>
            <a:blipFill>
              <a:blip r:embed="rId35"/>
              <a:stretch>
                <a:fillRect l="-8839" t="0" r="-8839" b="0"/>
              </a:stretch>
            </a:blipFill>
          </p:spPr>
        </p:sp>
      </p:grpSp>
      <p:grpSp>
        <p:nvGrpSpPr>
          <p:cNvPr name="Group 129" id="129"/>
          <p:cNvGrpSpPr/>
          <p:nvPr/>
        </p:nvGrpSpPr>
        <p:grpSpPr>
          <a:xfrm rot="0">
            <a:off x="9136704" y="5082435"/>
            <a:ext cx="5053298" cy="2800064"/>
            <a:chOff x="0" y="0"/>
            <a:chExt cx="6737731" cy="3733419"/>
          </a:xfrm>
        </p:grpSpPr>
        <p:sp>
          <p:nvSpPr>
            <p:cNvPr name="Freeform 130" id="130" descr="preencoded.png"/>
            <p:cNvSpPr/>
            <p:nvPr/>
          </p:nvSpPr>
          <p:spPr>
            <a:xfrm flipH="false" flipV="false" rot="0">
              <a:off x="0" y="0"/>
              <a:ext cx="6737731" cy="3733419"/>
            </a:xfrm>
            <a:custGeom>
              <a:avLst/>
              <a:gdLst/>
              <a:ahLst/>
              <a:cxnLst/>
              <a:rect r="r" b="b" t="t" l="l"/>
              <a:pathLst>
                <a:path h="3733419" w="6737731">
                  <a:moveTo>
                    <a:pt x="0" y="0"/>
                  </a:moveTo>
                  <a:lnTo>
                    <a:pt x="6737731" y="0"/>
                  </a:lnTo>
                  <a:lnTo>
                    <a:pt x="6737731" y="3733419"/>
                  </a:lnTo>
                  <a:lnTo>
                    <a:pt x="0" y="3733419"/>
                  </a:lnTo>
                  <a:lnTo>
                    <a:pt x="0" y="0"/>
                  </a:lnTo>
                  <a:close/>
                </a:path>
              </a:pathLst>
            </a:custGeom>
            <a:blipFill>
              <a:blip r:embed="rId36"/>
              <a:stretch>
                <a:fillRect l="0" t="-34" r="0" b="-34"/>
              </a:stretch>
            </a:blipFill>
          </p:spPr>
        </p:sp>
      </p:grpSp>
      <p:grpSp>
        <p:nvGrpSpPr>
          <p:cNvPr name="Group 131" id="131"/>
          <p:cNvGrpSpPr/>
          <p:nvPr/>
        </p:nvGrpSpPr>
        <p:grpSpPr>
          <a:xfrm rot="0">
            <a:off x="11039885" y="6190793"/>
            <a:ext cx="481298" cy="36481"/>
            <a:chOff x="0" y="0"/>
            <a:chExt cx="641731" cy="48641"/>
          </a:xfrm>
        </p:grpSpPr>
        <p:sp>
          <p:nvSpPr>
            <p:cNvPr name="Freeform 132" id="132" descr="preencoded.png"/>
            <p:cNvSpPr/>
            <p:nvPr/>
          </p:nvSpPr>
          <p:spPr>
            <a:xfrm flipH="false" flipV="false" rot="0">
              <a:off x="0" y="0"/>
              <a:ext cx="641731" cy="48641"/>
            </a:xfrm>
            <a:custGeom>
              <a:avLst/>
              <a:gdLst/>
              <a:ahLst/>
              <a:cxnLst/>
              <a:rect r="r" b="b" t="t" l="l"/>
              <a:pathLst>
                <a:path h="48641" w="641731">
                  <a:moveTo>
                    <a:pt x="0" y="0"/>
                  </a:moveTo>
                  <a:lnTo>
                    <a:pt x="641731" y="0"/>
                  </a:lnTo>
                  <a:lnTo>
                    <a:pt x="641731" y="48641"/>
                  </a:lnTo>
                  <a:lnTo>
                    <a:pt x="0" y="48641"/>
                  </a:lnTo>
                  <a:lnTo>
                    <a:pt x="0" y="0"/>
                  </a:lnTo>
                  <a:close/>
                </a:path>
              </a:pathLst>
            </a:custGeom>
            <a:blipFill>
              <a:blip r:embed="rId37"/>
              <a:stretch>
                <a:fillRect l="0" t="-261" r="0" b="-261"/>
              </a:stretch>
            </a:blipFill>
          </p:spPr>
        </p:sp>
      </p:grpSp>
      <p:grpSp>
        <p:nvGrpSpPr>
          <p:cNvPr name="Group 133" id="133"/>
          <p:cNvGrpSpPr/>
          <p:nvPr/>
        </p:nvGrpSpPr>
        <p:grpSpPr>
          <a:xfrm rot="0">
            <a:off x="9304420" y="5753281"/>
            <a:ext cx="1451038" cy="1443800"/>
            <a:chOff x="0" y="0"/>
            <a:chExt cx="1934718" cy="1925066"/>
          </a:xfrm>
        </p:grpSpPr>
        <p:sp>
          <p:nvSpPr>
            <p:cNvPr name="Freeform 134" id="134" descr="preencoded.png"/>
            <p:cNvSpPr/>
            <p:nvPr/>
          </p:nvSpPr>
          <p:spPr>
            <a:xfrm flipH="false" flipV="false" rot="0">
              <a:off x="0" y="0"/>
              <a:ext cx="1934718" cy="1925066"/>
            </a:xfrm>
            <a:custGeom>
              <a:avLst/>
              <a:gdLst/>
              <a:ahLst/>
              <a:cxnLst/>
              <a:rect r="r" b="b" t="t" l="l"/>
              <a:pathLst>
                <a:path h="1925066" w="1934718">
                  <a:moveTo>
                    <a:pt x="0" y="0"/>
                  </a:moveTo>
                  <a:lnTo>
                    <a:pt x="1934718" y="0"/>
                  </a:lnTo>
                  <a:lnTo>
                    <a:pt x="1934718" y="1925066"/>
                  </a:lnTo>
                  <a:lnTo>
                    <a:pt x="0" y="1925066"/>
                  </a:lnTo>
                  <a:lnTo>
                    <a:pt x="0" y="0"/>
                  </a:lnTo>
                  <a:close/>
                </a:path>
              </a:pathLst>
            </a:custGeom>
            <a:blipFill>
              <a:blip r:embed="rId38"/>
              <a:stretch>
                <a:fillRect l="-28" t="0" r="-28" b="0"/>
              </a:stretch>
            </a:blipFill>
          </p:spPr>
        </p:sp>
      </p:grpSp>
      <p:sp>
        <p:nvSpPr>
          <p:cNvPr name="Freeform 135" id="135"/>
          <p:cNvSpPr/>
          <p:nvPr/>
        </p:nvSpPr>
        <p:spPr>
          <a:xfrm flipH="false" flipV="false" rot="0">
            <a:off x="10369944" y="5309387"/>
            <a:ext cx="486766" cy="472192"/>
          </a:xfrm>
          <a:custGeom>
            <a:avLst/>
            <a:gdLst/>
            <a:ahLst/>
            <a:cxnLst/>
            <a:rect r="r" b="b" t="t" l="l"/>
            <a:pathLst>
              <a:path h="472192" w="486766">
                <a:moveTo>
                  <a:pt x="0" y="0"/>
                </a:moveTo>
                <a:lnTo>
                  <a:pt x="486765" y="0"/>
                </a:lnTo>
                <a:lnTo>
                  <a:pt x="486765" y="472193"/>
                </a:lnTo>
                <a:lnTo>
                  <a:pt x="0" y="472193"/>
                </a:lnTo>
                <a:lnTo>
                  <a:pt x="0" y="0"/>
                </a:lnTo>
                <a:close/>
              </a:path>
            </a:pathLst>
          </a:custGeom>
          <a:blipFill>
            <a:blip r:embed="rId39">
              <a:extLst>
                <a:ext uri="{96DAC541-7B7A-43D3-8B79-37D633B846F1}">
                  <asvg:svgBlip xmlns:asvg="http://schemas.microsoft.com/office/drawing/2016/SVG/main" r:embed="rId40"/>
                </a:ext>
              </a:extLst>
            </a:blip>
            <a:stretch>
              <a:fillRect l="0" t="0" r="0" b="0"/>
            </a:stretch>
          </a:blipFill>
        </p:spPr>
      </p:sp>
      <p:grpSp>
        <p:nvGrpSpPr>
          <p:cNvPr name="Group 136" id="136"/>
          <p:cNvGrpSpPr/>
          <p:nvPr/>
        </p:nvGrpSpPr>
        <p:grpSpPr>
          <a:xfrm rot="0">
            <a:off x="10434657" y="5285689"/>
            <a:ext cx="357302" cy="481155"/>
            <a:chOff x="0" y="0"/>
            <a:chExt cx="476402" cy="641540"/>
          </a:xfrm>
        </p:grpSpPr>
        <p:sp>
          <p:nvSpPr>
            <p:cNvPr name="Freeform 137" id="137"/>
            <p:cNvSpPr/>
            <p:nvPr/>
          </p:nvSpPr>
          <p:spPr>
            <a:xfrm flipH="false" flipV="false" rot="0">
              <a:off x="0" y="0"/>
              <a:ext cx="476377" cy="641604"/>
            </a:xfrm>
            <a:custGeom>
              <a:avLst/>
              <a:gdLst/>
              <a:ahLst/>
              <a:cxnLst/>
              <a:rect r="r" b="b" t="t" l="l"/>
              <a:pathLst>
                <a:path h="641604" w="476377">
                  <a:moveTo>
                    <a:pt x="0" y="0"/>
                  </a:moveTo>
                  <a:lnTo>
                    <a:pt x="476377" y="0"/>
                  </a:lnTo>
                  <a:lnTo>
                    <a:pt x="476377" y="641604"/>
                  </a:lnTo>
                  <a:lnTo>
                    <a:pt x="0" y="641604"/>
                  </a:lnTo>
                  <a:close/>
                </a:path>
              </a:pathLst>
            </a:custGeom>
            <a:blipFill>
              <a:blip r:embed="rId4">
                <a:alphaModFix amt="0"/>
              </a:blip>
              <a:stretch>
                <a:fillRect l="-122905" t="0" r="-122911" b="9"/>
              </a:stretch>
            </a:blipFill>
          </p:spPr>
        </p:sp>
      </p:grpSp>
      <p:grpSp>
        <p:nvGrpSpPr>
          <p:cNvPr name="Group 138" id="138"/>
          <p:cNvGrpSpPr/>
          <p:nvPr/>
        </p:nvGrpSpPr>
        <p:grpSpPr>
          <a:xfrm rot="0">
            <a:off x="10434657" y="5328552"/>
            <a:ext cx="357302" cy="438293"/>
            <a:chOff x="0" y="0"/>
            <a:chExt cx="476402" cy="584390"/>
          </a:xfrm>
        </p:grpSpPr>
        <p:sp>
          <p:nvSpPr>
            <p:cNvPr name="Freeform 139" id="139"/>
            <p:cNvSpPr/>
            <p:nvPr/>
          </p:nvSpPr>
          <p:spPr>
            <a:xfrm flipH="false" flipV="false" rot="0">
              <a:off x="0" y="0"/>
              <a:ext cx="476403" cy="584386"/>
            </a:xfrm>
            <a:custGeom>
              <a:avLst/>
              <a:gdLst/>
              <a:ahLst/>
              <a:cxnLst/>
              <a:rect r="r" b="b" t="t" l="l"/>
              <a:pathLst>
                <a:path h="584386" w="476403">
                  <a:moveTo>
                    <a:pt x="0" y="0"/>
                  </a:moveTo>
                  <a:lnTo>
                    <a:pt x="476403" y="0"/>
                  </a:lnTo>
                  <a:lnTo>
                    <a:pt x="476403" y="584386"/>
                  </a:lnTo>
                  <a:lnTo>
                    <a:pt x="0" y="584386"/>
                  </a:lnTo>
                  <a:close/>
                </a:path>
              </a:pathLst>
            </a:custGeom>
            <a:blipFill>
              <a:blip r:embed="rId5">
                <a:alphaModFix amt="0"/>
              </a:blip>
              <a:stretch>
                <a:fillRect l="-107386" t="0" r="-107386" b="0"/>
              </a:stretch>
            </a:blipFill>
          </p:spPr>
        </p:sp>
        <p:sp>
          <p:nvSpPr>
            <p:cNvPr name="TextBox 140" id="140"/>
            <p:cNvSpPr txBox="true"/>
            <p:nvPr/>
          </p:nvSpPr>
          <p:spPr>
            <a:xfrm>
              <a:off x="0" y="57150"/>
              <a:ext cx="476402" cy="527240"/>
            </a:xfrm>
            <a:prstGeom prst="rect">
              <a:avLst/>
            </a:prstGeom>
          </p:spPr>
          <p:txBody>
            <a:bodyPr anchor="ctr" rtlCol="false" tIns="0" lIns="0" bIns="0" rIns="0"/>
            <a:lstStyle/>
            <a:p>
              <a:pPr algn="l">
                <a:lnSpc>
                  <a:spcPts val="2065"/>
                </a:lnSpc>
              </a:pPr>
              <a:r>
                <a:rPr lang="en-US" sz="2244" b="true">
                  <a:solidFill>
                    <a:srgbClr val="E7ABAF"/>
                  </a:solidFill>
                  <a:latin typeface="TT Commons Pro Bold"/>
                  <a:ea typeface="TT Commons Pro Bold"/>
                  <a:cs typeface="TT Commons Pro Bold"/>
                  <a:sym typeface="TT Commons Pro Bold"/>
                </a:rPr>
                <a:t>04</a:t>
              </a:r>
            </a:p>
          </p:txBody>
        </p:sp>
      </p:grpSp>
      <p:grpSp>
        <p:nvGrpSpPr>
          <p:cNvPr name="Group 141" id="141"/>
          <p:cNvGrpSpPr/>
          <p:nvPr/>
        </p:nvGrpSpPr>
        <p:grpSpPr>
          <a:xfrm rot="0">
            <a:off x="10941453" y="6245485"/>
            <a:ext cx="2778195" cy="1159412"/>
            <a:chOff x="0" y="0"/>
            <a:chExt cx="3704260" cy="1545882"/>
          </a:xfrm>
        </p:grpSpPr>
        <p:sp>
          <p:nvSpPr>
            <p:cNvPr name="Freeform 142" id="142"/>
            <p:cNvSpPr/>
            <p:nvPr/>
          </p:nvSpPr>
          <p:spPr>
            <a:xfrm flipH="false" flipV="false" rot="0">
              <a:off x="0" y="0"/>
              <a:ext cx="3704209" cy="1545844"/>
            </a:xfrm>
            <a:custGeom>
              <a:avLst/>
              <a:gdLst/>
              <a:ahLst/>
              <a:cxnLst/>
              <a:rect r="r" b="b" t="t" l="l"/>
              <a:pathLst>
                <a:path h="1545844" w="3704209">
                  <a:moveTo>
                    <a:pt x="0" y="0"/>
                  </a:moveTo>
                  <a:lnTo>
                    <a:pt x="3704209" y="0"/>
                  </a:lnTo>
                  <a:lnTo>
                    <a:pt x="3704209" y="1545844"/>
                  </a:lnTo>
                  <a:lnTo>
                    <a:pt x="0" y="1545844"/>
                  </a:lnTo>
                  <a:close/>
                </a:path>
              </a:pathLst>
            </a:custGeom>
            <a:blipFill>
              <a:blip r:embed="rId4">
                <a:alphaModFix amt="0"/>
              </a:blip>
              <a:stretch>
                <a:fillRect l="-3581" t="0" r="-3582" b="-2"/>
              </a:stretch>
            </a:blipFill>
          </p:spPr>
        </p:sp>
      </p:grpSp>
      <p:grpSp>
        <p:nvGrpSpPr>
          <p:cNvPr name="Group 143" id="143"/>
          <p:cNvGrpSpPr/>
          <p:nvPr/>
        </p:nvGrpSpPr>
        <p:grpSpPr>
          <a:xfrm rot="0">
            <a:off x="10941453" y="6224054"/>
            <a:ext cx="2778195" cy="1180843"/>
            <a:chOff x="0" y="0"/>
            <a:chExt cx="3704260" cy="1574457"/>
          </a:xfrm>
        </p:grpSpPr>
        <p:sp>
          <p:nvSpPr>
            <p:cNvPr name="Freeform 144" id="144"/>
            <p:cNvSpPr/>
            <p:nvPr/>
          </p:nvSpPr>
          <p:spPr>
            <a:xfrm flipH="false" flipV="false" rot="0">
              <a:off x="0" y="0"/>
              <a:ext cx="3704260" cy="1574451"/>
            </a:xfrm>
            <a:custGeom>
              <a:avLst/>
              <a:gdLst/>
              <a:ahLst/>
              <a:cxnLst/>
              <a:rect r="r" b="b" t="t" l="l"/>
              <a:pathLst>
                <a:path h="1574451" w="3704260">
                  <a:moveTo>
                    <a:pt x="0" y="0"/>
                  </a:moveTo>
                  <a:lnTo>
                    <a:pt x="3704260" y="0"/>
                  </a:lnTo>
                  <a:lnTo>
                    <a:pt x="3704260" y="1574451"/>
                  </a:lnTo>
                  <a:lnTo>
                    <a:pt x="0" y="1574451"/>
                  </a:lnTo>
                  <a:close/>
                </a:path>
              </a:pathLst>
            </a:custGeom>
            <a:blipFill>
              <a:blip r:embed="rId5">
                <a:alphaModFix amt="0"/>
              </a:blip>
              <a:stretch>
                <a:fillRect l="-4534" t="0" r="-4534" b="0"/>
              </a:stretch>
            </a:blipFill>
          </p:spPr>
        </p:sp>
        <p:sp>
          <p:nvSpPr>
            <p:cNvPr name="TextBox 145" id="145"/>
            <p:cNvSpPr txBox="true"/>
            <p:nvPr/>
          </p:nvSpPr>
          <p:spPr>
            <a:xfrm>
              <a:off x="0" y="-28575"/>
              <a:ext cx="3704260" cy="1603032"/>
            </a:xfrm>
            <a:prstGeom prst="rect">
              <a:avLst/>
            </a:prstGeom>
          </p:spPr>
          <p:txBody>
            <a:bodyPr anchor="ctr" rtlCol="false" tIns="0" lIns="0" bIns="0" rIns="0"/>
            <a:lstStyle/>
            <a:p>
              <a:pPr algn="l">
                <a:lnSpc>
                  <a:spcPts val="1959"/>
                </a:lnSpc>
              </a:pPr>
              <a:r>
                <a:rPr lang="en-US" sz="1399" b="true">
                  <a:solidFill>
                    <a:srgbClr val="737271"/>
                  </a:solidFill>
                  <a:latin typeface="TT Commons Pro Bold"/>
                  <a:ea typeface="TT Commons Pro Bold"/>
                  <a:cs typeface="TT Commons Pro Bold"/>
                  <a:sym typeface="TT Commons Pro Bold"/>
                </a:rPr>
                <a:t>Create visualisations and</a:t>
              </a:r>
            </a:p>
            <a:p>
              <a:pPr algn="l">
                <a:lnSpc>
                  <a:spcPts val="1959"/>
                </a:lnSpc>
              </a:pPr>
              <a:r>
                <a:rPr lang="en-US" sz="1399" b="true">
                  <a:solidFill>
                    <a:srgbClr val="737271"/>
                  </a:solidFill>
                  <a:latin typeface="TT Commons Pro Bold"/>
                  <a:ea typeface="TT Commons Pro Bold"/>
                  <a:cs typeface="TT Commons Pro Bold"/>
                  <a:sym typeface="TT Commons Pro Bold"/>
                </a:rPr>
                <a:t>identify trends using Python</a:t>
              </a:r>
            </a:p>
            <a:p>
              <a:pPr algn="l">
                <a:lnSpc>
                  <a:spcPts val="1959"/>
                </a:lnSpc>
              </a:pPr>
              <a:r>
                <a:rPr lang="en-US" sz="1399" b="true">
                  <a:solidFill>
                    <a:srgbClr val="737271"/>
                  </a:solidFill>
                  <a:latin typeface="TT Commons Pro Bold"/>
                  <a:ea typeface="TT Commons Pro Bold"/>
                  <a:cs typeface="TT Commons Pro Bold"/>
                  <a:sym typeface="TT Commons Pro Bold"/>
                </a:rPr>
                <a:t>based only on the uploaded</a:t>
              </a:r>
            </a:p>
            <a:p>
              <a:pPr algn="l">
                <a:lnSpc>
                  <a:spcPts val="1959"/>
                </a:lnSpc>
              </a:pPr>
              <a:r>
                <a:rPr lang="en-US" sz="1399" b="true">
                  <a:solidFill>
                    <a:srgbClr val="737271"/>
                  </a:solidFill>
                  <a:latin typeface="TT Commons Pro Bold"/>
                  <a:ea typeface="TT Commons Pro Bold"/>
                  <a:cs typeface="TT Commons Pro Bold"/>
                  <a:sym typeface="TT Commons Pro Bold"/>
                </a:rPr>
                <a:t>Swiggy vs Zomato dataset.</a:t>
              </a:r>
            </a:p>
          </p:txBody>
        </p:sp>
      </p:grpSp>
      <p:grpSp>
        <p:nvGrpSpPr>
          <p:cNvPr name="Group 146" id="146"/>
          <p:cNvGrpSpPr/>
          <p:nvPr/>
        </p:nvGrpSpPr>
        <p:grpSpPr>
          <a:xfrm rot="0">
            <a:off x="11098397" y="5285689"/>
            <a:ext cx="2275056" cy="732758"/>
            <a:chOff x="0" y="0"/>
            <a:chExt cx="3033408" cy="977011"/>
          </a:xfrm>
        </p:grpSpPr>
        <p:sp>
          <p:nvSpPr>
            <p:cNvPr name="Freeform 147" id="147"/>
            <p:cNvSpPr/>
            <p:nvPr/>
          </p:nvSpPr>
          <p:spPr>
            <a:xfrm flipH="false" flipV="false" rot="0">
              <a:off x="0" y="0"/>
              <a:ext cx="3033395" cy="977011"/>
            </a:xfrm>
            <a:custGeom>
              <a:avLst/>
              <a:gdLst/>
              <a:ahLst/>
              <a:cxnLst/>
              <a:rect r="r" b="b" t="t" l="l"/>
              <a:pathLst>
                <a:path h="977011" w="3033395">
                  <a:moveTo>
                    <a:pt x="0" y="0"/>
                  </a:moveTo>
                  <a:lnTo>
                    <a:pt x="3033395" y="0"/>
                  </a:lnTo>
                  <a:lnTo>
                    <a:pt x="3033395" y="977011"/>
                  </a:lnTo>
                  <a:lnTo>
                    <a:pt x="0" y="977011"/>
                  </a:lnTo>
                  <a:close/>
                </a:path>
              </a:pathLst>
            </a:custGeom>
            <a:blipFill>
              <a:blip r:embed="rId4">
                <a:alphaModFix amt="0"/>
              </a:blip>
              <a:stretch>
                <a:fillRect l="0" t="-10454" r="0" b="-10454"/>
              </a:stretch>
            </a:blipFill>
          </p:spPr>
        </p:sp>
      </p:grpSp>
      <p:grpSp>
        <p:nvGrpSpPr>
          <p:cNvPr name="Group 148" id="148"/>
          <p:cNvGrpSpPr/>
          <p:nvPr/>
        </p:nvGrpSpPr>
        <p:grpSpPr>
          <a:xfrm rot="0">
            <a:off x="11098397" y="5292833"/>
            <a:ext cx="2275056" cy="725615"/>
            <a:chOff x="0" y="0"/>
            <a:chExt cx="3033408" cy="967486"/>
          </a:xfrm>
        </p:grpSpPr>
        <p:sp>
          <p:nvSpPr>
            <p:cNvPr name="Freeform 149" id="149"/>
            <p:cNvSpPr/>
            <p:nvPr/>
          </p:nvSpPr>
          <p:spPr>
            <a:xfrm flipH="false" flipV="false" rot="0">
              <a:off x="0" y="0"/>
              <a:ext cx="3033408" cy="967484"/>
            </a:xfrm>
            <a:custGeom>
              <a:avLst/>
              <a:gdLst/>
              <a:ahLst/>
              <a:cxnLst/>
              <a:rect r="r" b="b" t="t" l="l"/>
              <a:pathLst>
                <a:path h="967484" w="3033408">
                  <a:moveTo>
                    <a:pt x="0" y="0"/>
                  </a:moveTo>
                  <a:lnTo>
                    <a:pt x="3033408" y="0"/>
                  </a:lnTo>
                  <a:lnTo>
                    <a:pt x="3033408" y="967484"/>
                  </a:lnTo>
                  <a:lnTo>
                    <a:pt x="0" y="967484"/>
                  </a:lnTo>
                  <a:close/>
                </a:path>
              </a:pathLst>
            </a:custGeom>
            <a:blipFill>
              <a:blip r:embed="rId5">
                <a:alphaModFix amt="0"/>
              </a:blip>
              <a:stretch>
                <a:fillRect l="0" t="-11092" r="0" b="-11092"/>
              </a:stretch>
            </a:blipFill>
          </p:spPr>
        </p:sp>
        <p:sp>
          <p:nvSpPr>
            <p:cNvPr name="TextBox 150" id="150"/>
            <p:cNvSpPr txBox="true"/>
            <p:nvPr/>
          </p:nvSpPr>
          <p:spPr>
            <a:xfrm>
              <a:off x="0" y="9525"/>
              <a:ext cx="3033408" cy="957961"/>
            </a:xfrm>
            <a:prstGeom prst="rect">
              <a:avLst/>
            </a:prstGeom>
          </p:spPr>
          <p:txBody>
            <a:bodyPr anchor="ctr" rtlCol="false" tIns="0" lIns="0" bIns="0" rIns="0"/>
            <a:lstStyle/>
            <a:p>
              <a:pPr algn="l">
                <a:lnSpc>
                  <a:spcPts val="2452"/>
                </a:lnSpc>
              </a:pPr>
              <a:r>
                <a:rPr lang="en-US" sz="2005" b="true">
                  <a:solidFill>
                    <a:srgbClr val="B6525C"/>
                  </a:solidFill>
                  <a:latin typeface="TT Commons Pro Bold"/>
                  <a:ea typeface="TT Commons Pro Bold"/>
                  <a:cs typeface="TT Commons Pro Bold"/>
                  <a:sym typeface="TT Commons Pro Bold"/>
                </a:rPr>
                <a:t>Generate</a:t>
              </a:r>
            </a:p>
            <a:p>
              <a:pPr algn="l">
                <a:lnSpc>
                  <a:spcPts val="2452"/>
                </a:lnSpc>
              </a:pPr>
              <a:r>
                <a:rPr lang="en-US" sz="2005" b="true">
                  <a:solidFill>
                    <a:srgbClr val="B6525C"/>
                  </a:solidFill>
                  <a:latin typeface="TT Commons Pro Bold"/>
                  <a:ea typeface="TT Commons Pro Bold"/>
                  <a:cs typeface="TT Commons Pro Bold"/>
                  <a:sym typeface="TT Commons Pro Bold"/>
                </a:rPr>
                <a:t>Data Insights</a:t>
              </a:r>
            </a:p>
          </p:txBody>
        </p:sp>
      </p:grpSp>
      <p:sp>
        <p:nvSpPr>
          <p:cNvPr name="Freeform 151" id="151"/>
          <p:cNvSpPr/>
          <p:nvPr/>
        </p:nvSpPr>
        <p:spPr>
          <a:xfrm flipH="false" flipV="false" rot="0">
            <a:off x="9123950" y="2028968"/>
            <a:ext cx="5078711" cy="2898534"/>
          </a:xfrm>
          <a:custGeom>
            <a:avLst/>
            <a:gdLst/>
            <a:ahLst/>
            <a:cxnLst/>
            <a:rect r="r" b="b" t="t" l="l"/>
            <a:pathLst>
              <a:path h="2898534" w="5078711">
                <a:moveTo>
                  <a:pt x="0" y="0"/>
                </a:moveTo>
                <a:lnTo>
                  <a:pt x="5078711" y="0"/>
                </a:lnTo>
                <a:lnTo>
                  <a:pt x="5078711" y="2898534"/>
                </a:lnTo>
                <a:lnTo>
                  <a:pt x="0" y="2898534"/>
                </a:lnTo>
                <a:lnTo>
                  <a:pt x="0" y="0"/>
                </a:lnTo>
                <a:close/>
              </a:path>
            </a:pathLst>
          </a:custGeom>
          <a:blipFill>
            <a:blip r:embed="rId41">
              <a:extLst>
                <a:ext uri="{96DAC541-7B7A-43D3-8B79-37D633B846F1}">
                  <asvg:svgBlip xmlns:asvg="http://schemas.microsoft.com/office/drawing/2016/SVG/main" r:embed="rId42"/>
                </a:ext>
              </a:extLst>
            </a:blip>
            <a:stretch>
              <a:fillRect l="0" t="0" r="0" b="0"/>
            </a:stretch>
          </a:blipFill>
        </p:spPr>
      </p:sp>
      <p:grpSp>
        <p:nvGrpSpPr>
          <p:cNvPr name="Group 152" id="152"/>
          <p:cNvGrpSpPr/>
          <p:nvPr/>
        </p:nvGrpSpPr>
        <p:grpSpPr>
          <a:xfrm rot="0">
            <a:off x="11032598" y="3099044"/>
            <a:ext cx="495872" cy="58293"/>
            <a:chOff x="0" y="0"/>
            <a:chExt cx="661162" cy="77724"/>
          </a:xfrm>
        </p:grpSpPr>
        <p:sp>
          <p:nvSpPr>
            <p:cNvPr name="Freeform 153" id="153" descr="preencoded.png"/>
            <p:cNvSpPr/>
            <p:nvPr/>
          </p:nvSpPr>
          <p:spPr>
            <a:xfrm flipH="false" flipV="false" rot="0">
              <a:off x="0" y="0"/>
              <a:ext cx="661162" cy="77724"/>
            </a:xfrm>
            <a:custGeom>
              <a:avLst/>
              <a:gdLst/>
              <a:ahLst/>
              <a:cxnLst/>
              <a:rect r="r" b="b" t="t" l="l"/>
              <a:pathLst>
                <a:path h="77724" w="661162">
                  <a:moveTo>
                    <a:pt x="0" y="0"/>
                  </a:moveTo>
                  <a:lnTo>
                    <a:pt x="661162" y="0"/>
                  </a:lnTo>
                  <a:lnTo>
                    <a:pt x="661162" y="77724"/>
                  </a:lnTo>
                  <a:lnTo>
                    <a:pt x="0" y="77724"/>
                  </a:lnTo>
                  <a:lnTo>
                    <a:pt x="0" y="0"/>
                  </a:lnTo>
                  <a:close/>
                </a:path>
              </a:pathLst>
            </a:custGeom>
            <a:blipFill>
              <a:blip r:embed="rId43"/>
              <a:stretch>
                <a:fillRect l="0" t="-2516" r="0" b="-2500"/>
              </a:stretch>
            </a:blipFill>
          </p:spPr>
        </p:sp>
      </p:grpSp>
      <p:grpSp>
        <p:nvGrpSpPr>
          <p:cNvPr name="Group 154" id="154"/>
          <p:cNvGrpSpPr/>
          <p:nvPr/>
        </p:nvGrpSpPr>
        <p:grpSpPr>
          <a:xfrm rot="0">
            <a:off x="9333586" y="2792787"/>
            <a:ext cx="1421892" cy="1421892"/>
            <a:chOff x="0" y="0"/>
            <a:chExt cx="1895856" cy="1895856"/>
          </a:xfrm>
        </p:grpSpPr>
        <p:sp>
          <p:nvSpPr>
            <p:cNvPr name="Freeform 155" id="155" descr="preencoded.png"/>
            <p:cNvSpPr/>
            <p:nvPr/>
          </p:nvSpPr>
          <p:spPr>
            <a:xfrm flipH="false" flipV="false" rot="0">
              <a:off x="0" y="0"/>
              <a:ext cx="1895856" cy="1895856"/>
            </a:xfrm>
            <a:custGeom>
              <a:avLst/>
              <a:gdLst/>
              <a:ahLst/>
              <a:cxnLst/>
              <a:rect r="r" b="b" t="t" l="l"/>
              <a:pathLst>
                <a:path h="1895856" w="1895856">
                  <a:moveTo>
                    <a:pt x="0" y="0"/>
                  </a:moveTo>
                  <a:lnTo>
                    <a:pt x="1895856" y="0"/>
                  </a:lnTo>
                  <a:lnTo>
                    <a:pt x="1895856" y="1895856"/>
                  </a:lnTo>
                  <a:lnTo>
                    <a:pt x="0" y="1895856"/>
                  </a:lnTo>
                  <a:lnTo>
                    <a:pt x="0" y="0"/>
                  </a:lnTo>
                  <a:close/>
                </a:path>
              </a:pathLst>
            </a:custGeom>
            <a:blipFill>
              <a:blip r:embed="rId44"/>
              <a:stretch>
                <a:fillRect l="0" t="0" r="0" b="0"/>
              </a:stretch>
            </a:blipFill>
          </p:spPr>
        </p:sp>
      </p:grpSp>
      <p:sp>
        <p:nvSpPr>
          <p:cNvPr name="Freeform 156" id="156"/>
          <p:cNvSpPr/>
          <p:nvPr/>
        </p:nvSpPr>
        <p:spPr>
          <a:xfrm flipH="false" flipV="false" rot="0">
            <a:off x="10369944" y="2275970"/>
            <a:ext cx="486766" cy="464858"/>
          </a:xfrm>
          <a:custGeom>
            <a:avLst/>
            <a:gdLst/>
            <a:ahLst/>
            <a:cxnLst/>
            <a:rect r="r" b="b" t="t" l="l"/>
            <a:pathLst>
              <a:path h="464858" w="486766">
                <a:moveTo>
                  <a:pt x="0" y="0"/>
                </a:moveTo>
                <a:lnTo>
                  <a:pt x="486765" y="0"/>
                </a:lnTo>
                <a:lnTo>
                  <a:pt x="486765" y="464858"/>
                </a:lnTo>
                <a:lnTo>
                  <a:pt x="0" y="464858"/>
                </a:lnTo>
                <a:lnTo>
                  <a:pt x="0" y="0"/>
                </a:lnTo>
                <a:close/>
              </a:path>
            </a:pathLst>
          </a:custGeom>
          <a:blipFill>
            <a:blip r:embed="rId45">
              <a:extLst>
                <a:ext uri="{96DAC541-7B7A-43D3-8B79-37D633B846F1}">
                  <asvg:svgBlip xmlns:asvg="http://schemas.microsoft.com/office/drawing/2016/SVG/main" r:embed="rId46"/>
                </a:ext>
              </a:extLst>
            </a:blip>
            <a:stretch>
              <a:fillRect l="0" t="0" r="0" b="0"/>
            </a:stretch>
          </a:blipFill>
        </p:spPr>
      </p:sp>
      <p:grpSp>
        <p:nvGrpSpPr>
          <p:cNvPr name="Group 157" id="157"/>
          <p:cNvGrpSpPr/>
          <p:nvPr/>
        </p:nvGrpSpPr>
        <p:grpSpPr>
          <a:xfrm rot="0">
            <a:off x="10416435" y="2262226"/>
            <a:ext cx="525018" cy="530562"/>
            <a:chOff x="0" y="0"/>
            <a:chExt cx="700024" cy="707415"/>
          </a:xfrm>
        </p:grpSpPr>
        <p:sp>
          <p:nvSpPr>
            <p:cNvPr name="Freeform 158" id="158"/>
            <p:cNvSpPr/>
            <p:nvPr/>
          </p:nvSpPr>
          <p:spPr>
            <a:xfrm flipH="false" flipV="false" rot="0">
              <a:off x="0" y="0"/>
              <a:ext cx="700024" cy="707390"/>
            </a:xfrm>
            <a:custGeom>
              <a:avLst/>
              <a:gdLst/>
              <a:ahLst/>
              <a:cxnLst/>
              <a:rect r="r" b="b" t="t" l="l"/>
              <a:pathLst>
                <a:path h="707390" w="700024">
                  <a:moveTo>
                    <a:pt x="0" y="0"/>
                  </a:moveTo>
                  <a:lnTo>
                    <a:pt x="700024" y="0"/>
                  </a:lnTo>
                  <a:lnTo>
                    <a:pt x="700024" y="707390"/>
                  </a:lnTo>
                  <a:lnTo>
                    <a:pt x="0" y="707390"/>
                  </a:lnTo>
                  <a:close/>
                </a:path>
              </a:pathLst>
            </a:custGeom>
            <a:blipFill>
              <a:blip r:embed="rId4">
                <a:alphaModFix amt="0"/>
              </a:blip>
              <a:stretch>
                <a:fillRect l="-79747" t="0" r="-79747" b="-3"/>
              </a:stretch>
            </a:blipFill>
          </p:spPr>
        </p:sp>
      </p:grpSp>
      <p:grpSp>
        <p:nvGrpSpPr>
          <p:cNvPr name="Group 159" id="159"/>
          <p:cNvGrpSpPr/>
          <p:nvPr/>
        </p:nvGrpSpPr>
        <p:grpSpPr>
          <a:xfrm rot="0">
            <a:off x="10416435" y="2347951"/>
            <a:ext cx="525018" cy="444837"/>
            <a:chOff x="0" y="0"/>
            <a:chExt cx="700024" cy="593115"/>
          </a:xfrm>
        </p:grpSpPr>
        <p:sp>
          <p:nvSpPr>
            <p:cNvPr name="Freeform 160" id="160"/>
            <p:cNvSpPr/>
            <p:nvPr/>
          </p:nvSpPr>
          <p:spPr>
            <a:xfrm flipH="false" flipV="false" rot="0">
              <a:off x="0" y="0"/>
              <a:ext cx="700024" cy="593109"/>
            </a:xfrm>
            <a:custGeom>
              <a:avLst/>
              <a:gdLst/>
              <a:ahLst/>
              <a:cxnLst/>
              <a:rect r="r" b="b" t="t" l="l"/>
              <a:pathLst>
                <a:path h="593109" w="700024">
                  <a:moveTo>
                    <a:pt x="0" y="0"/>
                  </a:moveTo>
                  <a:lnTo>
                    <a:pt x="700024" y="0"/>
                  </a:lnTo>
                  <a:lnTo>
                    <a:pt x="700024" y="593109"/>
                  </a:lnTo>
                  <a:lnTo>
                    <a:pt x="0" y="593109"/>
                  </a:lnTo>
                  <a:close/>
                </a:path>
              </a:pathLst>
            </a:custGeom>
            <a:blipFill>
              <a:blip r:embed="rId5">
                <a:alphaModFix amt="0"/>
              </a:blip>
              <a:stretch>
                <a:fillRect l="-58708" t="0" r="-58708" b="-1"/>
              </a:stretch>
            </a:blipFill>
          </p:spPr>
        </p:sp>
        <p:sp>
          <p:nvSpPr>
            <p:cNvPr name="TextBox 161" id="161"/>
            <p:cNvSpPr txBox="true"/>
            <p:nvPr/>
          </p:nvSpPr>
          <p:spPr>
            <a:xfrm>
              <a:off x="0" y="114300"/>
              <a:ext cx="700024" cy="478815"/>
            </a:xfrm>
            <a:prstGeom prst="rect">
              <a:avLst/>
            </a:prstGeom>
          </p:spPr>
          <p:txBody>
            <a:bodyPr anchor="ctr" rtlCol="false" tIns="0" lIns="0" bIns="0" rIns="0"/>
            <a:lstStyle/>
            <a:p>
              <a:pPr algn="l">
                <a:lnSpc>
                  <a:spcPts val="1733"/>
                </a:lnSpc>
              </a:pPr>
              <a:r>
                <a:rPr lang="en-US" sz="2452" b="true">
                  <a:solidFill>
                    <a:srgbClr val="E8ABB1"/>
                  </a:solidFill>
                  <a:latin typeface="TT Commons Pro Bold"/>
                  <a:ea typeface="TT Commons Pro Bold"/>
                  <a:cs typeface="TT Commons Pro Bold"/>
                  <a:sym typeface="TT Commons Pro Bold"/>
                </a:rPr>
                <a:t>02</a:t>
              </a:r>
            </a:p>
          </p:txBody>
        </p:sp>
      </p:grpSp>
      <p:grpSp>
        <p:nvGrpSpPr>
          <p:cNvPr name="Group 162" id="162"/>
          <p:cNvGrpSpPr/>
          <p:nvPr/>
        </p:nvGrpSpPr>
        <p:grpSpPr>
          <a:xfrm rot="0">
            <a:off x="11039885" y="3252168"/>
            <a:ext cx="3034875" cy="1429207"/>
            <a:chOff x="0" y="0"/>
            <a:chExt cx="4046499" cy="1905610"/>
          </a:xfrm>
        </p:grpSpPr>
        <p:sp>
          <p:nvSpPr>
            <p:cNvPr name="Freeform 163" id="163"/>
            <p:cNvSpPr/>
            <p:nvPr/>
          </p:nvSpPr>
          <p:spPr>
            <a:xfrm flipH="false" flipV="false" rot="0">
              <a:off x="0" y="0"/>
              <a:ext cx="4046474" cy="1905635"/>
            </a:xfrm>
            <a:custGeom>
              <a:avLst/>
              <a:gdLst/>
              <a:ahLst/>
              <a:cxnLst/>
              <a:rect r="r" b="b" t="t" l="l"/>
              <a:pathLst>
                <a:path h="1905635" w="4046474">
                  <a:moveTo>
                    <a:pt x="0" y="0"/>
                  </a:moveTo>
                  <a:lnTo>
                    <a:pt x="4046474" y="0"/>
                  </a:lnTo>
                  <a:lnTo>
                    <a:pt x="4046474" y="1905635"/>
                  </a:lnTo>
                  <a:lnTo>
                    <a:pt x="0" y="1905635"/>
                  </a:lnTo>
                  <a:close/>
                </a:path>
              </a:pathLst>
            </a:custGeom>
            <a:blipFill>
              <a:blip r:embed="rId4">
                <a:alphaModFix amt="0"/>
              </a:blip>
              <a:stretch>
                <a:fillRect l="-10463" t="0" r="-10464" b="1"/>
              </a:stretch>
            </a:blipFill>
          </p:spPr>
        </p:sp>
      </p:grpSp>
      <p:grpSp>
        <p:nvGrpSpPr>
          <p:cNvPr name="Group 164" id="164"/>
          <p:cNvGrpSpPr/>
          <p:nvPr/>
        </p:nvGrpSpPr>
        <p:grpSpPr>
          <a:xfrm rot="0">
            <a:off x="11039885" y="3230737"/>
            <a:ext cx="3034875" cy="1450638"/>
            <a:chOff x="0" y="0"/>
            <a:chExt cx="4046499" cy="1934185"/>
          </a:xfrm>
        </p:grpSpPr>
        <p:sp>
          <p:nvSpPr>
            <p:cNvPr name="Freeform 165" id="165"/>
            <p:cNvSpPr/>
            <p:nvPr/>
          </p:nvSpPr>
          <p:spPr>
            <a:xfrm flipH="false" flipV="false" rot="0">
              <a:off x="0" y="0"/>
              <a:ext cx="4046500" cy="1934183"/>
            </a:xfrm>
            <a:custGeom>
              <a:avLst/>
              <a:gdLst/>
              <a:ahLst/>
              <a:cxnLst/>
              <a:rect r="r" b="b" t="t" l="l"/>
              <a:pathLst>
                <a:path h="1934183" w="4046500">
                  <a:moveTo>
                    <a:pt x="0" y="0"/>
                  </a:moveTo>
                  <a:lnTo>
                    <a:pt x="4046500" y="0"/>
                  </a:lnTo>
                  <a:lnTo>
                    <a:pt x="4046500" y="1934183"/>
                  </a:lnTo>
                  <a:lnTo>
                    <a:pt x="0" y="1934183"/>
                  </a:lnTo>
                  <a:close/>
                </a:path>
              </a:pathLst>
            </a:custGeom>
            <a:blipFill>
              <a:blip r:embed="rId5">
                <a:alphaModFix amt="0"/>
              </a:blip>
              <a:stretch>
                <a:fillRect l="-11327" t="0" r="-11327" b="0"/>
              </a:stretch>
            </a:blipFill>
          </p:spPr>
        </p:sp>
        <p:sp>
          <p:nvSpPr>
            <p:cNvPr name="TextBox 166" id="166"/>
            <p:cNvSpPr txBox="true"/>
            <p:nvPr/>
          </p:nvSpPr>
          <p:spPr>
            <a:xfrm>
              <a:off x="0" y="-28575"/>
              <a:ext cx="4046499" cy="1962760"/>
            </a:xfrm>
            <a:prstGeom prst="rect">
              <a:avLst/>
            </a:prstGeom>
          </p:spPr>
          <p:txBody>
            <a:bodyPr anchor="ctr" rtlCol="false" tIns="0" lIns="0" bIns="0" rIns="0"/>
            <a:lstStyle/>
            <a:p>
              <a:pPr algn="l">
                <a:lnSpc>
                  <a:spcPts val="1959"/>
                </a:lnSpc>
              </a:pPr>
              <a:r>
                <a:rPr lang="en-US" sz="1399" b="true">
                  <a:solidFill>
                    <a:srgbClr val="757472"/>
                  </a:solidFill>
                  <a:latin typeface="TT Commons Pro Bold"/>
                  <a:ea typeface="TT Commons Pro Bold"/>
                  <a:cs typeface="TT Commons Pro Bold"/>
                  <a:sym typeface="TT Commons Pro Bold"/>
                </a:rPr>
                <a:t>Evaluate delivery time, delivery</a:t>
              </a:r>
            </a:p>
            <a:p>
              <a:pPr algn="l">
                <a:lnSpc>
                  <a:spcPts val="1959"/>
                </a:lnSpc>
              </a:pPr>
              <a:r>
                <a:rPr lang="en-US" sz="1399" b="true">
                  <a:solidFill>
                    <a:srgbClr val="757472"/>
                  </a:solidFill>
                  <a:latin typeface="TT Commons Pro Bold"/>
                  <a:ea typeface="TT Commons Pro Bold"/>
                  <a:cs typeface="TT Commons Pro Bold"/>
                  <a:sym typeface="TT Commons Pro Bold"/>
                </a:rPr>
                <a:t>fee, commission, average cost</a:t>
              </a:r>
            </a:p>
            <a:p>
              <a:pPr algn="l">
                <a:lnSpc>
                  <a:spcPts val="1959"/>
                </a:lnSpc>
              </a:pPr>
              <a:r>
                <a:rPr lang="en-US" sz="1399" b="true">
                  <a:solidFill>
                    <a:srgbClr val="757472"/>
                  </a:solidFill>
                  <a:latin typeface="TT Commons Pro Bold"/>
                  <a:ea typeface="TT Commons Pro Bold"/>
                  <a:cs typeface="TT Commons Pro Bold"/>
                  <a:sym typeface="TT Commons Pro Bold"/>
                </a:rPr>
                <a:t>per person, and discount</a:t>
              </a:r>
            </a:p>
            <a:p>
              <a:pPr algn="l">
                <a:lnSpc>
                  <a:spcPts val="1959"/>
                </a:lnSpc>
              </a:pPr>
              <a:r>
                <a:rPr lang="en-US" sz="1399" b="true">
                  <a:solidFill>
                    <a:srgbClr val="757472"/>
                  </a:solidFill>
                  <a:latin typeface="TT Commons Pro Bold"/>
                  <a:ea typeface="TT Commons Pro Bold"/>
                  <a:cs typeface="TT Commons Pro Bold"/>
                  <a:sym typeface="TT Commons Pro Bold"/>
                </a:rPr>
                <a:t>frequency available in the</a:t>
              </a:r>
            </a:p>
            <a:p>
              <a:pPr algn="l">
                <a:lnSpc>
                  <a:spcPts val="1959"/>
                </a:lnSpc>
              </a:pPr>
              <a:r>
                <a:rPr lang="en-US" sz="1399" b="true">
                  <a:solidFill>
                    <a:srgbClr val="757472"/>
                  </a:solidFill>
                  <a:latin typeface="TT Commons Pro Bold"/>
                  <a:ea typeface="TT Commons Pro Bold"/>
                  <a:cs typeface="TT Commons Pro Bold"/>
                  <a:sym typeface="TT Commons Pro Bold"/>
                </a:rPr>
                <a:t>dataset.</a:t>
              </a:r>
            </a:p>
          </p:txBody>
        </p:sp>
      </p:grpSp>
      <p:grpSp>
        <p:nvGrpSpPr>
          <p:cNvPr name="Group 167" id="167"/>
          <p:cNvGrpSpPr/>
          <p:nvPr/>
        </p:nvGrpSpPr>
        <p:grpSpPr>
          <a:xfrm rot="0">
            <a:off x="11054467" y="2193503"/>
            <a:ext cx="2406320" cy="754056"/>
            <a:chOff x="0" y="0"/>
            <a:chExt cx="3208426" cy="1005408"/>
          </a:xfrm>
        </p:grpSpPr>
        <p:sp>
          <p:nvSpPr>
            <p:cNvPr name="Freeform 168" id="168"/>
            <p:cNvSpPr/>
            <p:nvPr/>
          </p:nvSpPr>
          <p:spPr>
            <a:xfrm flipH="false" flipV="false" rot="0">
              <a:off x="0" y="0"/>
              <a:ext cx="3208401" cy="1005459"/>
            </a:xfrm>
            <a:custGeom>
              <a:avLst/>
              <a:gdLst/>
              <a:ahLst/>
              <a:cxnLst/>
              <a:rect r="r" b="b" t="t" l="l"/>
              <a:pathLst>
                <a:path h="1005459" w="3208401">
                  <a:moveTo>
                    <a:pt x="0" y="0"/>
                  </a:moveTo>
                  <a:lnTo>
                    <a:pt x="3208401" y="0"/>
                  </a:lnTo>
                  <a:lnTo>
                    <a:pt x="3208401" y="1005459"/>
                  </a:lnTo>
                  <a:lnTo>
                    <a:pt x="0" y="1005459"/>
                  </a:lnTo>
                  <a:close/>
                </a:path>
              </a:pathLst>
            </a:custGeom>
            <a:blipFill>
              <a:blip r:embed="rId4">
                <a:alphaModFix amt="0"/>
              </a:blip>
              <a:stretch>
                <a:fillRect l="0" t="-12135" r="0" b="-12130"/>
              </a:stretch>
            </a:blipFill>
          </p:spPr>
        </p:sp>
      </p:grpSp>
      <p:grpSp>
        <p:nvGrpSpPr>
          <p:cNvPr name="Group 169" id="169"/>
          <p:cNvGrpSpPr/>
          <p:nvPr/>
        </p:nvGrpSpPr>
        <p:grpSpPr>
          <a:xfrm rot="0">
            <a:off x="11054467" y="2193503"/>
            <a:ext cx="2406320" cy="754056"/>
            <a:chOff x="0" y="0"/>
            <a:chExt cx="3208426" cy="1005408"/>
          </a:xfrm>
        </p:grpSpPr>
        <p:sp>
          <p:nvSpPr>
            <p:cNvPr name="Freeform 170" id="170"/>
            <p:cNvSpPr/>
            <p:nvPr/>
          </p:nvSpPr>
          <p:spPr>
            <a:xfrm flipH="false" flipV="false" rot="0">
              <a:off x="0" y="0"/>
              <a:ext cx="3208427" cy="1005407"/>
            </a:xfrm>
            <a:custGeom>
              <a:avLst/>
              <a:gdLst/>
              <a:ahLst/>
              <a:cxnLst/>
              <a:rect r="r" b="b" t="t" l="l"/>
              <a:pathLst>
                <a:path h="1005407" w="3208427">
                  <a:moveTo>
                    <a:pt x="0" y="0"/>
                  </a:moveTo>
                  <a:lnTo>
                    <a:pt x="3208427" y="0"/>
                  </a:lnTo>
                  <a:lnTo>
                    <a:pt x="3208427" y="1005407"/>
                  </a:lnTo>
                  <a:lnTo>
                    <a:pt x="0" y="1005407"/>
                  </a:lnTo>
                  <a:close/>
                </a:path>
              </a:pathLst>
            </a:custGeom>
            <a:blipFill>
              <a:blip r:embed="rId5">
                <a:alphaModFix amt="0"/>
              </a:blip>
              <a:stretch>
                <a:fillRect l="0" t="-12180" r="0" b="-12180"/>
              </a:stretch>
            </a:blipFill>
          </p:spPr>
        </p:sp>
        <p:sp>
          <p:nvSpPr>
            <p:cNvPr name="TextBox 171" id="171"/>
            <p:cNvSpPr txBox="true"/>
            <p:nvPr/>
          </p:nvSpPr>
          <p:spPr>
            <a:xfrm>
              <a:off x="0" y="9525"/>
              <a:ext cx="3208426" cy="995883"/>
            </a:xfrm>
            <a:prstGeom prst="rect">
              <a:avLst/>
            </a:prstGeom>
          </p:spPr>
          <p:txBody>
            <a:bodyPr anchor="ctr" rtlCol="false" tIns="0" lIns="0" bIns="0" rIns="0"/>
            <a:lstStyle/>
            <a:p>
              <a:pPr algn="l">
                <a:lnSpc>
                  <a:spcPts val="2478"/>
                </a:lnSpc>
              </a:pPr>
              <a:r>
                <a:rPr lang="en-US" sz="2030" b="true">
                  <a:solidFill>
                    <a:srgbClr val="B5505A"/>
                  </a:solidFill>
                  <a:latin typeface="TT Commons Pro Bold"/>
                  <a:ea typeface="TT Commons Pro Bold"/>
                  <a:cs typeface="TT Commons Pro Bold"/>
                  <a:sym typeface="TT Commons Pro Bold"/>
                </a:rPr>
                <a:t>Analyse Delivery &amp;</a:t>
              </a:r>
            </a:p>
            <a:p>
              <a:pPr algn="l">
                <a:lnSpc>
                  <a:spcPts val="2478"/>
                </a:lnSpc>
              </a:pPr>
              <a:r>
                <a:rPr lang="en-US" sz="2030" b="true">
                  <a:solidFill>
                    <a:srgbClr val="B5505A"/>
                  </a:solidFill>
                  <a:latin typeface="TT Commons Pro Bold"/>
                  <a:ea typeface="TT Commons Pro Bold"/>
                  <a:cs typeface="TT Commons Pro Bold"/>
                  <a:sym typeface="TT Commons Pro Bold"/>
                </a:rPr>
                <a:t>Pricing</a:t>
              </a:r>
            </a:p>
          </p:txBody>
        </p:sp>
      </p:grpSp>
      <p:grpSp>
        <p:nvGrpSpPr>
          <p:cNvPr name="Group 172" id="172"/>
          <p:cNvGrpSpPr/>
          <p:nvPr/>
        </p:nvGrpSpPr>
        <p:grpSpPr>
          <a:xfrm rot="0">
            <a:off x="473974" y="2515695"/>
            <a:ext cx="3361563" cy="4870990"/>
            <a:chOff x="0" y="0"/>
            <a:chExt cx="4482084" cy="6494653"/>
          </a:xfrm>
        </p:grpSpPr>
        <p:sp>
          <p:nvSpPr>
            <p:cNvPr name="Freeform 173" id="173" descr="preencoded.png"/>
            <p:cNvSpPr/>
            <p:nvPr/>
          </p:nvSpPr>
          <p:spPr>
            <a:xfrm flipH="false" flipV="false" rot="0">
              <a:off x="0" y="0"/>
              <a:ext cx="4482084" cy="6494653"/>
            </a:xfrm>
            <a:custGeom>
              <a:avLst/>
              <a:gdLst/>
              <a:ahLst/>
              <a:cxnLst/>
              <a:rect r="r" b="b" t="t" l="l"/>
              <a:pathLst>
                <a:path h="6494653" w="4482084">
                  <a:moveTo>
                    <a:pt x="0" y="0"/>
                  </a:moveTo>
                  <a:lnTo>
                    <a:pt x="4482084" y="0"/>
                  </a:lnTo>
                  <a:lnTo>
                    <a:pt x="4482084" y="6494653"/>
                  </a:lnTo>
                  <a:lnTo>
                    <a:pt x="0" y="6494653"/>
                  </a:lnTo>
                  <a:lnTo>
                    <a:pt x="0" y="0"/>
                  </a:lnTo>
                  <a:close/>
                </a:path>
              </a:pathLst>
            </a:custGeom>
            <a:blipFill>
              <a:blip r:embed="rId47"/>
              <a:stretch>
                <a:fillRect l="0" t="-54" r="0" b="-54"/>
              </a:stretch>
            </a:blipFill>
          </p:spPr>
        </p:sp>
      </p:grpSp>
      <p:grpSp>
        <p:nvGrpSpPr>
          <p:cNvPr name="Group 174" id="174"/>
          <p:cNvGrpSpPr/>
          <p:nvPr/>
        </p:nvGrpSpPr>
        <p:grpSpPr>
          <a:xfrm rot="0">
            <a:off x="3784483" y="5082435"/>
            <a:ext cx="5177218" cy="2800064"/>
            <a:chOff x="0" y="0"/>
            <a:chExt cx="6902958" cy="3733419"/>
          </a:xfrm>
        </p:grpSpPr>
        <p:sp>
          <p:nvSpPr>
            <p:cNvPr name="Freeform 175" id="175" descr="preencoded.png"/>
            <p:cNvSpPr/>
            <p:nvPr/>
          </p:nvSpPr>
          <p:spPr>
            <a:xfrm flipH="false" flipV="false" rot="0">
              <a:off x="0" y="0"/>
              <a:ext cx="6902958" cy="3733419"/>
            </a:xfrm>
            <a:custGeom>
              <a:avLst/>
              <a:gdLst/>
              <a:ahLst/>
              <a:cxnLst/>
              <a:rect r="r" b="b" t="t" l="l"/>
              <a:pathLst>
                <a:path h="3733419" w="6902958">
                  <a:moveTo>
                    <a:pt x="0" y="0"/>
                  </a:moveTo>
                  <a:lnTo>
                    <a:pt x="6902958" y="0"/>
                  </a:lnTo>
                  <a:lnTo>
                    <a:pt x="6902958" y="3733419"/>
                  </a:lnTo>
                  <a:lnTo>
                    <a:pt x="0" y="3733419"/>
                  </a:lnTo>
                  <a:lnTo>
                    <a:pt x="0" y="0"/>
                  </a:lnTo>
                  <a:close/>
                </a:path>
              </a:pathLst>
            </a:custGeom>
            <a:blipFill>
              <a:blip r:embed="rId48"/>
              <a:stretch>
                <a:fillRect l="0" t="-58" r="0" b="-57"/>
              </a:stretch>
            </a:blipFill>
          </p:spPr>
        </p:sp>
      </p:grpSp>
      <p:grpSp>
        <p:nvGrpSpPr>
          <p:cNvPr name="Group 176" id="176"/>
          <p:cNvGrpSpPr/>
          <p:nvPr/>
        </p:nvGrpSpPr>
        <p:grpSpPr>
          <a:xfrm rot="0">
            <a:off x="6030373" y="6190793"/>
            <a:ext cx="466725" cy="51054"/>
            <a:chOff x="0" y="0"/>
            <a:chExt cx="622300" cy="68072"/>
          </a:xfrm>
        </p:grpSpPr>
        <p:sp>
          <p:nvSpPr>
            <p:cNvPr name="Freeform 177" id="177" descr="preencoded.png"/>
            <p:cNvSpPr/>
            <p:nvPr/>
          </p:nvSpPr>
          <p:spPr>
            <a:xfrm flipH="false" flipV="false" rot="0">
              <a:off x="0" y="0"/>
              <a:ext cx="622300" cy="68072"/>
            </a:xfrm>
            <a:custGeom>
              <a:avLst/>
              <a:gdLst/>
              <a:ahLst/>
              <a:cxnLst/>
              <a:rect r="r" b="b" t="t" l="l"/>
              <a:pathLst>
                <a:path h="68072" w="622300">
                  <a:moveTo>
                    <a:pt x="0" y="0"/>
                  </a:moveTo>
                  <a:lnTo>
                    <a:pt x="622300" y="0"/>
                  </a:lnTo>
                  <a:lnTo>
                    <a:pt x="622300" y="68072"/>
                  </a:lnTo>
                  <a:lnTo>
                    <a:pt x="0" y="68072"/>
                  </a:lnTo>
                  <a:lnTo>
                    <a:pt x="0" y="0"/>
                  </a:lnTo>
                  <a:close/>
                </a:path>
              </a:pathLst>
            </a:custGeom>
            <a:blipFill>
              <a:blip r:embed="rId49"/>
              <a:stretch>
                <a:fillRect l="0" t="-4123" r="0" b="-4141"/>
              </a:stretch>
            </a:blipFill>
          </p:spPr>
        </p:sp>
      </p:grpSp>
      <p:grpSp>
        <p:nvGrpSpPr>
          <p:cNvPr name="Group 178" id="178"/>
          <p:cNvGrpSpPr/>
          <p:nvPr/>
        </p:nvGrpSpPr>
        <p:grpSpPr>
          <a:xfrm rot="0">
            <a:off x="4032399" y="5702236"/>
            <a:ext cx="1509427" cy="1509427"/>
            <a:chOff x="0" y="0"/>
            <a:chExt cx="2012569" cy="2012569"/>
          </a:xfrm>
        </p:grpSpPr>
        <p:sp>
          <p:nvSpPr>
            <p:cNvPr name="Freeform 179" id="179" descr="preencoded.png"/>
            <p:cNvSpPr/>
            <p:nvPr/>
          </p:nvSpPr>
          <p:spPr>
            <a:xfrm flipH="false" flipV="false" rot="0">
              <a:off x="0" y="0"/>
              <a:ext cx="2012569" cy="2012569"/>
            </a:xfrm>
            <a:custGeom>
              <a:avLst/>
              <a:gdLst/>
              <a:ahLst/>
              <a:cxnLst/>
              <a:rect r="r" b="b" t="t" l="l"/>
              <a:pathLst>
                <a:path h="2012569" w="2012569">
                  <a:moveTo>
                    <a:pt x="0" y="0"/>
                  </a:moveTo>
                  <a:lnTo>
                    <a:pt x="2012569" y="0"/>
                  </a:lnTo>
                  <a:lnTo>
                    <a:pt x="2012569" y="2012569"/>
                  </a:lnTo>
                  <a:lnTo>
                    <a:pt x="0" y="2012569"/>
                  </a:lnTo>
                  <a:lnTo>
                    <a:pt x="0" y="0"/>
                  </a:lnTo>
                  <a:close/>
                </a:path>
              </a:pathLst>
            </a:custGeom>
            <a:blipFill>
              <a:blip r:embed="rId50"/>
              <a:stretch>
                <a:fillRect l="0" t="0" r="0" b="0"/>
              </a:stretch>
            </a:blipFill>
          </p:spPr>
        </p:sp>
      </p:grpSp>
      <p:grpSp>
        <p:nvGrpSpPr>
          <p:cNvPr name="Group 180" id="180"/>
          <p:cNvGrpSpPr/>
          <p:nvPr/>
        </p:nvGrpSpPr>
        <p:grpSpPr>
          <a:xfrm rot="0">
            <a:off x="5352231" y="5315769"/>
            <a:ext cx="481298" cy="466725"/>
            <a:chOff x="0" y="0"/>
            <a:chExt cx="641731" cy="622300"/>
          </a:xfrm>
        </p:grpSpPr>
        <p:sp>
          <p:nvSpPr>
            <p:cNvPr name="Freeform 181" id="181" descr="preencoded.png"/>
            <p:cNvSpPr/>
            <p:nvPr/>
          </p:nvSpPr>
          <p:spPr>
            <a:xfrm flipH="false" flipV="false" rot="0">
              <a:off x="0" y="0"/>
              <a:ext cx="641731" cy="622300"/>
            </a:xfrm>
            <a:custGeom>
              <a:avLst/>
              <a:gdLst/>
              <a:ahLst/>
              <a:cxnLst/>
              <a:rect r="r" b="b" t="t" l="l"/>
              <a:pathLst>
                <a:path h="622300" w="641731">
                  <a:moveTo>
                    <a:pt x="0" y="0"/>
                  </a:moveTo>
                  <a:lnTo>
                    <a:pt x="641731" y="0"/>
                  </a:lnTo>
                  <a:lnTo>
                    <a:pt x="641731" y="622300"/>
                  </a:lnTo>
                  <a:lnTo>
                    <a:pt x="0" y="622300"/>
                  </a:lnTo>
                  <a:lnTo>
                    <a:pt x="0" y="0"/>
                  </a:lnTo>
                  <a:close/>
                </a:path>
              </a:pathLst>
            </a:custGeom>
            <a:blipFill>
              <a:blip r:embed="rId51"/>
              <a:stretch>
                <a:fillRect l="-350" t="0" r="-352" b="0"/>
              </a:stretch>
            </a:blipFill>
          </p:spPr>
        </p:sp>
      </p:grpSp>
      <p:grpSp>
        <p:nvGrpSpPr>
          <p:cNvPr name="Group 182" id="182"/>
          <p:cNvGrpSpPr/>
          <p:nvPr/>
        </p:nvGrpSpPr>
        <p:grpSpPr>
          <a:xfrm rot="0">
            <a:off x="5417858" y="5302444"/>
            <a:ext cx="627097" cy="524237"/>
            <a:chOff x="0" y="0"/>
            <a:chExt cx="836130" cy="698983"/>
          </a:xfrm>
        </p:grpSpPr>
        <p:sp>
          <p:nvSpPr>
            <p:cNvPr name="Freeform 183" id="183"/>
            <p:cNvSpPr/>
            <p:nvPr/>
          </p:nvSpPr>
          <p:spPr>
            <a:xfrm flipH="false" flipV="false" rot="0">
              <a:off x="0" y="0"/>
              <a:ext cx="836168" cy="699008"/>
            </a:xfrm>
            <a:custGeom>
              <a:avLst/>
              <a:gdLst/>
              <a:ahLst/>
              <a:cxnLst/>
              <a:rect r="r" b="b" t="t" l="l"/>
              <a:pathLst>
                <a:path h="699008" w="836168">
                  <a:moveTo>
                    <a:pt x="0" y="0"/>
                  </a:moveTo>
                  <a:lnTo>
                    <a:pt x="836168" y="0"/>
                  </a:lnTo>
                  <a:lnTo>
                    <a:pt x="836168" y="699008"/>
                  </a:lnTo>
                  <a:lnTo>
                    <a:pt x="0" y="699008"/>
                  </a:lnTo>
                  <a:close/>
                </a:path>
              </a:pathLst>
            </a:custGeom>
            <a:blipFill>
              <a:blip r:embed="rId4">
                <a:alphaModFix amt="0"/>
              </a:blip>
              <a:stretch>
                <a:fillRect l="-57331" t="0" r="-57325" b="3"/>
              </a:stretch>
            </a:blipFill>
          </p:spPr>
        </p:sp>
      </p:grpSp>
      <p:grpSp>
        <p:nvGrpSpPr>
          <p:cNvPr name="Group 184" id="184"/>
          <p:cNvGrpSpPr/>
          <p:nvPr/>
        </p:nvGrpSpPr>
        <p:grpSpPr>
          <a:xfrm rot="0">
            <a:off x="5417858" y="5381025"/>
            <a:ext cx="627097" cy="445656"/>
            <a:chOff x="0" y="0"/>
            <a:chExt cx="836130" cy="594208"/>
          </a:xfrm>
        </p:grpSpPr>
        <p:sp>
          <p:nvSpPr>
            <p:cNvPr name="Freeform 185" id="185"/>
            <p:cNvSpPr/>
            <p:nvPr/>
          </p:nvSpPr>
          <p:spPr>
            <a:xfrm flipH="false" flipV="false" rot="0">
              <a:off x="0" y="0"/>
              <a:ext cx="836129" cy="594205"/>
            </a:xfrm>
            <a:custGeom>
              <a:avLst/>
              <a:gdLst/>
              <a:ahLst/>
              <a:cxnLst/>
              <a:rect r="r" b="b" t="t" l="l"/>
              <a:pathLst>
                <a:path h="594205" w="836129">
                  <a:moveTo>
                    <a:pt x="0" y="0"/>
                  </a:moveTo>
                  <a:lnTo>
                    <a:pt x="836129" y="0"/>
                  </a:lnTo>
                  <a:lnTo>
                    <a:pt x="836129" y="594205"/>
                  </a:lnTo>
                  <a:lnTo>
                    <a:pt x="0" y="594205"/>
                  </a:lnTo>
                  <a:close/>
                </a:path>
              </a:pathLst>
            </a:custGeom>
            <a:blipFill>
              <a:blip r:embed="rId5">
                <a:alphaModFix amt="0"/>
              </a:blip>
              <a:stretch>
                <a:fillRect l="-41180" t="0" r="-41180" b="0"/>
              </a:stretch>
            </a:blipFill>
          </p:spPr>
        </p:sp>
        <p:sp>
          <p:nvSpPr>
            <p:cNvPr name="TextBox 186" id="186"/>
            <p:cNvSpPr txBox="true"/>
            <p:nvPr/>
          </p:nvSpPr>
          <p:spPr>
            <a:xfrm>
              <a:off x="0" y="104775"/>
              <a:ext cx="836130" cy="489433"/>
            </a:xfrm>
            <a:prstGeom prst="rect">
              <a:avLst/>
            </a:prstGeom>
          </p:spPr>
          <p:txBody>
            <a:bodyPr anchor="ctr" rtlCol="false" tIns="0" lIns="0" bIns="0" rIns="0"/>
            <a:lstStyle/>
            <a:p>
              <a:pPr algn="l">
                <a:lnSpc>
                  <a:spcPts val="1857"/>
                </a:lnSpc>
              </a:pPr>
              <a:r>
                <a:rPr lang="en-US" sz="2452" b="true">
                  <a:solidFill>
                    <a:srgbClr val="F2C196"/>
                  </a:solidFill>
                  <a:latin typeface="TT Commons Pro Bold"/>
                  <a:ea typeface="TT Commons Pro Bold"/>
                  <a:cs typeface="TT Commons Pro Bold"/>
                  <a:sym typeface="TT Commons Pro Bold"/>
                </a:rPr>
                <a:t>03</a:t>
              </a:r>
            </a:p>
          </p:txBody>
        </p:sp>
      </p:grpSp>
      <p:grpSp>
        <p:nvGrpSpPr>
          <p:cNvPr name="Group 187" id="187"/>
          <p:cNvGrpSpPr/>
          <p:nvPr/>
        </p:nvGrpSpPr>
        <p:grpSpPr>
          <a:xfrm rot="0">
            <a:off x="5683596" y="6271012"/>
            <a:ext cx="3062583" cy="1137533"/>
            <a:chOff x="0" y="0"/>
            <a:chExt cx="4083444" cy="1516710"/>
          </a:xfrm>
        </p:grpSpPr>
        <p:sp>
          <p:nvSpPr>
            <p:cNvPr name="Freeform 188" id="188"/>
            <p:cNvSpPr/>
            <p:nvPr/>
          </p:nvSpPr>
          <p:spPr>
            <a:xfrm flipH="false" flipV="false" rot="0">
              <a:off x="0" y="0"/>
              <a:ext cx="4083431" cy="1516761"/>
            </a:xfrm>
            <a:custGeom>
              <a:avLst/>
              <a:gdLst/>
              <a:ahLst/>
              <a:cxnLst/>
              <a:rect r="r" b="b" t="t" l="l"/>
              <a:pathLst>
                <a:path h="1516761" w="4083431">
                  <a:moveTo>
                    <a:pt x="0" y="0"/>
                  </a:moveTo>
                  <a:lnTo>
                    <a:pt x="4083431" y="0"/>
                  </a:lnTo>
                  <a:lnTo>
                    <a:pt x="4083431" y="1516761"/>
                  </a:lnTo>
                  <a:lnTo>
                    <a:pt x="0" y="1516761"/>
                  </a:lnTo>
                  <a:close/>
                </a:path>
              </a:pathLst>
            </a:custGeom>
            <a:blipFill>
              <a:blip r:embed="rId4">
                <a:alphaModFix amt="0"/>
              </a:blip>
              <a:stretch>
                <a:fillRect l="0" t="-2423" r="0" b="-2419"/>
              </a:stretch>
            </a:blipFill>
          </p:spPr>
        </p:sp>
      </p:grpSp>
      <p:grpSp>
        <p:nvGrpSpPr>
          <p:cNvPr name="Group 189" id="189"/>
          <p:cNvGrpSpPr/>
          <p:nvPr/>
        </p:nvGrpSpPr>
        <p:grpSpPr>
          <a:xfrm rot="0">
            <a:off x="5683596" y="6249581"/>
            <a:ext cx="3062583" cy="1158964"/>
            <a:chOff x="0" y="0"/>
            <a:chExt cx="4083444" cy="1545285"/>
          </a:xfrm>
        </p:grpSpPr>
        <p:sp>
          <p:nvSpPr>
            <p:cNvPr name="Freeform 190" id="190"/>
            <p:cNvSpPr/>
            <p:nvPr/>
          </p:nvSpPr>
          <p:spPr>
            <a:xfrm flipH="false" flipV="false" rot="0">
              <a:off x="0" y="0"/>
              <a:ext cx="4083444" cy="1545283"/>
            </a:xfrm>
            <a:custGeom>
              <a:avLst/>
              <a:gdLst/>
              <a:ahLst/>
              <a:cxnLst/>
              <a:rect r="r" b="b" t="t" l="l"/>
              <a:pathLst>
                <a:path h="1545283" w="4083444">
                  <a:moveTo>
                    <a:pt x="0" y="0"/>
                  </a:moveTo>
                  <a:lnTo>
                    <a:pt x="4083444" y="0"/>
                  </a:lnTo>
                  <a:lnTo>
                    <a:pt x="4083444" y="1545283"/>
                  </a:lnTo>
                  <a:lnTo>
                    <a:pt x="0" y="1545283"/>
                  </a:lnTo>
                  <a:close/>
                </a:path>
              </a:pathLst>
            </a:custGeom>
            <a:blipFill>
              <a:blip r:embed="rId5">
                <a:alphaModFix amt="0"/>
              </a:blip>
              <a:stretch>
                <a:fillRect l="0" t="-1489" r="0" b="-1489"/>
              </a:stretch>
            </a:blipFill>
          </p:spPr>
        </p:sp>
        <p:sp>
          <p:nvSpPr>
            <p:cNvPr name="TextBox 191" id="191"/>
            <p:cNvSpPr txBox="true"/>
            <p:nvPr/>
          </p:nvSpPr>
          <p:spPr>
            <a:xfrm>
              <a:off x="0" y="-28575"/>
              <a:ext cx="4083444" cy="1573860"/>
            </a:xfrm>
            <a:prstGeom prst="rect">
              <a:avLst/>
            </a:prstGeom>
          </p:spPr>
          <p:txBody>
            <a:bodyPr anchor="ctr" rtlCol="false" tIns="0" lIns="0" bIns="0" rIns="0"/>
            <a:lstStyle/>
            <a:p>
              <a:pPr algn="l">
                <a:lnSpc>
                  <a:spcPts val="1959"/>
                </a:lnSpc>
              </a:pPr>
              <a:r>
                <a:rPr lang="en-US" sz="1399" b="true">
                  <a:solidFill>
                    <a:srgbClr val="777574"/>
                  </a:solidFill>
                  <a:latin typeface="TT Commons Pro Bold"/>
                  <a:ea typeface="TT Commons Pro Bold"/>
                  <a:cs typeface="TT Commons Pro Bold"/>
                  <a:sym typeface="TT Commons Pro Bold"/>
                </a:rPr>
                <a:t>Analyse restaurant ratings, total</a:t>
              </a:r>
            </a:p>
            <a:p>
              <a:pPr algn="l">
                <a:lnSpc>
                  <a:spcPts val="1959"/>
                </a:lnSpc>
              </a:pPr>
              <a:r>
                <a:rPr lang="en-US" sz="1399" b="true">
                  <a:solidFill>
                    <a:srgbClr val="777574"/>
                  </a:solidFill>
                  <a:latin typeface="TT Commons Pro Bold"/>
                  <a:ea typeface="TT Commons Pro Bold"/>
                  <a:cs typeface="TT Commons Pro Bold"/>
                  <a:sym typeface="TT Commons Pro Bold"/>
                </a:rPr>
                <a:t>reviews, cuisines, restaurant</a:t>
              </a:r>
            </a:p>
            <a:p>
              <a:pPr algn="l">
                <a:lnSpc>
                  <a:spcPts val="1959"/>
                </a:lnSpc>
              </a:pPr>
              <a:r>
                <a:rPr lang="en-US" sz="1399" b="true">
                  <a:solidFill>
                    <a:srgbClr val="777574"/>
                  </a:solidFill>
                  <a:latin typeface="TT Commons Pro Bold"/>
                  <a:ea typeface="TT Commons Pro Bold"/>
                  <a:cs typeface="TT Commons Pro Bold"/>
                  <a:sym typeface="TT Commons Pro Bold"/>
                </a:rPr>
                <a:t>type, amenities, and operational</a:t>
              </a:r>
            </a:p>
            <a:p>
              <a:pPr algn="l">
                <a:lnSpc>
                  <a:spcPts val="1959"/>
                </a:lnSpc>
              </a:pPr>
              <a:r>
                <a:rPr lang="en-US" sz="1399" b="true">
                  <a:solidFill>
                    <a:srgbClr val="777574"/>
                  </a:solidFill>
                  <a:latin typeface="TT Commons Pro Bold"/>
                  <a:ea typeface="TT Commons Pro Bold"/>
                  <a:cs typeface="TT Commons Pro Bold"/>
                  <a:sym typeface="TT Commons Pro Bold"/>
                </a:rPr>
                <a:t>details from the dataset.</a:t>
              </a:r>
            </a:p>
          </p:txBody>
        </p:sp>
      </p:grpSp>
      <p:grpSp>
        <p:nvGrpSpPr>
          <p:cNvPr name="Group 192" id="192"/>
          <p:cNvGrpSpPr/>
          <p:nvPr/>
        </p:nvGrpSpPr>
        <p:grpSpPr>
          <a:xfrm rot="0">
            <a:off x="6044956" y="5315769"/>
            <a:ext cx="2719864" cy="730358"/>
            <a:chOff x="0" y="0"/>
            <a:chExt cx="3626485" cy="973811"/>
          </a:xfrm>
        </p:grpSpPr>
        <p:sp>
          <p:nvSpPr>
            <p:cNvPr name="Freeform 193" id="193"/>
            <p:cNvSpPr/>
            <p:nvPr/>
          </p:nvSpPr>
          <p:spPr>
            <a:xfrm flipH="false" flipV="false" rot="0">
              <a:off x="0" y="0"/>
              <a:ext cx="3626485" cy="973836"/>
            </a:xfrm>
            <a:custGeom>
              <a:avLst/>
              <a:gdLst/>
              <a:ahLst/>
              <a:cxnLst/>
              <a:rect r="r" b="b" t="t" l="l"/>
              <a:pathLst>
                <a:path h="973836" w="3626485">
                  <a:moveTo>
                    <a:pt x="0" y="0"/>
                  </a:moveTo>
                  <a:lnTo>
                    <a:pt x="3626485" y="0"/>
                  </a:lnTo>
                  <a:lnTo>
                    <a:pt x="3626485" y="973836"/>
                  </a:lnTo>
                  <a:lnTo>
                    <a:pt x="0" y="973836"/>
                  </a:lnTo>
                  <a:close/>
                </a:path>
              </a:pathLst>
            </a:custGeom>
            <a:blipFill>
              <a:blip r:embed="rId4">
                <a:alphaModFix amt="0"/>
              </a:blip>
              <a:stretch>
                <a:fillRect l="0" t="-22511" r="0" b="-22509"/>
              </a:stretch>
            </a:blipFill>
          </p:spPr>
        </p:sp>
      </p:grpSp>
      <p:grpSp>
        <p:nvGrpSpPr>
          <p:cNvPr name="Group 194" id="194"/>
          <p:cNvGrpSpPr/>
          <p:nvPr/>
        </p:nvGrpSpPr>
        <p:grpSpPr>
          <a:xfrm rot="0">
            <a:off x="6044956" y="5308625"/>
            <a:ext cx="2719864" cy="737502"/>
            <a:chOff x="0" y="0"/>
            <a:chExt cx="3626485" cy="983336"/>
          </a:xfrm>
        </p:grpSpPr>
        <p:sp>
          <p:nvSpPr>
            <p:cNvPr name="Freeform 195" id="195"/>
            <p:cNvSpPr/>
            <p:nvPr/>
          </p:nvSpPr>
          <p:spPr>
            <a:xfrm flipH="false" flipV="false" rot="0">
              <a:off x="0" y="0"/>
              <a:ext cx="3626485" cy="983330"/>
            </a:xfrm>
            <a:custGeom>
              <a:avLst/>
              <a:gdLst/>
              <a:ahLst/>
              <a:cxnLst/>
              <a:rect r="r" b="b" t="t" l="l"/>
              <a:pathLst>
                <a:path h="983330" w="3626485">
                  <a:moveTo>
                    <a:pt x="0" y="0"/>
                  </a:moveTo>
                  <a:lnTo>
                    <a:pt x="3626485" y="0"/>
                  </a:lnTo>
                  <a:lnTo>
                    <a:pt x="3626485" y="983330"/>
                  </a:lnTo>
                  <a:lnTo>
                    <a:pt x="0" y="983330"/>
                  </a:lnTo>
                  <a:close/>
                </a:path>
              </a:pathLst>
            </a:custGeom>
            <a:blipFill>
              <a:blip r:embed="rId5">
                <a:alphaModFix amt="0"/>
              </a:blip>
              <a:stretch>
                <a:fillRect l="0" t="-21859" r="0" b="-21860"/>
              </a:stretch>
            </a:blipFill>
          </p:spPr>
        </p:sp>
        <p:sp>
          <p:nvSpPr>
            <p:cNvPr name="TextBox 196" id="196"/>
            <p:cNvSpPr txBox="true"/>
            <p:nvPr/>
          </p:nvSpPr>
          <p:spPr>
            <a:xfrm>
              <a:off x="0" y="-9525"/>
              <a:ext cx="3626485" cy="992861"/>
            </a:xfrm>
            <a:prstGeom prst="rect">
              <a:avLst/>
            </a:prstGeom>
          </p:spPr>
          <p:txBody>
            <a:bodyPr anchor="ctr" rtlCol="false" tIns="0" lIns="0" bIns="0" rIns="0"/>
            <a:lstStyle/>
            <a:p>
              <a:pPr algn="l">
                <a:lnSpc>
                  <a:spcPts val="2403"/>
                </a:lnSpc>
              </a:pPr>
              <a:r>
                <a:rPr lang="en-US" sz="1965" b="true">
                  <a:solidFill>
                    <a:srgbClr val="D38358"/>
                  </a:solidFill>
                  <a:latin typeface="TT Commons Pro Bold"/>
                  <a:ea typeface="TT Commons Pro Bold"/>
                  <a:cs typeface="TT Commons Pro Bold"/>
                  <a:sym typeface="TT Commons Pro Bold"/>
                </a:rPr>
                <a:t>Evaluate Customer &amp;</a:t>
              </a:r>
            </a:p>
            <a:p>
              <a:pPr algn="l">
                <a:lnSpc>
                  <a:spcPts val="2403"/>
                </a:lnSpc>
              </a:pPr>
              <a:r>
                <a:rPr lang="en-US" sz="1965" b="true">
                  <a:solidFill>
                    <a:srgbClr val="D38358"/>
                  </a:solidFill>
                  <a:latin typeface="TT Commons Pro Bold"/>
                  <a:ea typeface="TT Commons Pro Bold"/>
                  <a:cs typeface="TT Commons Pro Bold"/>
                  <a:sym typeface="TT Commons Pro Bold"/>
                </a:rPr>
                <a:t>Restaurant Data</a:t>
              </a:r>
            </a:p>
          </p:txBody>
        </p:sp>
      </p:grpSp>
      <p:grpSp>
        <p:nvGrpSpPr>
          <p:cNvPr name="Group 197" id="197"/>
          <p:cNvGrpSpPr/>
          <p:nvPr/>
        </p:nvGrpSpPr>
        <p:grpSpPr>
          <a:xfrm rot="0">
            <a:off x="1064609" y="6628305"/>
            <a:ext cx="167735" cy="189548"/>
            <a:chOff x="0" y="0"/>
            <a:chExt cx="223647" cy="252730"/>
          </a:xfrm>
        </p:grpSpPr>
        <p:sp>
          <p:nvSpPr>
            <p:cNvPr name="Freeform 198" id="198" descr="preencoded.png"/>
            <p:cNvSpPr/>
            <p:nvPr/>
          </p:nvSpPr>
          <p:spPr>
            <a:xfrm flipH="false" flipV="false" rot="0">
              <a:off x="0" y="0"/>
              <a:ext cx="223647" cy="252730"/>
            </a:xfrm>
            <a:custGeom>
              <a:avLst/>
              <a:gdLst/>
              <a:ahLst/>
              <a:cxnLst/>
              <a:rect r="r" b="b" t="t" l="l"/>
              <a:pathLst>
                <a:path h="252730" w="223647">
                  <a:moveTo>
                    <a:pt x="0" y="0"/>
                  </a:moveTo>
                  <a:lnTo>
                    <a:pt x="223647" y="0"/>
                  </a:lnTo>
                  <a:lnTo>
                    <a:pt x="223647" y="252730"/>
                  </a:lnTo>
                  <a:lnTo>
                    <a:pt x="0" y="252730"/>
                  </a:lnTo>
                  <a:lnTo>
                    <a:pt x="0" y="0"/>
                  </a:lnTo>
                  <a:close/>
                </a:path>
              </a:pathLst>
            </a:custGeom>
            <a:blipFill>
              <a:blip r:embed="rId52"/>
              <a:stretch>
                <a:fillRect l="0" t="-567" r="0" b="-567"/>
              </a:stretch>
            </a:blipFill>
          </p:spPr>
        </p:sp>
      </p:grpSp>
      <p:grpSp>
        <p:nvGrpSpPr>
          <p:cNvPr name="Group 199" id="199"/>
          <p:cNvGrpSpPr/>
          <p:nvPr/>
        </p:nvGrpSpPr>
        <p:grpSpPr>
          <a:xfrm rot="0">
            <a:off x="2027139" y="6132462"/>
            <a:ext cx="255213" cy="125111"/>
            <a:chOff x="0" y="0"/>
            <a:chExt cx="340284" cy="166814"/>
          </a:xfrm>
        </p:grpSpPr>
        <p:sp>
          <p:nvSpPr>
            <p:cNvPr name="Freeform 200" id="200"/>
            <p:cNvSpPr/>
            <p:nvPr/>
          </p:nvSpPr>
          <p:spPr>
            <a:xfrm flipH="false" flipV="false" rot="0">
              <a:off x="0" y="0"/>
              <a:ext cx="340233" cy="166751"/>
            </a:xfrm>
            <a:custGeom>
              <a:avLst/>
              <a:gdLst/>
              <a:ahLst/>
              <a:cxnLst/>
              <a:rect r="r" b="b" t="t" l="l"/>
              <a:pathLst>
                <a:path h="166751" w="340233">
                  <a:moveTo>
                    <a:pt x="0" y="0"/>
                  </a:moveTo>
                  <a:lnTo>
                    <a:pt x="340233" y="0"/>
                  </a:lnTo>
                  <a:lnTo>
                    <a:pt x="340233" y="166751"/>
                  </a:lnTo>
                  <a:lnTo>
                    <a:pt x="0" y="166751"/>
                  </a:lnTo>
                  <a:close/>
                </a:path>
              </a:pathLst>
            </a:custGeom>
            <a:blipFill>
              <a:blip r:embed="rId4">
                <a:alphaModFix amt="0"/>
              </a:blip>
              <a:stretch>
                <a:fillRect l="-12941" t="0" r="-12956" b="-38"/>
              </a:stretch>
            </a:blipFill>
          </p:spPr>
        </p:sp>
      </p:grpSp>
      <p:grpSp>
        <p:nvGrpSpPr>
          <p:cNvPr name="Group 201" id="201"/>
          <p:cNvGrpSpPr/>
          <p:nvPr/>
        </p:nvGrpSpPr>
        <p:grpSpPr>
          <a:xfrm rot="0">
            <a:off x="2027139" y="6132462"/>
            <a:ext cx="255213" cy="125111"/>
            <a:chOff x="0" y="0"/>
            <a:chExt cx="340284" cy="166814"/>
          </a:xfrm>
        </p:grpSpPr>
        <p:sp>
          <p:nvSpPr>
            <p:cNvPr name="Freeform 202" id="202"/>
            <p:cNvSpPr/>
            <p:nvPr/>
          </p:nvSpPr>
          <p:spPr>
            <a:xfrm flipH="false" flipV="false" rot="0">
              <a:off x="0" y="0"/>
              <a:ext cx="340284" cy="166813"/>
            </a:xfrm>
            <a:custGeom>
              <a:avLst/>
              <a:gdLst/>
              <a:ahLst/>
              <a:cxnLst/>
              <a:rect r="r" b="b" t="t" l="l"/>
              <a:pathLst>
                <a:path h="166813" w="340284">
                  <a:moveTo>
                    <a:pt x="0" y="0"/>
                  </a:moveTo>
                  <a:lnTo>
                    <a:pt x="340284" y="0"/>
                  </a:lnTo>
                  <a:lnTo>
                    <a:pt x="340284" y="166813"/>
                  </a:lnTo>
                  <a:lnTo>
                    <a:pt x="0" y="166813"/>
                  </a:lnTo>
                  <a:close/>
                </a:path>
              </a:pathLst>
            </a:custGeom>
            <a:blipFill>
              <a:blip r:embed="rId5">
                <a:alphaModFix amt="0"/>
              </a:blip>
              <a:stretch>
                <a:fillRect l="-12897" t="0" r="-12897" b="0"/>
              </a:stretch>
            </a:blipFill>
          </p:spPr>
        </p:sp>
        <p:sp>
          <p:nvSpPr>
            <p:cNvPr name="TextBox 203" id="203"/>
            <p:cNvSpPr txBox="true"/>
            <p:nvPr/>
          </p:nvSpPr>
          <p:spPr>
            <a:xfrm>
              <a:off x="0" y="0"/>
              <a:ext cx="340284" cy="166814"/>
            </a:xfrm>
            <a:prstGeom prst="rect">
              <a:avLst/>
            </a:prstGeom>
          </p:spPr>
          <p:txBody>
            <a:bodyPr anchor="ctr" rtlCol="false" tIns="0" lIns="0" bIns="0" rIns="0"/>
            <a:lstStyle/>
            <a:p>
              <a:pPr algn="l">
                <a:lnSpc>
                  <a:spcPts val="687"/>
                </a:lnSpc>
              </a:pPr>
              <a:r>
                <a:rPr lang="en-US" sz="585">
                  <a:solidFill>
                    <a:srgbClr val="717371"/>
                  </a:solidFill>
                  <a:latin typeface="TT Commons Pro"/>
                  <a:ea typeface="TT Commons Pro"/>
                  <a:cs typeface="TT Commons Pro"/>
                  <a:sym typeface="TT Commons Pro"/>
                </a:rPr>
                <a:t>చాత్రిత</a:t>
              </a:r>
            </a:p>
          </p:txBody>
        </p:sp>
      </p:grpSp>
      <p:grpSp>
        <p:nvGrpSpPr>
          <p:cNvPr name="Group 204" id="204"/>
          <p:cNvGrpSpPr/>
          <p:nvPr/>
        </p:nvGrpSpPr>
        <p:grpSpPr>
          <a:xfrm rot="0">
            <a:off x="1268787" y="6365796"/>
            <a:ext cx="401050" cy="133902"/>
            <a:chOff x="0" y="0"/>
            <a:chExt cx="534734" cy="178537"/>
          </a:xfrm>
        </p:grpSpPr>
        <p:sp>
          <p:nvSpPr>
            <p:cNvPr name="Freeform 205" id="205"/>
            <p:cNvSpPr/>
            <p:nvPr/>
          </p:nvSpPr>
          <p:spPr>
            <a:xfrm flipH="false" flipV="false" rot="0">
              <a:off x="0" y="0"/>
              <a:ext cx="534797" cy="178562"/>
            </a:xfrm>
            <a:custGeom>
              <a:avLst/>
              <a:gdLst/>
              <a:ahLst/>
              <a:cxnLst/>
              <a:rect r="r" b="b" t="t" l="l"/>
              <a:pathLst>
                <a:path h="178562" w="534797">
                  <a:moveTo>
                    <a:pt x="0" y="0"/>
                  </a:moveTo>
                  <a:lnTo>
                    <a:pt x="534797" y="0"/>
                  </a:lnTo>
                  <a:lnTo>
                    <a:pt x="534797" y="178562"/>
                  </a:lnTo>
                  <a:lnTo>
                    <a:pt x="0" y="178562"/>
                  </a:lnTo>
                  <a:close/>
                </a:path>
              </a:pathLst>
            </a:custGeom>
            <a:blipFill>
              <a:blip r:embed="rId4">
                <a:alphaModFix amt="0"/>
              </a:blip>
              <a:stretch>
                <a:fillRect l="0" t="-8314" r="11" b="-8307"/>
              </a:stretch>
            </a:blipFill>
          </p:spPr>
        </p:sp>
      </p:grpSp>
      <p:grpSp>
        <p:nvGrpSpPr>
          <p:cNvPr name="Group 206" id="206"/>
          <p:cNvGrpSpPr/>
          <p:nvPr/>
        </p:nvGrpSpPr>
        <p:grpSpPr>
          <a:xfrm rot="0">
            <a:off x="1268787" y="6372939"/>
            <a:ext cx="401050" cy="126759"/>
            <a:chOff x="0" y="0"/>
            <a:chExt cx="534734" cy="169012"/>
          </a:xfrm>
        </p:grpSpPr>
        <p:sp>
          <p:nvSpPr>
            <p:cNvPr name="Freeform 207" id="207"/>
            <p:cNvSpPr/>
            <p:nvPr/>
          </p:nvSpPr>
          <p:spPr>
            <a:xfrm flipH="false" flipV="false" rot="0">
              <a:off x="0" y="0"/>
              <a:ext cx="534733" cy="169010"/>
            </a:xfrm>
            <a:custGeom>
              <a:avLst/>
              <a:gdLst/>
              <a:ahLst/>
              <a:cxnLst/>
              <a:rect r="r" b="b" t="t" l="l"/>
              <a:pathLst>
                <a:path h="169010" w="534733">
                  <a:moveTo>
                    <a:pt x="0" y="0"/>
                  </a:moveTo>
                  <a:lnTo>
                    <a:pt x="534733" y="0"/>
                  </a:lnTo>
                  <a:lnTo>
                    <a:pt x="534733" y="169010"/>
                  </a:lnTo>
                  <a:lnTo>
                    <a:pt x="0" y="169010"/>
                  </a:lnTo>
                  <a:close/>
                </a:path>
              </a:pathLst>
            </a:custGeom>
            <a:blipFill>
              <a:blip r:embed="rId5">
                <a:alphaModFix amt="0"/>
              </a:blip>
              <a:stretch>
                <a:fillRect l="0" t="-11648" r="0" b="-11649"/>
              </a:stretch>
            </a:blipFill>
          </p:spPr>
        </p:sp>
        <p:sp>
          <p:nvSpPr>
            <p:cNvPr name="TextBox 208" id="208"/>
            <p:cNvSpPr txBox="true"/>
            <p:nvPr/>
          </p:nvSpPr>
          <p:spPr>
            <a:xfrm>
              <a:off x="0" y="9525"/>
              <a:ext cx="534734" cy="159487"/>
            </a:xfrm>
            <a:prstGeom prst="rect">
              <a:avLst/>
            </a:prstGeom>
          </p:spPr>
          <p:txBody>
            <a:bodyPr anchor="ctr" rtlCol="false" tIns="0" lIns="0" bIns="0" rIns="0"/>
            <a:lstStyle/>
            <a:p>
              <a:pPr algn="l">
                <a:lnSpc>
                  <a:spcPts val="687"/>
                </a:lnSpc>
              </a:pPr>
              <a:r>
                <a:rPr lang="en-US" sz="626">
                  <a:solidFill>
                    <a:srgbClr val="979391"/>
                  </a:solidFill>
                  <a:latin typeface="TT Commons Pro"/>
                  <a:ea typeface="TT Commons Pro"/>
                  <a:cs typeface="TT Commons Pro"/>
                  <a:sym typeface="TT Commons Pro"/>
                </a:rPr>
                <a:t>ర్రి-ర్రి-ర్రా</a:t>
              </a:r>
            </a:p>
          </p:txBody>
        </p:sp>
      </p:grpSp>
      <p:grpSp>
        <p:nvGrpSpPr>
          <p:cNvPr name="Group 209" id="209"/>
          <p:cNvGrpSpPr/>
          <p:nvPr/>
        </p:nvGrpSpPr>
        <p:grpSpPr>
          <a:xfrm rot="0">
            <a:off x="1020861" y="5622026"/>
            <a:ext cx="867727" cy="678180"/>
            <a:chOff x="0" y="0"/>
            <a:chExt cx="1156970" cy="904240"/>
          </a:xfrm>
        </p:grpSpPr>
        <p:sp>
          <p:nvSpPr>
            <p:cNvPr name="Freeform 210" id="210" descr="preencoded.png"/>
            <p:cNvSpPr/>
            <p:nvPr/>
          </p:nvSpPr>
          <p:spPr>
            <a:xfrm flipH="false" flipV="false" rot="0">
              <a:off x="0" y="0"/>
              <a:ext cx="1156970" cy="904240"/>
            </a:xfrm>
            <a:custGeom>
              <a:avLst/>
              <a:gdLst/>
              <a:ahLst/>
              <a:cxnLst/>
              <a:rect r="r" b="b" t="t" l="l"/>
              <a:pathLst>
                <a:path h="904240" w="1156970">
                  <a:moveTo>
                    <a:pt x="0" y="0"/>
                  </a:moveTo>
                  <a:lnTo>
                    <a:pt x="1156970" y="0"/>
                  </a:lnTo>
                  <a:lnTo>
                    <a:pt x="1156970" y="904240"/>
                  </a:lnTo>
                  <a:lnTo>
                    <a:pt x="0" y="904240"/>
                  </a:lnTo>
                  <a:lnTo>
                    <a:pt x="0" y="0"/>
                  </a:lnTo>
                  <a:close/>
                </a:path>
              </a:pathLst>
            </a:custGeom>
            <a:blipFill>
              <a:blip r:embed="rId53"/>
              <a:stretch>
                <a:fillRect l="-242" t="0" r="-243" b="0"/>
              </a:stretch>
            </a:blipFill>
          </p:spPr>
        </p:sp>
      </p:grpSp>
      <p:grpSp>
        <p:nvGrpSpPr>
          <p:cNvPr name="Group 211" id="211"/>
          <p:cNvGrpSpPr/>
          <p:nvPr/>
        </p:nvGrpSpPr>
        <p:grpSpPr>
          <a:xfrm rot="0">
            <a:off x="1560462" y="6147044"/>
            <a:ext cx="291675" cy="102079"/>
            <a:chOff x="0" y="0"/>
            <a:chExt cx="388899" cy="136106"/>
          </a:xfrm>
        </p:grpSpPr>
        <p:sp>
          <p:nvSpPr>
            <p:cNvPr name="Freeform 212" id="212"/>
            <p:cNvSpPr/>
            <p:nvPr/>
          </p:nvSpPr>
          <p:spPr>
            <a:xfrm flipH="false" flipV="false" rot="0">
              <a:off x="0" y="0"/>
              <a:ext cx="388874" cy="136144"/>
            </a:xfrm>
            <a:custGeom>
              <a:avLst/>
              <a:gdLst/>
              <a:ahLst/>
              <a:cxnLst/>
              <a:rect r="r" b="b" t="t" l="l"/>
              <a:pathLst>
                <a:path h="136144" w="388874">
                  <a:moveTo>
                    <a:pt x="0" y="0"/>
                  </a:moveTo>
                  <a:lnTo>
                    <a:pt x="388874" y="0"/>
                  </a:lnTo>
                  <a:lnTo>
                    <a:pt x="388874" y="136144"/>
                  </a:lnTo>
                  <a:lnTo>
                    <a:pt x="0" y="136144"/>
                  </a:lnTo>
                  <a:close/>
                </a:path>
              </a:pathLst>
            </a:custGeom>
            <a:blipFill>
              <a:blip r:embed="rId4">
                <a:alphaModFix amt="0"/>
              </a:blip>
              <a:stretch>
                <a:fillRect l="0" t="-5634" r="-6" b="-5606"/>
              </a:stretch>
            </a:blipFill>
          </p:spPr>
        </p:sp>
      </p:grpSp>
      <p:grpSp>
        <p:nvGrpSpPr>
          <p:cNvPr name="Group 213" id="213"/>
          <p:cNvGrpSpPr/>
          <p:nvPr/>
        </p:nvGrpSpPr>
        <p:grpSpPr>
          <a:xfrm rot="0">
            <a:off x="1560462" y="6125613"/>
            <a:ext cx="291675" cy="123520"/>
            <a:chOff x="0" y="0"/>
            <a:chExt cx="388899" cy="164694"/>
          </a:xfrm>
        </p:grpSpPr>
        <p:sp>
          <p:nvSpPr>
            <p:cNvPr name="Freeform 214" id="214"/>
            <p:cNvSpPr/>
            <p:nvPr/>
          </p:nvSpPr>
          <p:spPr>
            <a:xfrm flipH="false" flipV="false" rot="0">
              <a:off x="0" y="0"/>
              <a:ext cx="388900" cy="164690"/>
            </a:xfrm>
            <a:custGeom>
              <a:avLst/>
              <a:gdLst/>
              <a:ahLst/>
              <a:cxnLst/>
              <a:rect r="r" b="b" t="t" l="l"/>
              <a:pathLst>
                <a:path h="164690" w="388900">
                  <a:moveTo>
                    <a:pt x="0" y="0"/>
                  </a:moveTo>
                  <a:lnTo>
                    <a:pt x="388900" y="0"/>
                  </a:lnTo>
                  <a:lnTo>
                    <a:pt x="388900" y="164690"/>
                  </a:lnTo>
                  <a:lnTo>
                    <a:pt x="0" y="164690"/>
                  </a:lnTo>
                  <a:close/>
                </a:path>
              </a:pathLst>
            </a:custGeom>
            <a:blipFill>
              <a:blip r:embed="rId5">
                <a:alphaModFix amt="0"/>
              </a:blip>
              <a:stretch>
                <a:fillRect l="-4334" t="0" r="-4334" b="-2"/>
              </a:stretch>
            </a:blipFill>
          </p:spPr>
        </p:sp>
        <p:sp>
          <p:nvSpPr>
            <p:cNvPr name="TextBox 215" id="215"/>
            <p:cNvSpPr txBox="true"/>
            <p:nvPr/>
          </p:nvSpPr>
          <p:spPr>
            <a:xfrm>
              <a:off x="0" y="-28575"/>
              <a:ext cx="388899" cy="193269"/>
            </a:xfrm>
            <a:prstGeom prst="rect">
              <a:avLst/>
            </a:prstGeom>
          </p:spPr>
          <p:txBody>
            <a:bodyPr anchor="ctr" rtlCol="false" tIns="0" lIns="0" bIns="0" rIns="0"/>
            <a:lstStyle/>
            <a:p>
              <a:pPr algn="l">
                <a:lnSpc>
                  <a:spcPts val="660"/>
                </a:lnSpc>
              </a:pPr>
              <a:r>
                <a:rPr lang="en-US" sz="308" b="true">
                  <a:solidFill>
                    <a:srgbClr val="5B5B58"/>
                  </a:solidFill>
                  <a:latin typeface="TT Commons Pro Bold"/>
                  <a:ea typeface="TT Commons Pro Bold"/>
                  <a:cs typeface="TT Commons Pro Bold"/>
                  <a:sym typeface="TT Commons Pro Bold"/>
                </a:rPr>
                <a:t>చీపాలు చిరుత</a:t>
              </a:r>
            </a:p>
          </p:txBody>
        </p:sp>
      </p:grpSp>
      <p:grpSp>
        <p:nvGrpSpPr>
          <p:cNvPr name="Group 216" id="216"/>
          <p:cNvGrpSpPr/>
          <p:nvPr/>
        </p:nvGrpSpPr>
        <p:grpSpPr>
          <a:xfrm rot="0">
            <a:off x="1173994" y="6161627"/>
            <a:ext cx="160420" cy="123320"/>
            <a:chOff x="0" y="0"/>
            <a:chExt cx="213893" cy="164427"/>
          </a:xfrm>
        </p:grpSpPr>
        <p:sp>
          <p:nvSpPr>
            <p:cNvPr name="Freeform 217" id="217"/>
            <p:cNvSpPr/>
            <p:nvPr/>
          </p:nvSpPr>
          <p:spPr>
            <a:xfrm flipH="false" flipV="false" rot="0">
              <a:off x="0" y="0"/>
              <a:ext cx="213868" cy="164465"/>
            </a:xfrm>
            <a:custGeom>
              <a:avLst/>
              <a:gdLst/>
              <a:ahLst/>
              <a:cxnLst/>
              <a:rect r="r" b="b" t="t" l="l"/>
              <a:pathLst>
                <a:path h="164465" w="213868">
                  <a:moveTo>
                    <a:pt x="0" y="0"/>
                  </a:moveTo>
                  <a:lnTo>
                    <a:pt x="213868" y="0"/>
                  </a:lnTo>
                  <a:lnTo>
                    <a:pt x="213868" y="164465"/>
                  </a:lnTo>
                  <a:lnTo>
                    <a:pt x="0" y="164465"/>
                  </a:lnTo>
                  <a:close/>
                </a:path>
              </a:pathLst>
            </a:custGeom>
            <a:blipFill>
              <a:blip r:embed="rId4">
                <a:alphaModFix amt="0"/>
              </a:blip>
              <a:stretch>
                <a:fillRect l="-48705" t="0" r="-48717" b="23"/>
              </a:stretch>
            </a:blipFill>
          </p:spPr>
        </p:sp>
      </p:grpSp>
      <p:grpSp>
        <p:nvGrpSpPr>
          <p:cNvPr name="Group 218" id="218"/>
          <p:cNvGrpSpPr/>
          <p:nvPr/>
        </p:nvGrpSpPr>
        <p:grpSpPr>
          <a:xfrm rot="0">
            <a:off x="1173994" y="6175915"/>
            <a:ext cx="160420" cy="109033"/>
            <a:chOff x="0" y="0"/>
            <a:chExt cx="213893" cy="145377"/>
          </a:xfrm>
        </p:grpSpPr>
        <p:sp>
          <p:nvSpPr>
            <p:cNvPr name="Freeform 219" id="219"/>
            <p:cNvSpPr/>
            <p:nvPr/>
          </p:nvSpPr>
          <p:spPr>
            <a:xfrm flipH="false" flipV="false" rot="0">
              <a:off x="0" y="0"/>
              <a:ext cx="213893" cy="145381"/>
            </a:xfrm>
            <a:custGeom>
              <a:avLst/>
              <a:gdLst/>
              <a:ahLst/>
              <a:cxnLst/>
              <a:rect r="r" b="b" t="t" l="l"/>
              <a:pathLst>
                <a:path h="145381" w="213893">
                  <a:moveTo>
                    <a:pt x="0" y="0"/>
                  </a:moveTo>
                  <a:lnTo>
                    <a:pt x="213893" y="0"/>
                  </a:lnTo>
                  <a:lnTo>
                    <a:pt x="213893" y="145381"/>
                  </a:lnTo>
                  <a:lnTo>
                    <a:pt x="0" y="145381"/>
                  </a:lnTo>
                  <a:close/>
                </a:path>
              </a:pathLst>
            </a:custGeom>
            <a:blipFill>
              <a:blip r:embed="rId5">
                <a:alphaModFix amt="0"/>
              </a:blip>
              <a:stretch>
                <a:fillRect l="-37204" t="0" r="-37204" b="2"/>
              </a:stretch>
            </a:blipFill>
          </p:spPr>
        </p:sp>
        <p:sp>
          <p:nvSpPr>
            <p:cNvPr name="TextBox 220" id="220"/>
            <p:cNvSpPr txBox="true"/>
            <p:nvPr/>
          </p:nvSpPr>
          <p:spPr>
            <a:xfrm>
              <a:off x="0" y="19050"/>
              <a:ext cx="213893" cy="126327"/>
            </a:xfrm>
            <a:prstGeom prst="rect">
              <a:avLst/>
            </a:prstGeom>
          </p:spPr>
          <p:txBody>
            <a:bodyPr anchor="ctr" rtlCol="false" tIns="0" lIns="0" bIns="0" rIns="0"/>
            <a:lstStyle/>
            <a:p>
              <a:pPr algn="ctr">
                <a:lnSpc>
                  <a:spcPts val="506"/>
                </a:lnSpc>
              </a:pPr>
              <a:r>
                <a:rPr lang="en-US" sz="602">
                  <a:solidFill>
                    <a:srgbClr val="747473"/>
                  </a:solidFill>
                  <a:latin typeface="TT Commons Pro"/>
                  <a:ea typeface="TT Commons Pro"/>
                  <a:cs typeface="TT Commons Pro"/>
                  <a:sym typeface="TT Commons Pro"/>
                </a:rPr>
                <a:t>సాడ</a:t>
              </a:r>
            </a:p>
          </p:txBody>
        </p:sp>
      </p:grpSp>
      <p:grpSp>
        <p:nvGrpSpPr>
          <p:cNvPr name="Group 221" id="221"/>
          <p:cNvGrpSpPr/>
          <p:nvPr/>
        </p:nvGrpSpPr>
        <p:grpSpPr>
          <a:xfrm rot="0">
            <a:off x="2442772" y="5009512"/>
            <a:ext cx="328136" cy="138922"/>
            <a:chOff x="0" y="0"/>
            <a:chExt cx="437515" cy="185230"/>
          </a:xfrm>
        </p:grpSpPr>
        <p:sp>
          <p:nvSpPr>
            <p:cNvPr name="Freeform 222" id="222"/>
            <p:cNvSpPr/>
            <p:nvPr/>
          </p:nvSpPr>
          <p:spPr>
            <a:xfrm flipH="false" flipV="false" rot="0">
              <a:off x="0" y="0"/>
              <a:ext cx="437515" cy="185293"/>
            </a:xfrm>
            <a:custGeom>
              <a:avLst/>
              <a:gdLst/>
              <a:ahLst/>
              <a:cxnLst/>
              <a:rect r="r" b="b" t="t" l="l"/>
              <a:pathLst>
                <a:path h="185293" w="437515">
                  <a:moveTo>
                    <a:pt x="0" y="0"/>
                  </a:moveTo>
                  <a:lnTo>
                    <a:pt x="437515" y="0"/>
                  </a:lnTo>
                  <a:lnTo>
                    <a:pt x="437515" y="185293"/>
                  </a:lnTo>
                  <a:lnTo>
                    <a:pt x="0" y="185293"/>
                  </a:lnTo>
                  <a:close/>
                </a:path>
              </a:pathLst>
            </a:custGeom>
            <a:blipFill>
              <a:blip r:embed="rId4">
                <a:alphaModFix amt="0"/>
              </a:blip>
              <a:stretch>
                <a:fillRect l="-4359" t="0" r="-4357" b="34"/>
              </a:stretch>
            </a:blipFill>
          </p:spPr>
        </p:sp>
      </p:grpSp>
      <p:grpSp>
        <p:nvGrpSpPr>
          <p:cNvPr name="Group 223" id="223"/>
          <p:cNvGrpSpPr/>
          <p:nvPr/>
        </p:nvGrpSpPr>
        <p:grpSpPr>
          <a:xfrm rot="0">
            <a:off x="2442772" y="4995224"/>
            <a:ext cx="328136" cy="153219"/>
            <a:chOff x="0" y="0"/>
            <a:chExt cx="437515" cy="204292"/>
          </a:xfrm>
        </p:grpSpPr>
        <p:sp>
          <p:nvSpPr>
            <p:cNvPr name="Freeform 224" id="224"/>
            <p:cNvSpPr/>
            <p:nvPr/>
          </p:nvSpPr>
          <p:spPr>
            <a:xfrm flipH="false" flipV="false" rot="0">
              <a:off x="0" y="0"/>
              <a:ext cx="437515" cy="204287"/>
            </a:xfrm>
            <a:custGeom>
              <a:avLst/>
              <a:gdLst/>
              <a:ahLst/>
              <a:cxnLst/>
              <a:rect r="r" b="b" t="t" l="l"/>
              <a:pathLst>
                <a:path h="204287" w="437515">
                  <a:moveTo>
                    <a:pt x="0" y="0"/>
                  </a:moveTo>
                  <a:lnTo>
                    <a:pt x="437515" y="0"/>
                  </a:lnTo>
                  <a:lnTo>
                    <a:pt x="437515" y="204287"/>
                  </a:lnTo>
                  <a:lnTo>
                    <a:pt x="0" y="204287"/>
                  </a:lnTo>
                  <a:close/>
                </a:path>
              </a:pathLst>
            </a:custGeom>
            <a:blipFill>
              <a:blip r:embed="rId5">
                <a:alphaModFix amt="0"/>
              </a:blip>
              <a:stretch>
                <a:fillRect l="-9909" t="0" r="-9909" b="-2"/>
              </a:stretch>
            </a:blipFill>
          </p:spPr>
        </p:sp>
        <p:sp>
          <p:nvSpPr>
            <p:cNvPr name="TextBox 225" id="225"/>
            <p:cNvSpPr txBox="true"/>
            <p:nvPr/>
          </p:nvSpPr>
          <p:spPr>
            <a:xfrm>
              <a:off x="0" y="-19050"/>
              <a:ext cx="437515" cy="223342"/>
            </a:xfrm>
            <a:prstGeom prst="rect">
              <a:avLst/>
            </a:prstGeom>
          </p:spPr>
          <p:txBody>
            <a:bodyPr anchor="ctr" rtlCol="false" tIns="0" lIns="0" bIns="0" rIns="0"/>
            <a:lstStyle/>
            <a:p>
              <a:pPr algn="l">
                <a:lnSpc>
                  <a:spcPts val="999"/>
                </a:lnSpc>
              </a:pPr>
              <a:r>
                <a:rPr lang="en-US" sz="654" b="true">
                  <a:solidFill>
                    <a:srgbClr val="979290"/>
                  </a:solidFill>
                  <a:latin typeface="TT Commons Pro Bold"/>
                  <a:ea typeface="TT Commons Pro Bold"/>
                  <a:cs typeface="TT Commons Pro Bold"/>
                  <a:sym typeface="TT Commons Pro Bold"/>
                </a:rPr>
                <a:t>Dineout</a:t>
              </a:r>
            </a:p>
          </p:txBody>
        </p:sp>
      </p:grpSp>
      <p:grpSp>
        <p:nvGrpSpPr>
          <p:cNvPr name="Group 226" id="226"/>
          <p:cNvGrpSpPr/>
          <p:nvPr/>
        </p:nvGrpSpPr>
        <p:grpSpPr>
          <a:xfrm rot="0">
            <a:off x="2501113" y="4717837"/>
            <a:ext cx="182308" cy="218789"/>
            <a:chOff x="0" y="0"/>
            <a:chExt cx="243078" cy="291719"/>
          </a:xfrm>
        </p:grpSpPr>
        <p:sp>
          <p:nvSpPr>
            <p:cNvPr name="Freeform 227" id="227" descr="preencoded.png"/>
            <p:cNvSpPr/>
            <p:nvPr/>
          </p:nvSpPr>
          <p:spPr>
            <a:xfrm flipH="false" flipV="false" rot="0">
              <a:off x="0" y="0"/>
              <a:ext cx="243078" cy="291719"/>
            </a:xfrm>
            <a:custGeom>
              <a:avLst/>
              <a:gdLst/>
              <a:ahLst/>
              <a:cxnLst/>
              <a:rect r="r" b="b" t="t" l="l"/>
              <a:pathLst>
                <a:path h="291719" w="243078">
                  <a:moveTo>
                    <a:pt x="0" y="0"/>
                  </a:moveTo>
                  <a:lnTo>
                    <a:pt x="243078" y="0"/>
                  </a:lnTo>
                  <a:lnTo>
                    <a:pt x="243078" y="291719"/>
                  </a:lnTo>
                  <a:lnTo>
                    <a:pt x="0" y="291719"/>
                  </a:lnTo>
                  <a:lnTo>
                    <a:pt x="0" y="0"/>
                  </a:lnTo>
                  <a:close/>
                </a:path>
              </a:pathLst>
            </a:custGeom>
            <a:blipFill>
              <a:blip r:embed="rId54"/>
              <a:stretch>
                <a:fillRect l="-4" t="0" r="-6" b="0"/>
              </a:stretch>
            </a:blipFill>
          </p:spPr>
        </p:sp>
      </p:grpSp>
      <p:grpSp>
        <p:nvGrpSpPr>
          <p:cNvPr name="Group 228" id="228"/>
          <p:cNvGrpSpPr/>
          <p:nvPr/>
        </p:nvGrpSpPr>
        <p:grpSpPr>
          <a:xfrm rot="0">
            <a:off x="1997974" y="5016808"/>
            <a:ext cx="269796" cy="170478"/>
            <a:chOff x="0" y="0"/>
            <a:chExt cx="359728" cy="227305"/>
          </a:xfrm>
        </p:grpSpPr>
        <p:sp>
          <p:nvSpPr>
            <p:cNvPr name="Freeform 229" id="229"/>
            <p:cNvSpPr/>
            <p:nvPr/>
          </p:nvSpPr>
          <p:spPr>
            <a:xfrm flipH="false" flipV="false" rot="0">
              <a:off x="0" y="0"/>
              <a:ext cx="359791" cy="227330"/>
            </a:xfrm>
            <a:custGeom>
              <a:avLst/>
              <a:gdLst/>
              <a:ahLst/>
              <a:cxnLst/>
              <a:rect r="r" b="b" t="t" l="l"/>
              <a:pathLst>
                <a:path h="227330" w="359791">
                  <a:moveTo>
                    <a:pt x="0" y="0"/>
                  </a:moveTo>
                  <a:lnTo>
                    <a:pt x="359791" y="0"/>
                  </a:lnTo>
                  <a:lnTo>
                    <a:pt x="359791" y="227330"/>
                  </a:lnTo>
                  <a:lnTo>
                    <a:pt x="0" y="227330"/>
                  </a:lnTo>
                  <a:close/>
                </a:path>
              </a:pathLst>
            </a:custGeom>
            <a:blipFill>
              <a:blip r:embed="rId4">
                <a:alphaModFix amt="0"/>
              </a:blip>
              <a:stretch>
                <a:fillRect l="-31122" t="0" r="-31104" b="11"/>
              </a:stretch>
            </a:blipFill>
          </p:spPr>
        </p:sp>
      </p:grpSp>
      <p:grpSp>
        <p:nvGrpSpPr>
          <p:cNvPr name="Group 230" id="230"/>
          <p:cNvGrpSpPr/>
          <p:nvPr/>
        </p:nvGrpSpPr>
        <p:grpSpPr>
          <a:xfrm rot="0">
            <a:off x="1997974" y="5023952"/>
            <a:ext cx="269796" cy="163335"/>
            <a:chOff x="0" y="0"/>
            <a:chExt cx="359728" cy="217780"/>
          </a:xfrm>
        </p:grpSpPr>
        <p:sp>
          <p:nvSpPr>
            <p:cNvPr name="Freeform 231" id="231"/>
            <p:cNvSpPr/>
            <p:nvPr/>
          </p:nvSpPr>
          <p:spPr>
            <a:xfrm flipH="false" flipV="false" rot="0">
              <a:off x="0" y="0"/>
              <a:ext cx="359728" cy="217782"/>
            </a:xfrm>
            <a:custGeom>
              <a:avLst/>
              <a:gdLst/>
              <a:ahLst/>
              <a:cxnLst/>
              <a:rect r="r" b="b" t="t" l="l"/>
              <a:pathLst>
                <a:path h="217782" w="359728">
                  <a:moveTo>
                    <a:pt x="0" y="0"/>
                  </a:moveTo>
                  <a:lnTo>
                    <a:pt x="359728" y="0"/>
                  </a:lnTo>
                  <a:lnTo>
                    <a:pt x="359728" y="217782"/>
                  </a:lnTo>
                  <a:lnTo>
                    <a:pt x="0" y="217782"/>
                  </a:lnTo>
                  <a:close/>
                </a:path>
              </a:pathLst>
            </a:custGeom>
            <a:blipFill>
              <a:blip r:embed="rId5">
                <a:alphaModFix amt="0"/>
              </a:blip>
              <a:stretch>
                <a:fillRect l="-27675" t="0" r="-27675" b="0"/>
              </a:stretch>
            </a:blipFill>
          </p:spPr>
        </p:sp>
        <p:sp>
          <p:nvSpPr>
            <p:cNvPr name="TextBox 232" id="232"/>
            <p:cNvSpPr txBox="true"/>
            <p:nvPr/>
          </p:nvSpPr>
          <p:spPr>
            <a:xfrm>
              <a:off x="0" y="9525"/>
              <a:ext cx="359728" cy="208255"/>
            </a:xfrm>
            <a:prstGeom prst="rect">
              <a:avLst/>
            </a:prstGeom>
          </p:spPr>
          <p:txBody>
            <a:bodyPr anchor="ctr" rtlCol="false" tIns="0" lIns="0" bIns="0" rIns="0"/>
            <a:lstStyle/>
            <a:p>
              <a:pPr algn="l">
                <a:lnSpc>
                  <a:spcPts val="771"/>
                </a:lnSpc>
              </a:pPr>
              <a:r>
                <a:rPr lang="en-US" sz="800" b="true">
                  <a:solidFill>
                    <a:srgbClr val="918B8A"/>
                  </a:solidFill>
                  <a:latin typeface="TT Commons Pro Bold"/>
                  <a:ea typeface="TT Commons Pro Bold"/>
                  <a:cs typeface="TT Commons Pro Bold"/>
                  <a:sym typeface="TT Commons Pro Bold"/>
                </a:rPr>
                <a:t>Gerie</a:t>
              </a:r>
            </a:p>
          </p:txBody>
        </p:sp>
      </p:grpSp>
      <p:grpSp>
        <p:nvGrpSpPr>
          <p:cNvPr name="Group 233" id="233"/>
          <p:cNvGrpSpPr/>
          <p:nvPr/>
        </p:nvGrpSpPr>
        <p:grpSpPr>
          <a:xfrm rot="0">
            <a:off x="2027139" y="4717837"/>
            <a:ext cx="189548" cy="211455"/>
            <a:chOff x="0" y="0"/>
            <a:chExt cx="252730" cy="281940"/>
          </a:xfrm>
        </p:grpSpPr>
        <p:sp>
          <p:nvSpPr>
            <p:cNvPr name="Freeform 234" id="234" descr="preencoded.png"/>
            <p:cNvSpPr/>
            <p:nvPr/>
          </p:nvSpPr>
          <p:spPr>
            <a:xfrm flipH="false" flipV="false" rot="0">
              <a:off x="0" y="0"/>
              <a:ext cx="252730" cy="281940"/>
            </a:xfrm>
            <a:custGeom>
              <a:avLst/>
              <a:gdLst/>
              <a:ahLst/>
              <a:cxnLst/>
              <a:rect r="r" b="b" t="t" l="l"/>
              <a:pathLst>
                <a:path h="281940" w="252730">
                  <a:moveTo>
                    <a:pt x="0" y="0"/>
                  </a:moveTo>
                  <a:lnTo>
                    <a:pt x="252730" y="0"/>
                  </a:lnTo>
                  <a:lnTo>
                    <a:pt x="252730" y="281940"/>
                  </a:lnTo>
                  <a:lnTo>
                    <a:pt x="0" y="281940"/>
                  </a:lnTo>
                  <a:lnTo>
                    <a:pt x="0" y="0"/>
                  </a:lnTo>
                  <a:close/>
                </a:path>
              </a:pathLst>
            </a:custGeom>
            <a:blipFill>
              <a:blip r:embed="rId55"/>
              <a:stretch>
                <a:fillRect l="0" t="-603" r="0" b="-603"/>
              </a:stretch>
            </a:blipFill>
          </p:spPr>
        </p:sp>
      </p:grpSp>
      <p:grpSp>
        <p:nvGrpSpPr>
          <p:cNvPr name="Group 235" id="235"/>
          <p:cNvGrpSpPr/>
          <p:nvPr/>
        </p:nvGrpSpPr>
        <p:grpSpPr>
          <a:xfrm rot="0">
            <a:off x="1443790" y="5016808"/>
            <a:ext cx="401050" cy="116672"/>
            <a:chOff x="0" y="0"/>
            <a:chExt cx="534734" cy="155562"/>
          </a:xfrm>
        </p:grpSpPr>
        <p:sp>
          <p:nvSpPr>
            <p:cNvPr name="Freeform 236" id="236"/>
            <p:cNvSpPr/>
            <p:nvPr/>
          </p:nvSpPr>
          <p:spPr>
            <a:xfrm flipH="false" flipV="false" rot="0">
              <a:off x="0" y="0"/>
              <a:ext cx="534797" cy="155575"/>
            </a:xfrm>
            <a:custGeom>
              <a:avLst/>
              <a:gdLst/>
              <a:ahLst/>
              <a:cxnLst/>
              <a:rect r="r" b="b" t="t" l="l"/>
              <a:pathLst>
                <a:path h="155575" w="534797">
                  <a:moveTo>
                    <a:pt x="0" y="0"/>
                  </a:moveTo>
                  <a:lnTo>
                    <a:pt x="534797" y="0"/>
                  </a:lnTo>
                  <a:lnTo>
                    <a:pt x="534797" y="155575"/>
                  </a:lnTo>
                  <a:lnTo>
                    <a:pt x="0" y="155575"/>
                  </a:lnTo>
                  <a:close/>
                </a:path>
              </a:pathLst>
            </a:custGeom>
            <a:blipFill>
              <a:blip r:embed="rId4">
                <a:alphaModFix amt="0"/>
              </a:blip>
              <a:stretch>
                <a:fillRect l="0" t="-16930" r="11" b="-16922"/>
              </a:stretch>
            </a:blipFill>
          </p:spPr>
        </p:sp>
      </p:grpSp>
      <p:grpSp>
        <p:nvGrpSpPr>
          <p:cNvPr name="Group 237" id="237"/>
          <p:cNvGrpSpPr/>
          <p:nvPr/>
        </p:nvGrpSpPr>
        <p:grpSpPr>
          <a:xfrm rot="0">
            <a:off x="1443790" y="5002520"/>
            <a:ext cx="401050" cy="130959"/>
            <a:chOff x="0" y="0"/>
            <a:chExt cx="534734" cy="174612"/>
          </a:xfrm>
        </p:grpSpPr>
        <p:sp>
          <p:nvSpPr>
            <p:cNvPr name="Freeform 238" id="238"/>
            <p:cNvSpPr/>
            <p:nvPr/>
          </p:nvSpPr>
          <p:spPr>
            <a:xfrm flipH="false" flipV="false" rot="0">
              <a:off x="0" y="0"/>
              <a:ext cx="534733" cy="174610"/>
            </a:xfrm>
            <a:custGeom>
              <a:avLst/>
              <a:gdLst/>
              <a:ahLst/>
              <a:cxnLst/>
              <a:rect r="r" b="b" t="t" l="l"/>
              <a:pathLst>
                <a:path h="174610" w="534733">
                  <a:moveTo>
                    <a:pt x="0" y="0"/>
                  </a:moveTo>
                  <a:lnTo>
                    <a:pt x="534733" y="0"/>
                  </a:lnTo>
                  <a:lnTo>
                    <a:pt x="534733" y="174610"/>
                  </a:lnTo>
                  <a:lnTo>
                    <a:pt x="0" y="174610"/>
                  </a:lnTo>
                  <a:close/>
                </a:path>
              </a:pathLst>
            </a:custGeom>
            <a:blipFill>
              <a:blip r:embed="rId5">
                <a:alphaModFix amt="0"/>
              </a:blip>
              <a:stretch>
                <a:fillRect l="0" t="-9671" r="0" b="-9672"/>
              </a:stretch>
            </a:blipFill>
          </p:spPr>
        </p:sp>
        <p:sp>
          <p:nvSpPr>
            <p:cNvPr name="TextBox 239" id="239"/>
            <p:cNvSpPr txBox="true"/>
            <p:nvPr/>
          </p:nvSpPr>
          <p:spPr>
            <a:xfrm>
              <a:off x="0" y="-19050"/>
              <a:ext cx="534734" cy="193662"/>
            </a:xfrm>
            <a:prstGeom prst="rect">
              <a:avLst/>
            </a:prstGeom>
          </p:spPr>
          <p:txBody>
            <a:bodyPr anchor="ctr" rtlCol="false" tIns="0" lIns="0" bIns="0" rIns="0"/>
            <a:lstStyle/>
            <a:p>
              <a:pPr algn="l">
                <a:lnSpc>
                  <a:spcPts val="739"/>
                </a:lnSpc>
              </a:pPr>
              <a:r>
                <a:rPr lang="en-US" sz="421" b="true">
                  <a:solidFill>
                    <a:srgbClr val="8D8988"/>
                  </a:solidFill>
                  <a:latin typeface="TT Commons Pro Bold"/>
                  <a:ea typeface="TT Commons Pro Bold"/>
                  <a:cs typeface="TT Commons Pro Bold"/>
                  <a:sym typeface="TT Commons Pro Bold"/>
                </a:rPr>
                <a:t>బొల్లిచిచేసింది.</a:t>
              </a:r>
            </a:p>
          </p:txBody>
        </p:sp>
      </p:grpSp>
      <p:grpSp>
        <p:nvGrpSpPr>
          <p:cNvPr name="Group 240" id="240"/>
          <p:cNvGrpSpPr/>
          <p:nvPr/>
        </p:nvGrpSpPr>
        <p:grpSpPr>
          <a:xfrm rot="0">
            <a:off x="1545879" y="4717837"/>
            <a:ext cx="174974" cy="211455"/>
            <a:chOff x="0" y="0"/>
            <a:chExt cx="233299" cy="281940"/>
          </a:xfrm>
        </p:grpSpPr>
        <p:sp>
          <p:nvSpPr>
            <p:cNvPr name="Freeform 241" id="241" descr="preencoded.png"/>
            <p:cNvSpPr/>
            <p:nvPr/>
          </p:nvSpPr>
          <p:spPr>
            <a:xfrm flipH="false" flipV="false" rot="0">
              <a:off x="0" y="0"/>
              <a:ext cx="233299" cy="281940"/>
            </a:xfrm>
            <a:custGeom>
              <a:avLst/>
              <a:gdLst/>
              <a:ahLst/>
              <a:cxnLst/>
              <a:rect r="r" b="b" t="t" l="l"/>
              <a:pathLst>
                <a:path h="281940" w="233299">
                  <a:moveTo>
                    <a:pt x="0" y="0"/>
                  </a:moveTo>
                  <a:lnTo>
                    <a:pt x="233299" y="0"/>
                  </a:lnTo>
                  <a:lnTo>
                    <a:pt x="233299" y="281940"/>
                  </a:lnTo>
                  <a:lnTo>
                    <a:pt x="0" y="281940"/>
                  </a:lnTo>
                  <a:lnTo>
                    <a:pt x="0" y="0"/>
                  </a:lnTo>
                  <a:close/>
                </a:path>
              </a:pathLst>
            </a:custGeom>
            <a:blipFill>
              <a:blip r:embed="rId56"/>
              <a:stretch>
                <a:fillRect l="0" t="-238" r="0" b="-238"/>
              </a:stretch>
            </a:blipFill>
          </p:spPr>
        </p:sp>
      </p:grpSp>
      <p:sp>
        <p:nvSpPr>
          <p:cNvPr name="Freeform 242" id="242"/>
          <p:cNvSpPr/>
          <p:nvPr/>
        </p:nvSpPr>
        <p:spPr>
          <a:xfrm flipH="false" flipV="false" rot="0">
            <a:off x="3751669" y="2001622"/>
            <a:ext cx="5228339" cy="2945959"/>
          </a:xfrm>
          <a:custGeom>
            <a:avLst/>
            <a:gdLst/>
            <a:ahLst/>
            <a:cxnLst/>
            <a:rect r="r" b="b" t="t" l="l"/>
            <a:pathLst>
              <a:path h="2945959" w="5228339">
                <a:moveTo>
                  <a:pt x="0" y="0"/>
                </a:moveTo>
                <a:lnTo>
                  <a:pt x="5228339" y="0"/>
                </a:lnTo>
                <a:lnTo>
                  <a:pt x="5228339" y="2945958"/>
                </a:lnTo>
                <a:lnTo>
                  <a:pt x="0" y="2945958"/>
                </a:lnTo>
                <a:lnTo>
                  <a:pt x="0" y="0"/>
                </a:lnTo>
                <a:close/>
              </a:path>
            </a:pathLst>
          </a:custGeom>
          <a:blipFill>
            <a:blip r:embed="rId57">
              <a:extLst>
                <a:ext uri="{96DAC541-7B7A-43D3-8B79-37D633B846F1}">
                  <asvg:svgBlip xmlns:asvg="http://schemas.microsoft.com/office/drawing/2016/SVG/main" r:embed="rId58"/>
                </a:ext>
              </a:extLst>
            </a:blip>
            <a:stretch>
              <a:fillRect l="0" t="0" r="0" b="0"/>
            </a:stretch>
          </a:blipFill>
        </p:spPr>
      </p:sp>
      <p:grpSp>
        <p:nvGrpSpPr>
          <p:cNvPr name="Group 243" id="243"/>
          <p:cNvGrpSpPr/>
          <p:nvPr/>
        </p:nvGrpSpPr>
        <p:grpSpPr>
          <a:xfrm rot="0">
            <a:off x="6030373" y="3099044"/>
            <a:ext cx="481298" cy="58293"/>
            <a:chOff x="0" y="0"/>
            <a:chExt cx="641731" cy="77724"/>
          </a:xfrm>
        </p:grpSpPr>
        <p:sp>
          <p:nvSpPr>
            <p:cNvPr name="Freeform 244" id="244" descr="preencoded.png"/>
            <p:cNvSpPr/>
            <p:nvPr/>
          </p:nvSpPr>
          <p:spPr>
            <a:xfrm flipH="false" flipV="false" rot="0">
              <a:off x="0" y="0"/>
              <a:ext cx="641731" cy="77724"/>
            </a:xfrm>
            <a:custGeom>
              <a:avLst/>
              <a:gdLst/>
              <a:ahLst/>
              <a:cxnLst/>
              <a:rect r="r" b="b" t="t" l="l"/>
              <a:pathLst>
                <a:path h="77724" w="641731">
                  <a:moveTo>
                    <a:pt x="0" y="0"/>
                  </a:moveTo>
                  <a:lnTo>
                    <a:pt x="641731" y="0"/>
                  </a:lnTo>
                  <a:lnTo>
                    <a:pt x="641731" y="77724"/>
                  </a:lnTo>
                  <a:lnTo>
                    <a:pt x="0" y="77724"/>
                  </a:lnTo>
                  <a:lnTo>
                    <a:pt x="0" y="0"/>
                  </a:lnTo>
                  <a:close/>
                </a:path>
              </a:pathLst>
            </a:custGeom>
            <a:blipFill>
              <a:blip r:embed="rId59"/>
              <a:stretch>
                <a:fillRect l="0" t="-2254" r="0" b="-2254"/>
              </a:stretch>
            </a:blipFill>
          </p:spPr>
        </p:sp>
      </p:grpSp>
      <p:grpSp>
        <p:nvGrpSpPr>
          <p:cNvPr name="Group 245" id="245"/>
          <p:cNvGrpSpPr/>
          <p:nvPr/>
        </p:nvGrpSpPr>
        <p:grpSpPr>
          <a:xfrm rot="0">
            <a:off x="4010530" y="2646950"/>
            <a:ext cx="1582293" cy="1582293"/>
            <a:chOff x="0" y="0"/>
            <a:chExt cx="2109724" cy="2109724"/>
          </a:xfrm>
        </p:grpSpPr>
        <p:sp>
          <p:nvSpPr>
            <p:cNvPr name="Freeform 246" id="246" descr="preencoded.png"/>
            <p:cNvSpPr/>
            <p:nvPr/>
          </p:nvSpPr>
          <p:spPr>
            <a:xfrm flipH="false" flipV="false" rot="0">
              <a:off x="0" y="0"/>
              <a:ext cx="2109724" cy="2109724"/>
            </a:xfrm>
            <a:custGeom>
              <a:avLst/>
              <a:gdLst/>
              <a:ahLst/>
              <a:cxnLst/>
              <a:rect r="r" b="b" t="t" l="l"/>
              <a:pathLst>
                <a:path h="2109724" w="2109724">
                  <a:moveTo>
                    <a:pt x="0" y="0"/>
                  </a:moveTo>
                  <a:lnTo>
                    <a:pt x="2109724" y="0"/>
                  </a:lnTo>
                  <a:lnTo>
                    <a:pt x="2109724" y="2109724"/>
                  </a:lnTo>
                  <a:lnTo>
                    <a:pt x="0" y="2109724"/>
                  </a:lnTo>
                  <a:lnTo>
                    <a:pt x="0" y="0"/>
                  </a:lnTo>
                  <a:close/>
                </a:path>
              </a:pathLst>
            </a:custGeom>
            <a:blipFill>
              <a:blip r:embed="rId60"/>
              <a:stretch>
                <a:fillRect l="0" t="0" r="0" b="0"/>
              </a:stretch>
            </a:blipFill>
          </p:spPr>
        </p:sp>
      </p:grpSp>
      <p:sp>
        <p:nvSpPr>
          <p:cNvPr name="Freeform 247" id="247"/>
          <p:cNvSpPr/>
          <p:nvPr/>
        </p:nvSpPr>
        <p:spPr>
          <a:xfrm flipH="false" flipV="false" rot="0">
            <a:off x="5353145" y="2275970"/>
            <a:ext cx="486766" cy="464858"/>
          </a:xfrm>
          <a:custGeom>
            <a:avLst/>
            <a:gdLst/>
            <a:ahLst/>
            <a:cxnLst/>
            <a:rect r="r" b="b" t="t" l="l"/>
            <a:pathLst>
              <a:path h="464858" w="486766">
                <a:moveTo>
                  <a:pt x="0" y="0"/>
                </a:moveTo>
                <a:lnTo>
                  <a:pt x="486766" y="0"/>
                </a:lnTo>
                <a:lnTo>
                  <a:pt x="486766" y="464858"/>
                </a:lnTo>
                <a:lnTo>
                  <a:pt x="0" y="464858"/>
                </a:lnTo>
                <a:lnTo>
                  <a:pt x="0" y="0"/>
                </a:lnTo>
                <a:close/>
              </a:path>
            </a:pathLst>
          </a:custGeom>
          <a:blipFill>
            <a:blip r:embed="rId61">
              <a:extLst>
                <a:ext uri="{96DAC541-7B7A-43D3-8B79-37D633B846F1}">
                  <asvg:svgBlip xmlns:asvg="http://schemas.microsoft.com/office/drawing/2016/SVG/main" r:embed="rId62"/>
                </a:ext>
              </a:extLst>
            </a:blip>
            <a:stretch>
              <a:fillRect l="0" t="0" r="0" b="0"/>
            </a:stretch>
          </a:blipFill>
        </p:spPr>
      </p:sp>
      <p:grpSp>
        <p:nvGrpSpPr>
          <p:cNvPr name="Group 248" id="248"/>
          <p:cNvGrpSpPr/>
          <p:nvPr/>
        </p:nvGrpSpPr>
        <p:grpSpPr>
          <a:xfrm rot="0">
            <a:off x="5435660" y="2285333"/>
            <a:ext cx="313553" cy="460715"/>
            <a:chOff x="0" y="0"/>
            <a:chExt cx="418071" cy="614286"/>
          </a:xfrm>
        </p:grpSpPr>
        <p:sp>
          <p:nvSpPr>
            <p:cNvPr name="Freeform 249" id="249"/>
            <p:cNvSpPr/>
            <p:nvPr/>
          </p:nvSpPr>
          <p:spPr>
            <a:xfrm flipH="false" flipV="false" rot="0">
              <a:off x="0" y="0"/>
              <a:ext cx="418084" cy="614299"/>
            </a:xfrm>
            <a:custGeom>
              <a:avLst/>
              <a:gdLst/>
              <a:ahLst/>
              <a:cxnLst/>
              <a:rect r="r" b="b" t="t" l="l"/>
              <a:pathLst>
                <a:path h="614299" w="418084">
                  <a:moveTo>
                    <a:pt x="0" y="0"/>
                  </a:moveTo>
                  <a:lnTo>
                    <a:pt x="418084" y="0"/>
                  </a:lnTo>
                  <a:lnTo>
                    <a:pt x="418084" y="614299"/>
                  </a:lnTo>
                  <a:lnTo>
                    <a:pt x="0" y="614299"/>
                  </a:lnTo>
                  <a:close/>
                </a:path>
              </a:pathLst>
            </a:custGeom>
            <a:blipFill>
              <a:blip r:embed="rId4">
                <a:alphaModFix amt="0"/>
              </a:blip>
              <a:stretch>
                <a:fillRect l="-138648" t="0" r="-138645" b="2"/>
              </a:stretch>
            </a:blipFill>
          </p:spPr>
        </p:sp>
      </p:grpSp>
      <p:grpSp>
        <p:nvGrpSpPr>
          <p:cNvPr name="Group 250" id="250"/>
          <p:cNvGrpSpPr/>
          <p:nvPr/>
        </p:nvGrpSpPr>
        <p:grpSpPr>
          <a:xfrm rot="0">
            <a:off x="5435660" y="2356771"/>
            <a:ext cx="313553" cy="389277"/>
            <a:chOff x="0" y="0"/>
            <a:chExt cx="418071" cy="519036"/>
          </a:xfrm>
        </p:grpSpPr>
        <p:sp>
          <p:nvSpPr>
            <p:cNvPr name="Freeform 251" id="251"/>
            <p:cNvSpPr/>
            <p:nvPr/>
          </p:nvSpPr>
          <p:spPr>
            <a:xfrm flipH="false" flipV="false" rot="0">
              <a:off x="0" y="0"/>
              <a:ext cx="418071" cy="519035"/>
            </a:xfrm>
            <a:custGeom>
              <a:avLst/>
              <a:gdLst/>
              <a:ahLst/>
              <a:cxnLst/>
              <a:rect r="r" b="b" t="t" l="l"/>
              <a:pathLst>
                <a:path h="519035" w="418071">
                  <a:moveTo>
                    <a:pt x="0" y="0"/>
                  </a:moveTo>
                  <a:lnTo>
                    <a:pt x="418071" y="0"/>
                  </a:lnTo>
                  <a:lnTo>
                    <a:pt x="418071" y="519035"/>
                  </a:lnTo>
                  <a:lnTo>
                    <a:pt x="0" y="519035"/>
                  </a:lnTo>
                  <a:close/>
                </a:path>
              </a:pathLst>
            </a:custGeom>
            <a:blipFill>
              <a:blip r:embed="rId5">
                <a:alphaModFix amt="0"/>
              </a:blip>
              <a:stretch>
                <a:fillRect l="-109289" t="0" r="-109289" b="0"/>
              </a:stretch>
            </a:blipFill>
          </p:spPr>
        </p:sp>
        <p:sp>
          <p:nvSpPr>
            <p:cNvPr name="TextBox 252" id="252"/>
            <p:cNvSpPr txBox="true"/>
            <p:nvPr/>
          </p:nvSpPr>
          <p:spPr>
            <a:xfrm>
              <a:off x="0" y="95250"/>
              <a:ext cx="418071" cy="423786"/>
            </a:xfrm>
            <a:prstGeom prst="rect">
              <a:avLst/>
            </a:prstGeom>
          </p:spPr>
          <p:txBody>
            <a:bodyPr anchor="ctr" rtlCol="false" tIns="0" lIns="0" bIns="0" rIns="0"/>
            <a:lstStyle/>
            <a:p>
              <a:pPr algn="l">
                <a:lnSpc>
                  <a:spcPts val="1544"/>
                </a:lnSpc>
              </a:pPr>
              <a:r>
                <a:rPr lang="en-US" sz="2152" b="true">
                  <a:solidFill>
                    <a:srgbClr val="F6CBA1"/>
                  </a:solidFill>
                  <a:latin typeface="TT Commons Pro Bold"/>
                  <a:ea typeface="TT Commons Pro Bold"/>
                  <a:cs typeface="TT Commons Pro Bold"/>
                  <a:sym typeface="TT Commons Pro Bold"/>
                </a:rPr>
                <a:t>01</a:t>
              </a:r>
            </a:p>
          </p:txBody>
        </p:sp>
      </p:grpSp>
      <p:grpSp>
        <p:nvGrpSpPr>
          <p:cNvPr name="Group 253" id="253"/>
          <p:cNvGrpSpPr/>
          <p:nvPr/>
        </p:nvGrpSpPr>
        <p:grpSpPr>
          <a:xfrm rot="0">
            <a:off x="5749223" y="3179254"/>
            <a:ext cx="2931338" cy="1436503"/>
            <a:chOff x="0" y="0"/>
            <a:chExt cx="3908450" cy="1915338"/>
          </a:xfrm>
        </p:grpSpPr>
        <p:sp>
          <p:nvSpPr>
            <p:cNvPr name="Freeform 254" id="254"/>
            <p:cNvSpPr/>
            <p:nvPr/>
          </p:nvSpPr>
          <p:spPr>
            <a:xfrm flipH="false" flipV="false" rot="0">
              <a:off x="0" y="0"/>
              <a:ext cx="3908425" cy="1915287"/>
            </a:xfrm>
            <a:custGeom>
              <a:avLst/>
              <a:gdLst/>
              <a:ahLst/>
              <a:cxnLst/>
              <a:rect r="r" b="b" t="t" l="l"/>
              <a:pathLst>
                <a:path h="1915287" w="3908425">
                  <a:moveTo>
                    <a:pt x="0" y="0"/>
                  </a:moveTo>
                  <a:lnTo>
                    <a:pt x="3908425" y="0"/>
                  </a:lnTo>
                  <a:lnTo>
                    <a:pt x="3908425" y="1915287"/>
                  </a:lnTo>
                  <a:lnTo>
                    <a:pt x="0" y="1915287"/>
                  </a:lnTo>
                  <a:close/>
                </a:path>
              </a:pathLst>
            </a:custGeom>
            <a:blipFill>
              <a:blip r:embed="rId4">
                <a:alphaModFix amt="0"/>
              </a:blip>
              <a:stretch>
                <a:fillRect l="-12918" t="0" r="-12919" b="-2"/>
              </a:stretch>
            </a:blipFill>
          </p:spPr>
        </p:sp>
      </p:grpSp>
      <p:grpSp>
        <p:nvGrpSpPr>
          <p:cNvPr name="Group 255" id="255"/>
          <p:cNvGrpSpPr/>
          <p:nvPr/>
        </p:nvGrpSpPr>
        <p:grpSpPr>
          <a:xfrm rot="0">
            <a:off x="5749223" y="3157823"/>
            <a:ext cx="2931338" cy="1457925"/>
            <a:chOff x="0" y="0"/>
            <a:chExt cx="3908450" cy="1943900"/>
          </a:xfrm>
        </p:grpSpPr>
        <p:sp>
          <p:nvSpPr>
            <p:cNvPr name="Freeform 256" id="256"/>
            <p:cNvSpPr/>
            <p:nvPr/>
          </p:nvSpPr>
          <p:spPr>
            <a:xfrm flipH="false" flipV="false" rot="0">
              <a:off x="0" y="0"/>
              <a:ext cx="3908451" cy="1943906"/>
            </a:xfrm>
            <a:custGeom>
              <a:avLst/>
              <a:gdLst/>
              <a:ahLst/>
              <a:cxnLst/>
              <a:rect r="r" b="b" t="t" l="l"/>
              <a:pathLst>
                <a:path h="1943906" w="3908451">
                  <a:moveTo>
                    <a:pt x="0" y="0"/>
                  </a:moveTo>
                  <a:lnTo>
                    <a:pt x="3908451" y="0"/>
                  </a:lnTo>
                  <a:lnTo>
                    <a:pt x="3908451" y="1943906"/>
                  </a:lnTo>
                  <a:lnTo>
                    <a:pt x="0" y="1943906"/>
                  </a:lnTo>
                  <a:close/>
                </a:path>
              </a:pathLst>
            </a:custGeom>
            <a:blipFill>
              <a:blip r:embed="rId5">
                <a:alphaModFix amt="0"/>
              </a:blip>
              <a:stretch>
                <a:fillRect l="-13812" t="0" r="-13812" b="0"/>
              </a:stretch>
            </a:blipFill>
          </p:spPr>
        </p:sp>
        <p:sp>
          <p:nvSpPr>
            <p:cNvPr name="TextBox 257" id="257"/>
            <p:cNvSpPr txBox="true"/>
            <p:nvPr/>
          </p:nvSpPr>
          <p:spPr>
            <a:xfrm>
              <a:off x="0" y="-28575"/>
              <a:ext cx="3908450" cy="1972475"/>
            </a:xfrm>
            <a:prstGeom prst="rect">
              <a:avLst/>
            </a:prstGeom>
          </p:spPr>
          <p:txBody>
            <a:bodyPr anchor="ctr" rtlCol="false" tIns="0" lIns="0" bIns="0" rIns="0"/>
            <a:lstStyle/>
            <a:p>
              <a:pPr algn="l">
                <a:lnSpc>
                  <a:spcPts val="1959"/>
                </a:lnSpc>
              </a:pPr>
              <a:r>
                <a:rPr lang="en-US" sz="1399" b="true">
                  <a:solidFill>
                    <a:srgbClr val="797876"/>
                  </a:solidFill>
                  <a:latin typeface="TT Commons Pro Bold"/>
                  <a:ea typeface="TT Commons Pro Bold"/>
                  <a:cs typeface="TT Commons Pro Bold"/>
                  <a:sym typeface="TT Commons Pro Bold"/>
                </a:rPr>
                <a:t>Compare Swiggy and Zomato</a:t>
              </a:r>
            </a:p>
            <a:p>
              <a:pPr algn="l">
                <a:lnSpc>
                  <a:spcPts val="1959"/>
                </a:lnSpc>
              </a:pPr>
              <a:r>
                <a:rPr lang="en-US" sz="1399" b="true">
                  <a:solidFill>
                    <a:srgbClr val="797876"/>
                  </a:solidFill>
                  <a:latin typeface="TT Commons Pro Bold"/>
                  <a:ea typeface="TT Commons Pro Bold"/>
                  <a:cs typeface="TT Commons Pro Bold"/>
                  <a:sym typeface="TT Commons Pro Bold"/>
                </a:rPr>
                <a:t>using dataset metrics such as</a:t>
              </a:r>
            </a:p>
            <a:p>
              <a:pPr algn="l">
                <a:lnSpc>
                  <a:spcPts val="1959"/>
                </a:lnSpc>
              </a:pPr>
              <a:r>
                <a:rPr lang="en-US" sz="1399" b="true">
                  <a:solidFill>
                    <a:srgbClr val="797876"/>
                  </a:solidFill>
                  <a:latin typeface="TT Commons Pro Bold"/>
                  <a:ea typeface="TT Commons Pro Bold"/>
                  <a:cs typeface="TT Commons Pro Bold"/>
                  <a:sym typeface="TT Commons Pro Bold"/>
                </a:rPr>
                <a:t>ratings, delivery time, monthly</a:t>
              </a:r>
            </a:p>
            <a:p>
              <a:pPr algn="l">
                <a:lnSpc>
                  <a:spcPts val="1959"/>
                </a:lnSpc>
              </a:pPr>
              <a:r>
                <a:rPr lang="en-US" sz="1399" b="true">
                  <a:solidFill>
                    <a:srgbClr val="797876"/>
                  </a:solidFill>
                  <a:latin typeface="TT Commons Pro Bold"/>
                  <a:ea typeface="TT Commons Pro Bold"/>
                  <a:cs typeface="TT Commons Pro Bold"/>
                  <a:sym typeface="TT Commons Pro Bold"/>
                </a:rPr>
                <a:t>orders, revenue, net profit,</a:t>
              </a:r>
            </a:p>
            <a:p>
              <a:pPr algn="l">
                <a:lnSpc>
                  <a:spcPts val="1959"/>
                </a:lnSpc>
              </a:pPr>
              <a:r>
                <a:rPr lang="en-US" sz="1399" b="true">
                  <a:solidFill>
                    <a:srgbClr val="797876"/>
                  </a:solidFill>
                  <a:latin typeface="TT Commons Pro Bold"/>
                  <a:ea typeface="TT Commons Pro Bold"/>
                  <a:cs typeface="TT Commons Pro Bold"/>
                  <a:sym typeface="TT Commons Pro Bold"/>
                </a:rPr>
                <a:t>and market share.</a:t>
              </a:r>
            </a:p>
          </p:txBody>
        </p:sp>
      </p:grpSp>
      <p:grpSp>
        <p:nvGrpSpPr>
          <p:cNvPr name="Group 258" id="258"/>
          <p:cNvGrpSpPr/>
          <p:nvPr/>
        </p:nvGrpSpPr>
        <p:grpSpPr>
          <a:xfrm rot="0">
            <a:off x="6030373" y="2208133"/>
            <a:ext cx="2870444" cy="755523"/>
            <a:chOff x="0" y="0"/>
            <a:chExt cx="3827259" cy="1007364"/>
          </a:xfrm>
        </p:grpSpPr>
        <p:sp>
          <p:nvSpPr>
            <p:cNvPr name="Freeform 259" id="259"/>
            <p:cNvSpPr/>
            <p:nvPr/>
          </p:nvSpPr>
          <p:spPr>
            <a:xfrm flipH="false" flipV="false" rot="0">
              <a:off x="0" y="0"/>
              <a:ext cx="3827272" cy="1007364"/>
            </a:xfrm>
            <a:custGeom>
              <a:avLst/>
              <a:gdLst/>
              <a:ahLst/>
              <a:cxnLst/>
              <a:rect r="r" b="b" t="t" l="l"/>
              <a:pathLst>
                <a:path h="1007364" w="3827272">
                  <a:moveTo>
                    <a:pt x="0" y="0"/>
                  </a:moveTo>
                  <a:lnTo>
                    <a:pt x="3827272" y="0"/>
                  </a:lnTo>
                  <a:lnTo>
                    <a:pt x="3827272" y="1007364"/>
                  </a:lnTo>
                  <a:lnTo>
                    <a:pt x="0" y="1007364"/>
                  </a:lnTo>
                  <a:close/>
                </a:path>
              </a:pathLst>
            </a:custGeom>
            <a:blipFill>
              <a:blip r:embed="rId4">
                <a:alphaModFix amt="0"/>
              </a:blip>
              <a:stretch>
                <a:fillRect l="0" t="-23977" r="0" b="-23977"/>
              </a:stretch>
            </a:blipFill>
          </p:spPr>
        </p:sp>
      </p:grpSp>
      <p:grpSp>
        <p:nvGrpSpPr>
          <p:cNvPr name="Group 260" id="260"/>
          <p:cNvGrpSpPr/>
          <p:nvPr/>
        </p:nvGrpSpPr>
        <p:grpSpPr>
          <a:xfrm rot="0">
            <a:off x="6030373" y="2200989"/>
            <a:ext cx="2870444" cy="762667"/>
            <a:chOff x="0" y="0"/>
            <a:chExt cx="3827259" cy="1016889"/>
          </a:xfrm>
        </p:grpSpPr>
        <p:sp>
          <p:nvSpPr>
            <p:cNvPr name="Freeform 261" id="261"/>
            <p:cNvSpPr/>
            <p:nvPr/>
          </p:nvSpPr>
          <p:spPr>
            <a:xfrm flipH="false" flipV="false" rot="0">
              <a:off x="0" y="0"/>
              <a:ext cx="3827259" cy="1016885"/>
            </a:xfrm>
            <a:custGeom>
              <a:avLst/>
              <a:gdLst/>
              <a:ahLst/>
              <a:cxnLst/>
              <a:rect r="r" b="b" t="t" l="l"/>
              <a:pathLst>
                <a:path h="1016885" w="3827259">
                  <a:moveTo>
                    <a:pt x="0" y="0"/>
                  </a:moveTo>
                  <a:lnTo>
                    <a:pt x="3827259" y="0"/>
                  </a:lnTo>
                  <a:lnTo>
                    <a:pt x="3827259" y="1016885"/>
                  </a:lnTo>
                  <a:lnTo>
                    <a:pt x="0" y="1016885"/>
                  </a:lnTo>
                  <a:close/>
                </a:path>
              </a:pathLst>
            </a:custGeom>
            <a:blipFill>
              <a:blip r:embed="rId5">
                <a:alphaModFix amt="0"/>
              </a:blip>
              <a:stretch>
                <a:fillRect l="0" t="-23335" r="0" b="-23336"/>
              </a:stretch>
            </a:blipFill>
          </p:spPr>
        </p:sp>
        <p:sp>
          <p:nvSpPr>
            <p:cNvPr name="TextBox 262" id="262"/>
            <p:cNvSpPr txBox="true"/>
            <p:nvPr/>
          </p:nvSpPr>
          <p:spPr>
            <a:xfrm>
              <a:off x="0" y="-9525"/>
              <a:ext cx="3827259" cy="1026414"/>
            </a:xfrm>
            <a:prstGeom prst="rect">
              <a:avLst/>
            </a:prstGeom>
          </p:spPr>
          <p:txBody>
            <a:bodyPr anchor="ctr" rtlCol="false" tIns="0" lIns="0" bIns="0" rIns="0"/>
            <a:lstStyle/>
            <a:p>
              <a:pPr algn="l">
                <a:lnSpc>
                  <a:spcPts val="2507"/>
                </a:lnSpc>
              </a:pPr>
              <a:r>
                <a:rPr lang="en-US" sz="2054" b="true">
                  <a:solidFill>
                    <a:srgbClr val="D7875B"/>
                  </a:solidFill>
                  <a:latin typeface="TT Commons Pro Bold"/>
                  <a:ea typeface="TT Commons Pro Bold"/>
                  <a:cs typeface="TT Commons Pro Bold"/>
                  <a:sym typeface="TT Commons Pro Bold"/>
                </a:rPr>
                <a:t>Compare Platform</a:t>
              </a:r>
            </a:p>
            <a:p>
              <a:pPr algn="l">
                <a:lnSpc>
                  <a:spcPts val="2507"/>
                </a:lnSpc>
              </a:pPr>
              <a:r>
                <a:rPr lang="en-US" sz="2054" b="true">
                  <a:solidFill>
                    <a:srgbClr val="D7875B"/>
                  </a:solidFill>
                  <a:latin typeface="TT Commons Pro Bold"/>
                  <a:ea typeface="TT Commons Pro Bold"/>
                  <a:cs typeface="TT Commons Pro Bold"/>
                  <a:sym typeface="TT Commons Pro Bold"/>
                </a:rPr>
                <a:t>Performance</a:t>
              </a:r>
            </a:p>
          </p:txBody>
        </p:sp>
      </p:grpSp>
      <p:grpSp>
        <p:nvGrpSpPr>
          <p:cNvPr name="Group 263" id="263"/>
          <p:cNvGrpSpPr/>
          <p:nvPr/>
        </p:nvGrpSpPr>
        <p:grpSpPr>
          <a:xfrm rot="0">
            <a:off x="1028157" y="5016808"/>
            <a:ext cx="240630" cy="157667"/>
            <a:chOff x="0" y="0"/>
            <a:chExt cx="320840" cy="210223"/>
          </a:xfrm>
        </p:grpSpPr>
        <p:sp>
          <p:nvSpPr>
            <p:cNvPr name="Freeform 264" id="264"/>
            <p:cNvSpPr/>
            <p:nvPr/>
          </p:nvSpPr>
          <p:spPr>
            <a:xfrm flipH="false" flipV="false" rot="0">
              <a:off x="0" y="0"/>
              <a:ext cx="320802" cy="210185"/>
            </a:xfrm>
            <a:custGeom>
              <a:avLst/>
              <a:gdLst/>
              <a:ahLst/>
              <a:cxnLst/>
              <a:rect r="r" b="b" t="t" l="l"/>
              <a:pathLst>
                <a:path h="210185" w="320802">
                  <a:moveTo>
                    <a:pt x="0" y="0"/>
                  </a:moveTo>
                  <a:lnTo>
                    <a:pt x="320802" y="0"/>
                  </a:lnTo>
                  <a:lnTo>
                    <a:pt x="320802" y="210185"/>
                  </a:lnTo>
                  <a:lnTo>
                    <a:pt x="0" y="210185"/>
                  </a:lnTo>
                  <a:close/>
                </a:path>
              </a:pathLst>
            </a:custGeom>
            <a:blipFill>
              <a:blip r:embed="rId4">
                <a:alphaModFix amt="0"/>
              </a:blip>
              <a:stretch>
                <a:fillRect l="-34129" t="0" r="-34140" b="-18"/>
              </a:stretch>
            </a:blipFill>
          </p:spPr>
        </p:sp>
      </p:grpSp>
      <p:grpSp>
        <p:nvGrpSpPr>
          <p:cNvPr name="Group 265" id="265"/>
          <p:cNvGrpSpPr/>
          <p:nvPr/>
        </p:nvGrpSpPr>
        <p:grpSpPr>
          <a:xfrm rot="0">
            <a:off x="1028157" y="5023952"/>
            <a:ext cx="240630" cy="150524"/>
            <a:chOff x="0" y="0"/>
            <a:chExt cx="320840" cy="200698"/>
          </a:xfrm>
        </p:grpSpPr>
        <p:sp>
          <p:nvSpPr>
            <p:cNvPr name="Freeform 266" id="266"/>
            <p:cNvSpPr/>
            <p:nvPr/>
          </p:nvSpPr>
          <p:spPr>
            <a:xfrm flipH="false" flipV="false" rot="0">
              <a:off x="0" y="0"/>
              <a:ext cx="320840" cy="200699"/>
            </a:xfrm>
            <a:custGeom>
              <a:avLst/>
              <a:gdLst/>
              <a:ahLst/>
              <a:cxnLst/>
              <a:rect r="r" b="b" t="t" l="l"/>
              <a:pathLst>
                <a:path h="200699" w="320840">
                  <a:moveTo>
                    <a:pt x="0" y="0"/>
                  </a:moveTo>
                  <a:lnTo>
                    <a:pt x="320840" y="0"/>
                  </a:lnTo>
                  <a:lnTo>
                    <a:pt x="320840" y="200699"/>
                  </a:lnTo>
                  <a:lnTo>
                    <a:pt x="0" y="200699"/>
                  </a:lnTo>
                  <a:close/>
                </a:path>
              </a:pathLst>
            </a:custGeom>
            <a:blipFill>
              <a:blip r:embed="rId5">
                <a:alphaModFix amt="0"/>
              </a:blip>
              <a:stretch>
                <a:fillRect l="-30258" t="0" r="-30258" b="0"/>
              </a:stretch>
            </a:blipFill>
          </p:spPr>
        </p:sp>
        <p:sp>
          <p:nvSpPr>
            <p:cNvPr name="TextBox 267" id="267"/>
            <p:cNvSpPr txBox="true"/>
            <p:nvPr/>
          </p:nvSpPr>
          <p:spPr>
            <a:xfrm>
              <a:off x="0" y="9525"/>
              <a:ext cx="320840" cy="191173"/>
            </a:xfrm>
            <a:prstGeom prst="rect">
              <a:avLst/>
            </a:prstGeom>
          </p:spPr>
          <p:txBody>
            <a:bodyPr anchor="ctr" rtlCol="false" tIns="0" lIns="0" bIns="0" rIns="0"/>
            <a:lstStyle/>
            <a:p>
              <a:pPr algn="l">
                <a:lnSpc>
                  <a:spcPts val="792"/>
                </a:lnSpc>
              </a:pPr>
              <a:r>
                <a:rPr lang="en-US" sz="752" b="true">
                  <a:solidFill>
                    <a:srgbClr val="94908D"/>
                  </a:solidFill>
                  <a:latin typeface="TT Commons Pro Bold"/>
                  <a:ea typeface="TT Commons Pro Bold"/>
                  <a:cs typeface="TT Commons Pro Bold"/>
                  <a:sym typeface="TT Commons Pro Bold"/>
                </a:rPr>
                <a:t>Food</a:t>
              </a:r>
            </a:p>
          </p:txBody>
        </p:sp>
      </p:grpSp>
      <p:grpSp>
        <p:nvGrpSpPr>
          <p:cNvPr name="Group 268" id="268"/>
          <p:cNvGrpSpPr/>
          <p:nvPr/>
        </p:nvGrpSpPr>
        <p:grpSpPr>
          <a:xfrm rot="0">
            <a:off x="1035444" y="4717837"/>
            <a:ext cx="189548" cy="211455"/>
            <a:chOff x="0" y="0"/>
            <a:chExt cx="252730" cy="281940"/>
          </a:xfrm>
        </p:grpSpPr>
        <p:sp>
          <p:nvSpPr>
            <p:cNvPr name="Freeform 269" id="269" descr="preencoded.png"/>
            <p:cNvSpPr/>
            <p:nvPr/>
          </p:nvSpPr>
          <p:spPr>
            <a:xfrm flipH="false" flipV="false" rot="0">
              <a:off x="0" y="0"/>
              <a:ext cx="252730" cy="281940"/>
            </a:xfrm>
            <a:custGeom>
              <a:avLst/>
              <a:gdLst/>
              <a:ahLst/>
              <a:cxnLst/>
              <a:rect r="r" b="b" t="t" l="l"/>
              <a:pathLst>
                <a:path h="281940" w="252730">
                  <a:moveTo>
                    <a:pt x="0" y="0"/>
                  </a:moveTo>
                  <a:lnTo>
                    <a:pt x="252730" y="0"/>
                  </a:lnTo>
                  <a:lnTo>
                    <a:pt x="252730" y="281940"/>
                  </a:lnTo>
                  <a:lnTo>
                    <a:pt x="0" y="281940"/>
                  </a:lnTo>
                  <a:lnTo>
                    <a:pt x="0" y="0"/>
                  </a:lnTo>
                  <a:close/>
                </a:path>
              </a:pathLst>
            </a:custGeom>
            <a:blipFill>
              <a:blip r:embed="rId63"/>
              <a:stretch>
                <a:fillRect l="0" t="-797" r="0" b="-792"/>
              </a:stretch>
            </a:blipFill>
          </p:spPr>
        </p:sp>
      </p:grpSp>
      <p:grpSp>
        <p:nvGrpSpPr>
          <p:cNvPr name="Group 270" id="270"/>
          <p:cNvGrpSpPr/>
          <p:nvPr/>
        </p:nvGrpSpPr>
        <p:grpSpPr>
          <a:xfrm rot="0">
            <a:off x="1997974" y="3791769"/>
            <a:ext cx="780193" cy="743807"/>
            <a:chOff x="0" y="0"/>
            <a:chExt cx="1040257" cy="991743"/>
          </a:xfrm>
        </p:grpSpPr>
        <p:sp>
          <p:nvSpPr>
            <p:cNvPr name="Freeform 271" id="271" descr="preencoded.png"/>
            <p:cNvSpPr/>
            <p:nvPr/>
          </p:nvSpPr>
          <p:spPr>
            <a:xfrm flipH="false" flipV="false" rot="0">
              <a:off x="0" y="0"/>
              <a:ext cx="1040257" cy="991743"/>
            </a:xfrm>
            <a:custGeom>
              <a:avLst/>
              <a:gdLst/>
              <a:ahLst/>
              <a:cxnLst/>
              <a:rect r="r" b="b" t="t" l="l"/>
              <a:pathLst>
                <a:path h="991743" w="1040257">
                  <a:moveTo>
                    <a:pt x="0" y="0"/>
                  </a:moveTo>
                  <a:lnTo>
                    <a:pt x="1040257" y="0"/>
                  </a:lnTo>
                  <a:lnTo>
                    <a:pt x="1040257" y="991743"/>
                  </a:lnTo>
                  <a:lnTo>
                    <a:pt x="0" y="991743"/>
                  </a:lnTo>
                  <a:lnTo>
                    <a:pt x="0" y="0"/>
                  </a:lnTo>
                  <a:close/>
                </a:path>
              </a:pathLst>
            </a:custGeom>
            <a:blipFill>
              <a:blip r:embed="rId64"/>
              <a:stretch>
                <a:fillRect l="0" t="-6" r="0" b="-6"/>
              </a:stretch>
            </a:blipFill>
          </p:spPr>
        </p:sp>
      </p:grpSp>
      <p:grpSp>
        <p:nvGrpSpPr>
          <p:cNvPr name="Group 272" id="272"/>
          <p:cNvGrpSpPr/>
          <p:nvPr/>
        </p:nvGrpSpPr>
        <p:grpSpPr>
          <a:xfrm rot="0">
            <a:off x="940651" y="3908441"/>
            <a:ext cx="1013565" cy="371885"/>
            <a:chOff x="0" y="0"/>
            <a:chExt cx="1351420" cy="495846"/>
          </a:xfrm>
        </p:grpSpPr>
        <p:sp>
          <p:nvSpPr>
            <p:cNvPr name="Freeform 273" id="273"/>
            <p:cNvSpPr/>
            <p:nvPr/>
          </p:nvSpPr>
          <p:spPr>
            <a:xfrm flipH="false" flipV="false" rot="0">
              <a:off x="0" y="0"/>
              <a:ext cx="1351407" cy="495808"/>
            </a:xfrm>
            <a:custGeom>
              <a:avLst/>
              <a:gdLst/>
              <a:ahLst/>
              <a:cxnLst/>
              <a:rect r="r" b="b" t="t" l="l"/>
              <a:pathLst>
                <a:path h="495808" w="1351407">
                  <a:moveTo>
                    <a:pt x="0" y="0"/>
                  </a:moveTo>
                  <a:lnTo>
                    <a:pt x="1351407" y="0"/>
                  </a:lnTo>
                  <a:lnTo>
                    <a:pt x="1351407" y="495808"/>
                  </a:lnTo>
                  <a:lnTo>
                    <a:pt x="0" y="495808"/>
                  </a:lnTo>
                  <a:close/>
                </a:path>
              </a:pathLst>
            </a:custGeom>
            <a:blipFill>
              <a:blip r:embed="rId4">
                <a:alphaModFix amt="0"/>
              </a:blip>
              <a:stretch>
                <a:fillRect l="0" t="-3068" r="0" b="-3078"/>
              </a:stretch>
            </a:blipFill>
          </p:spPr>
        </p:sp>
      </p:grpSp>
      <p:grpSp>
        <p:nvGrpSpPr>
          <p:cNvPr name="Group 274" id="274"/>
          <p:cNvGrpSpPr/>
          <p:nvPr/>
        </p:nvGrpSpPr>
        <p:grpSpPr>
          <a:xfrm rot="0">
            <a:off x="940651" y="3915585"/>
            <a:ext cx="1013565" cy="364741"/>
            <a:chOff x="0" y="0"/>
            <a:chExt cx="1351420" cy="486321"/>
          </a:xfrm>
        </p:grpSpPr>
        <p:sp>
          <p:nvSpPr>
            <p:cNvPr name="Freeform 275" id="275"/>
            <p:cNvSpPr/>
            <p:nvPr/>
          </p:nvSpPr>
          <p:spPr>
            <a:xfrm flipH="false" flipV="false" rot="0">
              <a:off x="0" y="0"/>
              <a:ext cx="1351420" cy="486322"/>
            </a:xfrm>
            <a:custGeom>
              <a:avLst/>
              <a:gdLst/>
              <a:ahLst/>
              <a:cxnLst/>
              <a:rect r="r" b="b" t="t" l="l"/>
              <a:pathLst>
                <a:path h="486322" w="1351420">
                  <a:moveTo>
                    <a:pt x="0" y="0"/>
                  </a:moveTo>
                  <a:lnTo>
                    <a:pt x="1351420" y="0"/>
                  </a:lnTo>
                  <a:lnTo>
                    <a:pt x="1351420" y="486322"/>
                  </a:lnTo>
                  <a:lnTo>
                    <a:pt x="0" y="486322"/>
                  </a:lnTo>
                  <a:close/>
                </a:path>
              </a:pathLst>
            </a:custGeom>
            <a:blipFill>
              <a:blip r:embed="rId5">
                <a:alphaModFix amt="0"/>
              </a:blip>
              <a:stretch>
                <a:fillRect l="0" t="-4146" r="0" b="-4146"/>
              </a:stretch>
            </a:blipFill>
          </p:spPr>
        </p:sp>
        <p:sp>
          <p:nvSpPr>
            <p:cNvPr name="TextBox 276" id="276"/>
            <p:cNvSpPr txBox="true"/>
            <p:nvPr/>
          </p:nvSpPr>
          <p:spPr>
            <a:xfrm>
              <a:off x="0" y="9525"/>
              <a:ext cx="1351420" cy="476796"/>
            </a:xfrm>
            <a:prstGeom prst="rect">
              <a:avLst/>
            </a:prstGeom>
          </p:spPr>
          <p:txBody>
            <a:bodyPr anchor="ctr" rtlCol="false" tIns="0" lIns="0" bIns="0" rIns="0"/>
            <a:lstStyle/>
            <a:p>
              <a:pPr algn="l">
                <a:lnSpc>
                  <a:spcPts val="1082"/>
                </a:lnSpc>
              </a:pPr>
              <a:r>
                <a:rPr lang="en-US" sz="913">
                  <a:solidFill>
                    <a:srgbClr val="983108"/>
                  </a:solidFill>
                  <a:latin typeface="TT Commons Pro"/>
                  <a:ea typeface="TT Commons Pro"/>
                  <a:cs typeface="TT Commons Pro"/>
                  <a:sym typeface="TT Commons Pro"/>
                </a:rPr>
                <a:t>FOOD YOU LOVE</a:t>
              </a:r>
            </a:p>
            <a:p>
              <a:pPr algn="l">
                <a:lnSpc>
                  <a:spcPts val="1082"/>
                </a:lnSpc>
              </a:pPr>
              <a:r>
                <a:rPr lang="en-US" sz="913">
                  <a:solidFill>
                    <a:srgbClr val="983108"/>
                  </a:solidFill>
                  <a:latin typeface="TT Commons Pro"/>
                  <a:ea typeface="TT Commons Pro"/>
                  <a:cs typeface="TT Commons Pro"/>
                  <a:sym typeface="TT Commons Pro"/>
                </a:rPr>
                <a:t>DELIVERED FAST</a:t>
              </a:r>
            </a:p>
          </p:txBody>
        </p:sp>
      </p:grpSp>
      <p:grpSp>
        <p:nvGrpSpPr>
          <p:cNvPr name="Group 277" id="277"/>
          <p:cNvGrpSpPr/>
          <p:nvPr/>
        </p:nvGrpSpPr>
        <p:grpSpPr>
          <a:xfrm rot="0">
            <a:off x="838562" y="3383423"/>
            <a:ext cx="1866709" cy="357283"/>
            <a:chOff x="0" y="0"/>
            <a:chExt cx="2488946" cy="476377"/>
          </a:xfrm>
        </p:grpSpPr>
        <p:sp>
          <p:nvSpPr>
            <p:cNvPr name="Freeform 278" id="278" descr="preencoded.png"/>
            <p:cNvSpPr/>
            <p:nvPr/>
          </p:nvSpPr>
          <p:spPr>
            <a:xfrm flipH="false" flipV="false" rot="0">
              <a:off x="0" y="0"/>
              <a:ext cx="2488946" cy="476377"/>
            </a:xfrm>
            <a:custGeom>
              <a:avLst/>
              <a:gdLst/>
              <a:ahLst/>
              <a:cxnLst/>
              <a:rect r="r" b="b" t="t" l="l"/>
              <a:pathLst>
                <a:path h="476377" w="2488946">
                  <a:moveTo>
                    <a:pt x="0" y="0"/>
                  </a:moveTo>
                  <a:lnTo>
                    <a:pt x="2488946" y="0"/>
                  </a:lnTo>
                  <a:lnTo>
                    <a:pt x="2488946" y="476377"/>
                  </a:lnTo>
                  <a:lnTo>
                    <a:pt x="0" y="476377"/>
                  </a:lnTo>
                  <a:lnTo>
                    <a:pt x="0" y="0"/>
                  </a:lnTo>
                  <a:close/>
                </a:path>
              </a:pathLst>
            </a:custGeom>
            <a:blipFill>
              <a:blip r:embed="rId65"/>
              <a:stretch>
                <a:fillRect l="0" t="-890" r="0" b="-890"/>
              </a:stretch>
            </a:blipFill>
          </p:spPr>
        </p:sp>
      </p:grpSp>
      <p:grpSp>
        <p:nvGrpSpPr>
          <p:cNvPr name="Group 279" id="279"/>
          <p:cNvGrpSpPr/>
          <p:nvPr/>
        </p:nvGrpSpPr>
        <p:grpSpPr>
          <a:xfrm rot="0">
            <a:off x="1144819" y="3478216"/>
            <a:ext cx="1079192" cy="170040"/>
            <a:chOff x="0" y="0"/>
            <a:chExt cx="1438923" cy="226720"/>
          </a:xfrm>
        </p:grpSpPr>
        <p:sp>
          <p:nvSpPr>
            <p:cNvPr name="Freeform 280" id="280"/>
            <p:cNvSpPr/>
            <p:nvPr/>
          </p:nvSpPr>
          <p:spPr>
            <a:xfrm flipH="false" flipV="false" rot="0">
              <a:off x="0" y="0"/>
              <a:ext cx="1438910" cy="226695"/>
            </a:xfrm>
            <a:custGeom>
              <a:avLst/>
              <a:gdLst/>
              <a:ahLst/>
              <a:cxnLst/>
              <a:rect r="r" b="b" t="t" l="l"/>
              <a:pathLst>
                <a:path h="226695" w="1438910">
                  <a:moveTo>
                    <a:pt x="0" y="0"/>
                  </a:moveTo>
                  <a:lnTo>
                    <a:pt x="1438910" y="0"/>
                  </a:lnTo>
                  <a:lnTo>
                    <a:pt x="1438910" y="226695"/>
                  </a:lnTo>
                  <a:lnTo>
                    <a:pt x="0" y="226695"/>
                  </a:lnTo>
                  <a:close/>
                </a:path>
              </a:pathLst>
            </a:custGeom>
            <a:blipFill>
              <a:blip r:embed="rId4">
                <a:alphaModFix amt="0"/>
              </a:blip>
              <a:stretch>
                <a:fillRect l="0" t="-73591" r="0" b="-73596"/>
              </a:stretch>
            </a:blipFill>
          </p:spPr>
        </p:sp>
      </p:grpSp>
      <p:grpSp>
        <p:nvGrpSpPr>
          <p:cNvPr name="Group 281" id="281"/>
          <p:cNvGrpSpPr/>
          <p:nvPr/>
        </p:nvGrpSpPr>
        <p:grpSpPr>
          <a:xfrm rot="0">
            <a:off x="1144819" y="3456784"/>
            <a:ext cx="1079192" cy="191472"/>
            <a:chOff x="0" y="0"/>
            <a:chExt cx="1438923" cy="255295"/>
          </a:xfrm>
        </p:grpSpPr>
        <p:sp>
          <p:nvSpPr>
            <p:cNvPr name="Freeform 282" id="282"/>
            <p:cNvSpPr/>
            <p:nvPr/>
          </p:nvSpPr>
          <p:spPr>
            <a:xfrm flipH="false" flipV="false" rot="0">
              <a:off x="0" y="0"/>
              <a:ext cx="1438923" cy="255290"/>
            </a:xfrm>
            <a:custGeom>
              <a:avLst/>
              <a:gdLst/>
              <a:ahLst/>
              <a:cxnLst/>
              <a:rect r="r" b="b" t="t" l="l"/>
              <a:pathLst>
                <a:path h="255290" w="1438923">
                  <a:moveTo>
                    <a:pt x="0" y="0"/>
                  </a:moveTo>
                  <a:lnTo>
                    <a:pt x="1438923" y="0"/>
                  </a:lnTo>
                  <a:lnTo>
                    <a:pt x="1438923" y="255290"/>
                  </a:lnTo>
                  <a:lnTo>
                    <a:pt x="0" y="255290"/>
                  </a:lnTo>
                  <a:close/>
                </a:path>
              </a:pathLst>
            </a:custGeom>
            <a:blipFill>
              <a:blip r:embed="rId5">
                <a:alphaModFix amt="0"/>
              </a:blip>
              <a:stretch>
                <a:fillRect l="0" t="-59824" r="0" b="-59827"/>
              </a:stretch>
            </a:blipFill>
          </p:spPr>
        </p:sp>
        <p:sp>
          <p:nvSpPr>
            <p:cNvPr name="TextBox 283" id="283"/>
            <p:cNvSpPr txBox="true"/>
            <p:nvPr/>
          </p:nvSpPr>
          <p:spPr>
            <a:xfrm>
              <a:off x="0" y="-28575"/>
              <a:ext cx="1438923" cy="283870"/>
            </a:xfrm>
            <a:prstGeom prst="rect">
              <a:avLst/>
            </a:prstGeom>
          </p:spPr>
          <p:txBody>
            <a:bodyPr anchor="ctr" rtlCol="false" tIns="0" lIns="0" bIns="0" rIns="0"/>
            <a:lstStyle/>
            <a:p>
              <a:pPr algn="l">
                <a:lnSpc>
                  <a:spcPts val="1148"/>
                </a:lnSpc>
              </a:pPr>
              <a:r>
                <a:rPr lang="en-US" sz="798">
                  <a:solidFill>
                    <a:srgbClr val="9E9D9B"/>
                  </a:solidFill>
                  <a:latin typeface="TT Commons Pro"/>
                  <a:ea typeface="TT Commons Pro"/>
                  <a:cs typeface="TT Commons Pro"/>
                  <a:sym typeface="TT Commons Pro"/>
                </a:rPr>
                <a:t>Search for restaurants</a:t>
              </a:r>
            </a:p>
          </p:txBody>
        </p:sp>
      </p:grpSp>
      <p:grpSp>
        <p:nvGrpSpPr>
          <p:cNvPr name="Group 284" id="284"/>
          <p:cNvGrpSpPr/>
          <p:nvPr/>
        </p:nvGrpSpPr>
        <p:grpSpPr>
          <a:xfrm rot="0">
            <a:off x="940651" y="3441764"/>
            <a:ext cx="153124" cy="265738"/>
            <a:chOff x="0" y="0"/>
            <a:chExt cx="204165" cy="354317"/>
          </a:xfrm>
        </p:grpSpPr>
        <p:sp>
          <p:nvSpPr>
            <p:cNvPr name="Freeform 285" id="285"/>
            <p:cNvSpPr/>
            <p:nvPr/>
          </p:nvSpPr>
          <p:spPr>
            <a:xfrm flipH="false" flipV="false" rot="0">
              <a:off x="0" y="0"/>
              <a:ext cx="204216" cy="354330"/>
            </a:xfrm>
            <a:custGeom>
              <a:avLst/>
              <a:gdLst/>
              <a:ahLst/>
              <a:cxnLst/>
              <a:rect r="r" b="b" t="t" l="l"/>
              <a:pathLst>
                <a:path h="354330" w="204216">
                  <a:moveTo>
                    <a:pt x="0" y="0"/>
                  </a:moveTo>
                  <a:lnTo>
                    <a:pt x="204216" y="0"/>
                  </a:lnTo>
                  <a:lnTo>
                    <a:pt x="204216" y="354330"/>
                  </a:lnTo>
                  <a:lnTo>
                    <a:pt x="0" y="354330"/>
                  </a:lnTo>
                  <a:close/>
                </a:path>
              </a:pathLst>
            </a:custGeom>
            <a:blipFill>
              <a:blip r:embed="rId4">
                <a:alphaModFix amt="0"/>
              </a:blip>
              <a:stretch>
                <a:fillRect l="-172773" t="0" r="-172748" b="3"/>
              </a:stretch>
            </a:blipFill>
          </p:spPr>
        </p:sp>
      </p:grpSp>
      <p:grpSp>
        <p:nvGrpSpPr>
          <p:cNvPr name="Group 286" id="286"/>
          <p:cNvGrpSpPr/>
          <p:nvPr/>
        </p:nvGrpSpPr>
        <p:grpSpPr>
          <a:xfrm rot="0">
            <a:off x="940651" y="3470338"/>
            <a:ext cx="153133" cy="237163"/>
            <a:chOff x="0" y="0"/>
            <a:chExt cx="204178" cy="316217"/>
          </a:xfrm>
        </p:grpSpPr>
        <p:sp>
          <p:nvSpPr>
            <p:cNvPr name="Freeform 287" id="287"/>
            <p:cNvSpPr/>
            <p:nvPr/>
          </p:nvSpPr>
          <p:spPr>
            <a:xfrm flipH="false" flipV="false" rot="0">
              <a:off x="0" y="0"/>
              <a:ext cx="204177" cy="316220"/>
            </a:xfrm>
            <a:custGeom>
              <a:avLst/>
              <a:gdLst/>
              <a:ahLst/>
              <a:cxnLst/>
              <a:rect r="r" b="b" t="t" l="l"/>
              <a:pathLst>
                <a:path h="316220" w="204177">
                  <a:moveTo>
                    <a:pt x="0" y="0"/>
                  </a:moveTo>
                  <a:lnTo>
                    <a:pt x="204177" y="0"/>
                  </a:lnTo>
                  <a:lnTo>
                    <a:pt x="204177" y="316220"/>
                  </a:lnTo>
                  <a:lnTo>
                    <a:pt x="0" y="316220"/>
                  </a:lnTo>
                  <a:close/>
                </a:path>
              </a:pathLst>
            </a:custGeom>
            <a:blipFill>
              <a:blip r:embed="rId5">
                <a:alphaModFix amt="0"/>
              </a:blip>
              <a:stretch>
                <a:fillRect l="-148708" t="0" r="-148708" b="0"/>
              </a:stretch>
            </a:blipFill>
          </p:spPr>
        </p:sp>
        <p:sp>
          <p:nvSpPr>
            <p:cNvPr name="TextBox 288" id="288"/>
            <p:cNvSpPr txBox="true"/>
            <p:nvPr/>
          </p:nvSpPr>
          <p:spPr>
            <a:xfrm>
              <a:off x="0" y="38100"/>
              <a:ext cx="204178" cy="278117"/>
            </a:xfrm>
            <a:prstGeom prst="rect">
              <a:avLst/>
            </a:prstGeom>
          </p:spPr>
          <p:txBody>
            <a:bodyPr anchor="ctr" rtlCol="false" tIns="0" lIns="0" bIns="0" rIns="0"/>
            <a:lstStyle/>
            <a:p>
              <a:pPr algn="ctr">
                <a:lnSpc>
                  <a:spcPts val="1148"/>
                </a:lnSpc>
              </a:pPr>
              <a:r>
                <a:rPr lang="en-US" sz="1239" b="true">
                  <a:solidFill>
                    <a:srgbClr val="9B9B9B"/>
                  </a:solidFill>
                  <a:latin typeface="TT Commons Pro Bold"/>
                  <a:ea typeface="TT Commons Pro Bold"/>
                  <a:cs typeface="TT Commons Pro Bold"/>
                  <a:sym typeface="TT Commons Pro Bold"/>
                </a:rPr>
                <a:t>0</a:t>
              </a:r>
            </a:p>
          </p:txBody>
        </p:sp>
      </p:grpSp>
      <p:grpSp>
        <p:nvGrpSpPr>
          <p:cNvPr name="Group 289" id="289"/>
          <p:cNvGrpSpPr/>
          <p:nvPr/>
        </p:nvGrpSpPr>
        <p:grpSpPr>
          <a:xfrm rot="0">
            <a:off x="1305239" y="3004252"/>
            <a:ext cx="211455" cy="306229"/>
            <a:chOff x="0" y="0"/>
            <a:chExt cx="281940" cy="408305"/>
          </a:xfrm>
        </p:grpSpPr>
        <p:sp>
          <p:nvSpPr>
            <p:cNvPr name="Freeform 290" id="290" descr="preencoded.png"/>
            <p:cNvSpPr/>
            <p:nvPr/>
          </p:nvSpPr>
          <p:spPr>
            <a:xfrm flipH="false" flipV="false" rot="0">
              <a:off x="0" y="0"/>
              <a:ext cx="281940" cy="408305"/>
            </a:xfrm>
            <a:custGeom>
              <a:avLst/>
              <a:gdLst/>
              <a:ahLst/>
              <a:cxnLst/>
              <a:rect r="r" b="b" t="t" l="l"/>
              <a:pathLst>
                <a:path h="408305" w="281940">
                  <a:moveTo>
                    <a:pt x="0" y="0"/>
                  </a:moveTo>
                  <a:lnTo>
                    <a:pt x="281940" y="0"/>
                  </a:lnTo>
                  <a:lnTo>
                    <a:pt x="281940" y="408305"/>
                  </a:lnTo>
                  <a:lnTo>
                    <a:pt x="0" y="408305"/>
                  </a:lnTo>
                  <a:lnTo>
                    <a:pt x="0" y="0"/>
                  </a:lnTo>
                  <a:close/>
                </a:path>
              </a:pathLst>
            </a:custGeom>
            <a:blipFill>
              <a:blip r:embed="rId66"/>
              <a:stretch>
                <a:fillRect l="-3355" t="0" r="-3351" b="0"/>
              </a:stretch>
            </a:blipFill>
          </p:spPr>
        </p:sp>
      </p:grpSp>
      <p:grpSp>
        <p:nvGrpSpPr>
          <p:cNvPr name="Group 291" id="291"/>
          <p:cNvGrpSpPr/>
          <p:nvPr/>
        </p:nvGrpSpPr>
        <p:grpSpPr>
          <a:xfrm rot="0">
            <a:off x="2522982" y="2887580"/>
            <a:ext cx="94774" cy="58293"/>
            <a:chOff x="0" y="0"/>
            <a:chExt cx="126365" cy="77724"/>
          </a:xfrm>
        </p:grpSpPr>
        <p:sp>
          <p:nvSpPr>
            <p:cNvPr name="Freeform 292" id="292" descr="preencoded.png"/>
            <p:cNvSpPr/>
            <p:nvPr/>
          </p:nvSpPr>
          <p:spPr>
            <a:xfrm flipH="false" flipV="false" rot="0">
              <a:off x="0" y="0"/>
              <a:ext cx="126365" cy="77724"/>
            </a:xfrm>
            <a:custGeom>
              <a:avLst/>
              <a:gdLst/>
              <a:ahLst/>
              <a:cxnLst/>
              <a:rect r="r" b="b" t="t" l="l"/>
              <a:pathLst>
                <a:path h="77724" w="126365">
                  <a:moveTo>
                    <a:pt x="0" y="0"/>
                  </a:moveTo>
                  <a:lnTo>
                    <a:pt x="126365" y="0"/>
                  </a:lnTo>
                  <a:lnTo>
                    <a:pt x="126365" y="77724"/>
                  </a:lnTo>
                  <a:lnTo>
                    <a:pt x="0" y="77724"/>
                  </a:lnTo>
                  <a:lnTo>
                    <a:pt x="0" y="0"/>
                  </a:lnTo>
                  <a:close/>
                </a:path>
              </a:pathLst>
            </a:custGeom>
            <a:blipFill>
              <a:blip r:embed="rId67"/>
              <a:stretch>
                <a:fillRect l="-1256" t="0" r="-1256" b="0"/>
              </a:stretch>
            </a:blipFill>
          </p:spPr>
        </p:sp>
      </p:grpSp>
      <p:grpSp>
        <p:nvGrpSpPr>
          <p:cNvPr name="Group 293" id="293"/>
          <p:cNvGrpSpPr/>
          <p:nvPr/>
        </p:nvGrpSpPr>
        <p:grpSpPr>
          <a:xfrm rot="0">
            <a:off x="2406320" y="2872997"/>
            <a:ext cx="72962" cy="72962"/>
            <a:chOff x="0" y="0"/>
            <a:chExt cx="97282" cy="97282"/>
          </a:xfrm>
        </p:grpSpPr>
        <p:sp>
          <p:nvSpPr>
            <p:cNvPr name="Freeform 294" id="294" descr="preencoded.png"/>
            <p:cNvSpPr/>
            <p:nvPr/>
          </p:nvSpPr>
          <p:spPr>
            <a:xfrm flipH="false" flipV="false" rot="0">
              <a:off x="0" y="0"/>
              <a:ext cx="97282" cy="97282"/>
            </a:xfrm>
            <a:custGeom>
              <a:avLst/>
              <a:gdLst/>
              <a:ahLst/>
              <a:cxnLst/>
              <a:rect r="r" b="b" t="t" l="l"/>
              <a:pathLst>
                <a:path h="97282" w="97282">
                  <a:moveTo>
                    <a:pt x="0" y="0"/>
                  </a:moveTo>
                  <a:lnTo>
                    <a:pt x="97282" y="0"/>
                  </a:lnTo>
                  <a:lnTo>
                    <a:pt x="97282" y="97282"/>
                  </a:lnTo>
                  <a:lnTo>
                    <a:pt x="0" y="97282"/>
                  </a:lnTo>
                  <a:lnTo>
                    <a:pt x="0" y="0"/>
                  </a:lnTo>
                  <a:close/>
                </a:path>
              </a:pathLst>
            </a:custGeom>
            <a:blipFill>
              <a:blip r:embed="rId68"/>
              <a:stretch>
                <a:fillRect l="0" t="0" r="0" b="0"/>
              </a:stretch>
            </a:blipFill>
          </p:spPr>
        </p:sp>
      </p:grpSp>
      <p:grpSp>
        <p:nvGrpSpPr>
          <p:cNvPr name="Group 295" id="295"/>
          <p:cNvGrpSpPr/>
          <p:nvPr/>
        </p:nvGrpSpPr>
        <p:grpSpPr>
          <a:xfrm rot="0">
            <a:off x="15925438" y="860441"/>
            <a:ext cx="1830257" cy="875024"/>
            <a:chOff x="0" y="0"/>
            <a:chExt cx="2440343" cy="1166698"/>
          </a:xfrm>
        </p:grpSpPr>
        <p:sp>
          <p:nvSpPr>
            <p:cNvPr name="Freeform 296" id="296"/>
            <p:cNvSpPr/>
            <p:nvPr/>
          </p:nvSpPr>
          <p:spPr>
            <a:xfrm flipH="false" flipV="false" rot="0">
              <a:off x="0" y="0"/>
              <a:ext cx="2440305" cy="1166749"/>
            </a:xfrm>
            <a:custGeom>
              <a:avLst/>
              <a:gdLst/>
              <a:ahLst/>
              <a:cxnLst/>
              <a:rect r="r" b="b" t="t" l="l"/>
              <a:pathLst>
                <a:path h="1166749" w="2440305">
                  <a:moveTo>
                    <a:pt x="0" y="0"/>
                  </a:moveTo>
                  <a:lnTo>
                    <a:pt x="2440305" y="0"/>
                  </a:lnTo>
                  <a:lnTo>
                    <a:pt x="2440305" y="1166749"/>
                  </a:lnTo>
                  <a:lnTo>
                    <a:pt x="0" y="1166749"/>
                  </a:lnTo>
                  <a:close/>
                </a:path>
              </a:pathLst>
            </a:custGeom>
            <a:blipFill>
              <a:blip r:embed="rId4">
                <a:alphaModFix amt="0"/>
              </a:blip>
              <a:stretch>
                <a:fillRect l="-11383" t="0" r="-11384" b="4"/>
              </a:stretch>
            </a:blipFill>
          </p:spPr>
        </p:sp>
      </p:grpSp>
      <p:grpSp>
        <p:nvGrpSpPr>
          <p:cNvPr name="Group 297" id="297"/>
          <p:cNvGrpSpPr/>
          <p:nvPr/>
        </p:nvGrpSpPr>
        <p:grpSpPr>
          <a:xfrm rot="0">
            <a:off x="15925438" y="867585"/>
            <a:ext cx="1830257" cy="867880"/>
            <a:chOff x="0" y="0"/>
            <a:chExt cx="2440343" cy="1157173"/>
          </a:xfrm>
        </p:grpSpPr>
        <p:sp>
          <p:nvSpPr>
            <p:cNvPr name="Freeform 298" id="298"/>
            <p:cNvSpPr/>
            <p:nvPr/>
          </p:nvSpPr>
          <p:spPr>
            <a:xfrm flipH="false" flipV="false" rot="0">
              <a:off x="0" y="0"/>
              <a:ext cx="2440343" cy="1157174"/>
            </a:xfrm>
            <a:custGeom>
              <a:avLst/>
              <a:gdLst/>
              <a:ahLst/>
              <a:cxnLst/>
              <a:rect r="r" b="b" t="t" l="l"/>
              <a:pathLst>
                <a:path h="1157174" w="2440343">
                  <a:moveTo>
                    <a:pt x="0" y="0"/>
                  </a:moveTo>
                  <a:lnTo>
                    <a:pt x="2440343" y="0"/>
                  </a:lnTo>
                  <a:lnTo>
                    <a:pt x="2440343" y="1157174"/>
                  </a:lnTo>
                  <a:lnTo>
                    <a:pt x="0" y="1157174"/>
                  </a:lnTo>
                  <a:close/>
                </a:path>
              </a:pathLst>
            </a:custGeom>
            <a:blipFill>
              <a:blip r:embed="rId5">
                <a:alphaModFix amt="0"/>
              </a:blip>
              <a:stretch>
                <a:fillRect l="-10839" t="0" r="-10839" b="0"/>
              </a:stretch>
            </a:blipFill>
          </p:spPr>
        </p:sp>
        <p:sp>
          <p:nvSpPr>
            <p:cNvPr name="TextBox 299" id="299"/>
            <p:cNvSpPr txBox="true"/>
            <p:nvPr/>
          </p:nvSpPr>
          <p:spPr>
            <a:xfrm>
              <a:off x="0" y="9525"/>
              <a:ext cx="2440343" cy="1147648"/>
            </a:xfrm>
            <a:prstGeom prst="rect">
              <a:avLst/>
            </a:prstGeom>
          </p:spPr>
          <p:txBody>
            <a:bodyPr anchor="ctr" rtlCol="false" tIns="0" lIns="0" bIns="0" rIns="0"/>
            <a:lstStyle/>
            <a:p>
              <a:pPr algn="r">
                <a:lnSpc>
                  <a:spcPts val="1674"/>
                </a:lnSpc>
              </a:pPr>
              <a:r>
                <a:rPr lang="en-US" sz="1413">
                  <a:solidFill>
                    <a:srgbClr val="947E7D"/>
                  </a:solidFill>
                  <a:latin typeface="TT Commons Pro"/>
                  <a:ea typeface="TT Commons Pro"/>
                  <a:cs typeface="TT Commons Pro"/>
                  <a:sym typeface="TT Commons Pro"/>
                </a:rPr>
                <a:t>Discover more places.</a:t>
              </a:r>
            </a:p>
            <a:p>
              <a:pPr algn="r">
                <a:lnSpc>
                  <a:spcPts val="1674"/>
                </a:lnSpc>
              </a:pPr>
              <a:r>
                <a:rPr lang="en-US" sz="1413">
                  <a:solidFill>
                    <a:srgbClr val="947E7D"/>
                  </a:solidFill>
                  <a:latin typeface="TT Commons Pro"/>
                  <a:ea typeface="TT Commons Pro"/>
                  <a:cs typeface="TT Commons Pro"/>
                  <a:sym typeface="TT Commons Pro"/>
                </a:rPr>
                <a:t>More food.</a:t>
              </a:r>
            </a:p>
            <a:p>
              <a:pPr algn="r">
                <a:lnSpc>
                  <a:spcPts val="1674"/>
                </a:lnSpc>
              </a:pPr>
              <a:r>
                <a:rPr lang="en-US" sz="1413">
                  <a:solidFill>
                    <a:srgbClr val="947E7D"/>
                  </a:solidFill>
                  <a:latin typeface="TT Commons Pro"/>
                  <a:ea typeface="TT Commons Pro"/>
                  <a:cs typeface="TT Commons Pro"/>
                  <a:sym typeface="TT Commons Pro"/>
                </a:rPr>
                <a:t>More often.</a:t>
              </a:r>
            </a:p>
          </p:txBody>
        </p:sp>
      </p:grpSp>
      <p:grpSp>
        <p:nvGrpSpPr>
          <p:cNvPr name="Group 300" id="300"/>
          <p:cNvGrpSpPr/>
          <p:nvPr/>
        </p:nvGrpSpPr>
        <p:grpSpPr>
          <a:xfrm rot="0">
            <a:off x="14649355" y="1232325"/>
            <a:ext cx="415671" cy="605218"/>
            <a:chOff x="0" y="0"/>
            <a:chExt cx="554228" cy="806958"/>
          </a:xfrm>
        </p:grpSpPr>
        <p:sp>
          <p:nvSpPr>
            <p:cNvPr name="Freeform 301" id="301" descr="preencoded.png"/>
            <p:cNvSpPr/>
            <p:nvPr/>
          </p:nvSpPr>
          <p:spPr>
            <a:xfrm flipH="false" flipV="false" rot="0">
              <a:off x="0" y="0"/>
              <a:ext cx="554228" cy="806958"/>
            </a:xfrm>
            <a:custGeom>
              <a:avLst/>
              <a:gdLst/>
              <a:ahLst/>
              <a:cxnLst/>
              <a:rect r="r" b="b" t="t" l="l"/>
              <a:pathLst>
                <a:path h="806958" w="554228">
                  <a:moveTo>
                    <a:pt x="0" y="0"/>
                  </a:moveTo>
                  <a:lnTo>
                    <a:pt x="554228" y="0"/>
                  </a:lnTo>
                  <a:lnTo>
                    <a:pt x="554228" y="806958"/>
                  </a:lnTo>
                  <a:lnTo>
                    <a:pt x="0" y="806958"/>
                  </a:lnTo>
                  <a:lnTo>
                    <a:pt x="0" y="0"/>
                  </a:lnTo>
                  <a:close/>
                </a:path>
              </a:pathLst>
            </a:custGeom>
            <a:blipFill>
              <a:blip r:embed="rId69"/>
              <a:stretch>
                <a:fillRect l="-4" t="0" r="-4" b="0"/>
              </a:stretch>
            </a:blipFill>
          </p:spPr>
        </p:sp>
      </p:grpSp>
      <p:grpSp>
        <p:nvGrpSpPr>
          <p:cNvPr name="Group 302" id="302"/>
          <p:cNvGrpSpPr/>
          <p:nvPr/>
        </p:nvGrpSpPr>
        <p:grpSpPr>
          <a:xfrm rot="0">
            <a:off x="9114834" y="1830257"/>
            <a:ext cx="1130236" cy="72962"/>
            <a:chOff x="0" y="0"/>
            <a:chExt cx="1506982" cy="97282"/>
          </a:xfrm>
        </p:grpSpPr>
        <p:sp>
          <p:nvSpPr>
            <p:cNvPr name="Freeform 303" id="303" descr="preencoded.png"/>
            <p:cNvSpPr/>
            <p:nvPr/>
          </p:nvSpPr>
          <p:spPr>
            <a:xfrm flipH="false" flipV="false" rot="0">
              <a:off x="0" y="0"/>
              <a:ext cx="1506982" cy="97282"/>
            </a:xfrm>
            <a:custGeom>
              <a:avLst/>
              <a:gdLst/>
              <a:ahLst/>
              <a:cxnLst/>
              <a:rect r="r" b="b" t="t" l="l"/>
              <a:pathLst>
                <a:path h="97282" w="1506982">
                  <a:moveTo>
                    <a:pt x="0" y="0"/>
                  </a:moveTo>
                  <a:lnTo>
                    <a:pt x="1506982" y="0"/>
                  </a:lnTo>
                  <a:lnTo>
                    <a:pt x="1506982" y="97282"/>
                  </a:lnTo>
                  <a:lnTo>
                    <a:pt x="0" y="97282"/>
                  </a:lnTo>
                  <a:lnTo>
                    <a:pt x="0" y="0"/>
                  </a:lnTo>
                  <a:close/>
                </a:path>
              </a:pathLst>
            </a:custGeom>
            <a:blipFill>
              <a:blip r:embed="rId70"/>
              <a:stretch>
                <a:fillRect l="-209" t="0" r="-208" b="0"/>
              </a:stretch>
            </a:blipFill>
          </p:spPr>
        </p:sp>
      </p:grpSp>
      <p:grpSp>
        <p:nvGrpSpPr>
          <p:cNvPr name="Group 304" id="304"/>
          <p:cNvGrpSpPr/>
          <p:nvPr/>
        </p:nvGrpSpPr>
        <p:grpSpPr>
          <a:xfrm rot="0">
            <a:off x="7911675" y="1815675"/>
            <a:ext cx="1115663" cy="87535"/>
            <a:chOff x="0" y="0"/>
            <a:chExt cx="1487551" cy="116713"/>
          </a:xfrm>
        </p:grpSpPr>
        <p:sp>
          <p:nvSpPr>
            <p:cNvPr name="Freeform 305" id="305" descr="preencoded.png"/>
            <p:cNvSpPr/>
            <p:nvPr/>
          </p:nvSpPr>
          <p:spPr>
            <a:xfrm flipH="false" flipV="false" rot="0">
              <a:off x="0" y="0"/>
              <a:ext cx="1487551" cy="116713"/>
            </a:xfrm>
            <a:custGeom>
              <a:avLst/>
              <a:gdLst/>
              <a:ahLst/>
              <a:cxnLst/>
              <a:rect r="r" b="b" t="t" l="l"/>
              <a:pathLst>
                <a:path h="116713" w="1487551">
                  <a:moveTo>
                    <a:pt x="0" y="0"/>
                  </a:moveTo>
                  <a:lnTo>
                    <a:pt x="1487551" y="0"/>
                  </a:lnTo>
                  <a:lnTo>
                    <a:pt x="1487551" y="116713"/>
                  </a:lnTo>
                  <a:lnTo>
                    <a:pt x="0" y="116713"/>
                  </a:lnTo>
                  <a:lnTo>
                    <a:pt x="0" y="0"/>
                  </a:lnTo>
                  <a:close/>
                </a:path>
              </a:pathLst>
            </a:custGeom>
            <a:blipFill>
              <a:blip r:embed="rId71"/>
              <a:stretch>
                <a:fillRect l="0" t="-794" r="0" b="-794"/>
              </a:stretch>
            </a:blipFill>
          </p:spPr>
        </p:sp>
      </p:grpSp>
      <p:grpSp>
        <p:nvGrpSpPr>
          <p:cNvPr name="Group 306" id="306"/>
          <p:cNvGrpSpPr/>
          <p:nvPr/>
        </p:nvGrpSpPr>
        <p:grpSpPr>
          <a:xfrm rot="0">
            <a:off x="8123139" y="1378163"/>
            <a:ext cx="1990677" cy="546249"/>
            <a:chOff x="0" y="0"/>
            <a:chExt cx="2654236" cy="728332"/>
          </a:xfrm>
        </p:grpSpPr>
        <p:sp>
          <p:nvSpPr>
            <p:cNvPr name="Freeform 307" id="307"/>
            <p:cNvSpPr/>
            <p:nvPr/>
          </p:nvSpPr>
          <p:spPr>
            <a:xfrm flipH="false" flipV="false" rot="0">
              <a:off x="0" y="0"/>
              <a:ext cx="2654300" cy="728345"/>
            </a:xfrm>
            <a:custGeom>
              <a:avLst/>
              <a:gdLst/>
              <a:ahLst/>
              <a:cxnLst/>
              <a:rect r="r" b="b" t="t" l="l"/>
              <a:pathLst>
                <a:path h="728345" w="2654300">
                  <a:moveTo>
                    <a:pt x="0" y="0"/>
                  </a:moveTo>
                  <a:lnTo>
                    <a:pt x="2654300" y="0"/>
                  </a:lnTo>
                  <a:lnTo>
                    <a:pt x="2654300" y="728345"/>
                  </a:lnTo>
                  <a:lnTo>
                    <a:pt x="0" y="728345"/>
                  </a:lnTo>
                  <a:close/>
                </a:path>
              </a:pathLst>
            </a:custGeom>
            <a:blipFill>
              <a:blip r:embed="rId4">
                <a:alphaModFix amt="0"/>
              </a:blip>
              <a:stretch>
                <a:fillRect l="0" t="-20959" r="2" b="-20957"/>
              </a:stretch>
            </a:blipFill>
          </p:spPr>
        </p:sp>
      </p:grpSp>
      <p:grpSp>
        <p:nvGrpSpPr>
          <p:cNvPr name="Group 308" id="308"/>
          <p:cNvGrpSpPr/>
          <p:nvPr/>
        </p:nvGrpSpPr>
        <p:grpSpPr>
          <a:xfrm rot="0">
            <a:off x="8123139" y="1421025"/>
            <a:ext cx="1990677" cy="503387"/>
            <a:chOff x="0" y="0"/>
            <a:chExt cx="2654236" cy="671182"/>
          </a:xfrm>
        </p:grpSpPr>
        <p:sp>
          <p:nvSpPr>
            <p:cNvPr name="Freeform 309" id="309"/>
            <p:cNvSpPr/>
            <p:nvPr/>
          </p:nvSpPr>
          <p:spPr>
            <a:xfrm flipH="false" flipV="false" rot="0">
              <a:off x="0" y="0"/>
              <a:ext cx="2654236" cy="671183"/>
            </a:xfrm>
            <a:custGeom>
              <a:avLst/>
              <a:gdLst/>
              <a:ahLst/>
              <a:cxnLst/>
              <a:rect r="r" b="b" t="t" l="l"/>
              <a:pathLst>
                <a:path h="671183" w="2654236">
                  <a:moveTo>
                    <a:pt x="0" y="0"/>
                  </a:moveTo>
                  <a:lnTo>
                    <a:pt x="2654236" y="0"/>
                  </a:lnTo>
                  <a:lnTo>
                    <a:pt x="2654236" y="671183"/>
                  </a:lnTo>
                  <a:lnTo>
                    <a:pt x="0" y="671183"/>
                  </a:lnTo>
                  <a:close/>
                </a:path>
              </a:pathLst>
            </a:custGeom>
            <a:blipFill>
              <a:blip r:embed="rId5">
                <a:alphaModFix amt="0"/>
              </a:blip>
              <a:stretch>
                <a:fillRect l="0" t="-27054" r="0" b="-27054"/>
              </a:stretch>
            </a:blipFill>
          </p:spPr>
        </p:sp>
        <p:sp>
          <p:nvSpPr>
            <p:cNvPr name="TextBox 310" id="310"/>
            <p:cNvSpPr txBox="true"/>
            <p:nvPr/>
          </p:nvSpPr>
          <p:spPr>
            <a:xfrm>
              <a:off x="0" y="57150"/>
              <a:ext cx="2654236" cy="614032"/>
            </a:xfrm>
            <a:prstGeom prst="rect">
              <a:avLst/>
            </a:prstGeom>
          </p:spPr>
          <p:txBody>
            <a:bodyPr anchor="ctr" rtlCol="false" tIns="0" lIns="0" bIns="0" rIns="0"/>
            <a:lstStyle/>
            <a:p>
              <a:pPr algn="l">
                <a:lnSpc>
                  <a:spcPts val="2494"/>
                </a:lnSpc>
              </a:pPr>
              <a:r>
                <a:rPr lang="en-US" sz="2532">
                  <a:solidFill>
                    <a:srgbClr val="A5A5A5"/>
                  </a:solidFill>
                  <a:latin typeface="TT Commons Pro"/>
                  <a:ea typeface="TT Commons Pro"/>
                  <a:cs typeface="TT Commons Pro"/>
                  <a:sym typeface="TT Commons Pro"/>
                </a:rPr>
                <a:t>Project Goals</a:t>
              </a:r>
            </a:p>
          </p:txBody>
        </p:sp>
      </p:grpSp>
      <p:grpSp>
        <p:nvGrpSpPr>
          <p:cNvPr name="Group 311" id="311"/>
          <p:cNvGrpSpPr/>
          <p:nvPr/>
        </p:nvGrpSpPr>
        <p:grpSpPr>
          <a:xfrm rot="0">
            <a:off x="2603192" y="1232325"/>
            <a:ext cx="503110" cy="670846"/>
            <a:chOff x="0" y="0"/>
            <a:chExt cx="670814" cy="894461"/>
          </a:xfrm>
        </p:grpSpPr>
        <p:sp>
          <p:nvSpPr>
            <p:cNvPr name="Freeform 312" id="312" descr="preencoded.png"/>
            <p:cNvSpPr/>
            <p:nvPr/>
          </p:nvSpPr>
          <p:spPr>
            <a:xfrm flipH="false" flipV="false" rot="0">
              <a:off x="0" y="0"/>
              <a:ext cx="670814" cy="894461"/>
            </a:xfrm>
            <a:custGeom>
              <a:avLst/>
              <a:gdLst/>
              <a:ahLst/>
              <a:cxnLst/>
              <a:rect r="r" b="b" t="t" l="l"/>
              <a:pathLst>
                <a:path h="894461" w="670814">
                  <a:moveTo>
                    <a:pt x="0" y="0"/>
                  </a:moveTo>
                  <a:lnTo>
                    <a:pt x="670814" y="0"/>
                  </a:lnTo>
                  <a:lnTo>
                    <a:pt x="670814" y="894461"/>
                  </a:lnTo>
                  <a:lnTo>
                    <a:pt x="0" y="894461"/>
                  </a:lnTo>
                  <a:lnTo>
                    <a:pt x="0" y="0"/>
                  </a:lnTo>
                  <a:close/>
                </a:path>
              </a:pathLst>
            </a:custGeom>
            <a:blipFill>
              <a:blip r:embed="rId72"/>
              <a:stretch>
                <a:fillRect l="-304" t="0" r="-306" b="0"/>
              </a:stretch>
            </a:blipFill>
          </p:spPr>
        </p:sp>
      </p:grpSp>
      <p:grpSp>
        <p:nvGrpSpPr>
          <p:cNvPr name="Group 313" id="313"/>
          <p:cNvGrpSpPr/>
          <p:nvPr/>
        </p:nvGrpSpPr>
        <p:grpSpPr>
          <a:xfrm rot="0">
            <a:off x="342719" y="1604210"/>
            <a:ext cx="1283370" cy="546897"/>
            <a:chOff x="0" y="0"/>
            <a:chExt cx="1711160" cy="729196"/>
          </a:xfrm>
        </p:grpSpPr>
        <p:sp>
          <p:nvSpPr>
            <p:cNvPr name="Freeform 314" id="314"/>
            <p:cNvSpPr/>
            <p:nvPr/>
          </p:nvSpPr>
          <p:spPr>
            <a:xfrm flipH="false" flipV="false" rot="0">
              <a:off x="0" y="0"/>
              <a:ext cx="1711198" cy="729234"/>
            </a:xfrm>
            <a:custGeom>
              <a:avLst/>
              <a:gdLst/>
              <a:ahLst/>
              <a:cxnLst/>
              <a:rect r="r" b="b" t="t" l="l"/>
              <a:pathLst>
                <a:path h="729234" w="1711198">
                  <a:moveTo>
                    <a:pt x="0" y="0"/>
                  </a:moveTo>
                  <a:lnTo>
                    <a:pt x="1711198" y="0"/>
                  </a:lnTo>
                  <a:lnTo>
                    <a:pt x="1711198" y="729234"/>
                  </a:lnTo>
                  <a:lnTo>
                    <a:pt x="0" y="729234"/>
                  </a:lnTo>
                  <a:close/>
                </a:path>
              </a:pathLst>
            </a:custGeom>
            <a:blipFill>
              <a:blip r:embed="rId4">
                <a:alphaModFix amt="0"/>
              </a:blip>
              <a:stretch>
                <a:fillRect l="-4712" t="0" r="-4710" b="5"/>
              </a:stretch>
            </a:blipFill>
          </p:spPr>
        </p:sp>
      </p:grpSp>
      <p:grpSp>
        <p:nvGrpSpPr>
          <p:cNvPr name="Group 315" id="315"/>
          <p:cNvGrpSpPr/>
          <p:nvPr/>
        </p:nvGrpSpPr>
        <p:grpSpPr>
          <a:xfrm rot="0">
            <a:off x="342719" y="1604210"/>
            <a:ext cx="1283370" cy="546887"/>
            <a:chOff x="0" y="0"/>
            <a:chExt cx="1711160" cy="729183"/>
          </a:xfrm>
        </p:grpSpPr>
        <p:sp>
          <p:nvSpPr>
            <p:cNvPr name="Freeform 316" id="316"/>
            <p:cNvSpPr/>
            <p:nvPr/>
          </p:nvSpPr>
          <p:spPr>
            <a:xfrm flipH="false" flipV="false" rot="0">
              <a:off x="0" y="0"/>
              <a:ext cx="1711160" cy="729187"/>
            </a:xfrm>
            <a:custGeom>
              <a:avLst/>
              <a:gdLst/>
              <a:ahLst/>
              <a:cxnLst/>
              <a:rect r="r" b="b" t="t" l="l"/>
              <a:pathLst>
                <a:path h="729187" w="1711160">
                  <a:moveTo>
                    <a:pt x="0" y="0"/>
                  </a:moveTo>
                  <a:lnTo>
                    <a:pt x="1711160" y="0"/>
                  </a:lnTo>
                  <a:lnTo>
                    <a:pt x="1711160" y="729187"/>
                  </a:lnTo>
                  <a:lnTo>
                    <a:pt x="0" y="729187"/>
                  </a:lnTo>
                  <a:close/>
                </a:path>
              </a:pathLst>
            </a:custGeom>
            <a:blipFill>
              <a:blip r:embed="rId5">
                <a:alphaModFix amt="0"/>
              </a:blip>
              <a:stretch>
                <a:fillRect l="-4674" t="0" r="-4674" b="0"/>
              </a:stretch>
            </a:blipFill>
          </p:spPr>
        </p:sp>
        <p:sp>
          <p:nvSpPr>
            <p:cNvPr name="TextBox 317" id="317"/>
            <p:cNvSpPr txBox="true"/>
            <p:nvPr/>
          </p:nvSpPr>
          <p:spPr>
            <a:xfrm>
              <a:off x="0" y="0"/>
              <a:ext cx="1711160" cy="729183"/>
            </a:xfrm>
            <a:prstGeom prst="rect">
              <a:avLst/>
            </a:prstGeom>
          </p:spPr>
          <p:txBody>
            <a:bodyPr anchor="ctr" rtlCol="false" tIns="0" lIns="0" bIns="0" rIns="0"/>
            <a:lstStyle/>
            <a:p>
              <a:pPr algn="l">
                <a:lnSpc>
                  <a:spcPts val="1770"/>
                </a:lnSpc>
              </a:pPr>
              <a:r>
                <a:rPr lang="en-US" sz="1493">
                  <a:solidFill>
                    <a:srgbClr val="877B77"/>
                  </a:solidFill>
                  <a:latin typeface="TT Commons Pro"/>
                  <a:ea typeface="TT Commons Pro"/>
                  <a:cs typeface="TT Commons Pro"/>
                  <a:sym typeface="TT Commons Pro"/>
                </a:rPr>
                <a:t>Food you love,</a:t>
              </a:r>
            </a:p>
            <a:p>
              <a:pPr algn="l">
                <a:lnSpc>
                  <a:spcPts val="1770"/>
                </a:lnSpc>
              </a:pPr>
              <a:r>
                <a:rPr lang="en-US" sz="1493">
                  <a:solidFill>
                    <a:srgbClr val="877B77"/>
                  </a:solidFill>
                  <a:latin typeface="TT Commons Pro"/>
                  <a:ea typeface="TT Commons Pro"/>
                  <a:cs typeface="TT Commons Pro"/>
                  <a:sym typeface="TT Commons Pro"/>
                </a:rPr>
                <a:t>delivered.</a:t>
              </a:r>
            </a:p>
          </p:txBody>
        </p:sp>
      </p:grpSp>
      <p:grpSp>
        <p:nvGrpSpPr>
          <p:cNvPr name="Group 318" id="318"/>
          <p:cNvGrpSpPr/>
          <p:nvPr/>
        </p:nvGrpSpPr>
        <p:grpSpPr>
          <a:xfrm rot="0">
            <a:off x="357302" y="1217743"/>
            <a:ext cx="1225029" cy="454714"/>
            <a:chOff x="0" y="0"/>
            <a:chExt cx="1633372" cy="606285"/>
          </a:xfrm>
        </p:grpSpPr>
        <p:sp>
          <p:nvSpPr>
            <p:cNvPr name="Freeform 319" id="319"/>
            <p:cNvSpPr/>
            <p:nvPr/>
          </p:nvSpPr>
          <p:spPr>
            <a:xfrm flipH="false" flipV="false" rot="0">
              <a:off x="0" y="0"/>
              <a:ext cx="1633347" cy="606298"/>
            </a:xfrm>
            <a:custGeom>
              <a:avLst/>
              <a:gdLst/>
              <a:ahLst/>
              <a:cxnLst/>
              <a:rect r="r" b="b" t="t" l="l"/>
              <a:pathLst>
                <a:path h="606298" w="1633347">
                  <a:moveTo>
                    <a:pt x="0" y="0"/>
                  </a:moveTo>
                  <a:lnTo>
                    <a:pt x="1633347" y="0"/>
                  </a:lnTo>
                  <a:lnTo>
                    <a:pt x="1633347" y="606298"/>
                  </a:lnTo>
                  <a:lnTo>
                    <a:pt x="0" y="606298"/>
                  </a:lnTo>
                  <a:close/>
                </a:path>
              </a:pathLst>
            </a:custGeom>
            <a:blipFill>
              <a:blip r:embed="rId4">
                <a:alphaModFix amt="0"/>
              </a:blip>
              <a:stretch>
                <a:fillRect l="0" t="-2457" r="-1" b="-2457"/>
              </a:stretch>
            </a:blipFill>
          </p:spPr>
        </p:sp>
      </p:grpSp>
      <p:grpSp>
        <p:nvGrpSpPr>
          <p:cNvPr name="Group 320" id="320"/>
          <p:cNvGrpSpPr/>
          <p:nvPr/>
        </p:nvGrpSpPr>
        <p:grpSpPr>
          <a:xfrm rot="0">
            <a:off x="357302" y="1282036"/>
            <a:ext cx="1225029" cy="390420"/>
            <a:chOff x="0" y="0"/>
            <a:chExt cx="1633372" cy="520560"/>
          </a:xfrm>
        </p:grpSpPr>
        <p:sp>
          <p:nvSpPr>
            <p:cNvPr name="Freeform 321" id="321"/>
            <p:cNvSpPr/>
            <p:nvPr/>
          </p:nvSpPr>
          <p:spPr>
            <a:xfrm flipH="false" flipV="false" rot="0">
              <a:off x="0" y="0"/>
              <a:ext cx="1633372" cy="520560"/>
            </a:xfrm>
            <a:custGeom>
              <a:avLst/>
              <a:gdLst/>
              <a:ahLst/>
              <a:cxnLst/>
              <a:rect r="r" b="b" t="t" l="l"/>
              <a:pathLst>
                <a:path h="520560" w="1633372">
                  <a:moveTo>
                    <a:pt x="0" y="0"/>
                  </a:moveTo>
                  <a:lnTo>
                    <a:pt x="1633372" y="0"/>
                  </a:lnTo>
                  <a:lnTo>
                    <a:pt x="1633372" y="520560"/>
                  </a:lnTo>
                  <a:lnTo>
                    <a:pt x="0" y="520560"/>
                  </a:lnTo>
                  <a:close/>
                </a:path>
              </a:pathLst>
            </a:custGeom>
            <a:blipFill>
              <a:blip r:embed="rId5">
                <a:alphaModFix amt="0"/>
              </a:blip>
              <a:stretch>
                <a:fillRect l="0" t="-11138" r="0" b="-11138"/>
              </a:stretch>
            </a:blipFill>
          </p:spPr>
        </p:sp>
        <p:sp>
          <p:nvSpPr>
            <p:cNvPr name="TextBox 322" id="322"/>
            <p:cNvSpPr txBox="true"/>
            <p:nvPr/>
          </p:nvSpPr>
          <p:spPr>
            <a:xfrm>
              <a:off x="0" y="85725"/>
              <a:ext cx="1633372" cy="434835"/>
            </a:xfrm>
            <a:prstGeom prst="rect">
              <a:avLst/>
            </a:prstGeom>
          </p:spPr>
          <p:txBody>
            <a:bodyPr anchor="ctr" rtlCol="false" tIns="0" lIns="0" bIns="0" rIns="0"/>
            <a:lstStyle/>
            <a:p>
              <a:pPr algn="l">
                <a:lnSpc>
                  <a:spcPts val="1664"/>
                </a:lnSpc>
              </a:pPr>
              <a:r>
                <a:rPr lang="en-US" sz="2107" b="true">
                  <a:solidFill>
                    <a:srgbClr val="A14A18"/>
                  </a:solidFill>
                  <a:latin typeface="TT Commons Pro Bold"/>
                  <a:ea typeface="TT Commons Pro Bold"/>
                  <a:cs typeface="TT Commons Pro Bold"/>
                  <a:sym typeface="TT Commons Pro Bold"/>
                </a:rPr>
                <a:t>SWIGGY</a:t>
              </a:r>
            </a:p>
          </p:txBody>
        </p:sp>
      </p:grpSp>
      <p:grpSp>
        <p:nvGrpSpPr>
          <p:cNvPr name="Group 323" id="323"/>
          <p:cNvGrpSpPr/>
          <p:nvPr/>
        </p:nvGrpSpPr>
        <p:grpSpPr>
          <a:xfrm rot="0">
            <a:off x="15925438" y="291675"/>
            <a:ext cx="1822971" cy="811921"/>
            <a:chOff x="0" y="0"/>
            <a:chExt cx="2430628" cy="1082561"/>
          </a:xfrm>
        </p:grpSpPr>
        <p:sp>
          <p:nvSpPr>
            <p:cNvPr name="Freeform 324" id="324"/>
            <p:cNvSpPr/>
            <p:nvPr/>
          </p:nvSpPr>
          <p:spPr>
            <a:xfrm flipH="false" flipV="false" rot="0">
              <a:off x="0" y="0"/>
              <a:ext cx="2430653" cy="1082548"/>
            </a:xfrm>
            <a:custGeom>
              <a:avLst/>
              <a:gdLst/>
              <a:ahLst/>
              <a:cxnLst/>
              <a:rect r="r" b="b" t="t" l="l"/>
              <a:pathLst>
                <a:path h="1082548" w="2430653">
                  <a:moveTo>
                    <a:pt x="0" y="0"/>
                  </a:moveTo>
                  <a:lnTo>
                    <a:pt x="2430653" y="0"/>
                  </a:lnTo>
                  <a:lnTo>
                    <a:pt x="2430653" y="1082548"/>
                  </a:lnTo>
                  <a:lnTo>
                    <a:pt x="0" y="1082548"/>
                  </a:lnTo>
                  <a:close/>
                </a:path>
              </a:pathLst>
            </a:custGeom>
            <a:blipFill>
              <a:blip r:embed="rId4">
                <a:alphaModFix amt="0"/>
              </a:blip>
              <a:stretch>
                <a:fillRect l="-7183" t="0" r="-7182" b="-1"/>
              </a:stretch>
            </a:blipFill>
          </p:spPr>
        </p:sp>
      </p:grpSp>
      <p:grpSp>
        <p:nvGrpSpPr>
          <p:cNvPr name="Group 325" id="325"/>
          <p:cNvGrpSpPr/>
          <p:nvPr/>
        </p:nvGrpSpPr>
        <p:grpSpPr>
          <a:xfrm rot="0">
            <a:off x="15925438" y="398831"/>
            <a:ext cx="1822971" cy="704764"/>
            <a:chOff x="0" y="0"/>
            <a:chExt cx="2430628" cy="939686"/>
          </a:xfrm>
        </p:grpSpPr>
        <p:sp>
          <p:nvSpPr>
            <p:cNvPr name="Freeform 326" id="326"/>
            <p:cNvSpPr/>
            <p:nvPr/>
          </p:nvSpPr>
          <p:spPr>
            <a:xfrm flipH="false" flipV="false" rot="0">
              <a:off x="0" y="0"/>
              <a:ext cx="2430628" cy="939681"/>
            </a:xfrm>
            <a:custGeom>
              <a:avLst/>
              <a:gdLst/>
              <a:ahLst/>
              <a:cxnLst/>
              <a:rect r="r" b="b" t="t" l="l"/>
              <a:pathLst>
                <a:path h="939681" w="2430628">
                  <a:moveTo>
                    <a:pt x="0" y="0"/>
                  </a:moveTo>
                  <a:lnTo>
                    <a:pt x="2430628" y="0"/>
                  </a:lnTo>
                  <a:lnTo>
                    <a:pt x="2430628" y="939681"/>
                  </a:lnTo>
                  <a:lnTo>
                    <a:pt x="0" y="939681"/>
                  </a:lnTo>
                  <a:close/>
                </a:path>
              </a:pathLst>
            </a:custGeom>
            <a:blipFill>
              <a:blip r:embed="rId5">
                <a:alphaModFix amt="0"/>
              </a:blip>
              <a:stretch>
                <a:fillRect l="0" t="-400" r="0" b="-401"/>
              </a:stretch>
            </a:blipFill>
          </p:spPr>
        </p:sp>
        <p:sp>
          <p:nvSpPr>
            <p:cNvPr name="TextBox 327" id="327"/>
            <p:cNvSpPr txBox="true"/>
            <p:nvPr/>
          </p:nvSpPr>
          <p:spPr>
            <a:xfrm>
              <a:off x="0" y="142875"/>
              <a:ext cx="2430628" cy="796811"/>
            </a:xfrm>
            <a:prstGeom prst="rect">
              <a:avLst/>
            </a:prstGeom>
          </p:spPr>
          <p:txBody>
            <a:bodyPr anchor="ctr" rtlCol="false" tIns="0" lIns="0" bIns="0" rIns="0"/>
            <a:lstStyle/>
            <a:p>
              <a:pPr algn="l">
                <a:lnSpc>
                  <a:spcPts val="3043"/>
                </a:lnSpc>
              </a:pPr>
              <a:r>
                <a:rPr lang="en-US" b="true" sz="3772" i="true">
                  <a:solidFill>
                    <a:srgbClr val="DBD4D3"/>
                  </a:solidFill>
                  <a:latin typeface="TT Commons Pro Bold Italics"/>
                  <a:ea typeface="TT Commons Pro Bold Italics"/>
                  <a:cs typeface="TT Commons Pro Bold Italics"/>
                  <a:sym typeface="TT Commons Pro Bold Italics"/>
                </a:rPr>
                <a:t>zomato</a:t>
              </a:r>
            </a:p>
          </p:txBody>
        </p:sp>
      </p:grpSp>
      <p:grpSp>
        <p:nvGrpSpPr>
          <p:cNvPr name="Group 328" id="328"/>
          <p:cNvGrpSpPr/>
          <p:nvPr/>
        </p:nvGrpSpPr>
        <p:grpSpPr>
          <a:xfrm rot="0">
            <a:off x="12170121" y="583349"/>
            <a:ext cx="2763584" cy="174974"/>
            <a:chOff x="0" y="0"/>
            <a:chExt cx="3684778" cy="233299"/>
          </a:xfrm>
        </p:grpSpPr>
        <p:sp>
          <p:nvSpPr>
            <p:cNvPr name="Freeform 329" id="329" descr="preencoded.png"/>
            <p:cNvSpPr/>
            <p:nvPr/>
          </p:nvSpPr>
          <p:spPr>
            <a:xfrm flipH="false" flipV="false" rot="0">
              <a:off x="0" y="0"/>
              <a:ext cx="3684778" cy="233299"/>
            </a:xfrm>
            <a:custGeom>
              <a:avLst/>
              <a:gdLst/>
              <a:ahLst/>
              <a:cxnLst/>
              <a:rect r="r" b="b" t="t" l="l"/>
              <a:pathLst>
                <a:path h="233299" w="3684778">
                  <a:moveTo>
                    <a:pt x="0" y="0"/>
                  </a:moveTo>
                  <a:lnTo>
                    <a:pt x="3684778" y="0"/>
                  </a:lnTo>
                  <a:lnTo>
                    <a:pt x="3684778" y="233299"/>
                  </a:lnTo>
                  <a:lnTo>
                    <a:pt x="0" y="233299"/>
                  </a:lnTo>
                  <a:lnTo>
                    <a:pt x="0" y="0"/>
                  </a:lnTo>
                  <a:close/>
                </a:path>
              </a:pathLst>
            </a:custGeom>
            <a:blipFill>
              <a:blip r:embed="rId73"/>
              <a:stretch>
                <a:fillRect l="0" t="-800" r="0" b="-800"/>
              </a:stretch>
            </a:blipFill>
          </p:spPr>
        </p:sp>
      </p:grpSp>
      <p:grpSp>
        <p:nvGrpSpPr>
          <p:cNvPr name="Group 330" id="330"/>
          <p:cNvGrpSpPr/>
          <p:nvPr/>
        </p:nvGrpSpPr>
        <p:grpSpPr>
          <a:xfrm rot="0">
            <a:off x="6373101" y="-144780"/>
            <a:ext cx="6788077" cy="1745590"/>
            <a:chOff x="0" y="0"/>
            <a:chExt cx="9050769" cy="2327453"/>
          </a:xfrm>
        </p:grpSpPr>
        <p:sp>
          <p:nvSpPr>
            <p:cNvPr name="Freeform 331" id="331"/>
            <p:cNvSpPr/>
            <p:nvPr/>
          </p:nvSpPr>
          <p:spPr>
            <a:xfrm flipH="false" flipV="false" rot="0">
              <a:off x="0" y="0"/>
              <a:ext cx="9050782" cy="2327402"/>
            </a:xfrm>
            <a:custGeom>
              <a:avLst/>
              <a:gdLst/>
              <a:ahLst/>
              <a:cxnLst/>
              <a:rect r="r" b="b" t="t" l="l"/>
              <a:pathLst>
                <a:path h="2327402" w="9050782">
                  <a:moveTo>
                    <a:pt x="0" y="0"/>
                  </a:moveTo>
                  <a:lnTo>
                    <a:pt x="9050782" y="0"/>
                  </a:lnTo>
                  <a:lnTo>
                    <a:pt x="9050782" y="2327402"/>
                  </a:lnTo>
                  <a:lnTo>
                    <a:pt x="0" y="2327402"/>
                  </a:lnTo>
                  <a:close/>
                </a:path>
              </a:pathLst>
            </a:custGeom>
            <a:blipFill>
              <a:blip r:embed="rId4">
                <a:alphaModFix amt="0"/>
              </a:blip>
              <a:stretch>
                <a:fillRect l="0" t="-25719" r="0" b="-25721"/>
              </a:stretch>
            </a:blipFill>
          </p:spPr>
        </p:sp>
      </p:grpSp>
      <p:grpSp>
        <p:nvGrpSpPr>
          <p:cNvPr name="Group 332" id="332"/>
          <p:cNvGrpSpPr/>
          <p:nvPr/>
        </p:nvGrpSpPr>
        <p:grpSpPr>
          <a:xfrm rot="0">
            <a:off x="6373101" y="-9049"/>
            <a:ext cx="6788067" cy="1609868"/>
            <a:chOff x="0" y="0"/>
            <a:chExt cx="9050757" cy="2146490"/>
          </a:xfrm>
        </p:grpSpPr>
        <p:sp>
          <p:nvSpPr>
            <p:cNvPr name="Freeform 333" id="333"/>
            <p:cNvSpPr/>
            <p:nvPr/>
          </p:nvSpPr>
          <p:spPr>
            <a:xfrm flipH="false" flipV="false" rot="0">
              <a:off x="0" y="0"/>
              <a:ext cx="9050763" cy="2146485"/>
            </a:xfrm>
            <a:custGeom>
              <a:avLst/>
              <a:gdLst/>
              <a:ahLst/>
              <a:cxnLst/>
              <a:rect r="r" b="b" t="t" l="l"/>
              <a:pathLst>
                <a:path h="2146485" w="9050763">
                  <a:moveTo>
                    <a:pt x="0" y="0"/>
                  </a:moveTo>
                  <a:lnTo>
                    <a:pt x="9050763" y="0"/>
                  </a:lnTo>
                  <a:lnTo>
                    <a:pt x="9050763" y="2146485"/>
                  </a:lnTo>
                  <a:lnTo>
                    <a:pt x="0" y="2146485"/>
                  </a:lnTo>
                  <a:close/>
                </a:path>
              </a:pathLst>
            </a:custGeom>
            <a:blipFill>
              <a:blip r:embed="rId5">
                <a:alphaModFix amt="0"/>
              </a:blip>
              <a:stretch>
                <a:fillRect l="0" t="-32159" r="0" b="-32159"/>
              </a:stretch>
            </a:blipFill>
          </p:spPr>
        </p:sp>
        <p:sp>
          <p:nvSpPr>
            <p:cNvPr name="TextBox 334" id="334"/>
            <p:cNvSpPr txBox="true"/>
            <p:nvPr/>
          </p:nvSpPr>
          <p:spPr>
            <a:xfrm>
              <a:off x="0" y="180975"/>
              <a:ext cx="9050757" cy="1965515"/>
            </a:xfrm>
            <a:prstGeom prst="rect">
              <a:avLst/>
            </a:prstGeom>
          </p:spPr>
          <p:txBody>
            <a:bodyPr anchor="ctr" rtlCol="false" tIns="0" lIns="0" bIns="0" rIns="0"/>
            <a:lstStyle/>
            <a:p>
              <a:pPr algn="l">
                <a:lnSpc>
                  <a:spcPts val="7783"/>
                </a:lnSpc>
              </a:pPr>
              <a:r>
                <a:rPr lang="en-US" sz="8091" b="true">
                  <a:solidFill>
                    <a:srgbClr val="E2E2E2"/>
                  </a:solidFill>
                  <a:latin typeface="TT Commons Pro Bold"/>
                  <a:ea typeface="TT Commons Pro Bold"/>
                  <a:cs typeface="TT Commons Pro Bold"/>
                  <a:sym typeface="TT Commons Pro Bold"/>
                </a:rPr>
                <a:t>Objectives</a:t>
              </a:r>
            </a:p>
          </p:txBody>
        </p:sp>
      </p:grpSp>
      <p:grpSp>
        <p:nvGrpSpPr>
          <p:cNvPr name="Group 335" id="335"/>
          <p:cNvGrpSpPr/>
          <p:nvPr/>
        </p:nvGrpSpPr>
        <p:grpSpPr>
          <a:xfrm rot="0">
            <a:off x="2953207" y="583349"/>
            <a:ext cx="3040666" cy="174974"/>
            <a:chOff x="0" y="0"/>
            <a:chExt cx="4054221" cy="233299"/>
          </a:xfrm>
        </p:grpSpPr>
        <p:sp>
          <p:nvSpPr>
            <p:cNvPr name="Freeform 336" id="336" descr="preencoded.png"/>
            <p:cNvSpPr/>
            <p:nvPr/>
          </p:nvSpPr>
          <p:spPr>
            <a:xfrm flipH="false" flipV="false" rot="0">
              <a:off x="0" y="0"/>
              <a:ext cx="4054221" cy="233299"/>
            </a:xfrm>
            <a:custGeom>
              <a:avLst/>
              <a:gdLst/>
              <a:ahLst/>
              <a:cxnLst/>
              <a:rect r="r" b="b" t="t" l="l"/>
              <a:pathLst>
                <a:path h="233299" w="4054221">
                  <a:moveTo>
                    <a:pt x="0" y="0"/>
                  </a:moveTo>
                  <a:lnTo>
                    <a:pt x="4054221" y="0"/>
                  </a:lnTo>
                  <a:lnTo>
                    <a:pt x="4054221" y="233299"/>
                  </a:lnTo>
                  <a:lnTo>
                    <a:pt x="0" y="233299"/>
                  </a:lnTo>
                  <a:lnTo>
                    <a:pt x="0" y="0"/>
                  </a:lnTo>
                  <a:close/>
                </a:path>
              </a:pathLst>
            </a:custGeom>
            <a:blipFill>
              <a:blip r:embed="rId74"/>
              <a:stretch>
                <a:fillRect l="0" t="-838" r="0" b="-838"/>
              </a:stretch>
            </a:blipFill>
          </p:spPr>
        </p:sp>
      </p:grpSp>
      <p:grpSp>
        <p:nvGrpSpPr>
          <p:cNvPr name="Group 337" id="337"/>
          <p:cNvGrpSpPr/>
          <p:nvPr/>
        </p:nvGrpSpPr>
        <p:grpSpPr>
          <a:xfrm rot="0">
            <a:off x="576053" y="226047"/>
            <a:ext cx="678180" cy="947928"/>
            <a:chOff x="0" y="0"/>
            <a:chExt cx="904240" cy="1263904"/>
          </a:xfrm>
        </p:grpSpPr>
        <p:sp>
          <p:nvSpPr>
            <p:cNvPr name="Freeform 338" id="338" descr="preencoded.png"/>
            <p:cNvSpPr/>
            <p:nvPr/>
          </p:nvSpPr>
          <p:spPr>
            <a:xfrm flipH="false" flipV="false" rot="0">
              <a:off x="0" y="0"/>
              <a:ext cx="904240" cy="1263904"/>
            </a:xfrm>
            <a:custGeom>
              <a:avLst/>
              <a:gdLst/>
              <a:ahLst/>
              <a:cxnLst/>
              <a:rect r="r" b="b" t="t" l="l"/>
              <a:pathLst>
                <a:path h="1263904" w="904240">
                  <a:moveTo>
                    <a:pt x="0" y="0"/>
                  </a:moveTo>
                  <a:lnTo>
                    <a:pt x="904240" y="0"/>
                  </a:lnTo>
                  <a:lnTo>
                    <a:pt x="904240" y="1263904"/>
                  </a:lnTo>
                  <a:lnTo>
                    <a:pt x="0" y="1263904"/>
                  </a:lnTo>
                  <a:lnTo>
                    <a:pt x="0" y="0"/>
                  </a:lnTo>
                  <a:close/>
                </a:path>
              </a:pathLst>
            </a:custGeom>
            <a:blipFill>
              <a:blip r:embed="rId75"/>
              <a:stretch>
                <a:fillRect l="-175" t="0" r="-175" b="0"/>
              </a:stretch>
            </a:blipFill>
          </p:spPr>
        </p:sp>
      </p:grpSp>
      <p:grpSp>
        <p:nvGrpSpPr>
          <p:cNvPr name="Group 339" id="339"/>
          <p:cNvGrpSpPr/>
          <p:nvPr/>
        </p:nvGrpSpPr>
        <p:grpSpPr>
          <a:xfrm rot="0">
            <a:off x="16742121" y="7036651"/>
            <a:ext cx="284378" cy="187481"/>
            <a:chOff x="0" y="0"/>
            <a:chExt cx="379171" cy="249974"/>
          </a:xfrm>
        </p:grpSpPr>
        <p:sp>
          <p:nvSpPr>
            <p:cNvPr name="Freeform 340" id="340"/>
            <p:cNvSpPr/>
            <p:nvPr/>
          </p:nvSpPr>
          <p:spPr>
            <a:xfrm flipH="false" flipV="false" rot="0">
              <a:off x="0" y="0"/>
              <a:ext cx="379222" cy="249936"/>
            </a:xfrm>
            <a:custGeom>
              <a:avLst/>
              <a:gdLst/>
              <a:ahLst/>
              <a:cxnLst/>
              <a:rect r="r" b="b" t="t" l="l"/>
              <a:pathLst>
                <a:path h="249936" w="379222">
                  <a:moveTo>
                    <a:pt x="0" y="0"/>
                  </a:moveTo>
                  <a:lnTo>
                    <a:pt x="379222" y="0"/>
                  </a:lnTo>
                  <a:lnTo>
                    <a:pt x="379222" y="249936"/>
                  </a:lnTo>
                  <a:lnTo>
                    <a:pt x="0" y="249936"/>
                  </a:lnTo>
                  <a:close/>
                </a:path>
              </a:pathLst>
            </a:custGeom>
            <a:blipFill>
              <a:blip r:embed="rId4">
                <a:alphaModFix amt="0"/>
              </a:blip>
              <a:stretch>
                <a:fillRect l="-34638" t="0" r="-34628" b="-15"/>
              </a:stretch>
            </a:blipFill>
          </p:spPr>
        </p:sp>
      </p:grpSp>
      <p:grpSp>
        <p:nvGrpSpPr>
          <p:cNvPr name="Group 341" id="341"/>
          <p:cNvGrpSpPr/>
          <p:nvPr/>
        </p:nvGrpSpPr>
        <p:grpSpPr>
          <a:xfrm rot="0">
            <a:off x="16742121" y="7065226"/>
            <a:ext cx="284378" cy="158906"/>
            <a:chOff x="0" y="0"/>
            <a:chExt cx="379171" cy="211874"/>
          </a:xfrm>
        </p:grpSpPr>
        <p:sp>
          <p:nvSpPr>
            <p:cNvPr name="Freeform 342" id="342"/>
            <p:cNvSpPr/>
            <p:nvPr/>
          </p:nvSpPr>
          <p:spPr>
            <a:xfrm flipH="false" flipV="false" rot="0">
              <a:off x="0" y="0"/>
              <a:ext cx="379171" cy="211876"/>
            </a:xfrm>
            <a:custGeom>
              <a:avLst/>
              <a:gdLst/>
              <a:ahLst/>
              <a:cxnLst/>
              <a:rect r="r" b="b" t="t" l="l"/>
              <a:pathLst>
                <a:path h="211876" w="379171">
                  <a:moveTo>
                    <a:pt x="0" y="0"/>
                  </a:moveTo>
                  <a:lnTo>
                    <a:pt x="379171" y="0"/>
                  </a:lnTo>
                  <a:lnTo>
                    <a:pt x="379171" y="211876"/>
                  </a:lnTo>
                  <a:lnTo>
                    <a:pt x="0" y="211876"/>
                  </a:lnTo>
                  <a:close/>
                </a:path>
              </a:pathLst>
            </a:custGeom>
            <a:blipFill>
              <a:blip r:embed="rId5">
                <a:alphaModFix amt="0"/>
              </a:blip>
              <a:stretch>
                <a:fillRect l="-21693" t="0" r="-21693" b="0"/>
              </a:stretch>
            </a:blipFill>
          </p:spPr>
        </p:sp>
        <p:sp>
          <p:nvSpPr>
            <p:cNvPr name="TextBox 343" id="343"/>
            <p:cNvSpPr txBox="true"/>
            <p:nvPr/>
          </p:nvSpPr>
          <p:spPr>
            <a:xfrm>
              <a:off x="0" y="38100"/>
              <a:ext cx="379171" cy="173774"/>
            </a:xfrm>
            <a:prstGeom prst="rect">
              <a:avLst/>
            </a:prstGeom>
          </p:spPr>
          <p:txBody>
            <a:bodyPr anchor="ctr" rtlCol="false" tIns="0" lIns="0" bIns="0" rIns="0"/>
            <a:lstStyle/>
            <a:p>
              <a:pPr algn="l">
                <a:lnSpc>
                  <a:spcPts val="746"/>
                </a:lnSpc>
              </a:pPr>
              <a:r>
                <a:rPr lang="en-US" sz="907">
                  <a:solidFill>
                    <a:srgbClr val="8E8986"/>
                  </a:solidFill>
                  <a:latin typeface="TT Commons Pro"/>
                  <a:ea typeface="TT Commons Pro"/>
                  <a:cs typeface="TT Commons Pro"/>
                  <a:sym typeface="TT Commons Pro"/>
                </a:rPr>
                <a:t>Pro</a:t>
              </a:r>
            </a:p>
          </p:txBody>
        </p:sp>
      </p:grpSp>
      <p:grpSp>
        <p:nvGrpSpPr>
          <p:cNvPr name="Group 344" id="344"/>
          <p:cNvGrpSpPr/>
          <p:nvPr/>
        </p:nvGrpSpPr>
        <p:grpSpPr>
          <a:xfrm rot="0">
            <a:off x="16793166" y="6832483"/>
            <a:ext cx="189586" cy="382419"/>
            <a:chOff x="0" y="0"/>
            <a:chExt cx="252781" cy="509892"/>
          </a:xfrm>
        </p:grpSpPr>
        <p:sp>
          <p:nvSpPr>
            <p:cNvPr name="Freeform 345" id="345"/>
            <p:cNvSpPr/>
            <p:nvPr/>
          </p:nvSpPr>
          <p:spPr>
            <a:xfrm flipH="false" flipV="false" rot="0">
              <a:off x="0" y="0"/>
              <a:ext cx="252730" cy="509905"/>
            </a:xfrm>
            <a:custGeom>
              <a:avLst/>
              <a:gdLst/>
              <a:ahLst/>
              <a:cxnLst/>
              <a:rect r="r" b="b" t="t" l="l"/>
              <a:pathLst>
                <a:path h="509905" w="252730">
                  <a:moveTo>
                    <a:pt x="0" y="0"/>
                  </a:moveTo>
                  <a:lnTo>
                    <a:pt x="252730" y="0"/>
                  </a:lnTo>
                  <a:lnTo>
                    <a:pt x="252730" y="509905"/>
                  </a:lnTo>
                  <a:lnTo>
                    <a:pt x="0" y="509905"/>
                  </a:lnTo>
                  <a:close/>
                </a:path>
              </a:pathLst>
            </a:custGeom>
            <a:blipFill>
              <a:blip r:embed="rId4">
                <a:alphaModFix amt="0"/>
              </a:blip>
              <a:stretch>
                <a:fillRect l="-209025" t="0" r="-209045" b="2"/>
              </a:stretch>
            </a:blipFill>
          </p:spPr>
        </p:sp>
      </p:grpSp>
      <p:grpSp>
        <p:nvGrpSpPr>
          <p:cNvPr name="Group 346" id="346"/>
          <p:cNvGrpSpPr/>
          <p:nvPr/>
        </p:nvGrpSpPr>
        <p:grpSpPr>
          <a:xfrm rot="0">
            <a:off x="16793166" y="6896776"/>
            <a:ext cx="189586" cy="318125"/>
            <a:chOff x="0" y="0"/>
            <a:chExt cx="252781" cy="424167"/>
          </a:xfrm>
        </p:grpSpPr>
        <p:sp>
          <p:nvSpPr>
            <p:cNvPr name="Freeform 347" id="347"/>
            <p:cNvSpPr/>
            <p:nvPr/>
          </p:nvSpPr>
          <p:spPr>
            <a:xfrm flipH="false" flipV="false" rot="0">
              <a:off x="0" y="0"/>
              <a:ext cx="252781" cy="424168"/>
            </a:xfrm>
            <a:custGeom>
              <a:avLst/>
              <a:gdLst/>
              <a:ahLst/>
              <a:cxnLst/>
              <a:rect r="r" b="b" t="t" l="l"/>
              <a:pathLst>
                <a:path h="424168" w="252781">
                  <a:moveTo>
                    <a:pt x="0" y="0"/>
                  </a:moveTo>
                  <a:lnTo>
                    <a:pt x="252781" y="0"/>
                  </a:lnTo>
                  <a:lnTo>
                    <a:pt x="252781" y="424168"/>
                  </a:lnTo>
                  <a:lnTo>
                    <a:pt x="0" y="424168"/>
                  </a:lnTo>
                  <a:close/>
                </a:path>
              </a:pathLst>
            </a:custGeom>
            <a:blipFill>
              <a:blip r:embed="rId5">
                <a:alphaModFix amt="0"/>
              </a:blip>
              <a:stretch>
                <a:fillRect l="-165293" t="0" r="-165293" b="0"/>
              </a:stretch>
            </a:blipFill>
          </p:spPr>
        </p:sp>
        <p:sp>
          <p:nvSpPr>
            <p:cNvPr name="TextBox 348" id="348"/>
            <p:cNvSpPr txBox="true"/>
            <p:nvPr/>
          </p:nvSpPr>
          <p:spPr>
            <a:xfrm>
              <a:off x="0" y="85725"/>
              <a:ext cx="252781" cy="338442"/>
            </a:xfrm>
            <a:prstGeom prst="rect">
              <a:avLst/>
            </a:prstGeom>
          </p:spPr>
          <p:txBody>
            <a:bodyPr anchor="ctr" rtlCol="false" tIns="0" lIns="0" bIns="0" rIns="0"/>
            <a:lstStyle/>
            <a:p>
              <a:pPr algn="l">
                <a:lnSpc>
                  <a:spcPts val="1205"/>
                </a:lnSpc>
              </a:pPr>
              <a:r>
                <a:rPr lang="en-US" sz="1768">
                  <a:solidFill>
                    <a:srgbClr val="84807D"/>
                  </a:solidFill>
                  <a:latin typeface="TT Commons Pro"/>
                  <a:ea typeface="TT Commons Pro"/>
                  <a:cs typeface="TT Commons Pro"/>
                  <a:sym typeface="TT Commons Pro"/>
                </a:rPr>
                <a:t>8</a:t>
              </a:r>
            </a:p>
          </p:txBody>
        </p:sp>
      </p:grpSp>
      <p:grpSp>
        <p:nvGrpSpPr>
          <p:cNvPr name="Group 349" id="349"/>
          <p:cNvGrpSpPr/>
          <p:nvPr/>
        </p:nvGrpSpPr>
        <p:grpSpPr>
          <a:xfrm rot="0">
            <a:off x="16260861" y="7022068"/>
            <a:ext cx="306257" cy="158153"/>
            <a:chOff x="0" y="0"/>
            <a:chExt cx="408343" cy="210871"/>
          </a:xfrm>
        </p:grpSpPr>
        <p:sp>
          <p:nvSpPr>
            <p:cNvPr name="Freeform 350" id="350"/>
            <p:cNvSpPr/>
            <p:nvPr/>
          </p:nvSpPr>
          <p:spPr>
            <a:xfrm flipH="false" flipV="false" rot="0">
              <a:off x="0" y="0"/>
              <a:ext cx="408305" cy="210820"/>
            </a:xfrm>
            <a:custGeom>
              <a:avLst/>
              <a:gdLst/>
              <a:ahLst/>
              <a:cxnLst/>
              <a:rect r="r" b="b" t="t" l="l"/>
              <a:pathLst>
                <a:path h="210820" w="408305">
                  <a:moveTo>
                    <a:pt x="0" y="0"/>
                  </a:moveTo>
                  <a:lnTo>
                    <a:pt x="408305" y="0"/>
                  </a:lnTo>
                  <a:lnTo>
                    <a:pt x="408305" y="210820"/>
                  </a:lnTo>
                  <a:lnTo>
                    <a:pt x="0" y="210820"/>
                  </a:lnTo>
                  <a:close/>
                </a:path>
              </a:pathLst>
            </a:custGeom>
            <a:blipFill>
              <a:blip r:embed="rId4">
                <a:alphaModFix amt="0"/>
              </a:blip>
              <a:stretch>
                <a:fillRect l="-16304" t="0" r="-16311" b="-24"/>
              </a:stretch>
            </a:blipFill>
          </p:spPr>
        </p:sp>
      </p:grpSp>
      <p:grpSp>
        <p:nvGrpSpPr>
          <p:cNvPr name="Group 351" id="351"/>
          <p:cNvGrpSpPr/>
          <p:nvPr/>
        </p:nvGrpSpPr>
        <p:grpSpPr>
          <a:xfrm rot="0">
            <a:off x="16260861" y="7029212"/>
            <a:ext cx="306257" cy="151009"/>
            <a:chOff x="0" y="0"/>
            <a:chExt cx="408343" cy="201346"/>
          </a:xfrm>
        </p:grpSpPr>
        <p:sp>
          <p:nvSpPr>
            <p:cNvPr name="Freeform 352" id="352"/>
            <p:cNvSpPr/>
            <p:nvPr/>
          </p:nvSpPr>
          <p:spPr>
            <a:xfrm flipH="false" flipV="false" rot="0">
              <a:off x="0" y="0"/>
              <a:ext cx="408343" cy="201340"/>
            </a:xfrm>
            <a:custGeom>
              <a:avLst/>
              <a:gdLst/>
              <a:ahLst/>
              <a:cxnLst/>
              <a:rect r="r" b="b" t="t" l="l"/>
              <a:pathLst>
                <a:path h="201340" w="408343">
                  <a:moveTo>
                    <a:pt x="0" y="0"/>
                  </a:moveTo>
                  <a:lnTo>
                    <a:pt x="408343" y="0"/>
                  </a:lnTo>
                  <a:lnTo>
                    <a:pt x="408343" y="201340"/>
                  </a:lnTo>
                  <a:lnTo>
                    <a:pt x="0" y="201340"/>
                  </a:lnTo>
                  <a:close/>
                </a:path>
              </a:pathLst>
            </a:custGeom>
            <a:blipFill>
              <a:blip r:embed="rId5">
                <a:alphaModFix amt="0"/>
              </a:blip>
              <a:stretch>
                <a:fillRect l="-13263" t="0" r="-13264" b="-2"/>
              </a:stretch>
            </a:blipFill>
          </p:spPr>
        </p:sp>
        <p:sp>
          <p:nvSpPr>
            <p:cNvPr name="TextBox 353" id="353"/>
            <p:cNvSpPr txBox="true"/>
            <p:nvPr/>
          </p:nvSpPr>
          <p:spPr>
            <a:xfrm>
              <a:off x="0" y="9525"/>
              <a:ext cx="408343" cy="191821"/>
            </a:xfrm>
            <a:prstGeom prst="rect">
              <a:avLst/>
            </a:prstGeom>
          </p:spPr>
          <p:txBody>
            <a:bodyPr anchor="ctr" rtlCol="false" tIns="0" lIns="0" bIns="0" rIns="0"/>
            <a:lstStyle/>
            <a:p>
              <a:pPr algn="l">
                <a:lnSpc>
                  <a:spcPts val="796"/>
                </a:lnSpc>
              </a:pPr>
              <a:r>
                <a:rPr lang="en-US" sz="757">
                  <a:solidFill>
                    <a:srgbClr val="888280"/>
                  </a:solidFill>
                  <a:latin typeface="TT Commons Pro"/>
                  <a:ea typeface="TT Commons Pro"/>
                  <a:cs typeface="TT Commons Pro"/>
                  <a:sym typeface="TT Commons Pro"/>
                </a:rPr>
                <a:t>Orders</a:t>
              </a:r>
            </a:p>
          </p:txBody>
        </p:sp>
      </p:grpSp>
      <p:grpSp>
        <p:nvGrpSpPr>
          <p:cNvPr name="Group 354" id="354"/>
          <p:cNvGrpSpPr/>
          <p:nvPr/>
        </p:nvGrpSpPr>
        <p:grpSpPr>
          <a:xfrm rot="0">
            <a:off x="16341071" y="6825186"/>
            <a:ext cx="160420" cy="358788"/>
            <a:chOff x="0" y="0"/>
            <a:chExt cx="213893" cy="478384"/>
          </a:xfrm>
        </p:grpSpPr>
        <p:sp>
          <p:nvSpPr>
            <p:cNvPr name="Freeform 355" id="355"/>
            <p:cNvSpPr/>
            <p:nvPr/>
          </p:nvSpPr>
          <p:spPr>
            <a:xfrm flipH="false" flipV="false" rot="0">
              <a:off x="0" y="0"/>
              <a:ext cx="213868" cy="478409"/>
            </a:xfrm>
            <a:custGeom>
              <a:avLst/>
              <a:gdLst/>
              <a:ahLst/>
              <a:cxnLst/>
              <a:rect r="r" b="b" t="t" l="l"/>
              <a:pathLst>
                <a:path h="478409" w="213868">
                  <a:moveTo>
                    <a:pt x="0" y="0"/>
                  </a:moveTo>
                  <a:lnTo>
                    <a:pt x="213868" y="0"/>
                  </a:lnTo>
                  <a:lnTo>
                    <a:pt x="213868" y="478409"/>
                  </a:lnTo>
                  <a:lnTo>
                    <a:pt x="0" y="478409"/>
                  </a:lnTo>
                  <a:close/>
                </a:path>
              </a:pathLst>
            </a:custGeom>
            <a:blipFill>
              <a:blip r:embed="rId4">
                <a:alphaModFix amt="0"/>
              </a:blip>
              <a:stretch>
                <a:fillRect l="-237185" t="0" r="-237197" b="5"/>
              </a:stretch>
            </a:blipFill>
          </p:spPr>
        </p:sp>
      </p:grpSp>
      <p:grpSp>
        <p:nvGrpSpPr>
          <p:cNvPr name="Group 356" id="356"/>
          <p:cNvGrpSpPr/>
          <p:nvPr/>
        </p:nvGrpSpPr>
        <p:grpSpPr>
          <a:xfrm rot="0">
            <a:off x="16341071" y="6875193"/>
            <a:ext cx="160420" cy="308781"/>
            <a:chOff x="0" y="0"/>
            <a:chExt cx="213893" cy="411709"/>
          </a:xfrm>
        </p:grpSpPr>
        <p:sp>
          <p:nvSpPr>
            <p:cNvPr name="Freeform 357" id="357"/>
            <p:cNvSpPr/>
            <p:nvPr/>
          </p:nvSpPr>
          <p:spPr>
            <a:xfrm flipH="false" flipV="false" rot="0">
              <a:off x="0" y="0"/>
              <a:ext cx="213893" cy="411705"/>
            </a:xfrm>
            <a:custGeom>
              <a:avLst/>
              <a:gdLst/>
              <a:ahLst/>
              <a:cxnLst/>
              <a:rect r="r" b="b" t="t" l="l"/>
              <a:pathLst>
                <a:path h="411705" w="213893">
                  <a:moveTo>
                    <a:pt x="0" y="0"/>
                  </a:moveTo>
                  <a:lnTo>
                    <a:pt x="213893" y="0"/>
                  </a:lnTo>
                  <a:lnTo>
                    <a:pt x="213893" y="411705"/>
                  </a:lnTo>
                  <a:lnTo>
                    <a:pt x="0" y="411705"/>
                  </a:lnTo>
                  <a:close/>
                </a:path>
              </a:pathLst>
            </a:custGeom>
            <a:blipFill>
              <a:blip r:embed="rId5">
                <a:alphaModFix amt="0"/>
              </a:blip>
              <a:stretch>
                <a:fillRect l="-196962" t="0" r="-196962" b="0"/>
              </a:stretch>
            </a:blipFill>
          </p:spPr>
        </p:sp>
        <p:sp>
          <p:nvSpPr>
            <p:cNvPr name="TextBox 358" id="358"/>
            <p:cNvSpPr txBox="true"/>
            <p:nvPr/>
          </p:nvSpPr>
          <p:spPr>
            <a:xfrm>
              <a:off x="0" y="66675"/>
              <a:ext cx="213893" cy="345034"/>
            </a:xfrm>
            <a:prstGeom prst="rect">
              <a:avLst/>
            </a:prstGeom>
          </p:spPr>
          <p:txBody>
            <a:bodyPr anchor="ctr" rtlCol="false" tIns="0" lIns="0" bIns="0" rIns="0"/>
            <a:lstStyle/>
            <a:p>
              <a:pPr algn="ctr">
                <a:lnSpc>
                  <a:spcPts val="1320"/>
                </a:lnSpc>
              </a:pPr>
              <a:r>
                <a:rPr lang="en-US" sz="1682">
                  <a:solidFill>
                    <a:srgbClr val="77716E"/>
                  </a:solidFill>
                  <a:latin typeface="TT Commons Pro"/>
                  <a:ea typeface="TT Commons Pro"/>
                  <a:cs typeface="TT Commons Pro"/>
                  <a:sym typeface="TT Commons Pro"/>
                </a:rPr>
                <a:t>8</a:t>
              </a:r>
            </a:p>
          </p:txBody>
        </p:sp>
      </p:grpSp>
      <p:grpSp>
        <p:nvGrpSpPr>
          <p:cNvPr name="Group 359" id="359"/>
          <p:cNvGrpSpPr/>
          <p:nvPr/>
        </p:nvGrpSpPr>
        <p:grpSpPr>
          <a:xfrm rot="0">
            <a:off x="15356672" y="6868935"/>
            <a:ext cx="765648" cy="345672"/>
            <a:chOff x="0" y="0"/>
            <a:chExt cx="1020864" cy="460896"/>
          </a:xfrm>
        </p:grpSpPr>
        <p:sp>
          <p:nvSpPr>
            <p:cNvPr name="Freeform 360" id="360"/>
            <p:cNvSpPr/>
            <p:nvPr/>
          </p:nvSpPr>
          <p:spPr>
            <a:xfrm flipH="false" flipV="false" rot="0">
              <a:off x="0" y="0"/>
              <a:ext cx="1020826" cy="460883"/>
            </a:xfrm>
            <a:custGeom>
              <a:avLst/>
              <a:gdLst/>
              <a:ahLst/>
              <a:cxnLst/>
              <a:rect r="r" b="b" t="t" l="l"/>
              <a:pathLst>
                <a:path h="460883" w="1020826">
                  <a:moveTo>
                    <a:pt x="0" y="0"/>
                  </a:moveTo>
                  <a:lnTo>
                    <a:pt x="1020826" y="0"/>
                  </a:lnTo>
                  <a:lnTo>
                    <a:pt x="1020826" y="460883"/>
                  </a:lnTo>
                  <a:lnTo>
                    <a:pt x="0" y="460883"/>
                  </a:lnTo>
                  <a:close/>
                </a:path>
              </a:pathLst>
            </a:custGeom>
            <a:blipFill>
              <a:blip r:embed="rId4">
                <a:alphaModFix amt="0"/>
              </a:blip>
              <a:stretch>
                <a:fillRect l="-7965" t="0" r="-7970" b="-2"/>
              </a:stretch>
            </a:blipFill>
          </p:spPr>
        </p:sp>
      </p:grpSp>
      <p:grpSp>
        <p:nvGrpSpPr>
          <p:cNvPr name="Group 361" id="361"/>
          <p:cNvGrpSpPr/>
          <p:nvPr/>
        </p:nvGrpSpPr>
        <p:grpSpPr>
          <a:xfrm rot="0">
            <a:off x="15356672" y="6911797"/>
            <a:ext cx="765648" cy="302809"/>
            <a:chOff x="0" y="0"/>
            <a:chExt cx="1020864" cy="403746"/>
          </a:xfrm>
        </p:grpSpPr>
        <p:sp>
          <p:nvSpPr>
            <p:cNvPr name="Freeform 362" id="362"/>
            <p:cNvSpPr/>
            <p:nvPr/>
          </p:nvSpPr>
          <p:spPr>
            <a:xfrm flipH="false" flipV="false" rot="0">
              <a:off x="0" y="0"/>
              <a:ext cx="1020864" cy="403742"/>
            </a:xfrm>
            <a:custGeom>
              <a:avLst/>
              <a:gdLst/>
              <a:ahLst/>
              <a:cxnLst/>
              <a:rect r="r" b="b" t="t" l="l"/>
              <a:pathLst>
                <a:path h="403742" w="1020864">
                  <a:moveTo>
                    <a:pt x="0" y="0"/>
                  </a:moveTo>
                  <a:lnTo>
                    <a:pt x="1020864" y="0"/>
                  </a:lnTo>
                  <a:lnTo>
                    <a:pt x="1020864" y="403742"/>
                  </a:lnTo>
                  <a:lnTo>
                    <a:pt x="0" y="403742"/>
                  </a:lnTo>
                  <a:close/>
                </a:path>
              </a:pathLst>
            </a:custGeom>
            <a:blipFill>
              <a:blip r:embed="rId5">
                <a:alphaModFix amt="0"/>
              </a:blip>
              <a:stretch>
                <a:fillRect l="-743" t="0" r="-743" b="0"/>
              </a:stretch>
            </a:blipFill>
          </p:spPr>
        </p:sp>
        <p:sp>
          <p:nvSpPr>
            <p:cNvPr name="TextBox 363" id="363"/>
            <p:cNvSpPr txBox="true"/>
            <p:nvPr/>
          </p:nvSpPr>
          <p:spPr>
            <a:xfrm>
              <a:off x="0" y="57150"/>
              <a:ext cx="1020864" cy="346596"/>
            </a:xfrm>
            <a:prstGeom prst="rect">
              <a:avLst/>
            </a:prstGeom>
          </p:spPr>
          <p:txBody>
            <a:bodyPr anchor="ctr" rtlCol="false" tIns="0" lIns="0" bIns="0" rIns="0"/>
            <a:lstStyle/>
            <a:p>
              <a:pPr algn="l">
                <a:lnSpc>
                  <a:spcPts val="1435"/>
                </a:lnSpc>
              </a:pPr>
              <a:r>
                <a:rPr lang="en-US" sz="1601" b="true">
                  <a:solidFill>
                    <a:srgbClr val="DBA2A4"/>
                  </a:solidFill>
                  <a:latin typeface="TT Commons Pro Bold"/>
                  <a:ea typeface="TT Commons Pro Bold"/>
                  <a:cs typeface="TT Commons Pro Bold"/>
                  <a:sym typeface="TT Commons Pro Bold"/>
                </a:rPr>
                <a:t>zomato</a:t>
              </a:r>
            </a:p>
          </p:txBody>
        </p:sp>
      </p:grpSp>
      <p:grpSp>
        <p:nvGrpSpPr>
          <p:cNvPr name="Group 364" id="364"/>
          <p:cNvGrpSpPr/>
          <p:nvPr/>
        </p:nvGrpSpPr>
        <p:grpSpPr>
          <a:xfrm rot="0">
            <a:off x="15159790" y="5374110"/>
            <a:ext cx="1254204" cy="190452"/>
            <a:chOff x="0" y="0"/>
            <a:chExt cx="1672273" cy="253936"/>
          </a:xfrm>
        </p:grpSpPr>
        <p:sp>
          <p:nvSpPr>
            <p:cNvPr name="Freeform 365" id="365"/>
            <p:cNvSpPr/>
            <p:nvPr/>
          </p:nvSpPr>
          <p:spPr>
            <a:xfrm flipH="false" flipV="false" rot="0">
              <a:off x="0" y="0"/>
              <a:ext cx="1672209" cy="253873"/>
            </a:xfrm>
            <a:custGeom>
              <a:avLst/>
              <a:gdLst/>
              <a:ahLst/>
              <a:cxnLst/>
              <a:rect r="r" b="b" t="t" l="l"/>
              <a:pathLst>
                <a:path h="253873" w="1672209">
                  <a:moveTo>
                    <a:pt x="0" y="0"/>
                  </a:moveTo>
                  <a:lnTo>
                    <a:pt x="1672209" y="0"/>
                  </a:lnTo>
                  <a:lnTo>
                    <a:pt x="1672209" y="253873"/>
                  </a:lnTo>
                  <a:lnTo>
                    <a:pt x="0" y="253873"/>
                  </a:lnTo>
                  <a:close/>
                </a:path>
              </a:pathLst>
            </a:custGeom>
            <a:blipFill>
              <a:blip r:embed="rId4">
                <a:alphaModFix amt="0"/>
              </a:blip>
              <a:stretch>
                <a:fillRect l="0" t="-78249" r="-3" b="-78269"/>
              </a:stretch>
            </a:blipFill>
          </p:spPr>
        </p:sp>
      </p:grpSp>
      <p:grpSp>
        <p:nvGrpSpPr>
          <p:cNvPr name="Group 366" id="366"/>
          <p:cNvGrpSpPr/>
          <p:nvPr/>
        </p:nvGrpSpPr>
        <p:grpSpPr>
          <a:xfrm rot="0">
            <a:off x="15159790" y="5381254"/>
            <a:ext cx="1254204" cy="183309"/>
            <a:chOff x="0" y="0"/>
            <a:chExt cx="1672273" cy="244412"/>
          </a:xfrm>
        </p:grpSpPr>
        <p:sp>
          <p:nvSpPr>
            <p:cNvPr name="Freeform 367" id="367"/>
            <p:cNvSpPr/>
            <p:nvPr/>
          </p:nvSpPr>
          <p:spPr>
            <a:xfrm flipH="false" flipV="false" rot="0">
              <a:off x="0" y="0"/>
              <a:ext cx="1672272" cy="244407"/>
            </a:xfrm>
            <a:custGeom>
              <a:avLst/>
              <a:gdLst/>
              <a:ahLst/>
              <a:cxnLst/>
              <a:rect r="r" b="b" t="t" l="l"/>
              <a:pathLst>
                <a:path h="244407" w="1672272">
                  <a:moveTo>
                    <a:pt x="0" y="0"/>
                  </a:moveTo>
                  <a:lnTo>
                    <a:pt x="1672272" y="0"/>
                  </a:lnTo>
                  <a:lnTo>
                    <a:pt x="1672272" y="244407"/>
                  </a:lnTo>
                  <a:lnTo>
                    <a:pt x="0" y="244407"/>
                  </a:lnTo>
                  <a:close/>
                </a:path>
              </a:pathLst>
            </a:custGeom>
            <a:blipFill>
              <a:blip r:embed="rId5">
                <a:alphaModFix amt="0"/>
              </a:blip>
              <a:stretch>
                <a:fillRect l="0" t="-83318" r="0" b="-83320"/>
              </a:stretch>
            </a:blipFill>
          </p:spPr>
        </p:sp>
        <p:sp>
          <p:nvSpPr>
            <p:cNvPr name="TextBox 368" id="368"/>
            <p:cNvSpPr txBox="true"/>
            <p:nvPr/>
          </p:nvSpPr>
          <p:spPr>
            <a:xfrm>
              <a:off x="0" y="9525"/>
              <a:ext cx="1672273" cy="234887"/>
            </a:xfrm>
            <a:prstGeom prst="rect">
              <a:avLst/>
            </a:prstGeom>
          </p:spPr>
          <p:txBody>
            <a:bodyPr anchor="ctr" rtlCol="false" tIns="0" lIns="0" bIns="0" rIns="0"/>
            <a:lstStyle/>
            <a:p>
              <a:pPr algn="l">
                <a:lnSpc>
                  <a:spcPts val="1033"/>
                </a:lnSpc>
              </a:pPr>
              <a:r>
                <a:rPr lang="en-US" sz="913">
                  <a:solidFill>
                    <a:srgbClr val="757271"/>
                  </a:solidFill>
                  <a:latin typeface="TT Commons Pro"/>
                  <a:ea typeface="TT Commons Pro"/>
                  <a:cs typeface="TT Commons Pro"/>
                  <a:sym typeface="TT Commons Pro"/>
                </a:rPr>
                <a:t>Top Rated Restaurants</a:t>
              </a:r>
            </a:p>
          </p:txBody>
        </p:sp>
      </p:grpSp>
      <p:grpSp>
        <p:nvGrpSpPr>
          <p:cNvPr name="Group 369" id="369"/>
          <p:cNvGrpSpPr/>
          <p:nvPr/>
        </p:nvGrpSpPr>
        <p:grpSpPr>
          <a:xfrm rot="0">
            <a:off x="16727538" y="5075139"/>
            <a:ext cx="313553" cy="176374"/>
            <a:chOff x="0" y="0"/>
            <a:chExt cx="418071" cy="235166"/>
          </a:xfrm>
        </p:grpSpPr>
        <p:sp>
          <p:nvSpPr>
            <p:cNvPr name="Freeform 370" id="370"/>
            <p:cNvSpPr/>
            <p:nvPr/>
          </p:nvSpPr>
          <p:spPr>
            <a:xfrm flipH="false" flipV="false" rot="0">
              <a:off x="0" y="0"/>
              <a:ext cx="418084" cy="235204"/>
            </a:xfrm>
            <a:custGeom>
              <a:avLst/>
              <a:gdLst/>
              <a:ahLst/>
              <a:cxnLst/>
              <a:rect r="r" b="b" t="t" l="l"/>
              <a:pathLst>
                <a:path h="235204" w="418084">
                  <a:moveTo>
                    <a:pt x="0" y="0"/>
                  </a:moveTo>
                  <a:lnTo>
                    <a:pt x="418084" y="0"/>
                  </a:lnTo>
                  <a:lnTo>
                    <a:pt x="418084" y="235204"/>
                  </a:lnTo>
                  <a:lnTo>
                    <a:pt x="0" y="235204"/>
                  </a:lnTo>
                  <a:close/>
                </a:path>
              </a:pathLst>
            </a:custGeom>
            <a:blipFill>
              <a:blip r:embed="rId4">
                <a:alphaModFix amt="0"/>
              </a:blip>
              <a:stretch>
                <a:fillRect l="-22220" t="0" r="-22217" b="16"/>
              </a:stretch>
            </a:blipFill>
          </p:spPr>
        </p:sp>
      </p:grpSp>
      <p:grpSp>
        <p:nvGrpSpPr>
          <p:cNvPr name="Group 371" id="371"/>
          <p:cNvGrpSpPr/>
          <p:nvPr/>
        </p:nvGrpSpPr>
        <p:grpSpPr>
          <a:xfrm rot="0">
            <a:off x="16727538" y="5096570"/>
            <a:ext cx="313553" cy="154934"/>
            <a:chOff x="0" y="0"/>
            <a:chExt cx="418071" cy="206578"/>
          </a:xfrm>
        </p:grpSpPr>
        <p:sp>
          <p:nvSpPr>
            <p:cNvPr name="Freeform 372" id="372"/>
            <p:cNvSpPr/>
            <p:nvPr/>
          </p:nvSpPr>
          <p:spPr>
            <a:xfrm flipH="false" flipV="false" rot="0">
              <a:off x="0" y="0"/>
              <a:ext cx="418071" cy="206584"/>
            </a:xfrm>
            <a:custGeom>
              <a:avLst/>
              <a:gdLst/>
              <a:ahLst/>
              <a:cxnLst/>
              <a:rect r="r" b="b" t="t" l="l"/>
              <a:pathLst>
                <a:path h="206584" w="418071">
                  <a:moveTo>
                    <a:pt x="0" y="0"/>
                  </a:moveTo>
                  <a:lnTo>
                    <a:pt x="418071" y="0"/>
                  </a:lnTo>
                  <a:lnTo>
                    <a:pt x="418071" y="206584"/>
                  </a:lnTo>
                  <a:lnTo>
                    <a:pt x="0" y="206584"/>
                  </a:lnTo>
                  <a:close/>
                </a:path>
              </a:pathLst>
            </a:custGeom>
            <a:blipFill>
              <a:blip r:embed="rId5">
                <a:alphaModFix amt="0"/>
              </a:blip>
              <a:stretch>
                <a:fillRect l="-13397" t="0" r="-13397" b="2"/>
              </a:stretch>
            </a:blipFill>
          </p:spPr>
        </p:sp>
        <p:sp>
          <p:nvSpPr>
            <p:cNvPr name="TextBox 373" id="373"/>
            <p:cNvSpPr txBox="true"/>
            <p:nvPr/>
          </p:nvSpPr>
          <p:spPr>
            <a:xfrm>
              <a:off x="0" y="28575"/>
              <a:ext cx="418071" cy="178003"/>
            </a:xfrm>
            <a:prstGeom prst="rect">
              <a:avLst/>
            </a:prstGeom>
          </p:spPr>
          <p:txBody>
            <a:bodyPr anchor="ctr" rtlCol="false" tIns="0" lIns="0" bIns="0" rIns="0"/>
            <a:lstStyle/>
            <a:p>
              <a:pPr algn="l">
                <a:lnSpc>
                  <a:spcPts val="745"/>
                </a:lnSpc>
              </a:pPr>
              <a:r>
                <a:rPr lang="en-US" sz="855">
                  <a:solidFill>
                    <a:srgbClr val="8A8886"/>
                  </a:solidFill>
                  <a:latin typeface="TT Commons Pro"/>
                  <a:ea typeface="TT Commons Pro"/>
                  <a:cs typeface="TT Commons Pro"/>
                  <a:sym typeface="TT Commons Pro"/>
                </a:rPr>
                <a:t>Eventi</a:t>
              </a:r>
            </a:p>
          </p:txBody>
        </p:sp>
      </p:grpSp>
      <p:grpSp>
        <p:nvGrpSpPr>
          <p:cNvPr name="Group 374" id="374"/>
          <p:cNvGrpSpPr/>
          <p:nvPr/>
        </p:nvGrpSpPr>
        <p:grpSpPr>
          <a:xfrm rot="0">
            <a:off x="15174373" y="5075139"/>
            <a:ext cx="357302" cy="148066"/>
            <a:chOff x="0" y="0"/>
            <a:chExt cx="476402" cy="197422"/>
          </a:xfrm>
        </p:grpSpPr>
        <p:sp>
          <p:nvSpPr>
            <p:cNvPr name="Freeform 375" id="375"/>
            <p:cNvSpPr/>
            <p:nvPr/>
          </p:nvSpPr>
          <p:spPr>
            <a:xfrm flipH="false" flipV="false" rot="0">
              <a:off x="0" y="0"/>
              <a:ext cx="476377" cy="197485"/>
            </a:xfrm>
            <a:custGeom>
              <a:avLst/>
              <a:gdLst/>
              <a:ahLst/>
              <a:cxnLst/>
              <a:rect r="r" b="b" t="t" l="l"/>
              <a:pathLst>
                <a:path h="197485" w="476377">
                  <a:moveTo>
                    <a:pt x="0" y="0"/>
                  </a:moveTo>
                  <a:lnTo>
                    <a:pt x="476377" y="0"/>
                  </a:lnTo>
                  <a:lnTo>
                    <a:pt x="476377" y="197485"/>
                  </a:lnTo>
                  <a:lnTo>
                    <a:pt x="0" y="197485"/>
                  </a:lnTo>
                  <a:close/>
                </a:path>
              </a:pathLst>
            </a:custGeom>
            <a:blipFill>
              <a:blip r:embed="rId4">
                <a:alphaModFix amt="0"/>
              </a:blip>
              <a:stretch>
                <a:fillRect l="-3207" t="0" r="-3212" b="32"/>
              </a:stretch>
            </a:blipFill>
          </p:spPr>
        </p:sp>
      </p:grpSp>
      <p:grpSp>
        <p:nvGrpSpPr>
          <p:cNvPr name="Group 376" id="376"/>
          <p:cNvGrpSpPr/>
          <p:nvPr/>
        </p:nvGrpSpPr>
        <p:grpSpPr>
          <a:xfrm rot="0">
            <a:off x="15174373" y="5060852"/>
            <a:ext cx="357302" cy="162354"/>
            <a:chOff x="0" y="0"/>
            <a:chExt cx="476402" cy="216472"/>
          </a:xfrm>
        </p:grpSpPr>
        <p:sp>
          <p:nvSpPr>
            <p:cNvPr name="Freeform 377" id="377"/>
            <p:cNvSpPr/>
            <p:nvPr/>
          </p:nvSpPr>
          <p:spPr>
            <a:xfrm flipH="false" flipV="false" rot="0">
              <a:off x="0" y="0"/>
              <a:ext cx="476403" cy="216477"/>
            </a:xfrm>
            <a:custGeom>
              <a:avLst/>
              <a:gdLst/>
              <a:ahLst/>
              <a:cxnLst/>
              <a:rect r="r" b="b" t="t" l="l"/>
              <a:pathLst>
                <a:path h="216477" w="476403">
                  <a:moveTo>
                    <a:pt x="0" y="0"/>
                  </a:moveTo>
                  <a:lnTo>
                    <a:pt x="476403" y="0"/>
                  </a:lnTo>
                  <a:lnTo>
                    <a:pt x="476403" y="216477"/>
                  </a:lnTo>
                  <a:lnTo>
                    <a:pt x="0" y="216477"/>
                  </a:lnTo>
                  <a:close/>
                </a:path>
              </a:pathLst>
            </a:custGeom>
            <a:blipFill>
              <a:blip r:embed="rId5">
                <a:alphaModFix amt="0"/>
              </a:blip>
              <a:stretch>
                <a:fillRect l="-8299" t="0" r="-8299" b="2"/>
              </a:stretch>
            </a:blipFill>
          </p:spPr>
        </p:sp>
        <p:sp>
          <p:nvSpPr>
            <p:cNvPr name="TextBox 378" id="378"/>
            <p:cNvSpPr txBox="true"/>
            <p:nvPr/>
          </p:nvSpPr>
          <p:spPr>
            <a:xfrm>
              <a:off x="0" y="-19050"/>
              <a:ext cx="476402" cy="235522"/>
            </a:xfrm>
            <a:prstGeom prst="rect">
              <a:avLst/>
            </a:prstGeom>
          </p:spPr>
          <p:txBody>
            <a:bodyPr anchor="ctr" rtlCol="false" tIns="0" lIns="0" bIns="0" rIns="0"/>
            <a:lstStyle/>
            <a:p>
              <a:pPr algn="l">
                <a:lnSpc>
                  <a:spcPts val="918"/>
                </a:lnSpc>
              </a:pPr>
              <a:r>
                <a:rPr lang="en-US" sz="694">
                  <a:solidFill>
                    <a:srgbClr val="938D8D"/>
                  </a:solidFill>
                  <a:latin typeface="TT Commons Pro"/>
                  <a:ea typeface="TT Commons Pro"/>
                  <a:cs typeface="TT Commons Pro"/>
                  <a:sym typeface="TT Commons Pro"/>
                </a:rPr>
                <a:t>Deheery</a:t>
              </a:r>
            </a:p>
          </p:txBody>
        </p:sp>
      </p:grpSp>
      <p:grpSp>
        <p:nvGrpSpPr>
          <p:cNvPr name="Group 379" id="379"/>
          <p:cNvGrpSpPr/>
          <p:nvPr/>
        </p:nvGrpSpPr>
        <p:grpSpPr>
          <a:xfrm rot="0">
            <a:off x="15502509" y="3602184"/>
            <a:ext cx="1137533" cy="175260"/>
            <a:chOff x="0" y="0"/>
            <a:chExt cx="1516710" cy="233680"/>
          </a:xfrm>
        </p:grpSpPr>
        <p:sp>
          <p:nvSpPr>
            <p:cNvPr name="Freeform 380" id="380"/>
            <p:cNvSpPr/>
            <p:nvPr/>
          </p:nvSpPr>
          <p:spPr>
            <a:xfrm flipH="false" flipV="false" rot="0">
              <a:off x="0" y="0"/>
              <a:ext cx="1516761" cy="233680"/>
            </a:xfrm>
            <a:custGeom>
              <a:avLst/>
              <a:gdLst/>
              <a:ahLst/>
              <a:cxnLst/>
              <a:rect r="r" b="b" t="t" l="l"/>
              <a:pathLst>
                <a:path h="233680" w="1516761">
                  <a:moveTo>
                    <a:pt x="0" y="0"/>
                  </a:moveTo>
                  <a:lnTo>
                    <a:pt x="1516761" y="0"/>
                  </a:lnTo>
                  <a:lnTo>
                    <a:pt x="1516761" y="233680"/>
                  </a:lnTo>
                  <a:lnTo>
                    <a:pt x="0" y="233680"/>
                  </a:lnTo>
                  <a:close/>
                </a:path>
              </a:pathLst>
            </a:custGeom>
            <a:blipFill>
              <a:blip r:embed="rId4">
                <a:alphaModFix amt="0"/>
              </a:blip>
              <a:stretch>
                <a:fillRect l="0" t="-76380" r="3" b="-76380"/>
              </a:stretch>
            </a:blipFill>
          </p:spPr>
        </p:sp>
      </p:grpSp>
      <p:grpSp>
        <p:nvGrpSpPr>
          <p:cNvPr name="Group 381" id="381"/>
          <p:cNvGrpSpPr/>
          <p:nvPr/>
        </p:nvGrpSpPr>
        <p:grpSpPr>
          <a:xfrm rot="0">
            <a:off x="15502509" y="3602184"/>
            <a:ext cx="1137533" cy="175270"/>
            <a:chOff x="0" y="0"/>
            <a:chExt cx="1516710" cy="233693"/>
          </a:xfrm>
        </p:grpSpPr>
        <p:sp>
          <p:nvSpPr>
            <p:cNvPr name="Freeform 382" id="382"/>
            <p:cNvSpPr/>
            <p:nvPr/>
          </p:nvSpPr>
          <p:spPr>
            <a:xfrm flipH="false" flipV="false" rot="0">
              <a:off x="0" y="0"/>
              <a:ext cx="1516711" cy="233688"/>
            </a:xfrm>
            <a:custGeom>
              <a:avLst/>
              <a:gdLst/>
              <a:ahLst/>
              <a:cxnLst/>
              <a:rect r="r" b="b" t="t" l="l"/>
              <a:pathLst>
                <a:path h="233688" w="1516711">
                  <a:moveTo>
                    <a:pt x="0" y="0"/>
                  </a:moveTo>
                  <a:lnTo>
                    <a:pt x="1516711" y="0"/>
                  </a:lnTo>
                  <a:lnTo>
                    <a:pt x="1516711" y="233688"/>
                  </a:lnTo>
                  <a:lnTo>
                    <a:pt x="0" y="233688"/>
                  </a:lnTo>
                  <a:close/>
                </a:path>
              </a:pathLst>
            </a:custGeom>
            <a:blipFill>
              <a:blip r:embed="rId5">
                <a:alphaModFix amt="0"/>
              </a:blip>
              <a:stretch>
                <a:fillRect l="0" t="-76463" r="0" b="-76465"/>
              </a:stretch>
            </a:blipFill>
          </p:spPr>
        </p:sp>
        <p:sp>
          <p:nvSpPr>
            <p:cNvPr name="TextBox 383" id="383"/>
            <p:cNvSpPr txBox="true"/>
            <p:nvPr/>
          </p:nvSpPr>
          <p:spPr>
            <a:xfrm>
              <a:off x="0" y="0"/>
              <a:ext cx="1516710" cy="233693"/>
            </a:xfrm>
            <a:prstGeom prst="rect">
              <a:avLst/>
            </a:prstGeom>
          </p:spPr>
          <p:txBody>
            <a:bodyPr anchor="ctr" rtlCol="false" tIns="0" lIns="0" bIns="0" rIns="0"/>
            <a:lstStyle/>
            <a:p>
              <a:pPr algn="l">
                <a:lnSpc>
                  <a:spcPts val="1089"/>
                </a:lnSpc>
              </a:pPr>
              <a:r>
                <a:rPr lang="en-US" sz="832">
                  <a:solidFill>
                    <a:srgbClr val="A2A2A1"/>
                  </a:solidFill>
                  <a:latin typeface="TT Commons Pro"/>
                  <a:ea typeface="TT Commons Pro"/>
                  <a:cs typeface="TT Commons Pro"/>
                  <a:sym typeface="TT Commons Pro"/>
                </a:rPr>
                <a:t>Search for restaurants</a:t>
              </a:r>
            </a:p>
          </p:txBody>
        </p:sp>
      </p:grpSp>
      <p:grpSp>
        <p:nvGrpSpPr>
          <p:cNvPr name="Group 384" id="384"/>
          <p:cNvGrpSpPr/>
          <p:nvPr/>
        </p:nvGrpSpPr>
        <p:grpSpPr>
          <a:xfrm rot="0">
            <a:off x="15743139" y="3069879"/>
            <a:ext cx="1013565" cy="477603"/>
            <a:chOff x="0" y="0"/>
            <a:chExt cx="1351420" cy="636803"/>
          </a:xfrm>
        </p:grpSpPr>
        <p:sp>
          <p:nvSpPr>
            <p:cNvPr name="Freeform 385" id="385"/>
            <p:cNvSpPr/>
            <p:nvPr/>
          </p:nvSpPr>
          <p:spPr>
            <a:xfrm flipH="false" flipV="false" rot="0">
              <a:off x="0" y="0"/>
              <a:ext cx="1351407" cy="636778"/>
            </a:xfrm>
            <a:custGeom>
              <a:avLst/>
              <a:gdLst/>
              <a:ahLst/>
              <a:cxnLst/>
              <a:rect r="r" b="b" t="t" l="l"/>
              <a:pathLst>
                <a:path h="636778" w="1351407">
                  <a:moveTo>
                    <a:pt x="0" y="0"/>
                  </a:moveTo>
                  <a:lnTo>
                    <a:pt x="1351407" y="0"/>
                  </a:lnTo>
                  <a:lnTo>
                    <a:pt x="1351407" y="636778"/>
                  </a:lnTo>
                  <a:lnTo>
                    <a:pt x="0" y="636778"/>
                  </a:lnTo>
                  <a:close/>
                </a:path>
              </a:pathLst>
            </a:custGeom>
            <a:blipFill>
              <a:blip r:embed="rId4">
                <a:alphaModFix amt="0"/>
              </a:blip>
              <a:stretch>
                <a:fillRect l="-10499" t="0" r="-10500" b="-3"/>
              </a:stretch>
            </a:blipFill>
          </p:spPr>
        </p:sp>
      </p:grpSp>
      <p:grpSp>
        <p:nvGrpSpPr>
          <p:cNvPr name="Group 386" id="386"/>
          <p:cNvGrpSpPr/>
          <p:nvPr/>
        </p:nvGrpSpPr>
        <p:grpSpPr>
          <a:xfrm rot="0">
            <a:off x="15743139" y="3112741"/>
            <a:ext cx="1013565" cy="434740"/>
            <a:chOff x="0" y="0"/>
            <a:chExt cx="1351420" cy="579653"/>
          </a:xfrm>
        </p:grpSpPr>
        <p:sp>
          <p:nvSpPr>
            <p:cNvPr name="Freeform 387" id="387"/>
            <p:cNvSpPr/>
            <p:nvPr/>
          </p:nvSpPr>
          <p:spPr>
            <a:xfrm flipH="false" flipV="false" rot="0">
              <a:off x="0" y="0"/>
              <a:ext cx="1351420" cy="579657"/>
            </a:xfrm>
            <a:custGeom>
              <a:avLst/>
              <a:gdLst/>
              <a:ahLst/>
              <a:cxnLst/>
              <a:rect r="r" b="b" t="t" l="l"/>
              <a:pathLst>
                <a:path h="579657" w="1351420">
                  <a:moveTo>
                    <a:pt x="0" y="0"/>
                  </a:moveTo>
                  <a:lnTo>
                    <a:pt x="1351420" y="0"/>
                  </a:lnTo>
                  <a:lnTo>
                    <a:pt x="1351420" y="579657"/>
                  </a:lnTo>
                  <a:lnTo>
                    <a:pt x="0" y="579657"/>
                  </a:lnTo>
                  <a:close/>
                </a:path>
              </a:pathLst>
            </a:custGeom>
            <a:blipFill>
              <a:blip r:embed="rId5">
                <a:alphaModFix amt="0"/>
              </a:blip>
              <a:stretch>
                <a:fillRect l="-5032" t="0" r="-5032" b="0"/>
              </a:stretch>
            </a:blipFill>
          </p:spPr>
        </p:sp>
        <p:sp>
          <p:nvSpPr>
            <p:cNvPr name="TextBox 388" id="388"/>
            <p:cNvSpPr txBox="true"/>
            <p:nvPr/>
          </p:nvSpPr>
          <p:spPr>
            <a:xfrm>
              <a:off x="0" y="57150"/>
              <a:ext cx="1351420" cy="522503"/>
            </a:xfrm>
            <a:prstGeom prst="rect">
              <a:avLst/>
            </a:prstGeom>
          </p:spPr>
          <p:txBody>
            <a:bodyPr anchor="ctr" rtlCol="false" tIns="0" lIns="0" bIns="0" rIns="0"/>
            <a:lstStyle/>
            <a:p>
              <a:pPr algn="l">
                <a:lnSpc>
                  <a:spcPts val="2034"/>
                </a:lnSpc>
              </a:pPr>
              <a:r>
                <a:rPr lang="en-US" b="true" sz="2210" i="true">
                  <a:solidFill>
                    <a:srgbClr val="E5AAAF"/>
                  </a:solidFill>
                  <a:latin typeface="TT Commons Pro Bold Italics"/>
                  <a:ea typeface="TT Commons Pro Bold Italics"/>
                  <a:cs typeface="TT Commons Pro Bold Italics"/>
                  <a:sym typeface="TT Commons Pro Bold Italics"/>
                </a:rPr>
                <a:t>zomato</a:t>
              </a:r>
            </a:p>
          </p:txBody>
        </p:sp>
      </p:grpSp>
      <p:grpSp>
        <p:nvGrpSpPr>
          <p:cNvPr name="Group 389" id="389"/>
          <p:cNvGrpSpPr/>
          <p:nvPr/>
        </p:nvGrpSpPr>
        <p:grpSpPr>
          <a:xfrm rot="0">
            <a:off x="15342089" y="2880284"/>
            <a:ext cx="211465" cy="112671"/>
            <a:chOff x="0" y="0"/>
            <a:chExt cx="281953" cy="150228"/>
          </a:xfrm>
        </p:grpSpPr>
        <p:sp>
          <p:nvSpPr>
            <p:cNvPr name="Freeform 390" id="390"/>
            <p:cNvSpPr/>
            <p:nvPr/>
          </p:nvSpPr>
          <p:spPr>
            <a:xfrm flipH="false" flipV="false" rot="0">
              <a:off x="0" y="0"/>
              <a:ext cx="281940" cy="150241"/>
            </a:xfrm>
            <a:custGeom>
              <a:avLst/>
              <a:gdLst/>
              <a:ahLst/>
              <a:cxnLst/>
              <a:rect r="r" b="b" t="t" l="l"/>
              <a:pathLst>
                <a:path h="150241" w="281940">
                  <a:moveTo>
                    <a:pt x="0" y="0"/>
                  </a:moveTo>
                  <a:lnTo>
                    <a:pt x="281940" y="0"/>
                  </a:lnTo>
                  <a:lnTo>
                    <a:pt x="281940" y="150241"/>
                  </a:lnTo>
                  <a:lnTo>
                    <a:pt x="0" y="150241"/>
                  </a:lnTo>
                  <a:close/>
                </a:path>
              </a:pathLst>
            </a:custGeom>
            <a:blipFill>
              <a:blip r:embed="rId4">
                <a:alphaModFix amt="0"/>
              </a:blip>
              <a:stretch>
                <a:fillRect l="-18409" t="0" r="-18414" b="8"/>
              </a:stretch>
            </a:blipFill>
          </p:spPr>
        </p:sp>
      </p:grpSp>
      <p:grpSp>
        <p:nvGrpSpPr>
          <p:cNvPr name="Group 391" id="391"/>
          <p:cNvGrpSpPr/>
          <p:nvPr/>
        </p:nvGrpSpPr>
        <p:grpSpPr>
          <a:xfrm rot="0">
            <a:off x="15342089" y="2880284"/>
            <a:ext cx="211465" cy="112671"/>
            <a:chOff x="0" y="0"/>
            <a:chExt cx="281953" cy="150228"/>
          </a:xfrm>
        </p:grpSpPr>
        <p:sp>
          <p:nvSpPr>
            <p:cNvPr name="Freeform 392" id="392"/>
            <p:cNvSpPr/>
            <p:nvPr/>
          </p:nvSpPr>
          <p:spPr>
            <a:xfrm flipH="false" flipV="false" rot="0">
              <a:off x="0" y="0"/>
              <a:ext cx="281953" cy="150227"/>
            </a:xfrm>
            <a:custGeom>
              <a:avLst/>
              <a:gdLst/>
              <a:ahLst/>
              <a:cxnLst/>
              <a:rect r="r" b="b" t="t" l="l"/>
              <a:pathLst>
                <a:path h="150227" w="281953">
                  <a:moveTo>
                    <a:pt x="0" y="0"/>
                  </a:moveTo>
                  <a:lnTo>
                    <a:pt x="281953" y="0"/>
                  </a:lnTo>
                  <a:lnTo>
                    <a:pt x="281953" y="150227"/>
                  </a:lnTo>
                  <a:lnTo>
                    <a:pt x="0" y="150227"/>
                  </a:lnTo>
                  <a:close/>
                </a:path>
              </a:pathLst>
            </a:custGeom>
            <a:blipFill>
              <a:blip r:embed="rId5">
                <a:alphaModFix amt="0"/>
              </a:blip>
              <a:stretch>
                <a:fillRect l="-18361" t="0" r="-18361" b="-1"/>
              </a:stretch>
            </a:blipFill>
          </p:spPr>
        </p:sp>
        <p:sp>
          <p:nvSpPr>
            <p:cNvPr name="TextBox 393" id="393"/>
            <p:cNvSpPr txBox="true"/>
            <p:nvPr/>
          </p:nvSpPr>
          <p:spPr>
            <a:xfrm>
              <a:off x="0" y="0"/>
              <a:ext cx="281953" cy="150228"/>
            </a:xfrm>
            <a:prstGeom prst="rect">
              <a:avLst/>
            </a:prstGeom>
          </p:spPr>
          <p:txBody>
            <a:bodyPr anchor="ctr" rtlCol="false" tIns="0" lIns="0" bIns="0" rIns="0"/>
            <a:lstStyle/>
            <a:p>
              <a:pPr algn="l">
                <a:lnSpc>
                  <a:spcPts val="687"/>
                </a:lnSpc>
              </a:pPr>
              <a:r>
                <a:rPr lang="en-US" sz="528" b="true">
                  <a:solidFill>
                    <a:srgbClr val="E86D76"/>
                  </a:solidFill>
                  <a:latin typeface="TT Commons Pro Bold"/>
                  <a:ea typeface="TT Commons Pro Bold"/>
                  <a:cs typeface="TT Commons Pro Bold"/>
                  <a:sym typeface="TT Commons Pro Bold"/>
                </a:rPr>
                <a:t>రీశ్రి</a:t>
              </a:r>
            </a:p>
          </p:txBody>
        </p:sp>
      </p:grpSp>
      <p:grpSp>
        <p:nvGrpSpPr>
          <p:cNvPr name="Group 394" id="394"/>
          <p:cNvGrpSpPr/>
          <p:nvPr/>
        </p:nvGrpSpPr>
        <p:grpSpPr>
          <a:xfrm rot="0">
            <a:off x="1028157" y="6854352"/>
            <a:ext cx="262509" cy="178184"/>
            <a:chOff x="0" y="0"/>
            <a:chExt cx="350012" cy="237579"/>
          </a:xfrm>
        </p:grpSpPr>
        <p:sp>
          <p:nvSpPr>
            <p:cNvPr name="Freeform 395" id="395"/>
            <p:cNvSpPr/>
            <p:nvPr/>
          </p:nvSpPr>
          <p:spPr>
            <a:xfrm flipH="false" flipV="false" rot="0">
              <a:off x="0" y="0"/>
              <a:ext cx="350012" cy="237617"/>
            </a:xfrm>
            <a:custGeom>
              <a:avLst/>
              <a:gdLst/>
              <a:ahLst/>
              <a:cxnLst/>
              <a:rect r="r" b="b" t="t" l="l"/>
              <a:pathLst>
                <a:path h="237617" w="350012">
                  <a:moveTo>
                    <a:pt x="0" y="0"/>
                  </a:moveTo>
                  <a:lnTo>
                    <a:pt x="350012" y="0"/>
                  </a:lnTo>
                  <a:lnTo>
                    <a:pt x="350012" y="237617"/>
                  </a:lnTo>
                  <a:lnTo>
                    <a:pt x="0" y="237617"/>
                  </a:lnTo>
                  <a:close/>
                </a:path>
              </a:pathLst>
            </a:custGeom>
            <a:blipFill>
              <a:blip r:embed="rId4">
                <a:alphaModFix amt="0"/>
              </a:blip>
              <a:stretch>
                <a:fillRect l="-37148" t="0" r="-37151" b="16"/>
              </a:stretch>
            </a:blipFill>
          </p:spPr>
        </p:sp>
      </p:grpSp>
      <p:grpSp>
        <p:nvGrpSpPr>
          <p:cNvPr name="Group 396" id="396"/>
          <p:cNvGrpSpPr/>
          <p:nvPr/>
        </p:nvGrpSpPr>
        <p:grpSpPr>
          <a:xfrm rot="0">
            <a:off x="1028157" y="6868639"/>
            <a:ext cx="262509" cy="163897"/>
            <a:chOff x="0" y="0"/>
            <a:chExt cx="350012" cy="218529"/>
          </a:xfrm>
        </p:grpSpPr>
        <p:sp>
          <p:nvSpPr>
            <p:cNvPr name="Freeform 397" id="397"/>
            <p:cNvSpPr/>
            <p:nvPr/>
          </p:nvSpPr>
          <p:spPr>
            <a:xfrm flipH="false" flipV="false" rot="0">
              <a:off x="0" y="0"/>
              <a:ext cx="350012" cy="218525"/>
            </a:xfrm>
            <a:custGeom>
              <a:avLst/>
              <a:gdLst/>
              <a:ahLst/>
              <a:cxnLst/>
              <a:rect r="r" b="b" t="t" l="l"/>
              <a:pathLst>
                <a:path h="218525" w="350012">
                  <a:moveTo>
                    <a:pt x="0" y="0"/>
                  </a:moveTo>
                  <a:lnTo>
                    <a:pt x="350012" y="0"/>
                  </a:lnTo>
                  <a:lnTo>
                    <a:pt x="350012" y="218525"/>
                  </a:lnTo>
                  <a:lnTo>
                    <a:pt x="0" y="218525"/>
                  </a:lnTo>
                  <a:close/>
                </a:path>
              </a:pathLst>
            </a:custGeom>
            <a:blipFill>
              <a:blip r:embed="rId5">
                <a:alphaModFix amt="0"/>
              </a:blip>
              <a:stretch>
                <a:fillRect l="-30105" t="0" r="-30105" b="-1"/>
              </a:stretch>
            </a:blipFill>
          </p:spPr>
        </p:sp>
        <p:sp>
          <p:nvSpPr>
            <p:cNvPr name="TextBox 398" id="398"/>
            <p:cNvSpPr txBox="true"/>
            <p:nvPr/>
          </p:nvSpPr>
          <p:spPr>
            <a:xfrm>
              <a:off x="0" y="19050"/>
              <a:ext cx="350012" cy="199479"/>
            </a:xfrm>
            <a:prstGeom prst="rect">
              <a:avLst/>
            </a:prstGeom>
          </p:spPr>
          <p:txBody>
            <a:bodyPr anchor="ctr" rtlCol="false" tIns="0" lIns="0" bIns="0" rIns="0"/>
            <a:lstStyle/>
            <a:p>
              <a:pPr algn="l">
                <a:lnSpc>
                  <a:spcPts val="861"/>
                </a:lnSpc>
              </a:pPr>
              <a:r>
                <a:rPr lang="en-US" sz="843">
                  <a:solidFill>
                    <a:srgbClr val="9A9692"/>
                  </a:solidFill>
                  <a:latin typeface="TT Commons Pro"/>
                  <a:ea typeface="TT Commons Pro"/>
                  <a:cs typeface="TT Commons Pro"/>
                  <a:sym typeface="TT Commons Pro"/>
                </a:rPr>
                <a:t>Houtl</a:t>
              </a:r>
            </a:p>
          </p:txBody>
        </p:sp>
      </p:grpSp>
      <p:grpSp>
        <p:nvGrpSpPr>
          <p:cNvPr name="Group 399" id="399"/>
          <p:cNvGrpSpPr/>
          <p:nvPr/>
        </p:nvGrpSpPr>
        <p:grpSpPr>
          <a:xfrm rot="0">
            <a:off x="2202142" y="6336630"/>
            <a:ext cx="320840" cy="128930"/>
            <a:chOff x="0" y="0"/>
            <a:chExt cx="427787" cy="171907"/>
          </a:xfrm>
        </p:grpSpPr>
        <p:sp>
          <p:nvSpPr>
            <p:cNvPr name="Freeform 400" id="400"/>
            <p:cNvSpPr/>
            <p:nvPr/>
          </p:nvSpPr>
          <p:spPr>
            <a:xfrm flipH="false" flipV="false" rot="0">
              <a:off x="0" y="0"/>
              <a:ext cx="427736" cy="171958"/>
            </a:xfrm>
            <a:custGeom>
              <a:avLst/>
              <a:gdLst/>
              <a:ahLst/>
              <a:cxnLst/>
              <a:rect r="r" b="b" t="t" l="l"/>
              <a:pathLst>
                <a:path h="171958" w="427736">
                  <a:moveTo>
                    <a:pt x="0" y="0"/>
                  </a:moveTo>
                  <a:lnTo>
                    <a:pt x="427736" y="0"/>
                  </a:lnTo>
                  <a:lnTo>
                    <a:pt x="427736" y="171958"/>
                  </a:lnTo>
                  <a:lnTo>
                    <a:pt x="0" y="171958"/>
                  </a:lnTo>
                  <a:close/>
                </a:path>
              </a:pathLst>
            </a:custGeom>
            <a:blipFill>
              <a:blip r:embed="rId4">
                <a:alphaModFix amt="0"/>
              </a:blip>
              <a:stretch>
                <a:fillRect l="-1594" t="0" r="-1606" b="29"/>
              </a:stretch>
            </a:blipFill>
          </p:spPr>
        </p:sp>
      </p:grpSp>
      <p:grpSp>
        <p:nvGrpSpPr>
          <p:cNvPr name="Group 401" id="401"/>
          <p:cNvGrpSpPr/>
          <p:nvPr/>
        </p:nvGrpSpPr>
        <p:grpSpPr>
          <a:xfrm rot="0">
            <a:off x="2202142" y="6336630"/>
            <a:ext cx="320840" cy="128930"/>
            <a:chOff x="0" y="0"/>
            <a:chExt cx="427787" cy="171907"/>
          </a:xfrm>
        </p:grpSpPr>
        <p:sp>
          <p:nvSpPr>
            <p:cNvPr name="Freeform 402" id="402"/>
            <p:cNvSpPr/>
            <p:nvPr/>
          </p:nvSpPr>
          <p:spPr>
            <a:xfrm flipH="false" flipV="false" rot="0">
              <a:off x="0" y="0"/>
              <a:ext cx="427787" cy="171908"/>
            </a:xfrm>
            <a:custGeom>
              <a:avLst/>
              <a:gdLst/>
              <a:ahLst/>
              <a:cxnLst/>
              <a:rect r="r" b="b" t="t" l="l"/>
              <a:pathLst>
                <a:path h="171908" w="427787">
                  <a:moveTo>
                    <a:pt x="0" y="0"/>
                  </a:moveTo>
                  <a:lnTo>
                    <a:pt x="427787" y="0"/>
                  </a:lnTo>
                  <a:lnTo>
                    <a:pt x="427787" y="171908"/>
                  </a:lnTo>
                  <a:lnTo>
                    <a:pt x="0" y="171908"/>
                  </a:lnTo>
                  <a:close/>
                </a:path>
              </a:pathLst>
            </a:custGeom>
            <a:blipFill>
              <a:blip r:embed="rId5">
                <a:alphaModFix amt="0"/>
              </a:blip>
              <a:stretch>
                <a:fillRect l="-1559" t="0" r="-1559" b="0"/>
              </a:stretch>
            </a:blipFill>
          </p:spPr>
        </p:sp>
        <p:sp>
          <p:nvSpPr>
            <p:cNvPr name="TextBox 403" id="403"/>
            <p:cNvSpPr txBox="true"/>
            <p:nvPr/>
          </p:nvSpPr>
          <p:spPr>
            <a:xfrm>
              <a:off x="0" y="0"/>
              <a:ext cx="427787" cy="171907"/>
            </a:xfrm>
            <a:prstGeom prst="rect">
              <a:avLst/>
            </a:prstGeom>
          </p:spPr>
          <p:txBody>
            <a:bodyPr anchor="ctr" rtlCol="false" tIns="0" lIns="0" bIns="0" rIns="0"/>
            <a:lstStyle/>
            <a:p>
              <a:pPr algn="l">
                <a:lnSpc>
                  <a:spcPts val="745"/>
                </a:lnSpc>
              </a:pPr>
              <a:r>
                <a:rPr lang="en-US" sz="636">
                  <a:solidFill>
                    <a:srgbClr val="9D9890"/>
                  </a:solidFill>
                  <a:latin typeface="TT Commons Pro"/>
                  <a:ea typeface="TT Commons Pro"/>
                  <a:cs typeface="TT Commons Pro"/>
                  <a:sym typeface="TT Commons Pro"/>
                </a:rPr>
                <a:t>బై.చిల్లి</a:t>
              </a:r>
            </a:p>
          </p:txBody>
        </p:sp>
      </p:grpSp>
      <p:grpSp>
        <p:nvGrpSpPr>
          <p:cNvPr name="Group 404" id="404"/>
          <p:cNvGrpSpPr/>
          <p:nvPr/>
        </p:nvGrpSpPr>
        <p:grpSpPr>
          <a:xfrm rot="0">
            <a:off x="969816" y="5337648"/>
            <a:ext cx="969816" cy="194920"/>
            <a:chOff x="0" y="0"/>
            <a:chExt cx="1293089" cy="259893"/>
          </a:xfrm>
        </p:grpSpPr>
        <p:sp>
          <p:nvSpPr>
            <p:cNvPr name="Freeform 405" id="405"/>
            <p:cNvSpPr/>
            <p:nvPr/>
          </p:nvSpPr>
          <p:spPr>
            <a:xfrm flipH="false" flipV="false" rot="0">
              <a:off x="0" y="0"/>
              <a:ext cx="1293114" cy="259842"/>
            </a:xfrm>
            <a:custGeom>
              <a:avLst/>
              <a:gdLst/>
              <a:ahLst/>
              <a:cxnLst/>
              <a:rect r="r" b="b" t="t" l="l"/>
              <a:pathLst>
                <a:path h="259842" w="1293114">
                  <a:moveTo>
                    <a:pt x="0" y="0"/>
                  </a:moveTo>
                  <a:lnTo>
                    <a:pt x="1293114" y="0"/>
                  </a:lnTo>
                  <a:lnTo>
                    <a:pt x="1293114" y="259842"/>
                  </a:lnTo>
                  <a:lnTo>
                    <a:pt x="0" y="259842"/>
                  </a:lnTo>
                  <a:close/>
                </a:path>
              </a:pathLst>
            </a:custGeom>
            <a:blipFill>
              <a:blip r:embed="rId4">
                <a:alphaModFix amt="0"/>
              </a:blip>
              <a:stretch>
                <a:fillRect l="0" t="-46891" r="1" b="-46906"/>
              </a:stretch>
            </a:blipFill>
          </p:spPr>
        </p:sp>
      </p:grpSp>
      <p:grpSp>
        <p:nvGrpSpPr>
          <p:cNvPr name="Group 406" id="406"/>
          <p:cNvGrpSpPr/>
          <p:nvPr/>
        </p:nvGrpSpPr>
        <p:grpSpPr>
          <a:xfrm rot="0">
            <a:off x="969816" y="5337648"/>
            <a:ext cx="969816" cy="194920"/>
            <a:chOff x="0" y="0"/>
            <a:chExt cx="1293089" cy="259893"/>
          </a:xfrm>
        </p:grpSpPr>
        <p:sp>
          <p:nvSpPr>
            <p:cNvPr name="Freeform 407" id="407"/>
            <p:cNvSpPr/>
            <p:nvPr/>
          </p:nvSpPr>
          <p:spPr>
            <a:xfrm flipH="false" flipV="false" rot="0">
              <a:off x="0" y="0"/>
              <a:ext cx="1293088" cy="259887"/>
            </a:xfrm>
            <a:custGeom>
              <a:avLst/>
              <a:gdLst/>
              <a:ahLst/>
              <a:cxnLst/>
              <a:rect r="r" b="b" t="t" l="l"/>
              <a:pathLst>
                <a:path h="259887" w="1293088">
                  <a:moveTo>
                    <a:pt x="0" y="0"/>
                  </a:moveTo>
                  <a:lnTo>
                    <a:pt x="1293088" y="0"/>
                  </a:lnTo>
                  <a:lnTo>
                    <a:pt x="1293088" y="259887"/>
                  </a:lnTo>
                  <a:lnTo>
                    <a:pt x="0" y="259887"/>
                  </a:lnTo>
                  <a:close/>
                </a:path>
              </a:pathLst>
            </a:custGeom>
            <a:blipFill>
              <a:blip r:embed="rId5">
                <a:alphaModFix amt="0"/>
              </a:blip>
              <a:stretch>
                <a:fillRect l="0" t="-46948" r="0" b="-46950"/>
              </a:stretch>
            </a:blipFill>
          </p:spPr>
        </p:sp>
        <p:sp>
          <p:nvSpPr>
            <p:cNvPr name="TextBox 408" id="408"/>
            <p:cNvSpPr txBox="true"/>
            <p:nvPr/>
          </p:nvSpPr>
          <p:spPr>
            <a:xfrm>
              <a:off x="0" y="0"/>
              <a:ext cx="1293089" cy="259893"/>
            </a:xfrm>
            <a:prstGeom prst="rect">
              <a:avLst/>
            </a:prstGeom>
          </p:spPr>
          <p:txBody>
            <a:bodyPr anchor="ctr" rtlCol="false" tIns="0" lIns="0" bIns="0" rIns="0"/>
            <a:lstStyle/>
            <a:p>
              <a:pPr algn="l">
                <a:lnSpc>
                  <a:spcPts val="1147"/>
                </a:lnSpc>
              </a:pPr>
              <a:r>
                <a:rPr lang="en-US" sz="913">
                  <a:solidFill>
                    <a:srgbClr val="7D7A79"/>
                  </a:solidFill>
                  <a:latin typeface="TT Commons Pro"/>
                  <a:ea typeface="TT Commons Pro"/>
                  <a:cs typeface="TT Commons Pro"/>
                  <a:sym typeface="TT Commons Pro"/>
                </a:rPr>
                <a:t>Top Picks for You</a:t>
              </a:r>
            </a:p>
          </p:txBody>
        </p:sp>
      </p:grpSp>
      <p:grpSp>
        <p:nvGrpSpPr>
          <p:cNvPr name="Group 409" id="409"/>
          <p:cNvGrpSpPr/>
          <p:nvPr/>
        </p:nvGrpSpPr>
        <p:grpSpPr>
          <a:xfrm rot="0">
            <a:off x="1545879" y="3077166"/>
            <a:ext cx="656263" cy="256042"/>
            <a:chOff x="0" y="0"/>
            <a:chExt cx="875017" cy="341389"/>
          </a:xfrm>
        </p:grpSpPr>
        <p:sp>
          <p:nvSpPr>
            <p:cNvPr name="Freeform 410" id="410"/>
            <p:cNvSpPr/>
            <p:nvPr/>
          </p:nvSpPr>
          <p:spPr>
            <a:xfrm flipH="false" flipV="false" rot="0">
              <a:off x="0" y="0"/>
              <a:ext cx="875030" cy="341376"/>
            </a:xfrm>
            <a:custGeom>
              <a:avLst/>
              <a:gdLst/>
              <a:ahLst/>
              <a:cxnLst/>
              <a:rect r="r" b="b" t="t" l="l"/>
              <a:pathLst>
                <a:path h="341376" w="875030">
                  <a:moveTo>
                    <a:pt x="0" y="0"/>
                  </a:moveTo>
                  <a:lnTo>
                    <a:pt x="875030" y="0"/>
                  </a:lnTo>
                  <a:lnTo>
                    <a:pt x="875030" y="341376"/>
                  </a:lnTo>
                  <a:lnTo>
                    <a:pt x="0" y="341376"/>
                  </a:lnTo>
                  <a:close/>
                </a:path>
              </a:pathLst>
            </a:custGeom>
            <a:blipFill>
              <a:blip r:embed="rId4">
                <a:alphaModFix amt="0"/>
              </a:blip>
              <a:stretch>
                <a:fillRect l="-92" t="0" r="-92" b="-3"/>
              </a:stretch>
            </a:blipFill>
          </p:spPr>
        </p:sp>
      </p:grpSp>
      <p:grpSp>
        <p:nvGrpSpPr>
          <p:cNvPr name="Group 411" id="411"/>
          <p:cNvGrpSpPr/>
          <p:nvPr/>
        </p:nvGrpSpPr>
        <p:grpSpPr>
          <a:xfrm rot="0">
            <a:off x="1545879" y="3112884"/>
            <a:ext cx="656272" cy="220323"/>
            <a:chOff x="0" y="0"/>
            <a:chExt cx="875030" cy="293764"/>
          </a:xfrm>
        </p:grpSpPr>
        <p:sp>
          <p:nvSpPr>
            <p:cNvPr name="Freeform 412" id="412"/>
            <p:cNvSpPr/>
            <p:nvPr/>
          </p:nvSpPr>
          <p:spPr>
            <a:xfrm flipH="false" flipV="false" rot="0">
              <a:off x="0" y="0"/>
              <a:ext cx="875029" cy="293766"/>
            </a:xfrm>
            <a:custGeom>
              <a:avLst/>
              <a:gdLst/>
              <a:ahLst/>
              <a:cxnLst/>
              <a:rect r="r" b="b" t="t" l="l"/>
              <a:pathLst>
                <a:path h="293766" w="875029">
                  <a:moveTo>
                    <a:pt x="0" y="0"/>
                  </a:moveTo>
                  <a:lnTo>
                    <a:pt x="875029" y="0"/>
                  </a:lnTo>
                  <a:lnTo>
                    <a:pt x="875029" y="293766"/>
                  </a:lnTo>
                  <a:lnTo>
                    <a:pt x="0" y="293766"/>
                  </a:lnTo>
                  <a:close/>
                </a:path>
              </a:pathLst>
            </a:custGeom>
            <a:blipFill>
              <a:blip r:embed="rId5">
                <a:alphaModFix amt="0"/>
              </a:blip>
              <a:stretch>
                <a:fillRect l="0" t="-8039" r="0" b="-8039"/>
              </a:stretch>
            </a:blipFill>
          </p:spPr>
        </p:sp>
        <p:sp>
          <p:nvSpPr>
            <p:cNvPr name="TextBox 413" id="413"/>
            <p:cNvSpPr txBox="true"/>
            <p:nvPr/>
          </p:nvSpPr>
          <p:spPr>
            <a:xfrm>
              <a:off x="0" y="47625"/>
              <a:ext cx="875030" cy="246139"/>
            </a:xfrm>
            <a:prstGeom prst="rect">
              <a:avLst/>
            </a:prstGeom>
          </p:spPr>
          <p:txBody>
            <a:bodyPr anchor="ctr" rtlCol="false" tIns="0" lIns="0" bIns="0" rIns="0"/>
            <a:lstStyle/>
            <a:p>
              <a:pPr algn="l">
                <a:lnSpc>
                  <a:spcPts val="1089"/>
                </a:lnSpc>
              </a:pPr>
              <a:r>
                <a:rPr lang="en-US" sz="1205" b="true">
                  <a:solidFill>
                    <a:srgbClr val="F1AB7B"/>
                  </a:solidFill>
                  <a:latin typeface="TT Commons Pro Bold"/>
                  <a:ea typeface="TT Commons Pro Bold"/>
                  <a:cs typeface="TT Commons Pro Bold"/>
                  <a:sym typeface="TT Commons Pro Bold"/>
                </a:rPr>
                <a:t>SWIGGY</a:t>
              </a:r>
            </a:p>
          </p:txBody>
        </p:sp>
      </p:grpSp>
      <p:grpSp>
        <p:nvGrpSpPr>
          <p:cNvPr name="Group 414" id="414"/>
          <p:cNvGrpSpPr/>
          <p:nvPr/>
        </p:nvGrpSpPr>
        <p:grpSpPr>
          <a:xfrm rot="0">
            <a:off x="896903" y="2763622"/>
            <a:ext cx="218761" cy="178984"/>
            <a:chOff x="0" y="0"/>
            <a:chExt cx="291681" cy="238646"/>
          </a:xfrm>
        </p:grpSpPr>
        <p:sp>
          <p:nvSpPr>
            <p:cNvPr name="Freeform 415" id="415"/>
            <p:cNvSpPr/>
            <p:nvPr/>
          </p:nvSpPr>
          <p:spPr>
            <a:xfrm flipH="false" flipV="false" rot="0">
              <a:off x="0" y="0"/>
              <a:ext cx="291719" cy="238633"/>
            </a:xfrm>
            <a:custGeom>
              <a:avLst/>
              <a:gdLst/>
              <a:ahLst/>
              <a:cxnLst/>
              <a:rect r="r" b="b" t="t" l="l"/>
              <a:pathLst>
                <a:path h="238633" w="291719">
                  <a:moveTo>
                    <a:pt x="0" y="0"/>
                  </a:moveTo>
                  <a:lnTo>
                    <a:pt x="291719" y="0"/>
                  </a:lnTo>
                  <a:lnTo>
                    <a:pt x="291719" y="238633"/>
                  </a:lnTo>
                  <a:lnTo>
                    <a:pt x="0" y="238633"/>
                  </a:lnTo>
                  <a:close/>
                </a:path>
              </a:pathLst>
            </a:custGeom>
            <a:blipFill>
              <a:blip r:embed="rId4">
                <a:alphaModFix amt="0"/>
              </a:blip>
              <a:stretch>
                <a:fillRect l="-55041" t="0" r="-55023" b="-5"/>
              </a:stretch>
            </a:blipFill>
          </p:spPr>
        </p:sp>
      </p:grpSp>
      <p:grpSp>
        <p:nvGrpSpPr>
          <p:cNvPr name="Group 416" id="416"/>
          <p:cNvGrpSpPr/>
          <p:nvPr/>
        </p:nvGrpSpPr>
        <p:grpSpPr>
          <a:xfrm rot="0">
            <a:off x="896903" y="2792197"/>
            <a:ext cx="218761" cy="150409"/>
            <a:chOff x="0" y="0"/>
            <a:chExt cx="291681" cy="200546"/>
          </a:xfrm>
        </p:grpSpPr>
        <p:sp>
          <p:nvSpPr>
            <p:cNvPr name="Freeform 417" id="417"/>
            <p:cNvSpPr/>
            <p:nvPr/>
          </p:nvSpPr>
          <p:spPr>
            <a:xfrm flipH="false" flipV="false" rot="0">
              <a:off x="0" y="0"/>
              <a:ext cx="291681" cy="200540"/>
            </a:xfrm>
            <a:custGeom>
              <a:avLst/>
              <a:gdLst/>
              <a:ahLst/>
              <a:cxnLst/>
              <a:rect r="r" b="b" t="t" l="l"/>
              <a:pathLst>
                <a:path h="200540" w="291681">
                  <a:moveTo>
                    <a:pt x="0" y="0"/>
                  </a:moveTo>
                  <a:lnTo>
                    <a:pt x="291681" y="0"/>
                  </a:lnTo>
                  <a:lnTo>
                    <a:pt x="291681" y="200540"/>
                  </a:lnTo>
                  <a:lnTo>
                    <a:pt x="0" y="200540"/>
                  </a:lnTo>
                  <a:close/>
                </a:path>
              </a:pathLst>
            </a:custGeom>
            <a:blipFill>
              <a:blip r:embed="rId5">
                <a:alphaModFix amt="0"/>
              </a:blip>
              <a:stretch>
                <a:fillRect l="-38215" t="0" r="-38215" b="-2"/>
              </a:stretch>
            </a:blipFill>
          </p:spPr>
        </p:sp>
        <p:sp>
          <p:nvSpPr>
            <p:cNvPr name="TextBox 418" id="418"/>
            <p:cNvSpPr txBox="true"/>
            <p:nvPr/>
          </p:nvSpPr>
          <p:spPr>
            <a:xfrm>
              <a:off x="0" y="38100"/>
              <a:ext cx="291681" cy="162446"/>
            </a:xfrm>
            <a:prstGeom prst="rect">
              <a:avLst/>
            </a:prstGeom>
          </p:spPr>
          <p:txBody>
            <a:bodyPr anchor="ctr" rtlCol="false" tIns="0" lIns="0" bIns="0" rIns="0"/>
            <a:lstStyle/>
            <a:p>
              <a:pPr algn="l">
                <a:lnSpc>
                  <a:spcPts val="656"/>
                </a:lnSpc>
              </a:pPr>
              <a:r>
                <a:rPr lang="en-US" sz="858" b="true">
                  <a:solidFill>
                    <a:srgbClr val="F3925A"/>
                  </a:solidFill>
                  <a:latin typeface="TT Commons Pro Bold"/>
                  <a:ea typeface="TT Commons Pro Bold"/>
                  <a:cs typeface="TT Commons Pro Bold"/>
                  <a:sym typeface="TT Commons Pro Bold"/>
                </a:rPr>
                <a:t>5.41</a:t>
              </a:r>
            </a:p>
          </p:txBody>
        </p:sp>
      </p:grpSp>
      <p:sp>
        <p:nvSpPr>
          <p:cNvPr name="TextBox 419" id="419"/>
          <p:cNvSpPr txBox="true"/>
          <p:nvPr/>
        </p:nvSpPr>
        <p:spPr>
          <a:xfrm rot="0">
            <a:off x="2139010" y="9763535"/>
            <a:ext cx="7909179" cy="292732"/>
          </a:xfrm>
          <a:prstGeom prst="rect">
            <a:avLst/>
          </a:prstGeom>
        </p:spPr>
        <p:txBody>
          <a:bodyPr anchor="t" rtlCol="false" tIns="0" lIns="0" bIns="0" rIns="0">
            <a:spAutoFit/>
          </a:bodyPr>
          <a:lstStyle/>
          <a:p>
            <a:pPr algn="ctr">
              <a:lnSpc>
                <a:spcPts val="2210"/>
              </a:lnSpc>
            </a:pPr>
            <a:r>
              <a:rPr lang="en-US" sz="1700" b="true">
                <a:solidFill>
                  <a:srgbClr val="EC7624"/>
                </a:solidFill>
                <a:latin typeface="TT Commons Pro Bold"/>
                <a:ea typeface="TT Commons Pro Bold"/>
                <a:cs typeface="TT Commons Pro Bold"/>
                <a:sym typeface="TT Commons Pro Bold"/>
              </a:rPr>
              <a:t>SWIGGY</a:t>
            </a:r>
            <a:r>
              <a:rPr lang="en-US" sz="1700" b="true">
                <a:solidFill>
                  <a:srgbClr val="F2EFEB"/>
                </a:solidFill>
                <a:latin typeface="TT Commons Pro Bold"/>
                <a:ea typeface="TT Commons Pro Bold"/>
                <a:cs typeface="TT Commons Pro Bold"/>
                <a:sym typeface="TT Commons Pro Bold"/>
              </a:rPr>
              <a:t> VS</a:t>
            </a:r>
            <a:r>
              <a:rPr lang="en-US" sz="1700" b="true">
                <a:solidFill>
                  <a:srgbClr val="CF0B23"/>
                </a:solidFill>
                <a:latin typeface="TT Commons Pro Bold"/>
                <a:ea typeface="TT Commons Pro Bold"/>
                <a:cs typeface="TT Commons Pro Bold"/>
                <a:sym typeface="TT Commons Pro Bold"/>
              </a:rPr>
              <a:t> ZOMATO</a:t>
            </a:r>
            <a:r>
              <a:rPr lang="en-US" sz="1700" b="true">
                <a:solidFill>
                  <a:srgbClr val="F2EFEB"/>
                </a:solidFill>
                <a:latin typeface="TT Commons Pro Bold"/>
                <a:ea typeface="TT Commons Pro Bold"/>
                <a:cs typeface="TT Commons Pro Bold"/>
                <a:sym typeface="TT Commons Pro Bold"/>
              </a:rPr>
              <a:t>: Restaurant Performance and Customer Insights Analysis</a:t>
            </a:r>
          </a:p>
        </p:txBody>
      </p:sp>
      <p:grpSp>
        <p:nvGrpSpPr>
          <p:cNvPr name="Group 420" id="420"/>
          <p:cNvGrpSpPr/>
          <p:nvPr/>
        </p:nvGrpSpPr>
        <p:grpSpPr>
          <a:xfrm rot="0">
            <a:off x="1370867" y="9732274"/>
            <a:ext cx="896903" cy="393354"/>
            <a:chOff x="0" y="0"/>
            <a:chExt cx="1195870" cy="524472"/>
          </a:xfrm>
        </p:grpSpPr>
        <p:sp>
          <p:nvSpPr>
            <p:cNvPr name="Freeform 421" id="421"/>
            <p:cNvSpPr/>
            <p:nvPr/>
          </p:nvSpPr>
          <p:spPr>
            <a:xfrm flipH="false" flipV="false" rot="0">
              <a:off x="0" y="0"/>
              <a:ext cx="1195832" cy="524510"/>
            </a:xfrm>
            <a:custGeom>
              <a:avLst/>
              <a:gdLst/>
              <a:ahLst/>
              <a:cxnLst/>
              <a:rect r="r" b="b" t="t" l="l"/>
              <a:pathLst>
                <a:path h="524510" w="1195832">
                  <a:moveTo>
                    <a:pt x="0" y="0"/>
                  </a:moveTo>
                  <a:lnTo>
                    <a:pt x="1195832" y="0"/>
                  </a:lnTo>
                  <a:lnTo>
                    <a:pt x="1195832" y="524510"/>
                  </a:lnTo>
                  <a:lnTo>
                    <a:pt x="0" y="524510"/>
                  </a:lnTo>
                  <a:close/>
                </a:path>
              </a:pathLst>
            </a:custGeom>
            <a:blipFill>
              <a:blip r:embed="rId4">
                <a:alphaModFix amt="0"/>
              </a:blip>
              <a:stretch>
                <a:fillRect l="-6309" t="0" r="-6312" b="7"/>
              </a:stretch>
            </a:blipFill>
          </p:spPr>
        </p:sp>
      </p:grpSp>
      <p:grpSp>
        <p:nvGrpSpPr>
          <p:cNvPr name="Group 422" id="422"/>
          <p:cNvGrpSpPr/>
          <p:nvPr/>
        </p:nvGrpSpPr>
        <p:grpSpPr>
          <a:xfrm rot="0">
            <a:off x="1370867" y="9767992"/>
            <a:ext cx="896903" cy="357635"/>
            <a:chOff x="0" y="0"/>
            <a:chExt cx="1195870" cy="476847"/>
          </a:xfrm>
        </p:grpSpPr>
        <p:sp>
          <p:nvSpPr>
            <p:cNvPr name="Freeform 423" id="423"/>
            <p:cNvSpPr/>
            <p:nvPr/>
          </p:nvSpPr>
          <p:spPr>
            <a:xfrm flipH="false" flipV="false" rot="0">
              <a:off x="0" y="0"/>
              <a:ext cx="1195871" cy="476844"/>
            </a:xfrm>
            <a:custGeom>
              <a:avLst/>
              <a:gdLst/>
              <a:ahLst/>
              <a:cxnLst/>
              <a:rect r="r" b="b" t="t" l="l"/>
              <a:pathLst>
                <a:path h="476844" w="1195871">
                  <a:moveTo>
                    <a:pt x="0" y="0"/>
                  </a:moveTo>
                  <a:lnTo>
                    <a:pt x="1195871" y="0"/>
                  </a:lnTo>
                  <a:lnTo>
                    <a:pt x="1195871" y="476844"/>
                  </a:lnTo>
                  <a:lnTo>
                    <a:pt x="0" y="476844"/>
                  </a:lnTo>
                  <a:close/>
                </a:path>
              </a:pathLst>
            </a:custGeom>
            <a:blipFill>
              <a:blip r:embed="rId5">
                <a:alphaModFix amt="0"/>
              </a:blip>
              <a:stretch>
                <a:fillRect l="-1160" t="0" r="-1160" b="0"/>
              </a:stretch>
            </a:blipFill>
          </p:spPr>
        </p:sp>
        <p:sp>
          <p:nvSpPr>
            <p:cNvPr name="TextBox 424" id="424"/>
            <p:cNvSpPr txBox="true"/>
            <p:nvPr/>
          </p:nvSpPr>
          <p:spPr>
            <a:xfrm>
              <a:off x="0" y="47625"/>
              <a:ext cx="1195870" cy="429222"/>
            </a:xfrm>
            <a:prstGeom prst="rect">
              <a:avLst/>
            </a:prstGeom>
          </p:spPr>
          <p:txBody>
            <a:bodyPr anchor="ctr" rtlCol="false" tIns="0" lIns="0" bIns="0" rIns="0"/>
            <a:lstStyle/>
            <a:p>
              <a:pPr algn="l">
                <a:lnSpc>
                  <a:spcPts val="1765"/>
                </a:lnSpc>
              </a:pPr>
              <a:r>
                <a:rPr lang="en-US" sz="1839" b="true">
                  <a:solidFill>
                    <a:srgbClr val="949494"/>
                  </a:solidFill>
                  <a:latin typeface="TT Commons Pro Bold"/>
                  <a:ea typeface="TT Commons Pro Bold"/>
                  <a:cs typeface="TT Commons Pro Bold"/>
                  <a:sym typeface="TT Commons Pro Bold"/>
                </a:rPr>
                <a:t>Project:</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8810"/>
            <a:chOff x="0" y="0"/>
            <a:chExt cx="24384000" cy="13718413"/>
          </a:xfrm>
        </p:grpSpPr>
        <p:sp>
          <p:nvSpPr>
            <p:cNvPr name="Freeform 3" id="3" descr="preencoded.png"/>
            <p:cNvSpPr/>
            <p:nvPr/>
          </p:nvSpPr>
          <p:spPr>
            <a:xfrm flipH="false" flipV="false" rot="0">
              <a:off x="0" y="0"/>
              <a:ext cx="24384000" cy="13718412"/>
            </a:xfrm>
            <a:custGeom>
              <a:avLst/>
              <a:gdLst/>
              <a:ahLst/>
              <a:cxnLst/>
              <a:rect r="r" b="b" t="t" l="l"/>
              <a:pathLst>
                <a:path h="13718412" w="24384000">
                  <a:moveTo>
                    <a:pt x="0" y="0"/>
                  </a:moveTo>
                  <a:lnTo>
                    <a:pt x="24384000" y="0"/>
                  </a:lnTo>
                  <a:lnTo>
                    <a:pt x="24384000" y="13718412"/>
                  </a:lnTo>
                  <a:lnTo>
                    <a:pt x="0" y="13718412"/>
                  </a:lnTo>
                  <a:lnTo>
                    <a:pt x="0" y="0"/>
                  </a:lnTo>
                  <a:close/>
                </a:path>
              </a:pathLst>
            </a:custGeom>
            <a:blipFill>
              <a:blip r:embed="rId2"/>
              <a:stretch>
                <a:fillRect l="-13" t="0" r="-13" b="0"/>
              </a:stretch>
            </a:blipFill>
          </p:spPr>
        </p:sp>
      </p:grpSp>
      <p:grpSp>
        <p:nvGrpSpPr>
          <p:cNvPr name="Group 4" id="4"/>
          <p:cNvGrpSpPr/>
          <p:nvPr/>
        </p:nvGrpSpPr>
        <p:grpSpPr>
          <a:xfrm rot="0">
            <a:off x="12055011" y="9689478"/>
            <a:ext cx="1238059" cy="335251"/>
            <a:chOff x="0" y="0"/>
            <a:chExt cx="1650746" cy="447002"/>
          </a:xfrm>
        </p:grpSpPr>
        <p:sp>
          <p:nvSpPr>
            <p:cNvPr name="Freeform 5" id="5"/>
            <p:cNvSpPr/>
            <p:nvPr/>
          </p:nvSpPr>
          <p:spPr>
            <a:xfrm flipH="false" flipV="false" rot="0">
              <a:off x="0" y="0"/>
              <a:ext cx="1650746" cy="447040"/>
            </a:xfrm>
            <a:custGeom>
              <a:avLst/>
              <a:gdLst/>
              <a:ahLst/>
              <a:cxnLst/>
              <a:rect r="r" b="b" t="t" l="l"/>
              <a:pathLst>
                <a:path h="447040" w="1650746">
                  <a:moveTo>
                    <a:pt x="0" y="0"/>
                  </a:moveTo>
                  <a:lnTo>
                    <a:pt x="1650746" y="0"/>
                  </a:lnTo>
                  <a:lnTo>
                    <a:pt x="1650746" y="447040"/>
                  </a:lnTo>
                  <a:lnTo>
                    <a:pt x="0" y="447040"/>
                  </a:lnTo>
                  <a:close/>
                </a:path>
              </a:pathLst>
            </a:custGeom>
            <a:blipFill>
              <a:blip r:embed="rId3">
                <a:alphaModFix amt="0"/>
              </a:blip>
              <a:stretch>
                <a:fillRect l="0" t="-21906" r="0" b="-21894"/>
              </a:stretch>
            </a:blipFill>
          </p:spPr>
        </p:sp>
      </p:grpSp>
      <p:grpSp>
        <p:nvGrpSpPr>
          <p:cNvPr name="Group 6" id="6"/>
          <p:cNvGrpSpPr/>
          <p:nvPr/>
        </p:nvGrpSpPr>
        <p:grpSpPr>
          <a:xfrm rot="0">
            <a:off x="12055011" y="9732340"/>
            <a:ext cx="1238059" cy="292389"/>
            <a:chOff x="0" y="0"/>
            <a:chExt cx="1650746" cy="389852"/>
          </a:xfrm>
        </p:grpSpPr>
        <p:sp>
          <p:nvSpPr>
            <p:cNvPr name="Freeform 7" id="7"/>
            <p:cNvSpPr/>
            <p:nvPr/>
          </p:nvSpPr>
          <p:spPr>
            <a:xfrm flipH="false" flipV="false" rot="0">
              <a:off x="0" y="0"/>
              <a:ext cx="1650747" cy="389846"/>
            </a:xfrm>
            <a:custGeom>
              <a:avLst/>
              <a:gdLst/>
              <a:ahLst/>
              <a:cxnLst/>
              <a:rect r="r" b="b" t="t" l="l"/>
              <a:pathLst>
                <a:path h="389846" w="1650747">
                  <a:moveTo>
                    <a:pt x="0" y="0"/>
                  </a:moveTo>
                  <a:lnTo>
                    <a:pt x="1650747" y="0"/>
                  </a:lnTo>
                  <a:lnTo>
                    <a:pt x="1650747" y="389846"/>
                  </a:lnTo>
                  <a:lnTo>
                    <a:pt x="0" y="389846"/>
                  </a:lnTo>
                  <a:close/>
                </a:path>
              </a:pathLst>
            </a:custGeom>
            <a:blipFill>
              <a:blip r:embed="rId4">
                <a:alphaModFix amt="0"/>
              </a:blip>
              <a:stretch>
                <a:fillRect l="0" t="-32505" r="0" b="-32507"/>
              </a:stretch>
            </a:blipFill>
          </p:spPr>
        </p:sp>
        <p:sp>
          <p:nvSpPr>
            <p:cNvPr name="TextBox 8" id="8"/>
            <p:cNvSpPr txBox="true"/>
            <p:nvPr/>
          </p:nvSpPr>
          <p:spPr>
            <a:xfrm>
              <a:off x="0" y="57150"/>
              <a:ext cx="1650746" cy="332702"/>
            </a:xfrm>
            <a:prstGeom prst="rect">
              <a:avLst/>
            </a:prstGeom>
          </p:spPr>
          <p:txBody>
            <a:bodyPr anchor="ctr" rtlCol="false" tIns="0" lIns="0" bIns="0" rIns="0"/>
            <a:lstStyle/>
            <a:p>
              <a:pPr algn="l">
                <a:lnSpc>
                  <a:spcPts val="1271"/>
                </a:lnSpc>
              </a:pPr>
              <a:r>
                <a:rPr lang="en-US" sz="1589" b="true">
                  <a:solidFill>
                    <a:srgbClr val="A7A5A4"/>
                  </a:solidFill>
                  <a:latin typeface="TT Commons Pro Bold"/>
                  <a:ea typeface="TT Commons Pro Bold"/>
                  <a:cs typeface="TT Commons Pro Bold"/>
                  <a:sym typeface="TT Commons Pro Bold"/>
                </a:rPr>
                <a:t>Dashboard</a:t>
              </a:r>
            </a:p>
          </p:txBody>
        </p:sp>
      </p:grpSp>
      <p:grpSp>
        <p:nvGrpSpPr>
          <p:cNvPr name="Group 9" id="9"/>
          <p:cNvGrpSpPr/>
          <p:nvPr/>
        </p:nvGrpSpPr>
        <p:grpSpPr>
          <a:xfrm rot="0">
            <a:off x="9100252" y="9669018"/>
            <a:ext cx="802110" cy="344929"/>
            <a:chOff x="0" y="0"/>
            <a:chExt cx="1069480" cy="459905"/>
          </a:xfrm>
        </p:grpSpPr>
        <p:sp>
          <p:nvSpPr>
            <p:cNvPr name="Freeform 10" id="10"/>
            <p:cNvSpPr/>
            <p:nvPr/>
          </p:nvSpPr>
          <p:spPr>
            <a:xfrm flipH="false" flipV="false" rot="0">
              <a:off x="0" y="0"/>
              <a:ext cx="1069467" cy="459867"/>
            </a:xfrm>
            <a:custGeom>
              <a:avLst/>
              <a:gdLst/>
              <a:ahLst/>
              <a:cxnLst/>
              <a:rect r="r" b="b" t="t" l="l"/>
              <a:pathLst>
                <a:path h="459867" w="1069467">
                  <a:moveTo>
                    <a:pt x="0" y="0"/>
                  </a:moveTo>
                  <a:lnTo>
                    <a:pt x="1069467" y="0"/>
                  </a:lnTo>
                  <a:lnTo>
                    <a:pt x="1069467" y="459867"/>
                  </a:lnTo>
                  <a:lnTo>
                    <a:pt x="0" y="459867"/>
                  </a:lnTo>
                  <a:close/>
                </a:path>
              </a:pathLst>
            </a:custGeom>
            <a:blipFill>
              <a:blip r:embed="rId3">
                <a:alphaModFix amt="0"/>
              </a:blip>
              <a:stretch>
                <a:fillRect l="-5211" t="0" r="-5213" b="-8"/>
              </a:stretch>
            </a:blipFill>
          </p:spPr>
        </p:sp>
      </p:grpSp>
      <p:grpSp>
        <p:nvGrpSpPr>
          <p:cNvPr name="Group 11" id="11"/>
          <p:cNvGrpSpPr/>
          <p:nvPr/>
        </p:nvGrpSpPr>
        <p:grpSpPr>
          <a:xfrm rot="0">
            <a:off x="9100252" y="9697593"/>
            <a:ext cx="802110" cy="316354"/>
            <a:chOff x="0" y="0"/>
            <a:chExt cx="1069480" cy="421805"/>
          </a:xfrm>
        </p:grpSpPr>
        <p:sp>
          <p:nvSpPr>
            <p:cNvPr name="Freeform 12" id="12"/>
            <p:cNvSpPr/>
            <p:nvPr/>
          </p:nvSpPr>
          <p:spPr>
            <a:xfrm flipH="false" flipV="false" rot="0">
              <a:off x="0" y="0"/>
              <a:ext cx="1069480" cy="421801"/>
            </a:xfrm>
            <a:custGeom>
              <a:avLst/>
              <a:gdLst/>
              <a:ahLst/>
              <a:cxnLst/>
              <a:rect r="r" b="b" t="t" l="l"/>
              <a:pathLst>
                <a:path h="421801" w="1069480">
                  <a:moveTo>
                    <a:pt x="0" y="0"/>
                  </a:moveTo>
                  <a:lnTo>
                    <a:pt x="1069480" y="0"/>
                  </a:lnTo>
                  <a:lnTo>
                    <a:pt x="1069480" y="421801"/>
                  </a:lnTo>
                  <a:lnTo>
                    <a:pt x="0" y="421801"/>
                  </a:lnTo>
                  <a:close/>
                </a:path>
              </a:pathLst>
            </a:custGeom>
            <a:blipFill>
              <a:blip r:embed="rId4">
                <a:alphaModFix amt="0"/>
              </a:blip>
              <a:stretch>
                <a:fillRect l="-603" t="0" r="-603" b="0"/>
              </a:stretch>
            </a:blipFill>
          </p:spPr>
        </p:sp>
        <p:sp>
          <p:nvSpPr>
            <p:cNvPr name="TextBox 13" id="13"/>
            <p:cNvSpPr txBox="true"/>
            <p:nvPr/>
          </p:nvSpPr>
          <p:spPr>
            <a:xfrm>
              <a:off x="0" y="38100"/>
              <a:ext cx="1069480" cy="383705"/>
            </a:xfrm>
            <a:prstGeom prst="rect">
              <a:avLst/>
            </a:prstGeom>
          </p:spPr>
          <p:txBody>
            <a:bodyPr anchor="ctr" rtlCol="false" tIns="0" lIns="0" bIns="0" rIns="0"/>
            <a:lstStyle/>
            <a:p>
              <a:pPr algn="l">
                <a:lnSpc>
                  <a:spcPts val="1615"/>
                </a:lnSpc>
              </a:pPr>
              <a:r>
                <a:rPr lang="en-US" sz="1616" b="true">
                  <a:solidFill>
                    <a:srgbClr val="A7A7A7"/>
                  </a:solidFill>
                  <a:latin typeface="TT Commons Pro Bold"/>
                  <a:ea typeface="TT Commons Pro Bold"/>
                  <a:cs typeface="TT Commons Pro Bold"/>
                  <a:sym typeface="TT Commons Pro Bold"/>
                </a:rPr>
                <a:t>Analyze</a:t>
              </a:r>
            </a:p>
          </p:txBody>
        </p:sp>
      </p:grpSp>
      <p:grpSp>
        <p:nvGrpSpPr>
          <p:cNvPr name="Group 14" id="14"/>
          <p:cNvGrpSpPr/>
          <p:nvPr/>
        </p:nvGrpSpPr>
        <p:grpSpPr>
          <a:xfrm rot="0">
            <a:off x="7612704" y="9676305"/>
            <a:ext cx="794814" cy="330527"/>
            <a:chOff x="0" y="0"/>
            <a:chExt cx="1059752" cy="440703"/>
          </a:xfrm>
        </p:grpSpPr>
        <p:sp>
          <p:nvSpPr>
            <p:cNvPr name="Freeform 15" id="15"/>
            <p:cNvSpPr/>
            <p:nvPr/>
          </p:nvSpPr>
          <p:spPr>
            <a:xfrm flipH="false" flipV="false" rot="0">
              <a:off x="0" y="0"/>
              <a:ext cx="1059688" cy="440690"/>
            </a:xfrm>
            <a:custGeom>
              <a:avLst/>
              <a:gdLst/>
              <a:ahLst/>
              <a:cxnLst/>
              <a:rect r="r" b="b" t="t" l="l"/>
              <a:pathLst>
                <a:path h="440690" w="1059688">
                  <a:moveTo>
                    <a:pt x="0" y="0"/>
                  </a:moveTo>
                  <a:lnTo>
                    <a:pt x="1059688" y="0"/>
                  </a:lnTo>
                  <a:lnTo>
                    <a:pt x="1059688" y="440690"/>
                  </a:lnTo>
                  <a:lnTo>
                    <a:pt x="0" y="440690"/>
                  </a:lnTo>
                  <a:close/>
                </a:path>
              </a:pathLst>
            </a:custGeom>
            <a:blipFill>
              <a:blip r:embed="rId3">
                <a:alphaModFix amt="0"/>
              </a:blip>
              <a:stretch>
                <a:fillRect l="-3392" t="0" r="-3398" b="-2"/>
              </a:stretch>
            </a:blipFill>
          </p:spPr>
        </p:sp>
      </p:grpSp>
      <p:grpSp>
        <p:nvGrpSpPr>
          <p:cNvPr name="Group 16" id="16"/>
          <p:cNvGrpSpPr/>
          <p:nvPr/>
        </p:nvGrpSpPr>
        <p:grpSpPr>
          <a:xfrm rot="0">
            <a:off x="7612704" y="9719167"/>
            <a:ext cx="794814" cy="287665"/>
            <a:chOff x="0" y="0"/>
            <a:chExt cx="1059752" cy="383553"/>
          </a:xfrm>
        </p:grpSpPr>
        <p:sp>
          <p:nvSpPr>
            <p:cNvPr name="Freeform 17" id="17"/>
            <p:cNvSpPr/>
            <p:nvPr/>
          </p:nvSpPr>
          <p:spPr>
            <a:xfrm flipH="false" flipV="false" rot="0">
              <a:off x="0" y="0"/>
              <a:ext cx="1059752" cy="383554"/>
            </a:xfrm>
            <a:custGeom>
              <a:avLst/>
              <a:gdLst/>
              <a:ahLst/>
              <a:cxnLst/>
              <a:rect r="r" b="b" t="t" l="l"/>
              <a:pathLst>
                <a:path h="383554" w="1059752">
                  <a:moveTo>
                    <a:pt x="0" y="0"/>
                  </a:moveTo>
                  <a:lnTo>
                    <a:pt x="1059752" y="0"/>
                  </a:lnTo>
                  <a:lnTo>
                    <a:pt x="1059752" y="383554"/>
                  </a:lnTo>
                  <a:lnTo>
                    <a:pt x="0" y="383554"/>
                  </a:lnTo>
                  <a:close/>
                </a:path>
              </a:pathLst>
            </a:custGeom>
            <a:blipFill>
              <a:blip r:embed="rId4">
                <a:alphaModFix amt="0"/>
              </a:blip>
              <a:stretch>
                <a:fillRect l="0" t="-3836" r="0" b="-3836"/>
              </a:stretch>
            </a:blipFill>
          </p:spPr>
        </p:sp>
        <p:sp>
          <p:nvSpPr>
            <p:cNvPr name="TextBox 18" id="18"/>
            <p:cNvSpPr txBox="true"/>
            <p:nvPr/>
          </p:nvSpPr>
          <p:spPr>
            <a:xfrm>
              <a:off x="0" y="57150"/>
              <a:ext cx="1059752" cy="326403"/>
            </a:xfrm>
            <a:prstGeom prst="rect">
              <a:avLst/>
            </a:prstGeom>
          </p:spPr>
          <p:txBody>
            <a:bodyPr anchor="ctr" rtlCol="false" tIns="0" lIns="0" bIns="0" rIns="0"/>
            <a:lstStyle/>
            <a:p>
              <a:pPr algn="l">
                <a:lnSpc>
                  <a:spcPts val="1257"/>
                </a:lnSpc>
              </a:pPr>
              <a:r>
                <a:rPr lang="en-US" sz="1559" b="true">
                  <a:solidFill>
                    <a:srgbClr val="A9A9A9"/>
                  </a:solidFill>
                  <a:latin typeface="TT Commons Pro Bold"/>
                  <a:ea typeface="TT Commons Pro Bold"/>
                  <a:cs typeface="TT Commons Pro Bold"/>
                  <a:sym typeface="TT Commons Pro Bold"/>
                </a:rPr>
                <a:t>Process</a:t>
              </a:r>
            </a:p>
          </p:txBody>
        </p:sp>
      </p:grpSp>
      <p:grpSp>
        <p:nvGrpSpPr>
          <p:cNvPr name="Group 19" id="19"/>
          <p:cNvGrpSpPr/>
          <p:nvPr/>
        </p:nvGrpSpPr>
        <p:grpSpPr>
          <a:xfrm rot="0">
            <a:off x="6219958" y="9669018"/>
            <a:ext cx="721890" cy="356168"/>
            <a:chOff x="0" y="0"/>
            <a:chExt cx="962520" cy="474891"/>
          </a:xfrm>
        </p:grpSpPr>
        <p:sp>
          <p:nvSpPr>
            <p:cNvPr name="Freeform 20" id="20"/>
            <p:cNvSpPr/>
            <p:nvPr/>
          </p:nvSpPr>
          <p:spPr>
            <a:xfrm flipH="false" flipV="false" rot="0">
              <a:off x="0" y="0"/>
              <a:ext cx="962533" cy="474853"/>
            </a:xfrm>
            <a:custGeom>
              <a:avLst/>
              <a:gdLst/>
              <a:ahLst/>
              <a:cxnLst/>
              <a:rect r="r" b="b" t="t" l="l"/>
              <a:pathLst>
                <a:path h="474853" w="962533">
                  <a:moveTo>
                    <a:pt x="0" y="0"/>
                  </a:moveTo>
                  <a:lnTo>
                    <a:pt x="962533" y="0"/>
                  </a:lnTo>
                  <a:lnTo>
                    <a:pt x="962533" y="474853"/>
                  </a:lnTo>
                  <a:lnTo>
                    <a:pt x="0" y="474853"/>
                  </a:lnTo>
                  <a:close/>
                </a:path>
              </a:pathLst>
            </a:custGeom>
            <a:blipFill>
              <a:blip r:embed="rId3">
                <a:alphaModFix amt="0"/>
              </a:blip>
              <a:stretch>
                <a:fillRect l="-13347" t="0" r="-13346" b="-8"/>
              </a:stretch>
            </a:blipFill>
          </p:spPr>
        </p:sp>
      </p:grpSp>
      <p:grpSp>
        <p:nvGrpSpPr>
          <p:cNvPr name="Group 21" id="21"/>
          <p:cNvGrpSpPr/>
          <p:nvPr/>
        </p:nvGrpSpPr>
        <p:grpSpPr>
          <a:xfrm rot="0">
            <a:off x="6219958" y="9719024"/>
            <a:ext cx="721890" cy="306162"/>
            <a:chOff x="0" y="0"/>
            <a:chExt cx="962520" cy="408216"/>
          </a:xfrm>
        </p:grpSpPr>
        <p:sp>
          <p:nvSpPr>
            <p:cNvPr name="Freeform 22" id="22"/>
            <p:cNvSpPr/>
            <p:nvPr/>
          </p:nvSpPr>
          <p:spPr>
            <a:xfrm flipH="false" flipV="false" rot="0">
              <a:off x="0" y="0"/>
              <a:ext cx="962520" cy="408216"/>
            </a:xfrm>
            <a:custGeom>
              <a:avLst/>
              <a:gdLst/>
              <a:ahLst/>
              <a:cxnLst/>
              <a:rect r="r" b="b" t="t" l="l"/>
              <a:pathLst>
                <a:path h="408216" w="962520">
                  <a:moveTo>
                    <a:pt x="0" y="0"/>
                  </a:moveTo>
                  <a:lnTo>
                    <a:pt x="962520" y="0"/>
                  </a:lnTo>
                  <a:lnTo>
                    <a:pt x="962520" y="408216"/>
                  </a:lnTo>
                  <a:lnTo>
                    <a:pt x="0" y="408216"/>
                  </a:lnTo>
                  <a:close/>
                </a:path>
              </a:pathLst>
            </a:custGeom>
            <a:blipFill>
              <a:blip r:embed="rId4">
                <a:alphaModFix amt="0"/>
              </a:blip>
              <a:stretch>
                <a:fillRect l="-4415" t="0" r="-4415" b="0"/>
              </a:stretch>
            </a:blipFill>
          </p:spPr>
        </p:sp>
        <p:sp>
          <p:nvSpPr>
            <p:cNvPr name="TextBox 23" id="23"/>
            <p:cNvSpPr txBox="true"/>
            <p:nvPr/>
          </p:nvSpPr>
          <p:spPr>
            <a:xfrm>
              <a:off x="0" y="66675"/>
              <a:ext cx="962520" cy="341541"/>
            </a:xfrm>
            <a:prstGeom prst="rect">
              <a:avLst/>
            </a:prstGeom>
          </p:spPr>
          <p:txBody>
            <a:bodyPr anchor="ctr" rtlCol="false" tIns="0" lIns="0" bIns="0" rIns="0"/>
            <a:lstStyle/>
            <a:p>
              <a:pPr algn="l">
                <a:lnSpc>
                  <a:spcPts val="1352"/>
                </a:lnSpc>
              </a:pPr>
              <a:r>
                <a:rPr lang="en-US" sz="1644" b="true">
                  <a:solidFill>
                    <a:srgbClr val="ABABAB"/>
                  </a:solidFill>
                  <a:latin typeface="TT Commons Pro Bold"/>
                  <a:ea typeface="TT Commons Pro Bold"/>
                  <a:cs typeface="TT Commons Pro Bold"/>
                  <a:sym typeface="TT Commons Pro Bold"/>
                </a:rPr>
                <a:t>Collect</a:t>
              </a:r>
            </a:p>
          </p:txBody>
        </p:sp>
      </p:grpSp>
      <p:grpSp>
        <p:nvGrpSpPr>
          <p:cNvPr name="Group 24" id="24"/>
          <p:cNvGrpSpPr/>
          <p:nvPr/>
        </p:nvGrpSpPr>
        <p:grpSpPr>
          <a:xfrm rot="0">
            <a:off x="12811811" y="9063790"/>
            <a:ext cx="481298" cy="138589"/>
            <a:chOff x="0" y="0"/>
            <a:chExt cx="641731" cy="184785"/>
          </a:xfrm>
        </p:grpSpPr>
        <p:sp>
          <p:nvSpPr>
            <p:cNvPr name="Freeform 25" id="25" descr="preencoded.png"/>
            <p:cNvSpPr/>
            <p:nvPr/>
          </p:nvSpPr>
          <p:spPr>
            <a:xfrm flipH="false" flipV="false" rot="0">
              <a:off x="0" y="0"/>
              <a:ext cx="641731" cy="184785"/>
            </a:xfrm>
            <a:custGeom>
              <a:avLst/>
              <a:gdLst/>
              <a:ahLst/>
              <a:cxnLst/>
              <a:rect r="r" b="b" t="t" l="l"/>
              <a:pathLst>
                <a:path h="184785" w="641731">
                  <a:moveTo>
                    <a:pt x="0" y="0"/>
                  </a:moveTo>
                  <a:lnTo>
                    <a:pt x="641731" y="0"/>
                  </a:lnTo>
                  <a:lnTo>
                    <a:pt x="641731" y="184785"/>
                  </a:lnTo>
                  <a:lnTo>
                    <a:pt x="0" y="184785"/>
                  </a:lnTo>
                  <a:lnTo>
                    <a:pt x="0" y="0"/>
                  </a:lnTo>
                  <a:close/>
                </a:path>
              </a:pathLst>
            </a:custGeom>
            <a:blipFill>
              <a:blip r:embed="rId5"/>
              <a:stretch>
                <a:fillRect l="0" t="-2096" r="0" b="-2089"/>
              </a:stretch>
            </a:blipFill>
          </p:spPr>
        </p:sp>
      </p:grpSp>
      <p:grpSp>
        <p:nvGrpSpPr>
          <p:cNvPr name="Group 26" id="26"/>
          <p:cNvGrpSpPr/>
          <p:nvPr/>
        </p:nvGrpSpPr>
        <p:grpSpPr>
          <a:xfrm rot="0">
            <a:off x="12928483" y="9122121"/>
            <a:ext cx="328136" cy="51054"/>
            <a:chOff x="0" y="0"/>
            <a:chExt cx="437515" cy="68072"/>
          </a:xfrm>
        </p:grpSpPr>
        <p:sp>
          <p:nvSpPr>
            <p:cNvPr name="Freeform 27" id="27" descr="preencoded.png"/>
            <p:cNvSpPr/>
            <p:nvPr/>
          </p:nvSpPr>
          <p:spPr>
            <a:xfrm flipH="false" flipV="false" rot="0">
              <a:off x="0" y="0"/>
              <a:ext cx="437515" cy="68072"/>
            </a:xfrm>
            <a:custGeom>
              <a:avLst/>
              <a:gdLst/>
              <a:ahLst/>
              <a:cxnLst/>
              <a:rect r="r" b="b" t="t" l="l"/>
              <a:pathLst>
                <a:path h="68072" w="437515">
                  <a:moveTo>
                    <a:pt x="0" y="0"/>
                  </a:moveTo>
                  <a:lnTo>
                    <a:pt x="437515" y="0"/>
                  </a:lnTo>
                  <a:lnTo>
                    <a:pt x="437515" y="68072"/>
                  </a:lnTo>
                  <a:lnTo>
                    <a:pt x="0" y="68072"/>
                  </a:lnTo>
                  <a:lnTo>
                    <a:pt x="0" y="0"/>
                  </a:lnTo>
                  <a:close/>
                </a:path>
              </a:pathLst>
            </a:custGeom>
            <a:blipFill>
              <a:blip r:embed="rId6"/>
              <a:stretch>
                <a:fillRect l="0" t="-3563" r="0" b="-3563"/>
              </a:stretch>
            </a:blipFill>
          </p:spPr>
        </p:sp>
      </p:grpSp>
      <p:grpSp>
        <p:nvGrpSpPr>
          <p:cNvPr name="Group 28" id="28"/>
          <p:cNvGrpSpPr/>
          <p:nvPr/>
        </p:nvGrpSpPr>
        <p:grpSpPr>
          <a:xfrm rot="0">
            <a:off x="12133669" y="8815864"/>
            <a:ext cx="583311" cy="605218"/>
            <a:chOff x="0" y="0"/>
            <a:chExt cx="777748" cy="806958"/>
          </a:xfrm>
        </p:grpSpPr>
        <p:sp>
          <p:nvSpPr>
            <p:cNvPr name="Freeform 29" id="29" descr="preencoded.png"/>
            <p:cNvSpPr/>
            <p:nvPr/>
          </p:nvSpPr>
          <p:spPr>
            <a:xfrm flipH="false" flipV="false" rot="0">
              <a:off x="0" y="0"/>
              <a:ext cx="777748" cy="806958"/>
            </a:xfrm>
            <a:custGeom>
              <a:avLst/>
              <a:gdLst/>
              <a:ahLst/>
              <a:cxnLst/>
              <a:rect r="r" b="b" t="t" l="l"/>
              <a:pathLst>
                <a:path h="806958" w="777748">
                  <a:moveTo>
                    <a:pt x="0" y="0"/>
                  </a:moveTo>
                  <a:lnTo>
                    <a:pt x="777748" y="0"/>
                  </a:lnTo>
                  <a:lnTo>
                    <a:pt x="777748" y="806958"/>
                  </a:lnTo>
                  <a:lnTo>
                    <a:pt x="0" y="806958"/>
                  </a:lnTo>
                  <a:lnTo>
                    <a:pt x="0" y="0"/>
                  </a:lnTo>
                  <a:close/>
                </a:path>
              </a:pathLst>
            </a:custGeom>
            <a:blipFill>
              <a:blip r:embed="rId7"/>
              <a:stretch>
                <a:fillRect l="-305" t="0" r="-306" b="0"/>
              </a:stretch>
            </a:blipFill>
          </p:spPr>
        </p:sp>
      </p:grpSp>
      <p:grpSp>
        <p:nvGrpSpPr>
          <p:cNvPr name="Group 30" id="30"/>
          <p:cNvGrpSpPr/>
          <p:nvPr/>
        </p:nvGrpSpPr>
        <p:grpSpPr>
          <a:xfrm rot="0">
            <a:off x="11484693" y="9063790"/>
            <a:ext cx="371856" cy="160401"/>
            <a:chOff x="0" y="0"/>
            <a:chExt cx="495808" cy="213868"/>
          </a:xfrm>
        </p:grpSpPr>
        <p:sp>
          <p:nvSpPr>
            <p:cNvPr name="Freeform 31" id="31" descr="preencoded.png"/>
            <p:cNvSpPr/>
            <p:nvPr/>
          </p:nvSpPr>
          <p:spPr>
            <a:xfrm flipH="false" flipV="false" rot="0">
              <a:off x="0" y="0"/>
              <a:ext cx="495808" cy="213868"/>
            </a:xfrm>
            <a:custGeom>
              <a:avLst/>
              <a:gdLst/>
              <a:ahLst/>
              <a:cxnLst/>
              <a:rect r="r" b="b" t="t" l="l"/>
              <a:pathLst>
                <a:path h="213868" w="495808">
                  <a:moveTo>
                    <a:pt x="0" y="0"/>
                  </a:moveTo>
                  <a:lnTo>
                    <a:pt x="495808" y="0"/>
                  </a:lnTo>
                  <a:lnTo>
                    <a:pt x="495808" y="213868"/>
                  </a:lnTo>
                  <a:lnTo>
                    <a:pt x="0" y="213868"/>
                  </a:lnTo>
                  <a:lnTo>
                    <a:pt x="0" y="0"/>
                  </a:lnTo>
                  <a:close/>
                </a:path>
              </a:pathLst>
            </a:custGeom>
            <a:blipFill>
              <a:blip r:embed="rId8"/>
              <a:stretch>
                <a:fillRect l="0" t="-231" r="0" b="-225"/>
              </a:stretch>
            </a:blipFill>
          </p:spPr>
        </p:sp>
      </p:grpSp>
      <p:grpSp>
        <p:nvGrpSpPr>
          <p:cNvPr name="Group 32" id="32"/>
          <p:cNvGrpSpPr/>
          <p:nvPr/>
        </p:nvGrpSpPr>
        <p:grpSpPr>
          <a:xfrm rot="0">
            <a:off x="10529459" y="9669018"/>
            <a:ext cx="896903" cy="344148"/>
            <a:chOff x="0" y="0"/>
            <a:chExt cx="1195870" cy="458864"/>
          </a:xfrm>
        </p:grpSpPr>
        <p:sp>
          <p:nvSpPr>
            <p:cNvPr name="Freeform 33" id="33"/>
            <p:cNvSpPr/>
            <p:nvPr/>
          </p:nvSpPr>
          <p:spPr>
            <a:xfrm flipH="false" flipV="false" rot="0">
              <a:off x="0" y="0"/>
              <a:ext cx="1195832" cy="458851"/>
            </a:xfrm>
            <a:custGeom>
              <a:avLst/>
              <a:gdLst/>
              <a:ahLst/>
              <a:cxnLst/>
              <a:rect r="r" b="b" t="t" l="l"/>
              <a:pathLst>
                <a:path h="458851" w="1195832">
                  <a:moveTo>
                    <a:pt x="0" y="0"/>
                  </a:moveTo>
                  <a:lnTo>
                    <a:pt x="1195832" y="0"/>
                  </a:lnTo>
                  <a:lnTo>
                    <a:pt x="1195832" y="458851"/>
                  </a:lnTo>
                  <a:lnTo>
                    <a:pt x="0" y="458851"/>
                  </a:lnTo>
                  <a:close/>
                </a:path>
              </a:pathLst>
            </a:custGeom>
            <a:blipFill>
              <a:blip r:embed="rId3">
                <a:alphaModFix amt="0"/>
              </a:blip>
              <a:stretch>
                <a:fillRect l="0" t="-744" r="-3" b="-750"/>
              </a:stretch>
            </a:blipFill>
          </p:spPr>
        </p:sp>
      </p:grpSp>
      <p:grpSp>
        <p:nvGrpSpPr>
          <p:cNvPr name="Group 34" id="34"/>
          <p:cNvGrpSpPr/>
          <p:nvPr/>
        </p:nvGrpSpPr>
        <p:grpSpPr>
          <a:xfrm rot="0">
            <a:off x="10529459" y="9726168"/>
            <a:ext cx="896903" cy="286998"/>
            <a:chOff x="0" y="0"/>
            <a:chExt cx="1195870" cy="382664"/>
          </a:xfrm>
        </p:grpSpPr>
        <p:sp>
          <p:nvSpPr>
            <p:cNvPr name="Freeform 35" id="35"/>
            <p:cNvSpPr/>
            <p:nvPr/>
          </p:nvSpPr>
          <p:spPr>
            <a:xfrm flipH="false" flipV="false" rot="0">
              <a:off x="0" y="0"/>
              <a:ext cx="1195871" cy="382664"/>
            </a:xfrm>
            <a:custGeom>
              <a:avLst/>
              <a:gdLst/>
              <a:ahLst/>
              <a:cxnLst/>
              <a:rect r="r" b="b" t="t" l="l"/>
              <a:pathLst>
                <a:path h="382664" w="1195871">
                  <a:moveTo>
                    <a:pt x="0" y="0"/>
                  </a:moveTo>
                  <a:lnTo>
                    <a:pt x="1195871" y="0"/>
                  </a:lnTo>
                  <a:lnTo>
                    <a:pt x="1195871" y="382664"/>
                  </a:lnTo>
                  <a:lnTo>
                    <a:pt x="0" y="382664"/>
                  </a:lnTo>
                  <a:close/>
                </a:path>
              </a:pathLst>
            </a:custGeom>
            <a:blipFill>
              <a:blip r:embed="rId4">
                <a:alphaModFix amt="0"/>
              </a:blip>
              <a:stretch>
                <a:fillRect l="0" t="-10893" r="0" b="-10893"/>
              </a:stretch>
            </a:blipFill>
          </p:spPr>
        </p:sp>
        <p:sp>
          <p:nvSpPr>
            <p:cNvPr name="TextBox 36" id="36"/>
            <p:cNvSpPr txBox="true"/>
            <p:nvPr/>
          </p:nvSpPr>
          <p:spPr>
            <a:xfrm>
              <a:off x="0" y="76200"/>
              <a:ext cx="1195870" cy="306464"/>
            </a:xfrm>
            <a:prstGeom prst="rect">
              <a:avLst/>
            </a:prstGeom>
          </p:spPr>
          <p:txBody>
            <a:bodyPr anchor="ctr" rtlCol="false" tIns="0" lIns="0" bIns="0" rIns="0"/>
            <a:lstStyle/>
            <a:p>
              <a:pPr algn="l">
                <a:lnSpc>
                  <a:spcPts val="1296"/>
                </a:lnSpc>
              </a:pPr>
              <a:r>
                <a:rPr lang="en-US" sz="1600" b="true">
                  <a:solidFill>
                    <a:srgbClr val="AAA9A9"/>
                  </a:solidFill>
                  <a:latin typeface="TT Commons Pro Bold"/>
                  <a:ea typeface="TT Commons Pro Bold"/>
                  <a:cs typeface="TT Commons Pro Bold"/>
                  <a:sym typeface="TT Commons Pro Bold"/>
                </a:rPr>
                <a:t>Visualize</a:t>
              </a:r>
            </a:p>
          </p:txBody>
        </p:sp>
      </p:grpSp>
      <p:grpSp>
        <p:nvGrpSpPr>
          <p:cNvPr name="Group 37" id="37"/>
          <p:cNvGrpSpPr/>
          <p:nvPr/>
        </p:nvGrpSpPr>
        <p:grpSpPr>
          <a:xfrm rot="0">
            <a:off x="10631538" y="8764819"/>
            <a:ext cx="634365" cy="663607"/>
            <a:chOff x="0" y="0"/>
            <a:chExt cx="845820" cy="884809"/>
          </a:xfrm>
        </p:grpSpPr>
        <p:sp>
          <p:nvSpPr>
            <p:cNvPr name="Freeform 38" id="38" descr="preencoded.png"/>
            <p:cNvSpPr/>
            <p:nvPr/>
          </p:nvSpPr>
          <p:spPr>
            <a:xfrm flipH="false" flipV="false" rot="0">
              <a:off x="0" y="0"/>
              <a:ext cx="845820" cy="884809"/>
            </a:xfrm>
            <a:custGeom>
              <a:avLst/>
              <a:gdLst/>
              <a:ahLst/>
              <a:cxnLst/>
              <a:rect r="r" b="b" t="t" l="l"/>
              <a:pathLst>
                <a:path h="884809" w="845820">
                  <a:moveTo>
                    <a:pt x="0" y="0"/>
                  </a:moveTo>
                  <a:lnTo>
                    <a:pt x="845820" y="0"/>
                  </a:lnTo>
                  <a:lnTo>
                    <a:pt x="845820" y="884809"/>
                  </a:lnTo>
                  <a:lnTo>
                    <a:pt x="0" y="884809"/>
                  </a:lnTo>
                  <a:lnTo>
                    <a:pt x="0" y="0"/>
                  </a:lnTo>
                  <a:close/>
                </a:path>
              </a:pathLst>
            </a:custGeom>
            <a:blipFill>
              <a:blip r:embed="rId9"/>
              <a:stretch>
                <a:fillRect l="0" t="-94" r="0" b="-94"/>
              </a:stretch>
            </a:blipFill>
          </p:spPr>
        </p:sp>
      </p:grpSp>
      <p:grpSp>
        <p:nvGrpSpPr>
          <p:cNvPr name="Group 39" id="39"/>
          <p:cNvGrpSpPr/>
          <p:nvPr/>
        </p:nvGrpSpPr>
        <p:grpSpPr>
          <a:xfrm rot="0">
            <a:off x="10019024" y="9063790"/>
            <a:ext cx="386429" cy="153162"/>
            <a:chOff x="0" y="0"/>
            <a:chExt cx="515239" cy="204216"/>
          </a:xfrm>
        </p:grpSpPr>
        <p:sp>
          <p:nvSpPr>
            <p:cNvPr name="Freeform 40" id="40" descr="preencoded.png"/>
            <p:cNvSpPr/>
            <p:nvPr/>
          </p:nvSpPr>
          <p:spPr>
            <a:xfrm flipH="false" flipV="false" rot="0">
              <a:off x="0" y="0"/>
              <a:ext cx="515239" cy="204216"/>
            </a:xfrm>
            <a:custGeom>
              <a:avLst/>
              <a:gdLst/>
              <a:ahLst/>
              <a:cxnLst/>
              <a:rect r="r" b="b" t="t" l="l"/>
              <a:pathLst>
                <a:path h="204216" w="515239">
                  <a:moveTo>
                    <a:pt x="0" y="0"/>
                  </a:moveTo>
                  <a:lnTo>
                    <a:pt x="515239" y="0"/>
                  </a:lnTo>
                  <a:lnTo>
                    <a:pt x="515239" y="204216"/>
                  </a:lnTo>
                  <a:lnTo>
                    <a:pt x="0" y="204216"/>
                  </a:lnTo>
                  <a:lnTo>
                    <a:pt x="0" y="0"/>
                  </a:lnTo>
                  <a:close/>
                </a:path>
              </a:pathLst>
            </a:custGeom>
            <a:blipFill>
              <a:blip r:embed="rId10"/>
              <a:stretch>
                <a:fillRect l="0" t="-62" r="0" b="-55"/>
              </a:stretch>
            </a:blipFill>
          </p:spPr>
        </p:sp>
      </p:grpSp>
      <p:grpSp>
        <p:nvGrpSpPr>
          <p:cNvPr name="Group 41" id="41"/>
          <p:cNvGrpSpPr/>
          <p:nvPr/>
        </p:nvGrpSpPr>
        <p:grpSpPr>
          <a:xfrm rot="0">
            <a:off x="9195044" y="8815864"/>
            <a:ext cx="583311" cy="612553"/>
            <a:chOff x="0" y="0"/>
            <a:chExt cx="777748" cy="816737"/>
          </a:xfrm>
        </p:grpSpPr>
        <p:sp>
          <p:nvSpPr>
            <p:cNvPr name="Freeform 42" id="42" descr="preencoded.png"/>
            <p:cNvSpPr/>
            <p:nvPr/>
          </p:nvSpPr>
          <p:spPr>
            <a:xfrm flipH="false" flipV="false" rot="0">
              <a:off x="0" y="0"/>
              <a:ext cx="777748" cy="816737"/>
            </a:xfrm>
            <a:custGeom>
              <a:avLst/>
              <a:gdLst/>
              <a:ahLst/>
              <a:cxnLst/>
              <a:rect r="r" b="b" t="t" l="l"/>
              <a:pathLst>
                <a:path h="816737" w="777748">
                  <a:moveTo>
                    <a:pt x="0" y="0"/>
                  </a:moveTo>
                  <a:lnTo>
                    <a:pt x="777748" y="0"/>
                  </a:lnTo>
                  <a:lnTo>
                    <a:pt x="777748" y="816737"/>
                  </a:lnTo>
                  <a:lnTo>
                    <a:pt x="0" y="816737"/>
                  </a:lnTo>
                  <a:lnTo>
                    <a:pt x="0" y="0"/>
                  </a:lnTo>
                  <a:close/>
                </a:path>
              </a:pathLst>
            </a:custGeom>
            <a:blipFill>
              <a:blip r:embed="rId11"/>
              <a:stretch>
                <a:fillRect l="0" t="-119" r="0" b="-118"/>
              </a:stretch>
            </a:blipFill>
          </p:spPr>
        </p:sp>
      </p:grpSp>
      <p:grpSp>
        <p:nvGrpSpPr>
          <p:cNvPr name="Group 43" id="43"/>
          <p:cNvGrpSpPr/>
          <p:nvPr/>
        </p:nvGrpSpPr>
        <p:grpSpPr>
          <a:xfrm rot="0">
            <a:off x="8524189" y="9063790"/>
            <a:ext cx="386429" cy="160401"/>
            <a:chOff x="0" y="0"/>
            <a:chExt cx="515239" cy="213868"/>
          </a:xfrm>
        </p:grpSpPr>
        <p:sp>
          <p:nvSpPr>
            <p:cNvPr name="Freeform 44" id="44" descr="preencoded.png"/>
            <p:cNvSpPr/>
            <p:nvPr/>
          </p:nvSpPr>
          <p:spPr>
            <a:xfrm flipH="false" flipV="false" rot="0">
              <a:off x="0" y="0"/>
              <a:ext cx="515239" cy="213868"/>
            </a:xfrm>
            <a:custGeom>
              <a:avLst/>
              <a:gdLst/>
              <a:ahLst/>
              <a:cxnLst/>
              <a:rect r="r" b="b" t="t" l="l"/>
              <a:pathLst>
                <a:path h="213868" w="515239">
                  <a:moveTo>
                    <a:pt x="0" y="0"/>
                  </a:moveTo>
                  <a:lnTo>
                    <a:pt x="515239" y="0"/>
                  </a:lnTo>
                  <a:lnTo>
                    <a:pt x="515239" y="213868"/>
                  </a:lnTo>
                  <a:lnTo>
                    <a:pt x="0" y="213868"/>
                  </a:lnTo>
                  <a:lnTo>
                    <a:pt x="0" y="0"/>
                  </a:lnTo>
                  <a:close/>
                </a:path>
              </a:pathLst>
            </a:custGeom>
            <a:blipFill>
              <a:blip r:embed="rId12"/>
              <a:stretch>
                <a:fillRect l="-288" t="0" r="-290" b="0"/>
              </a:stretch>
            </a:blipFill>
          </p:spPr>
        </p:sp>
      </p:grpSp>
      <p:grpSp>
        <p:nvGrpSpPr>
          <p:cNvPr name="Group 45" id="45"/>
          <p:cNvGrpSpPr/>
          <p:nvPr/>
        </p:nvGrpSpPr>
        <p:grpSpPr>
          <a:xfrm rot="0">
            <a:off x="7685627" y="8815864"/>
            <a:ext cx="597980" cy="612553"/>
            <a:chOff x="0" y="0"/>
            <a:chExt cx="797306" cy="816737"/>
          </a:xfrm>
        </p:grpSpPr>
        <p:sp>
          <p:nvSpPr>
            <p:cNvPr name="Freeform 46" id="46" descr="preencoded.png"/>
            <p:cNvSpPr/>
            <p:nvPr/>
          </p:nvSpPr>
          <p:spPr>
            <a:xfrm flipH="false" flipV="false" rot="0">
              <a:off x="0" y="0"/>
              <a:ext cx="797306" cy="816737"/>
            </a:xfrm>
            <a:custGeom>
              <a:avLst/>
              <a:gdLst/>
              <a:ahLst/>
              <a:cxnLst/>
              <a:rect r="r" b="b" t="t" l="l"/>
              <a:pathLst>
                <a:path h="816737" w="797306">
                  <a:moveTo>
                    <a:pt x="0" y="0"/>
                  </a:moveTo>
                  <a:lnTo>
                    <a:pt x="797306" y="0"/>
                  </a:lnTo>
                  <a:lnTo>
                    <a:pt x="797306" y="816737"/>
                  </a:lnTo>
                  <a:lnTo>
                    <a:pt x="0" y="816737"/>
                  </a:lnTo>
                  <a:lnTo>
                    <a:pt x="0" y="0"/>
                  </a:lnTo>
                  <a:close/>
                </a:path>
              </a:pathLst>
            </a:custGeom>
            <a:blipFill>
              <a:blip r:embed="rId13"/>
              <a:stretch>
                <a:fillRect l="-194" t="0" r="-194" b="0"/>
              </a:stretch>
            </a:blipFill>
          </p:spPr>
        </p:sp>
      </p:grpSp>
      <p:grpSp>
        <p:nvGrpSpPr>
          <p:cNvPr name="Group 47" id="47"/>
          <p:cNvGrpSpPr/>
          <p:nvPr/>
        </p:nvGrpSpPr>
        <p:grpSpPr>
          <a:xfrm rot="0">
            <a:off x="7058530" y="9071077"/>
            <a:ext cx="364617" cy="153162"/>
            <a:chOff x="0" y="0"/>
            <a:chExt cx="486156" cy="204216"/>
          </a:xfrm>
        </p:grpSpPr>
        <p:sp>
          <p:nvSpPr>
            <p:cNvPr name="Freeform 48" id="48" descr="preencoded.png"/>
            <p:cNvSpPr/>
            <p:nvPr/>
          </p:nvSpPr>
          <p:spPr>
            <a:xfrm flipH="false" flipV="false" rot="0">
              <a:off x="0" y="0"/>
              <a:ext cx="486156" cy="204216"/>
            </a:xfrm>
            <a:custGeom>
              <a:avLst/>
              <a:gdLst/>
              <a:ahLst/>
              <a:cxnLst/>
              <a:rect r="r" b="b" t="t" l="l"/>
              <a:pathLst>
                <a:path h="204216" w="486156">
                  <a:moveTo>
                    <a:pt x="0" y="0"/>
                  </a:moveTo>
                  <a:lnTo>
                    <a:pt x="486156" y="0"/>
                  </a:lnTo>
                  <a:lnTo>
                    <a:pt x="486156" y="204216"/>
                  </a:lnTo>
                  <a:lnTo>
                    <a:pt x="0" y="204216"/>
                  </a:lnTo>
                  <a:lnTo>
                    <a:pt x="0" y="0"/>
                  </a:lnTo>
                  <a:close/>
                </a:path>
              </a:pathLst>
            </a:custGeom>
            <a:blipFill>
              <a:blip r:embed="rId14"/>
              <a:stretch>
                <a:fillRect l="-407" t="0" r="-407" b="0"/>
              </a:stretch>
            </a:blipFill>
          </p:spPr>
        </p:sp>
      </p:grpSp>
      <p:grpSp>
        <p:nvGrpSpPr>
          <p:cNvPr name="Group 49" id="49"/>
          <p:cNvGrpSpPr/>
          <p:nvPr/>
        </p:nvGrpSpPr>
        <p:grpSpPr>
          <a:xfrm rot="0">
            <a:off x="6256420" y="8815864"/>
            <a:ext cx="539591" cy="612553"/>
            <a:chOff x="0" y="0"/>
            <a:chExt cx="719455" cy="816737"/>
          </a:xfrm>
        </p:grpSpPr>
        <p:sp>
          <p:nvSpPr>
            <p:cNvPr name="Freeform 50" id="50" descr="preencoded.png"/>
            <p:cNvSpPr/>
            <p:nvPr/>
          </p:nvSpPr>
          <p:spPr>
            <a:xfrm flipH="false" flipV="false" rot="0">
              <a:off x="0" y="0"/>
              <a:ext cx="719455" cy="816737"/>
            </a:xfrm>
            <a:custGeom>
              <a:avLst/>
              <a:gdLst/>
              <a:ahLst/>
              <a:cxnLst/>
              <a:rect r="r" b="b" t="t" l="l"/>
              <a:pathLst>
                <a:path h="816737" w="719455">
                  <a:moveTo>
                    <a:pt x="0" y="0"/>
                  </a:moveTo>
                  <a:lnTo>
                    <a:pt x="719455" y="0"/>
                  </a:lnTo>
                  <a:lnTo>
                    <a:pt x="719455" y="816737"/>
                  </a:lnTo>
                  <a:lnTo>
                    <a:pt x="0" y="816737"/>
                  </a:lnTo>
                  <a:lnTo>
                    <a:pt x="0" y="0"/>
                  </a:lnTo>
                  <a:close/>
                </a:path>
              </a:pathLst>
            </a:custGeom>
            <a:blipFill>
              <a:blip r:embed="rId15"/>
              <a:stretch>
                <a:fillRect l="0" t="-49" r="0" b="-51"/>
              </a:stretch>
            </a:blipFill>
          </p:spPr>
        </p:sp>
      </p:grpSp>
      <p:grpSp>
        <p:nvGrpSpPr>
          <p:cNvPr name="Group 51" id="51"/>
          <p:cNvGrpSpPr/>
          <p:nvPr/>
        </p:nvGrpSpPr>
        <p:grpSpPr>
          <a:xfrm rot="0">
            <a:off x="16457743" y="7007485"/>
            <a:ext cx="772935" cy="153124"/>
            <a:chOff x="0" y="0"/>
            <a:chExt cx="1030580" cy="204165"/>
          </a:xfrm>
        </p:grpSpPr>
        <p:sp>
          <p:nvSpPr>
            <p:cNvPr name="Freeform 52" id="52"/>
            <p:cNvSpPr/>
            <p:nvPr/>
          </p:nvSpPr>
          <p:spPr>
            <a:xfrm flipH="false" flipV="false" rot="0">
              <a:off x="0" y="0"/>
              <a:ext cx="1030605" cy="204216"/>
            </a:xfrm>
            <a:custGeom>
              <a:avLst/>
              <a:gdLst/>
              <a:ahLst/>
              <a:cxnLst/>
              <a:rect r="r" b="b" t="t" l="l"/>
              <a:pathLst>
                <a:path h="204216" w="1030605">
                  <a:moveTo>
                    <a:pt x="0" y="0"/>
                  </a:moveTo>
                  <a:lnTo>
                    <a:pt x="1030605" y="0"/>
                  </a:lnTo>
                  <a:lnTo>
                    <a:pt x="1030605" y="204216"/>
                  </a:lnTo>
                  <a:lnTo>
                    <a:pt x="0" y="204216"/>
                  </a:lnTo>
                  <a:close/>
                </a:path>
              </a:pathLst>
            </a:custGeom>
            <a:blipFill>
              <a:blip r:embed="rId3">
                <a:alphaModFix amt="0"/>
              </a:blip>
              <a:stretch>
                <a:fillRect l="0" t="-48277" r="2" b="-48252"/>
              </a:stretch>
            </a:blipFill>
          </p:spPr>
        </p:sp>
      </p:grpSp>
      <p:grpSp>
        <p:nvGrpSpPr>
          <p:cNvPr name="Group 53" id="53"/>
          <p:cNvGrpSpPr/>
          <p:nvPr/>
        </p:nvGrpSpPr>
        <p:grpSpPr>
          <a:xfrm rot="0">
            <a:off x="16457743" y="7007485"/>
            <a:ext cx="772935" cy="153133"/>
            <a:chOff x="0" y="0"/>
            <a:chExt cx="1030580" cy="204178"/>
          </a:xfrm>
        </p:grpSpPr>
        <p:sp>
          <p:nvSpPr>
            <p:cNvPr name="Freeform 54" id="54"/>
            <p:cNvSpPr/>
            <p:nvPr/>
          </p:nvSpPr>
          <p:spPr>
            <a:xfrm flipH="false" flipV="false" rot="0">
              <a:off x="0" y="0"/>
              <a:ext cx="1030580" cy="204172"/>
            </a:xfrm>
            <a:custGeom>
              <a:avLst/>
              <a:gdLst/>
              <a:ahLst/>
              <a:cxnLst/>
              <a:rect r="r" b="b" t="t" l="l"/>
              <a:pathLst>
                <a:path h="204172" w="1030580">
                  <a:moveTo>
                    <a:pt x="0" y="0"/>
                  </a:moveTo>
                  <a:lnTo>
                    <a:pt x="1030580" y="0"/>
                  </a:lnTo>
                  <a:lnTo>
                    <a:pt x="1030580" y="204172"/>
                  </a:lnTo>
                  <a:lnTo>
                    <a:pt x="0" y="204172"/>
                  </a:lnTo>
                  <a:close/>
                </a:path>
              </a:pathLst>
            </a:custGeom>
            <a:blipFill>
              <a:blip r:embed="rId4">
                <a:alphaModFix amt="0"/>
              </a:blip>
              <a:stretch>
                <a:fillRect l="0" t="-48351" r="0" b="-48354"/>
              </a:stretch>
            </a:blipFill>
          </p:spPr>
        </p:sp>
        <p:sp>
          <p:nvSpPr>
            <p:cNvPr name="TextBox 55" id="55"/>
            <p:cNvSpPr txBox="true"/>
            <p:nvPr/>
          </p:nvSpPr>
          <p:spPr>
            <a:xfrm>
              <a:off x="0" y="0"/>
              <a:ext cx="1030580" cy="204178"/>
            </a:xfrm>
            <a:prstGeom prst="rect">
              <a:avLst/>
            </a:prstGeom>
          </p:spPr>
          <p:txBody>
            <a:bodyPr anchor="ctr" rtlCol="false" tIns="0" lIns="0" bIns="0" rIns="0"/>
            <a:lstStyle/>
            <a:p>
              <a:pPr algn="l">
                <a:lnSpc>
                  <a:spcPts val="797"/>
                </a:lnSpc>
              </a:pPr>
              <a:r>
                <a:rPr lang="en-US" sz="687">
                  <a:solidFill>
                    <a:srgbClr val="7B302F"/>
                  </a:solidFill>
                  <a:latin typeface="TT Commons Pro"/>
                  <a:ea typeface="TT Commons Pro"/>
                  <a:cs typeface="TT Commons Pro"/>
                  <a:sym typeface="TT Commons Pro"/>
                </a:rPr>
                <a:t>ON FIRST ORDER</a:t>
              </a:r>
            </a:p>
          </p:txBody>
        </p:sp>
      </p:grpSp>
      <p:grpSp>
        <p:nvGrpSpPr>
          <p:cNvPr name="Group 56" id="56"/>
          <p:cNvGrpSpPr/>
          <p:nvPr/>
        </p:nvGrpSpPr>
        <p:grpSpPr>
          <a:xfrm rot="0">
            <a:off x="16399402" y="6701228"/>
            <a:ext cx="947947" cy="384696"/>
            <a:chOff x="0" y="0"/>
            <a:chExt cx="1263929" cy="512928"/>
          </a:xfrm>
        </p:grpSpPr>
        <p:sp>
          <p:nvSpPr>
            <p:cNvPr name="Freeform 57" id="57"/>
            <p:cNvSpPr/>
            <p:nvPr/>
          </p:nvSpPr>
          <p:spPr>
            <a:xfrm flipH="false" flipV="false" rot="0">
              <a:off x="0" y="0"/>
              <a:ext cx="1263904" cy="512953"/>
            </a:xfrm>
            <a:custGeom>
              <a:avLst/>
              <a:gdLst/>
              <a:ahLst/>
              <a:cxnLst/>
              <a:rect r="r" b="b" t="t" l="l"/>
              <a:pathLst>
                <a:path h="512953" w="1263904">
                  <a:moveTo>
                    <a:pt x="0" y="0"/>
                  </a:moveTo>
                  <a:lnTo>
                    <a:pt x="1263904" y="0"/>
                  </a:lnTo>
                  <a:lnTo>
                    <a:pt x="1263904" y="512953"/>
                  </a:lnTo>
                  <a:lnTo>
                    <a:pt x="0" y="512953"/>
                  </a:lnTo>
                  <a:close/>
                </a:path>
              </a:pathLst>
            </a:custGeom>
            <a:blipFill>
              <a:blip r:embed="rId3">
                <a:alphaModFix amt="0"/>
              </a:blip>
              <a:stretch>
                <a:fillRect l="-2105" t="0" r="-2106" b="4"/>
              </a:stretch>
            </a:blipFill>
          </p:spPr>
        </p:sp>
      </p:grpSp>
      <p:grpSp>
        <p:nvGrpSpPr>
          <p:cNvPr name="Group 58" id="58"/>
          <p:cNvGrpSpPr/>
          <p:nvPr/>
        </p:nvGrpSpPr>
        <p:grpSpPr>
          <a:xfrm rot="0">
            <a:off x="16399402" y="6736947"/>
            <a:ext cx="947947" cy="348977"/>
            <a:chOff x="0" y="0"/>
            <a:chExt cx="1263929" cy="465303"/>
          </a:xfrm>
        </p:grpSpPr>
        <p:sp>
          <p:nvSpPr>
            <p:cNvPr name="Freeform 59" id="59"/>
            <p:cNvSpPr/>
            <p:nvPr/>
          </p:nvSpPr>
          <p:spPr>
            <a:xfrm flipH="false" flipV="false" rot="0">
              <a:off x="0" y="0"/>
              <a:ext cx="1263929" cy="465303"/>
            </a:xfrm>
            <a:custGeom>
              <a:avLst/>
              <a:gdLst/>
              <a:ahLst/>
              <a:cxnLst/>
              <a:rect r="r" b="b" t="t" l="l"/>
              <a:pathLst>
                <a:path h="465303" w="1263929">
                  <a:moveTo>
                    <a:pt x="0" y="0"/>
                  </a:moveTo>
                  <a:lnTo>
                    <a:pt x="1263929" y="0"/>
                  </a:lnTo>
                  <a:lnTo>
                    <a:pt x="1263929" y="465303"/>
                  </a:lnTo>
                  <a:lnTo>
                    <a:pt x="0" y="465303"/>
                  </a:lnTo>
                  <a:close/>
                </a:path>
              </a:pathLst>
            </a:custGeom>
            <a:blipFill>
              <a:blip r:embed="rId4">
                <a:alphaModFix amt="0"/>
              </a:blip>
              <a:stretch>
                <a:fillRect l="0" t="-2928" r="0" b="-2928"/>
              </a:stretch>
            </a:blipFill>
          </p:spPr>
        </p:sp>
        <p:sp>
          <p:nvSpPr>
            <p:cNvPr name="TextBox 60" id="60"/>
            <p:cNvSpPr txBox="true"/>
            <p:nvPr/>
          </p:nvSpPr>
          <p:spPr>
            <a:xfrm>
              <a:off x="0" y="47625"/>
              <a:ext cx="1263929" cy="417678"/>
            </a:xfrm>
            <a:prstGeom prst="rect">
              <a:avLst/>
            </a:prstGeom>
          </p:spPr>
          <p:txBody>
            <a:bodyPr anchor="ctr" rtlCol="false" tIns="0" lIns="0" bIns="0" rIns="0"/>
            <a:lstStyle/>
            <a:p>
              <a:pPr algn="l">
                <a:lnSpc>
                  <a:spcPts val="1657"/>
                </a:lnSpc>
              </a:pPr>
              <a:r>
                <a:rPr lang="en-US" b="true" sz="1779" i="true">
                  <a:solidFill>
                    <a:srgbClr val="BE9792"/>
                  </a:solidFill>
                  <a:latin typeface="TT Commons Pro Bold Italics"/>
                  <a:ea typeface="TT Commons Pro Bold Italics"/>
                  <a:cs typeface="TT Commons Pro Bold Italics"/>
                  <a:sym typeface="TT Commons Pro Bold Italics"/>
                </a:rPr>
                <a:t>50%OFF</a:t>
              </a:r>
            </a:p>
          </p:txBody>
        </p:sp>
      </p:grpSp>
      <p:grpSp>
        <p:nvGrpSpPr>
          <p:cNvPr name="Group 61" id="61"/>
          <p:cNvGrpSpPr/>
          <p:nvPr/>
        </p:nvGrpSpPr>
        <p:grpSpPr>
          <a:xfrm rot="0">
            <a:off x="16734834" y="6555391"/>
            <a:ext cx="269796" cy="157486"/>
            <a:chOff x="0" y="0"/>
            <a:chExt cx="359728" cy="209982"/>
          </a:xfrm>
        </p:grpSpPr>
        <p:sp>
          <p:nvSpPr>
            <p:cNvPr name="Freeform 62" id="62"/>
            <p:cNvSpPr/>
            <p:nvPr/>
          </p:nvSpPr>
          <p:spPr>
            <a:xfrm flipH="false" flipV="false" rot="0">
              <a:off x="0" y="0"/>
              <a:ext cx="359791" cy="209931"/>
            </a:xfrm>
            <a:custGeom>
              <a:avLst/>
              <a:gdLst/>
              <a:ahLst/>
              <a:cxnLst/>
              <a:rect r="r" b="b" t="t" l="l"/>
              <a:pathLst>
                <a:path h="209931" w="359791">
                  <a:moveTo>
                    <a:pt x="0" y="0"/>
                  </a:moveTo>
                  <a:lnTo>
                    <a:pt x="359791" y="0"/>
                  </a:lnTo>
                  <a:lnTo>
                    <a:pt x="359791" y="209931"/>
                  </a:lnTo>
                  <a:lnTo>
                    <a:pt x="0" y="209931"/>
                  </a:lnTo>
                  <a:close/>
                </a:path>
              </a:pathLst>
            </a:custGeom>
            <a:blipFill>
              <a:blip r:embed="rId3">
                <a:alphaModFix amt="0"/>
              </a:blip>
              <a:stretch>
                <a:fillRect l="-24938" t="0" r="-24924" b="-24"/>
              </a:stretch>
            </a:blipFill>
          </p:spPr>
        </p:sp>
      </p:grpSp>
      <p:grpSp>
        <p:nvGrpSpPr>
          <p:cNvPr name="Group 63" id="63"/>
          <p:cNvGrpSpPr/>
          <p:nvPr/>
        </p:nvGrpSpPr>
        <p:grpSpPr>
          <a:xfrm rot="0">
            <a:off x="16734834" y="6569678"/>
            <a:ext cx="269796" cy="143199"/>
            <a:chOff x="0" y="0"/>
            <a:chExt cx="359728" cy="190932"/>
          </a:xfrm>
        </p:grpSpPr>
        <p:sp>
          <p:nvSpPr>
            <p:cNvPr name="Freeform 64" id="64"/>
            <p:cNvSpPr/>
            <p:nvPr/>
          </p:nvSpPr>
          <p:spPr>
            <a:xfrm flipH="false" flipV="false" rot="0">
              <a:off x="0" y="0"/>
              <a:ext cx="359728" cy="190930"/>
            </a:xfrm>
            <a:custGeom>
              <a:avLst/>
              <a:gdLst/>
              <a:ahLst/>
              <a:cxnLst/>
              <a:rect r="r" b="b" t="t" l="l"/>
              <a:pathLst>
                <a:path h="190930" w="359728">
                  <a:moveTo>
                    <a:pt x="0" y="0"/>
                  </a:moveTo>
                  <a:lnTo>
                    <a:pt x="359728" y="0"/>
                  </a:lnTo>
                  <a:lnTo>
                    <a:pt x="359728" y="190930"/>
                  </a:lnTo>
                  <a:lnTo>
                    <a:pt x="0" y="190930"/>
                  </a:lnTo>
                  <a:close/>
                </a:path>
              </a:pathLst>
            </a:custGeom>
            <a:blipFill>
              <a:blip r:embed="rId4">
                <a:alphaModFix amt="0"/>
              </a:blip>
              <a:stretch>
                <a:fillRect l="-18099" t="0" r="-18099" b="0"/>
              </a:stretch>
            </a:blipFill>
          </p:spPr>
        </p:sp>
        <p:sp>
          <p:nvSpPr>
            <p:cNvPr name="TextBox 65" id="65"/>
            <p:cNvSpPr txBox="true"/>
            <p:nvPr/>
          </p:nvSpPr>
          <p:spPr>
            <a:xfrm>
              <a:off x="0" y="19050"/>
              <a:ext cx="359728" cy="171882"/>
            </a:xfrm>
            <a:prstGeom prst="rect">
              <a:avLst/>
            </a:prstGeom>
          </p:spPr>
          <p:txBody>
            <a:bodyPr anchor="ctr" rtlCol="false" tIns="0" lIns="0" bIns="0" rIns="0"/>
            <a:lstStyle/>
            <a:p>
              <a:pPr algn="l">
                <a:lnSpc>
                  <a:spcPts val="633"/>
                </a:lnSpc>
              </a:pPr>
              <a:r>
                <a:rPr lang="en-US" sz="746">
                  <a:solidFill>
                    <a:srgbClr val="703430"/>
                  </a:solidFill>
                  <a:latin typeface="TT Commons Pro"/>
                  <a:ea typeface="TT Commons Pro"/>
                  <a:cs typeface="TT Commons Pro"/>
                  <a:sym typeface="TT Commons Pro"/>
                </a:rPr>
                <a:t>UPTO</a:t>
              </a:r>
            </a:p>
          </p:txBody>
        </p:sp>
      </p:grpSp>
      <p:grpSp>
        <p:nvGrpSpPr>
          <p:cNvPr name="Group 66" id="66"/>
          <p:cNvGrpSpPr/>
          <p:nvPr/>
        </p:nvGrpSpPr>
        <p:grpSpPr>
          <a:xfrm rot="0">
            <a:off x="17223391" y="6110583"/>
            <a:ext cx="379181" cy="160420"/>
            <a:chOff x="0" y="0"/>
            <a:chExt cx="505574" cy="213893"/>
          </a:xfrm>
        </p:grpSpPr>
        <p:sp>
          <p:nvSpPr>
            <p:cNvPr name="Freeform 67" id="67"/>
            <p:cNvSpPr/>
            <p:nvPr/>
          </p:nvSpPr>
          <p:spPr>
            <a:xfrm flipH="false" flipV="false" rot="0">
              <a:off x="0" y="0"/>
              <a:ext cx="505587" cy="213868"/>
            </a:xfrm>
            <a:custGeom>
              <a:avLst/>
              <a:gdLst/>
              <a:ahLst/>
              <a:cxnLst/>
              <a:rect r="r" b="b" t="t" l="l"/>
              <a:pathLst>
                <a:path h="213868" w="505587">
                  <a:moveTo>
                    <a:pt x="0" y="0"/>
                  </a:moveTo>
                  <a:lnTo>
                    <a:pt x="505587" y="0"/>
                  </a:lnTo>
                  <a:lnTo>
                    <a:pt x="505587" y="213868"/>
                  </a:lnTo>
                  <a:lnTo>
                    <a:pt x="0" y="213868"/>
                  </a:lnTo>
                  <a:close/>
                </a:path>
              </a:pathLst>
            </a:custGeom>
            <a:blipFill>
              <a:blip r:embed="rId3">
                <a:alphaModFix amt="0"/>
              </a:blip>
              <a:stretch>
                <a:fillRect l="-4318" t="0" r="-4315" b="-11"/>
              </a:stretch>
            </a:blipFill>
          </p:spPr>
        </p:sp>
      </p:grpSp>
      <p:grpSp>
        <p:nvGrpSpPr>
          <p:cNvPr name="Group 68" id="68"/>
          <p:cNvGrpSpPr/>
          <p:nvPr/>
        </p:nvGrpSpPr>
        <p:grpSpPr>
          <a:xfrm rot="0">
            <a:off x="17223391" y="6103439"/>
            <a:ext cx="379181" cy="167564"/>
            <a:chOff x="0" y="0"/>
            <a:chExt cx="505574" cy="223418"/>
          </a:xfrm>
        </p:grpSpPr>
        <p:sp>
          <p:nvSpPr>
            <p:cNvPr name="Freeform 69" id="69"/>
            <p:cNvSpPr/>
            <p:nvPr/>
          </p:nvSpPr>
          <p:spPr>
            <a:xfrm flipH="false" flipV="false" rot="0">
              <a:off x="0" y="0"/>
              <a:ext cx="505575" cy="223420"/>
            </a:xfrm>
            <a:custGeom>
              <a:avLst/>
              <a:gdLst/>
              <a:ahLst/>
              <a:cxnLst/>
              <a:rect r="r" b="b" t="t" l="l"/>
              <a:pathLst>
                <a:path h="223420" w="505575">
                  <a:moveTo>
                    <a:pt x="0" y="0"/>
                  </a:moveTo>
                  <a:lnTo>
                    <a:pt x="505575" y="0"/>
                  </a:lnTo>
                  <a:lnTo>
                    <a:pt x="505575" y="223420"/>
                  </a:lnTo>
                  <a:lnTo>
                    <a:pt x="0" y="223420"/>
                  </a:lnTo>
                  <a:close/>
                </a:path>
              </a:pathLst>
            </a:custGeom>
            <a:blipFill>
              <a:blip r:embed="rId4">
                <a:alphaModFix amt="0"/>
              </a:blip>
              <a:stretch>
                <a:fillRect l="-6698" t="0" r="-6698" b="0"/>
              </a:stretch>
            </a:blipFill>
          </p:spPr>
        </p:sp>
        <p:sp>
          <p:nvSpPr>
            <p:cNvPr name="TextBox 70" id="70"/>
            <p:cNvSpPr txBox="true"/>
            <p:nvPr/>
          </p:nvSpPr>
          <p:spPr>
            <a:xfrm>
              <a:off x="0" y="-9525"/>
              <a:ext cx="505574" cy="232943"/>
            </a:xfrm>
            <a:prstGeom prst="rect">
              <a:avLst/>
            </a:prstGeom>
          </p:spPr>
          <p:txBody>
            <a:bodyPr anchor="ctr" rtlCol="false" tIns="0" lIns="0" bIns="0" rIns="0"/>
            <a:lstStyle/>
            <a:p>
              <a:pPr algn="l">
                <a:lnSpc>
                  <a:spcPts val="976"/>
                </a:lnSpc>
              </a:pPr>
              <a:r>
                <a:rPr lang="en-US" sz="740">
                  <a:solidFill>
                    <a:srgbClr val="8F8885"/>
                  </a:solidFill>
                  <a:latin typeface="TT Commons Pro"/>
                  <a:ea typeface="TT Commons Pro"/>
                  <a:cs typeface="TT Commons Pro"/>
                  <a:sym typeface="TT Commons Pro"/>
                </a:rPr>
                <a:t>Nightlife</a:t>
              </a:r>
            </a:p>
          </p:txBody>
        </p:sp>
      </p:grpSp>
      <p:grpSp>
        <p:nvGrpSpPr>
          <p:cNvPr name="Group 71" id="71"/>
          <p:cNvGrpSpPr/>
          <p:nvPr/>
        </p:nvGrpSpPr>
        <p:grpSpPr>
          <a:xfrm rot="0">
            <a:off x="16756704" y="6096000"/>
            <a:ext cx="284378" cy="163954"/>
            <a:chOff x="0" y="0"/>
            <a:chExt cx="379171" cy="218605"/>
          </a:xfrm>
        </p:grpSpPr>
        <p:sp>
          <p:nvSpPr>
            <p:cNvPr name="Freeform 72" id="72"/>
            <p:cNvSpPr/>
            <p:nvPr/>
          </p:nvSpPr>
          <p:spPr>
            <a:xfrm flipH="false" flipV="false" rot="0">
              <a:off x="0" y="0"/>
              <a:ext cx="379222" cy="218567"/>
            </a:xfrm>
            <a:custGeom>
              <a:avLst/>
              <a:gdLst/>
              <a:ahLst/>
              <a:cxnLst/>
              <a:rect r="r" b="b" t="t" l="l"/>
              <a:pathLst>
                <a:path h="218567" w="379222">
                  <a:moveTo>
                    <a:pt x="0" y="0"/>
                  </a:moveTo>
                  <a:lnTo>
                    <a:pt x="379222" y="0"/>
                  </a:lnTo>
                  <a:lnTo>
                    <a:pt x="379222" y="218567"/>
                  </a:lnTo>
                  <a:lnTo>
                    <a:pt x="0" y="218567"/>
                  </a:lnTo>
                  <a:close/>
                </a:path>
              </a:pathLst>
            </a:custGeom>
            <a:blipFill>
              <a:blip r:embed="rId3">
                <a:alphaModFix amt="0"/>
              </a:blip>
              <a:stretch>
                <a:fillRect l="-24018" t="0" r="-24008" b="-17"/>
              </a:stretch>
            </a:blipFill>
          </p:spPr>
        </p:sp>
      </p:grpSp>
      <p:grpSp>
        <p:nvGrpSpPr>
          <p:cNvPr name="Group 73" id="73"/>
          <p:cNvGrpSpPr/>
          <p:nvPr/>
        </p:nvGrpSpPr>
        <p:grpSpPr>
          <a:xfrm rot="0">
            <a:off x="16756704" y="6103144"/>
            <a:ext cx="284378" cy="156820"/>
            <a:chOff x="0" y="0"/>
            <a:chExt cx="379171" cy="209093"/>
          </a:xfrm>
        </p:grpSpPr>
        <p:sp>
          <p:nvSpPr>
            <p:cNvPr name="Freeform 74" id="74"/>
            <p:cNvSpPr/>
            <p:nvPr/>
          </p:nvSpPr>
          <p:spPr>
            <a:xfrm flipH="false" flipV="false" rot="0">
              <a:off x="0" y="0"/>
              <a:ext cx="379171" cy="209087"/>
            </a:xfrm>
            <a:custGeom>
              <a:avLst/>
              <a:gdLst/>
              <a:ahLst/>
              <a:cxnLst/>
              <a:rect r="r" b="b" t="t" l="l"/>
              <a:pathLst>
                <a:path h="209087" w="379171">
                  <a:moveTo>
                    <a:pt x="0" y="0"/>
                  </a:moveTo>
                  <a:lnTo>
                    <a:pt x="379171" y="0"/>
                  </a:lnTo>
                  <a:lnTo>
                    <a:pt x="379171" y="209087"/>
                  </a:lnTo>
                  <a:lnTo>
                    <a:pt x="0" y="209087"/>
                  </a:lnTo>
                  <a:close/>
                </a:path>
              </a:pathLst>
            </a:custGeom>
            <a:blipFill>
              <a:blip r:embed="rId4">
                <a:alphaModFix amt="0"/>
              </a:blip>
              <a:stretch>
                <a:fillRect l="-20752" t="0" r="-20752" b="-2"/>
              </a:stretch>
            </a:blipFill>
          </p:spPr>
        </p:sp>
        <p:sp>
          <p:nvSpPr>
            <p:cNvPr name="TextBox 75" id="75"/>
            <p:cNvSpPr txBox="true"/>
            <p:nvPr/>
          </p:nvSpPr>
          <p:spPr>
            <a:xfrm>
              <a:off x="0" y="9525"/>
              <a:ext cx="379171" cy="199568"/>
            </a:xfrm>
            <a:prstGeom prst="rect">
              <a:avLst/>
            </a:prstGeom>
          </p:spPr>
          <p:txBody>
            <a:bodyPr anchor="ctr" rtlCol="false" tIns="0" lIns="0" bIns="0" rIns="0"/>
            <a:lstStyle/>
            <a:p>
              <a:pPr algn="l">
                <a:lnSpc>
                  <a:spcPts val="765"/>
                </a:lnSpc>
              </a:pPr>
              <a:r>
                <a:rPr lang="en-US" sz="766">
                  <a:solidFill>
                    <a:srgbClr val="928C89"/>
                  </a:solidFill>
                  <a:latin typeface="TT Commons Pro"/>
                  <a:ea typeface="TT Commons Pro"/>
                  <a:cs typeface="TT Commons Pro"/>
                  <a:sym typeface="TT Commons Pro"/>
                </a:rPr>
                <a:t>Dining</a:t>
              </a:r>
            </a:p>
          </p:txBody>
        </p:sp>
      </p:grpSp>
      <p:grpSp>
        <p:nvGrpSpPr>
          <p:cNvPr name="Group 76" id="76"/>
          <p:cNvGrpSpPr/>
          <p:nvPr/>
        </p:nvGrpSpPr>
        <p:grpSpPr>
          <a:xfrm rot="0">
            <a:off x="17340053" y="5760577"/>
            <a:ext cx="189548" cy="247936"/>
            <a:chOff x="0" y="0"/>
            <a:chExt cx="252730" cy="330581"/>
          </a:xfrm>
        </p:grpSpPr>
        <p:sp>
          <p:nvSpPr>
            <p:cNvPr name="Freeform 77" id="77" descr="preencoded.png"/>
            <p:cNvSpPr/>
            <p:nvPr/>
          </p:nvSpPr>
          <p:spPr>
            <a:xfrm flipH="false" flipV="false" rot="0">
              <a:off x="0" y="0"/>
              <a:ext cx="252730" cy="330581"/>
            </a:xfrm>
            <a:custGeom>
              <a:avLst/>
              <a:gdLst/>
              <a:ahLst/>
              <a:cxnLst/>
              <a:rect r="r" b="b" t="t" l="l"/>
              <a:pathLst>
                <a:path h="330581" w="252730">
                  <a:moveTo>
                    <a:pt x="0" y="0"/>
                  </a:moveTo>
                  <a:lnTo>
                    <a:pt x="252730" y="0"/>
                  </a:lnTo>
                  <a:lnTo>
                    <a:pt x="252730" y="330581"/>
                  </a:lnTo>
                  <a:lnTo>
                    <a:pt x="0" y="330581"/>
                  </a:lnTo>
                  <a:lnTo>
                    <a:pt x="0" y="0"/>
                  </a:lnTo>
                  <a:close/>
                </a:path>
              </a:pathLst>
            </a:custGeom>
            <a:blipFill>
              <a:blip r:embed="rId16"/>
              <a:stretch>
                <a:fillRect l="0" t="-557" r="0" b="-553"/>
              </a:stretch>
            </a:blipFill>
          </p:spPr>
        </p:sp>
      </p:grpSp>
      <p:grpSp>
        <p:nvGrpSpPr>
          <p:cNvPr name="Group 78" id="78"/>
          <p:cNvGrpSpPr/>
          <p:nvPr/>
        </p:nvGrpSpPr>
        <p:grpSpPr>
          <a:xfrm rot="0">
            <a:off x="16822331" y="5753281"/>
            <a:ext cx="204216" cy="247936"/>
            <a:chOff x="0" y="0"/>
            <a:chExt cx="272288" cy="330581"/>
          </a:xfrm>
        </p:grpSpPr>
        <p:sp>
          <p:nvSpPr>
            <p:cNvPr name="Freeform 79" id="79" descr="preencoded.png"/>
            <p:cNvSpPr/>
            <p:nvPr/>
          </p:nvSpPr>
          <p:spPr>
            <a:xfrm flipH="false" flipV="false" rot="0">
              <a:off x="0" y="0"/>
              <a:ext cx="272288" cy="330581"/>
            </a:xfrm>
            <a:custGeom>
              <a:avLst/>
              <a:gdLst/>
              <a:ahLst/>
              <a:cxnLst/>
              <a:rect r="r" b="b" t="t" l="l"/>
              <a:pathLst>
                <a:path h="330581" w="272288">
                  <a:moveTo>
                    <a:pt x="0" y="0"/>
                  </a:moveTo>
                  <a:lnTo>
                    <a:pt x="272288" y="0"/>
                  </a:lnTo>
                  <a:lnTo>
                    <a:pt x="272288" y="330581"/>
                  </a:lnTo>
                  <a:lnTo>
                    <a:pt x="0" y="330581"/>
                  </a:lnTo>
                  <a:lnTo>
                    <a:pt x="0" y="0"/>
                  </a:lnTo>
                  <a:close/>
                </a:path>
              </a:pathLst>
            </a:custGeom>
            <a:blipFill>
              <a:blip r:embed="rId17"/>
              <a:stretch>
                <a:fillRect l="-340" t="0" r="-340" b="0"/>
              </a:stretch>
            </a:blipFill>
          </p:spPr>
        </p:sp>
      </p:grpSp>
      <p:grpSp>
        <p:nvGrpSpPr>
          <p:cNvPr name="Group 80" id="80"/>
          <p:cNvGrpSpPr/>
          <p:nvPr/>
        </p:nvGrpSpPr>
        <p:grpSpPr>
          <a:xfrm rot="0">
            <a:off x="16275444" y="6081417"/>
            <a:ext cx="247926" cy="163516"/>
            <a:chOff x="0" y="0"/>
            <a:chExt cx="330568" cy="218021"/>
          </a:xfrm>
        </p:grpSpPr>
        <p:sp>
          <p:nvSpPr>
            <p:cNvPr name="Freeform 81" id="81"/>
            <p:cNvSpPr/>
            <p:nvPr/>
          </p:nvSpPr>
          <p:spPr>
            <a:xfrm flipH="false" flipV="false" rot="0">
              <a:off x="0" y="0"/>
              <a:ext cx="330581" cy="218059"/>
            </a:xfrm>
            <a:custGeom>
              <a:avLst/>
              <a:gdLst/>
              <a:ahLst/>
              <a:cxnLst/>
              <a:rect r="r" b="b" t="t" l="l"/>
              <a:pathLst>
                <a:path h="218059" w="330581">
                  <a:moveTo>
                    <a:pt x="0" y="0"/>
                  </a:moveTo>
                  <a:lnTo>
                    <a:pt x="330581" y="0"/>
                  </a:lnTo>
                  <a:lnTo>
                    <a:pt x="330581" y="218059"/>
                  </a:lnTo>
                  <a:lnTo>
                    <a:pt x="0" y="218059"/>
                  </a:lnTo>
                  <a:close/>
                </a:path>
              </a:pathLst>
            </a:custGeom>
            <a:blipFill>
              <a:blip r:embed="rId3">
                <a:alphaModFix amt="0"/>
              </a:blip>
              <a:stretch>
                <a:fillRect l="-34675" t="0" r="-34671" b="17"/>
              </a:stretch>
            </a:blipFill>
          </p:spPr>
        </p:sp>
      </p:grpSp>
      <p:grpSp>
        <p:nvGrpSpPr>
          <p:cNvPr name="Group 82" id="82"/>
          <p:cNvGrpSpPr/>
          <p:nvPr/>
        </p:nvGrpSpPr>
        <p:grpSpPr>
          <a:xfrm rot="0">
            <a:off x="16275444" y="6081417"/>
            <a:ext cx="247926" cy="163506"/>
            <a:chOff x="0" y="0"/>
            <a:chExt cx="330568" cy="218008"/>
          </a:xfrm>
        </p:grpSpPr>
        <p:sp>
          <p:nvSpPr>
            <p:cNvPr name="Freeform 83" id="83"/>
            <p:cNvSpPr/>
            <p:nvPr/>
          </p:nvSpPr>
          <p:spPr>
            <a:xfrm flipH="false" flipV="false" rot="0">
              <a:off x="0" y="0"/>
              <a:ext cx="330568" cy="218011"/>
            </a:xfrm>
            <a:custGeom>
              <a:avLst/>
              <a:gdLst/>
              <a:ahLst/>
              <a:cxnLst/>
              <a:rect r="r" b="b" t="t" l="l"/>
              <a:pathLst>
                <a:path h="218011" w="330568">
                  <a:moveTo>
                    <a:pt x="0" y="0"/>
                  </a:moveTo>
                  <a:lnTo>
                    <a:pt x="330568" y="0"/>
                  </a:lnTo>
                  <a:lnTo>
                    <a:pt x="330568" y="218011"/>
                  </a:lnTo>
                  <a:lnTo>
                    <a:pt x="0" y="218011"/>
                  </a:lnTo>
                  <a:close/>
                </a:path>
              </a:pathLst>
            </a:custGeom>
            <a:blipFill>
              <a:blip r:embed="rId4">
                <a:alphaModFix amt="0"/>
              </a:blip>
              <a:stretch>
                <a:fillRect l="-34615" t="0" r="-34615" b="1"/>
              </a:stretch>
            </a:blipFill>
          </p:spPr>
        </p:sp>
        <p:sp>
          <p:nvSpPr>
            <p:cNvPr name="TextBox 84" id="84"/>
            <p:cNvSpPr txBox="true"/>
            <p:nvPr/>
          </p:nvSpPr>
          <p:spPr>
            <a:xfrm>
              <a:off x="0" y="0"/>
              <a:ext cx="330568" cy="218008"/>
            </a:xfrm>
            <a:prstGeom prst="rect">
              <a:avLst/>
            </a:prstGeom>
          </p:spPr>
          <p:txBody>
            <a:bodyPr anchor="ctr" rtlCol="false" tIns="0" lIns="0" bIns="0" rIns="0"/>
            <a:lstStyle/>
            <a:p>
              <a:pPr algn="l">
                <a:lnSpc>
                  <a:spcPts val="802"/>
                </a:lnSpc>
              </a:pPr>
              <a:r>
                <a:rPr lang="en-US" sz="786">
                  <a:solidFill>
                    <a:srgbClr val="8E8A87"/>
                  </a:solidFill>
                  <a:latin typeface="TT Commons Pro"/>
                  <a:ea typeface="TT Commons Pro"/>
                  <a:cs typeface="TT Commons Pro"/>
                  <a:sym typeface="TT Commons Pro"/>
                </a:rPr>
                <a:t>Food</a:t>
              </a:r>
            </a:p>
          </p:txBody>
        </p:sp>
      </p:grpSp>
      <p:grpSp>
        <p:nvGrpSpPr>
          <p:cNvPr name="Group 85" id="85"/>
          <p:cNvGrpSpPr/>
          <p:nvPr/>
        </p:nvGrpSpPr>
        <p:grpSpPr>
          <a:xfrm rot="0">
            <a:off x="16311905" y="5745994"/>
            <a:ext cx="211455" cy="240602"/>
            <a:chOff x="0" y="0"/>
            <a:chExt cx="281940" cy="320802"/>
          </a:xfrm>
        </p:grpSpPr>
        <p:sp>
          <p:nvSpPr>
            <p:cNvPr name="Freeform 86" id="86" descr="preencoded.png"/>
            <p:cNvSpPr/>
            <p:nvPr/>
          </p:nvSpPr>
          <p:spPr>
            <a:xfrm flipH="false" flipV="false" rot="0">
              <a:off x="0" y="0"/>
              <a:ext cx="281940" cy="320802"/>
            </a:xfrm>
            <a:custGeom>
              <a:avLst/>
              <a:gdLst/>
              <a:ahLst/>
              <a:cxnLst/>
              <a:rect r="r" b="b" t="t" l="l"/>
              <a:pathLst>
                <a:path h="320802" w="281940">
                  <a:moveTo>
                    <a:pt x="0" y="0"/>
                  </a:moveTo>
                  <a:lnTo>
                    <a:pt x="281940" y="0"/>
                  </a:lnTo>
                  <a:lnTo>
                    <a:pt x="281940" y="320802"/>
                  </a:lnTo>
                  <a:lnTo>
                    <a:pt x="0" y="320802"/>
                  </a:lnTo>
                  <a:lnTo>
                    <a:pt x="0" y="0"/>
                  </a:lnTo>
                  <a:close/>
                </a:path>
              </a:pathLst>
            </a:custGeom>
            <a:blipFill>
              <a:blip r:embed="rId18"/>
              <a:stretch>
                <a:fillRect l="0" t="-601" r="0" b="-601"/>
              </a:stretch>
            </a:blipFill>
          </p:spPr>
        </p:sp>
      </p:grpSp>
      <p:grpSp>
        <p:nvGrpSpPr>
          <p:cNvPr name="Group 87" id="87"/>
          <p:cNvGrpSpPr/>
          <p:nvPr/>
        </p:nvGrpSpPr>
        <p:grpSpPr>
          <a:xfrm rot="0">
            <a:off x="401050" y="5468903"/>
            <a:ext cx="269796" cy="112024"/>
            <a:chOff x="0" y="0"/>
            <a:chExt cx="359728" cy="149365"/>
          </a:xfrm>
        </p:grpSpPr>
        <p:sp>
          <p:nvSpPr>
            <p:cNvPr name="Freeform 88" id="88"/>
            <p:cNvSpPr/>
            <p:nvPr/>
          </p:nvSpPr>
          <p:spPr>
            <a:xfrm flipH="false" flipV="false" rot="0">
              <a:off x="0" y="0"/>
              <a:ext cx="359791" cy="149352"/>
            </a:xfrm>
            <a:custGeom>
              <a:avLst/>
              <a:gdLst/>
              <a:ahLst/>
              <a:cxnLst/>
              <a:rect r="r" b="b" t="t" l="l"/>
              <a:pathLst>
                <a:path h="149352" w="359791">
                  <a:moveTo>
                    <a:pt x="0" y="0"/>
                  </a:moveTo>
                  <a:lnTo>
                    <a:pt x="359791" y="0"/>
                  </a:lnTo>
                  <a:lnTo>
                    <a:pt x="359791" y="149352"/>
                  </a:lnTo>
                  <a:lnTo>
                    <a:pt x="0" y="149352"/>
                  </a:lnTo>
                  <a:close/>
                </a:path>
              </a:pathLst>
            </a:custGeom>
            <a:blipFill>
              <a:blip r:embed="rId3">
                <a:alphaModFix amt="0"/>
              </a:blip>
              <a:stretch>
                <a:fillRect l="-3307" t="0" r="-3293" b="-8"/>
              </a:stretch>
            </a:blipFill>
          </p:spPr>
        </p:sp>
      </p:grpSp>
      <p:grpSp>
        <p:nvGrpSpPr>
          <p:cNvPr name="Group 89" id="89"/>
          <p:cNvGrpSpPr/>
          <p:nvPr/>
        </p:nvGrpSpPr>
        <p:grpSpPr>
          <a:xfrm rot="0">
            <a:off x="401050" y="5476046"/>
            <a:ext cx="269796" cy="104880"/>
            <a:chOff x="0" y="0"/>
            <a:chExt cx="359728" cy="139840"/>
          </a:xfrm>
        </p:grpSpPr>
        <p:sp>
          <p:nvSpPr>
            <p:cNvPr name="Freeform 90" id="90"/>
            <p:cNvSpPr/>
            <p:nvPr/>
          </p:nvSpPr>
          <p:spPr>
            <a:xfrm flipH="false" flipV="false" rot="0">
              <a:off x="0" y="0"/>
              <a:ext cx="359728" cy="139834"/>
            </a:xfrm>
            <a:custGeom>
              <a:avLst/>
              <a:gdLst/>
              <a:ahLst/>
              <a:cxnLst/>
              <a:rect r="r" b="b" t="t" l="l"/>
              <a:pathLst>
                <a:path h="139834" w="359728">
                  <a:moveTo>
                    <a:pt x="0" y="0"/>
                  </a:moveTo>
                  <a:lnTo>
                    <a:pt x="359728" y="0"/>
                  </a:lnTo>
                  <a:lnTo>
                    <a:pt x="359728" y="139834"/>
                  </a:lnTo>
                  <a:lnTo>
                    <a:pt x="0" y="139834"/>
                  </a:lnTo>
                  <a:close/>
                </a:path>
              </a:pathLst>
            </a:custGeom>
            <a:blipFill>
              <a:blip r:embed="rId4">
                <a:alphaModFix amt="0"/>
              </a:blip>
              <a:stretch>
                <a:fillRect l="0" t="-123" r="0" b="-128"/>
              </a:stretch>
            </a:blipFill>
          </p:spPr>
        </p:sp>
        <p:sp>
          <p:nvSpPr>
            <p:cNvPr name="TextBox 91" id="91"/>
            <p:cNvSpPr txBox="true"/>
            <p:nvPr/>
          </p:nvSpPr>
          <p:spPr>
            <a:xfrm>
              <a:off x="0" y="9525"/>
              <a:ext cx="359728" cy="130315"/>
            </a:xfrm>
            <a:prstGeom prst="rect">
              <a:avLst/>
            </a:prstGeom>
          </p:spPr>
          <p:txBody>
            <a:bodyPr anchor="ctr" rtlCol="false" tIns="0" lIns="0" bIns="0" rIns="0"/>
            <a:lstStyle/>
            <a:p>
              <a:pPr algn="l">
                <a:lnSpc>
                  <a:spcPts val="574"/>
                </a:lnSpc>
              </a:pPr>
              <a:r>
                <a:rPr lang="en-US" sz="545">
                  <a:solidFill>
                    <a:srgbClr val="E77943"/>
                  </a:solidFill>
                  <a:latin typeface="TT Commons Pro"/>
                  <a:ea typeface="TT Commons Pro"/>
                  <a:cs typeface="TT Commons Pro"/>
                  <a:sym typeface="TT Commons Pro"/>
                </a:rPr>
                <a:t>Sroape</a:t>
              </a:r>
            </a:p>
          </p:txBody>
        </p:sp>
      </p:grpSp>
      <p:grpSp>
        <p:nvGrpSpPr>
          <p:cNvPr name="Group 92" id="92"/>
          <p:cNvGrpSpPr/>
          <p:nvPr/>
        </p:nvGrpSpPr>
        <p:grpSpPr>
          <a:xfrm rot="0">
            <a:off x="17602562" y="5169932"/>
            <a:ext cx="123920" cy="160401"/>
            <a:chOff x="0" y="0"/>
            <a:chExt cx="165227" cy="213868"/>
          </a:xfrm>
        </p:grpSpPr>
        <p:sp>
          <p:nvSpPr>
            <p:cNvPr name="Freeform 93" id="93" descr="preencoded.png"/>
            <p:cNvSpPr/>
            <p:nvPr/>
          </p:nvSpPr>
          <p:spPr>
            <a:xfrm flipH="false" flipV="false" rot="0">
              <a:off x="0" y="0"/>
              <a:ext cx="165227" cy="213868"/>
            </a:xfrm>
            <a:custGeom>
              <a:avLst/>
              <a:gdLst/>
              <a:ahLst/>
              <a:cxnLst/>
              <a:rect r="r" b="b" t="t" l="l"/>
              <a:pathLst>
                <a:path h="213868" w="165227">
                  <a:moveTo>
                    <a:pt x="0" y="0"/>
                  </a:moveTo>
                  <a:lnTo>
                    <a:pt x="165227" y="0"/>
                  </a:lnTo>
                  <a:lnTo>
                    <a:pt x="165227" y="213868"/>
                  </a:lnTo>
                  <a:lnTo>
                    <a:pt x="0" y="213868"/>
                  </a:lnTo>
                  <a:lnTo>
                    <a:pt x="0" y="0"/>
                  </a:lnTo>
                  <a:close/>
                </a:path>
              </a:pathLst>
            </a:custGeom>
            <a:blipFill>
              <a:blip r:embed="rId19"/>
              <a:stretch>
                <a:fillRect l="0" t="-510" r="0" b="-516"/>
              </a:stretch>
            </a:blipFill>
          </p:spPr>
        </p:sp>
      </p:grpSp>
      <p:grpSp>
        <p:nvGrpSpPr>
          <p:cNvPr name="Group 94" id="94"/>
          <p:cNvGrpSpPr/>
          <p:nvPr/>
        </p:nvGrpSpPr>
        <p:grpSpPr>
          <a:xfrm rot="0">
            <a:off x="16523370" y="5097018"/>
            <a:ext cx="926068" cy="431387"/>
            <a:chOff x="0" y="0"/>
            <a:chExt cx="1234758" cy="575183"/>
          </a:xfrm>
        </p:grpSpPr>
        <p:sp>
          <p:nvSpPr>
            <p:cNvPr name="Freeform 95" id="95"/>
            <p:cNvSpPr/>
            <p:nvPr/>
          </p:nvSpPr>
          <p:spPr>
            <a:xfrm flipH="false" flipV="false" rot="0">
              <a:off x="0" y="0"/>
              <a:ext cx="1234694" cy="575183"/>
            </a:xfrm>
            <a:custGeom>
              <a:avLst/>
              <a:gdLst/>
              <a:ahLst/>
              <a:cxnLst/>
              <a:rect r="r" b="b" t="t" l="l"/>
              <a:pathLst>
                <a:path h="575183" w="1234694">
                  <a:moveTo>
                    <a:pt x="0" y="0"/>
                  </a:moveTo>
                  <a:lnTo>
                    <a:pt x="1234694" y="0"/>
                  </a:lnTo>
                  <a:lnTo>
                    <a:pt x="1234694" y="575183"/>
                  </a:lnTo>
                  <a:lnTo>
                    <a:pt x="0" y="575183"/>
                  </a:lnTo>
                  <a:close/>
                </a:path>
              </a:pathLst>
            </a:custGeom>
            <a:blipFill>
              <a:blip r:embed="rId3">
                <a:alphaModFix amt="0"/>
              </a:blip>
              <a:stretch>
                <a:fillRect l="-9808" t="0" r="-9814" b="0"/>
              </a:stretch>
            </a:blipFill>
          </p:spPr>
        </p:sp>
      </p:grpSp>
      <p:grpSp>
        <p:nvGrpSpPr>
          <p:cNvPr name="Group 96" id="96"/>
          <p:cNvGrpSpPr/>
          <p:nvPr/>
        </p:nvGrpSpPr>
        <p:grpSpPr>
          <a:xfrm rot="0">
            <a:off x="16523370" y="5154168"/>
            <a:ext cx="926068" cy="374237"/>
            <a:chOff x="0" y="0"/>
            <a:chExt cx="1234758" cy="498983"/>
          </a:xfrm>
        </p:grpSpPr>
        <p:sp>
          <p:nvSpPr>
            <p:cNvPr name="Freeform 97" id="97"/>
            <p:cNvSpPr/>
            <p:nvPr/>
          </p:nvSpPr>
          <p:spPr>
            <a:xfrm flipH="false" flipV="false" rot="0">
              <a:off x="0" y="0"/>
              <a:ext cx="1234757" cy="498983"/>
            </a:xfrm>
            <a:custGeom>
              <a:avLst/>
              <a:gdLst/>
              <a:ahLst/>
              <a:cxnLst/>
              <a:rect r="r" b="b" t="t" l="l"/>
              <a:pathLst>
                <a:path h="498983" w="1234757">
                  <a:moveTo>
                    <a:pt x="0" y="0"/>
                  </a:moveTo>
                  <a:lnTo>
                    <a:pt x="1234757" y="0"/>
                  </a:lnTo>
                  <a:lnTo>
                    <a:pt x="1234757" y="498983"/>
                  </a:lnTo>
                  <a:lnTo>
                    <a:pt x="0" y="498983"/>
                  </a:lnTo>
                  <a:close/>
                </a:path>
              </a:pathLst>
            </a:custGeom>
            <a:blipFill>
              <a:blip r:embed="rId4">
                <a:alphaModFix amt="0"/>
              </a:blip>
              <a:stretch>
                <a:fillRect l="-1849" t="0" r="-1849" b="0"/>
              </a:stretch>
            </a:blipFill>
          </p:spPr>
        </p:sp>
        <p:sp>
          <p:nvSpPr>
            <p:cNvPr name="TextBox 98" id="98"/>
            <p:cNvSpPr txBox="true"/>
            <p:nvPr/>
          </p:nvSpPr>
          <p:spPr>
            <a:xfrm>
              <a:off x="0" y="76200"/>
              <a:ext cx="1234758" cy="422783"/>
            </a:xfrm>
            <a:prstGeom prst="rect">
              <a:avLst/>
            </a:prstGeom>
          </p:spPr>
          <p:txBody>
            <a:bodyPr anchor="ctr" rtlCol="false" tIns="0" lIns="0" bIns="0" rIns="0"/>
            <a:lstStyle/>
            <a:p>
              <a:pPr algn="l">
                <a:lnSpc>
                  <a:spcPts val="1608"/>
                </a:lnSpc>
              </a:pPr>
              <a:r>
                <a:rPr lang="en-US" b="true" sz="2011" i="true">
                  <a:solidFill>
                    <a:srgbClr val="DEB6B4"/>
                  </a:solidFill>
                  <a:latin typeface="TT Commons Pro Bold Italics"/>
                  <a:ea typeface="TT Commons Pro Bold Italics"/>
                  <a:cs typeface="TT Commons Pro Bold Italics"/>
                  <a:sym typeface="TT Commons Pro Bold Italics"/>
                </a:rPr>
                <a:t>zomato</a:t>
              </a:r>
            </a:p>
          </p:txBody>
        </p:sp>
      </p:grpSp>
      <p:grpSp>
        <p:nvGrpSpPr>
          <p:cNvPr name="Group 99" id="99"/>
          <p:cNvGrpSpPr/>
          <p:nvPr/>
        </p:nvGrpSpPr>
        <p:grpSpPr>
          <a:xfrm rot="0">
            <a:off x="16260861" y="5148053"/>
            <a:ext cx="116681" cy="153162"/>
            <a:chOff x="0" y="0"/>
            <a:chExt cx="155575" cy="204216"/>
          </a:xfrm>
        </p:grpSpPr>
        <p:sp>
          <p:nvSpPr>
            <p:cNvPr name="Freeform 100" id="100" descr="preencoded.png"/>
            <p:cNvSpPr/>
            <p:nvPr/>
          </p:nvSpPr>
          <p:spPr>
            <a:xfrm flipH="false" flipV="false" rot="0">
              <a:off x="0" y="0"/>
              <a:ext cx="155575" cy="204216"/>
            </a:xfrm>
            <a:custGeom>
              <a:avLst/>
              <a:gdLst/>
              <a:ahLst/>
              <a:cxnLst/>
              <a:rect r="r" b="b" t="t" l="l"/>
              <a:pathLst>
                <a:path h="204216" w="155575">
                  <a:moveTo>
                    <a:pt x="0" y="0"/>
                  </a:moveTo>
                  <a:lnTo>
                    <a:pt x="155575" y="0"/>
                  </a:lnTo>
                  <a:lnTo>
                    <a:pt x="155575" y="204216"/>
                  </a:lnTo>
                  <a:lnTo>
                    <a:pt x="0" y="204216"/>
                  </a:lnTo>
                  <a:lnTo>
                    <a:pt x="0" y="0"/>
                  </a:lnTo>
                  <a:close/>
                </a:path>
              </a:pathLst>
            </a:custGeom>
            <a:blipFill>
              <a:blip r:embed="rId20"/>
              <a:stretch>
                <a:fillRect l="0" t="-118" r="0" b="-118"/>
              </a:stretch>
            </a:blipFill>
          </p:spPr>
        </p:sp>
      </p:grpSp>
      <p:sp>
        <p:nvSpPr>
          <p:cNvPr name="Freeform 101" id="101"/>
          <p:cNvSpPr/>
          <p:nvPr/>
        </p:nvSpPr>
        <p:spPr>
          <a:xfrm flipH="false" flipV="false" rot="0">
            <a:off x="11306042" y="5137118"/>
            <a:ext cx="4404236" cy="3142745"/>
          </a:xfrm>
          <a:custGeom>
            <a:avLst/>
            <a:gdLst/>
            <a:ahLst/>
            <a:cxnLst/>
            <a:rect r="r" b="b" t="t" l="l"/>
            <a:pathLst>
              <a:path h="3142745" w="4404236">
                <a:moveTo>
                  <a:pt x="0" y="0"/>
                </a:moveTo>
                <a:lnTo>
                  <a:pt x="4404236" y="0"/>
                </a:lnTo>
                <a:lnTo>
                  <a:pt x="4404236" y="3142745"/>
                </a:lnTo>
                <a:lnTo>
                  <a:pt x="0" y="314274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102" id="102"/>
          <p:cNvGrpSpPr/>
          <p:nvPr/>
        </p:nvGrpSpPr>
        <p:grpSpPr>
          <a:xfrm rot="0">
            <a:off x="12797228" y="6453302"/>
            <a:ext cx="452056" cy="29146"/>
            <a:chOff x="0" y="0"/>
            <a:chExt cx="602742" cy="38862"/>
          </a:xfrm>
        </p:grpSpPr>
        <p:sp>
          <p:nvSpPr>
            <p:cNvPr name="Freeform 103" id="103" descr="preencoded.png"/>
            <p:cNvSpPr/>
            <p:nvPr/>
          </p:nvSpPr>
          <p:spPr>
            <a:xfrm flipH="false" flipV="false" rot="0">
              <a:off x="0" y="0"/>
              <a:ext cx="602742" cy="38862"/>
            </a:xfrm>
            <a:custGeom>
              <a:avLst/>
              <a:gdLst/>
              <a:ahLst/>
              <a:cxnLst/>
              <a:rect r="r" b="b" t="t" l="l"/>
              <a:pathLst>
                <a:path h="38862" w="602742">
                  <a:moveTo>
                    <a:pt x="0" y="0"/>
                  </a:moveTo>
                  <a:lnTo>
                    <a:pt x="602742" y="0"/>
                  </a:lnTo>
                  <a:lnTo>
                    <a:pt x="602742" y="38862"/>
                  </a:lnTo>
                  <a:lnTo>
                    <a:pt x="0" y="38862"/>
                  </a:lnTo>
                  <a:lnTo>
                    <a:pt x="0" y="0"/>
                  </a:lnTo>
                  <a:close/>
                </a:path>
              </a:pathLst>
            </a:custGeom>
            <a:blipFill>
              <a:blip r:embed="rId23"/>
              <a:stretch>
                <a:fillRect l="-2656" t="0" r="-2654" b="0"/>
              </a:stretch>
            </a:blipFill>
          </p:spPr>
        </p:sp>
      </p:grpSp>
      <p:grpSp>
        <p:nvGrpSpPr>
          <p:cNvPr name="Group 104" id="104"/>
          <p:cNvGrpSpPr/>
          <p:nvPr/>
        </p:nvGrpSpPr>
        <p:grpSpPr>
          <a:xfrm rot="0">
            <a:off x="11645113" y="5519947"/>
            <a:ext cx="926020" cy="1013555"/>
            <a:chOff x="0" y="0"/>
            <a:chExt cx="1234694" cy="1351407"/>
          </a:xfrm>
        </p:grpSpPr>
        <p:sp>
          <p:nvSpPr>
            <p:cNvPr name="Freeform 105" id="105" descr="preencoded.png"/>
            <p:cNvSpPr/>
            <p:nvPr/>
          </p:nvSpPr>
          <p:spPr>
            <a:xfrm flipH="false" flipV="false" rot="0">
              <a:off x="0" y="0"/>
              <a:ext cx="1234694" cy="1351407"/>
            </a:xfrm>
            <a:custGeom>
              <a:avLst/>
              <a:gdLst/>
              <a:ahLst/>
              <a:cxnLst/>
              <a:rect r="r" b="b" t="t" l="l"/>
              <a:pathLst>
                <a:path h="1351407" w="1234694">
                  <a:moveTo>
                    <a:pt x="0" y="0"/>
                  </a:moveTo>
                  <a:lnTo>
                    <a:pt x="1234694" y="0"/>
                  </a:lnTo>
                  <a:lnTo>
                    <a:pt x="1234694" y="1351407"/>
                  </a:lnTo>
                  <a:lnTo>
                    <a:pt x="0" y="1351407"/>
                  </a:lnTo>
                  <a:lnTo>
                    <a:pt x="0" y="0"/>
                  </a:lnTo>
                  <a:close/>
                </a:path>
              </a:pathLst>
            </a:custGeom>
            <a:blipFill>
              <a:blip r:embed="rId24"/>
              <a:stretch>
                <a:fillRect l="0" t="-51" r="0" b="-50"/>
              </a:stretch>
            </a:blipFill>
          </p:spPr>
        </p:sp>
      </p:grpSp>
      <p:grpSp>
        <p:nvGrpSpPr>
          <p:cNvPr name="Group 106" id="106"/>
          <p:cNvGrpSpPr/>
          <p:nvPr/>
        </p:nvGrpSpPr>
        <p:grpSpPr>
          <a:xfrm rot="0">
            <a:off x="11670640" y="7005933"/>
            <a:ext cx="4095750" cy="1020861"/>
            <a:chOff x="0" y="0"/>
            <a:chExt cx="5461000" cy="1361148"/>
          </a:xfrm>
        </p:grpSpPr>
        <p:sp>
          <p:nvSpPr>
            <p:cNvPr name="Freeform 107" id="107"/>
            <p:cNvSpPr/>
            <p:nvPr/>
          </p:nvSpPr>
          <p:spPr>
            <a:xfrm flipH="false" flipV="false" rot="0">
              <a:off x="0" y="0"/>
              <a:ext cx="5461000" cy="1361186"/>
            </a:xfrm>
            <a:custGeom>
              <a:avLst/>
              <a:gdLst/>
              <a:ahLst/>
              <a:cxnLst/>
              <a:rect r="r" b="b" t="t" l="l"/>
              <a:pathLst>
                <a:path h="1361186" w="5461000">
                  <a:moveTo>
                    <a:pt x="0" y="0"/>
                  </a:moveTo>
                  <a:lnTo>
                    <a:pt x="5461000" y="0"/>
                  </a:lnTo>
                  <a:lnTo>
                    <a:pt x="5461000" y="1361186"/>
                  </a:lnTo>
                  <a:lnTo>
                    <a:pt x="0" y="1361186"/>
                  </a:lnTo>
                  <a:close/>
                </a:path>
              </a:pathLst>
            </a:custGeom>
            <a:blipFill>
              <a:blip r:embed="rId3">
                <a:alphaModFix amt="0"/>
              </a:blip>
              <a:stretch>
                <a:fillRect l="0" t="-28119" r="0" b="-28117"/>
              </a:stretch>
            </a:blipFill>
          </p:spPr>
        </p:sp>
      </p:grpSp>
      <p:grpSp>
        <p:nvGrpSpPr>
          <p:cNvPr name="Group 108" id="108"/>
          <p:cNvGrpSpPr/>
          <p:nvPr/>
        </p:nvGrpSpPr>
        <p:grpSpPr>
          <a:xfrm rot="0">
            <a:off x="11670640" y="7005933"/>
            <a:ext cx="4095750" cy="1020861"/>
            <a:chOff x="0" y="0"/>
            <a:chExt cx="5461000" cy="1361148"/>
          </a:xfrm>
        </p:grpSpPr>
        <p:sp>
          <p:nvSpPr>
            <p:cNvPr name="Freeform 109" id="109"/>
            <p:cNvSpPr/>
            <p:nvPr/>
          </p:nvSpPr>
          <p:spPr>
            <a:xfrm flipH="false" flipV="false" rot="0">
              <a:off x="0" y="0"/>
              <a:ext cx="5460995" cy="1361148"/>
            </a:xfrm>
            <a:custGeom>
              <a:avLst/>
              <a:gdLst/>
              <a:ahLst/>
              <a:cxnLst/>
              <a:rect r="r" b="b" t="t" l="l"/>
              <a:pathLst>
                <a:path h="1361148" w="5460995">
                  <a:moveTo>
                    <a:pt x="0" y="0"/>
                  </a:moveTo>
                  <a:lnTo>
                    <a:pt x="5460995" y="0"/>
                  </a:lnTo>
                  <a:lnTo>
                    <a:pt x="5460995" y="1361148"/>
                  </a:lnTo>
                  <a:lnTo>
                    <a:pt x="0" y="1361148"/>
                  </a:lnTo>
                  <a:close/>
                </a:path>
              </a:pathLst>
            </a:custGeom>
            <a:blipFill>
              <a:blip r:embed="rId4">
                <a:alphaModFix amt="0"/>
              </a:blip>
              <a:stretch>
                <a:fillRect l="0" t="-28175" r="0" b="-28175"/>
              </a:stretch>
            </a:blipFill>
          </p:spPr>
        </p:sp>
        <p:sp>
          <p:nvSpPr>
            <p:cNvPr name="TextBox 110" id="110"/>
            <p:cNvSpPr txBox="true"/>
            <p:nvPr/>
          </p:nvSpPr>
          <p:spPr>
            <a:xfrm>
              <a:off x="0" y="0"/>
              <a:ext cx="5461000" cy="1361148"/>
            </a:xfrm>
            <a:prstGeom prst="rect">
              <a:avLst/>
            </a:prstGeom>
          </p:spPr>
          <p:txBody>
            <a:bodyPr anchor="ctr" rtlCol="false" tIns="0" lIns="0" bIns="0" rIns="0"/>
            <a:lstStyle/>
            <a:p>
              <a:pPr algn="l">
                <a:lnSpc>
                  <a:spcPts val="2250"/>
                </a:lnSpc>
              </a:pPr>
              <a:r>
                <a:rPr lang="en-US" sz="1899">
                  <a:solidFill>
                    <a:srgbClr val="5F5F5F"/>
                  </a:solidFill>
                  <a:latin typeface="TT Commons Pro"/>
                  <a:ea typeface="TT Commons Pro"/>
                  <a:cs typeface="TT Commons Pro"/>
                  <a:sym typeface="TT Commons Pro"/>
                </a:rPr>
                <a:t>Used to build interactive graphs</a:t>
              </a:r>
            </a:p>
            <a:p>
              <a:pPr algn="l">
                <a:lnSpc>
                  <a:spcPts val="2250"/>
                </a:lnSpc>
              </a:pPr>
              <a:r>
                <a:rPr lang="en-US" sz="1899">
                  <a:solidFill>
                    <a:srgbClr val="5F5F5F"/>
                  </a:solidFill>
                  <a:latin typeface="TT Commons Pro"/>
                  <a:ea typeface="TT Commons Pro"/>
                  <a:cs typeface="TT Commons Pro"/>
                  <a:sym typeface="TT Commons Pro"/>
                </a:rPr>
                <a:t>and dashboards for data</a:t>
              </a:r>
            </a:p>
            <a:p>
              <a:pPr algn="l">
                <a:lnSpc>
                  <a:spcPts val="2250"/>
                </a:lnSpc>
              </a:pPr>
              <a:r>
                <a:rPr lang="en-US" sz="1899">
                  <a:solidFill>
                    <a:srgbClr val="5F5F5F"/>
                  </a:solidFill>
                  <a:latin typeface="TT Commons Pro"/>
                  <a:ea typeface="TT Commons Pro"/>
                  <a:cs typeface="TT Commons Pro"/>
                  <a:sym typeface="TT Commons Pro"/>
                </a:rPr>
                <a:t>analysis and visualization.</a:t>
              </a:r>
            </a:p>
          </p:txBody>
        </p:sp>
      </p:grpSp>
      <p:grpSp>
        <p:nvGrpSpPr>
          <p:cNvPr name="Group 111" id="111"/>
          <p:cNvGrpSpPr/>
          <p:nvPr/>
        </p:nvGrpSpPr>
        <p:grpSpPr>
          <a:xfrm rot="0">
            <a:off x="12885506" y="5900899"/>
            <a:ext cx="1608363" cy="394192"/>
            <a:chOff x="0" y="0"/>
            <a:chExt cx="2144484" cy="525590"/>
          </a:xfrm>
        </p:grpSpPr>
        <p:sp>
          <p:nvSpPr>
            <p:cNvPr name="Freeform 112" id="112"/>
            <p:cNvSpPr/>
            <p:nvPr/>
          </p:nvSpPr>
          <p:spPr>
            <a:xfrm flipH="false" flipV="false" rot="0">
              <a:off x="0" y="0"/>
              <a:ext cx="2144522" cy="525526"/>
            </a:xfrm>
            <a:custGeom>
              <a:avLst/>
              <a:gdLst/>
              <a:ahLst/>
              <a:cxnLst/>
              <a:rect r="r" b="b" t="t" l="l"/>
              <a:pathLst>
                <a:path h="525526" w="2144522">
                  <a:moveTo>
                    <a:pt x="0" y="0"/>
                  </a:moveTo>
                  <a:lnTo>
                    <a:pt x="2144522" y="0"/>
                  </a:lnTo>
                  <a:lnTo>
                    <a:pt x="2144522" y="525526"/>
                  </a:lnTo>
                  <a:lnTo>
                    <a:pt x="0" y="525526"/>
                  </a:lnTo>
                  <a:close/>
                </a:path>
              </a:pathLst>
            </a:custGeom>
            <a:blipFill>
              <a:blip r:embed="rId3">
                <a:alphaModFix amt="0"/>
              </a:blip>
              <a:stretch>
                <a:fillRect l="0" t="-29451" r="1" b="-29461"/>
              </a:stretch>
            </a:blipFill>
          </p:spPr>
        </p:sp>
      </p:grpSp>
      <p:grpSp>
        <p:nvGrpSpPr>
          <p:cNvPr name="Group 113" id="113"/>
          <p:cNvGrpSpPr/>
          <p:nvPr/>
        </p:nvGrpSpPr>
        <p:grpSpPr>
          <a:xfrm rot="0">
            <a:off x="12885506" y="5958049"/>
            <a:ext cx="1608372" cy="337042"/>
            <a:chOff x="0" y="0"/>
            <a:chExt cx="2144497" cy="449390"/>
          </a:xfrm>
        </p:grpSpPr>
        <p:sp>
          <p:nvSpPr>
            <p:cNvPr name="Freeform 114" id="114"/>
            <p:cNvSpPr/>
            <p:nvPr/>
          </p:nvSpPr>
          <p:spPr>
            <a:xfrm flipH="false" flipV="false" rot="0">
              <a:off x="0" y="0"/>
              <a:ext cx="2144496" cy="449387"/>
            </a:xfrm>
            <a:custGeom>
              <a:avLst/>
              <a:gdLst/>
              <a:ahLst/>
              <a:cxnLst/>
              <a:rect r="r" b="b" t="t" l="l"/>
              <a:pathLst>
                <a:path h="449387" w="2144496">
                  <a:moveTo>
                    <a:pt x="0" y="0"/>
                  </a:moveTo>
                  <a:lnTo>
                    <a:pt x="2144496" y="0"/>
                  </a:lnTo>
                  <a:lnTo>
                    <a:pt x="2144496" y="449387"/>
                  </a:lnTo>
                  <a:lnTo>
                    <a:pt x="0" y="449387"/>
                  </a:lnTo>
                  <a:close/>
                </a:path>
              </a:pathLst>
            </a:custGeom>
            <a:blipFill>
              <a:blip r:embed="rId4">
                <a:alphaModFix amt="0"/>
              </a:blip>
              <a:stretch>
                <a:fillRect l="0" t="-42983" r="0" b="-42983"/>
              </a:stretch>
            </a:blipFill>
          </p:spPr>
        </p:sp>
        <p:sp>
          <p:nvSpPr>
            <p:cNvPr name="TextBox 115" id="115"/>
            <p:cNvSpPr txBox="true"/>
            <p:nvPr/>
          </p:nvSpPr>
          <p:spPr>
            <a:xfrm>
              <a:off x="0" y="76200"/>
              <a:ext cx="2144497" cy="373190"/>
            </a:xfrm>
            <a:prstGeom prst="rect">
              <a:avLst/>
            </a:prstGeom>
          </p:spPr>
          <p:txBody>
            <a:bodyPr anchor="ctr" rtlCol="false" tIns="0" lIns="0" bIns="0" rIns="0"/>
            <a:lstStyle/>
            <a:p>
              <a:pPr algn="l">
                <a:lnSpc>
                  <a:spcPts val="1691"/>
                </a:lnSpc>
              </a:pPr>
              <a:r>
                <a:rPr lang="en-US" sz="2100" b="true">
                  <a:solidFill>
                    <a:srgbClr val="494949"/>
                  </a:solidFill>
                  <a:latin typeface="Georgia Bold"/>
                  <a:ea typeface="Georgia Bold"/>
                  <a:cs typeface="Georgia Bold"/>
                  <a:sym typeface="Georgia Bold"/>
                </a:rPr>
                <a:t>Streamlit</a:t>
              </a:r>
            </a:p>
          </p:txBody>
        </p:sp>
      </p:grpSp>
      <p:sp>
        <p:nvSpPr>
          <p:cNvPr name="Freeform 116" id="116"/>
          <p:cNvSpPr/>
          <p:nvPr/>
        </p:nvSpPr>
        <p:spPr>
          <a:xfrm flipH="false" flipV="false" rot="0">
            <a:off x="7216216" y="5123450"/>
            <a:ext cx="3986889" cy="3170215"/>
          </a:xfrm>
          <a:custGeom>
            <a:avLst/>
            <a:gdLst/>
            <a:ahLst/>
            <a:cxnLst/>
            <a:rect r="r" b="b" t="t" l="l"/>
            <a:pathLst>
              <a:path h="3170215" w="3986889">
                <a:moveTo>
                  <a:pt x="0" y="0"/>
                </a:moveTo>
                <a:lnTo>
                  <a:pt x="3986889" y="0"/>
                </a:lnTo>
                <a:lnTo>
                  <a:pt x="3986889" y="3170215"/>
                </a:lnTo>
                <a:lnTo>
                  <a:pt x="0" y="3170215"/>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117" id="117"/>
          <p:cNvGrpSpPr/>
          <p:nvPr/>
        </p:nvGrpSpPr>
        <p:grpSpPr>
          <a:xfrm rot="0">
            <a:off x="8728367" y="6453302"/>
            <a:ext cx="452056" cy="29146"/>
            <a:chOff x="0" y="0"/>
            <a:chExt cx="602742" cy="38862"/>
          </a:xfrm>
        </p:grpSpPr>
        <p:sp>
          <p:nvSpPr>
            <p:cNvPr name="Freeform 118" id="118" descr="preencoded.png"/>
            <p:cNvSpPr/>
            <p:nvPr/>
          </p:nvSpPr>
          <p:spPr>
            <a:xfrm flipH="false" flipV="false" rot="0">
              <a:off x="0" y="0"/>
              <a:ext cx="602742" cy="38862"/>
            </a:xfrm>
            <a:custGeom>
              <a:avLst/>
              <a:gdLst/>
              <a:ahLst/>
              <a:cxnLst/>
              <a:rect r="r" b="b" t="t" l="l"/>
              <a:pathLst>
                <a:path h="38862" w="602742">
                  <a:moveTo>
                    <a:pt x="0" y="0"/>
                  </a:moveTo>
                  <a:lnTo>
                    <a:pt x="602742" y="0"/>
                  </a:lnTo>
                  <a:lnTo>
                    <a:pt x="602742" y="38862"/>
                  </a:lnTo>
                  <a:lnTo>
                    <a:pt x="0" y="38862"/>
                  </a:lnTo>
                  <a:lnTo>
                    <a:pt x="0" y="0"/>
                  </a:lnTo>
                  <a:close/>
                </a:path>
              </a:pathLst>
            </a:custGeom>
            <a:blipFill>
              <a:blip r:embed="rId27"/>
              <a:stretch>
                <a:fillRect l="-2656" t="0" r="-2654" b="0"/>
              </a:stretch>
            </a:blipFill>
          </p:spPr>
        </p:sp>
      </p:grpSp>
      <p:grpSp>
        <p:nvGrpSpPr>
          <p:cNvPr name="Group 119" id="119"/>
          <p:cNvGrpSpPr/>
          <p:nvPr/>
        </p:nvGrpSpPr>
        <p:grpSpPr>
          <a:xfrm rot="0">
            <a:off x="7561669" y="5519947"/>
            <a:ext cx="926020" cy="1013555"/>
            <a:chOff x="0" y="0"/>
            <a:chExt cx="1234694" cy="1351407"/>
          </a:xfrm>
        </p:grpSpPr>
        <p:sp>
          <p:nvSpPr>
            <p:cNvPr name="Freeform 120" id="120" descr="preencoded.png"/>
            <p:cNvSpPr/>
            <p:nvPr/>
          </p:nvSpPr>
          <p:spPr>
            <a:xfrm flipH="false" flipV="false" rot="0">
              <a:off x="0" y="0"/>
              <a:ext cx="1234694" cy="1351407"/>
            </a:xfrm>
            <a:custGeom>
              <a:avLst/>
              <a:gdLst/>
              <a:ahLst/>
              <a:cxnLst/>
              <a:rect r="r" b="b" t="t" l="l"/>
              <a:pathLst>
                <a:path h="1351407" w="1234694">
                  <a:moveTo>
                    <a:pt x="0" y="0"/>
                  </a:moveTo>
                  <a:lnTo>
                    <a:pt x="1234694" y="0"/>
                  </a:lnTo>
                  <a:lnTo>
                    <a:pt x="1234694" y="1351407"/>
                  </a:lnTo>
                  <a:lnTo>
                    <a:pt x="0" y="1351407"/>
                  </a:lnTo>
                  <a:lnTo>
                    <a:pt x="0" y="0"/>
                  </a:lnTo>
                  <a:close/>
                </a:path>
              </a:pathLst>
            </a:custGeom>
            <a:blipFill>
              <a:blip r:embed="rId28"/>
              <a:stretch>
                <a:fillRect l="0" t="-51" r="0" b="-50"/>
              </a:stretch>
            </a:blipFill>
          </p:spPr>
        </p:sp>
      </p:grpSp>
      <p:grpSp>
        <p:nvGrpSpPr>
          <p:cNvPr name="Group 121" id="121"/>
          <p:cNvGrpSpPr/>
          <p:nvPr/>
        </p:nvGrpSpPr>
        <p:grpSpPr>
          <a:xfrm rot="0">
            <a:off x="7718441" y="7005933"/>
            <a:ext cx="2982373" cy="729844"/>
            <a:chOff x="0" y="0"/>
            <a:chExt cx="3976497" cy="973125"/>
          </a:xfrm>
        </p:grpSpPr>
        <p:sp>
          <p:nvSpPr>
            <p:cNvPr name="Freeform 122" id="122"/>
            <p:cNvSpPr/>
            <p:nvPr/>
          </p:nvSpPr>
          <p:spPr>
            <a:xfrm flipH="false" flipV="false" rot="0">
              <a:off x="0" y="0"/>
              <a:ext cx="3976497" cy="973074"/>
            </a:xfrm>
            <a:custGeom>
              <a:avLst/>
              <a:gdLst/>
              <a:ahLst/>
              <a:cxnLst/>
              <a:rect r="r" b="b" t="t" l="l"/>
              <a:pathLst>
                <a:path h="973074" w="3976497">
                  <a:moveTo>
                    <a:pt x="0" y="0"/>
                  </a:moveTo>
                  <a:lnTo>
                    <a:pt x="3976497" y="0"/>
                  </a:lnTo>
                  <a:lnTo>
                    <a:pt x="3976497" y="973074"/>
                  </a:lnTo>
                  <a:lnTo>
                    <a:pt x="0" y="973074"/>
                  </a:lnTo>
                  <a:close/>
                </a:path>
              </a:pathLst>
            </a:custGeom>
            <a:blipFill>
              <a:blip r:embed="rId3">
                <a:alphaModFix amt="0"/>
              </a:blip>
              <a:stretch>
                <a:fillRect l="0" t="-29567" r="0" b="-29573"/>
              </a:stretch>
            </a:blipFill>
          </p:spPr>
        </p:sp>
      </p:grpSp>
      <p:grpSp>
        <p:nvGrpSpPr>
          <p:cNvPr name="Group 123" id="123"/>
          <p:cNvGrpSpPr/>
          <p:nvPr/>
        </p:nvGrpSpPr>
        <p:grpSpPr>
          <a:xfrm rot="0">
            <a:off x="7718441" y="6991645"/>
            <a:ext cx="2982373" cy="744141"/>
            <a:chOff x="0" y="0"/>
            <a:chExt cx="3976497" cy="992188"/>
          </a:xfrm>
        </p:grpSpPr>
        <p:sp>
          <p:nvSpPr>
            <p:cNvPr name="Freeform 124" id="124"/>
            <p:cNvSpPr/>
            <p:nvPr/>
          </p:nvSpPr>
          <p:spPr>
            <a:xfrm flipH="false" flipV="false" rot="0">
              <a:off x="0" y="0"/>
              <a:ext cx="3976497" cy="992186"/>
            </a:xfrm>
            <a:custGeom>
              <a:avLst/>
              <a:gdLst/>
              <a:ahLst/>
              <a:cxnLst/>
              <a:rect r="r" b="b" t="t" l="l"/>
              <a:pathLst>
                <a:path h="992186" w="3976497">
                  <a:moveTo>
                    <a:pt x="0" y="0"/>
                  </a:moveTo>
                  <a:lnTo>
                    <a:pt x="3976497" y="0"/>
                  </a:lnTo>
                  <a:lnTo>
                    <a:pt x="3976497" y="992186"/>
                  </a:lnTo>
                  <a:lnTo>
                    <a:pt x="0" y="992186"/>
                  </a:lnTo>
                  <a:close/>
                </a:path>
              </a:pathLst>
            </a:custGeom>
            <a:blipFill>
              <a:blip r:embed="rId4">
                <a:alphaModFix amt="0"/>
              </a:blip>
              <a:stretch>
                <a:fillRect l="0" t="-28092" r="0" b="-28092"/>
              </a:stretch>
            </a:blipFill>
          </p:spPr>
        </p:sp>
        <p:sp>
          <p:nvSpPr>
            <p:cNvPr name="TextBox 125" id="125"/>
            <p:cNvSpPr txBox="true"/>
            <p:nvPr/>
          </p:nvSpPr>
          <p:spPr>
            <a:xfrm>
              <a:off x="0" y="-19050"/>
              <a:ext cx="3976497" cy="1011238"/>
            </a:xfrm>
            <a:prstGeom prst="rect">
              <a:avLst/>
            </a:prstGeom>
          </p:spPr>
          <p:txBody>
            <a:bodyPr anchor="ctr" rtlCol="false" tIns="0" lIns="0" bIns="0" rIns="0"/>
            <a:lstStyle/>
            <a:p>
              <a:pPr algn="l">
                <a:lnSpc>
                  <a:spcPts val="2598"/>
                </a:lnSpc>
              </a:pPr>
              <a:r>
                <a:rPr lang="en-US" sz="1902">
                  <a:solidFill>
                    <a:srgbClr val="676767"/>
                  </a:solidFill>
                  <a:latin typeface="TT Commons Pro"/>
                  <a:ea typeface="TT Commons Pro"/>
                  <a:cs typeface="TT Commons Pro"/>
                  <a:sym typeface="TT Commons Pro"/>
                </a:rPr>
                <a:t>Interactive analysis and</a:t>
              </a:r>
            </a:p>
            <a:p>
              <a:pPr algn="l">
                <a:lnSpc>
                  <a:spcPts val="2598"/>
                </a:lnSpc>
              </a:pPr>
              <a:r>
                <a:rPr lang="en-US" sz="1902">
                  <a:solidFill>
                    <a:srgbClr val="676767"/>
                  </a:solidFill>
                  <a:latin typeface="TT Commons Pro"/>
                  <a:ea typeface="TT Commons Pro"/>
                  <a:cs typeface="TT Commons Pro"/>
                  <a:sym typeface="TT Commons Pro"/>
                </a:rPr>
                <a:t>iterative experimentation.</a:t>
              </a:r>
            </a:p>
          </p:txBody>
        </p:sp>
      </p:grpSp>
      <p:grpSp>
        <p:nvGrpSpPr>
          <p:cNvPr name="Group 126" id="126"/>
          <p:cNvGrpSpPr/>
          <p:nvPr/>
        </p:nvGrpSpPr>
        <p:grpSpPr>
          <a:xfrm rot="0">
            <a:off x="8587969" y="5868791"/>
            <a:ext cx="2628767" cy="401060"/>
            <a:chOff x="0" y="0"/>
            <a:chExt cx="3505022" cy="534746"/>
          </a:xfrm>
        </p:grpSpPr>
        <p:sp>
          <p:nvSpPr>
            <p:cNvPr name="Freeform 127" id="127"/>
            <p:cNvSpPr/>
            <p:nvPr/>
          </p:nvSpPr>
          <p:spPr>
            <a:xfrm flipH="false" flipV="false" rot="0">
              <a:off x="0" y="0"/>
              <a:ext cx="3505073" cy="534797"/>
            </a:xfrm>
            <a:custGeom>
              <a:avLst/>
              <a:gdLst/>
              <a:ahLst/>
              <a:cxnLst/>
              <a:rect r="r" b="b" t="t" l="l"/>
              <a:pathLst>
                <a:path h="534797" w="3505073">
                  <a:moveTo>
                    <a:pt x="0" y="0"/>
                  </a:moveTo>
                  <a:lnTo>
                    <a:pt x="3505073" y="0"/>
                  </a:lnTo>
                  <a:lnTo>
                    <a:pt x="3505073" y="534797"/>
                  </a:lnTo>
                  <a:lnTo>
                    <a:pt x="0" y="534797"/>
                  </a:lnTo>
                  <a:close/>
                </a:path>
              </a:pathLst>
            </a:custGeom>
            <a:blipFill>
              <a:blip r:embed="rId3">
                <a:alphaModFix amt="0"/>
              </a:blip>
              <a:stretch>
                <a:fillRect l="0" t="-77620" r="1" b="-77608"/>
              </a:stretch>
            </a:blipFill>
          </p:spPr>
        </p:sp>
      </p:grpSp>
      <p:grpSp>
        <p:nvGrpSpPr>
          <p:cNvPr name="Group 128" id="128"/>
          <p:cNvGrpSpPr/>
          <p:nvPr/>
        </p:nvGrpSpPr>
        <p:grpSpPr>
          <a:xfrm rot="0">
            <a:off x="8587969" y="5854503"/>
            <a:ext cx="2628767" cy="415338"/>
            <a:chOff x="0" y="0"/>
            <a:chExt cx="3505022" cy="553784"/>
          </a:xfrm>
        </p:grpSpPr>
        <p:sp>
          <p:nvSpPr>
            <p:cNvPr name="Freeform 129" id="129"/>
            <p:cNvSpPr/>
            <p:nvPr/>
          </p:nvSpPr>
          <p:spPr>
            <a:xfrm flipH="false" flipV="false" rot="0">
              <a:off x="0" y="0"/>
              <a:ext cx="3505022" cy="553787"/>
            </a:xfrm>
            <a:custGeom>
              <a:avLst/>
              <a:gdLst/>
              <a:ahLst/>
              <a:cxnLst/>
              <a:rect r="r" b="b" t="t" l="l"/>
              <a:pathLst>
                <a:path h="553787" w="3505022">
                  <a:moveTo>
                    <a:pt x="0" y="0"/>
                  </a:moveTo>
                  <a:lnTo>
                    <a:pt x="3505022" y="0"/>
                  </a:lnTo>
                  <a:lnTo>
                    <a:pt x="3505022" y="553787"/>
                  </a:lnTo>
                  <a:lnTo>
                    <a:pt x="0" y="553787"/>
                  </a:lnTo>
                  <a:close/>
                </a:path>
              </a:pathLst>
            </a:custGeom>
            <a:blipFill>
              <a:blip r:embed="rId4">
                <a:alphaModFix amt="0"/>
              </a:blip>
              <a:stretch>
                <a:fillRect l="0" t="-73324" r="0" b="-73324"/>
              </a:stretch>
            </a:blipFill>
          </p:spPr>
        </p:sp>
        <p:sp>
          <p:nvSpPr>
            <p:cNvPr name="TextBox 130" id="130"/>
            <p:cNvSpPr txBox="true"/>
            <p:nvPr/>
          </p:nvSpPr>
          <p:spPr>
            <a:xfrm>
              <a:off x="0" y="-19050"/>
              <a:ext cx="3505022" cy="572834"/>
            </a:xfrm>
            <a:prstGeom prst="rect">
              <a:avLst/>
            </a:prstGeom>
          </p:spPr>
          <p:txBody>
            <a:bodyPr anchor="ctr" rtlCol="false" tIns="0" lIns="0" bIns="0" rIns="0"/>
            <a:lstStyle/>
            <a:p>
              <a:pPr algn="l">
                <a:lnSpc>
                  <a:spcPts val="2625"/>
                </a:lnSpc>
              </a:pPr>
              <a:r>
                <a:rPr lang="en-US" sz="2100" b="true">
                  <a:solidFill>
                    <a:srgbClr val="474747"/>
                  </a:solidFill>
                  <a:latin typeface="Georgia Bold"/>
                  <a:ea typeface="Georgia Bold"/>
                  <a:cs typeface="Georgia Bold"/>
                  <a:sym typeface="Georgia Bold"/>
                </a:rPr>
                <a:t>Jupyter Notebook</a:t>
              </a:r>
            </a:p>
          </p:txBody>
        </p:sp>
      </p:grpSp>
      <p:grpSp>
        <p:nvGrpSpPr>
          <p:cNvPr name="Group 131" id="131"/>
          <p:cNvGrpSpPr/>
          <p:nvPr/>
        </p:nvGrpSpPr>
        <p:grpSpPr>
          <a:xfrm rot="0">
            <a:off x="7795003" y="5957459"/>
            <a:ext cx="481260" cy="232753"/>
            <a:chOff x="0" y="0"/>
            <a:chExt cx="641680" cy="310337"/>
          </a:xfrm>
        </p:grpSpPr>
        <p:sp>
          <p:nvSpPr>
            <p:cNvPr name="Freeform 132" id="132"/>
            <p:cNvSpPr/>
            <p:nvPr/>
          </p:nvSpPr>
          <p:spPr>
            <a:xfrm flipH="false" flipV="false" rot="0">
              <a:off x="0" y="0"/>
              <a:ext cx="641731" cy="310388"/>
            </a:xfrm>
            <a:custGeom>
              <a:avLst/>
              <a:gdLst/>
              <a:ahLst/>
              <a:cxnLst/>
              <a:rect r="r" b="b" t="t" l="l"/>
              <a:pathLst>
                <a:path h="310388" w="641731">
                  <a:moveTo>
                    <a:pt x="0" y="0"/>
                  </a:moveTo>
                  <a:lnTo>
                    <a:pt x="641731" y="0"/>
                  </a:lnTo>
                  <a:lnTo>
                    <a:pt x="641731" y="310388"/>
                  </a:lnTo>
                  <a:lnTo>
                    <a:pt x="0" y="310388"/>
                  </a:lnTo>
                  <a:close/>
                </a:path>
              </a:pathLst>
            </a:custGeom>
            <a:blipFill>
              <a:blip r:embed="rId3">
                <a:alphaModFix amt="0"/>
              </a:blip>
              <a:stretch>
                <a:fillRect l="-12091" t="0" r="-12085" b="16"/>
              </a:stretch>
            </a:blipFill>
          </p:spPr>
        </p:sp>
      </p:grpSp>
      <p:grpSp>
        <p:nvGrpSpPr>
          <p:cNvPr name="Group 133" id="133"/>
          <p:cNvGrpSpPr/>
          <p:nvPr/>
        </p:nvGrpSpPr>
        <p:grpSpPr>
          <a:xfrm rot="0">
            <a:off x="7795003" y="5978890"/>
            <a:ext cx="481260" cy="211312"/>
            <a:chOff x="0" y="0"/>
            <a:chExt cx="641680" cy="281750"/>
          </a:xfrm>
        </p:grpSpPr>
        <p:sp>
          <p:nvSpPr>
            <p:cNvPr name="Freeform 134" id="134"/>
            <p:cNvSpPr/>
            <p:nvPr/>
          </p:nvSpPr>
          <p:spPr>
            <a:xfrm flipH="false" flipV="false" rot="0">
              <a:off x="0" y="0"/>
              <a:ext cx="641680" cy="281752"/>
            </a:xfrm>
            <a:custGeom>
              <a:avLst/>
              <a:gdLst/>
              <a:ahLst/>
              <a:cxnLst/>
              <a:rect r="r" b="b" t="t" l="l"/>
              <a:pathLst>
                <a:path h="281752" w="641680">
                  <a:moveTo>
                    <a:pt x="0" y="0"/>
                  </a:moveTo>
                  <a:lnTo>
                    <a:pt x="641680" y="0"/>
                  </a:lnTo>
                  <a:lnTo>
                    <a:pt x="641680" y="281752"/>
                  </a:lnTo>
                  <a:lnTo>
                    <a:pt x="0" y="281752"/>
                  </a:lnTo>
                  <a:close/>
                </a:path>
              </a:pathLst>
            </a:custGeom>
            <a:blipFill>
              <a:blip r:embed="rId4">
                <a:alphaModFix amt="0"/>
              </a:blip>
              <a:stretch>
                <a:fillRect l="-6335" t="0" r="-6335" b="0"/>
              </a:stretch>
            </a:blipFill>
          </p:spPr>
        </p:sp>
        <p:sp>
          <p:nvSpPr>
            <p:cNvPr name="TextBox 135" id="135"/>
            <p:cNvSpPr txBox="true"/>
            <p:nvPr/>
          </p:nvSpPr>
          <p:spPr>
            <a:xfrm>
              <a:off x="0" y="28575"/>
              <a:ext cx="641680" cy="253175"/>
            </a:xfrm>
            <a:prstGeom prst="rect">
              <a:avLst/>
            </a:prstGeom>
          </p:spPr>
          <p:txBody>
            <a:bodyPr anchor="ctr" rtlCol="false" tIns="0" lIns="0" bIns="0" rIns="0"/>
            <a:lstStyle/>
            <a:p>
              <a:pPr algn="l">
                <a:lnSpc>
                  <a:spcPts val="1033"/>
                </a:lnSpc>
              </a:pPr>
              <a:r>
                <a:rPr lang="en-US" sz="1108">
                  <a:solidFill>
                    <a:srgbClr val="7C7D7D"/>
                  </a:solidFill>
                  <a:latin typeface="TT Commons Pro"/>
                  <a:ea typeface="TT Commons Pro"/>
                  <a:cs typeface="TT Commons Pro"/>
                  <a:sym typeface="TT Commons Pro"/>
                </a:rPr>
                <a:t>jupyter</a:t>
              </a:r>
            </a:p>
          </p:txBody>
        </p:sp>
      </p:grpSp>
      <p:grpSp>
        <p:nvGrpSpPr>
          <p:cNvPr name="Group 136" id="136"/>
          <p:cNvGrpSpPr/>
          <p:nvPr/>
        </p:nvGrpSpPr>
        <p:grpSpPr>
          <a:xfrm rot="0">
            <a:off x="131254" y="7167905"/>
            <a:ext cx="6001226" cy="3120962"/>
            <a:chOff x="0" y="0"/>
            <a:chExt cx="8001635" cy="4161282"/>
          </a:xfrm>
        </p:grpSpPr>
        <p:sp>
          <p:nvSpPr>
            <p:cNvPr name="Freeform 137" id="137" descr="preencoded.png"/>
            <p:cNvSpPr/>
            <p:nvPr/>
          </p:nvSpPr>
          <p:spPr>
            <a:xfrm flipH="false" flipV="false" rot="0">
              <a:off x="0" y="0"/>
              <a:ext cx="8001635" cy="4161282"/>
            </a:xfrm>
            <a:custGeom>
              <a:avLst/>
              <a:gdLst/>
              <a:ahLst/>
              <a:cxnLst/>
              <a:rect r="r" b="b" t="t" l="l"/>
              <a:pathLst>
                <a:path h="4161282" w="8001635">
                  <a:moveTo>
                    <a:pt x="0" y="0"/>
                  </a:moveTo>
                  <a:lnTo>
                    <a:pt x="8001635" y="0"/>
                  </a:lnTo>
                  <a:lnTo>
                    <a:pt x="8001635" y="4161282"/>
                  </a:lnTo>
                  <a:lnTo>
                    <a:pt x="0" y="4161282"/>
                  </a:lnTo>
                  <a:lnTo>
                    <a:pt x="0" y="0"/>
                  </a:lnTo>
                  <a:close/>
                </a:path>
              </a:pathLst>
            </a:custGeom>
            <a:blipFill>
              <a:blip r:embed="rId29"/>
              <a:stretch>
                <a:fillRect l="0" t="-83" r="0" b="-83"/>
              </a:stretch>
            </a:blipFill>
          </p:spPr>
        </p:sp>
      </p:grpSp>
      <p:grpSp>
        <p:nvGrpSpPr>
          <p:cNvPr name="Group 138" id="138"/>
          <p:cNvGrpSpPr/>
          <p:nvPr/>
        </p:nvGrpSpPr>
        <p:grpSpPr>
          <a:xfrm rot="0">
            <a:off x="3901145" y="8473145"/>
            <a:ext cx="641699" cy="721900"/>
            <a:chOff x="0" y="0"/>
            <a:chExt cx="855599" cy="962533"/>
          </a:xfrm>
        </p:grpSpPr>
        <p:sp>
          <p:nvSpPr>
            <p:cNvPr name="Freeform 139" id="139" descr="preencoded.png"/>
            <p:cNvSpPr/>
            <p:nvPr/>
          </p:nvSpPr>
          <p:spPr>
            <a:xfrm flipH="false" flipV="false" rot="0">
              <a:off x="0" y="0"/>
              <a:ext cx="855599" cy="962533"/>
            </a:xfrm>
            <a:custGeom>
              <a:avLst/>
              <a:gdLst/>
              <a:ahLst/>
              <a:cxnLst/>
              <a:rect r="r" b="b" t="t" l="l"/>
              <a:pathLst>
                <a:path h="962533" w="855599">
                  <a:moveTo>
                    <a:pt x="0" y="0"/>
                  </a:moveTo>
                  <a:lnTo>
                    <a:pt x="855599" y="0"/>
                  </a:lnTo>
                  <a:lnTo>
                    <a:pt x="855599" y="962533"/>
                  </a:lnTo>
                  <a:lnTo>
                    <a:pt x="0" y="962533"/>
                  </a:lnTo>
                  <a:lnTo>
                    <a:pt x="0" y="0"/>
                  </a:lnTo>
                  <a:close/>
                </a:path>
              </a:pathLst>
            </a:custGeom>
            <a:blipFill>
              <a:blip r:embed="rId30"/>
              <a:stretch>
                <a:fillRect l="-51" t="0" r="-51" b="0"/>
              </a:stretch>
            </a:blipFill>
          </p:spPr>
        </p:sp>
      </p:grpSp>
      <p:grpSp>
        <p:nvGrpSpPr>
          <p:cNvPr name="Group 140" id="140"/>
          <p:cNvGrpSpPr/>
          <p:nvPr/>
        </p:nvGrpSpPr>
        <p:grpSpPr>
          <a:xfrm rot="0">
            <a:off x="3252168" y="5155349"/>
            <a:ext cx="3828193" cy="3091720"/>
            <a:chOff x="0" y="0"/>
            <a:chExt cx="5104257" cy="4122293"/>
          </a:xfrm>
        </p:grpSpPr>
        <p:sp>
          <p:nvSpPr>
            <p:cNvPr name="Freeform 141" id="141" descr="preencoded.png"/>
            <p:cNvSpPr/>
            <p:nvPr/>
          </p:nvSpPr>
          <p:spPr>
            <a:xfrm flipH="false" flipV="false" rot="0">
              <a:off x="0" y="0"/>
              <a:ext cx="5104257" cy="4122293"/>
            </a:xfrm>
            <a:custGeom>
              <a:avLst/>
              <a:gdLst/>
              <a:ahLst/>
              <a:cxnLst/>
              <a:rect r="r" b="b" t="t" l="l"/>
              <a:pathLst>
                <a:path h="4122293" w="5104257">
                  <a:moveTo>
                    <a:pt x="0" y="0"/>
                  </a:moveTo>
                  <a:lnTo>
                    <a:pt x="5104257" y="0"/>
                  </a:lnTo>
                  <a:lnTo>
                    <a:pt x="5104257" y="4122293"/>
                  </a:lnTo>
                  <a:lnTo>
                    <a:pt x="0" y="4122293"/>
                  </a:lnTo>
                  <a:lnTo>
                    <a:pt x="0" y="0"/>
                  </a:lnTo>
                  <a:close/>
                </a:path>
              </a:pathLst>
            </a:custGeom>
            <a:blipFill>
              <a:blip r:embed="rId31"/>
              <a:stretch>
                <a:fillRect l="0" t="0" r="0" b="0"/>
              </a:stretch>
            </a:blipFill>
          </p:spPr>
        </p:sp>
      </p:grpSp>
      <p:grpSp>
        <p:nvGrpSpPr>
          <p:cNvPr name="Group 142" id="142"/>
          <p:cNvGrpSpPr/>
          <p:nvPr/>
        </p:nvGrpSpPr>
        <p:grpSpPr>
          <a:xfrm rot="0">
            <a:off x="4732420" y="6453302"/>
            <a:ext cx="444818" cy="29146"/>
            <a:chOff x="0" y="0"/>
            <a:chExt cx="593090" cy="38862"/>
          </a:xfrm>
        </p:grpSpPr>
        <p:sp>
          <p:nvSpPr>
            <p:cNvPr name="Freeform 143" id="143" descr="preencoded.png"/>
            <p:cNvSpPr/>
            <p:nvPr/>
          </p:nvSpPr>
          <p:spPr>
            <a:xfrm flipH="false" flipV="false" rot="0">
              <a:off x="0" y="0"/>
              <a:ext cx="593090" cy="38862"/>
            </a:xfrm>
            <a:custGeom>
              <a:avLst/>
              <a:gdLst/>
              <a:ahLst/>
              <a:cxnLst/>
              <a:rect r="r" b="b" t="t" l="l"/>
              <a:pathLst>
                <a:path h="38862" w="593090">
                  <a:moveTo>
                    <a:pt x="0" y="0"/>
                  </a:moveTo>
                  <a:lnTo>
                    <a:pt x="593090" y="0"/>
                  </a:lnTo>
                  <a:lnTo>
                    <a:pt x="593090" y="38862"/>
                  </a:lnTo>
                  <a:lnTo>
                    <a:pt x="0" y="38862"/>
                  </a:lnTo>
                  <a:lnTo>
                    <a:pt x="0" y="0"/>
                  </a:lnTo>
                  <a:close/>
                </a:path>
              </a:pathLst>
            </a:custGeom>
            <a:blipFill>
              <a:blip r:embed="rId32"/>
              <a:stretch>
                <a:fillRect l="-2967" t="0" r="-2965" b="0"/>
              </a:stretch>
            </a:blipFill>
          </p:spPr>
        </p:sp>
      </p:grpSp>
      <p:grpSp>
        <p:nvGrpSpPr>
          <p:cNvPr name="Group 144" id="144"/>
          <p:cNvGrpSpPr/>
          <p:nvPr/>
        </p:nvGrpSpPr>
        <p:grpSpPr>
          <a:xfrm rot="0">
            <a:off x="3580305" y="5519947"/>
            <a:ext cx="926020" cy="1013555"/>
            <a:chOff x="0" y="0"/>
            <a:chExt cx="1234694" cy="1351407"/>
          </a:xfrm>
        </p:grpSpPr>
        <p:sp>
          <p:nvSpPr>
            <p:cNvPr name="Freeform 145" id="145" descr="preencoded.png"/>
            <p:cNvSpPr/>
            <p:nvPr/>
          </p:nvSpPr>
          <p:spPr>
            <a:xfrm flipH="false" flipV="false" rot="0">
              <a:off x="0" y="0"/>
              <a:ext cx="1234694" cy="1351407"/>
            </a:xfrm>
            <a:custGeom>
              <a:avLst/>
              <a:gdLst/>
              <a:ahLst/>
              <a:cxnLst/>
              <a:rect r="r" b="b" t="t" l="l"/>
              <a:pathLst>
                <a:path h="1351407" w="1234694">
                  <a:moveTo>
                    <a:pt x="0" y="0"/>
                  </a:moveTo>
                  <a:lnTo>
                    <a:pt x="1234694" y="0"/>
                  </a:lnTo>
                  <a:lnTo>
                    <a:pt x="1234694" y="1351407"/>
                  </a:lnTo>
                  <a:lnTo>
                    <a:pt x="0" y="1351407"/>
                  </a:lnTo>
                  <a:lnTo>
                    <a:pt x="0" y="0"/>
                  </a:lnTo>
                  <a:close/>
                </a:path>
              </a:pathLst>
            </a:custGeom>
            <a:blipFill>
              <a:blip r:embed="rId33"/>
              <a:stretch>
                <a:fillRect l="0" t="-51" r="0" b="-50"/>
              </a:stretch>
            </a:blipFill>
          </p:spPr>
        </p:sp>
      </p:grpSp>
      <p:grpSp>
        <p:nvGrpSpPr>
          <p:cNvPr name="Group 146" id="146"/>
          <p:cNvGrpSpPr/>
          <p:nvPr/>
        </p:nvGrpSpPr>
        <p:grpSpPr>
          <a:xfrm rot="0">
            <a:off x="3645932" y="7037003"/>
            <a:ext cx="3050553" cy="678542"/>
            <a:chOff x="0" y="0"/>
            <a:chExt cx="4067404" cy="904723"/>
          </a:xfrm>
        </p:grpSpPr>
        <p:sp>
          <p:nvSpPr>
            <p:cNvPr name="Freeform 147" id="147"/>
            <p:cNvSpPr/>
            <p:nvPr/>
          </p:nvSpPr>
          <p:spPr>
            <a:xfrm flipH="false" flipV="false" rot="0">
              <a:off x="0" y="0"/>
              <a:ext cx="4067429" cy="904748"/>
            </a:xfrm>
            <a:custGeom>
              <a:avLst/>
              <a:gdLst/>
              <a:ahLst/>
              <a:cxnLst/>
              <a:rect r="r" b="b" t="t" l="l"/>
              <a:pathLst>
                <a:path h="904748" w="4067429">
                  <a:moveTo>
                    <a:pt x="0" y="0"/>
                  </a:moveTo>
                  <a:lnTo>
                    <a:pt x="4067429" y="0"/>
                  </a:lnTo>
                  <a:lnTo>
                    <a:pt x="4067429" y="904748"/>
                  </a:lnTo>
                  <a:lnTo>
                    <a:pt x="0" y="904748"/>
                  </a:lnTo>
                  <a:close/>
                </a:path>
              </a:pathLst>
            </a:custGeom>
            <a:blipFill>
              <a:blip r:embed="rId3">
                <a:alphaModFix amt="0"/>
              </a:blip>
              <a:stretch>
                <a:fillRect l="0" t="-37537" r="0" b="-37535"/>
              </a:stretch>
            </a:blipFill>
          </p:spPr>
        </p:sp>
      </p:grpSp>
      <p:grpSp>
        <p:nvGrpSpPr>
          <p:cNvPr name="Group 148" id="148"/>
          <p:cNvGrpSpPr/>
          <p:nvPr/>
        </p:nvGrpSpPr>
        <p:grpSpPr>
          <a:xfrm rot="0">
            <a:off x="3645932" y="7037003"/>
            <a:ext cx="3050553" cy="678542"/>
            <a:chOff x="0" y="0"/>
            <a:chExt cx="4067404" cy="904723"/>
          </a:xfrm>
        </p:grpSpPr>
        <p:sp>
          <p:nvSpPr>
            <p:cNvPr name="Freeform 149" id="149"/>
            <p:cNvSpPr/>
            <p:nvPr/>
          </p:nvSpPr>
          <p:spPr>
            <a:xfrm flipH="false" flipV="false" rot="0">
              <a:off x="0" y="0"/>
              <a:ext cx="4067404" cy="904717"/>
            </a:xfrm>
            <a:custGeom>
              <a:avLst/>
              <a:gdLst/>
              <a:ahLst/>
              <a:cxnLst/>
              <a:rect r="r" b="b" t="t" l="l"/>
              <a:pathLst>
                <a:path h="904717" w="4067404">
                  <a:moveTo>
                    <a:pt x="0" y="0"/>
                  </a:moveTo>
                  <a:lnTo>
                    <a:pt x="4067404" y="0"/>
                  </a:lnTo>
                  <a:lnTo>
                    <a:pt x="4067404" y="904717"/>
                  </a:lnTo>
                  <a:lnTo>
                    <a:pt x="0" y="904717"/>
                  </a:lnTo>
                  <a:close/>
                </a:path>
              </a:pathLst>
            </a:custGeom>
            <a:blipFill>
              <a:blip r:embed="rId4">
                <a:alphaModFix amt="0"/>
              </a:blip>
              <a:stretch>
                <a:fillRect l="0" t="-37600" r="0" b="-37600"/>
              </a:stretch>
            </a:blipFill>
          </p:spPr>
        </p:sp>
        <p:sp>
          <p:nvSpPr>
            <p:cNvPr name="TextBox 150" id="150"/>
            <p:cNvSpPr txBox="true"/>
            <p:nvPr/>
          </p:nvSpPr>
          <p:spPr>
            <a:xfrm>
              <a:off x="0" y="0"/>
              <a:ext cx="4067404" cy="904723"/>
            </a:xfrm>
            <a:prstGeom prst="rect">
              <a:avLst/>
            </a:prstGeom>
          </p:spPr>
          <p:txBody>
            <a:bodyPr anchor="ctr" rtlCol="false" tIns="0" lIns="0" bIns="0" rIns="0"/>
            <a:lstStyle/>
            <a:p>
              <a:pPr algn="l">
                <a:lnSpc>
                  <a:spcPts val="2248"/>
                </a:lnSpc>
              </a:pPr>
              <a:r>
                <a:rPr lang="en-US" sz="1899">
                  <a:solidFill>
                    <a:srgbClr val="646464"/>
                  </a:solidFill>
                  <a:latin typeface="TT Commons Pro"/>
                  <a:ea typeface="TT Commons Pro"/>
                  <a:cs typeface="TT Commons Pro"/>
                  <a:sym typeface="TT Commons Pro"/>
                </a:rPr>
                <a:t>Raw dataset storage and</a:t>
              </a:r>
            </a:p>
            <a:p>
              <a:pPr algn="l">
                <a:lnSpc>
                  <a:spcPts val="2248"/>
                </a:lnSpc>
              </a:pPr>
              <a:r>
                <a:rPr lang="en-US" sz="1899">
                  <a:solidFill>
                    <a:srgbClr val="646464"/>
                  </a:solidFill>
                  <a:latin typeface="TT Commons Pro"/>
                  <a:ea typeface="TT Commons Pro"/>
                  <a:cs typeface="TT Commons Pro"/>
                  <a:sym typeface="TT Commons Pro"/>
                </a:rPr>
                <a:t>initial inspection.</a:t>
              </a:r>
            </a:p>
          </p:txBody>
        </p:sp>
      </p:grpSp>
      <p:grpSp>
        <p:nvGrpSpPr>
          <p:cNvPr name="Group 151" id="151"/>
          <p:cNvGrpSpPr/>
          <p:nvPr/>
        </p:nvGrpSpPr>
        <p:grpSpPr>
          <a:xfrm rot="0">
            <a:off x="4641275" y="5920988"/>
            <a:ext cx="1567748" cy="393506"/>
            <a:chOff x="0" y="0"/>
            <a:chExt cx="2090331" cy="524675"/>
          </a:xfrm>
        </p:grpSpPr>
        <p:sp>
          <p:nvSpPr>
            <p:cNvPr name="Freeform 152" id="152"/>
            <p:cNvSpPr/>
            <p:nvPr/>
          </p:nvSpPr>
          <p:spPr>
            <a:xfrm flipH="false" flipV="false" rot="0">
              <a:off x="0" y="0"/>
              <a:ext cx="2090293" cy="524637"/>
            </a:xfrm>
            <a:custGeom>
              <a:avLst/>
              <a:gdLst/>
              <a:ahLst/>
              <a:cxnLst/>
              <a:rect r="r" b="b" t="t" l="l"/>
              <a:pathLst>
                <a:path h="524637" w="2090293">
                  <a:moveTo>
                    <a:pt x="0" y="0"/>
                  </a:moveTo>
                  <a:lnTo>
                    <a:pt x="2090293" y="0"/>
                  </a:lnTo>
                  <a:lnTo>
                    <a:pt x="2090293" y="524637"/>
                  </a:lnTo>
                  <a:lnTo>
                    <a:pt x="0" y="524637"/>
                  </a:lnTo>
                  <a:close/>
                </a:path>
              </a:pathLst>
            </a:custGeom>
            <a:blipFill>
              <a:blip r:embed="rId3">
                <a:alphaModFix amt="0"/>
              </a:blip>
              <a:stretch>
                <a:fillRect l="0" t="-27576" r="-1" b="-27586"/>
              </a:stretch>
            </a:blipFill>
          </p:spPr>
        </p:sp>
      </p:grpSp>
      <p:grpSp>
        <p:nvGrpSpPr>
          <p:cNvPr name="Group 153" id="153"/>
          <p:cNvGrpSpPr/>
          <p:nvPr/>
        </p:nvGrpSpPr>
        <p:grpSpPr>
          <a:xfrm rot="0">
            <a:off x="4641275" y="5928131"/>
            <a:ext cx="1567748" cy="386363"/>
            <a:chOff x="0" y="0"/>
            <a:chExt cx="2090331" cy="515150"/>
          </a:xfrm>
        </p:grpSpPr>
        <p:sp>
          <p:nvSpPr>
            <p:cNvPr name="Freeform 154" id="154"/>
            <p:cNvSpPr/>
            <p:nvPr/>
          </p:nvSpPr>
          <p:spPr>
            <a:xfrm flipH="false" flipV="false" rot="0">
              <a:off x="0" y="0"/>
              <a:ext cx="2090331" cy="515155"/>
            </a:xfrm>
            <a:custGeom>
              <a:avLst/>
              <a:gdLst/>
              <a:ahLst/>
              <a:cxnLst/>
              <a:rect r="r" b="b" t="t" l="l"/>
              <a:pathLst>
                <a:path h="515155" w="2090331">
                  <a:moveTo>
                    <a:pt x="0" y="0"/>
                  </a:moveTo>
                  <a:lnTo>
                    <a:pt x="2090331" y="0"/>
                  </a:lnTo>
                  <a:lnTo>
                    <a:pt x="2090331" y="515155"/>
                  </a:lnTo>
                  <a:lnTo>
                    <a:pt x="0" y="515155"/>
                  </a:lnTo>
                  <a:close/>
                </a:path>
              </a:pathLst>
            </a:custGeom>
            <a:blipFill>
              <a:blip r:embed="rId4">
                <a:alphaModFix amt="0"/>
              </a:blip>
              <a:stretch>
                <a:fillRect l="0" t="-29064" r="0" b="-29063"/>
              </a:stretch>
            </a:blipFill>
          </p:spPr>
        </p:sp>
        <p:sp>
          <p:nvSpPr>
            <p:cNvPr name="TextBox 155" id="155"/>
            <p:cNvSpPr txBox="true"/>
            <p:nvPr/>
          </p:nvSpPr>
          <p:spPr>
            <a:xfrm>
              <a:off x="0" y="9525"/>
              <a:ext cx="2090331" cy="505625"/>
            </a:xfrm>
            <a:prstGeom prst="rect">
              <a:avLst/>
            </a:prstGeom>
          </p:spPr>
          <p:txBody>
            <a:bodyPr anchor="ctr" rtlCol="false" tIns="0" lIns="0" bIns="0" rIns="0"/>
            <a:lstStyle/>
            <a:p>
              <a:pPr algn="l">
                <a:lnSpc>
                  <a:spcPts val="2371"/>
                </a:lnSpc>
              </a:pPr>
              <a:r>
                <a:rPr lang="en-US" sz="2100" b="true">
                  <a:solidFill>
                    <a:srgbClr val="505050"/>
                  </a:solidFill>
                  <a:latin typeface="Georgia Bold"/>
                  <a:ea typeface="Georgia Bold"/>
                  <a:cs typeface="Georgia Bold"/>
                  <a:sym typeface="Georgia Bold"/>
                </a:rPr>
                <a:t>Excel / CSV</a:t>
              </a:r>
            </a:p>
          </p:txBody>
        </p:sp>
      </p:grpSp>
      <p:grpSp>
        <p:nvGrpSpPr>
          <p:cNvPr name="Group 156" id="156"/>
          <p:cNvGrpSpPr/>
          <p:nvPr/>
        </p:nvGrpSpPr>
        <p:grpSpPr>
          <a:xfrm rot="0">
            <a:off x="3835517" y="5877239"/>
            <a:ext cx="189586" cy="434283"/>
            <a:chOff x="0" y="0"/>
            <a:chExt cx="252781" cy="579044"/>
          </a:xfrm>
        </p:grpSpPr>
        <p:sp>
          <p:nvSpPr>
            <p:cNvPr name="Freeform 157" id="157"/>
            <p:cNvSpPr/>
            <p:nvPr/>
          </p:nvSpPr>
          <p:spPr>
            <a:xfrm flipH="false" flipV="false" rot="0">
              <a:off x="0" y="0"/>
              <a:ext cx="252730" cy="578993"/>
            </a:xfrm>
            <a:custGeom>
              <a:avLst/>
              <a:gdLst/>
              <a:ahLst/>
              <a:cxnLst/>
              <a:rect r="r" b="b" t="t" l="l"/>
              <a:pathLst>
                <a:path h="578993" w="252730">
                  <a:moveTo>
                    <a:pt x="0" y="0"/>
                  </a:moveTo>
                  <a:lnTo>
                    <a:pt x="252730" y="0"/>
                  </a:lnTo>
                  <a:lnTo>
                    <a:pt x="252730" y="578993"/>
                  </a:lnTo>
                  <a:lnTo>
                    <a:pt x="0" y="578993"/>
                  </a:lnTo>
                  <a:close/>
                </a:path>
              </a:pathLst>
            </a:custGeom>
            <a:blipFill>
              <a:blip r:embed="rId3">
                <a:alphaModFix amt="0"/>
              </a:blip>
              <a:stretch>
                <a:fillRect l="-244155" t="0" r="-244175" b="-8"/>
              </a:stretch>
            </a:blipFill>
          </p:spPr>
        </p:sp>
      </p:grpSp>
      <p:grpSp>
        <p:nvGrpSpPr>
          <p:cNvPr name="Group 158" id="158"/>
          <p:cNvGrpSpPr/>
          <p:nvPr/>
        </p:nvGrpSpPr>
        <p:grpSpPr>
          <a:xfrm rot="0">
            <a:off x="3835517" y="5934389"/>
            <a:ext cx="189586" cy="377123"/>
            <a:chOff x="0" y="0"/>
            <a:chExt cx="252781" cy="502831"/>
          </a:xfrm>
        </p:grpSpPr>
        <p:sp>
          <p:nvSpPr>
            <p:cNvPr name="Freeform 159" id="159"/>
            <p:cNvSpPr/>
            <p:nvPr/>
          </p:nvSpPr>
          <p:spPr>
            <a:xfrm flipH="false" flipV="false" rot="0">
              <a:off x="0" y="0"/>
              <a:ext cx="252781" cy="502835"/>
            </a:xfrm>
            <a:custGeom>
              <a:avLst/>
              <a:gdLst/>
              <a:ahLst/>
              <a:cxnLst/>
              <a:rect r="r" b="b" t="t" l="l"/>
              <a:pathLst>
                <a:path h="502835" w="252781">
                  <a:moveTo>
                    <a:pt x="0" y="0"/>
                  </a:moveTo>
                  <a:lnTo>
                    <a:pt x="252781" y="0"/>
                  </a:lnTo>
                  <a:lnTo>
                    <a:pt x="252781" y="502835"/>
                  </a:lnTo>
                  <a:lnTo>
                    <a:pt x="0" y="502835"/>
                  </a:lnTo>
                  <a:close/>
                </a:path>
              </a:pathLst>
            </a:custGeom>
            <a:blipFill>
              <a:blip r:embed="rId4">
                <a:alphaModFix amt="0"/>
              </a:blip>
              <a:stretch>
                <a:fillRect l="-205220" t="0" r="-205220" b="0"/>
              </a:stretch>
            </a:blipFill>
          </p:spPr>
        </p:sp>
        <p:sp>
          <p:nvSpPr>
            <p:cNvPr name="TextBox 160" id="160"/>
            <p:cNvSpPr txBox="true"/>
            <p:nvPr/>
          </p:nvSpPr>
          <p:spPr>
            <a:xfrm>
              <a:off x="0" y="76200"/>
              <a:ext cx="252781" cy="426631"/>
            </a:xfrm>
            <a:prstGeom prst="rect">
              <a:avLst/>
            </a:prstGeom>
          </p:spPr>
          <p:txBody>
            <a:bodyPr anchor="ctr" rtlCol="false" tIns="0" lIns="0" bIns="0" rIns="0"/>
            <a:lstStyle/>
            <a:p>
              <a:pPr algn="l">
                <a:lnSpc>
                  <a:spcPts val="1632"/>
                </a:lnSpc>
              </a:pPr>
              <a:r>
                <a:rPr lang="en-US" sz="2037" b="true">
                  <a:solidFill>
                    <a:srgbClr val="BCDDC7"/>
                  </a:solidFill>
                  <a:latin typeface="TT Commons Pro Bold"/>
                  <a:ea typeface="TT Commons Pro Bold"/>
                  <a:cs typeface="TT Commons Pro Bold"/>
                  <a:sym typeface="TT Commons Pro Bold"/>
                </a:rPr>
                <a:t>X</a:t>
              </a:r>
            </a:p>
          </p:txBody>
        </p:sp>
      </p:grpSp>
      <p:grpSp>
        <p:nvGrpSpPr>
          <p:cNvPr name="Group 161" id="161"/>
          <p:cNvGrpSpPr/>
          <p:nvPr/>
        </p:nvGrpSpPr>
        <p:grpSpPr>
          <a:xfrm rot="0">
            <a:off x="342719" y="7736672"/>
            <a:ext cx="648938" cy="590645"/>
            <a:chOff x="0" y="0"/>
            <a:chExt cx="865251" cy="787527"/>
          </a:xfrm>
        </p:grpSpPr>
        <p:sp>
          <p:nvSpPr>
            <p:cNvPr name="Freeform 162" id="162" descr="preencoded.png"/>
            <p:cNvSpPr/>
            <p:nvPr/>
          </p:nvSpPr>
          <p:spPr>
            <a:xfrm flipH="false" flipV="false" rot="0">
              <a:off x="0" y="0"/>
              <a:ext cx="865251" cy="787527"/>
            </a:xfrm>
            <a:custGeom>
              <a:avLst/>
              <a:gdLst/>
              <a:ahLst/>
              <a:cxnLst/>
              <a:rect r="r" b="b" t="t" l="l"/>
              <a:pathLst>
                <a:path h="787527" w="865251">
                  <a:moveTo>
                    <a:pt x="0" y="0"/>
                  </a:moveTo>
                  <a:lnTo>
                    <a:pt x="865251" y="0"/>
                  </a:lnTo>
                  <a:lnTo>
                    <a:pt x="865251" y="787527"/>
                  </a:lnTo>
                  <a:lnTo>
                    <a:pt x="0" y="787527"/>
                  </a:lnTo>
                  <a:lnTo>
                    <a:pt x="0" y="0"/>
                  </a:lnTo>
                  <a:close/>
                </a:path>
              </a:pathLst>
            </a:custGeom>
            <a:blipFill>
              <a:blip r:embed="rId34"/>
              <a:stretch>
                <a:fillRect l="0" t="-270" r="0" b="-269"/>
              </a:stretch>
            </a:blipFill>
          </p:spPr>
        </p:sp>
      </p:grpSp>
      <p:grpSp>
        <p:nvGrpSpPr>
          <p:cNvPr name="Group 163" id="163"/>
          <p:cNvGrpSpPr/>
          <p:nvPr/>
        </p:nvGrpSpPr>
        <p:grpSpPr>
          <a:xfrm rot="0">
            <a:off x="17668189" y="4805343"/>
            <a:ext cx="102108" cy="72962"/>
            <a:chOff x="0" y="0"/>
            <a:chExt cx="136144" cy="97282"/>
          </a:xfrm>
        </p:grpSpPr>
        <p:sp>
          <p:nvSpPr>
            <p:cNvPr name="Freeform 164" id="164" descr="preencoded.png"/>
            <p:cNvSpPr/>
            <p:nvPr/>
          </p:nvSpPr>
          <p:spPr>
            <a:xfrm flipH="false" flipV="false" rot="0">
              <a:off x="0" y="0"/>
              <a:ext cx="136144" cy="97282"/>
            </a:xfrm>
            <a:custGeom>
              <a:avLst/>
              <a:gdLst/>
              <a:ahLst/>
              <a:cxnLst/>
              <a:rect r="r" b="b" t="t" l="l"/>
              <a:pathLst>
                <a:path h="97282" w="136144">
                  <a:moveTo>
                    <a:pt x="0" y="0"/>
                  </a:moveTo>
                  <a:lnTo>
                    <a:pt x="136144" y="0"/>
                  </a:lnTo>
                  <a:lnTo>
                    <a:pt x="136144" y="97282"/>
                  </a:lnTo>
                  <a:lnTo>
                    <a:pt x="0" y="97282"/>
                  </a:lnTo>
                  <a:lnTo>
                    <a:pt x="0" y="0"/>
                  </a:lnTo>
                  <a:close/>
                </a:path>
              </a:pathLst>
            </a:custGeom>
            <a:blipFill>
              <a:blip r:embed="rId35"/>
              <a:stretch>
                <a:fillRect l="-18" t="0" r="-18" b="0"/>
              </a:stretch>
            </a:blipFill>
          </p:spPr>
        </p:sp>
      </p:grpSp>
      <p:grpSp>
        <p:nvGrpSpPr>
          <p:cNvPr name="Group 165" id="165"/>
          <p:cNvGrpSpPr/>
          <p:nvPr/>
        </p:nvGrpSpPr>
        <p:grpSpPr>
          <a:xfrm rot="0">
            <a:off x="17464021" y="4798047"/>
            <a:ext cx="189548" cy="80200"/>
            <a:chOff x="0" y="0"/>
            <a:chExt cx="252730" cy="106934"/>
          </a:xfrm>
        </p:grpSpPr>
        <p:sp>
          <p:nvSpPr>
            <p:cNvPr name="Freeform 166" id="166" descr="preencoded.png"/>
            <p:cNvSpPr/>
            <p:nvPr/>
          </p:nvSpPr>
          <p:spPr>
            <a:xfrm flipH="false" flipV="false" rot="0">
              <a:off x="0" y="0"/>
              <a:ext cx="252730" cy="106934"/>
            </a:xfrm>
            <a:custGeom>
              <a:avLst/>
              <a:gdLst/>
              <a:ahLst/>
              <a:cxnLst/>
              <a:rect r="r" b="b" t="t" l="l"/>
              <a:pathLst>
                <a:path h="106934" w="252730">
                  <a:moveTo>
                    <a:pt x="0" y="0"/>
                  </a:moveTo>
                  <a:lnTo>
                    <a:pt x="252730" y="0"/>
                  </a:lnTo>
                  <a:lnTo>
                    <a:pt x="252730" y="106934"/>
                  </a:lnTo>
                  <a:lnTo>
                    <a:pt x="0" y="106934"/>
                  </a:lnTo>
                  <a:lnTo>
                    <a:pt x="0" y="0"/>
                  </a:lnTo>
                  <a:close/>
                </a:path>
              </a:pathLst>
            </a:custGeom>
            <a:blipFill>
              <a:blip r:embed="rId36"/>
              <a:stretch>
                <a:fillRect l="-447" t="0" r="-447" b="0"/>
              </a:stretch>
            </a:blipFill>
          </p:spPr>
        </p:sp>
      </p:grpSp>
      <p:grpSp>
        <p:nvGrpSpPr>
          <p:cNvPr name="Group 167" id="167"/>
          <p:cNvGrpSpPr/>
          <p:nvPr/>
        </p:nvGrpSpPr>
        <p:grpSpPr>
          <a:xfrm rot="0">
            <a:off x="17580693" y="4812630"/>
            <a:ext cx="58293" cy="58293"/>
            <a:chOff x="0" y="0"/>
            <a:chExt cx="77724" cy="77724"/>
          </a:xfrm>
        </p:grpSpPr>
        <p:sp>
          <p:nvSpPr>
            <p:cNvPr name="Freeform 168" id="168" descr="preencoded.png"/>
            <p:cNvSpPr/>
            <p:nvPr/>
          </p:nvSpPr>
          <p:spPr>
            <a:xfrm flipH="false" flipV="false" rot="0">
              <a:off x="0" y="0"/>
              <a:ext cx="77724" cy="77724"/>
            </a:xfrm>
            <a:custGeom>
              <a:avLst/>
              <a:gdLst/>
              <a:ahLst/>
              <a:cxnLst/>
              <a:rect r="r" b="b" t="t" l="l"/>
              <a:pathLst>
                <a:path h="77724" w="77724">
                  <a:moveTo>
                    <a:pt x="0" y="0"/>
                  </a:moveTo>
                  <a:lnTo>
                    <a:pt x="77724" y="0"/>
                  </a:lnTo>
                  <a:lnTo>
                    <a:pt x="77724" y="77724"/>
                  </a:lnTo>
                  <a:lnTo>
                    <a:pt x="0" y="77724"/>
                  </a:lnTo>
                  <a:lnTo>
                    <a:pt x="0" y="0"/>
                  </a:lnTo>
                  <a:close/>
                </a:path>
              </a:pathLst>
            </a:custGeom>
            <a:blipFill>
              <a:blip r:embed="rId37"/>
              <a:stretch>
                <a:fillRect l="0" t="0" r="0" b="0"/>
              </a:stretch>
            </a:blipFill>
          </p:spPr>
        </p:sp>
      </p:grpSp>
      <p:grpSp>
        <p:nvGrpSpPr>
          <p:cNvPr name="Group 169" id="169"/>
          <p:cNvGrpSpPr/>
          <p:nvPr/>
        </p:nvGrpSpPr>
        <p:grpSpPr>
          <a:xfrm rot="0">
            <a:off x="17471307" y="4805343"/>
            <a:ext cx="87535" cy="65627"/>
            <a:chOff x="0" y="0"/>
            <a:chExt cx="116713" cy="87503"/>
          </a:xfrm>
        </p:grpSpPr>
        <p:sp>
          <p:nvSpPr>
            <p:cNvPr name="Freeform 170" id="170" descr="preencoded.png"/>
            <p:cNvSpPr/>
            <p:nvPr/>
          </p:nvSpPr>
          <p:spPr>
            <a:xfrm flipH="false" flipV="false" rot="0">
              <a:off x="0" y="0"/>
              <a:ext cx="116713" cy="87503"/>
            </a:xfrm>
            <a:custGeom>
              <a:avLst/>
              <a:gdLst/>
              <a:ahLst/>
              <a:cxnLst/>
              <a:rect r="r" b="b" t="t" l="l"/>
              <a:pathLst>
                <a:path h="87503" w="116713">
                  <a:moveTo>
                    <a:pt x="0" y="0"/>
                  </a:moveTo>
                  <a:lnTo>
                    <a:pt x="116713" y="0"/>
                  </a:lnTo>
                  <a:lnTo>
                    <a:pt x="116713" y="87503"/>
                  </a:lnTo>
                  <a:lnTo>
                    <a:pt x="0" y="87503"/>
                  </a:lnTo>
                  <a:lnTo>
                    <a:pt x="0" y="0"/>
                  </a:lnTo>
                  <a:close/>
                </a:path>
              </a:pathLst>
            </a:custGeom>
            <a:blipFill>
              <a:blip r:embed="rId38"/>
              <a:stretch>
                <a:fillRect l="0" t="-1872" r="0" b="-1872"/>
              </a:stretch>
            </a:blipFill>
          </p:spPr>
        </p:sp>
      </p:grpSp>
      <p:grpSp>
        <p:nvGrpSpPr>
          <p:cNvPr name="Group 171" id="171"/>
          <p:cNvGrpSpPr/>
          <p:nvPr/>
        </p:nvGrpSpPr>
        <p:grpSpPr>
          <a:xfrm rot="0">
            <a:off x="16275444" y="4776168"/>
            <a:ext cx="218789" cy="109347"/>
            <a:chOff x="0" y="0"/>
            <a:chExt cx="291719" cy="145796"/>
          </a:xfrm>
        </p:grpSpPr>
        <p:sp>
          <p:nvSpPr>
            <p:cNvPr name="Freeform 172" id="172" descr="preencoded.png"/>
            <p:cNvSpPr/>
            <p:nvPr/>
          </p:nvSpPr>
          <p:spPr>
            <a:xfrm flipH="false" flipV="false" rot="0">
              <a:off x="0" y="0"/>
              <a:ext cx="291719" cy="145796"/>
            </a:xfrm>
            <a:custGeom>
              <a:avLst/>
              <a:gdLst/>
              <a:ahLst/>
              <a:cxnLst/>
              <a:rect r="r" b="b" t="t" l="l"/>
              <a:pathLst>
                <a:path h="145796" w="291719">
                  <a:moveTo>
                    <a:pt x="0" y="0"/>
                  </a:moveTo>
                  <a:lnTo>
                    <a:pt x="291719" y="0"/>
                  </a:lnTo>
                  <a:lnTo>
                    <a:pt x="291719" y="145796"/>
                  </a:lnTo>
                  <a:lnTo>
                    <a:pt x="0" y="145796"/>
                  </a:lnTo>
                  <a:lnTo>
                    <a:pt x="0" y="0"/>
                  </a:lnTo>
                  <a:close/>
                </a:path>
              </a:pathLst>
            </a:custGeom>
            <a:blipFill>
              <a:blip r:embed="rId39"/>
              <a:stretch>
                <a:fillRect l="-1763" t="0" r="-1763" b="0"/>
              </a:stretch>
            </a:blipFill>
          </p:spPr>
        </p:sp>
      </p:grpSp>
      <p:grpSp>
        <p:nvGrpSpPr>
          <p:cNvPr name="Group 173" id="173"/>
          <p:cNvGrpSpPr/>
          <p:nvPr/>
        </p:nvGrpSpPr>
        <p:grpSpPr>
          <a:xfrm rot="0">
            <a:off x="16632746" y="2522982"/>
            <a:ext cx="692725" cy="316744"/>
            <a:chOff x="0" y="0"/>
            <a:chExt cx="923633" cy="422326"/>
          </a:xfrm>
        </p:grpSpPr>
        <p:sp>
          <p:nvSpPr>
            <p:cNvPr name="Freeform 174" id="174"/>
            <p:cNvSpPr/>
            <p:nvPr/>
          </p:nvSpPr>
          <p:spPr>
            <a:xfrm flipH="false" flipV="false" rot="0">
              <a:off x="0" y="0"/>
              <a:ext cx="923671" cy="422275"/>
            </a:xfrm>
            <a:custGeom>
              <a:avLst/>
              <a:gdLst/>
              <a:ahLst/>
              <a:cxnLst/>
              <a:rect r="r" b="b" t="t" l="l"/>
              <a:pathLst>
                <a:path h="422275" w="923671">
                  <a:moveTo>
                    <a:pt x="0" y="0"/>
                  </a:moveTo>
                  <a:lnTo>
                    <a:pt x="923671" y="0"/>
                  </a:lnTo>
                  <a:lnTo>
                    <a:pt x="923671" y="422275"/>
                  </a:lnTo>
                  <a:lnTo>
                    <a:pt x="0" y="422275"/>
                  </a:lnTo>
                  <a:close/>
                </a:path>
              </a:pathLst>
            </a:custGeom>
            <a:blipFill>
              <a:blip r:embed="rId3">
                <a:alphaModFix amt="0"/>
              </a:blip>
              <a:stretch>
                <a:fillRect l="-8706" t="0" r="-8702" b="-12"/>
              </a:stretch>
            </a:blipFill>
          </p:spPr>
        </p:sp>
      </p:grpSp>
      <p:grpSp>
        <p:nvGrpSpPr>
          <p:cNvPr name="Group 175" id="175"/>
          <p:cNvGrpSpPr/>
          <p:nvPr/>
        </p:nvGrpSpPr>
        <p:grpSpPr>
          <a:xfrm rot="0">
            <a:off x="16632746" y="2558701"/>
            <a:ext cx="692725" cy="281026"/>
            <a:chOff x="0" y="0"/>
            <a:chExt cx="923633" cy="374701"/>
          </a:xfrm>
        </p:grpSpPr>
        <p:sp>
          <p:nvSpPr>
            <p:cNvPr name="Freeform 176" id="176"/>
            <p:cNvSpPr/>
            <p:nvPr/>
          </p:nvSpPr>
          <p:spPr>
            <a:xfrm flipH="false" flipV="false" rot="0">
              <a:off x="0" y="0"/>
              <a:ext cx="923633" cy="374700"/>
            </a:xfrm>
            <a:custGeom>
              <a:avLst/>
              <a:gdLst/>
              <a:ahLst/>
              <a:cxnLst/>
              <a:rect r="r" b="b" t="t" l="l"/>
              <a:pathLst>
                <a:path h="374700" w="923633">
                  <a:moveTo>
                    <a:pt x="0" y="0"/>
                  </a:moveTo>
                  <a:lnTo>
                    <a:pt x="923633" y="0"/>
                  </a:lnTo>
                  <a:lnTo>
                    <a:pt x="923633" y="374700"/>
                  </a:lnTo>
                  <a:lnTo>
                    <a:pt x="0" y="374700"/>
                  </a:lnTo>
                  <a:close/>
                </a:path>
              </a:pathLst>
            </a:custGeom>
            <a:blipFill>
              <a:blip r:embed="rId4">
                <a:alphaModFix amt="0"/>
              </a:blip>
              <a:stretch>
                <a:fillRect l="-2050" t="0" r="-2050" b="0"/>
              </a:stretch>
            </a:blipFill>
          </p:spPr>
        </p:sp>
        <p:sp>
          <p:nvSpPr>
            <p:cNvPr name="TextBox 177" id="177"/>
            <p:cNvSpPr txBox="true"/>
            <p:nvPr/>
          </p:nvSpPr>
          <p:spPr>
            <a:xfrm>
              <a:off x="0" y="47625"/>
              <a:ext cx="923633" cy="327076"/>
            </a:xfrm>
            <a:prstGeom prst="rect">
              <a:avLst/>
            </a:prstGeom>
          </p:spPr>
          <p:txBody>
            <a:bodyPr anchor="ctr" rtlCol="false" tIns="0" lIns="0" bIns="0" rIns="0"/>
            <a:lstStyle/>
            <a:p>
              <a:pPr algn="l">
                <a:lnSpc>
                  <a:spcPts val="1263"/>
                </a:lnSpc>
              </a:pPr>
              <a:r>
                <a:rPr lang="en-US" b="true" sz="1498" i="true">
                  <a:solidFill>
                    <a:srgbClr val="C00C1D"/>
                  </a:solidFill>
                  <a:latin typeface="TT Commons Pro Bold Italics"/>
                  <a:ea typeface="TT Commons Pro Bold Italics"/>
                  <a:cs typeface="TT Commons Pro Bold Italics"/>
                  <a:sym typeface="TT Commons Pro Bold Italics"/>
                </a:rPr>
                <a:t>zomato</a:t>
              </a:r>
            </a:p>
          </p:txBody>
        </p:sp>
      </p:grpSp>
      <p:sp>
        <p:nvSpPr>
          <p:cNvPr name="Freeform 178" id="178"/>
          <p:cNvSpPr/>
          <p:nvPr/>
        </p:nvSpPr>
        <p:spPr>
          <a:xfrm flipH="false" flipV="false" rot="0">
            <a:off x="11313338" y="1826619"/>
            <a:ext cx="4396997" cy="3157414"/>
          </a:xfrm>
          <a:custGeom>
            <a:avLst/>
            <a:gdLst/>
            <a:ahLst/>
            <a:cxnLst/>
            <a:rect r="r" b="b" t="t" l="l"/>
            <a:pathLst>
              <a:path h="3157414" w="4396997">
                <a:moveTo>
                  <a:pt x="0" y="0"/>
                </a:moveTo>
                <a:lnTo>
                  <a:pt x="4396997" y="0"/>
                </a:lnTo>
                <a:lnTo>
                  <a:pt x="4396997" y="3157413"/>
                </a:lnTo>
                <a:lnTo>
                  <a:pt x="0" y="3157413"/>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grpSp>
        <p:nvGrpSpPr>
          <p:cNvPr name="Group 179" id="179"/>
          <p:cNvGrpSpPr/>
          <p:nvPr/>
        </p:nvGrpSpPr>
        <p:grpSpPr>
          <a:xfrm rot="0">
            <a:off x="12797228" y="3266761"/>
            <a:ext cx="452056" cy="29146"/>
            <a:chOff x="0" y="0"/>
            <a:chExt cx="602742" cy="38862"/>
          </a:xfrm>
        </p:grpSpPr>
        <p:sp>
          <p:nvSpPr>
            <p:cNvPr name="Freeform 180" id="180" descr="preencoded.png"/>
            <p:cNvSpPr/>
            <p:nvPr/>
          </p:nvSpPr>
          <p:spPr>
            <a:xfrm flipH="false" flipV="false" rot="0">
              <a:off x="0" y="0"/>
              <a:ext cx="602742" cy="38862"/>
            </a:xfrm>
            <a:custGeom>
              <a:avLst/>
              <a:gdLst/>
              <a:ahLst/>
              <a:cxnLst/>
              <a:rect r="r" b="b" t="t" l="l"/>
              <a:pathLst>
                <a:path h="38862" w="602742">
                  <a:moveTo>
                    <a:pt x="0" y="0"/>
                  </a:moveTo>
                  <a:lnTo>
                    <a:pt x="602742" y="0"/>
                  </a:lnTo>
                  <a:lnTo>
                    <a:pt x="602742" y="38862"/>
                  </a:lnTo>
                  <a:lnTo>
                    <a:pt x="0" y="38862"/>
                  </a:lnTo>
                  <a:lnTo>
                    <a:pt x="0" y="0"/>
                  </a:lnTo>
                  <a:close/>
                </a:path>
              </a:pathLst>
            </a:custGeom>
            <a:blipFill>
              <a:blip r:embed="rId42"/>
              <a:stretch>
                <a:fillRect l="-2656" t="0" r="-2654" b="0"/>
              </a:stretch>
            </a:blipFill>
          </p:spPr>
        </p:sp>
      </p:grpSp>
      <p:grpSp>
        <p:nvGrpSpPr>
          <p:cNvPr name="Group 181" id="181"/>
          <p:cNvGrpSpPr/>
          <p:nvPr/>
        </p:nvGrpSpPr>
        <p:grpSpPr>
          <a:xfrm rot="0">
            <a:off x="11645113" y="2209438"/>
            <a:ext cx="926020" cy="1013555"/>
            <a:chOff x="0" y="0"/>
            <a:chExt cx="1234694" cy="1351407"/>
          </a:xfrm>
        </p:grpSpPr>
        <p:sp>
          <p:nvSpPr>
            <p:cNvPr name="Freeform 182" id="182" descr="preencoded.png"/>
            <p:cNvSpPr/>
            <p:nvPr/>
          </p:nvSpPr>
          <p:spPr>
            <a:xfrm flipH="false" flipV="false" rot="0">
              <a:off x="0" y="0"/>
              <a:ext cx="1234694" cy="1351407"/>
            </a:xfrm>
            <a:custGeom>
              <a:avLst/>
              <a:gdLst/>
              <a:ahLst/>
              <a:cxnLst/>
              <a:rect r="r" b="b" t="t" l="l"/>
              <a:pathLst>
                <a:path h="1351407" w="1234694">
                  <a:moveTo>
                    <a:pt x="0" y="0"/>
                  </a:moveTo>
                  <a:lnTo>
                    <a:pt x="1234694" y="0"/>
                  </a:lnTo>
                  <a:lnTo>
                    <a:pt x="1234694" y="1351407"/>
                  </a:lnTo>
                  <a:lnTo>
                    <a:pt x="0" y="1351407"/>
                  </a:lnTo>
                  <a:lnTo>
                    <a:pt x="0" y="0"/>
                  </a:lnTo>
                  <a:close/>
                </a:path>
              </a:pathLst>
            </a:custGeom>
            <a:blipFill>
              <a:blip r:embed="rId43"/>
              <a:stretch>
                <a:fillRect l="0" t="-51" r="0" b="-50"/>
              </a:stretch>
            </a:blipFill>
          </p:spPr>
        </p:sp>
      </p:grpSp>
      <p:grpSp>
        <p:nvGrpSpPr>
          <p:cNvPr name="Group 183" id="183"/>
          <p:cNvGrpSpPr/>
          <p:nvPr/>
        </p:nvGrpSpPr>
        <p:grpSpPr>
          <a:xfrm rot="0">
            <a:off x="11670640" y="3767547"/>
            <a:ext cx="4557141" cy="754551"/>
            <a:chOff x="0" y="0"/>
            <a:chExt cx="6076188" cy="1006069"/>
          </a:xfrm>
        </p:grpSpPr>
        <p:sp>
          <p:nvSpPr>
            <p:cNvPr name="Freeform 184" id="184"/>
            <p:cNvSpPr/>
            <p:nvPr/>
          </p:nvSpPr>
          <p:spPr>
            <a:xfrm flipH="false" flipV="false" rot="0">
              <a:off x="0" y="0"/>
              <a:ext cx="6076188" cy="1006094"/>
            </a:xfrm>
            <a:custGeom>
              <a:avLst/>
              <a:gdLst/>
              <a:ahLst/>
              <a:cxnLst/>
              <a:rect r="r" b="b" t="t" l="l"/>
              <a:pathLst>
                <a:path h="1006094" w="6076188">
                  <a:moveTo>
                    <a:pt x="0" y="0"/>
                  </a:moveTo>
                  <a:lnTo>
                    <a:pt x="6076188" y="0"/>
                  </a:lnTo>
                  <a:lnTo>
                    <a:pt x="6076188" y="1006094"/>
                  </a:lnTo>
                  <a:lnTo>
                    <a:pt x="0" y="1006094"/>
                  </a:lnTo>
                  <a:close/>
                </a:path>
              </a:pathLst>
            </a:custGeom>
            <a:blipFill>
              <a:blip r:embed="rId3">
                <a:alphaModFix amt="0"/>
              </a:blip>
              <a:stretch>
                <a:fillRect l="0" t="-67596" r="0" b="-67595"/>
              </a:stretch>
            </a:blipFill>
          </p:spPr>
        </p:sp>
      </p:grpSp>
      <p:grpSp>
        <p:nvGrpSpPr>
          <p:cNvPr name="Group 185" id="185"/>
          <p:cNvGrpSpPr/>
          <p:nvPr/>
        </p:nvGrpSpPr>
        <p:grpSpPr>
          <a:xfrm rot="0">
            <a:off x="11670640" y="3724685"/>
            <a:ext cx="4557141" cy="797423"/>
            <a:chOff x="0" y="0"/>
            <a:chExt cx="6076188" cy="1063231"/>
          </a:xfrm>
        </p:grpSpPr>
        <p:sp>
          <p:nvSpPr>
            <p:cNvPr name="Freeform 186" id="186"/>
            <p:cNvSpPr/>
            <p:nvPr/>
          </p:nvSpPr>
          <p:spPr>
            <a:xfrm flipH="false" flipV="false" rot="0">
              <a:off x="0" y="0"/>
              <a:ext cx="6076188" cy="1063227"/>
            </a:xfrm>
            <a:custGeom>
              <a:avLst/>
              <a:gdLst/>
              <a:ahLst/>
              <a:cxnLst/>
              <a:rect r="r" b="b" t="t" l="l"/>
              <a:pathLst>
                <a:path h="1063227" w="6076188">
                  <a:moveTo>
                    <a:pt x="0" y="0"/>
                  </a:moveTo>
                  <a:lnTo>
                    <a:pt x="6076188" y="0"/>
                  </a:lnTo>
                  <a:lnTo>
                    <a:pt x="6076188" y="1063227"/>
                  </a:lnTo>
                  <a:lnTo>
                    <a:pt x="0" y="1063227"/>
                  </a:lnTo>
                  <a:close/>
                </a:path>
              </a:pathLst>
            </a:custGeom>
            <a:blipFill>
              <a:blip r:embed="rId4">
                <a:alphaModFix amt="0"/>
              </a:blip>
              <a:stretch>
                <a:fillRect l="0" t="-61353" r="0" b="-61354"/>
              </a:stretch>
            </a:blipFill>
          </p:spPr>
        </p:sp>
        <p:sp>
          <p:nvSpPr>
            <p:cNvPr name="TextBox 187" id="187"/>
            <p:cNvSpPr txBox="true"/>
            <p:nvPr/>
          </p:nvSpPr>
          <p:spPr>
            <a:xfrm>
              <a:off x="0" y="-57150"/>
              <a:ext cx="6076188" cy="1120381"/>
            </a:xfrm>
            <a:prstGeom prst="rect">
              <a:avLst/>
            </a:prstGeom>
          </p:spPr>
          <p:txBody>
            <a:bodyPr anchor="ctr" rtlCol="false" tIns="0" lIns="0" bIns="0" rIns="0"/>
            <a:lstStyle/>
            <a:p>
              <a:pPr algn="l">
                <a:lnSpc>
                  <a:spcPts val="2849"/>
                </a:lnSpc>
              </a:pPr>
              <a:r>
                <a:rPr lang="en-US" sz="1899">
                  <a:solidFill>
                    <a:srgbClr val="5F5F60"/>
                  </a:solidFill>
                  <a:latin typeface="TT Commons Pro"/>
                  <a:ea typeface="TT Commons Pro"/>
                  <a:cs typeface="TT Commons Pro"/>
                  <a:sym typeface="TT Commons Pro"/>
                </a:rPr>
                <a:t>Exploratory charts and correlation</a:t>
              </a:r>
            </a:p>
            <a:p>
              <a:pPr algn="l">
                <a:lnSpc>
                  <a:spcPts val="2849"/>
                </a:lnSpc>
              </a:pPr>
              <a:r>
                <a:rPr lang="en-US" sz="1899">
                  <a:solidFill>
                    <a:srgbClr val="5F5F60"/>
                  </a:solidFill>
                  <a:latin typeface="TT Commons Pro"/>
                  <a:ea typeface="TT Commons Pro"/>
                  <a:cs typeface="TT Commons Pro"/>
                  <a:sym typeface="TT Commons Pro"/>
                </a:rPr>
                <a:t>visualizations.</a:t>
              </a:r>
            </a:p>
          </p:txBody>
        </p:sp>
      </p:grpSp>
      <p:grpSp>
        <p:nvGrpSpPr>
          <p:cNvPr name="Group 188" id="188"/>
          <p:cNvGrpSpPr/>
          <p:nvPr/>
        </p:nvGrpSpPr>
        <p:grpSpPr>
          <a:xfrm rot="0">
            <a:off x="12647381" y="2177920"/>
            <a:ext cx="3170082" cy="1045093"/>
            <a:chOff x="0" y="0"/>
            <a:chExt cx="4226776" cy="1393457"/>
          </a:xfrm>
        </p:grpSpPr>
        <p:sp>
          <p:nvSpPr>
            <p:cNvPr name="Freeform 189" id="189"/>
            <p:cNvSpPr/>
            <p:nvPr/>
          </p:nvSpPr>
          <p:spPr>
            <a:xfrm flipH="false" flipV="false" rot="0">
              <a:off x="0" y="0"/>
              <a:ext cx="4226814" cy="1393444"/>
            </a:xfrm>
            <a:custGeom>
              <a:avLst/>
              <a:gdLst/>
              <a:ahLst/>
              <a:cxnLst/>
              <a:rect r="r" b="b" t="t" l="l"/>
              <a:pathLst>
                <a:path h="1393444" w="4226814">
                  <a:moveTo>
                    <a:pt x="0" y="0"/>
                  </a:moveTo>
                  <a:lnTo>
                    <a:pt x="4226814" y="0"/>
                  </a:lnTo>
                  <a:lnTo>
                    <a:pt x="4226814" y="1393444"/>
                  </a:lnTo>
                  <a:lnTo>
                    <a:pt x="0" y="1393444"/>
                  </a:lnTo>
                  <a:close/>
                </a:path>
              </a:pathLst>
            </a:custGeom>
            <a:blipFill>
              <a:blip r:embed="rId3">
                <a:alphaModFix amt="0"/>
              </a:blip>
              <a:stretch>
                <a:fillRect l="0" t="-9063" r="0" b="-9063"/>
              </a:stretch>
            </a:blipFill>
          </p:spPr>
        </p:sp>
      </p:grpSp>
      <p:grpSp>
        <p:nvGrpSpPr>
          <p:cNvPr name="Group 190" id="190"/>
          <p:cNvGrpSpPr/>
          <p:nvPr/>
        </p:nvGrpSpPr>
        <p:grpSpPr>
          <a:xfrm rot="0">
            <a:off x="12647381" y="2170776"/>
            <a:ext cx="3170082" cy="1052227"/>
            <a:chOff x="0" y="0"/>
            <a:chExt cx="4226776" cy="1402969"/>
          </a:xfrm>
        </p:grpSpPr>
        <p:sp>
          <p:nvSpPr>
            <p:cNvPr name="Freeform 191" id="191"/>
            <p:cNvSpPr/>
            <p:nvPr/>
          </p:nvSpPr>
          <p:spPr>
            <a:xfrm flipH="false" flipV="false" rot="0">
              <a:off x="0" y="0"/>
              <a:ext cx="4226780" cy="1402972"/>
            </a:xfrm>
            <a:custGeom>
              <a:avLst/>
              <a:gdLst/>
              <a:ahLst/>
              <a:cxnLst/>
              <a:rect r="r" b="b" t="t" l="l"/>
              <a:pathLst>
                <a:path h="1402972" w="4226780">
                  <a:moveTo>
                    <a:pt x="0" y="0"/>
                  </a:moveTo>
                  <a:lnTo>
                    <a:pt x="4226780" y="0"/>
                  </a:lnTo>
                  <a:lnTo>
                    <a:pt x="4226780" y="1402972"/>
                  </a:lnTo>
                  <a:lnTo>
                    <a:pt x="0" y="1402972"/>
                  </a:lnTo>
                  <a:close/>
                </a:path>
              </a:pathLst>
            </a:custGeom>
            <a:blipFill>
              <a:blip r:embed="rId4">
                <a:alphaModFix amt="0"/>
              </a:blip>
              <a:stretch>
                <a:fillRect l="0" t="-8703" r="0" b="-8703"/>
              </a:stretch>
            </a:blipFill>
          </p:spPr>
        </p:sp>
        <p:sp>
          <p:nvSpPr>
            <p:cNvPr name="TextBox 192" id="192"/>
            <p:cNvSpPr txBox="true"/>
            <p:nvPr/>
          </p:nvSpPr>
          <p:spPr>
            <a:xfrm>
              <a:off x="0" y="-9525"/>
              <a:ext cx="4226776" cy="1412494"/>
            </a:xfrm>
            <a:prstGeom prst="rect">
              <a:avLst/>
            </a:prstGeom>
          </p:spPr>
          <p:txBody>
            <a:bodyPr anchor="ctr" rtlCol="false" tIns="0" lIns="0" bIns="0" rIns="0"/>
            <a:lstStyle/>
            <a:p>
              <a:pPr algn="l">
                <a:lnSpc>
                  <a:spcPts val="2565"/>
                </a:lnSpc>
              </a:pPr>
              <a:r>
                <a:rPr lang="en-US" sz="2100" b="true">
                  <a:solidFill>
                    <a:srgbClr val="4E4E4E"/>
                  </a:solidFill>
                  <a:latin typeface="Georgia Bold"/>
                  <a:ea typeface="Georgia Bold"/>
                  <a:cs typeface="Georgia Bold"/>
                  <a:sym typeface="Georgia Bold"/>
                </a:rPr>
                <a:t>Matplotlib/</a:t>
              </a:r>
            </a:p>
            <a:p>
              <a:pPr algn="l">
                <a:lnSpc>
                  <a:spcPts val="2565"/>
                </a:lnSpc>
              </a:pPr>
              <a:r>
                <a:rPr lang="en-US" sz="2100" b="true">
                  <a:solidFill>
                    <a:srgbClr val="4E4E4E"/>
                  </a:solidFill>
                  <a:latin typeface="Georgia Bold"/>
                  <a:ea typeface="Georgia Bold"/>
                  <a:cs typeface="Georgia Bold"/>
                  <a:sym typeface="Georgia Bold"/>
                </a:rPr>
                <a:t>Seaborn/Plotly express</a:t>
              </a:r>
            </a:p>
          </p:txBody>
        </p:sp>
      </p:grpSp>
      <p:sp>
        <p:nvSpPr>
          <p:cNvPr name="Freeform 193" id="193"/>
          <p:cNvSpPr/>
          <p:nvPr/>
        </p:nvSpPr>
        <p:spPr>
          <a:xfrm flipH="false" flipV="false" rot="0">
            <a:off x="7208930" y="1827524"/>
            <a:ext cx="3994128" cy="3170215"/>
          </a:xfrm>
          <a:custGeom>
            <a:avLst/>
            <a:gdLst/>
            <a:ahLst/>
            <a:cxnLst/>
            <a:rect r="r" b="b" t="t" l="l"/>
            <a:pathLst>
              <a:path h="3170215" w="3994128">
                <a:moveTo>
                  <a:pt x="0" y="0"/>
                </a:moveTo>
                <a:lnTo>
                  <a:pt x="3994127" y="0"/>
                </a:lnTo>
                <a:lnTo>
                  <a:pt x="3994127" y="3170215"/>
                </a:lnTo>
                <a:lnTo>
                  <a:pt x="0" y="3170215"/>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grpSp>
        <p:nvGrpSpPr>
          <p:cNvPr name="Group 194" id="194"/>
          <p:cNvGrpSpPr/>
          <p:nvPr/>
        </p:nvGrpSpPr>
        <p:grpSpPr>
          <a:xfrm rot="0">
            <a:off x="8728367" y="3135506"/>
            <a:ext cx="452056" cy="29146"/>
            <a:chOff x="0" y="0"/>
            <a:chExt cx="602742" cy="38862"/>
          </a:xfrm>
        </p:grpSpPr>
        <p:sp>
          <p:nvSpPr>
            <p:cNvPr name="Freeform 195" id="195" descr="preencoded.png"/>
            <p:cNvSpPr/>
            <p:nvPr/>
          </p:nvSpPr>
          <p:spPr>
            <a:xfrm flipH="false" flipV="false" rot="0">
              <a:off x="0" y="0"/>
              <a:ext cx="602742" cy="38862"/>
            </a:xfrm>
            <a:custGeom>
              <a:avLst/>
              <a:gdLst/>
              <a:ahLst/>
              <a:cxnLst/>
              <a:rect r="r" b="b" t="t" l="l"/>
              <a:pathLst>
                <a:path h="38862" w="602742">
                  <a:moveTo>
                    <a:pt x="0" y="0"/>
                  </a:moveTo>
                  <a:lnTo>
                    <a:pt x="602742" y="0"/>
                  </a:lnTo>
                  <a:lnTo>
                    <a:pt x="602742" y="38862"/>
                  </a:lnTo>
                  <a:lnTo>
                    <a:pt x="0" y="38862"/>
                  </a:lnTo>
                  <a:lnTo>
                    <a:pt x="0" y="0"/>
                  </a:lnTo>
                  <a:close/>
                </a:path>
              </a:pathLst>
            </a:custGeom>
            <a:blipFill>
              <a:blip r:embed="rId46"/>
              <a:stretch>
                <a:fillRect l="-2656" t="0" r="-2654" b="0"/>
              </a:stretch>
            </a:blipFill>
          </p:spPr>
        </p:sp>
      </p:grpSp>
      <p:grpSp>
        <p:nvGrpSpPr>
          <p:cNvPr name="Group 196" id="196"/>
          <p:cNvGrpSpPr/>
          <p:nvPr/>
        </p:nvGrpSpPr>
        <p:grpSpPr>
          <a:xfrm rot="0">
            <a:off x="7561669" y="2216725"/>
            <a:ext cx="926020" cy="1006316"/>
            <a:chOff x="0" y="0"/>
            <a:chExt cx="1234694" cy="1341755"/>
          </a:xfrm>
        </p:grpSpPr>
        <p:sp>
          <p:nvSpPr>
            <p:cNvPr name="Freeform 197" id="197" descr="preencoded.png"/>
            <p:cNvSpPr/>
            <p:nvPr/>
          </p:nvSpPr>
          <p:spPr>
            <a:xfrm flipH="false" flipV="false" rot="0">
              <a:off x="0" y="0"/>
              <a:ext cx="1234694" cy="1341755"/>
            </a:xfrm>
            <a:custGeom>
              <a:avLst/>
              <a:gdLst/>
              <a:ahLst/>
              <a:cxnLst/>
              <a:rect r="r" b="b" t="t" l="l"/>
              <a:pathLst>
                <a:path h="1341755" w="1234694">
                  <a:moveTo>
                    <a:pt x="0" y="0"/>
                  </a:moveTo>
                  <a:lnTo>
                    <a:pt x="1234694" y="0"/>
                  </a:lnTo>
                  <a:lnTo>
                    <a:pt x="1234694" y="1341755"/>
                  </a:lnTo>
                  <a:lnTo>
                    <a:pt x="0" y="1341755"/>
                  </a:lnTo>
                  <a:lnTo>
                    <a:pt x="0" y="0"/>
                  </a:lnTo>
                  <a:close/>
                </a:path>
              </a:pathLst>
            </a:custGeom>
            <a:blipFill>
              <a:blip r:embed="rId47"/>
              <a:stretch>
                <a:fillRect l="0" t="-11" r="0" b="-11"/>
              </a:stretch>
            </a:blipFill>
          </p:spPr>
        </p:sp>
      </p:grpSp>
      <p:grpSp>
        <p:nvGrpSpPr>
          <p:cNvPr name="Group 198" id="198"/>
          <p:cNvGrpSpPr/>
          <p:nvPr/>
        </p:nvGrpSpPr>
        <p:grpSpPr>
          <a:xfrm rot="0">
            <a:off x="7452303" y="3767547"/>
            <a:ext cx="4032390" cy="754561"/>
            <a:chOff x="0" y="0"/>
            <a:chExt cx="5376520" cy="1006081"/>
          </a:xfrm>
        </p:grpSpPr>
        <p:sp>
          <p:nvSpPr>
            <p:cNvPr name="Freeform 199" id="199"/>
            <p:cNvSpPr/>
            <p:nvPr/>
          </p:nvSpPr>
          <p:spPr>
            <a:xfrm flipH="false" flipV="false" rot="0">
              <a:off x="0" y="0"/>
              <a:ext cx="5376545" cy="1006094"/>
            </a:xfrm>
            <a:custGeom>
              <a:avLst/>
              <a:gdLst/>
              <a:ahLst/>
              <a:cxnLst/>
              <a:rect r="r" b="b" t="t" l="l"/>
              <a:pathLst>
                <a:path h="1006094" w="5376545">
                  <a:moveTo>
                    <a:pt x="0" y="0"/>
                  </a:moveTo>
                  <a:lnTo>
                    <a:pt x="5376545" y="0"/>
                  </a:lnTo>
                  <a:lnTo>
                    <a:pt x="5376545" y="1006094"/>
                  </a:lnTo>
                  <a:lnTo>
                    <a:pt x="0" y="1006094"/>
                  </a:lnTo>
                  <a:close/>
                </a:path>
              </a:pathLst>
            </a:custGeom>
            <a:blipFill>
              <a:blip r:embed="rId3">
                <a:alphaModFix amt="0"/>
              </a:blip>
              <a:stretch>
                <a:fillRect l="0" t="-54055" r="0" b="-54053"/>
              </a:stretch>
            </a:blipFill>
          </p:spPr>
        </p:sp>
      </p:grpSp>
      <p:grpSp>
        <p:nvGrpSpPr>
          <p:cNvPr name="Group 200" id="200"/>
          <p:cNvGrpSpPr/>
          <p:nvPr/>
        </p:nvGrpSpPr>
        <p:grpSpPr>
          <a:xfrm rot="0">
            <a:off x="7452303" y="3724685"/>
            <a:ext cx="4032390" cy="797423"/>
            <a:chOff x="0" y="0"/>
            <a:chExt cx="5376520" cy="1063231"/>
          </a:xfrm>
        </p:grpSpPr>
        <p:sp>
          <p:nvSpPr>
            <p:cNvPr name="Freeform 201" id="201"/>
            <p:cNvSpPr/>
            <p:nvPr/>
          </p:nvSpPr>
          <p:spPr>
            <a:xfrm flipH="false" flipV="false" rot="0">
              <a:off x="0" y="0"/>
              <a:ext cx="5376520" cy="1063227"/>
            </a:xfrm>
            <a:custGeom>
              <a:avLst/>
              <a:gdLst/>
              <a:ahLst/>
              <a:cxnLst/>
              <a:rect r="r" b="b" t="t" l="l"/>
              <a:pathLst>
                <a:path h="1063227" w="5376520">
                  <a:moveTo>
                    <a:pt x="0" y="0"/>
                  </a:moveTo>
                  <a:lnTo>
                    <a:pt x="5376520" y="0"/>
                  </a:lnTo>
                  <a:lnTo>
                    <a:pt x="5376520" y="1063227"/>
                  </a:lnTo>
                  <a:lnTo>
                    <a:pt x="0" y="1063227"/>
                  </a:lnTo>
                  <a:close/>
                </a:path>
              </a:pathLst>
            </a:custGeom>
            <a:blipFill>
              <a:blip r:embed="rId4">
                <a:alphaModFix amt="0"/>
              </a:blip>
              <a:stretch>
                <a:fillRect l="0" t="-48531" r="0" b="-48531"/>
              </a:stretch>
            </a:blipFill>
          </p:spPr>
        </p:sp>
        <p:sp>
          <p:nvSpPr>
            <p:cNvPr name="TextBox 202" id="202"/>
            <p:cNvSpPr txBox="true"/>
            <p:nvPr/>
          </p:nvSpPr>
          <p:spPr>
            <a:xfrm>
              <a:off x="0" y="-57150"/>
              <a:ext cx="5376520" cy="1120381"/>
            </a:xfrm>
            <a:prstGeom prst="rect">
              <a:avLst/>
            </a:prstGeom>
          </p:spPr>
          <p:txBody>
            <a:bodyPr anchor="ctr" rtlCol="false" tIns="0" lIns="0" bIns="0" rIns="0"/>
            <a:lstStyle/>
            <a:p>
              <a:pPr algn="l">
                <a:lnSpc>
                  <a:spcPts val="2849"/>
                </a:lnSpc>
              </a:pPr>
              <a:r>
                <a:rPr lang="en-US" sz="1899">
                  <a:solidFill>
                    <a:srgbClr val="646464"/>
                  </a:solidFill>
                  <a:latin typeface="TT Commons Pro"/>
                  <a:ea typeface="TT Commons Pro"/>
                  <a:cs typeface="TT Commons Pro"/>
                  <a:sym typeface="TT Commons Pro"/>
                </a:rPr>
                <a:t>Data wrangling, aggregation and</a:t>
              </a:r>
            </a:p>
            <a:p>
              <a:pPr algn="l">
                <a:lnSpc>
                  <a:spcPts val="2849"/>
                </a:lnSpc>
              </a:pPr>
              <a:r>
                <a:rPr lang="en-US" sz="1899">
                  <a:solidFill>
                    <a:srgbClr val="646464"/>
                  </a:solidFill>
                  <a:latin typeface="TT Commons Pro"/>
                  <a:ea typeface="TT Commons Pro"/>
                  <a:cs typeface="TT Commons Pro"/>
                  <a:sym typeface="TT Commons Pro"/>
                </a:rPr>
                <a:t>statistical computation.</a:t>
              </a:r>
            </a:p>
          </p:txBody>
        </p:sp>
      </p:grpSp>
      <p:grpSp>
        <p:nvGrpSpPr>
          <p:cNvPr name="Group 203" id="203"/>
          <p:cNvGrpSpPr/>
          <p:nvPr/>
        </p:nvGrpSpPr>
        <p:grpSpPr>
          <a:xfrm rot="0">
            <a:off x="8655444" y="2576141"/>
            <a:ext cx="2668829" cy="408346"/>
            <a:chOff x="0" y="0"/>
            <a:chExt cx="3558438" cy="544462"/>
          </a:xfrm>
        </p:grpSpPr>
        <p:sp>
          <p:nvSpPr>
            <p:cNvPr name="Freeform 204" id="204"/>
            <p:cNvSpPr/>
            <p:nvPr/>
          </p:nvSpPr>
          <p:spPr>
            <a:xfrm flipH="false" flipV="false" rot="0">
              <a:off x="0" y="0"/>
              <a:ext cx="3558413" cy="544449"/>
            </a:xfrm>
            <a:custGeom>
              <a:avLst/>
              <a:gdLst/>
              <a:ahLst/>
              <a:cxnLst/>
              <a:rect r="r" b="b" t="t" l="l"/>
              <a:pathLst>
                <a:path h="544449" w="3558413">
                  <a:moveTo>
                    <a:pt x="0" y="0"/>
                  </a:moveTo>
                  <a:lnTo>
                    <a:pt x="3558413" y="0"/>
                  </a:lnTo>
                  <a:lnTo>
                    <a:pt x="3558413" y="544449"/>
                  </a:lnTo>
                  <a:lnTo>
                    <a:pt x="0" y="544449"/>
                  </a:lnTo>
                  <a:close/>
                </a:path>
              </a:pathLst>
            </a:custGeom>
            <a:blipFill>
              <a:blip r:embed="rId3">
                <a:alphaModFix amt="0"/>
              </a:blip>
              <a:stretch>
                <a:fillRect l="0" t="-77261" r="0" b="-77263"/>
              </a:stretch>
            </a:blipFill>
          </p:spPr>
        </p:sp>
      </p:grpSp>
      <p:grpSp>
        <p:nvGrpSpPr>
          <p:cNvPr name="Group 205" id="205"/>
          <p:cNvGrpSpPr/>
          <p:nvPr/>
        </p:nvGrpSpPr>
        <p:grpSpPr>
          <a:xfrm rot="0">
            <a:off x="8655444" y="2590429"/>
            <a:ext cx="2668819" cy="394059"/>
            <a:chOff x="0" y="0"/>
            <a:chExt cx="3558426" cy="525412"/>
          </a:xfrm>
        </p:grpSpPr>
        <p:sp>
          <p:nvSpPr>
            <p:cNvPr name="Freeform 206" id="206"/>
            <p:cNvSpPr/>
            <p:nvPr/>
          </p:nvSpPr>
          <p:spPr>
            <a:xfrm flipH="false" flipV="false" rot="0">
              <a:off x="0" y="0"/>
              <a:ext cx="3558432" cy="525409"/>
            </a:xfrm>
            <a:custGeom>
              <a:avLst/>
              <a:gdLst/>
              <a:ahLst/>
              <a:cxnLst/>
              <a:rect r="r" b="b" t="t" l="l"/>
              <a:pathLst>
                <a:path h="525409" w="3558432">
                  <a:moveTo>
                    <a:pt x="0" y="0"/>
                  </a:moveTo>
                  <a:lnTo>
                    <a:pt x="3558432" y="0"/>
                  </a:lnTo>
                  <a:lnTo>
                    <a:pt x="3558432" y="525409"/>
                  </a:lnTo>
                  <a:lnTo>
                    <a:pt x="0" y="525409"/>
                  </a:lnTo>
                  <a:close/>
                </a:path>
              </a:pathLst>
            </a:custGeom>
            <a:blipFill>
              <a:blip r:embed="rId4">
                <a:alphaModFix amt="0"/>
              </a:blip>
              <a:stretch>
                <a:fillRect l="0" t="-81965" r="0" b="-81966"/>
              </a:stretch>
            </a:blipFill>
          </p:spPr>
        </p:sp>
        <p:sp>
          <p:nvSpPr>
            <p:cNvPr name="TextBox 207" id="207"/>
            <p:cNvSpPr txBox="true"/>
            <p:nvPr/>
          </p:nvSpPr>
          <p:spPr>
            <a:xfrm>
              <a:off x="0" y="19050"/>
              <a:ext cx="3558426" cy="506362"/>
            </a:xfrm>
            <a:prstGeom prst="rect">
              <a:avLst/>
            </a:prstGeom>
          </p:spPr>
          <p:txBody>
            <a:bodyPr anchor="ctr" rtlCol="false" tIns="0" lIns="0" bIns="0" rIns="0"/>
            <a:lstStyle/>
            <a:p>
              <a:pPr algn="l">
                <a:lnSpc>
                  <a:spcPts val="2260"/>
                </a:lnSpc>
              </a:pPr>
              <a:r>
                <a:rPr lang="en-US" sz="2100" b="true">
                  <a:solidFill>
                    <a:srgbClr val="464646"/>
                  </a:solidFill>
                  <a:latin typeface="Georgia Bold"/>
                  <a:ea typeface="Georgia Bold"/>
                  <a:cs typeface="Georgia Bold"/>
                  <a:sym typeface="Georgia Bold"/>
                </a:rPr>
                <a:t>Pandas &amp; NumPy</a:t>
              </a:r>
            </a:p>
          </p:txBody>
        </p:sp>
      </p:grpSp>
      <p:sp>
        <p:nvSpPr>
          <p:cNvPr name="Freeform 208" id="208"/>
          <p:cNvSpPr/>
          <p:nvPr/>
        </p:nvSpPr>
        <p:spPr>
          <a:xfrm flipH="false" flipV="false" rot="0">
            <a:off x="3274962" y="1933261"/>
            <a:ext cx="3884781" cy="3177454"/>
          </a:xfrm>
          <a:custGeom>
            <a:avLst/>
            <a:gdLst/>
            <a:ahLst/>
            <a:cxnLst/>
            <a:rect r="r" b="b" t="t" l="l"/>
            <a:pathLst>
              <a:path h="3177454" w="3884781">
                <a:moveTo>
                  <a:pt x="0" y="0"/>
                </a:moveTo>
                <a:lnTo>
                  <a:pt x="3884780" y="0"/>
                </a:lnTo>
                <a:lnTo>
                  <a:pt x="3884780" y="3177454"/>
                </a:lnTo>
                <a:lnTo>
                  <a:pt x="0" y="3177454"/>
                </a:lnTo>
                <a:lnTo>
                  <a:pt x="0" y="0"/>
                </a:lnTo>
                <a:close/>
              </a:path>
            </a:pathLst>
          </a:custGeom>
          <a:blipFill>
            <a:blip r:embed="rId48">
              <a:extLst>
                <a:ext uri="{96DAC541-7B7A-43D3-8B79-37D633B846F1}">
                  <asvg:svgBlip xmlns:asvg="http://schemas.microsoft.com/office/drawing/2016/SVG/main" r:embed="rId49"/>
                </a:ext>
              </a:extLst>
            </a:blip>
            <a:stretch>
              <a:fillRect l="0" t="0" r="0" b="0"/>
            </a:stretch>
          </a:blipFill>
        </p:spPr>
      </p:sp>
      <p:grpSp>
        <p:nvGrpSpPr>
          <p:cNvPr name="Group 209" id="209"/>
          <p:cNvGrpSpPr/>
          <p:nvPr/>
        </p:nvGrpSpPr>
        <p:grpSpPr>
          <a:xfrm rot="0">
            <a:off x="4732420" y="3135506"/>
            <a:ext cx="444818" cy="29146"/>
            <a:chOff x="0" y="0"/>
            <a:chExt cx="593090" cy="38862"/>
          </a:xfrm>
        </p:grpSpPr>
        <p:sp>
          <p:nvSpPr>
            <p:cNvPr name="Freeform 210" id="210" descr="preencoded.png"/>
            <p:cNvSpPr/>
            <p:nvPr/>
          </p:nvSpPr>
          <p:spPr>
            <a:xfrm flipH="false" flipV="false" rot="0">
              <a:off x="0" y="0"/>
              <a:ext cx="593090" cy="38862"/>
            </a:xfrm>
            <a:custGeom>
              <a:avLst/>
              <a:gdLst/>
              <a:ahLst/>
              <a:cxnLst/>
              <a:rect r="r" b="b" t="t" l="l"/>
              <a:pathLst>
                <a:path h="38862" w="593090">
                  <a:moveTo>
                    <a:pt x="0" y="0"/>
                  </a:moveTo>
                  <a:lnTo>
                    <a:pt x="593090" y="0"/>
                  </a:lnTo>
                  <a:lnTo>
                    <a:pt x="593090" y="38862"/>
                  </a:lnTo>
                  <a:lnTo>
                    <a:pt x="0" y="38862"/>
                  </a:lnTo>
                  <a:lnTo>
                    <a:pt x="0" y="0"/>
                  </a:lnTo>
                  <a:close/>
                </a:path>
              </a:pathLst>
            </a:custGeom>
            <a:blipFill>
              <a:blip r:embed="rId50"/>
              <a:stretch>
                <a:fillRect l="-2967" t="0" r="-2965" b="0"/>
              </a:stretch>
            </a:blipFill>
          </p:spPr>
        </p:sp>
      </p:grpSp>
      <p:grpSp>
        <p:nvGrpSpPr>
          <p:cNvPr name="Group 211" id="211"/>
          <p:cNvGrpSpPr/>
          <p:nvPr/>
        </p:nvGrpSpPr>
        <p:grpSpPr>
          <a:xfrm rot="0">
            <a:off x="3580305" y="2216725"/>
            <a:ext cx="918782" cy="1006316"/>
            <a:chOff x="0" y="0"/>
            <a:chExt cx="1225042" cy="1341755"/>
          </a:xfrm>
        </p:grpSpPr>
        <p:sp>
          <p:nvSpPr>
            <p:cNvPr name="Freeform 212" id="212" descr="preencoded.png"/>
            <p:cNvSpPr/>
            <p:nvPr/>
          </p:nvSpPr>
          <p:spPr>
            <a:xfrm flipH="false" flipV="false" rot="0">
              <a:off x="0" y="0"/>
              <a:ext cx="1225042" cy="1341755"/>
            </a:xfrm>
            <a:custGeom>
              <a:avLst/>
              <a:gdLst/>
              <a:ahLst/>
              <a:cxnLst/>
              <a:rect r="r" b="b" t="t" l="l"/>
              <a:pathLst>
                <a:path h="1341755" w="1225042">
                  <a:moveTo>
                    <a:pt x="0" y="0"/>
                  </a:moveTo>
                  <a:lnTo>
                    <a:pt x="1225042" y="0"/>
                  </a:lnTo>
                  <a:lnTo>
                    <a:pt x="1225042" y="1341755"/>
                  </a:lnTo>
                  <a:lnTo>
                    <a:pt x="0" y="1341755"/>
                  </a:lnTo>
                  <a:lnTo>
                    <a:pt x="0" y="0"/>
                  </a:lnTo>
                  <a:close/>
                </a:path>
              </a:pathLst>
            </a:custGeom>
            <a:blipFill>
              <a:blip r:embed="rId51"/>
              <a:stretch>
                <a:fillRect l="0" t="-55" r="0" b="-55"/>
              </a:stretch>
            </a:blipFill>
          </p:spPr>
        </p:sp>
      </p:grpSp>
      <p:grpSp>
        <p:nvGrpSpPr>
          <p:cNvPr name="Group 213" id="213"/>
          <p:cNvGrpSpPr/>
          <p:nvPr/>
        </p:nvGrpSpPr>
        <p:grpSpPr>
          <a:xfrm rot="0">
            <a:off x="3388614" y="3794503"/>
            <a:ext cx="3700624" cy="816997"/>
            <a:chOff x="0" y="0"/>
            <a:chExt cx="4934166" cy="1089330"/>
          </a:xfrm>
        </p:grpSpPr>
        <p:sp>
          <p:nvSpPr>
            <p:cNvPr name="Freeform 214" id="214"/>
            <p:cNvSpPr/>
            <p:nvPr/>
          </p:nvSpPr>
          <p:spPr>
            <a:xfrm flipH="false" flipV="false" rot="0">
              <a:off x="0" y="0"/>
              <a:ext cx="4934204" cy="1089279"/>
            </a:xfrm>
            <a:custGeom>
              <a:avLst/>
              <a:gdLst/>
              <a:ahLst/>
              <a:cxnLst/>
              <a:rect r="r" b="b" t="t" l="l"/>
              <a:pathLst>
                <a:path h="1089279" w="4934204">
                  <a:moveTo>
                    <a:pt x="0" y="0"/>
                  </a:moveTo>
                  <a:lnTo>
                    <a:pt x="4934204" y="0"/>
                  </a:lnTo>
                  <a:lnTo>
                    <a:pt x="4934204" y="1089279"/>
                  </a:lnTo>
                  <a:lnTo>
                    <a:pt x="0" y="1089279"/>
                  </a:lnTo>
                  <a:close/>
                </a:path>
              </a:pathLst>
            </a:custGeom>
            <a:blipFill>
              <a:blip r:embed="rId3">
                <a:alphaModFix amt="0"/>
              </a:blip>
              <a:stretch>
                <a:fillRect l="0" t="-38198" r="0" b="-38203"/>
              </a:stretch>
            </a:blipFill>
          </p:spPr>
        </p:sp>
      </p:grpSp>
      <p:grpSp>
        <p:nvGrpSpPr>
          <p:cNvPr name="Group 215" id="215"/>
          <p:cNvGrpSpPr/>
          <p:nvPr/>
        </p:nvGrpSpPr>
        <p:grpSpPr>
          <a:xfrm rot="0">
            <a:off x="3388614" y="3758784"/>
            <a:ext cx="3700634" cy="852716"/>
            <a:chOff x="0" y="0"/>
            <a:chExt cx="4934179" cy="1136955"/>
          </a:xfrm>
        </p:grpSpPr>
        <p:sp>
          <p:nvSpPr>
            <p:cNvPr name="Freeform 216" id="216"/>
            <p:cNvSpPr/>
            <p:nvPr/>
          </p:nvSpPr>
          <p:spPr>
            <a:xfrm flipH="false" flipV="false" rot="0">
              <a:off x="0" y="0"/>
              <a:ext cx="4934179" cy="1136958"/>
            </a:xfrm>
            <a:custGeom>
              <a:avLst/>
              <a:gdLst/>
              <a:ahLst/>
              <a:cxnLst/>
              <a:rect r="r" b="b" t="t" l="l"/>
              <a:pathLst>
                <a:path h="1136958" w="4934179">
                  <a:moveTo>
                    <a:pt x="0" y="0"/>
                  </a:moveTo>
                  <a:lnTo>
                    <a:pt x="4934179" y="0"/>
                  </a:lnTo>
                  <a:lnTo>
                    <a:pt x="4934179" y="1136958"/>
                  </a:lnTo>
                  <a:lnTo>
                    <a:pt x="0" y="1136958"/>
                  </a:lnTo>
                  <a:close/>
                </a:path>
              </a:pathLst>
            </a:custGeom>
            <a:blipFill>
              <a:blip r:embed="rId4">
                <a:alphaModFix amt="0"/>
              </a:blip>
              <a:stretch>
                <a:fillRect l="0" t="-34561" r="0" b="-34561"/>
              </a:stretch>
            </a:blipFill>
          </p:spPr>
        </p:sp>
        <p:sp>
          <p:nvSpPr>
            <p:cNvPr name="TextBox 217" id="217"/>
            <p:cNvSpPr txBox="true"/>
            <p:nvPr/>
          </p:nvSpPr>
          <p:spPr>
            <a:xfrm>
              <a:off x="0" y="-47625"/>
              <a:ext cx="4934179" cy="1184580"/>
            </a:xfrm>
            <a:prstGeom prst="rect">
              <a:avLst/>
            </a:prstGeom>
          </p:spPr>
          <p:txBody>
            <a:bodyPr anchor="ctr" rtlCol="false" tIns="0" lIns="0" bIns="0" rIns="0"/>
            <a:lstStyle/>
            <a:p>
              <a:pPr algn="l">
                <a:lnSpc>
                  <a:spcPts val="2850"/>
                </a:lnSpc>
              </a:pPr>
              <a:r>
                <a:rPr lang="en-US" sz="1900">
                  <a:solidFill>
                    <a:srgbClr val="6A6A6A"/>
                  </a:solidFill>
                  <a:latin typeface="TT Commons Pro"/>
                  <a:ea typeface="TT Commons Pro"/>
                  <a:cs typeface="TT Commons Pro"/>
                  <a:sym typeface="TT Commons Pro"/>
                </a:rPr>
                <a:t>Core language for data processing and analysis.</a:t>
              </a:r>
            </a:p>
          </p:txBody>
        </p:sp>
      </p:grpSp>
      <p:grpSp>
        <p:nvGrpSpPr>
          <p:cNvPr name="Group 218" id="218"/>
          <p:cNvGrpSpPr/>
          <p:nvPr/>
        </p:nvGrpSpPr>
        <p:grpSpPr>
          <a:xfrm rot="0">
            <a:off x="4641275" y="2576141"/>
            <a:ext cx="1305249" cy="398402"/>
            <a:chOff x="0" y="0"/>
            <a:chExt cx="1740332" cy="531203"/>
          </a:xfrm>
        </p:grpSpPr>
        <p:sp>
          <p:nvSpPr>
            <p:cNvPr name="Freeform 219" id="219"/>
            <p:cNvSpPr/>
            <p:nvPr/>
          </p:nvSpPr>
          <p:spPr>
            <a:xfrm flipH="false" flipV="false" rot="0">
              <a:off x="0" y="0"/>
              <a:ext cx="1740281" cy="531241"/>
            </a:xfrm>
            <a:custGeom>
              <a:avLst/>
              <a:gdLst/>
              <a:ahLst/>
              <a:cxnLst/>
              <a:rect r="r" b="b" t="t" l="l"/>
              <a:pathLst>
                <a:path h="531241" w="1740281">
                  <a:moveTo>
                    <a:pt x="0" y="0"/>
                  </a:moveTo>
                  <a:lnTo>
                    <a:pt x="1740281" y="0"/>
                  </a:lnTo>
                  <a:lnTo>
                    <a:pt x="1740281" y="531241"/>
                  </a:lnTo>
                  <a:lnTo>
                    <a:pt x="0" y="531241"/>
                  </a:lnTo>
                  <a:close/>
                </a:path>
              </a:pathLst>
            </a:custGeom>
            <a:blipFill>
              <a:blip r:embed="rId3">
                <a:alphaModFix amt="0"/>
              </a:blip>
              <a:stretch>
                <a:fillRect l="0" t="-13791" r="-2" b="-13784"/>
              </a:stretch>
            </a:blipFill>
          </p:spPr>
        </p:sp>
      </p:grpSp>
      <p:grpSp>
        <p:nvGrpSpPr>
          <p:cNvPr name="Group 220" id="220"/>
          <p:cNvGrpSpPr/>
          <p:nvPr/>
        </p:nvGrpSpPr>
        <p:grpSpPr>
          <a:xfrm rot="0">
            <a:off x="4641275" y="2576141"/>
            <a:ext cx="1305249" cy="398412"/>
            <a:chOff x="0" y="0"/>
            <a:chExt cx="1740332" cy="531216"/>
          </a:xfrm>
        </p:grpSpPr>
        <p:sp>
          <p:nvSpPr>
            <p:cNvPr name="Freeform 221" id="221"/>
            <p:cNvSpPr/>
            <p:nvPr/>
          </p:nvSpPr>
          <p:spPr>
            <a:xfrm flipH="false" flipV="false" rot="0">
              <a:off x="0" y="0"/>
              <a:ext cx="1740332" cy="531212"/>
            </a:xfrm>
            <a:custGeom>
              <a:avLst/>
              <a:gdLst/>
              <a:ahLst/>
              <a:cxnLst/>
              <a:rect r="r" b="b" t="t" l="l"/>
              <a:pathLst>
                <a:path h="531212" w="1740332">
                  <a:moveTo>
                    <a:pt x="0" y="0"/>
                  </a:moveTo>
                  <a:lnTo>
                    <a:pt x="1740332" y="0"/>
                  </a:lnTo>
                  <a:lnTo>
                    <a:pt x="1740332" y="531212"/>
                  </a:lnTo>
                  <a:lnTo>
                    <a:pt x="0" y="531212"/>
                  </a:lnTo>
                  <a:close/>
                </a:path>
              </a:pathLst>
            </a:custGeom>
            <a:blipFill>
              <a:blip r:embed="rId4">
                <a:alphaModFix amt="0"/>
              </a:blip>
              <a:stretch>
                <a:fillRect l="0" t="-13835" r="0" b="-13836"/>
              </a:stretch>
            </a:blipFill>
          </p:spPr>
        </p:sp>
        <p:sp>
          <p:nvSpPr>
            <p:cNvPr name="TextBox 222" id="222"/>
            <p:cNvSpPr txBox="true"/>
            <p:nvPr/>
          </p:nvSpPr>
          <p:spPr>
            <a:xfrm>
              <a:off x="0" y="0"/>
              <a:ext cx="1740332" cy="531216"/>
            </a:xfrm>
            <a:prstGeom prst="rect">
              <a:avLst/>
            </a:prstGeom>
          </p:spPr>
          <p:txBody>
            <a:bodyPr anchor="ctr" rtlCol="false" tIns="0" lIns="0" bIns="0" rIns="0"/>
            <a:lstStyle/>
            <a:p>
              <a:pPr algn="l">
                <a:lnSpc>
                  <a:spcPts val="2483"/>
                </a:lnSpc>
              </a:pPr>
              <a:r>
                <a:rPr lang="en-US" sz="2100" b="true">
                  <a:solidFill>
                    <a:srgbClr val="404040"/>
                  </a:solidFill>
                  <a:latin typeface="Georgia Bold"/>
                  <a:ea typeface="Georgia Bold"/>
                  <a:cs typeface="Georgia Bold"/>
                  <a:sym typeface="Georgia Bold"/>
                </a:rPr>
                <a:t>Python</a:t>
              </a:r>
            </a:p>
          </p:txBody>
        </p:sp>
      </p:grpSp>
      <p:grpSp>
        <p:nvGrpSpPr>
          <p:cNvPr name="Group 223" id="223"/>
          <p:cNvGrpSpPr/>
          <p:nvPr/>
        </p:nvGrpSpPr>
        <p:grpSpPr>
          <a:xfrm rot="0">
            <a:off x="14933743" y="648976"/>
            <a:ext cx="422910" cy="619792"/>
            <a:chOff x="0" y="0"/>
            <a:chExt cx="563880" cy="826389"/>
          </a:xfrm>
        </p:grpSpPr>
        <p:sp>
          <p:nvSpPr>
            <p:cNvPr name="Freeform 224" id="224" descr="preencoded.png"/>
            <p:cNvSpPr/>
            <p:nvPr/>
          </p:nvSpPr>
          <p:spPr>
            <a:xfrm flipH="false" flipV="false" rot="0">
              <a:off x="0" y="0"/>
              <a:ext cx="563880" cy="826389"/>
            </a:xfrm>
            <a:custGeom>
              <a:avLst/>
              <a:gdLst/>
              <a:ahLst/>
              <a:cxnLst/>
              <a:rect r="r" b="b" t="t" l="l"/>
              <a:pathLst>
                <a:path h="826389" w="563880">
                  <a:moveTo>
                    <a:pt x="0" y="0"/>
                  </a:moveTo>
                  <a:lnTo>
                    <a:pt x="563880" y="0"/>
                  </a:lnTo>
                  <a:lnTo>
                    <a:pt x="563880" y="826389"/>
                  </a:lnTo>
                  <a:lnTo>
                    <a:pt x="0" y="826389"/>
                  </a:lnTo>
                  <a:lnTo>
                    <a:pt x="0" y="0"/>
                  </a:lnTo>
                  <a:close/>
                </a:path>
              </a:pathLst>
            </a:custGeom>
            <a:blipFill>
              <a:blip r:embed="rId52"/>
              <a:stretch>
                <a:fillRect l="0" t="-433" r="0" b="-434"/>
              </a:stretch>
            </a:blipFill>
          </p:spPr>
        </p:sp>
      </p:grpSp>
      <p:grpSp>
        <p:nvGrpSpPr>
          <p:cNvPr name="Group 225" id="225"/>
          <p:cNvGrpSpPr/>
          <p:nvPr/>
        </p:nvGrpSpPr>
        <p:grpSpPr>
          <a:xfrm rot="0">
            <a:off x="6059538" y="7296"/>
            <a:ext cx="430244" cy="29146"/>
            <a:chOff x="0" y="0"/>
            <a:chExt cx="573659" cy="38862"/>
          </a:xfrm>
        </p:grpSpPr>
        <p:sp>
          <p:nvSpPr>
            <p:cNvPr name="Freeform 226" id="226" descr="preencoded.png"/>
            <p:cNvSpPr/>
            <p:nvPr/>
          </p:nvSpPr>
          <p:spPr>
            <a:xfrm flipH="false" flipV="false" rot="0">
              <a:off x="0" y="0"/>
              <a:ext cx="573659" cy="38862"/>
            </a:xfrm>
            <a:custGeom>
              <a:avLst/>
              <a:gdLst/>
              <a:ahLst/>
              <a:cxnLst/>
              <a:rect r="r" b="b" t="t" l="l"/>
              <a:pathLst>
                <a:path h="38862" w="573659">
                  <a:moveTo>
                    <a:pt x="0" y="0"/>
                  </a:moveTo>
                  <a:lnTo>
                    <a:pt x="573659" y="0"/>
                  </a:lnTo>
                  <a:lnTo>
                    <a:pt x="573659" y="38862"/>
                  </a:lnTo>
                  <a:lnTo>
                    <a:pt x="0" y="38862"/>
                  </a:lnTo>
                  <a:lnTo>
                    <a:pt x="0" y="0"/>
                  </a:lnTo>
                  <a:close/>
                </a:path>
              </a:pathLst>
            </a:custGeom>
            <a:blipFill>
              <a:blip r:embed="rId53"/>
              <a:stretch>
                <a:fillRect l="0" t="-4673" r="0" b="-4673"/>
              </a:stretch>
            </a:blipFill>
          </p:spPr>
        </p:sp>
      </p:grpSp>
      <p:grpSp>
        <p:nvGrpSpPr>
          <p:cNvPr name="Group 227" id="227"/>
          <p:cNvGrpSpPr/>
          <p:nvPr/>
        </p:nvGrpSpPr>
        <p:grpSpPr>
          <a:xfrm rot="0">
            <a:off x="2121932" y="0"/>
            <a:ext cx="780193" cy="714566"/>
            <a:chOff x="0" y="0"/>
            <a:chExt cx="1040257" cy="952754"/>
          </a:xfrm>
        </p:grpSpPr>
        <p:sp>
          <p:nvSpPr>
            <p:cNvPr name="Freeform 228" id="228" descr="preencoded.png"/>
            <p:cNvSpPr/>
            <p:nvPr/>
          </p:nvSpPr>
          <p:spPr>
            <a:xfrm flipH="false" flipV="false" rot="0">
              <a:off x="0" y="0"/>
              <a:ext cx="1040257" cy="952754"/>
            </a:xfrm>
            <a:custGeom>
              <a:avLst/>
              <a:gdLst/>
              <a:ahLst/>
              <a:cxnLst/>
              <a:rect r="r" b="b" t="t" l="l"/>
              <a:pathLst>
                <a:path h="952754" w="1040257">
                  <a:moveTo>
                    <a:pt x="0" y="0"/>
                  </a:moveTo>
                  <a:lnTo>
                    <a:pt x="1040257" y="0"/>
                  </a:lnTo>
                  <a:lnTo>
                    <a:pt x="1040257" y="952754"/>
                  </a:lnTo>
                  <a:lnTo>
                    <a:pt x="0" y="952754"/>
                  </a:lnTo>
                  <a:lnTo>
                    <a:pt x="0" y="0"/>
                  </a:lnTo>
                  <a:close/>
                </a:path>
              </a:pathLst>
            </a:custGeom>
            <a:blipFill>
              <a:blip r:embed="rId54"/>
              <a:stretch>
                <a:fillRect l="0" t="-89" r="0" b="-90"/>
              </a:stretch>
            </a:blipFill>
          </p:spPr>
        </p:sp>
      </p:grpSp>
      <p:grpSp>
        <p:nvGrpSpPr>
          <p:cNvPr name="Group 229" id="229"/>
          <p:cNvGrpSpPr/>
          <p:nvPr/>
        </p:nvGrpSpPr>
        <p:grpSpPr>
          <a:xfrm rot="0">
            <a:off x="2231307" y="36462"/>
            <a:ext cx="576053" cy="714032"/>
            <a:chOff x="0" y="0"/>
            <a:chExt cx="768071" cy="952043"/>
          </a:xfrm>
        </p:grpSpPr>
        <p:sp>
          <p:nvSpPr>
            <p:cNvPr name="Freeform 230" id="230"/>
            <p:cNvSpPr/>
            <p:nvPr/>
          </p:nvSpPr>
          <p:spPr>
            <a:xfrm flipH="false" flipV="false" rot="0">
              <a:off x="0" y="0"/>
              <a:ext cx="768096" cy="951992"/>
            </a:xfrm>
            <a:custGeom>
              <a:avLst/>
              <a:gdLst/>
              <a:ahLst/>
              <a:cxnLst/>
              <a:rect r="r" b="b" t="t" l="l"/>
              <a:pathLst>
                <a:path h="951992" w="768096">
                  <a:moveTo>
                    <a:pt x="0" y="0"/>
                  </a:moveTo>
                  <a:lnTo>
                    <a:pt x="768096" y="0"/>
                  </a:lnTo>
                  <a:lnTo>
                    <a:pt x="768096" y="951992"/>
                  </a:lnTo>
                  <a:lnTo>
                    <a:pt x="0" y="951992"/>
                  </a:lnTo>
                  <a:close/>
                </a:path>
              </a:pathLst>
            </a:custGeom>
            <a:blipFill>
              <a:blip r:embed="rId3">
                <a:alphaModFix amt="0"/>
              </a:blip>
              <a:stretch>
                <a:fillRect l="-109141" t="0" r="-109140" b="-5"/>
              </a:stretch>
            </a:blipFill>
          </p:spPr>
        </p:sp>
      </p:grpSp>
      <p:grpSp>
        <p:nvGrpSpPr>
          <p:cNvPr name="Group 231" id="231"/>
          <p:cNvGrpSpPr/>
          <p:nvPr/>
        </p:nvGrpSpPr>
        <p:grpSpPr>
          <a:xfrm rot="0">
            <a:off x="2231307" y="143618"/>
            <a:ext cx="576053" cy="606876"/>
            <a:chOff x="0" y="0"/>
            <a:chExt cx="768071" cy="809168"/>
          </a:xfrm>
        </p:grpSpPr>
        <p:sp>
          <p:nvSpPr>
            <p:cNvPr name="Freeform 232" id="232"/>
            <p:cNvSpPr/>
            <p:nvPr/>
          </p:nvSpPr>
          <p:spPr>
            <a:xfrm flipH="false" flipV="false" rot="0">
              <a:off x="0" y="0"/>
              <a:ext cx="768071" cy="809170"/>
            </a:xfrm>
            <a:custGeom>
              <a:avLst/>
              <a:gdLst/>
              <a:ahLst/>
              <a:cxnLst/>
              <a:rect r="r" b="b" t="t" l="l"/>
              <a:pathLst>
                <a:path h="809170" w="768071">
                  <a:moveTo>
                    <a:pt x="0" y="0"/>
                  </a:moveTo>
                  <a:lnTo>
                    <a:pt x="768071" y="0"/>
                  </a:lnTo>
                  <a:lnTo>
                    <a:pt x="768071" y="809170"/>
                  </a:lnTo>
                  <a:lnTo>
                    <a:pt x="0" y="809170"/>
                  </a:lnTo>
                  <a:close/>
                </a:path>
              </a:pathLst>
            </a:custGeom>
            <a:blipFill>
              <a:blip r:embed="rId4">
                <a:alphaModFix amt="0"/>
              </a:blip>
              <a:stretch>
                <a:fillRect l="-85168" t="0" r="-85168" b="0"/>
              </a:stretch>
            </a:blipFill>
          </p:spPr>
        </p:sp>
        <p:sp>
          <p:nvSpPr>
            <p:cNvPr name="TextBox 233" id="233"/>
            <p:cNvSpPr txBox="true"/>
            <p:nvPr/>
          </p:nvSpPr>
          <p:spPr>
            <a:xfrm>
              <a:off x="0" y="142875"/>
              <a:ext cx="768071" cy="666293"/>
            </a:xfrm>
            <a:prstGeom prst="rect">
              <a:avLst/>
            </a:prstGeom>
          </p:spPr>
          <p:txBody>
            <a:bodyPr anchor="ctr" rtlCol="false" tIns="0" lIns="0" bIns="0" rIns="0"/>
            <a:lstStyle/>
            <a:p>
              <a:pPr algn="l">
                <a:lnSpc>
                  <a:spcPts val="2405"/>
                </a:lnSpc>
              </a:pPr>
              <a:r>
                <a:rPr lang="en-US" sz="3298" b="true">
                  <a:solidFill>
                    <a:srgbClr val="D6D1CF"/>
                  </a:solidFill>
                  <a:latin typeface="TT Commons Pro Bold"/>
                  <a:ea typeface="TT Commons Pro Bold"/>
                  <a:cs typeface="TT Commons Pro Bold"/>
                  <a:sym typeface="TT Commons Pro Bold"/>
                </a:rPr>
                <a:t>VS</a:t>
              </a:r>
            </a:p>
          </p:txBody>
        </p:sp>
      </p:grpSp>
      <p:grpSp>
        <p:nvGrpSpPr>
          <p:cNvPr name="Group 234" id="234"/>
          <p:cNvGrpSpPr/>
          <p:nvPr/>
        </p:nvGrpSpPr>
        <p:grpSpPr>
          <a:xfrm rot="0">
            <a:off x="772935" y="0"/>
            <a:ext cx="692753" cy="751046"/>
            <a:chOff x="0" y="0"/>
            <a:chExt cx="923671" cy="1001395"/>
          </a:xfrm>
        </p:grpSpPr>
        <p:sp>
          <p:nvSpPr>
            <p:cNvPr name="Freeform 235" id="235" descr="preencoded.png"/>
            <p:cNvSpPr/>
            <p:nvPr/>
          </p:nvSpPr>
          <p:spPr>
            <a:xfrm flipH="false" flipV="false" rot="0">
              <a:off x="0" y="0"/>
              <a:ext cx="923671" cy="1001395"/>
            </a:xfrm>
            <a:custGeom>
              <a:avLst/>
              <a:gdLst/>
              <a:ahLst/>
              <a:cxnLst/>
              <a:rect r="r" b="b" t="t" l="l"/>
              <a:pathLst>
                <a:path h="1001395" w="923671">
                  <a:moveTo>
                    <a:pt x="0" y="0"/>
                  </a:moveTo>
                  <a:lnTo>
                    <a:pt x="923671" y="0"/>
                  </a:lnTo>
                  <a:lnTo>
                    <a:pt x="923671" y="1001395"/>
                  </a:lnTo>
                  <a:lnTo>
                    <a:pt x="0" y="1001395"/>
                  </a:lnTo>
                  <a:lnTo>
                    <a:pt x="0" y="0"/>
                  </a:lnTo>
                  <a:close/>
                </a:path>
              </a:pathLst>
            </a:custGeom>
            <a:blipFill>
              <a:blip r:embed="rId55"/>
              <a:stretch>
                <a:fillRect l="0" t="-164" r="0" b="-164"/>
              </a:stretch>
            </a:blipFill>
          </p:spPr>
        </p:sp>
      </p:grpSp>
      <p:grpSp>
        <p:nvGrpSpPr>
          <p:cNvPr name="Group 236" id="236"/>
          <p:cNvGrpSpPr/>
          <p:nvPr/>
        </p:nvGrpSpPr>
        <p:grpSpPr>
          <a:xfrm rot="0">
            <a:off x="11127391" y="196882"/>
            <a:ext cx="2165680" cy="1463278"/>
            <a:chOff x="0" y="0"/>
            <a:chExt cx="2887574" cy="1951038"/>
          </a:xfrm>
        </p:grpSpPr>
        <p:sp>
          <p:nvSpPr>
            <p:cNvPr name="Freeform 237" id="237"/>
            <p:cNvSpPr/>
            <p:nvPr/>
          </p:nvSpPr>
          <p:spPr>
            <a:xfrm flipH="false" flipV="false" rot="0">
              <a:off x="0" y="0"/>
              <a:ext cx="2887599" cy="1950974"/>
            </a:xfrm>
            <a:custGeom>
              <a:avLst/>
              <a:gdLst/>
              <a:ahLst/>
              <a:cxnLst/>
              <a:rect r="r" b="b" t="t" l="l"/>
              <a:pathLst>
                <a:path h="1950974" w="2887599">
                  <a:moveTo>
                    <a:pt x="0" y="0"/>
                  </a:moveTo>
                  <a:lnTo>
                    <a:pt x="2887599" y="0"/>
                  </a:lnTo>
                  <a:lnTo>
                    <a:pt x="2887599" y="1950974"/>
                  </a:lnTo>
                  <a:lnTo>
                    <a:pt x="0" y="1950974"/>
                  </a:lnTo>
                  <a:close/>
                </a:path>
              </a:pathLst>
            </a:custGeom>
            <a:blipFill>
              <a:blip r:embed="rId3">
                <a:alphaModFix amt="0"/>
              </a:blip>
              <a:stretch>
                <a:fillRect l="-36750" t="0" r="-36749" b="-3"/>
              </a:stretch>
            </a:blipFill>
          </p:spPr>
        </p:sp>
      </p:grpSp>
      <p:grpSp>
        <p:nvGrpSpPr>
          <p:cNvPr name="Group 238" id="238"/>
          <p:cNvGrpSpPr/>
          <p:nvPr/>
        </p:nvGrpSpPr>
        <p:grpSpPr>
          <a:xfrm rot="0">
            <a:off x="11127391" y="418338"/>
            <a:ext cx="2165680" cy="1241822"/>
            <a:chOff x="0" y="0"/>
            <a:chExt cx="2887574" cy="1655762"/>
          </a:xfrm>
        </p:grpSpPr>
        <p:sp>
          <p:nvSpPr>
            <p:cNvPr name="Freeform 239" id="239"/>
            <p:cNvSpPr/>
            <p:nvPr/>
          </p:nvSpPr>
          <p:spPr>
            <a:xfrm flipH="false" flipV="false" rot="0">
              <a:off x="0" y="0"/>
              <a:ext cx="2887573" cy="1655762"/>
            </a:xfrm>
            <a:custGeom>
              <a:avLst/>
              <a:gdLst/>
              <a:ahLst/>
              <a:cxnLst/>
              <a:rect r="r" b="b" t="t" l="l"/>
              <a:pathLst>
                <a:path h="1655762" w="2887573">
                  <a:moveTo>
                    <a:pt x="0" y="0"/>
                  </a:moveTo>
                  <a:lnTo>
                    <a:pt x="2887573" y="0"/>
                  </a:lnTo>
                  <a:lnTo>
                    <a:pt x="2887573" y="1655762"/>
                  </a:lnTo>
                  <a:lnTo>
                    <a:pt x="0" y="1655762"/>
                  </a:lnTo>
                  <a:close/>
                </a:path>
              </a:pathLst>
            </a:custGeom>
            <a:blipFill>
              <a:blip r:embed="rId4">
                <a:alphaModFix amt="0"/>
              </a:blip>
              <a:stretch>
                <a:fillRect l="-23570" t="0" r="-23570" b="0"/>
              </a:stretch>
            </a:blipFill>
          </p:spPr>
        </p:sp>
        <p:sp>
          <p:nvSpPr>
            <p:cNvPr name="TextBox 240" id="240"/>
            <p:cNvSpPr txBox="true"/>
            <p:nvPr/>
          </p:nvSpPr>
          <p:spPr>
            <a:xfrm>
              <a:off x="0" y="295275"/>
              <a:ext cx="2887574" cy="1360487"/>
            </a:xfrm>
            <a:prstGeom prst="rect">
              <a:avLst/>
            </a:prstGeom>
          </p:spPr>
          <p:txBody>
            <a:bodyPr anchor="ctr" rtlCol="false" tIns="0" lIns="0" bIns="0" rIns="0"/>
            <a:lstStyle/>
            <a:p>
              <a:pPr algn="l">
                <a:lnSpc>
                  <a:spcPts val="4966"/>
                </a:lnSpc>
              </a:pPr>
              <a:r>
                <a:rPr lang="en-US" sz="6763" b="true">
                  <a:solidFill>
                    <a:srgbClr val="CC2C13"/>
                  </a:solidFill>
                  <a:latin typeface="TT Commons Pro Bold"/>
                  <a:ea typeface="TT Commons Pro Bold"/>
                  <a:cs typeface="TT Commons Pro Bold"/>
                  <a:sym typeface="TT Commons Pro Bold"/>
                </a:rPr>
                <a:t>Used</a:t>
              </a:r>
            </a:p>
          </p:txBody>
        </p:sp>
      </p:grpSp>
      <p:grpSp>
        <p:nvGrpSpPr>
          <p:cNvPr name="Group 241" id="241"/>
          <p:cNvGrpSpPr/>
          <p:nvPr/>
        </p:nvGrpSpPr>
        <p:grpSpPr>
          <a:xfrm rot="0">
            <a:off x="6037669" y="182299"/>
            <a:ext cx="4914719" cy="1463764"/>
            <a:chOff x="0" y="0"/>
            <a:chExt cx="6552959" cy="1951685"/>
          </a:xfrm>
        </p:grpSpPr>
        <p:sp>
          <p:nvSpPr>
            <p:cNvPr name="Freeform 242" id="242"/>
            <p:cNvSpPr/>
            <p:nvPr/>
          </p:nvSpPr>
          <p:spPr>
            <a:xfrm flipH="false" flipV="false" rot="0">
              <a:off x="0" y="0"/>
              <a:ext cx="6552946" cy="1951736"/>
            </a:xfrm>
            <a:custGeom>
              <a:avLst/>
              <a:gdLst/>
              <a:ahLst/>
              <a:cxnLst/>
              <a:rect r="r" b="b" t="t" l="l"/>
              <a:pathLst>
                <a:path h="1951736" w="6552946">
                  <a:moveTo>
                    <a:pt x="0" y="0"/>
                  </a:moveTo>
                  <a:lnTo>
                    <a:pt x="6552946" y="0"/>
                  </a:lnTo>
                  <a:lnTo>
                    <a:pt x="6552946" y="1951736"/>
                  </a:lnTo>
                  <a:lnTo>
                    <a:pt x="0" y="1951736"/>
                  </a:lnTo>
                  <a:close/>
                </a:path>
              </a:pathLst>
            </a:custGeom>
            <a:blipFill>
              <a:blip r:embed="rId3">
                <a:alphaModFix amt="0"/>
              </a:blip>
              <a:stretch>
                <a:fillRect l="0" t="-15376" r="0" b="-15374"/>
              </a:stretch>
            </a:blipFill>
          </p:spPr>
        </p:sp>
      </p:grpSp>
      <p:grpSp>
        <p:nvGrpSpPr>
          <p:cNvPr name="Group 243" id="243"/>
          <p:cNvGrpSpPr/>
          <p:nvPr/>
        </p:nvGrpSpPr>
        <p:grpSpPr>
          <a:xfrm rot="0">
            <a:off x="6037669" y="246593"/>
            <a:ext cx="4914719" cy="1399461"/>
            <a:chOff x="0" y="0"/>
            <a:chExt cx="6552959" cy="1865948"/>
          </a:xfrm>
        </p:grpSpPr>
        <p:sp>
          <p:nvSpPr>
            <p:cNvPr name="Freeform 244" id="244"/>
            <p:cNvSpPr/>
            <p:nvPr/>
          </p:nvSpPr>
          <p:spPr>
            <a:xfrm flipH="false" flipV="false" rot="0">
              <a:off x="0" y="0"/>
              <a:ext cx="6552959" cy="1865950"/>
            </a:xfrm>
            <a:custGeom>
              <a:avLst/>
              <a:gdLst/>
              <a:ahLst/>
              <a:cxnLst/>
              <a:rect r="r" b="b" t="t" l="l"/>
              <a:pathLst>
                <a:path h="1865950" w="6552959">
                  <a:moveTo>
                    <a:pt x="0" y="0"/>
                  </a:moveTo>
                  <a:lnTo>
                    <a:pt x="6552959" y="0"/>
                  </a:lnTo>
                  <a:lnTo>
                    <a:pt x="6552959" y="1865950"/>
                  </a:lnTo>
                  <a:lnTo>
                    <a:pt x="0" y="1865950"/>
                  </a:lnTo>
                  <a:close/>
                </a:path>
              </a:pathLst>
            </a:custGeom>
            <a:blipFill>
              <a:blip r:embed="rId4">
                <a:alphaModFix amt="0"/>
              </a:blip>
              <a:stretch>
                <a:fillRect l="0" t="-18428" r="0" b="-18428"/>
              </a:stretch>
            </a:blipFill>
          </p:spPr>
        </p:sp>
        <p:sp>
          <p:nvSpPr>
            <p:cNvPr name="TextBox 245" id="245"/>
            <p:cNvSpPr txBox="true"/>
            <p:nvPr/>
          </p:nvSpPr>
          <p:spPr>
            <a:xfrm>
              <a:off x="0" y="85725"/>
              <a:ext cx="6552959" cy="1780223"/>
            </a:xfrm>
            <a:prstGeom prst="rect">
              <a:avLst/>
            </a:prstGeom>
          </p:spPr>
          <p:txBody>
            <a:bodyPr anchor="ctr" rtlCol="false" tIns="0" lIns="0" bIns="0" rIns="0"/>
            <a:lstStyle/>
            <a:p>
              <a:pPr algn="l">
                <a:lnSpc>
                  <a:spcPts val="7165"/>
                </a:lnSpc>
              </a:pPr>
              <a:r>
                <a:rPr lang="en-US" sz="6779" b="true">
                  <a:solidFill>
                    <a:srgbClr val="DCDCDC"/>
                  </a:solidFill>
                  <a:latin typeface="TT Commons Pro Bold"/>
                  <a:ea typeface="TT Commons Pro Bold"/>
                  <a:cs typeface="TT Commons Pro Bold"/>
                  <a:sym typeface="TT Commons Pro Bold"/>
                </a:rPr>
                <a:t>Technology</a:t>
              </a:r>
            </a:p>
          </p:txBody>
        </p:sp>
      </p:grpSp>
      <p:grpSp>
        <p:nvGrpSpPr>
          <p:cNvPr name="Group 246" id="246"/>
          <p:cNvGrpSpPr/>
          <p:nvPr/>
        </p:nvGrpSpPr>
        <p:grpSpPr>
          <a:xfrm rot="0">
            <a:off x="517722" y="823979"/>
            <a:ext cx="1268787" cy="497834"/>
            <a:chOff x="0" y="0"/>
            <a:chExt cx="1691716" cy="663778"/>
          </a:xfrm>
        </p:grpSpPr>
        <p:sp>
          <p:nvSpPr>
            <p:cNvPr name="Freeform 247" id="247"/>
            <p:cNvSpPr/>
            <p:nvPr/>
          </p:nvSpPr>
          <p:spPr>
            <a:xfrm flipH="false" flipV="false" rot="0">
              <a:off x="0" y="0"/>
              <a:ext cx="1691767" cy="663829"/>
            </a:xfrm>
            <a:custGeom>
              <a:avLst/>
              <a:gdLst/>
              <a:ahLst/>
              <a:cxnLst/>
              <a:rect r="r" b="b" t="t" l="l"/>
              <a:pathLst>
                <a:path h="663829" w="1691767">
                  <a:moveTo>
                    <a:pt x="0" y="0"/>
                  </a:moveTo>
                  <a:lnTo>
                    <a:pt x="1691767" y="0"/>
                  </a:lnTo>
                  <a:lnTo>
                    <a:pt x="1691767" y="663829"/>
                  </a:lnTo>
                  <a:lnTo>
                    <a:pt x="0" y="663829"/>
                  </a:lnTo>
                  <a:close/>
                </a:path>
              </a:pathLst>
            </a:custGeom>
            <a:blipFill>
              <a:blip r:embed="rId3">
                <a:alphaModFix amt="0"/>
              </a:blip>
              <a:stretch>
                <a:fillRect l="-377" t="0" r="-374" b="7"/>
              </a:stretch>
            </a:blipFill>
          </p:spPr>
        </p:sp>
      </p:grpSp>
      <p:grpSp>
        <p:nvGrpSpPr>
          <p:cNvPr name="Group 248" id="248"/>
          <p:cNvGrpSpPr/>
          <p:nvPr/>
        </p:nvGrpSpPr>
        <p:grpSpPr>
          <a:xfrm rot="0">
            <a:off x="517722" y="888273"/>
            <a:ext cx="1268787" cy="433540"/>
            <a:chOff x="0" y="0"/>
            <a:chExt cx="1691716" cy="578053"/>
          </a:xfrm>
        </p:grpSpPr>
        <p:sp>
          <p:nvSpPr>
            <p:cNvPr name="Freeform 249" id="249"/>
            <p:cNvSpPr/>
            <p:nvPr/>
          </p:nvSpPr>
          <p:spPr>
            <a:xfrm flipH="false" flipV="false" rot="0">
              <a:off x="0" y="0"/>
              <a:ext cx="1691716" cy="578052"/>
            </a:xfrm>
            <a:custGeom>
              <a:avLst/>
              <a:gdLst/>
              <a:ahLst/>
              <a:cxnLst/>
              <a:rect r="r" b="b" t="t" l="l"/>
              <a:pathLst>
                <a:path h="578052" w="1691716">
                  <a:moveTo>
                    <a:pt x="0" y="0"/>
                  </a:moveTo>
                  <a:lnTo>
                    <a:pt x="1691716" y="0"/>
                  </a:lnTo>
                  <a:lnTo>
                    <a:pt x="1691716" y="578052"/>
                  </a:lnTo>
                  <a:lnTo>
                    <a:pt x="0" y="578052"/>
                  </a:lnTo>
                  <a:close/>
                </a:path>
              </a:pathLst>
            </a:custGeom>
            <a:blipFill>
              <a:blip r:embed="rId4">
                <a:alphaModFix amt="0"/>
              </a:blip>
              <a:stretch>
                <a:fillRect l="0" t="-7024" r="0" b="-7024"/>
              </a:stretch>
            </a:blipFill>
          </p:spPr>
        </p:sp>
        <p:sp>
          <p:nvSpPr>
            <p:cNvPr name="TextBox 250" id="250"/>
            <p:cNvSpPr txBox="true"/>
            <p:nvPr/>
          </p:nvSpPr>
          <p:spPr>
            <a:xfrm>
              <a:off x="0" y="85725"/>
              <a:ext cx="1691716" cy="492328"/>
            </a:xfrm>
            <a:prstGeom prst="rect">
              <a:avLst/>
            </a:prstGeom>
          </p:spPr>
          <p:txBody>
            <a:bodyPr anchor="ctr" rtlCol="false" tIns="0" lIns="0" bIns="0" rIns="0"/>
            <a:lstStyle/>
            <a:p>
              <a:pPr algn="l">
                <a:lnSpc>
                  <a:spcPts val="1836"/>
                </a:lnSpc>
              </a:pPr>
              <a:r>
                <a:rPr lang="en-US" sz="2319" b="true">
                  <a:solidFill>
                    <a:srgbClr val="C85908"/>
                  </a:solidFill>
                  <a:latin typeface="TT Commons Pro Bold"/>
                  <a:ea typeface="TT Commons Pro Bold"/>
                  <a:cs typeface="TT Commons Pro Bold"/>
                  <a:sym typeface="TT Commons Pro Bold"/>
                </a:rPr>
                <a:t>SWIGGY</a:t>
              </a:r>
            </a:p>
          </p:txBody>
        </p:sp>
      </p:grpSp>
      <p:grpSp>
        <p:nvGrpSpPr>
          <p:cNvPr name="Group 251" id="251"/>
          <p:cNvGrpSpPr/>
          <p:nvPr/>
        </p:nvGrpSpPr>
        <p:grpSpPr>
          <a:xfrm rot="0">
            <a:off x="3310509" y="7296"/>
            <a:ext cx="1983391" cy="890997"/>
            <a:chOff x="0" y="0"/>
            <a:chExt cx="2644521" cy="1187996"/>
          </a:xfrm>
        </p:grpSpPr>
        <p:sp>
          <p:nvSpPr>
            <p:cNvPr name="Freeform 252" id="252"/>
            <p:cNvSpPr/>
            <p:nvPr/>
          </p:nvSpPr>
          <p:spPr>
            <a:xfrm flipH="false" flipV="false" rot="0">
              <a:off x="0" y="0"/>
              <a:ext cx="2644521" cy="1187958"/>
            </a:xfrm>
            <a:custGeom>
              <a:avLst/>
              <a:gdLst/>
              <a:ahLst/>
              <a:cxnLst/>
              <a:rect r="r" b="b" t="t" l="l"/>
              <a:pathLst>
                <a:path h="1187958" w="2644521">
                  <a:moveTo>
                    <a:pt x="0" y="0"/>
                  </a:moveTo>
                  <a:lnTo>
                    <a:pt x="2644521" y="0"/>
                  </a:lnTo>
                  <a:lnTo>
                    <a:pt x="2644521" y="1187958"/>
                  </a:lnTo>
                  <a:lnTo>
                    <a:pt x="0" y="1187958"/>
                  </a:lnTo>
                  <a:close/>
                </a:path>
              </a:pathLst>
            </a:custGeom>
            <a:blipFill>
              <a:blip r:embed="rId3">
                <a:alphaModFix amt="0"/>
              </a:blip>
              <a:stretch>
                <a:fillRect l="-7678" t="0" r="-7678" b="-3"/>
              </a:stretch>
            </a:blipFill>
          </p:spPr>
        </p:sp>
      </p:grpSp>
      <p:grpSp>
        <p:nvGrpSpPr>
          <p:cNvPr name="Group 253" id="253"/>
          <p:cNvGrpSpPr/>
          <p:nvPr/>
        </p:nvGrpSpPr>
        <p:grpSpPr>
          <a:xfrm rot="0">
            <a:off x="3310509" y="100165"/>
            <a:ext cx="1983391" cy="798128"/>
            <a:chOff x="0" y="0"/>
            <a:chExt cx="2644521" cy="1064171"/>
          </a:xfrm>
        </p:grpSpPr>
        <p:sp>
          <p:nvSpPr>
            <p:cNvPr name="Freeform 254" id="254"/>
            <p:cNvSpPr/>
            <p:nvPr/>
          </p:nvSpPr>
          <p:spPr>
            <a:xfrm flipH="false" flipV="false" rot="0">
              <a:off x="0" y="0"/>
              <a:ext cx="2644521" cy="1064174"/>
            </a:xfrm>
            <a:custGeom>
              <a:avLst/>
              <a:gdLst/>
              <a:ahLst/>
              <a:cxnLst/>
              <a:rect r="r" b="b" t="t" l="l"/>
              <a:pathLst>
                <a:path h="1064174" w="2644521">
                  <a:moveTo>
                    <a:pt x="0" y="0"/>
                  </a:moveTo>
                  <a:lnTo>
                    <a:pt x="2644521" y="0"/>
                  </a:lnTo>
                  <a:lnTo>
                    <a:pt x="2644521" y="1064174"/>
                  </a:lnTo>
                  <a:lnTo>
                    <a:pt x="0" y="1064174"/>
                  </a:lnTo>
                  <a:close/>
                </a:path>
              </a:pathLst>
            </a:custGeom>
            <a:blipFill>
              <a:blip r:embed="rId4">
                <a:alphaModFix amt="0"/>
              </a:blip>
              <a:stretch>
                <a:fillRect l="-1630" t="0" r="-1630" b="0"/>
              </a:stretch>
            </a:blipFill>
          </p:spPr>
        </p:sp>
        <p:sp>
          <p:nvSpPr>
            <p:cNvPr name="TextBox 255" id="255"/>
            <p:cNvSpPr txBox="true"/>
            <p:nvPr/>
          </p:nvSpPr>
          <p:spPr>
            <a:xfrm>
              <a:off x="0" y="123825"/>
              <a:ext cx="2644521" cy="940346"/>
            </a:xfrm>
            <a:prstGeom prst="rect">
              <a:avLst/>
            </a:prstGeom>
          </p:spPr>
          <p:txBody>
            <a:bodyPr anchor="ctr" rtlCol="false" tIns="0" lIns="0" bIns="0" rIns="0"/>
            <a:lstStyle/>
            <a:p>
              <a:pPr algn="l">
                <a:lnSpc>
                  <a:spcPts val="3617"/>
                </a:lnSpc>
              </a:pPr>
              <a:r>
                <a:rPr lang="en-US" b="true" sz="4122" i="true">
                  <a:solidFill>
                    <a:srgbClr val="CE1C2F"/>
                  </a:solidFill>
                  <a:latin typeface="TT Commons Pro Bold Italics"/>
                  <a:ea typeface="TT Commons Pro Bold Italics"/>
                  <a:cs typeface="TT Commons Pro Bold Italics"/>
                  <a:sym typeface="TT Commons Pro Bold Italics"/>
                </a:rPr>
                <a:t>zomato</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59" r="0" b="-9259"/>
              </a:stretch>
            </a:blipFill>
          </p:spPr>
        </p:sp>
      </p:grpSp>
      <p:grpSp>
        <p:nvGrpSpPr>
          <p:cNvPr name="Group 4" id="4"/>
          <p:cNvGrpSpPr/>
          <p:nvPr/>
        </p:nvGrpSpPr>
        <p:grpSpPr>
          <a:xfrm rot="0">
            <a:off x="2841955" y="1310526"/>
            <a:ext cx="6760502" cy="3832974"/>
            <a:chOff x="0" y="0"/>
            <a:chExt cx="9014003" cy="5110632"/>
          </a:xfrm>
        </p:grpSpPr>
        <p:sp>
          <p:nvSpPr>
            <p:cNvPr name="Freeform 5" id="5"/>
            <p:cNvSpPr/>
            <p:nvPr/>
          </p:nvSpPr>
          <p:spPr>
            <a:xfrm flipH="false" flipV="false" rot="0">
              <a:off x="0" y="0"/>
              <a:ext cx="9013952" cy="5110607"/>
            </a:xfrm>
            <a:custGeom>
              <a:avLst/>
              <a:gdLst/>
              <a:ahLst/>
              <a:cxnLst/>
              <a:rect r="r" b="b" t="t" l="l"/>
              <a:pathLst>
                <a:path h="5110607" w="9013952">
                  <a:moveTo>
                    <a:pt x="0" y="0"/>
                  </a:moveTo>
                  <a:lnTo>
                    <a:pt x="9013952" y="0"/>
                  </a:lnTo>
                  <a:lnTo>
                    <a:pt x="9013952" y="5110607"/>
                  </a:lnTo>
                  <a:lnTo>
                    <a:pt x="0" y="5110607"/>
                  </a:lnTo>
                  <a:lnTo>
                    <a:pt x="0" y="0"/>
                  </a:lnTo>
                  <a:close/>
                </a:path>
              </a:pathLst>
            </a:custGeom>
            <a:blipFill>
              <a:blip r:embed="rId3"/>
              <a:stretch>
                <a:fillRect l="-1388" t="0" r="-1389" b="0"/>
              </a:stretch>
            </a:blipFill>
          </p:spPr>
        </p:sp>
      </p:grpSp>
      <p:grpSp>
        <p:nvGrpSpPr>
          <p:cNvPr name="Group 6" id="6"/>
          <p:cNvGrpSpPr/>
          <p:nvPr/>
        </p:nvGrpSpPr>
        <p:grpSpPr>
          <a:xfrm rot="0">
            <a:off x="9949825" y="1105814"/>
            <a:ext cx="6956774" cy="4037686"/>
            <a:chOff x="0" y="0"/>
            <a:chExt cx="9275699" cy="5383581"/>
          </a:xfrm>
        </p:grpSpPr>
        <p:sp>
          <p:nvSpPr>
            <p:cNvPr name="Freeform 7" id="7"/>
            <p:cNvSpPr/>
            <p:nvPr/>
          </p:nvSpPr>
          <p:spPr>
            <a:xfrm flipH="false" flipV="false" rot="0">
              <a:off x="0" y="0"/>
              <a:ext cx="9275699" cy="5383530"/>
            </a:xfrm>
            <a:custGeom>
              <a:avLst/>
              <a:gdLst/>
              <a:ahLst/>
              <a:cxnLst/>
              <a:rect r="r" b="b" t="t" l="l"/>
              <a:pathLst>
                <a:path h="5383530" w="9275699">
                  <a:moveTo>
                    <a:pt x="0" y="0"/>
                  </a:moveTo>
                  <a:lnTo>
                    <a:pt x="9275699" y="0"/>
                  </a:lnTo>
                  <a:lnTo>
                    <a:pt x="9275699" y="5383530"/>
                  </a:lnTo>
                  <a:lnTo>
                    <a:pt x="0" y="5383530"/>
                  </a:lnTo>
                  <a:lnTo>
                    <a:pt x="0" y="0"/>
                  </a:lnTo>
                  <a:close/>
                </a:path>
              </a:pathLst>
            </a:custGeom>
            <a:blipFill>
              <a:blip r:embed="rId4"/>
              <a:stretch>
                <a:fillRect l="0" t="0" r="0" b="0"/>
              </a:stretch>
            </a:blipFill>
          </p:spPr>
        </p:sp>
      </p:grpSp>
      <p:grpSp>
        <p:nvGrpSpPr>
          <p:cNvPr name="Group 8" id="8"/>
          <p:cNvGrpSpPr/>
          <p:nvPr/>
        </p:nvGrpSpPr>
        <p:grpSpPr>
          <a:xfrm rot="0">
            <a:off x="2841955" y="5526957"/>
            <a:ext cx="6760502" cy="3731343"/>
            <a:chOff x="0" y="0"/>
            <a:chExt cx="9014003" cy="4975123"/>
          </a:xfrm>
        </p:grpSpPr>
        <p:sp>
          <p:nvSpPr>
            <p:cNvPr name="Freeform 9" id="9"/>
            <p:cNvSpPr/>
            <p:nvPr/>
          </p:nvSpPr>
          <p:spPr>
            <a:xfrm flipH="false" flipV="false" rot="0">
              <a:off x="0" y="0"/>
              <a:ext cx="9013952" cy="4975098"/>
            </a:xfrm>
            <a:custGeom>
              <a:avLst/>
              <a:gdLst/>
              <a:ahLst/>
              <a:cxnLst/>
              <a:rect r="r" b="b" t="t" l="l"/>
              <a:pathLst>
                <a:path h="4975098" w="9013952">
                  <a:moveTo>
                    <a:pt x="0" y="0"/>
                  </a:moveTo>
                  <a:lnTo>
                    <a:pt x="9013952" y="0"/>
                  </a:lnTo>
                  <a:lnTo>
                    <a:pt x="9013952" y="4975098"/>
                  </a:lnTo>
                  <a:lnTo>
                    <a:pt x="0" y="4975098"/>
                  </a:lnTo>
                  <a:lnTo>
                    <a:pt x="0" y="0"/>
                  </a:lnTo>
                  <a:close/>
                </a:path>
              </a:pathLst>
            </a:custGeom>
            <a:blipFill>
              <a:blip r:embed="rId5"/>
              <a:stretch>
                <a:fillRect l="0" t="-3226" r="0" b="-3226"/>
              </a:stretch>
            </a:blipFill>
          </p:spPr>
        </p:sp>
      </p:grpSp>
      <p:grpSp>
        <p:nvGrpSpPr>
          <p:cNvPr name="Group 10" id="10"/>
          <p:cNvGrpSpPr/>
          <p:nvPr/>
        </p:nvGrpSpPr>
        <p:grpSpPr>
          <a:xfrm rot="0">
            <a:off x="9949825" y="5443471"/>
            <a:ext cx="6956774" cy="3898306"/>
            <a:chOff x="0" y="0"/>
            <a:chExt cx="9275699" cy="5197742"/>
          </a:xfrm>
        </p:grpSpPr>
        <p:sp>
          <p:nvSpPr>
            <p:cNvPr name="Freeform 11" id="11"/>
            <p:cNvSpPr/>
            <p:nvPr/>
          </p:nvSpPr>
          <p:spPr>
            <a:xfrm flipH="false" flipV="false" rot="0">
              <a:off x="0" y="0"/>
              <a:ext cx="9275699" cy="5197729"/>
            </a:xfrm>
            <a:custGeom>
              <a:avLst/>
              <a:gdLst/>
              <a:ahLst/>
              <a:cxnLst/>
              <a:rect r="r" b="b" t="t" l="l"/>
              <a:pathLst>
                <a:path h="5197729" w="9275699">
                  <a:moveTo>
                    <a:pt x="0" y="0"/>
                  </a:moveTo>
                  <a:lnTo>
                    <a:pt x="9275699" y="0"/>
                  </a:lnTo>
                  <a:lnTo>
                    <a:pt x="9275699" y="5197729"/>
                  </a:lnTo>
                  <a:lnTo>
                    <a:pt x="0" y="5197729"/>
                  </a:lnTo>
                  <a:lnTo>
                    <a:pt x="0" y="0"/>
                  </a:lnTo>
                  <a:close/>
                </a:path>
              </a:pathLst>
            </a:custGeom>
            <a:blipFill>
              <a:blip r:embed="rId6"/>
              <a:stretch>
                <a:fillRect l="0" t="-2988" r="0" b="-2988"/>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8810"/>
            <a:chOff x="0" y="0"/>
            <a:chExt cx="24384000" cy="13718413"/>
          </a:xfrm>
        </p:grpSpPr>
        <p:sp>
          <p:nvSpPr>
            <p:cNvPr name="Freeform 3" id="3"/>
            <p:cNvSpPr/>
            <p:nvPr/>
          </p:nvSpPr>
          <p:spPr>
            <a:xfrm flipH="false" flipV="false" rot="0">
              <a:off x="0" y="0"/>
              <a:ext cx="24384000" cy="13718412"/>
            </a:xfrm>
            <a:custGeom>
              <a:avLst/>
              <a:gdLst/>
              <a:ahLst/>
              <a:cxnLst/>
              <a:rect r="r" b="b" t="t" l="l"/>
              <a:pathLst>
                <a:path h="13718412" w="24384000">
                  <a:moveTo>
                    <a:pt x="0" y="0"/>
                  </a:moveTo>
                  <a:lnTo>
                    <a:pt x="24384000" y="0"/>
                  </a:lnTo>
                  <a:lnTo>
                    <a:pt x="24384000" y="13718412"/>
                  </a:lnTo>
                  <a:lnTo>
                    <a:pt x="0" y="13718412"/>
                  </a:lnTo>
                  <a:close/>
                </a:path>
              </a:pathLst>
            </a:custGeom>
            <a:solidFill>
              <a:srgbClr val="020000"/>
            </a:solidFill>
          </p:spPr>
        </p:sp>
      </p:grpSp>
      <p:grpSp>
        <p:nvGrpSpPr>
          <p:cNvPr name="Group 4" id="4"/>
          <p:cNvGrpSpPr/>
          <p:nvPr/>
        </p:nvGrpSpPr>
        <p:grpSpPr>
          <a:xfrm rot="0">
            <a:off x="9515885" y="2501113"/>
            <a:ext cx="2931319" cy="29146"/>
            <a:chOff x="0" y="0"/>
            <a:chExt cx="3908425" cy="38862"/>
          </a:xfrm>
        </p:grpSpPr>
        <p:sp>
          <p:nvSpPr>
            <p:cNvPr name="Freeform 5" id="5" descr="preencoded.png"/>
            <p:cNvSpPr/>
            <p:nvPr/>
          </p:nvSpPr>
          <p:spPr>
            <a:xfrm flipH="false" flipV="false" rot="0">
              <a:off x="0" y="0"/>
              <a:ext cx="3908425" cy="38862"/>
            </a:xfrm>
            <a:custGeom>
              <a:avLst/>
              <a:gdLst/>
              <a:ahLst/>
              <a:cxnLst/>
              <a:rect r="r" b="b" t="t" l="l"/>
              <a:pathLst>
                <a:path h="38862" w="3908425">
                  <a:moveTo>
                    <a:pt x="0" y="0"/>
                  </a:moveTo>
                  <a:lnTo>
                    <a:pt x="3908425" y="0"/>
                  </a:lnTo>
                  <a:lnTo>
                    <a:pt x="3908425" y="38862"/>
                  </a:lnTo>
                  <a:lnTo>
                    <a:pt x="0" y="38862"/>
                  </a:lnTo>
                  <a:lnTo>
                    <a:pt x="0" y="0"/>
                  </a:lnTo>
                  <a:close/>
                </a:path>
              </a:pathLst>
            </a:custGeom>
            <a:blipFill>
              <a:blip r:embed="rId2"/>
              <a:stretch>
                <a:fillRect l="0" t="-5555" r="0" b="-5588"/>
              </a:stretch>
            </a:blipFill>
          </p:spPr>
        </p:sp>
      </p:grpSp>
      <p:grpSp>
        <p:nvGrpSpPr>
          <p:cNvPr name="Group 6" id="6"/>
          <p:cNvGrpSpPr/>
          <p:nvPr/>
        </p:nvGrpSpPr>
        <p:grpSpPr>
          <a:xfrm rot="0">
            <a:off x="0" y="0"/>
            <a:ext cx="18288000" cy="10288810"/>
            <a:chOff x="0" y="0"/>
            <a:chExt cx="24384000" cy="13718413"/>
          </a:xfrm>
        </p:grpSpPr>
        <p:sp>
          <p:nvSpPr>
            <p:cNvPr name="Freeform 7" id="7" descr="preencoded.png"/>
            <p:cNvSpPr/>
            <p:nvPr/>
          </p:nvSpPr>
          <p:spPr>
            <a:xfrm flipH="false" flipV="false" rot="0">
              <a:off x="0" y="0"/>
              <a:ext cx="24384000" cy="13718412"/>
            </a:xfrm>
            <a:custGeom>
              <a:avLst/>
              <a:gdLst/>
              <a:ahLst/>
              <a:cxnLst/>
              <a:rect r="r" b="b" t="t" l="l"/>
              <a:pathLst>
                <a:path h="13718412" w="24384000">
                  <a:moveTo>
                    <a:pt x="0" y="0"/>
                  </a:moveTo>
                  <a:lnTo>
                    <a:pt x="24384000" y="0"/>
                  </a:lnTo>
                  <a:lnTo>
                    <a:pt x="24384000" y="13718412"/>
                  </a:lnTo>
                  <a:lnTo>
                    <a:pt x="0" y="13718412"/>
                  </a:lnTo>
                  <a:lnTo>
                    <a:pt x="0" y="0"/>
                  </a:lnTo>
                  <a:close/>
                </a:path>
              </a:pathLst>
            </a:custGeom>
            <a:blipFill>
              <a:blip r:embed="rId3"/>
              <a:stretch>
                <a:fillRect l="-13" t="0" r="-13" b="0"/>
              </a:stretch>
            </a:blipFill>
          </p:spPr>
        </p:sp>
      </p:grpSp>
      <p:grpSp>
        <p:nvGrpSpPr>
          <p:cNvPr name="Group 8" id="8"/>
          <p:cNvGrpSpPr/>
          <p:nvPr/>
        </p:nvGrpSpPr>
        <p:grpSpPr>
          <a:xfrm rot="0">
            <a:off x="0" y="0"/>
            <a:ext cx="18288000" cy="10288810"/>
            <a:chOff x="0" y="0"/>
            <a:chExt cx="24384000" cy="13718413"/>
          </a:xfrm>
        </p:grpSpPr>
        <p:sp>
          <p:nvSpPr>
            <p:cNvPr name="Freeform 9" id="9" descr="preencoded.png"/>
            <p:cNvSpPr/>
            <p:nvPr/>
          </p:nvSpPr>
          <p:spPr>
            <a:xfrm flipH="false" flipV="false" rot="0">
              <a:off x="0" y="0"/>
              <a:ext cx="24384000" cy="13718412"/>
            </a:xfrm>
            <a:custGeom>
              <a:avLst/>
              <a:gdLst/>
              <a:ahLst/>
              <a:cxnLst/>
              <a:rect r="r" b="b" t="t" l="l"/>
              <a:pathLst>
                <a:path h="13718412" w="24384000">
                  <a:moveTo>
                    <a:pt x="0" y="0"/>
                  </a:moveTo>
                  <a:lnTo>
                    <a:pt x="24384000" y="0"/>
                  </a:lnTo>
                  <a:lnTo>
                    <a:pt x="24384000" y="13718412"/>
                  </a:lnTo>
                  <a:lnTo>
                    <a:pt x="0" y="13718412"/>
                  </a:lnTo>
                  <a:lnTo>
                    <a:pt x="0" y="0"/>
                  </a:lnTo>
                  <a:close/>
                </a:path>
              </a:pathLst>
            </a:custGeom>
            <a:blipFill>
              <a:blip r:embed="rId4"/>
              <a:stretch>
                <a:fillRect l="-13" t="0" r="-13" b="0"/>
              </a:stretch>
            </a:blipFill>
          </p:spPr>
        </p:sp>
      </p:grpSp>
      <p:grpSp>
        <p:nvGrpSpPr>
          <p:cNvPr name="Group 10" id="10"/>
          <p:cNvGrpSpPr/>
          <p:nvPr/>
        </p:nvGrpSpPr>
        <p:grpSpPr>
          <a:xfrm rot="0">
            <a:off x="503139" y="10186740"/>
            <a:ext cx="17340072" cy="7334"/>
            <a:chOff x="0" y="0"/>
            <a:chExt cx="23120096" cy="9779"/>
          </a:xfrm>
        </p:grpSpPr>
        <p:sp>
          <p:nvSpPr>
            <p:cNvPr name="Freeform 11" id="11"/>
            <p:cNvSpPr/>
            <p:nvPr/>
          </p:nvSpPr>
          <p:spPr>
            <a:xfrm flipH="false" flipV="false" rot="0">
              <a:off x="0" y="0"/>
              <a:ext cx="23120096" cy="9779"/>
            </a:xfrm>
            <a:custGeom>
              <a:avLst/>
              <a:gdLst/>
              <a:ahLst/>
              <a:cxnLst/>
              <a:rect r="r" b="b" t="t" l="l"/>
              <a:pathLst>
                <a:path h="9779" w="23120096">
                  <a:moveTo>
                    <a:pt x="0" y="0"/>
                  </a:moveTo>
                  <a:lnTo>
                    <a:pt x="23120096" y="0"/>
                  </a:lnTo>
                  <a:lnTo>
                    <a:pt x="23120096" y="9779"/>
                  </a:lnTo>
                  <a:lnTo>
                    <a:pt x="0" y="9779"/>
                  </a:lnTo>
                  <a:close/>
                </a:path>
              </a:pathLst>
            </a:custGeom>
            <a:solidFill>
              <a:srgbClr val="5D0408"/>
            </a:solidFill>
          </p:spPr>
        </p:sp>
      </p:grpSp>
      <p:grpSp>
        <p:nvGrpSpPr>
          <p:cNvPr name="Group 12" id="12"/>
          <p:cNvGrpSpPr/>
          <p:nvPr/>
        </p:nvGrpSpPr>
        <p:grpSpPr>
          <a:xfrm rot="0">
            <a:off x="14248305" y="2705281"/>
            <a:ext cx="4025074" cy="7335584"/>
            <a:chOff x="0" y="0"/>
            <a:chExt cx="5366766" cy="9780778"/>
          </a:xfrm>
        </p:grpSpPr>
        <p:sp>
          <p:nvSpPr>
            <p:cNvPr name="Freeform 13" id="13" descr="preencoded.png"/>
            <p:cNvSpPr/>
            <p:nvPr/>
          </p:nvSpPr>
          <p:spPr>
            <a:xfrm flipH="false" flipV="false" rot="0">
              <a:off x="0" y="0"/>
              <a:ext cx="5366766" cy="9780778"/>
            </a:xfrm>
            <a:custGeom>
              <a:avLst/>
              <a:gdLst/>
              <a:ahLst/>
              <a:cxnLst/>
              <a:rect r="r" b="b" t="t" l="l"/>
              <a:pathLst>
                <a:path h="9780778" w="5366766">
                  <a:moveTo>
                    <a:pt x="0" y="0"/>
                  </a:moveTo>
                  <a:lnTo>
                    <a:pt x="5366766" y="0"/>
                  </a:lnTo>
                  <a:lnTo>
                    <a:pt x="5366766" y="9780778"/>
                  </a:lnTo>
                  <a:lnTo>
                    <a:pt x="0" y="9780778"/>
                  </a:lnTo>
                  <a:lnTo>
                    <a:pt x="0" y="0"/>
                  </a:lnTo>
                  <a:close/>
                </a:path>
              </a:pathLst>
            </a:custGeom>
            <a:blipFill>
              <a:blip r:embed="rId5"/>
              <a:stretch>
                <a:fillRect l="0" t="-12" r="0" b="-12"/>
              </a:stretch>
            </a:blipFill>
          </p:spPr>
        </p:sp>
      </p:grpSp>
      <p:grpSp>
        <p:nvGrpSpPr>
          <p:cNvPr name="Group 14" id="14"/>
          <p:cNvGrpSpPr/>
          <p:nvPr/>
        </p:nvGrpSpPr>
        <p:grpSpPr>
          <a:xfrm rot="0">
            <a:off x="16800462" y="9027328"/>
            <a:ext cx="641699" cy="72962"/>
            <a:chOff x="0" y="0"/>
            <a:chExt cx="855599" cy="97282"/>
          </a:xfrm>
        </p:grpSpPr>
        <p:sp>
          <p:nvSpPr>
            <p:cNvPr name="Freeform 15" id="15" descr="preencoded.png"/>
            <p:cNvSpPr/>
            <p:nvPr/>
          </p:nvSpPr>
          <p:spPr>
            <a:xfrm flipH="false" flipV="false" rot="0">
              <a:off x="0" y="0"/>
              <a:ext cx="855599" cy="97282"/>
            </a:xfrm>
            <a:custGeom>
              <a:avLst/>
              <a:gdLst/>
              <a:ahLst/>
              <a:cxnLst/>
              <a:rect r="r" b="b" t="t" l="l"/>
              <a:pathLst>
                <a:path h="97282" w="855599">
                  <a:moveTo>
                    <a:pt x="0" y="0"/>
                  </a:moveTo>
                  <a:lnTo>
                    <a:pt x="855599" y="0"/>
                  </a:lnTo>
                  <a:lnTo>
                    <a:pt x="855599" y="97282"/>
                  </a:lnTo>
                  <a:lnTo>
                    <a:pt x="0" y="97282"/>
                  </a:lnTo>
                  <a:lnTo>
                    <a:pt x="0" y="0"/>
                  </a:lnTo>
                  <a:close/>
                </a:path>
              </a:pathLst>
            </a:custGeom>
            <a:blipFill>
              <a:blip r:embed="rId6"/>
              <a:stretch>
                <a:fillRect l="-532" t="0" r="-534" b="0"/>
              </a:stretch>
            </a:blipFill>
          </p:spPr>
        </p:sp>
      </p:grpSp>
      <p:grpSp>
        <p:nvGrpSpPr>
          <p:cNvPr name="Group 16" id="16"/>
          <p:cNvGrpSpPr/>
          <p:nvPr/>
        </p:nvGrpSpPr>
        <p:grpSpPr>
          <a:xfrm rot="0">
            <a:off x="15371254" y="2741743"/>
            <a:ext cx="2778157" cy="5490782"/>
            <a:chOff x="0" y="0"/>
            <a:chExt cx="3704209" cy="7321042"/>
          </a:xfrm>
        </p:grpSpPr>
        <p:sp>
          <p:nvSpPr>
            <p:cNvPr name="Freeform 17" id="17" descr="preencoded.png"/>
            <p:cNvSpPr/>
            <p:nvPr/>
          </p:nvSpPr>
          <p:spPr>
            <a:xfrm flipH="false" flipV="false" rot="0">
              <a:off x="0" y="0"/>
              <a:ext cx="3704209" cy="7321042"/>
            </a:xfrm>
            <a:custGeom>
              <a:avLst/>
              <a:gdLst/>
              <a:ahLst/>
              <a:cxnLst/>
              <a:rect r="r" b="b" t="t" l="l"/>
              <a:pathLst>
                <a:path h="7321042" w="3704209">
                  <a:moveTo>
                    <a:pt x="0" y="0"/>
                  </a:moveTo>
                  <a:lnTo>
                    <a:pt x="3704209" y="0"/>
                  </a:lnTo>
                  <a:lnTo>
                    <a:pt x="3704209" y="7321042"/>
                  </a:lnTo>
                  <a:lnTo>
                    <a:pt x="0" y="7321042"/>
                  </a:lnTo>
                  <a:lnTo>
                    <a:pt x="0" y="0"/>
                  </a:lnTo>
                  <a:close/>
                </a:path>
              </a:pathLst>
            </a:custGeom>
            <a:blipFill>
              <a:blip r:embed="rId7"/>
              <a:stretch>
                <a:fillRect l="0" t="-6" r="0" b="-6"/>
              </a:stretch>
            </a:blipFill>
          </p:spPr>
        </p:sp>
      </p:grpSp>
      <p:grpSp>
        <p:nvGrpSpPr>
          <p:cNvPr name="Group 18" id="18"/>
          <p:cNvGrpSpPr/>
          <p:nvPr/>
        </p:nvGrpSpPr>
        <p:grpSpPr>
          <a:xfrm rot="0">
            <a:off x="17252556" y="7641879"/>
            <a:ext cx="291675" cy="165535"/>
            <a:chOff x="0" y="0"/>
            <a:chExt cx="388899" cy="220713"/>
          </a:xfrm>
        </p:grpSpPr>
        <p:sp>
          <p:nvSpPr>
            <p:cNvPr name="Freeform 19" id="19"/>
            <p:cNvSpPr/>
            <p:nvPr/>
          </p:nvSpPr>
          <p:spPr>
            <a:xfrm flipH="false" flipV="false" rot="0">
              <a:off x="0" y="0"/>
              <a:ext cx="388874" cy="220726"/>
            </a:xfrm>
            <a:custGeom>
              <a:avLst/>
              <a:gdLst/>
              <a:ahLst/>
              <a:cxnLst/>
              <a:rect r="r" b="b" t="t" l="l"/>
              <a:pathLst>
                <a:path h="220726" w="388874">
                  <a:moveTo>
                    <a:pt x="0" y="0"/>
                  </a:moveTo>
                  <a:lnTo>
                    <a:pt x="388874" y="0"/>
                  </a:lnTo>
                  <a:lnTo>
                    <a:pt x="388874" y="220726"/>
                  </a:lnTo>
                  <a:lnTo>
                    <a:pt x="0" y="220726"/>
                  </a:lnTo>
                  <a:close/>
                </a:path>
              </a:pathLst>
            </a:custGeom>
            <a:blipFill>
              <a:blip r:embed="rId8">
                <a:alphaModFix amt="0"/>
              </a:blip>
              <a:stretch>
                <a:fillRect l="-22867" t="0" r="-22873" b="5"/>
              </a:stretch>
            </a:blipFill>
          </p:spPr>
        </p:sp>
      </p:grpSp>
      <p:grpSp>
        <p:nvGrpSpPr>
          <p:cNvPr name="Group 20" id="20"/>
          <p:cNvGrpSpPr/>
          <p:nvPr/>
        </p:nvGrpSpPr>
        <p:grpSpPr>
          <a:xfrm rot="0">
            <a:off x="17252556" y="7649023"/>
            <a:ext cx="291675" cy="158391"/>
            <a:chOff x="0" y="0"/>
            <a:chExt cx="388899" cy="211188"/>
          </a:xfrm>
        </p:grpSpPr>
        <p:sp>
          <p:nvSpPr>
            <p:cNvPr name="Freeform 21" id="21"/>
            <p:cNvSpPr/>
            <p:nvPr/>
          </p:nvSpPr>
          <p:spPr>
            <a:xfrm flipH="false" flipV="false" rot="0">
              <a:off x="0" y="0"/>
              <a:ext cx="388900" cy="211184"/>
            </a:xfrm>
            <a:custGeom>
              <a:avLst/>
              <a:gdLst/>
              <a:ahLst/>
              <a:cxnLst/>
              <a:rect r="r" b="b" t="t" l="l"/>
              <a:pathLst>
                <a:path h="211184" w="388900">
                  <a:moveTo>
                    <a:pt x="0" y="0"/>
                  </a:moveTo>
                  <a:lnTo>
                    <a:pt x="388900" y="0"/>
                  </a:lnTo>
                  <a:lnTo>
                    <a:pt x="388900" y="211184"/>
                  </a:lnTo>
                  <a:lnTo>
                    <a:pt x="0" y="211184"/>
                  </a:lnTo>
                  <a:close/>
                </a:path>
              </a:pathLst>
            </a:custGeom>
            <a:blipFill>
              <a:blip r:embed="rId9">
                <a:alphaModFix amt="0"/>
              </a:blip>
              <a:stretch>
                <a:fillRect l="-19674" t="0" r="-19673" b="-1"/>
              </a:stretch>
            </a:blipFill>
          </p:spPr>
        </p:sp>
        <p:sp>
          <p:nvSpPr>
            <p:cNvPr name="TextBox 22" id="22"/>
            <p:cNvSpPr txBox="true"/>
            <p:nvPr/>
          </p:nvSpPr>
          <p:spPr>
            <a:xfrm>
              <a:off x="0" y="9525"/>
              <a:ext cx="388899" cy="201663"/>
            </a:xfrm>
            <a:prstGeom prst="rect">
              <a:avLst/>
            </a:prstGeom>
          </p:spPr>
          <p:txBody>
            <a:bodyPr anchor="ctr" rtlCol="false" tIns="0" lIns="0" bIns="0" rIns="0"/>
            <a:lstStyle/>
            <a:p>
              <a:pPr algn="l">
                <a:lnSpc>
                  <a:spcPts val="770"/>
                </a:lnSpc>
              </a:pPr>
              <a:r>
                <a:rPr lang="en-US" sz="776">
                  <a:solidFill>
                    <a:srgbClr val="868382"/>
                  </a:solidFill>
                  <a:latin typeface="TT Commons Pro"/>
                  <a:ea typeface="TT Commons Pro"/>
                  <a:cs typeface="TT Commons Pro"/>
                  <a:sym typeface="TT Commons Pro"/>
                </a:rPr>
                <a:t>Profile</a:t>
              </a:r>
            </a:p>
          </p:txBody>
        </p:sp>
      </p:grpSp>
      <p:grpSp>
        <p:nvGrpSpPr>
          <p:cNvPr name="Group 23" id="23"/>
          <p:cNvGrpSpPr/>
          <p:nvPr/>
        </p:nvGrpSpPr>
        <p:grpSpPr>
          <a:xfrm rot="0">
            <a:off x="16793166" y="7627296"/>
            <a:ext cx="298971" cy="155458"/>
            <a:chOff x="0" y="0"/>
            <a:chExt cx="398628" cy="207277"/>
          </a:xfrm>
        </p:grpSpPr>
        <p:sp>
          <p:nvSpPr>
            <p:cNvPr name="Freeform 24" id="24"/>
            <p:cNvSpPr/>
            <p:nvPr/>
          </p:nvSpPr>
          <p:spPr>
            <a:xfrm flipH="false" flipV="false" rot="0">
              <a:off x="0" y="0"/>
              <a:ext cx="398653" cy="207264"/>
            </a:xfrm>
            <a:custGeom>
              <a:avLst/>
              <a:gdLst/>
              <a:ahLst/>
              <a:cxnLst/>
              <a:rect r="r" b="b" t="t" l="l"/>
              <a:pathLst>
                <a:path h="207264" w="398653">
                  <a:moveTo>
                    <a:pt x="0" y="0"/>
                  </a:moveTo>
                  <a:lnTo>
                    <a:pt x="398653" y="0"/>
                  </a:lnTo>
                  <a:lnTo>
                    <a:pt x="398653" y="207264"/>
                  </a:lnTo>
                  <a:lnTo>
                    <a:pt x="0" y="207264"/>
                  </a:lnTo>
                  <a:close/>
                </a:path>
              </a:pathLst>
            </a:custGeom>
            <a:blipFill>
              <a:blip r:embed="rId8">
                <a:alphaModFix amt="0"/>
              </a:blip>
              <a:stretch>
                <a:fillRect l="-16760" t="0" r="-16753" b="-6"/>
              </a:stretch>
            </a:blipFill>
          </p:spPr>
        </p:sp>
      </p:grpSp>
      <p:grpSp>
        <p:nvGrpSpPr>
          <p:cNvPr name="Group 25" id="25"/>
          <p:cNvGrpSpPr/>
          <p:nvPr/>
        </p:nvGrpSpPr>
        <p:grpSpPr>
          <a:xfrm rot="0">
            <a:off x="16793166" y="7641584"/>
            <a:ext cx="298971" cy="141170"/>
            <a:chOff x="0" y="0"/>
            <a:chExt cx="398628" cy="188227"/>
          </a:xfrm>
        </p:grpSpPr>
        <p:sp>
          <p:nvSpPr>
            <p:cNvPr name="Freeform 26" id="26"/>
            <p:cNvSpPr/>
            <p:nvPr/>
          </p:nvSpPr>
          <p:spPr>
            <a:xfrm flipH="false" flipV="false" rot="0">
              <a:off x="0" y="0"/>
              <a:ext cx="398628" cy="188223"/>
            </a:xfrm>
            <a:custGeom>
              <a:avLst/>
              <a:gdLst/>
              <a:ahLst/>
              <a:cxnLst/>
              <a:rect r="r" b="b" t="t" l="l"/>
              <a:pathLst>
                <a:path h="188223" w="398628">
                  <a:moveTo>
                    <a:pt x="0" y="0"/>
                  </a:moveTo>
                  <a:lnTo>
                    <a:pt x="398628" y="0"/>
                  </a:lnTo>
                  <a:lnTo>
                    <a:pt x="398628" y="188223"/>
                  </a:lnTo>
                  <a:lnTo>
                    <a:pt x="0" y="188223"/>
                  </a:lnTo>
                  <a:close/>
                </a:path>
              </a:pathLst>
            </a:custGeom>
            <a:blipFill>
              <a:blip r:embed="rId9">
                <a:alphaModFix amt="0"/>
              </a:blip>
              <a:stretch>
                <a:fillRect l="-10583" t="0" r="-10583" b="-1"/>
              </a:stretch>
            </a:blipFill>
          </p:spPr>
        </p:sp>
        <p:sp>
          <p:nvSpPr>
            <p:cNvPr name="TextBox 27" id="27"/>
            <p:cNvSpPr txBox="true"/>
            <p:nvPr/>
          </p:nvSpPr>
          <p:spPr>
            <a:xfrm>
              <a:off x="0" y="19050"/>
              <a:ext cx="398628" cy="169177"/>
            </a:xfrm>
            <a:prstGeom prst="rect">
              <a:avLst/>
            </a:prstGeom>
          </p:spPr>
          <p:txBody>
            <a:bodyPr anchor="ctr" rtlCol="false" tIns="0" lIns="0" bIns="0" rIns="0"/>
            <a:lstStyle/>
            <a:p>
              <a:pPr algn="l">
                <a:lnSpc>
                  <a:spcPts val="631"/>
                </a:lnSpc>
              </a:pPr>
              <a:r>
                <a:rPr lang="en-US" sz="736">
                  <a:solidFill>
                    <a:srgbClr val="817D7D"/>
                  </a:solidFill>
                  <a:latin typeface="TT Commons Pro"/>
                  <a:ea typeface="TT Commons Pro"/>
                  <a:cs typeface="TT Commons Pro"/>
                  <a:sym typeface="TT Commons Pro"/>
                </a:rPr>
                <a:t>Orders</a:t>
              </a:r>
            </a:p>
          </p:txBody>
        </p:sp>
      </p:grpSp>
      <p:grpSp>
        <p:nvGrpSpPr>
          <p:cNvPr name="Group 28" id="28"/>
          <p:cNvGrpSpPr/>
          <p:nvPr/>
        </p:nvGrpSpPr>
        <p:grpSpPr>
          <a:xfrm rot="0">
            <a:off x="16093145" y="7656462"/>
            <a:ext cx="656263" cy="308734"/>
            <a:chOff x="0" y="0"/>
            <a:chExt cx="875017" cy="411645"/>
          </a:xfrm>
        </p:grpSpPr>
        <p:sp>
          <p:nvSpPr>
            <p:cNvPr name="Freeform 29" id="29"/>
            <p:cNvSpPr/>
            <p:nvPr/>
          </p:nvSpPr>
          <p:spPr>
            <a:xfrm flipH="false" flipV="false" rot="0">
              <a:off x="0" y="0"/>
              <a:ext cx="875030" cy="411607"/>
            </a:xfrm>
            <a:custGeom>
              <a:avLst/>
              <a:gdLst/>
              <a:ahLst/>
              <a:cxnLst/>
              <a:rect r="r" b="b" t="t" l="l"/>
              <a:pathLst>
                <a:path h="411607" w="875030">
                  <a:moveTo>
                    <a:pt x="0" y="0"/>
                  </a:moveTo>
                  <a:lnTo>
                    <a:pt x="875030" y="0"/>
                  </a:lnTo>
                  <a:lnTo>
                    <a:pt x="875030" y="411607"/>
                  </a:lnTo>
                  <a:lnTo>
                    <a:pt x="0" y="411607"/>
                  </a:lnTo>
                  <a:close/>
                </a:path>
              </a:pathLst>
            </a:custGeom>
            <a:blipFill>
              <a:blip r:embed="rId8">
                <a:alphaModFix amt="0"/>
              </a:blip>
              <a:stretch>
                <a:fillRect l="-10402" t="0" r="-10400" b="-9"/>
              </a:stretch>
            </a:blipFill>
          </p:spPr>
        </p:sp>
      </p:grpSp>
      <p:grpSp>
        <p:nvGrpSpPr>
          <p:cNvPr name="Group 30" id="30"/>
          <p:cNvGrpSpPr/>
          <p:nvPr/>
        </p:nvGrpSpPr>
        <p:grpSpPr>
          <a:xfrm rot="0">
            <a:off x="16093145" y="7706468"/>
            <a:ext cx="656272" cy="258728"/>
            <a:chOff x="0" y="0"/>
            <a:chExt cx="875030" cy="344970"/>
          </a:xfrm>
        </p:grpSpPr>
        <p:sp>
          <p:nvSpPr>
            <p:cNvPr name="Freeform 31" id="31"/>
            <p:cNvSpPr/>
            <p:nvPr/>
          </p:nvSpPr>
          <p:spPr>
            <a:xfrm flipH="false" flipV="false" rot="0">
              <a:off x="0" y="0"/>
              <a:ext cx="875029" cy="344973"/>
            </a:xfrm>
            <a:custGeom>
              <a:avLst/>
              <a:gdLst/>
              <a:ahLst/>
              <a:cxnLst/>
              <a:rect r="r" b="b" t="t" l="l"/>
              <a:pathLst>
                <a:path h="344973" w="875029">
                  <a:moveTo>
                    <a:pt x="0" y="0"/>
                  </a:moveTo>
                  <a:lnTo>
                    <a:pt x="875029" y="0"/>
                  </a:lnTo>
                  <a:lnTo>
                    <a:pt x="875029" y="344973"/>
                  </a:lnTo>
                  <a:lnTo>
                    <a:pt x="0" y="344973"/>
                  </a:lnTo>
                  <a:close/>
                </a:path>
              </a:pathLst>
            </a:custGeom>
            <a:blipFill>
              <a:blip r:embed="rId9">
                <a:alphaModFix amt="0"/>
              </a:blip>
              <a:stretch>
                <a:fillRect l="-582" t="0" r="-582" b="0"/>
              </a:stretch>
            </a:blipFill>
          </p:spPr>
        </p:sp>
        <p:sp>
          <p:nvSpPr>
            <p:cNvPr name="TextBox 32" id="32"/>
            <p:cNvSpPr txBox="true"/>
            <p:nvPr/>
          </p:nvSpPr>
          <p:spPr>
            <a:xfrm>
              <a:off x="0" y="66675"/>
              <a:ext cx="875030" cy="278295"/>
            </a:xfrm>
            <a:prstGeom prst="rect">
              <a:avLst/>
            </a:prstGeom>
          </p:spPr>
          <p:txBody>
            <a:bodyPr anchor="ctr" rtlCol="false" tIns="0" lIns="0" bIns="0" rIns="0"/>
            <a:lstStyle/>
            <a:p>
              <a:pPr algn="l">
                <a:lnSpc>
                  <a:spcPts val="1062"/>
                </a:lnSpc>
              </a:pPr>
              <a:r>
                <a:rPr lang="en-US" sz="1432" b="true">
                  <a:solidFill>
                    <a:srgbClr val="E7B7B5"/>
                  </a:solidFill>
                  <a:latin typeface="TT Commons Pro Bold"/>
                  <a:ea typeface="TT Commons Pro Bold"/>
                  <a:cs typeface="TT Commons Pro Bold"/>
                  <a:sym typeface="TT Commons Pro Bold"/>
                </a:rPr>
                <a:t>zomato</a:t>
              </a:r>
            </a:p>
          </p:txBody>
        </p:sp>
      </p:grpSp>
      <p:grpSp>
        <p:nvGrpSpPr>
          <p:cNvPr name="Group 33" id="33"/>
          <p:cNvGrpSpPr/>
          <p:nvPr/>
        </p:nvGrpSpPr>
        <p:grpSpPr>
          <a:xfrm rot="0">
            <a:off x="17340053" y="7452284"/>
            <a:ext cx="138589" cy="167735"/>
            <a:chOff x="0" y="0"/>
            <a:chExt cx="184785" cy="223647"/>
          </a:xfrm>
        </p:grpSpPr>
        <p:sp>
          <p:nvSpPr>
            <p:cNvPr name="Freeform 34" id="34" descr="preencoded.png"/>
            <p:cNvSpPr/>
            <p:nvPr/>
          </p:nvSpPr>
          <p:spPr>
            <a:xfrm flipH="false" flipV="false" rot="0">
              <a:off x="0" y="0"/>
              <a:ext cx="184785" cy="223647"/>
            </a:xfrm>
            <a:custGeom>
              <a:avLst/>
              <a:gdLst/>
              <a:ahLst/>
              <a:cxnLst/>
              <a:rect r="r" b="b" t="t" l="l"/>
              <a:pathLst>
                <a:path h="223647" w="184785">
                  <a:moveTo>
                    <a:pt x="0" y="0"/>
                  </a:moveTo>
                  <a:lnTo>
                    <a:pt x="184785" y="0"/>
                  </a:lnTo>
                  <a:lnTo>
                    <a:pt x="184785" y="223647"/>
                  </a:lnTo>
                  <a:lnTo>
                    <a:pt x="0" y="223647"/>
                  </a:lnTo>
                  <a:lnTo>
                    <a:pt x="0" y="0"/>
                  </a:lnTo>
                  <a:close/>
                </a:path>
              </a:pathLst>
            </a:custGeom>
            <a:blipFill>
              <a:blip r:embed="rId10"/>
              <a:stretch>
                <a:fillRect l="-144" t="0" r="-137" b="0"/>
              </a:stretch>
            </a:blipFill>
          </p:spPr>
        </p:sp>
      </p:grpSp>
      <p:grpSp>
        <p:nvGrpSpPr>
          <p:cNvPr name="Group 35" id="35"/>
          <p:cNvGrpSpPr/>
          <p:nvPr/>
        </p:nvGrpSpPr>
        <p:grpSpPr>
          <a:xfrm rot="0">
            <a:off x="16880672" y="7437701"/>
            <a:ext cx="123920" cy="153162"/>
            <a:chOff x="0" y="0"/>
            <a:chExt cx="165227" cy="204216"/>
          </a:xfrm>
        </p:grpSpPr>
        <p:sp>
          <p:nvSpPr>
            <p:cNvPr name="Freeform 36" id="36" descr="preencoded.png"/>
            <p:cNvSpPr/>
            <p:nvPr/>
          </p:nvSpPr>
          <p:spPr>
            <a:xfrm flipH="false" flipV="false" rot="0">
              <a:off x="0" y="0"/>
              <a:ext cx="165227" cy="204216"/>
            </a:xfrm>
            <a:custGeom>
              <a:avLst/>
              <a:gdLst/>
              <a:ahLst/>
              <a:cxnLst/>
              <a:rect r="r" b="b" t="t" l="l"/>
              <a:pathLst>
                <a:path h="204216" w="165227">
                  <a:moveTo>
                    <a:pt x="0" y="0"/>
                  </a:moveTo>
                  <a:lnTo>
                    <a:pt x="165227" y="0"/>
                  </a:lnTo>
                  <a:lnTo>
                    <a:pt x="165227" y="204216"/>
                  </a:lnTo>
                  <a:lnTo>
                    <a:pt x="0" y="204216"/>
                  </a:lnTo>
                  <a:lnTo>
                    <a:pt x="0" y="0"/>
                  </a:lnTo>
                  <a:close/>
                </a:path>
              </a:pathLst>
            </a:custGeom>
            <a:blipFill>
              <a:blip r:embed="rId11"/>
              <a:stretch>
                <a:fillRect l="-1913" t="0" r="-1906" b="0"/>
              </a:stretch>
            </a:blipFill>
          </p:spPr>
        </p:sp>
      </p:grpSp>
      <p:grpSp>
        <p:nvGrpSpPr>
          <p:cNvPr name="Group 37" id="37"/>
          <p:cNvGrpSpPr/>
          <p:nvPr/>
        </p:nvGrpSpPr>
        <p:grpSpPr>
          <a:xfrm rot="0">
            <a:off x="16829627" y="6949145"/>
            <a:ext cx="510435" cy="189690"/>
            <a:chOff x="0" y="0"/>
            <a:chExt cx="680580" cy="252920"/>
          </a:xfrm>
        </p:grpSpPr>
        <p:sp>
          <p:nvSpPr>
            <p:cNvPr name="Freeform 38" id="38"/>
            <p:cNvSpPr/>
            <p:nvPr/>
          </p:nvSpPr>
          <p:spPr>
            <a:xfrm flipH="false" flipV="false" rot="0">
              <a:off x="0" y="0"/>
              <a:ext cx="680593" cy="252984"/>
            </a:xfrm>
            <a:custGeom>
              <a:avLst/>
              <a:gdLst/>
              <a:ahLst/>
              <a:cxnLst/>
              <a:rect r="r" b="b" t="t" l="l"/>
              <a:pathLst>
                <a:path h="252984" w="680593">
                  <a:moveTo>
                    <a:pt x="0" y="0"/>
                  </a:moveTo>
                  <a:lnTo>
                    <a:pt x="680593" y="0"/>
                  </a:lnTo>
                  <a:lnTo>
                    <a:pt x="680593" y="252984"/>
                  </a:lnTo>
                  <a:lnTo>
                    <a:pt x="0" y="252984"/>
                  </a:lnTo>
                  <a:close/>
                </a:path>
              </a:pathLst>
            </a:custGeom>
            <a:blipFill>
              <a:blip r:embed="rId8">
                <a:alphaModFix amt="0"/>
              </a:blip>
              <a:stretch>
                <a:fillRect l="0" t="-2394" r="1" b="-2369"/>
              </a:stretch>
            </a:blipFill>
          </p:spPr>
        </p:sp>
      </p:grpSp>
      <p:grpSp>
        <p:nvGrpSpPr>
          <p:cNvPr name="Group 39" id="39"/>
          <p:cNvGrpSpPr/>
          <p:nvPr/>
        </p:nvGrpSpPr>
        <p:grpSpPr>
          <a:xfrm rot="0">
            <a:off x="16829627" y="6970576"/>
            <a:ext cx="510435" cy="168259"/>
            <a:chOff x="0" y="0"/>
            <a:chExt cx="680580" cy="224346"/>
          </a:xfrm>
        </p:grpSpPr>
        <p:sp>
          <p:nvSpPr>
            <p:cNvPr name="Freeform 40" id="40"/>
            <p:cNvSpPr/>
            <p:nvPr/>
          </p:nvSpPr>
          <p:spPr>
            <a:xfrm flipH="false" flipV="false" rot="0">
              <a:off x="0" y="0"/>
              <a:ext cx="680580" cy="224346"/>
            </a:xfrm>
            <a:custGeom>
              <a:avLst/>
              <a:gdLst/>
              <a:ahLst/>
              <a:cxnLst/>
              <a:rect r="r" b="b" t="t" l="l"/>
              <a:pathLst>
                <a:path h="224346" w="680580">
                  <a:moveTo>
                    <a:pt x="0" y="0"/>
                  </a:moveTo>
                  <a:lnTo>
                    <a:pt x="680580" y="0"/>
                  </a:lnTo>
                  <a:lnTo>
                    <a:pt x="680580" y="224346"/>
                  </a:lnTo>
                  <a:lnTo>
                    <a:pt x="0" y="224346"/>
                  </a:lnTo>
                  <a:close/>
                </a:path>
              </a:pathLst>
            </a:custGeom>
            <a:blipFill>
              <a:blip r:embed="rId9">
                <a:alphaModFix amt="0"/>
              </a:blip>
              <a:stretch>
                <a:fillRect l="0" t="-9110" r="0" b="-9109"/>
              </a:stretch>
            </a:blipFill>
          </p:spPr>
        </p:sp>
        <p:sp>
          <p:nvSpPr>
            <p:cNvPr name="TextBox 41" id="41"/>
            <p:cNvSpPr txBox="true"/>
            <p:nvPr/>
          </p:nvSpPr>
          <p:spPr>
            <a:xfrm>
              <a:off x="0" y="28575"/>
              <a:ext cx="680580" cy="195771"/>
            </a:xfrm>
            <a:prstGeom prst="rect">
              <a:avLst/>
            </a:prstGeom>
          </p:spPr>
          <p:txBody>
            <a:bodyPr anchor="ctr" rtlCol="false" tIns="0" lIns="0" bIns="0" rIns="0"/>
            <a:lstStyle/>
            <a:p>
              <a:pPr algn="l">
                <a:lnSpc>
                  <a:spcPts val="750"/>
                </a:lnSpc>
              </a:pPr>
              <a:r>
                <a:rPr lang="en-US" sz="876">
                  <a:solidFill>
                    <a:srgbClr val="878383"/>
                  </a:solidFill>
                  <a:latin typeface="TT Commons Pro"/>
                  <a:ea typeface="TT Commons Pro"/>
                  <a:cs typeface="TT Commons Pro"/>
                  <a:sym typeface="TT Commons Pro"/>
                </a:rPr>
                <a:t>30-35 min</a:t>
              </a:r>
            </a:p>
          </p:txBody>
        </p:sp>
      </p:grpSp>
      <p:grpSp>
        <p:nvGrpSpPr>
          <p:cNvPr name="Group 42" id="42"/>
          <p:cNvGrpSpPr/>
          <p:nvPr/>
        </p:nvGrpSpPr>
        <p:grpSpPr>
          <a:xfrm rot="0">
            <a:off x="16618163" y="6125166"/>
            <a:ext cx="991648" cy="772954"/>
            <a:chOff x="0" y="0"/>
            <a:chExt cx="1322197" cy="1030605"/>
          </a:xfrm>
        </p:grpSpPr>
        <p:sp>
          <p:nvSpPr>
            <p:cNvPr name="Freeform 43" id="43" descr="preencoded.png"/>
            <p:cNvSpPr/>
            <p:nvPr/>
          </p:nvSpPr>
          <p:spPr>
            <a:xfrm flipH="false" flipV="false" rot="0">
              <a:off x="0" y="0"/>
              <a:ext cx="1322197" cy="1030605"/>
            </a:xfrm>
            <a:custGeom>
              <a:avLst/>
              <a:gdLst/>
              <a:ahLst/>
              <a:cxnLst/>
              <a:rect r="r" b="b" t="t" l="l"/>
              <a:pathLst>
                <a:path h="1030605" w="1322197">
                  <a:moveTo>
                    <a:pt x="0" y="0"/>
                  </a:moveTo>
                  <a:lnTo>
                    <a:pt x="1322197" y="0"/>
                  </a:lnTo>
                  <a:lnTo>
                    <a:pt x="1322197" y="1030605"/>
                  </a:lnTo>
                  <a:lnTo>
                    <a:pt x="0" y="1030605"/>
                  </a:lnTo>
                  <a:lnTo>
                    <a:pt x="0" y="0"/>
                  </a:lnTo>
                  <a:close/>
                </a:path>
              </a:pathLst>
            </a:custGeom>
            <a:blipFill>
              <a:blip r:embed="rId12"/>
              <a:stretch>
                <a:fillRect l="0" t="-65" r="0" b="-66"/>
              </a:stretch>
            </a:blipFill>
          </p:spPr>
        </p:sp>
      </p:grpSp>
      <p:grpSp>
        <p:nvGrpSpPr>
          <p:cNvPr name="Group 44" id="44"/>
          <p:cNvGrpSpPr/>
          <p:nvPr/>
        </p:nvGrpSpPr>
        <p:grpSpPr>
          <a:xfrm rot="0">
            <a:off x="17208808" y="6752272"/>
            <a:ext cx="342719" cy="154219"/>
            <a:chOff x="0" y="0"/>
            <a:chExt cx="456959" cy="205626"/>
          </a:xfrm>
        </p:grpSpPr>
        <p:sp>
          <p:nvSpPr>
            <p:cNvPr name="Freeform 45" id="45"/>
            <p:cNvSpPr/>
            <p:nvPr/>
          </p:nvSpPr>
          <p:spPr>
            <a:xfrm flipH="false" flipV="false" rot="0">
              <a:off x="0" y="0"/>
              <a:ext cx="456946" cy="205613"/>
            </a:xfrm>
            <a:custGeom>
              <a:avLst/>
              <a:gdLst/>
              <a:ahLst/>
              <a:cxnLst/>
              <a:rect r="r" b="b" t="t" l="l"/>
              <a:pathLst>
                <a:path h="205613" w="456946">
                  <a:moveTo>
                    <a:pt x="0" y="0"/>
                  </a:moveTo>
                  <a:lnTo>
                    <a:pt x="456946" y="0"/>
                  </a:lnTo>
                  <a:lnTo>
                    <a:pt x="456946" y="205613"/>
                  </a:lnTo>
                  <a:lnTo>
                    <a:pt x="0" y="205613"/>
                  </a:lnTo>
                  <a:close/>
                </a:path>
              </a:pathLst>
            </a:custGeom>
            <a:blipFill>
              <a:blip r:embed="rId8">
                <a:alphaModFix amt="0"/>
              </a:blip>
              <a:stretch>
                <a:fillRect l="-7776" t="0" r="-7776" b="-6"/>
              </a:stretch>
            </a:blipFill>
          </p:spPr>
        </p:sp>
      </p:grpSp>
      <p:grpSp>
        <p:nvGrpSpPr>
          <p:cNvPr name="Group 46" id="46"/>
          <p:cNvGrpSpPr/>
          <p:nvPr/>
        </p:nvGrpSpPr>
        <p:grpSpPr>
          <a:xfrm rot="0">
            <a:off x="17208808" y="6773704"/>
            <a:ext cx="342719" cy="132788"/>
            <a:chOff x="0" y="0"/>
            <a:chExt cx="456959" cy="177051"/>
          </a:xfrm>
        </p:grpSpPr>
        <p:sp>
          <p:nvSpPr>
            <p:cNvPr name="Freeform 47" id="47"/>
            <p:cNvSpPr/>
            <p:nvPr/>
          </p:nvSpPr>
          <p:spPr>
            <a:xfrm flipH="false" flipV="false" rot="0">
              <a:off x="0" y="0"/>
              <a:ext cx="456959" cy="177056"/>
            </a:xfrm>
            <a:custGeom>
              <a:avLst/>
              <a:gdLst/>
              <a:ahLst/>
              <a:cxnLst/>
              <a:rect r="r" b="b" t="t" l="l"/>
              <a:pathLst>
                <a:path h="177056" w="456959">
                  <a:moveTo>
                    <a:pt x="0" y="0"/>
                  </a:moveTo>
                  <a:lnTo>
                    <a:pt x="456959" y="0"/>
                  </a:lnTo>
                  <a:lnTo>
                    <a:pt x="456959" y="177056"/>
                  </a:lnTo>
                  <a:lnTo>
                    <a:pt x="0" y="177056"/>
                  </a:lnTo>
                  <a:close/>
                </a:path>
              </a:pathLst>
            </a:custGeom>
            <a:blipFill>
              <a:blip r:embed="rId9">
                <a:alphaModFix amt="0"/>
              </a:blip>
              <a:stretch>
                <a:fillRect l="0" t="-289" r="0" b="-287"/>
              </a:stretch>
            </a:blipFill>
          </p:spPr>
        </p:sp>
        <p:sp>
          <p:nvSpPr>
            <p:cNvPr name="TextBox 48" id="48"/>
            <p:cNvSpPr txBox="true"/>
            <p:nvPr/>
          </p:nvSpPr>
          <p:spPr>
            <a:xfrm>
              <a:off x="0" y="28575"/>
              <a:ext cx="456959" cy="148476"/>
            </a:xfrm>
            <a:prstGeom prst="rect">
              <a:avLst/>
            </a:prstGeom>
          </p:spPr>
          <p:txBody>
            <a:bodyPr anchor="ctr" rtlCol="false" tIns="0" lIns="0" bIns="0" rIns="0"/>
            <a:lstStyle/>
            <a:p>
              <a:pPr algn="l">
                <a:lnSpc>
                  <a:spcPts val="587"/>
                </a:lnSpc>
              </a:pPr>
              <a:r>
                <a:rPr lang="en-US" sz="748">
                  <a:solidFill>
                    <a:srgbClr val="6F6C6B"/>
                  </a:solidFill>
                  <a:latin typeface="TT Commons Pro"/>
                  <a:ea typeface="TT Commons Pro"/>
                  <a:cs typeface="TT Commons Pro"/>
                  <a:sym typeface="TT Commons Pro"/>
                </a:rPr>
                <a:t>30-30or</a:t>
              </a:r>
            </a:p>
          </p:txBody>
        </p:sp>
      </p:grpSp>
      <p:grpSp>
        <p:nvGrpSpPr>
          <p:cNvPr name="Group 49" id="49"/>
          <p:cNvGrpSpPr/>
          <p:nvPr/>
        </p:nvGrpSpPr>
        <p:grpSpPr>
          <a:xfrm rot="0">
            <a:off x="16654624" y="6723097"/>
            <a:ext cx="255213" cy="164916"/>
            <a:chOff x="0" y="0"/>
            <a:chExt cx="340284" cy="219888"/>
          </a:xfrm>
        </p:grpSpPr>
        <p:sp>
          <p:nvSpPr>
            <p:cNvPr name="Freeform 50" id="50"/>
            <p:cNvSpPr/>
            <p:nvPr/>
          </p:nvSpPr>
          <p:spPr>
            <a:xfrm flipH="false" flipV="false" rot="0">
              <a:off x="0" y="0"/>
              <a:ext cx="340233" cy="219837"/>
            </a:xfrm>
            <a:custGeom>
              <a:avLst/>
              <a:gdLst/>
              <a:ahLst/>
              <a:cxnLst/>
              <a:rect r="r" b="b" t="t" l="l"/>
              <a:pathLst>
                <a:path h="219837" w="340233">
                  <a:moveTo>
                    <a:pt x="0" y="0"/>
                  </a:moveTo>
                  <a:lnTo>
                    <a:pt x="340233" y="0"/>
                  </a:lnTo>
                  <a:lnTo>
                    <a:pt x="340233" y="219837"/>
                  </a:lnTo>
                  <a:lnTo>
                    <a:pt x="0" y="219837"/>
                  </a:lnTo>
                  <a:close/>
                </a:path>
              </a:pathLst>
            </a:custGeom>
            <a:blipFill>
              <a:blip r:embed="rId8">
                <a:alphaModFix amt="0"/>
              </a:blip>
              <a:stretch>
                <a:fillRect l="-32971" t="0" r="-32989" b="-23"/>
              </a:stretch>
            </a:blipFill>
          </p:spPr>
        </p:sp>
      </p:grpSp>
      <p:grpSp>
        <p:nvGrpSpPr>
          <p:cNvPr name="Group 51" id="51"/>
          <p:cNvGrpSpPr/>
          <p:nvPr/>
        </p:nvGrpSpPr>
        <p:grpSpPr>
          <a:xfrm rot="0">
            <a:off x="16654624" y="6737385"/>
            <a:ext cx="255213" cy="150628"/>
            <a:chOff x="0" y="0"/>
            <a:chExt cx="340284" cy="200838"/>
          </a:xfrm>
        </p:grpSpPr>
        <p:sp>
          <p:nvSpPr>
            <p:cNvPr name="Freeform 52" id="52"/>
            <p:cNvSpPr/>
            <p:nvPr/>
          </p:nvSpPr>
          <p:spPr>
            <a:xfrm flipH="false" flipV="false" rot="0">
              <a:off x="0" y="0"/>
              <a:ext cx="340284" cy="200841"/>
            </a:xfrm>
            <a:custGeom>
              <a:avLst/>
              <a:gdLst/>
              <a:ahLst/>
              <a:cxnLst/>
              <a:rect r="r" b="b" t="t" l="l"/>
              <a:pathLst>
                <a:path h="200841" w="340284">
                  <a:moveTo>
                    <a:pt x="0" y="0"/>
                  </a:moveTo>
                  <a:lnTo>
                    <a:pt x="340284" y="0"/>
                  </a:lnTo>
                  <a:lnTo>
                    <a:pt x="340284" y="200841"/>
                  </a:lnTo>
                  <a:lnTo>
                    <a:pt x="0" y="200841"/>
                  </a:lnTo>
                  <a:close/>
                </a:path>
              </a:pathLst>
            </a:custGeom>
            <a:blipFill>
              <a:blip r:embed="rId9">
                <a:alphaModFix amt="0"/>
              </a:blip>
              <a:stretch>
                <a:fillRect l="-25725" t="0" r="-25725" b="1"/>
              </a:stretch>
            </a:blipFill>
          </p:spPr>
        </p:sp>
        <p:sp>
          <p:nvSpPr>
            <p:cNvPr name="TextBox 53" id="53"/>
            <p:cNvSpPr txBox="true"/>
            <p:nvPr/>
          </p:nvSpPr>
          <p:spPr>
            <a:xfrm>
              <a:off x="0" y="19050"/>
              <a:ext cx="340284" cy="181788"/>
            </a:xfrm>
            <a:prstGeom prst="rect">
              <a:avLst/>
            </a:prstGeom>
          </p:spPr>
          <p:txBody>
            <a:bodyPr anchor="ctr" rtlCol="false" tIns="0" lIns="0" bIns="0" rIns="0"/>
            <a:lstStyle/>
            <a:p>
              <a:pPr algn="l">
                <a:lnSpc>
                  <a:spcPts val="687"/>
                </a:lnSpc>
              </a:pPr>
              <a:r>
                <a:rPr lang="en-US" sz="769">
                  <a:solidFill>
                    <a:srgbClr val="808080"/>
                  </a:solidFill>
                  <a:latin typeface="TT Commons Pro"/>
                  <a:ea typeface="TT Commons Pro"/>
                  <a:cs typeface="TT Commons Pro"/>
                  <a:sym typeface="TT Commons Pro"/>
                </a:rPr>
                <a:t>43*</a:t>
              </a:r>
            </a:p>
          </p:txBody>
        </p:sp>
      </p:grpSp>
      <p:grpSp>
        <p:nvGrpSpPr>
          <p:cNvPr name="Group 54" id="54"/>
          <p:cNvGrpSpPr/>
          <p:nvPr/>
        </p:nvGrpSpPr>
        <p:grpSpPr>
          <a:xfrm rot="0">
            <a:off x="15765018" y="6912693"/>
            <a:ext cx="473974" cy="163420"/>
            <a:chOff x="0" y="0"/>
            <a:chExt cx="631965" cy="217894"/>
          </a:xfrm>
        </p:grpSpPr>
        <p:sp>
          <p:nvSpPr>
            <p:cNvPr name="Freeform 55" id="55"/>
            <p:cNvSpPr/>
            <p:nvPr/>
          </p:nvSpPr>
          <p:spPr>
            <a:xfrm flipH="false" flipV="false" rot="0">
              <a:off x="0" y="0"/>
              <a:ext cx="631952" cy="217932"/>
            </a:xfrm>
            <a:custGeom>
              <a:avLst/>
              <a:gdLst/>
              <a:ahLst/>
              <a:cxnLst/>
              <a:rect r="r" b="b" t="t" l="l"/>
              <a:pathLst>
                <a:path h="217932" w="631952">
                  <a:moveTo>
                    <a:pt x="0" y="0"/>
                  </a:moveTo>
                  <a:lnTo>
                    <a:pt x="631952" y="0"/>
                  </a:lnTo>
                  <a:lnTo>
                    <a:pt x="631952" y="217932"/>
                  </a:lnTo>
                  <a:lnTo>
                    <a:pt x="0" y="217932"/>
                  </a:lnTo>
                  <a:close/>
                </a:path>
              </a:pathLst>
            </a:custGeom>
            <a:blipFill>
              <a:blip r:embed="rId8">
                <a:alphaModFix amt="0"/>
              </a:blip>
              <a:stretch>
                <a:fillRect l="0" t="-6474" r="-2" b="-6451"/>
              </a:stretch>
            </a:blipFill>
          </p:spPr>
        </p:sp>
      </p:grpSp>
      <p:grpSp>
        <p:nvGrpSpPr>
          <p:cNvPr name="Group 56" id="56"/>
          <p:cNvGrpSpPr/>
          <p:nvPr/>
        </p:nvGrpSpPr>
        <p:grpSpPr>
          <a:xfrm rot="0">
            <a:off x="15765018" y="6912693"/>
            <a:ext cx="473974" cy="163420"/>
            <a:chOff x="0" y="0"/>
            <a:chExt cx="631965" cy="217894"/>
          </a:xfrm>
        </p:grpSpPr>
        <p:sp>
          <p:nvSpPr>
            <p:cNvPr name="Freeform 57" id="57"/>
            <p:cNvSpPr/>
            <p:nvPr/>
          </p:nvSpPr>
          <p:spPr>
            <a:xfrm flipH="false" flipV="false" rot="0">
              <a:off x="0" y="0"/>
              <a:ext cx="631965" cy="217892"/>
            </a:xfrm>
            <a:custGeom>
              <a:avLst/>
              <a:gdLst/>
              <a:ahLst/>
              <a:cxnLst/>
              <a:rect r="r" b="b" t="t" l="l"/>
              <a:pathLst>
                <a:path h="217892" w="631965">
                  <a:moveTo>
                    <a:pt x="0" y="0"/>
                  </a:moveTo>
                  <a:lnTo>
                    <a:pt x="631965" y="0"/>
                  </a:lnTo>
                  <a:lnTo>
                    <a:pt x="631965" y="217892"/>
                  </a:lnTo>
                  <a:lnTo>
                    <a:pt x="0" y="217892"/>
                  </a:lnTo>
                  <a:close/>
                </a:path>
              </a:pathLst>
            </a:custGeom>
            <a:blipFill>
              <a:blip r:embed="rId9">
                <a:alphaModFix amt="0"/>
              </a:blip>
              <a:stretch>
                <a:fillRect l="0" t="-6513" r="0" b="-6514"/>
              </a:stretch>
            </a:blipFill>
          </p:spPr>
        </p:sp>
        <p:sp>
          <p:nvSpPr>
            <p:cNvPr name="TextBox 58" id="58"/>
            <p:cNvSpPr txBox="true"/>
            <p:nvPr/>
          </p:nvSpPr>
          <p:spPr>
            <a:xfrm>
              <a:off x="0" y="0"/>
              <a:ext cx="631965" cy="217894"/>
            </a:xfrm>
            <a:prstGeom prst="rect">
              <a:avLst/>
            </a:prstGeom>
          </p:spPr>
          <p:txBody>
            <a:bodyPr anchor="ctr" rtlCol="false" tIns="0" lIns="0" bIns="0" rIns="0"/>
            <a:lstStyle/>
            <a:p>
              <a:pPr algn="l">
                <a:lnSpc>
                  <a:spcPts val="861"/>
                </a:lnSpc>
              </a:pPr>
              <a:r>
                <a:rPr lang="en-US" sz="774">
                  <a:solidFill>
                    <a:srgbClr val="878081"/>
                  </a:solidFill>
                  <a:latin typeface="TT Commons Pro"/>
                  <a:ea typeface="TT Commons Pro"/>
                  <a:cs typeface="TT Commons Pro"/>
                  <a:sym typeface="TT Commons Pro"/>
                </a:rPr>
                <a:t>10-40 min</a:t>
              </a:r>
            </a:p>
          </p:txBody>
        </p:sp>
      </p:grpSp>
      <p:grpSp>
        <p:nvGrpSpPr>
          <p:cNvPr name="Group 59" id="59"/>
          <p:cNvGrpSpPr/>
          <p:nvPr/>
        </p:nvGrpSpPr>
        <p:grpSpPr>
          <a:xfrm rot="0">
            <a:off x="15524378" y="6103296"/>
            <a:ext cx="991648" cy="780193"/>
            <a:chOff x="0" y="0"/>
            <a:chExt cx="1322197" cy="1040257"/>
          </a:xfrm>
        </p:grpSpPr>
        <p:sp>
          <p:nvSpPr>
            <p:cNvPr name="Freeform 60" id="60" descr="preencoded.png"/>
            <p:cNvSpPr/>
            <p:nvPr/>
          </p:nvSpPr>
          <p:spPr>
            <a:xfrm flipH="false" flipV="false" rot="0">
              <a:off x="0" y="0"/>
              <a:ext cx="1322197" cy="1040257"/>
            </a:xfrm>
            <a:custGeom>
              <a:avLst/>
              <a:gdLst/>
              <a:ahLst/>
              <a:cxnLst/>
              <a:rect r="r" b="b" t="t" l="l"/>
              <a:pathLst>
                <a:path h="1040257" w="1322197">
                  <a:moveTo>
                    <a:pt x="0" y="0"/>
                  </a:moveTo>
                  <a:lnTo>
                    <a:pt x="1322197" y="0"/>
                  </a:lnTo>
                  <a:lnTo>
                    <a:pt x="1322197" y="1040257"/>
                  </a:lnTo>
                  <a:lnTo>
                    <a:pt x="0" y="1040257"/>
                  </a:lnTo>
                  <a:lnTo>
                    <a:pt x="0" y="0"/>
                  </a:lnTo>
                  <a:close/>
                </a:path>
              </a:pathLst>
            </a:custGeom>
            <a:blipFill>
              <a:blip r:embed="rId13"/>
              <a:stretch>
                <a:fillRect l="0" t="-118" r="0" b="-117"/>
              </a:stretch>
            </a:blipFill>
          </p:spPr>
        </p:sp>
      </p:grpSp>
      <p:grpSp>
        <p:nvGrpSpPr>
          <p:cNvPr name="Group 61" id="61"/>
          <p:cNvGrpSpPr/>
          <p:nvPr/>
        </p:nvGrpSpPr>
        <p:grpSpPr>
          <a:xfrm rot="0">
            <a:off x="16136903" y="6708515"/>
            <a:ext cx="298971" cy="184785"/>
            <a:chOff x="0" y="0"/>
            <a:chExt cx="398628" cy="246380"/>
          </a:xfrm>
        </p:grpSpPr>
        <p:sp>
          <p:nvSpPr>
            <p:cNvPr name="Freeform 62" id="62"/>
            <p:cNvSpPr/>
            <p:nvPr/>
          </p:nvSpPr>
          <p:spPr>
            <a:xfrm flipH="false" flipV="false" rot="0">
              <a:off x="0" y="0"/>
              <a:ext cx="398653" cy="246380"/>
            </a:xfrm>
            <a:custGeom>
              <a:avLst/>
              <a:gdLst/>
              <a:ahLst/>
              <a:cxnLst/>
              <a:rect r="r" b="b" t="t" l="l"/>
              <a:pathLst>
                <a:path h="246380" w="398653">
                  <a:moveTo>
                    <a:pt x="0" y="0"/>
                  </a:moveTo>
                  <a:lnTo>
                    <a:pt x="398653" y="0"/>
                  </a:lnTo>
                  <a:lnTo>
                    <a:pt x="398653" y="246380"/>
                  </a:lnTo>
                  <a:lnTo>
                    <a:pt x="0" y="246380"/>
                  </a:lnTo>
                  <a:close/>
                </a:path>
              </a:pathLst>
            </a:custGeom>
            <a:blipFill>
              <a:blip r:embed="rId8">
                <a:alphaModFix amt="0"/>
              </a:blip>
              <a:stretch>
                <a:fillRect l="-29356" t="0" r="-29350" b="0"/>
              </a:stretch>
            </a:blipFill>
          </p:spPr>
        </p:sp>
      </p:grpSp>
      <p:grpSp>
        <p:nvGrpSpPr>
          <p:cNvPr name="Group 63" id="63"/>
          <p:cNvGrpSpPr/>
          <p:nvPr/>
        </p:nvGrpSpPr>
        <p:grpSpPr>
          <a:xfrm rot="0">
            <a:off x="16136903" y="6729946"/>
            <a:ext cx="298971" cy="163363"/>
            <a:chOff x="0" y="0"/>
            <a:chExt cx="398628" cy="217818"/>
          </a:xfrm>
        </p:grpSpPr>
        <p:sp>
          <p:nvSpPr>
            <p:cNvPr name="Freeform 64" id="64"/>
            <p:cNvSpPr/>
            <p:nvPr/>
          </p:nvSpPr>
          <p:spPr>
            <a:xfrm flipH="false" flipV="false" rot="0">
              <a:off x="0" y="0"/>
              <a:ext cx="398628" cy="217814"/>
            </a:xfrm>
            <a:custGeom>
              <a:avLst/>
              <a:gdLst/>
              <a:ahLst/>
              <a:cxnLst/>
              <a:rect r="r" b="b" t="t" l="l"/>
              <a:pathLst>
                <a:path h="217814" w="398628">
                  <a:moveTo>
                    <a:pt x="0" y="0"/>
                  </a:moveTo>
                  <a:lnTo>
                    <a:pt x="398628" y="0"/>
                  </a:lnTo>
                  <a:lnTo>
                    <a:pt x="398628" y="217814"/>
                  </a:lnTo>
                  <a:lnTo>
                    <a:pt x="0" y="217814"/>
                  </a:lnTo>
                  <a:close/>
                </a:path>
              </a:pathLst>
            </a:custGeom>
            <a:blipFill>
              <a:blip r:embed="rId9">
                <a:alphaModFix amt="0"/>
              </a:blip>
              <a:stretch>
                <a:fillRect l="-20107" t="0" r="-20107" b="-1"/>
              </a:stretch>
            </a:blipFill>
          </p:spPr>
        </p:sp>
        <p:sp>
          <p:nvSpPr>
            <p:cNvPr name="TextBox 65" id="65"/>
            <p:cNvSpPr txBox="true"/>
            <p:nvPr/>
          </p:nvSpPr>
          <p:spPr>
            <a:xfrm>
              <a:off x="0" y="28575"/>
              <a:ext cx="398628" cy="189243"/>
            </a:xfrm>
            <a:prstGeom prst="rect">
              <a:avLst/>
            </a:prstGeom>
          </p:spPr>
          <p:txBody>
            <a:bodyPr anchor="ctr" rtlCol="false" tIns="0" lIns="0" bIns="0" rIns="0"/>
            <a:lstStyle/>
            <a:p>
              <a:pPr algn="l">
                <a:lnSpc>
                  <a:spcPts val="497"/>
                </a:lnSpc>
              </a:pPr>
              <a:r>
                <a:rPr lang="en-US" sz="617">
                  <a:solidFill>
                    <a:srgbClr val="696765"/>
                  </a:solidFill>
                  <a:latin typeface="TT Commons Pro"/>
                  <a:ea typeface="TT Commons Pro"/>
                  <a:cs typeface="TT Commons Pro"/>
                  <a:sym typeface="TT Commons Pro"/>
                </a:rPr>
                <a:t>50-+400</a:t>
              </a:r>
            </a:p>
          </p:txBody>
        </p:sp>
      </p:grpSp>
      <p:grpSp>
        <p:nvGrpSpPr>
          <p:cNvPr name="Group 66" id="66"/>
          <p:cNvGrpSpPr/>
          <p:nvPr/>
        </p:nvGrpSpPr>
        <p:grpSpPr>
          <a:xfrm rot="0">
            <a:off x="15641050" y="5675243"/>
            <a:ext cx="1451086" cy="492795"/>
            <a:chOff x="0" y="0"/>
            <a:chExt cx="1934782" cy="657060"/>
          </a:xfrm>
        </p:grpSpPr>
        <p:sp>
          <p:nvSpPr>
            <p:cNvPr name="Freeform 67" id="67"/>
            <p:cNvSpPr/>
            <p:nvPr/>
          </p:nvSpPr>
          <p:spPr>
            <a:xfrm flipH="false" flipV="false" rot="0">
              <a:off x="0" y="0"/>
              <a:ext cx="1934845" cy="657098"/>
            </a:xfrm>
            <a:custGeom>
              <a:avLst/>
              <a:gdLst/>
              <a:ahLst/>
              <a:cxnLst/>
              <a:rect r="r" b="b" t="t" l="l"/>
              <a:pathLst>
                <a:path h="657098" w="1934845">
                  <a:moveTo>
                    <a:pt x="0" y="0"/>
                  </a:moveTo>
                  <a:lnTo>
                    <a:pt x="1934845" y="0"/>
                  </a:lnTo>
                  <a:lnTo>
                    <a:pt x="1934845" y="657098"/>
                  </a:lnTo>
                  <a:lnTo>
                    <a:pt x="0" y="657098"/>
                  </a:lnTo>
                  <a:close/>
                </a:path>
              </a:pathLst>
            </a:custGeom>
            <a:blipFill>
              <a:blip r:embed="rId8">
                <a:alphaModFix amt="0"/>
              </a:blip>
              <a:stretch>
                <a:fillRect l="0" t="-7334" r="3" b="-7330"/>
              </a:stretch>
            </a:blipFill>
          </p:spPr>
        </p:sp>
      </p:grpSp>
      <p:grpSp>
        <p:nvGrpSpPr>
          <p:cNvPr name="Group 68" id="68"/>
          <p:cNvGrpSpPr/>
          <p:nvPr/>
        </p:nvGrpSpPr>
        <p:grpSpPr>
          <a:xfrm rot="0">
            <a:off x="15641050" y="5689530"/>
            <a:ext cx="1451086" cy="478507"/>
            <a:chOff x="0" y="0"/>
            <a:chExt cx="1934782" cy="638010"/>
          </a:xfrm>
        </p:grpSpPr>
        <p:sp>
          <p:nvSpPr>
            <p:cNvPr name="Freeform 69" id="69"/>
            <p:cNvSpPr/>
            <p:nvPr/>
          </p:nvSpPr>
          <p:spPr>
            <a:xfrm flipH="false" flipV="false" rot="0">
              <a:off x="0" y="0"/>
              <a:ext cx="1934781" cy="638007"/>
            </a:xfrm>
            <a:custGeom>
              <a:avLst/>
              <a:gdLst/>
              <a:ahLst/>
              <a:cxnLst/>
              <a:rect r="r" b="b" t="t" l="l"/>
              <a:pathLst>
                <a:path h="638007" w="1934781">
                  <a:moveTo>
                    <a:pt x="0" y="0"/>
                  </a:moveTo>
                  <a:lnTo>
                    <a:pt x="1934781" y="0"/>
                  </a:lnTo>
                  <a:lnTo>
                    <a:pt x="1934781" y="638007"/>
                  </a:lnTo>
                  <a:lnTo>
                    <a:pt x="0" y="638007"/>
                  </a:lnTo>
                  <a:close/>
                </a:path>
              </a:pathLst>
            </a:custGeom>
            <a:blipFill>
              <a:blip r:embed="rId9">
                <a:alphaModFix amt="0"/>
              </a:blip>
              <a:stretch>
                <a:fillRect l="0" t="-9088" r="0" b="-9089"/>
              </a:stretch>
            </a:blipFill>
          </p:spPr>
        </p:sp>
        <p:sp>
          <p:nvSpPr>
            <p:cNvPr name="TextBox 70" id="70"/>
            <p:cNvSpPr txBox="true"/>
            <p:nvPr/>
          </p:nvSpPr>
          <p:spPr>
            <a:xfrm>
              <a:off x="0" y="19050"/>
              <a:ext cx="1934782" cy="618960"/>
            </a:xfrm>
            <a:prstGeom prst="rect">
              <a:avLst/>
            </a:prstGeom>
          </p:spPr>
          <p:txBody>
            <a:bodyPr anchor="ctr" rtlCol="false" tIns="0" lIns="0" bIns="0" rIns="0"/>
            <a:lstStyle/>
            <a:p>
              <a:pPr algn="l">
                <a:lnSpc>
                  <a:spcPts val="991"/>
                </a:lnSpc>
              </a:pPr>
              <a:r>
                <a:rPr lang="en-US" sz="977">
                  <a:solidFill>
                    <a:srgbClr val="6F6E6E"/>
                  </a:solidFill>
                  <a:latin typeface="TT Commons Pro"/>
                  <a:ea typeface="TT Commons Pro"/>
                  <a:cs typeface="TT Commons Pro"/>
                  <a:sym typeface="TT Commons Pro"/>
                </a:rPr>
                <a:t>Top Rated Restaurants</a:t>
              </a:r>
            </a:p>
          </p:txBody>
        </p:sp>
      </p:grpSp>
      <p:grpSp>
        <p:nvGrpSpPr>
          <p:cNvPr name="Group 71" id="71"/>
          <p:cNvGrpSpPr/>
          <p:nvPr/>
        </p:nvGrpSpPr>
        <p:grpSpPr>
          <a:xfrm rot="0">
            <a:off x="17252556" y="5534530"/>
            <a:ext cx="328136" cy="169936"/>
            <a:chOff x="0" y="0"/>
            <a:chExt cx="437515" cy="226581"/>
          </a:xfrm>
        </p:grpSpPr>
        <p:sp>
          <p:nvSpPr>
            <p:cNvPr name="Freeform 72" id="72"/>
            <p:cNvSpPr/>
            <p:nvPr/>
          </p:nvSpPr>
          <p:spPr>
            <a:xfrm flipH="false" flipV="false" rot="0">
              <a:off x="0" y="0"/>
              <a:ext cx="437515" cy="226568"/>
            </a:xfrm>
            <a:custGeom>
              <a:avLst/>
              <a:gdLst/>
              <a:ahLst/>
              <a:cxnLst/>
              <a:rect r="r" b="b" t="t" l="l"/>
              <a:pathLst>
                <a:path h="226568" w="437515">
                  <a:moveTo>
                    <a:pt x="0" y="0"/>
                  </a:moveTo>
                  <a:lnTo>
                    <a:pt x="437515" y="0"/>
                  </a:lnTo>
                  <a:lnTo>
                    <a:pt x="437515" y="226568"/>
                  </a:lnTo>
                  <a:lnTo>
                    <a:pt x="0" y="226568"/>
                  </a:lnTo>
                  <a:close/>
                </a:path>
              </a:pathLst>
            </a:custGeom>
            <a:blipFill>
              <a:blip r:embed="rId8">
                <a:alphaModFix amt="0"/>
              </a:blip>
              <a:stretch>
                <a:fillRect l="-16493" t="0" r="-16493" b="-5"/>
              </a:stretch>
            </a:blipFill>
          </p:spPr>
        </p:sp>
      </p:grpSp>
      <p:grpSp>
        <p:nvGrpSpPr>
          <p:cNvPr name="Group 73" id="73"/>
          <p:cNvGrpSpPr/>
          <p:nvPr/>
        </p:nvGrpSpPr>
        <p:grpSpPr>
          <a:xfrm rot="0">
            <a:off x="17252556" y="5555961"/>
            <a:ext cx="328136" cy="148504"/>
            <a:chOff x="0" y="0"/>
            <a:chExt cx="437515" cy="198006"/>
          </a:xfrm>
        </p:grpSpPr>
        <p:sp>
          <p:nvSpPr>
            <p:cNvPr name="Freeform 74" id="74"/>
            <p:cNvSpPr/>
            <p:nvPr/>
          </p:nvSpPr>
          <p:spPr>
            <a:xfrm flipH="false" flipV="false" rot="0">
              <a:off x="0" y="0"/>
              <a:ext cx="437515" cy="198004"/>
            </a:xfrm>
            <a:custGeom>
              <a:avLst/>
              <a:gdLst/>
              <a:ahLst/>
              <a:cxnLst/>
              <a:rect r="r" b="b" t="t" l="l"/>
              <a:pathLst>
                <a:path h="198004" w="437515">
                  <a:moveTo>
                    <a:pt x="0" y="0"/>
                  </a:moveTo>
                  <a:lnTo>
                    <a:pt x="437515" y="0"/>
                  </a:lnTo>
                  <a:lnTo>
                    <a:pt x="437515" y="198004"/>
                  </a:lnTo>
                  <a:lnTo>
                    <a:pt x="0" y="198004"/>
                  </a:lnTo>
                  <a:close/>
                </a:path>
              </a:pathLst>
            </a:custGeom>
            <a:blipFill>
              <a:blip r:embed="rId9">
                <a:alphaModFix amt="0"/>
              </a:blip>
              <a:stretch>
                <a:fillRect l="-8066" t="0" r="-8066" b="-1"/>
              </a:stretch>
            </a:blipFill>
          </p:spPr>
        </p:sp>
        <p:sp>
          <p:nvSpPr>
            <p:cNvPr name="TextBox 75" id="75"/>
            <p:cNvSpPr txBox="true"/>
            <p:nvPr/>
          </p:nvSpPr>
          <p:spPr>
            <a:xfrm>
              <a:off x="0" y="28575"/>
              <a:ext cx="437515" cy="169431"/>
            </a:xfrm>
            <a:prstGeom prst="rect">
              <a:avLst/>
            </a:prstGeom>
          </p:spPr>
          <p:txBody>
            <a:bodyPr anchor="ctr" rtlCol="false" tIns="0" lIns="0" bIns="0" rIns="0"/>
            <a:lstStyle/>
            <a:p>
              <a:pPr algn="l">
                <a:lnSpc>
                  <a:spcPts val="734"/>
                </a:lnSpc>
              </a:pPr>
              <a:r>
                <a:rPr lang="en-US" sz="818">
                  <a:solidFill>
                    <a:srgbClr val="807F80"/>
                  </a:solidFill>
                  <a:latin typeface="TT Commons Pro"/>
                  <a:ea typeface="TT Commons Pro"/>
                  <a:cs typeface="TT Commons Pro"/>
                  <a:sym typeface="TT Commons Pro"/>
                </a:rPr>
                <a:t>Events</a:t>
              </a:r>
            </a:p>
          </p:txBody>
        </p:sp>
      </p:grpSp>
      <p:grpSp>
        <p:nvGrpSpPr>
          <p:cNvPr name="Group 76" id="76"/>
          <p:cNvGrpSpPr/>
          <p:nvPr/>
        </p:nvGrpSpPr>
        <p:grpSpPr>
          <a:xfrm rot="0">
            <a:off x="17332766" y="5257438"/>
            <a:ext cx="189548" cy="211455"/>
            <a:chOff x="0" y="0"/>
            <a:chExt cx="252730" cy="281940"/>
          </a:xfrm>
        </p:grpSpPr>
        <p:sp>
          <p:nvSpPr>
            <p:cNvPr name="Freeform 77" id="77" descr="preencoded.png"/>
            <p:cNvSpPr/>
            <p:nvPr/>
          </p:nvSpPr>
          <p:spPr>
            <a:xfrm flipH="false" flipV="false" rot="0">
              <a:off x="0" y="0"/>
              <a:ext cx="252730" cy="281940"/>
            </a:xfrm>
            <a:custGeom>
              <a:avLst/>
              <a:gdLst/>
              <a:ahLst/>
              <a:cxnLst/>
              <a:rect r="r" b="b" t="t" l="l"/>
              <a:pathLst>
                <a:path h="281940" w="252730">
                  <a:moveTo>
                    <a:pt x="0" y="0"/>
                  </a:moveTo>
                  <a:lnTo>
                    <a:pt x="252730" y="0"/>
                  </a:lnTo>
                  <a:lnTo>
                    <a:pt x="252730" y="281940"/>
                  </a:lnTo>
                  <a:lnTo>
                    <a:pt x="0" y="281940"/>
                  </a:lnTo>
                  <a:lnTo>
                    <a:pt x="0" y="0"/>
                  </a:lnTo>
                  <a:close/>
                </a:path>
              </a:pathLst>
            </a:custGeom>
            <a:blipFill>
              <a:blip r:embed="rId14"/>
              <a:stretch>
                <a:fillRect l="-708" t="0" r="-708" b="0"/>
              </a:stretch>
            </a:blipFill>
          </p:spPr>
        </p:sp>
      </p:grpSp>
      <p:grpSp>
        <p:nvGrpSpPr>
          <p:cNvPr name="Group 78" id="78"/>
          <p:cNvGrpSpPr/>
          <p:nvPr/>
        </p:nvGrpSpPr>
        <p:grpSpPr>
          <a:xfrm rot="0">
            <a:off x="16654624" y="5554751"/>
            <a:ext cx="393764" cy="170212"/>
            <a:chOff x="0" y="0"/>
            <a:chExt cx="525018" cy="226949"/>
          </a:xfrm>
        </p:grpSpPr>
        <p:sp>
          <p:nvSpPr>
            <p:cNvPr name="Freeform 79" id="79"/>
            <p:cNvSpPr/>
            <p:nvPr/>
          </p:nvSpPr>
          <p:spPr>
            <a:xfrm flipH="false" flipV="false" rot="0">
              <a:off x="0" y="0"/>
              <a:ext cx="525018" cy="226949"/>
            </a:xfrm>
            <a:custGeom>
              <a:avLst/>
              <a:gdLst/>
              <a:ahLst/>
              <a:cxnLst/>
              <a:rect r="r" b="b" t="t" l="l"/>
              <a:pathLst>
                <a:path h="226949" w="525018">
                  <a:moveTo>
                    <a:pt x="0" y="0"/>
                  </a:moveTo>
                  <a:lnTo>
                    <a:pt x="525018" y="0"/>
                  </a:lnTo>
                  <a:lnTo>
                    <a:pt x="525018" y="226949"/>
                  </a:lnTo>
                  <a:lnTo>
                    <a:pt x="0" y="226949"/>
                  </a:lnTo>
                  <a:close/>
                </a:path>
              </a:pathLst>
            </a:custGeom>
            <a:blipFill>
              <a:blip r:embed="rId8">
                <a:alphaModFix amt="0"/>
              </a:blip>
              <a:stretch>
                <a:fillRect l="-5500" t="0" r="-5500" b="0"/>
              </a:stretch>
            </a:blipFill>
          </p:spPr>
        </p:sp>
      </p:grpSp>
      <p:grpSp>
        <p:nvGrpSpPr>
          <p:cNvPr name="Group 80" id="80"/>
          <p:cNvGrpSpPr/>
          <p:nvPr/>
        </p:nvGrpSpPr>
        <p:grpSpPr>
          <a:xfrm rot="0">
            <a:off x="16654624" y="5547608"/>
            <a:ext cx="393764" cy="177356"/>
            <a:chOff x="0" y="0"/>
            <a:chExt cx="525018" cy="236474"/>
          </a:xfrm>
        </p:grpSpPr>
        <p:sp>
          <p:nvSpPr>
            <p:cNvPr name="Freeform 81" id="81"/>
            <p:cNvSpPr/>
            <p:nvPr/>
          </p:nvSpPr>
          <p:spPr>
            <a:xfrm flipH="false" flipV="false" rot="0">
              <a:off x="0" y="0"/>
              <a:ext cx="525019" cy="236468"/>
            </a:xfrm>
            <a:custGeom>
              <a:avLst/>
              <a:gdLst/>
              <a:ahLst/>
              <a:cxnLst/>
              <a:rect r="r" b="b" t="t" l="l"/>
              <a:pathLst>
                <a:path h="236468" w="525019">
                  <a:moveTo>
                    <a:pt x="0" y="0"/>
                  </a:moveTo>
                  <a:lnTo>
                    <a:pt x="525019" y="0"/>
                  </a:lnTo>
                  <a:lnTo>
                    <a:pt x="525019" y="236468"/>
                  </a:lnTo>
                  <a:lnTo>
                    <a:pt x="0" y="236468"/>
                  </a:lnTo>
                  <a:close/>
                </a:path>
              </a:pathLst>
            </a:custGeom>
            <a:blipFill>
              <a:blip r:embed="rId9">
                <a:alphaModFix amt="0"/>
              </a:blip>
              <a:stretch>
                <a:fillRect l="-7789" t="0" r="-7789" b="-2"/>
              </a:stretch>
            </a:blipFill>
          </p:spPr>
        </p:sp>
        <p:sp>
          <p:nvSpPr>
            <p:cNvPr name="TextBox 82" id="82"/>
            <p:cNvSpPr txBox="true"/>
            <p:nvPr/>
          </p:nvSpPr>
          <p:spPr>
            <a:xfrm>
              <a:off x="0" y="-9525"/>
              <a:ext cx="525018" cy="245999"/>
            </a:xfrm>
            <a:prstGeom prst="rect">
              <a:avLst/>
            </a:prstGeom>
          </p:spPr>
          <p:txBody>
            <a:bodyPr anchor="ctr" rtlCol="false" tIns="0" lIns="0" bIns="0" rIns="0"/>
            <a:lstStyle/>
            <a:p>
              <a:pPr algn="l">
                <a:lnSpc>
                  <a:spcPts val="975"/>
                </a:lnSpc>
              </a:pPr>
              <a:r>
                <a:rPr lang="en-US" sz="786">
                  <a:solidFill>
                    <a:srgbClr val="878686"/>
                  </a:solidFill>
                  <a:latin typeface="TT Commons Pro"/>
                  <a:ea typeface="TT Commons Pro"/>
                  <a:cs typeface="TT Commons Pro"/>
                  <a:sym typeface="TT Commons Pro"/>
                </a:rPr>
                <a:t>Nightlife</a:t>
              </a:r>
            </a:p>
          </p:txBody>
        </p:sp>
      </p:grpSp>
      <p:grpSp>
        <p:nvGrpSpPr>
          <p:cNvPr name="Group 83" id="83"/>
          <p:cNvGrpSpPr/>
          <p:nvPr/>
        </p:nvGrpSpPr>
        <p:grpSpPr>
          <a:xfrm rot="0">
            <a:off x="16785879" y="5257438"/>
            <a:ext cx="182308" cy="204216"/>
            <a:chOff x="0" y="0"/>
            <a:chExt cx="243078" cy="272288"/>
          </a:xfrm>
        </p:grpSpPr>
        <p:sp>
          <p:nvSpPr>
            <p:cNvPr name="Freeform 84" id="84" descr="preencoded.png"/>
            <p:cNvSpPr/>
            <p:nvPr/>
          </p:nvSpPr>
          <p:spPr>
            <a:xfrm flipH="false" flipV="false" rot="0">
              <a:off x="0" y="0"/>
              <a:ext cx="243078" cy="272288"/>
            </a:xfrm>
            <a:custGeom>
              <a:avLst/>
              <a:gdLst/>
              <a:ahLst/>
              <a:cxnLst/>
              <a:rect r="r" b="b" t="t" l="l"/>
              <a:pathLst>
                <a:path h="272288" w="243078">
                  <a:moveTo>
                    <a:pt x="0" y="0"/>
                  </a:moveTo>
                  <a:lnTo>
                    <a:pt x="243078" y="0"/>
                  </a:lnTo>
                  <a:lnTo>
                    <a:pt x="243078" y="272288"/>
                  </a:lnTo>
                  <a:lnTo>
                    <a:pt x="0" y="272288"/>
                  </a:lnTo>
                  <a:lnTo>
                    <a:pt x="0" y="0"/>
                  </a:lnTo>
                  <a:close/>
                </a:path>
              </a:pathLst>
            </a:custGeom>
            <a:blipFill>
              <a:blip r:embed="rId15"/>
              <a:stretch>
                <a:fillRect l="-914" t="0" r="-919" b="0"/>
              </a:stretch>
            </a:blipFill>
          </p:spPr>
        </p:sp>
      </p:grpSp>
      <p:grpSp>
        <p:nvGrpSpPr>
          <p:cNvPr name="Group 85" id="85"/>
          <p:cNvGrpSpPr/>
          <p:nvPr/>
        </p:nvGrpSpPr>
        <p:grpSpPr>
          <a:xfrm rot="0">
            <a:off x="16180651" y="5554751"/>
            <a:ext cx="342710" cy="170212"/>
            <a:chOff x="0" y="0"/>
            <a:chExt cx="456946" cy="226949"/>
          </a:xfrm>
        </p:grpSpPr>
        <p:sp>
          <p:nvSpPr>
            <p:cNvPr name="Freeform 86" id="86"/>
            <p:cNvSpPr/>
            <p:nvPr/>
          </p:nvSpPr>
          <p:spPr>
            <a:xfrm flipH="false" flipV="false" rot="0">
              <a:off x="0" y="0"/>
              <a:ext cx="456946" cy="226949"/>
            </a:xfrm>
            <a:custGeom>
              <a:avLst/>
              <a:gdLst/>
              <a:ahLst/>
              <a:cxnLst/>
              <a:rect r="r" b="b" t="t" l="l"/>
              <a:pathLst>
                <a:path h="226949" w="456946">
                  <a:moveTo>
                    <a:pt x="0" y="0"/>
                  </a:moveTo>
                  <a:lnTo>
                    <a:pt x="456946" y="0"/>
                  </a:lnTo>
                  <a:lnTo>
                    <a:pt x="456946" y="226949"/>
                  </a:lnTo>
                  <a:lnTo>
                    <a:pt x="0" y="226949"/>
                  </a:lnTo>
                  <a:close/>
                </a:path>
              </a:pathLst>
            </a:custGeom>
            <a:blipFill>
              <a:blip r:embed="rId8">
                <a:alphaModFix amt="0"/>
              </a:blip>
              <a:stretch>
                <a:fillRect l="-13768" t="0" r="-13768" b="0"/>
              </a:stretch>
            </a:blipFill>
          </p:spPr>
        </p:sp>
      </p:grpSp>
      <p:grpSp>
        <p:nvGrpSpPr>
          <p:cNvPr name="Group 87" id="87"/>
          <p:cNvGrpSpPr/>
          <p:nvPr/>
        </p:nvGrpSpPr>
        <p:grpSpPr>
          <a:xfrm rot="0">
            <a:off x="16180651" y="5547608"/>
            <a:ext cx="342719" cy="177356"/>
            <a:chOff x="0" y="0"/>
            <a:chExt cx="456959" cy="236474"/>
          </a:xfrm>
        </p:grpSpPr>
        <p:sp>
          <p:nvSpPr>
            <p:cNvPr name="Freeform 88" id="88"/>
            <p:cNvSpPr/>
            <p:nvPr/>
          </p:nvSpPr>
          <p:spPr>
            <a:xfrm flipH="false" flipV="false" rot="0">
              <a:off x="0" y="0"/>
              <a:ext cx="456959" cy="236468"/>
            </a:xfrm>
            <a:custGeom>
              <a:avLst/>
              <a:gdLst/>
              <a:ahLst/>
              <a:cxnLst/>
              <a:rect r="r" b="b" t="t" l="l"/>
              <a:pathLst>
                <a:path h="236468" w="456959">
                  <a:moveTo>
                    <a:pt x="0" y="0"/>
                  </a:moveTo>
                  <a:lnTo>
                    <a:pt x="456959" y="0"/>
                  </a:lnTo>
                  <a:lnTo>
                    <a:pt x="456959" y="236468"/>
                  </a:lnTo>
                  <a:lnTo>
                    <a:pt x="0" y="236468"/>
                  </a:lnTo>
                  <a:close/>
                </a:path>
              </a:pathLst>
            </a:custGeom>
            <a:blipFill>
              <a:blip r:embed="rId9">
                <a:alphaModFix amt="0"/>
              </a:blip>
              <a:stretch>
                <a:fillRect l="-16396" t="0" r="-16396" b="-2"/>
              </a:stretch>
            </a:blipFill>
          </p:spPr>
        </p:sp>
        <p:sp>
          <p:nvSpPr>
            <p:cNvPr name="TextBox 89" id="89"/>
            <p:cNvSpPr txBox="true"/>
            <p:nvPr/>
          </p:nvSpPr>
          <p:spPr>
            <a:xfrm>
              <a:off x="0" y="-9525"/>
              <a:ext cx="456959" cy="245999"/>
            </a:xfrm>
            <a:prstGeom prst="rect">
              <a:avLst/>
            </a:prstGeom>
          </p:spPr>
          <p:txBody>
            <a:bodyPr anchor="ctr" rtlCol="false" tIns="0" lIns="0" bIns="0" rIns="0"/>
            <a:lstStyle/>
            <a:p>
              <a:pPr algn="l">
                <a:lnSpc>
                  <a:spcPts val="975"/>
                </a:lnSpc>
              </a:pPr>
              <a:r>
                <a:rPr lang="en-US" sz="786">
                  <a:solidFill>
                    <a:srgbClr val="7F7C7B"/>
                  </a:solidFill>
                  <a:latin typeface="TT Commons Pro"/>
                  <a:ea typeface="TT Commons Pro"/>
                  <a:cs typeface="TT Commons Pro"/>
                  <a:sym typeface="TT Commons Pro"/>
                </a:rPr>
                <a:t>Dining</a:t>
              </a:r>
            </a:p>
          </p:txBody>
        </p:sp>
      </p:grpSp>
      <p:grpSp>
        <p:nvGrpSpPr>
          <p:cNvPr name="Group 90" id="90"/>
          <p:cNvGrpSpPr/>
          <p:nvPr/>
        </p:nvGrpSpPr>
        <p:grpSpPr>
          <a:xfrm rot="0">
            <a:off x="16268157" y="5242855"/>
            <a:ext cx="153162" cy="211455"/>
            <a:chOff x="0" y="0"/>
            <a:chExt cx="204216" cy="281940"/>
          </a:xfrm>
        </p:grpSpPr>
        <p:sp>
          <p:nvSpPr>
            <p:cNvPr name="Freeform 91" id="91" descr="preencoded.png"/>
            <p:cNvSpPr/>
            <p:nvPr/>
          </p:nvSpPr>
          <p:spPr>
            <a:xfrm flipH="false" flipV="false" rot="0">
              <a:off x="0" y="0"/>
              <a:ext cx="204216" cy="281940"/>
            </a:xfrm>
            <a:custGeom>
              <a:avLst/>
              <a:gdLst/>
              <a:ahLst/>
              <a:cxnLst/>
              <a:rect r="r" b="b" t="t" l="l"/>
              <a:pathLst>
                <a:path h="281940" w="204216">
                  <a:moveTo>
                    <a:pt x="0" y="0"/>
                  </a:moveTo>
                  <a:lnTo>
                    <a:pt x="204216" y="0"/>
                  </a:lnTo>
                  <a:lnTo>
                    <a:pt x="204216" y="281940"/>
                  </a:lnTo>
                  <a:lnTo>
                    <a:pt x="0" y="281940"/>
                  </a:lnTo>
                  <a:lnTo>
                    <a:pt x="0" y="0"/>
                  </a:lnTo>
                  <a:close/>
                </a:path>
              </a:pathLst>
            </a:custGeom>
            <a:blipFill>
              <a:blip r:embed="rId16"/>
              <a:stretch>
                <a:fillRect l="-205" t="0" r="-199" b="0"/>
              </a:stretch>
            </a:blipFill>
          </p:spPr>
        </p:sp>
      </p:grpSp>
      <p:grpSp>
        <p:nvGrpSpPr>
          <p:cNvPr name="Group 92" id="92"/>
          <p:cNvGrpSpPr/>
          <p:nvPr/>
        </p:nvGrpSpPr>
        <p:grpSpPr>
          <a:xfrm rot="0">
            <a:off x="15626467" y="5557742"/>
            <a:ext cx="466687" cy="168259"/>
            <a:chOff x="0" y="0"/>
            <a:chExt cx="622249" cy="224346"/>
          </a:xfrm>
        </p:grpSpPr>
        <p:sp>
          <p:nvSpPr>
            <p:cNvPr name="Freeform 93" id="93"/>
            <p:cNvSpPr/>
            <p:nvPr/>
          </p:nvSpPr>
          <p:spPr>
            <a:xfrm flipH="false" flipV="false" rot="0">
              <a:off x="0" y="0"/>
              <a:ext cx="622300" cy="224282"/>
            </a:xfrm>
            <a:custGeom>
              <a:avLst/>
              <a:gdLst/>
              <a:ahLst/>
              <a:cxnLst/>
              <a:rect r="r" b="b" t="t" l="l"/>
              <a:pathLst>
                <a:path h="224282" w="622300">
                  <a:moveTo>
                    <a:pt x="0" y="0"/>
                  </a:moveTo>
                  <a:lnTo>
                    <a:pt x="622300" y="0"/>
                  </a:lnTo>
                  <a:lnTo>
                    <a:pt x="622300" y="224282"/>
                  </a:lnTo>
                  <a:lnTo>
                    <a:pt x="0" y="224282"/>
                  </a:lnTo>
                  <a:close/>
                </a:path>
              </a:pathLst>
            </a:custGeom>
            <a:blipFill>
              <a:blip r:embed="rId8">
                <a:alphaModFix amt="0"/>
              </a:blip>
              <a:stretch>
                <a:fillRect l="0" t="-4009" r="8" b="-4037"/>
              </a:stretch>
            </a:blipFill>
          </p:spPr>
        </p:sp>
      </p:grpSp>
      <p:grpSp>
        <p:nvGrpSpPr>
          <p:cNvPr name="Group 94" id="94"/>
          <p:cNvGrpSpPr/>
          <p:nvPr/>
        </p:nvGrpSpPr>
        <p:grpSpPr>
          <a:xfrm rot="0">
            <a:off x="15626467" y="5557742"/>
            <a:ext cx="466687" cy="168259"/>
            <a:chOff x="0" y="0"/>
            <a:chExt cx="622249" cy="224346"/>
          </a:xfrm>
        </p:grpSpPr>
        <p:sp>
          <p:nvSpPr>
            <p:cNvPr name="Freeform 95" id="95"/>
            <p:cNvSpPr/>
            <p:nvPr/>
          </p:nvSpPr>
          <p:spPr>
            <a:xfrm flipH="false" flipV="false" rot="0">
              <a:off x="0" y="0"/>
              <a:ext cx="622249" cy="224343"/>
            </a:xfrm>
            <a:custGeom>
              <a:avLst/>
              <a:gdLst/>
              <a:ahLst/>
              <a:cxnLst/>
              <a:rect r="r" b="b" t="t" l="l"/>
              <a:pathLst>
                <a:path h="224343" w="622249">
                  <a:moveTo>
                    <a:pt x="0" y="0"/>
                  </a:moveTo>
                  <a:lnTo>
                    <a:pt x="622249" y="0"/>
                  </a:lnTo>
                  <a:lnTo>
                    <a:pt x="622249" y="224343"/>
                  </a:lnTo>
                  <a:lnTo>
                    <a:pt x="0" y="224343"/>
                  </a:lnTo>
                  <a:close/>
                </a:path>
              </a:pathLst>
            </a:custGeom>
            <a:blipFill>
              <a:blip r:embed="rId9">
                <a:alphaModFix amt="0"/>
              </a:blip>
              <a:stretch>
                <a:fillRect l="0" t="-4044" r="0" b="-4045"/>
              </a:stretch>
            </a:blipFill>
          </p:spPr>
        </p:sp>
        <p:sp>
          <p:nvSpPr>
            <p:cNvPr name="TextBox 96" id="96"/>
            <p:cNvSpPr txBox="true"/>
            <p:nvPr/>
          </p:nvSpPr>
          <p:spPr>
            <a:xfrm>
              <a:off x="0" y="0"/>
              <a:ext cx="622249" cy="224346"/>
            </a:xfrm>
            <a:prstGeom prst="rect">
              <a:avLst/>
            </a:prstGeom>
          </p:spPr>
          <p:txBody>
            <a:bodyPr anchor="ctr" rtlCol="false" tIns="0" lIns="0" bIns="0" rIns="0"/>
            <a:lstStyle/>
            <a:p>
              <a:pPr algn="l">
                <a:lnSpc>
                  <a:spcPts val="837"/>
                </a:lnSpc>
              </a:pPr>
              <a:r>
                <a:rPr lang="en-US" sz="783">
                  <a:solidFill>
                    <a:srgbClr val="807F80"/>
                  </a:solidFill>
                  <a:latin typeface="TT Commons Pro"/>
                  <a:ea typeface="TT Commons Pro"/>
                  <a:cs typeface="TT Commons Pro"/>
                  <a:sym typeface="TT Commons Pro"/>
                </a:rPr>
                <a:t>Delivery</a:t>
              </a:r>
            </a:p>
          </p:txBody>
        </p:sp>
      </p:grpSp>
      <p:grpSp>
        <p:nvGrpSpPr>
          <p:cNvPr name="Group 97" id="97"/>
          <p:cNvGrpSpPr/>
          <p:nvPr/>
        </p:nvGrpSpPr>
        <p:grpSpPr>
          <a:xfrm rot="0">
            <a:off x="15706677" y="5242855"/>
            <a:ext cx="211455" cy="196882"/>
            <a:chOff x="0" y="0"/>
            <a:chExt cx="281940" cy="262509"/>
          </a:xfrm>
        </p:grpSpPr>
        <p:sp>
          <p:nvSpPr>
            <p:cNvPr name="Freeform 98" id="98" descr="preencoded.png"/>
            <p:cNvSpPr/>
            <p:nvPr/>
          </p:nvSpPr>
          <p:spPr>
            <a:xfrm flipH="false" flipV="false" rot="0">
              <a:off x="0" y="0"/>
              <a:ext cx="281940" cy="262509"/>
            </a:xfrm>
            <a:custGeom>
              <a:avLst/>
              <a:gdLst/>
              <a:ahLst/>
              <a:cxnLst/>
              <a:rect r="r" b="b" t="t" l="l"/>
              <a:pathLst>
                <a:path h="262509" w="281940">
                  <a:moveTo>
                    <a:pt x="0" y="0"/>
                  </a:moveTo>
                  <a:lnTo>
                    <a:pt x="281940" y="0"/>
                  </a:lnTo>
                  <a:lnTo>
                    <a:pt x="281940" y="262509"/>
                  </a:lnTo>
                  <a:lnTo>
                    <a:pt x="0" y="262509"/>
                  </a:lnTo>
                  <a:lnTo>
                    <a:pt x="0" y="0"/>
                  </a:lnTo>
                  <a:close/>
                </a:path>
              </a:pathLst>
            </a:custGeom>
            <a:blipFill>
              <a:blip r:embed="rId17"/>
              <a:stretch>
                <a:fillRect l="0" t="-120" r="0" b="-120"/>
              </a:stretch>
            </a:blipFill>
          </p:spPr>
        </p:sp>
      </p:grpSp>
      <p:grpSp>
        <p:nvGrpSpPr>
          <p:cNvPr name="Group 99" id="99"/>
          <p:cNvGrpSpPr/>
          <p:nvPr/>
        </p:nvGrpSpPr>
        <p:grpSpPr>
          <a:xfrm rot="0">
            <a:off x="16997343" y="4316787"/>
            <a:ext cx="707327" cy="670846"/>
            <a:chOff x="0" y="0"/>
            <a:chExt cx="943102" cy="894461"/>
          </a:xfrm>
        </p:grpSpPr>
        <p:sp>
          <p:nvSpPr>
            <p:cNvPr name="Freeform 100" id="100" descr="preencoded.png"/>
            <p:cNvSpPr/>
            <p:nvPr/>
          </p:nvSpPr>
          <p:spPr>
            <a:xfrm flipH="false" flipV="false" rot="0">
              <a:off x="0" y="0"/>
              <a:ext cx="943102" cy="894461"/>
            </a:xfrm>
            <a:custGeom>
              <a:avLst/>
              <a:gdLst/>
              <a:ahLst/>
              <a:cxnLst/>
              <a:rect r="r" b="b" t="t" l="l"/>
              <a:pathLst>
                <a:path h="894461" w="943102">
                  <a:moveTo>
                    <a:pt x="0" y="0"/>
                  </a:moveTo>
                  <a:lnTo>
                    <a:pt x="943102" y="0"/>
                  </a:lnTo>
                  <a:lnTo>
                    <a:pt x="943102" y="894461"/>
                  </a:lnTo>
                  <a:lnTo>
                    <a:pt x="0" y="894461"/>
                  </a:lnTo>
                  <a:lnTo>
                    <a:pt x="0" y="0"/>
                  </a:lnTo>
                  <a:close/>
                </a:path>
              </a:pathLst>
            </a:custGeom>
            <a:blipFill>
              <a:blip r:embed="rId18"/>
              <a:stretch>
                <a:fillRect l="-30" t="0" r="-32" b="0"/>
              </a:stretch>
            </a:blipFill>
          </p:spPr>
        </p:sp>
      </p:grpSp>
      <p:grpSp>
        <p:nvGrpSpPr>
          <p:cNvPr name="Group 101" id="101"/>
          <p:cNvGrpSpPr/>
          <p:nvPr/>
        </p:nvGrpSpPr>
        <p:grpSpPr>
          <a:xfrm rot="0">
            <a:off x="15735843" y="4615748"/>
            <a:ext cx="1028157" cy="213360"/>
            <a:chOff x="0" y="0"/>
            <a:chExt cx="1370876" cy="284480"/>
          </a:xfrm>
        </p:grpSpPr>
        <p:sp>
          <p:nvSpPr>
            <p:cNvPr name="Freeform 102" id="102"/>
            <p:cNvSpPr/>
            <p:nvPr/>
          </p:nvSpPr>
          <p:spPr>
            <a:xfrm flipH="false" flipV="false" rot="0">
              <a:off x="0" y="0"/>
              <a:ext cx="1370838" cy="284480"/>
            </a:xfrm>
            <a:custGeom>
              <a:avLst/>
              <a:gdLst/>
              <a:ahLst/>
              <a:cxnLst/>
              <a:rect r="r" b="b" t="t" l="l"/>
              <a:pathLst>
                <a:path h="284480" w="1370838">
                  <a:moveTo>
                    <a:pt x="0" y="0"/>
                  </a:moveTo>
                  <a:lnTo>
                    <a:pt x="1370838" y="0"/>
                  </a:lnTo>
                  <a:lnTo>
                    <a:pt x="1370838" y="284480"/>
                  </a:lnTo>
                  <a:lnTo>
                    <a:pt x="0" y="284480"/>
                  </a:lnTo>
                  <a:close/>
                </a:path>
              </a:pathLst>
            </a:custGeom>
            <a:blipFill>
              <a:blip r:embed="rId8">
                <a:alphaModFix amt="0"/>
              </a:blip>
              <a:stretch>
                <a:fillRect l="0" t="-43830" r="-2" b="-43830"/>
              </a:stretch>
            </a:blipFill>
          </p:spPr>
        </p:sp>
      </p:grpSp>
      <p:grpSp>
        <p:nvGrpSpPr>
          <p:cNvPr name="Group 103" id="103"/>
          <p:cNvGrpSpPr/>
          <p:nvPr/>
        </p:nvGrpSpPr>
        <p:grpSpPr>
          <a:xfrm rot="0">
            <a:off x="15735843" y="4644323"/>
            <a:ext cx="1028157" cy="184795"/>
            <a:chOff x="0" y="0"/>
            <a:chExt cx="1370876" cy="246393"/>
          </a:xfrm>
        </p:grpSpPr>
        <p:sp>
          <p:nvSpPr>
            <p:cNvPr name="Freeform 104" id="104"/>
            <p:cNvSpPr/>
            <p:nvPr/>
          </p:nvSpPr>
          <p:spPr>
            <a:xfrm flipH="false" flipV="false" rot="0">
              <a:off x="0" y="0"/>
              <a:ext cx="1370876" cy="246389"/>
            </a:xfrm>
            <a:custGeom>
              <a:avLst/>
              <a:gdLst/>
              <a:ahLst/>
              <a:cxnLst/>
              <a:rect r="r" b="b" t="t" l="l"/>
              <a:pathLst>
                <a:path h="246389" w="1370876">
                  <a:moveTo>
                    <a:pt x="0" y="0"/>
                  </a:moveTo>
                  <a:lnTo>
                    <a:pt x="1370876" y="0"/>
                  </a:lnTo>
                  <a:lnTo>
                    <a:pt x="1370876" y="246389"/>
                  </a:lnTo>
                  <a:lnTo>
                    <a:pt x="0" y="246389"/>
                  </a:lnTo>
                  <a:close/>
                </a:path>
              </a:pathLst>
            </a:custGeom>
            <a:blipFill>
              <a:blip r:embed="rId9">
                <a:alphaModFix amt="0"/>
              </a:blip>
              <a:stretch>
                <a:fillRect l="0" t="-58411" r="0" b="-58412"/>
              </a:stretch>
            </a:blipFill>
          </p:spPr>
        </p:sp>
        <p:sp>
          <p:nvSpPr>
            <p:cNvPr name="TextBox 105" id="105"/>
            <p:cNvSpPr txBox="true"/>
            <p:nvPr/>
          </p:nvSpPr>
          <p:spPr>
            <a:xfrm>
              <a:off x="0" y="38100"/>
              <a:ext cx="1370876" cy="208293"/>
            </a:xfrm>
            <a:prstGeom prst="rect">
              <a:avLst/>
            </a:prstGeom>
          </p:spPr>
          <p:txBody>
            <a:bodyPr anchor="ctr" rtlCol="false" tIns="0" lIns="0" bIns="0" rIns="0"/>
            <a:lstStyle/>
            <a:p>
              <a:pPr algn="l">
                <a:lnSpc>
                  <a:spcPts val="867"/>
                </a:lnSpc>
              </a:pPr>
              <a:r>
                <a:rPr lang="en-US" sz="1009" b="true">
                  <a:solidFill>
                    <a:srgbClr val="D28D8A"/>
                  </a:solidFill>
                  <a:latin typeface="TT Commons Pro Bold"/>
                  <a:ea typeface="TT Commons Pro Bold"/>
                  <a:cs typeface="TT Commons Pro Bold"/>
                  <a:sym typeface="TT Commons Pro Bold"/>
                </a:rPr>
                <a:t>GREAT OFFERS</a:t>
              </a:r>
            </a:p>
          </p:txBody>
        </p:sp>
      </p:grpSp>
      <p:grpSp>
        <p:nvGrpSpPr>
          <p:cNvPr name="Group 106" id="106"/>
          <p:cNvGrpSpPr/>
          <p:nvPr/>
        </p:nvGrpSpPr>
        <p:grpSpPr>
          <a:xfrm rot="0">
            <a:off x="15743139" y="4418867"/>
            <a:ext cx="867727" cy="211465"/>
            <a:chOff x="0" y="0"/>
            <a:chExt cx="1156970" cy="281953"/>
          </a:xfrm>
        </p:grpSpPr>
        <p:sp>
          <p:nvSpPr>
            <p:cNvPr name="Freeform 107" id="107"/>
            <p:cNvSpPr/>
            <p:nvPr/>
          </p:nvSpPr>
          <p:spPr>
            <a:xfrm flipH="false" flipV="false" rot="0">
              <a:off x="0" y="0"/>
              <a:ext cx="1156970" cy="281940"/>
            </a:xfrm>
            <a:custGeom>
              <a:avLst/>
              <a:gdLst/>
              <a:ahLst/>
              <a:cxnLst/>
              <a:rect r="r" b="b" t="t" l="l"/>
              <a:pathLst>
                <a:path h="281940" w="1156970">
                  <a:moveTo>
                    <a:pt x="0" y="0"/>
                  </a:moveTo>
                  <a:lnTo>
                    <a:pt x="1156970" y="0"/>
                  </a:lnTo>
                  <a:lnTo>
                    <a:pt x="1156970" y="281940"/>
                  </a:lnTo>
                  <a:lnTo>
                    <a:pt x="0" y="281940"/>
                  </a:lnTo>
                  <a:close/>
                </a:path>
              </a:pathLst>
            </a:custGeom>
            <a:blipFill>
              <a:blip r:embed="rId8">
                <a:alphaModFix amt="0"/>
              </a:blip>
              <a:stretch>
                <a:fillRect l="0" t="-29900" r="0" b="-29905"/>
              </a:stretch>
            </a:blipFill>
          </p:spPr>
        </p:sp>
      </p:grpSp>
      <p:grpSp>
        <p:nvGrpSpPr>
          <p:cNvPr name="Group 108" id="108"/>
          <p:cNvGrpSpPr/>
          <p:nvPr/>
        </p:nvGrpSpPr>
        <p:grpSpPr>
          <a:xfrm rot="0">
            <a:off x="15743139" y="4454585"/>
            <a:ext cx="867727" cy="175746"/>
            <a:chOff x="0" y="0"/>
            <a:chExt cx="1156970" cy="234328"/>
          </a:xfrm>
        </p:grpSpPr>
        <p:sp>
          <p:nvSpPr>
            <p:cNvPr name="Freeform 109" id="109"/>
            <p:cNvSpPr/>
            <p:nvPr/>
          </p:nvSpPr>
          <p:spPr>
            <a:xfrm flipH="false" flipV="false" rot="0">
              <a:off x="0" y="0"/>
              <a:ext cx="1156969" cy="234322"/>
            </a:xfrm>
            <a:custGeom>
              <a:avLst/>
              <a:gdLst/>
              <a:ahLst/>
              <a:cxnLst/>
              <a:rect r="r" b="b" t="t" l="l"/>
              <a:pathLst>
                <a:path h="234322" w="1156969">
                  <a:moveTo>
                    <a:pt x="0" y="0"/>
                  </a:moveTo>
                  <a:lnTo>
                    <a:pt x="1156969" y="0"/>
                  </a:lnTo>
                  <a:lnTo>
                    <a:pt x="1156969" y="234322"/>
                  </a:lnTo>
                  <a:lnTo>
                    <a:pt x="0" y="234322"/>
                  </a:lnTo>
                  <a:close/>
                </a:path>
              </a:pathLst>
            </a:custGeom>
            <a:blipFill>
              <a:blip r:embed="rId9">
                <a:alphaModFix amt="0"/>
              </a:blip>
              <a:stretch>
                <a:fillRect l="0" t="-46206" r="0" b="-46209"/>
              </a:stretch>
            </a:blipFill>
          </p:spPr>
        </p:sp>
        <p:sp>
          <p:nvSpPr>
            <p:cNvPr name="TextBox 110" id="110"/>
            <p:cNvSpPr txBox="true"/>
            <p:nvPr/>
          </p:nvSpPr>
          <p:spPr>
            <a:xfrm>
              <a:off x="0" y="47625"/>
              <a:ext cx="1156970" cy="186703"/>
            </a:xfrm>
            <a:prstGeom prst="rect">
              <a:avLst/>
            </a:prstGeom>
          </p:spPr>
          <p:txBody>
            <a:bodyPr anchor="ctr" rtlCol="false" tIns="0" lIns="0" bIns="0" rIns="0"/>
            <a:lstStyle/>
            <a:p>
              <a:pPr algn="l">
                <a:lnSpc>
                  <a:spcPts val="797"/>
                </a:lnSpc>
              </a:pPr>
              <a:r>
                <a:rPr lang="en-US" sz="1003" b="true">
                  <a:solidFill>
                    <a:srgbClr val="D58D89"/>
                  </a:solidFill>
                  <a:latin typeface="TT Commons Pro Bold"/>
                  <a:ea typeface="TT Commons Pro Bold"/>
                  <a:cs typeface="TT Commons Pro Bold"/>
                  <a:sym typeface="TT Commons Pro Bold"/>
                </a:rPr>
                <a:t>GREAT FOOD</a:t>
              </a:r>
            </a:p>
          </p:txBody>
        </p:sp>
      </p:grpSp>
      <p:sp>
        <p:nvSpPr>
          <p:cNvPr name="Freeform 111" id="111"/>
          <p:cNvSpPr/>
          <p:nvPr/>
        </p:nvSpPr>
        <p:spPr>
          <a:xfrm flipH="false" flipV="false" rot="0">
            <a:off x="15685713" y="3807266"/>
            <a:ext cx="2083632" cy="369989"/>
          </a:xfrm>
          <a:custGeom>
            <a:avLst/>
            <a:gdLst/>
            <a:ahLst/>
            <a:cxnLst/>
            <a:rect r="r" b="b" t="t" l="l"/>
            <a:pathLst>
              <a:path h="369989" w="2083632">
                <a:moveTo>
                  <a:pt x="0" y="0"/>
                </a:moveTo>
                <a:lnTo>
                  <a:pt x="2083632" y="0"/>
                </a:lnTo>
                <a:lnTo>
                  <a:pt x="2083632" y="369989"/>
                </a:lnTo>
                <a:lnTo>
                  <a:pt x="0" y="36998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112" id="112"/>
          <p:cNvGrpSpPr/>
          <p:nvPr/>
        </p:nvGrpSpPr>
        <p:grpSpPr>
          <a:xfrm rot="0">
            <a:off x="15801470" y="3930320"/>
            <a:ext cx="123920" cy="138589"/>
            <a:chOff x="0" y="0"/>
            <a:chExt cx="165227" cy="184785"/>
          </a:xfrm>
        </p:grpSpPr>
        <p:sp>
          <p:nvSpPr>
            <p:cNvPr name="Freeform 113" id="113" descr="preencoded.png"/>
            <p:cNvSpPr/>
            <p:nvPr/>
          </p:nvSpPr>
          <p:spPr>
            <a:xfrm flipH="false" flipV="false" rot="0">
              <a:off x="0" y="0"/>
              <a:ext cx="165227" cy="184785"/>
            </a:xfrm>
            <a:custGeom>
              <a:avLst/>
              <a:gdLst/>
              <a:ahLst/>
              <a:cxnLst/>
              <a:rect r="r" b="b" t="t" l="l"/>
              <a:pathLst>
                <a:path h="184785" w="165227">
                  <a:moveTo>
                    <a:pt x="0" y="0"/>
                  </a:moveTo>
                  <a:lnTo>
                    <a:pt x="165227" y="0"/>
                  </a:lnTo>
                  <a:lnTo>
                    <a:pt x="165227" y="184785"/>
                  </a:lnTo>
                  <a:lnTo>
                    <a:pt x="0" y="184785"/>
                  </a:lnTo>
                  <a:lnTo>
                    <a:pt x="0" y="0"/>
                  </a:lnTo>
                  <a:close/>
                </a:path>
              </a:pathLst>
            </a:custGeom>
            <a:blipFill>
              <a:blip r:embed="rId21"/>
              <a:stretch>
                <a:fillRect l="-130" t="0" r="-138" b="0"/>
              </a:stretch>
            </a:blipFill>
          </p:spPr>
        </p:sp>
      </p:grpSp>
      <p:grpSp>
        <p:nvGrpSpPr>
          <p:cNvPr name="Group 114" id="114"/>
          <p:cNvGrpSpPr/>
          <p:nvPr/>
        </p:nvGrpSpPr>
        <p:grpSpPr>
          <a:xfrm rot="0">
            <a:off x="15998352" y="3915728"/>
            <a:ext cx="1152115" cy="185080"/>
            <a:chOff x="0" y="0"/>
            <a:chExt cx="1536154" cy="246774"/>
          </a:xfrm>
        </p:grpSpPr>
        <p:sp>
          <p:nvSpPr>
            <p:cNvPr name="Freeform 115" id="115"/>
            <p:cNvSpPr/>
            <p:nvPr/>
          </p:nvSpPr>
          <p:spPr>
            <a:xfrm flipH="false" flipV="false" rot="0">
              <a:off x="0" y="0"/>
              <a:ext cx="1536192" cy="246761"/>
            </a:xfrm>
            <a:custGeom>
              <a:avLst/>
              <a:gdLst/>
              <a:ahLst/>
              <a:cxnLst/>
              <a:rect r="r" b="b" t="t" l="l"/>
              <a:pathLst>
                <a:path h="246761" w="1536192">
                  <a:moveTo>
                    <a:pt x="0" y="0"/>
                  </a:moveTo>
                  <a:lnTo>
                    <a:pt x="1536192" y="0"/>
                  </a:lnTo>
                  <a:lnTo>
                    <a:pt x="1536192" y="246761"/>
                  </a:lnTo>
                  <a:lnTo>
                    <a:pt x="0" y="246761"/>
                  </a:lnTo>
                  <a:close/>
                </a:path>
              </a:pathLst>
            </a:custGeom>
            <a:blipFill>
              <a:blip r:embed="rId8">
                <a:alphaModFix amt="0"/>
              </a:blip>
              <a:stretch>
                <a:fillRect l="0" t="-71214" r="2" b="-71214"/>
              </a:stretch>
            </a:blipFill>
          </p:spPr>
        </p:sp>
      </p:grpSp>
      <p:grpSp>
        <p:nvGrpSpPr>
          <p:cNvPr name="Group 116" id="116"/>
          <p:cNvGrpSpPr/>
          <p:nvPr/>
        </p:nvGrpSpPr>
        <p:grpSpPr>
          <a:xfrm rot="0">
            <a:off x="15998352" y="3930015"/>
            <a:ext cx="1152115" cy="170793"/>
            <a:chOff x="0" y="0"/>
            <a:chExt cx="1536154" cy="227724"/>
          </a:xfrm>
        </p:grpSpPr>
        <p:sp>
          <p:nvSpPr>
            <p:cNvPr name="Freeform 117" id="117"/>
            <p:cNvSpPr/>
            <p:nvPr/>
          </p:nvSpPr>
          <p:spPr>
            <a:xfrm flipH="false" flipV="false" rot="0">
              <a:off x="0" y="0"/>
              <a:ext cx="1536153" cy="227722"/>
            </a:xfrm>
            <a:custGeom>
              <a:avLst/>
              <a:gdLst/>
              <a:ahLst/>
              <a:cxnLst/>
              <a:rect r="r" b="b" t="t" l="l"/>
              <a:pathLst>
                <a:path h="227722" w="1536153">
                  <a:moveTo>
                    <a:pt x="0" y="0"/>
                  </a:moveTo>
                  <a:lnTo>
                    <a:pt x="1536153" y="0"/>
                  </a:lnTo>
                  <a:lnTo>
                    <a:pt x="1536153" y="227722"/>
                  </a:lnTo>
                  <a:lnTo>
                    <a:pt x="0" y="227722"/>
                  </a:lnTo>
                  <a:close/>
                </a:path>
              </a:pathLst>
            </a:custGeom>
            <a:blipFill>
              <a:blip r:embed="rId9">
                <a:alphaModFix amt="0"/>
              </a:blip>
              <a:stretch>
                <a:fillRect l="0" t="-81440" r="0" b="-81441"/>
              </a:stretch>
            </a:blipFill>
          </p:spPr>
        </p:sp>
        <p:sp>
          <p:nvSpPr>
            <p:cNvPr name="TextBox 118" id="118"/>
            <p:cNvSpPr txBox="true"/>
            <p:nvPr/>
          </p:nvSpPr>
          <p:spPr>
            <a:xfrm>
              <a:off x="0" y="19050"/>
              <a:ext cx="1536154" cy="208674"/>
            </a:xfrm>
            <a:prstGeom prst="rect">
              <a:avLst/>
            </a:prstGeom>
          </p:spPr>
          <p:txBody>
            <a:bodyPr anchor="ctr" rtlCol="false" tIns="0" lIns="0" bIns="0" rIns="0"/>
            <a:lstStyle/>
            <a:p>
              <a:pPr algn="l">
                <a:lnSpc>
                  <a:spcPts val="881"/>
                </a:lnSpc>
              </a:pPr>
              <a:r>
                <a:rPr lang="en-US" sz="887">
                  <a:solidFill>
                    <a:srgbClr val="A4A3A3"/>
                  </a:solidFill>
                  <a:latin typeface="TT Commons Pro"/>
                  <a:ea typeface="TT Commons Pro"/>
                  <a:cs typeface="TT Commons Pro"/>
                  <a:sym typeface="TT Commons Pro"/>
                </a:rPr>
                <a:t>Search for restaurants</a:t>
              </a:r>
            </a:p>
          </p:txBody>
        </p:sp>
      </p:grpSp>
      <p:grpSp>
        <p:nvGrpSpPr>
          <p:cNvPr name="Group 119" id="119"/>
          <p:cNvGrpSpPr/>
          <p:nvPr/>
        </p:nvGrpSpPr>
        <p:grpSpPr>
          <a:xfrm rot="0">
            <a:off x="16238982" y="3405302"/>
            <a:ext cx="1020861" cy="475336"/>
            <a:chOff x="0" y="0"/>
            <a:chExt cx="1361148" cy="633781"/>
          </a:xfrm>
        </p:grpSpPr>
        <p:sp>
          <p:nvSpPr>
            <p:cNvPr name="Freeform 120" id="120"/>
            <p:cNvSpPr/>
            <p:nvPr/>
          </p:nvSpPr>
          <p:spPr>
            <a:xfrm flipH="false" flipV="false" rot="0">
              <a:off x="0" y="0"/>
              <a:ext cx="1361186" cy="633730"/>
            </a:xfrm>
            <a:custGeom>
              <a:avLst/>
              <a:gdLst/>
              <a:ahLst/>
              <a:cxnLst/>
              <a:rect r="r" b="b" t="t" l="l"/>
              <a:pathLst>
                <a:path h="633730" w="1361186">
                  <a:moveTo>
                    <a:pt x="0" y="0"/>
                  </a:moveTo>
                  <a:lnTo>
                    <a:pt x="1361186" y="0"/>
                  </a:lnTo>
                  <a:lnTo>
                    <a:pt x="1361186" y="633730"/>
                  </a:lnTo>
                  <a:lnTo>
                    <a:pt x="0" y="633730"/>
                  </a:lnTo>
                  <a:close/>
                </a:path>
              </a:pathLst>
            </a:custGeom>
            <a:blipFill>
              <a:blip r:embed="rId8">
                <a:alphaModFix amt="0"/>
              </a:blip>
              <a:stretch>
                <a:fillRect l="-9782" t="0" r="-9779" b="-8"/>
              </a:stretch>
            </a:blipFill>
          </p:spPr>
        </p:sp>
      </p:grpSp>
      <p:grpSp>
        <p:nvGrpSpPr>
          <p:cNvPr name="Group 121" id="121"/>
          <p:cNvGrpSpPr/>
          <p:nvPr/>
        </p:nvGrpSpPr>
        <p:grpSpPr>
          <a:xfrm rot="0">
            <a:off x="16238982" y="3455308"/>
            <a:ext cx="1020861" cy="425329"/>
            <a:chOff x="0" y="0"/>
            <a:chExt cx="1361148" cy="567106"/>
          </a:xfrm>
        </p:grpSpPr>
        <p:sp>
          <p:nvSpPr>
            <p:cNvPr name="Freeform 122" id="122"/>
            <p:cNvSpPr/>
            <p:nvPr/>
          </p:nvSpPr>
          <p:spPr>
            <a:xfrm flipH="false" flipV="false" rot="0">
              <a:off x="0" y="0"/>
              <a:ext cx="1361148" cy="567105"/>
            </a:xfrm>
            <a:custGeom>
              <a:avLst/>
              <a:gdLst/>
              <a:ahLst/>
              <a:cxnLst/>
              <a:rect r="r" b="b" t="t" l="l"/>
              <a:pathLst>
                <a:path h="567105" w="1361148">
                  <a:moveTo>
                    <a:pt x="0" y="0"/>
                  </a:moveTo>
                  <a:lnTo>
                    <a:pt x="1361148" y="0"/>
                  </a:lnTo>
                  <a:lnTo>
                    <a:pt x="1361148" y="567105"/>
                  </a:lnTo>
                  <a:lnTo>
                    <a:pt x="0" y="567105"/>
                  </a:lnTo>
                  <a:close/>
                </a:path>
              </a:pathLst>
            </a:custGeom>
            <a:blipFill>
              <a:blip r:embed="rId9">
                <a:alphaModFix amt="0"/>
              </a:blip>
              <a:stretch>
                <a:fillRect l="-3456" t="0" r="-3456" b="0"/>
              </a:stretch>
            </a:blipFill>
          </p:spPr>
        </p:sp>
        <p:sp>
          <p:nvSpPr>
            <p:cNvPr name="TextBox 123" id="123"/>
            <p:cNvSpPr txBox="true"/>
            <p:nvPr/>
          </p:nvSpPr>
          <p:spPr>
            <a:xfrm>
              <a:off x="0" y="66675"/>
              <a:ext cx="1361148" cy="500431"/>
            </a:xfrm>
            <a:prstGeom prst="rect">
              <a:avLst/>
            </a:prstGeom>
          </p:spPr>
          <p:txBody>
            <a:bodyPr anchor="ctr" rtlCol="false" tIns="0" lIns="0" bIns="0" rIns="0"/>
            <a:lstStyle/>
            <a:p>
              <a:pPr algn="l">
                <a:lnSpc>
                  <a:spcPts val="1922"/>
                </a:lnSpc>
              </a:pPr>
              <a:r>
                <a:rPr lang="en-US" b="true" sz="2221" i="true">
                  <a:solidFill>
                    <a:srgbClr val="E9BDBD"/>
                  </a:solidFill>
                  <a:latin typeface="TT Commons Pro Bold Italics"/>
                  <a:ea typeface="TT Commons Pro Bold Italics"/>
                  <a:cs typeface="TT Commons Pro Bold Italics"/>
                  <a:sym typeface="TT Commons Pro Bold Italics"/>
                </a:rPr>
                <a:t>zomato</a:t>
              </a:r>
            </a:p>
          </p:txBody>
        </p:sp>
      </p:grpSp>
      <p:grpSp>
        <p:nvGrpSpPr>
          <p:cNvPr name="Group 124" id="124"/>
          <p:cNvGrpSpPr/>
          <p:nvPr/>
        </p:nvGrpSpPr>
        <p:grpSpPr>
          <a:xfrm rot="0">
            <a:off x="17646320" y="3055296"/>
            <a:ext cx="153162" cy="72962"/>
            <a:chOff x="0" y="0"/>
            <a:chExt cx="204216" cy="97282"/>
          </a:xfrm>
        </p:grpSpPr>
        <p:sp>
          <p:nvSpPr>
            <p:cNvPr name="Freeform 125" id="125" descr="preencoded.png"/>
            <p:cNvSpPr/>
            <p:nvPr/>
          </p:nvSpPr>
          <p:spPr>
            <a:xfrm flipH="false" flipV="false" rot="0">
              <a:off x="0" y="0"/>
              <a:ext cx="204216" cy="97282"/>
            </a:xfrm>
            <a:custGeom>
              <a:avLst/>
              <a:gdLst/>
              <a:ahLst/>
              <a:cxnLst/>
              <a:rect r="r" b="b" t="t" l="l"/>
              <a:pathLst>
                <a:path h="97282" w="204216">
                  <a:moveTo>
                    <a:pt x="0" y="0"/>
                  </a:moveTo>
                  <a:lnTo>
                    <a:pt x="204216" y="0"/>
                  </a:lnTo>
                  <a:lnTo>
                    <a:pt x="204216" y="97282"/>
                  </a:lnTo>
                  <a:lnTo>
                    <a:pt x="0" y="97282"/>
                  </a:lnTo>
                  <a:lnTo>
                    <a:pt x="0" y="0"/>
                  </a:lnTo>
                  <a:close/>
                </a:path>
              </a:pathLst>
            </a:custGeom>
            <a:blipFill>
              <a:blip r:embed="rId22"/>
              <a:stretch>
                <a:fillRect l="0" t="-887" r="0" b="-887"/>
              </a:stretch>
            </a:blipFill>
          </p:spPr>
        </p:sp>
      </p:grpSp>
      <p:grpSp>
        <p:nvGrpSpPr>
          <p:cNvPr name="Group 126" id="126"/>
          <p:cNvGrpSpPr/>
          <p:nvPr/>
        </p:nvGrpSpPr>
        <p:grpSpPr>
          <a:xfrm rot="0">
            <a:off x="17500483" y="3055296"/>
            <a:ext cx="102108" cy="87535"/>
            <a:chOff x="0" y="0"/>
            <a:chExt cx="136144" cy="116713"/>
          </a:xfrm>
        </p:grpSpPr>
        <p:sp>
          <p:nvSpPr>
            <p:cNvPr name="Freeform 127" id="127" descr="preencoded.png"/>
            <p:cNvSpPr/>
            <p:nvPr/>
          </p:nvSpPr>
          <p:spPr>
            <a:xfrm flipH="false" flipV="false" rot="0">
              <a:off x="0" y="0"/>
              <a:ext cx="136144" cy="116713"/>
            </a:xfrm>
            <a:custGeom>
              <a:avLst/>
              <a:gdLst/>
              <a:ahLst/>
              <a:cxnLst/>
              <a:rect r="r" b="b" t="t" l="l"/>
              <a:pathLst>
                <a:path h="116713" w="136144">
                  <a:moveTo>
                    <a:pt x="0" y="0"/>
                  </a:moveTo>
                  <a:lnTo>
                    <a:pt x="136144" y="0"/>
                  </a:lnTo>
                  <a:lnTo>
                    <a:pt x="136144" y="116713"/>
                  </a:lnTo>
                  <a:lnTo>
                    <a:pt x="0" y="116713"/>
                  </a:lnTo>
                  <a:lnTo>
                    <a:pt x="0" y="0"/>
                  </a:lnTo>
                  <a:close/>
                </a:path>
              </a:pathLst>
            </a:custGeom>
            <a:blipFill>
              <a:blip r:embed="rId23"/>
              <a:stretch>
                <a:fillRect l="-2388" t="0" r="-2388" b="0"/>
              </a:stretch>
            </a:blipFill>
          </p:spPr>
        </p:sp>
      </p:grpSp>
      <p:grpSp>
        <p:nvGrpSpPr>
          <p:cNvPr name="Group 128" id="128"/>
          <p:cNvGrpSpPr/>
          <p:nvPr/>
        </p:nvGrpSpPr>
        <p:grpSpPr>
          <a:xfrm rot="0">
            <a:off x="17354645" y="3062583"/>
            <a:ext cx="123920" cy="80200"/>
            <a:chOff x="0" y="0"/>
            <a:chExt cx="165227" cy="106934"/>
          </a:xfrm>
        </p:grpSpPr>
        <p:sp>
          <p:nvSpPr>
            <p:cNvPr name="Freeform 129" id="129" descr="preencoded.png"/>
            <p:cNvSpPr/>
            <p:nvPr/>
          </p:nvSpPr>
          <p:spPr>
            <a:xfrm flipH="false" flipV="false" rot="0">
              <a:off x="0" y="0"/>
              <a:ext cx="165227" cy="106934"/>
            </a:xfrm>
            <a:custGeom>
              <a:avLst/>
              <a:gdLst/>
              <a:ahLst/>
              <a:cxnLst/>
              <a:rect r="r" b="b" t="t" l="l"/>
              <a:pathLst>
                <a:path h="106934" w="165227">
                  <a:moveTo>
                    <a:pt x="0" y="0"/>
                  </a:moveTo>
                  <a:lnTo>
                    <a:pt x="165227" y="0"/>
                  </a:lnTo>
                  <a:lnTo>
                    <a:pt x="165227" y="106934"/>
                  </a:lnTo>
                  <a:lnTo>
                    <a:pt x="0" y="106934"/>
                  </a:lnTo>
                  <a:lnTo>
                    <a:pt x="0" y="0"/>
                  </a:lnTo>
                  <a:close/>
                </a:path>
              </a:pathLst>
            </a:custGeom>
            <a:blipFill>
              <a:blip r:embed="rId24"/>
              <a:stretch>
                <a:fillRect l="0" t="-510" r="0" b="-522"/>
              </a:stretch>
            </a:blipFill>
          </p:spPr>
        </p:sp>
      </p:grpSp>
      <p:grpSp>
        <p:nvGrpSpPr>
          <p:cNvPr name="Group 130" id="130"/>
          <p:cNvGrpSpPr/>
          <p:nvPr/>
        </p:nvGrpSpPr>
        <p:grpSpPr>
          <a:xfrm rot="0">
            <a:off x="15816053" y="3069879"/>
            <a:ext cx="226047" cy="188528"/>
            <a:chOff x="0" y="0"/>
            <a:chExt cx="301396" cy="251371"/>
          </a:xfrm>
        </p:grpSpPr>
        <p:sp>
          <p:nvSpPr>
            <p:cNvPr name="Freeform 131" id="131"/>
            <p:cNvSpPr/>
            <p:nvPr/>
          </p:nvSpPr>
          <p:spPr>
            <a:xfrm flipH="false" flipV="false" rot="0">
              <a:off x="0" y="0"/>
              <a:ext cx="301371" cy="251333"/>
            </a:xfrm>
            <a:custGeom>
              <a:avLst/>
              <a:gdLst/>
              <a:ahLst/>
              <a:cxnLst/>
              <a:rect r="r" b="b" t="t" l="l"/>
              <a:pathLst>
                <a:path h="251333" w="301371">
                  <a:moveTo>
                    <a:pt x="0" y="0"/>
                  </a:moveTo>
                  <a:lnTo>
                    <a:pt x="301371" y="0"/>
                  </a:lnTo>
                  <a:lnTo>
                    <a:pt x="301371" y="251333"/>
                  </a:lnTo>
                  <a:lnTo>
                    <a:pt x="0" y="251333"/>
                  </a:lnTo>
                  <a:close/>
                </a:path>
              </a:pathLst>
            </a:custGeom>
            <a:blipFill>
              <a:blip r:embed="rId8">
                <a:alphaModFix amt="0"/>
              </a:blip>
              <a:stretch>
                <a:fillRect l="-57088" t="0" r="-57092" b="-15"/>
              </a:stretch>
            </a:blipFill>
          </p:spPr>
        </p:sp>
      </p:grpSp>
      <p:grpSp>
        <p:nvGrpSpPr>
          <p:cNvPr name="Group 132" id="132"/>
          <p:cNvGrpSpPr/>
          <p:nvPr/>
        </p:nvGrpSpPr>
        <p:grpSpPr>
          <a:xfrm rot="0">
            <a:off x="15816053" y="3105598"/>
            <a:ext cx="226047" cy="152800"/>
            <a:chOff x="0" y="0"/>
            <a:chExt cx="301396" cy="203733"/>
          </a:xfrm>
        </p:grpSpPr>
        <p:sp>
          <p:nvSpPr>
            <p:cNvPr name="Freeform 133" id="133"/>
            <p:cNvSpPr/>
            <p:nvPr/>
          </p:nvSpPr>
          <p:spPr>
            <a:xfrm flipH="false" flipV="false" rot="0">
              <a:off x="0" y="0"/>
              <a:ext cx="301396" cy="203738"/>
            </a:xfrm>
            <a:custGeom>
              <a:avLst/>
              <a:gdLst/>
              <a:ahLst/>
              <a:cxnLst/>
              <a:rect r="r" b="b" t="t" l="l"/>
              <a:pathLst>
                <a:path h="203738" w="301396">
                  <a:moveTo>
                    <a:pt x="0" y="0"/>
                  </a:moveTo>
                  <a:lnTo>
                    <a:pt x="301396" y="0"/>
                  </a:lnTo>
                  <a:lnTo>
                    <a:pt x="301396" y="203738"/>
                  </a:lnTo>
                  <a:lnTo>
                    <a:pt x="0" y="203738"/>
                  </a:lnTo>
                  <a:close/>
                </a:path>
              </a:pathLst>
            </a:custGeom>
            <a:blipFill>
              <a:blip r:embed="rId9">
                <a:alphaModFix amt="0"/>
              </a:blip>
              <a:stretch>
                <a:fillRect l="-36728" t="0" r="-36728" b="2"/>
              </a:stretch>
            </a:blipFill>
          </p:spPr>
        </p:sp>
        <p:sp>
          <p:nvSpPr>
            <p:cNvPr name="TextBox 134" id="134"/>
            <p:cNvSpPr txBox="true"/>
            <p:nvPr/>
          </p:nvSpPr>
          <p:spPr>
            <a:xfrm>
              <a:off x="0" y="47625"/>
              <a:ext cx="301396" cy="156108"/>
            </a:xfrm>
            <a:prstGeom prst="rect">
              <a:avLst/>
            </a:prstGeom>
          </p:spPr>
          <p:txBody>
            <a:bodyPr anchor="ctr" rtlCol="false" tIns="0" lIns="0" bIns="0" rIns="0"/>
            <a:lstStyle/>
            <a:p>
              <a:pPr algn="l">
                <a:lnSpc>
                  <a:spcPts val="554"/>
                </a:lnSpc>
              </a:pPr>
              <a:r>
                <a:rPr lang="en-US" sz="887">
                  <a:solidFill>
                    <a:srgbClr val="D77879"/>
                  </a:solidFill>
                  <a:latin typeface="TT Commons Pro"/>
                  <a:ea typeface="TT Commons Pro"/>
                  <a:cs typeface="TT Commons Pro"/>
                  <a:sym typeface="TT Commons Pro"/>
                </a:rPr>
                <a:t>9:41</a:t>
              </a:r>
            </a:p>
          </p:txBody>
        </p:sp>
      </p:grpSp>
      <p:grpSp>
        <p:nvGrpSpPr>
          <p:cNvPr name="Group 135" id="135"/>
          <p:cNvGrpSpPr/>
          <p:nvPr/>
        </p:nvGrpSpPr>
        <p:grpSpPr>
          <a:xfrm rot="0">
            <a:off x="9326299" y="5651192"/>
            <a:ext cx="5928265" cy="2749010"/>
            <a:chOff x="0" y="0"/>
            <a:chExt cx="7904353" cy="3665347"/>
          </a:xfrm>
        </p:grpSpPr>
        <p:sp>
          <p:nvSpPr>
            <p:cNvPr name="Freeform 136" id="136" descr="preencoded.png"/>
            <p:cNvSpPr/>
            <p:nvPr/>
          </p:nvSpPr>
          <p:spPr>
            <a:xfrm flipH="false" flipV="false" rot="0">
              <a:off x="0" y="0"/>
              <a:ext cx="7904353" cy="3665347"/>
            </a:xfrm>
            <a:custGeom>
              <a:avLst/>
              <a:gdLst/>
              <a:ahLst/>
              <a:cxnLst/>
              <a:rect r="r" b="b" t="t" l="l"/>
              <a:pathLst>
                <a:path h="3665347" w="7904353">
                  <a:moveTo>
                    <a:pt x="0" y="0"/>
                  </a:moveTo>
                  <a:lnTo>
                    <a:pt x="7904353" y="0"/>
                  </a:lnTo>
                  <a:lnTo>
                    <a:pt x="7904353" y="3665347"/>
                  </a:lnTo>
                  <a:lnTo>
                    <a:pt x="0" y="3665347"/>
                  </a:lnTo>
                  <a:lnTo>
                    <a:pt x="0" y="0"/>
                  </a:lnTo>
                  <a:close/>
                </a:path>
              </a:pathLst>
            </a:custGeom>
            <a:blipFill>
              <a:blip r:embed="rId25"/>
              <a:stretch>
                <a:fillRect l="0" t="-82" r="0" b="-82"/>
              </a:stretch>
            </a:blipFill>
          </p:spPr>
        </p:sp>
      </p:grpSp>
      <p:grpSp>
        <p:nvGrpSpPr>
          <p:cNvPr name="Group 137" id="137"/>
          <p:cNvGrpSpPr/>
          <p:nvPr/>
        </p:nvGrpSpPr>
        <p:grpSpPr>
          <a:xfrm rot="0">
            <a:off x="9858604" y="6271003"/>
            <a:ext cx="1611535" cy="1611535"/>
            <a:chOff x="0" y="0"/>
            <a:chExt cx="2148713" cy="2148713"/>
          </a:xfrm>
        </p:grpSpPr>
        <p:sp>
          <p:nvSpPr>
            <p:cNvPr name="Freeform 138" id="138" descr="preencoded.png"/>
            <p:cNvSpPr/>
            <p:nvPr/>
          </p:nvSpPr>
          <p:spPr>
            <a:xfrm flipH="false" flipV="false" rot="0">
              <a:off x="0" y="0"/>
              <a:ext cx="2148713" cy="2148713"/>
            </a:xfrm>
            <a:custGeom>
              <a:avLst/>
              <a:gdLst/>
              <a:ahLst/>
              <a:cxnLst/>
              <a:rect r="r" b="b" t="t" l="l"/>
              <a:pathLst>
                <a:path h="2148713" w="2148713">
                  <a:moveTo>
                    <a:pt x="0" y="0"/>
                  </a:moveTo>
                  <a:lnTo>
                    <a:pt x="2148713" y="0"/>
                  </a:lnTo>
                  <a:lnTo>
                    <a:pt x="2148713" y="2148713"/>
                  </a:lnTo>
                  <a:lnTo>
                    <a:pt x="0" y="2148713"/>
                  </a:lnTo>
                  <a:lnTo>
                    <a:pt x="0" y="0"/>
                  </a:lnTo>
                  <a:close/>
                </a:path>
              </a:pathLst>
            </a:custGeom>
            <a:blipFill>
              <a:blip r:embed="rId26"/>
              <a:stretch>
                <a:fillRect l="0" t="0" r="0" b="0"/>
              </a:stretch>
            </a:blipFill>
          </p:spPr>
        </p:sp>
      </p:grpSp>
      <p:sp>
        <p:nvSpPr>
          <p:cNvPr name="Freeform 139" id="139"/>
          <p:cNvSpPr/>
          <p:nvPr/>
        </p:nvSpPr>
        <p:spPr>
          <a:xfrm flipH="false" flipV="false" rot="0">
            <a:off x="9611592" y="5892736"/>
            <a:ext cx="530485" cy="530485"/>
          </a:xfrm>
          <a:custGeom>
            <a:avLst/>
            <a:gdLst/>
            <a:ahLst/>
            <a:cxnLst/>
            <a:rect r="r" b="b" t="t" l="l"/>
            <a:pathLst>
              <a:path h="530485" w="530485">
                <a:moveTo>
                  <a:pt x="0" y="0"/>
                </a:moveTo>
                <a:lnTo>
                  <a:pt x="530485" y="0"/>
                </a:lnTo>
                <a:lnTo>
                  <a:pt x="530485" y="530486"/>
                </a:lnTo>
                <a:lnTo>
                  <a:pt x="0" y="530486"/>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grpSp>
        <p:nvGrpSpPr>
          <p:cNvPr name="Group 140" id="140"/>
          <p:cNvGrpSpPr/>
          <p:nvPr/>
        </p:nvGrpSpPr>
        <p:grpSpPr>
          <a:xfrm rot="0">
            <a:off x="9659903" y="5889527"/>
            <a:ext cx="958882" cy="557032"/>
            <a:chOff x="0" y="0"/>
            <a:chExt cx="1278509" cy="742709"/>
          </a:xfrm>
        </p:grpSpPr>
        <p:sp>
          <p:nvSpPr>
            <p:cNvPr name="Freeform 141" id="141"/>
            <p:cNvSpPr/>
            <p:nvPr/>
          </p:nvSpPr>
          <p:spPr>
            <a:xfrm flipH="false" flipV="false" rot="0">
              <a:off x="0" y="0"/>
              <a:ext cx="1278509" cy="742696"/>
            </a:xfrm>
            <a:custGeom>
              <a:avLst/>
              <a:gdLst/>
              <a:ahLst/>
              <a:cxnLst/>
              <a:rect r="r" b="b" t="t" l="l"/>
              <a:pathLst>
                <a:path h="742696" w="1278509">
                  <a:moveTo>
                    <a:pt x="0" y="0"/>
                  </a:moveTo>
                  <a:lnTo>
                    <a:pt x="1278509" y="0"/>
                  </a:lnTo>
                  <a:lnTo>
                    <a:pt x="1278509" y="742696"/>
                  </a:lnTo>
                  <a:lnTo>
                    <a:pt x="0" y="742696"/>
                  </a:lnTo>
                  <a:close/>
                </a:path>
              </a:pathLst>
            </a:custGeom>
            <a:blipFill>
              <a:blip r:embed="rId8">
                <a:alphaModFix amt="0"/>
              </a:blip>
              <a:stretch>
                <a:fillRect l="-24586" t="0" r="-24586" b="-1"/>
              </a:stretch>
            </a:blipFill>
          </p:spPr>
        </p:sp>
      </p:grpSp>
      <p:grpSp>
        <p:nvGrpSpPr>
          <p:cNvPr name="Group 142" id="142"/>
          <p:cNvGrpSpPr/>
          <p:nvPr/>
        </p:nvGrpSpPr>
        <p:grpSpPr>
          <a:xfrm rot="0">
            <a:off x="9659903" y="5982395"/>
            <a:ext cx="958891" cy="464163"/>
            <a:chOff x="0" y="0"/>
            <a:chExt cx="1278522" cy="618884"/>
          </a:xfrm>
        </p:grpSpPr>
        <p:sp>
          <p:nvSpPr>
            <p:cNvPr name="Freeform 143" id="143"/>
            <p:cNvSpPr/>
            <p:nvPr/>
          </p:nvSpPr>
          <p:spPr>
            <a:xfrm flipH="false" flipV="false" rot="0">
              <a:off x="0" y="0"/>
              <a:ext cx="1278516" cy="618890"/>
            </a:xfrm>
            <a:custGeom>
              <a:avLst/>
              <a:gdLst/>
              <a:ahLst/>
              <a:cxnLst/>
              <a:rect r="r" b="b" t="t" l="l"/>
              <a:pathLst>
                <a:path h="618890" w="1278516">
                  <a:moveTo>
                    <a:pt x="0" y="0"/>
                  </a:moveTo>
                  <a:lnTo>
                    <a:pt x="1278516" y="0"/>
                  </a:lnTo>
                  <a:lnTo>
                    <a:pt x="1278516" y="618890"/>
                  </a:lnTo>
                  <a:lnTo>
                    <a:pt x="0" y="618890"/>
                  </a:lnTo>
                  <a:close/>
                </a:path>
              </a:pathLst>
            </a:custGeom>
            <a:blipFill>
              <a:blip r:embed="rId9">
                <a:alphaModFix amt="0"/>
              </a:blip>
              <a:stretch>
                <a:fillRect l="-12106" t="0" r="-12107" b="0"/>
              </a:stretch>
            </a:blipFill>
          </p:spPr>
        </p:sp>
        <p:sp>
          <p:nvSpPr>
            <p:cNvPr name="TextBox 144" id="144"/>
            <p:cNvSpPr txBox="true"/>
            <p:nvPr/>
          </p:nvSpPr>
          <p:spPr>
            <a:xfrm>
              <a:off x="0" y="123825"/>
              <a:ext cx="1278522" cy="495059"/>
            </a:xfrm>
            <a:prstGeom prst="rect">
              <a:avLst/>
            </a:prstGeom>
          </p:spPr>
          <p:txBody>
            <a:bodyPr anchor="ctr" rtlCol="false" tIns="0" lIns="0" bIns="0" rIns="0"/>
            <a:lstStyle/>
            <a:p>
              <a:pPr algn="l">
                <a:lnSpc>
                  <a:spcPts val="1855"/>
                </a:lnSpc>
              </a:pPr>
              <a:r>
                <a:rPr lang="en-US" sz="2602" b="true">
                  <a:solidFill>
                    <a:srgbClr val="F3C9C9"/>
                  </a:solidFill>
                  <a:latin typeface="TT Commons Pro Bold"/>
                  <a:ea typeface="TT Commons Pro Bold"/>
                  <a:cs typeface="TT Commons Pro Bold"/>
                  <a:sym typeface="TT Commons Pro Bold"/>
                </a:rPr>
                <a:t>04</a:t>
              </a:r>
            </a:p>
          </p:txBody>
        </p:sp>
      </p:grpSp>
      <p:grpSp>
        <p:nvGrpSpPr>
          <p:cNvPr name="Group 145" id="145"/>
          <p:cNvGrpSpPr/>
          <p:nvPr/>
        </p:nvGrpSpPr>
        <p:grpSpPr>
          <a:xfrm rot="0">
            <a:off x="11470110" y="6730965"/>
            <a:ext cx="3401701" cy="2897943"/>
            <a:chOff x="0" y="0"/>
            <a:chExt cx="4535602" cy="3863924"/>
          </a:xfrm>
        </p:grpSpPr>
        <p:sp>
          <p:nvSpPr>
            <p:cNvPr name="Freeform 146" id="146"/>
            <p:cNvSpPr/>
            <p:nvPr/>
          </p:nvSpPr>
          <p:spPr>
            <a:xfrm flipH="false" flipV="false" rot="0">
              <a:off x="0" y="0"/>
              <a:ext cx="4535551" cy="3863975"/>
            </a:xfrm>
            <a:custGeom>
              <a:avLst/>
              <a:gdLst/>
              <a:ahLst/>
              <a:cxnLst/>
              <a:rect r="r" b="b" t="t" l="l"/>
              <a:pathLst>
                <a:path h="3863975" w="4535551">
                  <a:moveTo>
                    <a:pt x="0" y="0"/>
                  </a:moveTo>
                  <a:lnTo>
                    <a:pt x="4535551" y="0"/>
                  </a:lnTo>
                  <a:lnTo>
                    <a:pt x="4535551" y="3863975"/>
                  </a:lnTo>
                  <a:lnTo>
                    <a:pt x="0" y="3863975"/>
                  </a:lnTo>
                  <a:close/>
                </a:path>
              </a:pathLst>
            </a:custGeom>
            <a:blipFill>
              <a:blip r:embed="rId8">
                <a:alphaModFix amt="0"/>
              </a:blip>
              <a:stretch>
                <a:fillRect l="-59379" t="0" r="-59380" b="1"/>
              </a:stretch>
            </a:blipFill>
          </p:spPr>
        </p:sp>
      </p:grpSp>
      <p:grpSp>
        <p:nvGrpSpPr>
          <p:cNvPr name="Group 147" id="147"/>
          <p:cNvGrpSpPr/>
          <p:nvPr/>
        </p:nvGrpSpPr>
        <p:grpSpPr>
          <a:xfrm rot="0">
            <a:off x="11470110" y="6695246"/>
            <a:ext cx="3401701" cy="2933652"/>
            <a:chOff x="0" y="0"/>
            <a:chExt cx="4535602" cy="3911536"/>
          </a:xfrm>
        </p:grpSpPr>
        <p:sp>
          <p:nvSpPr>
            <p:cNvPr name="Freeform 148" id="148"/>
            <p:cNvSpPr/>
            <p:nvPr/>
          </p:nvSpPr>
          <p:spPr>
            <a:xfrm flipH="false" flipV="false" rot="0">
              <a:off x="0" y="0"/>
              <a:ext cx="4535601" cy="3911541"/>
            </a:xfrm>
            <a:custGeom>
              <a:avLst/>
              <a:gdLst/>
              <a:ahLst/>
              <a:cxnLst/>
              <a:rect r="r" b="b" t="t" l="l"/>
              <a:pathLst>
                <a:path h="3911541" w="4535601">
                  <a:moveTo>
                    <a:pt x="0" y="0"/>
                  </a:moveTo>
                  <a:lnTo>
                    <a:pt x="4535601" y="0"/>
                  </a:lnTo>
                  <a:lnTo>
                    <a:pt x="4535601" y="3911541"/>
                  </a:lnTo>
                  <a:lnTo>
                    <a:pt x="0" y="3911541"/>
                  </a:lnTo>
                  <a:close/>
                </a:path>
              </a:pathLst>
            </a:custGeom>
            <a:blipFill>
              <a:blip r:embed="rId9">
                <a:alphaModFix amt="0"/>
              </a:blip>
              <a:stretch>
                <a:fillRect l="-60649" t="0" r="-60649" b="0"/>
              </a:stretch>
            </a:blipFill>
          </p:spPr>
        </p:sp>
        <p:sp>
          <p:nvSpPr>
            <p:cNvPr name="TextBox 149" id="149"/>
            <p:cNvSpPr txBox="true"/>
            <p:nvPr/>
          </p:nvSpPr>
          <p:spPr>
            <a:xfrm>
              <a:off x="0" y="-47625"/>
              <a:ext cx="4535602" cy="3959161"/>
            </a:xfrm>
            <a:prstGeom prst="rect">
              <a:avLst/>
            </a:prstGeom>
          </p:spPr>
          <p:txBody>
            <a:bodyPr anchor="ctr" rtlCol="false" tIns="0" lIns="0" bIns="0" rIns="0"/>
            <a:lstStyle/>
            <a:p>
              <a:pPr algn="l">
                <a:lnSpc>
                  <a:spcPts val="2317"/>
                </a:lnSpc>
              </a:pPr>
              <a:r>
                <a:rPr lang="en-US" sz="1545">
                  <a:solidFill>
                    <a:srgbClr val="5B5A59"/>
                  </a:solidFill>
                  <a:latin typeface="TT Commons Pro"/>
                  <a:ea typeface="TT Commons Pro"/>
                  <a:cs typeface="TT Commons Pro"/>
                  <a:sym typeface="TT Commons Pro"/>
                </a:rPr>
                <a:t>Restaurant type, cuisine, price category, and location influence platform performance. These factors contribute to variations in ratings, orders, and revenue.</a:t>
              </a:r>
            </a:p>
            <a:p>
              <a:pPr algn="l">
                <a:lnSpc>
                  <a:spcPts val="2317"/>
                </a:lnSpc>
              </a:pPr>
            </a:p>
            <a:p>
              <a:pPr algn="l">
                <a:lnSpc>
                  <a:spcPts val="2317"/>
                </a:lnSpc>
              </a:pPr>
            </a:p>
            <a:p>
              <a:pPr algn="l">
                <a:lnSpc>
                  <a:spcPts val="2317"/>
                </a:lnSpc>
              </a:pPr>
            </a:p>
            <a:p>
              <a:pPr algn="l">
                <a:lnSpc>
                  <a:spcPts val="2317"/>
                </a:lnSpc>
              </a:pPr>
            </a:p>
            <a:p>
              <a:pPr algn="l">
                <a:lnSpc>
                  <a:spcPts val="2317"/>
                </a:lnSpc>
              </a:pPr>
            </a:p>
          </p:txBody>
        </p:sp>
      </p:grpSp>
      <p:grpSp>
        <p:nvGrpSpPr>
          <p:cNvPr name="Group 150" id="150"/>
          <p:cNvGrpSpPr/>
          <p:nvPr/>
        </p:nvGrpSpPr>
        <p:grpSpPr>
          <a:xfrm rot="0">
            <a:off x="11415093" y="5704465"/>
            <a:ext cx="3737086" cy="1309945"/>
            <a:chOff x="0" y="0"/>
            <a:chExt cx="4982782" cy="1746593"/>
          </a:xfrm>
        </p:grpSpPr>
        <p:sp>
          <p:nvSpPr>
            <p:cNvPr name="Freeform 151" id="151"/>
            <p:cNvSpPr/>
            <p:nvPr/>
          </p:nvSpPr>
          <p:spPr>
            <a:xfrm flipH="false" flipV="false" rot="0">
              <a:off x="0" y="0"/>
              <a:ext cx="4982718" cy="1746631"/>
            </a:xfrm>
            <a:custGeom>
              <a:avLst/>
              <a:gdLst/>
              <a:ahLst/>
              <a:cxnLst/>
              <a:rect r="r" b="b" t="t" l="l"/>
              <a:pathLst>
                <a:path h="1746631" w="4982718">
                  <a:moveTo>
                    <a:pt x="0" y="0"/>
                  </a:moveTo>
                  <a:lnTo>
                    <a:pt x="4982718" y="0"/>
                  </a:lnTo>
                  <a:lnTo>
                    <a:pt x="4982718" y="1746631"/>
                  </a:lnTo>
                  <a:lnTo>
                    <a:pt x="0" y="1746631"/>
                  </a:lnTo>
                  <a:close/>
                </a:path>
              </a:pathLst>
            </a:custGeom>
            <a:blipFill>
              <a:blip r:embed="rId8">
                <a:alphaModFix amt="0"/>
              </a:blip>
              <a:stretch>
                <a:fillRect l="0" t="-5549" r="-1" b="-5547"/>
              </a:stretch>
            </a:blipFill>
          </p:spPr>
        </p:sp>
      </p:grpSp>
      <p:grpSp>
        <p:nvGrpSpPr>
          <p:cNvPr name="Group 152" id="152"/>
          <p:cNvGrpSpPr/>
          <p:nvPr/>
        </p:nvGrpSpPr>
        <p:grpSpPr>
          <a:xfrm rot="0">
            <a:off x="11415093" y="5718753"/>
            <a:ext cx="3737077" cy="1295667"/>
            <a:chOff x="0" y="0"/>
            <a:chExt cx="4982769" cy="1727556"/>
          </a:xfrm>
        </p:grpSpPr>
        <p:sp>
          <p:nvSpPr>
            <p:cNvPr name="Freeform 153" id="153"/>
            <p:cNvSpPr/>
            <p:nvPr/>
          </p:nvSpPr>
          <p:spPr>
            <a:xfrm flipH="false" flipV="false" rot="0">
              <a:off x="0" y="0"/>
              <a:ext cx="4982775" cy="1727555"/>
            </a:xfrm>
            <a:custGeom>
              <a:avLst/>
              <a:gdLst/>
              <a:ahLst/>
              <a:cxnLst/>
              <a:rect r="r" b="b" t="t" l="l"/>
              <a:pathLst>
                <a:path h="1727555" w="4982775">
                  <a:moveTo>
                    <a:pt x="0" y="0"/>
                  </a:moveTo>
                  <a:lnTo>
                    <a:pt x="4982775" y="0"/>
                  </a:lnTo>
                  <a:lnTo>
                    <a:pt x="4982775" y="1727555"/>
                  </a:lnTo>
                  <a:lnTo>
                    <a:pt x="0" y="1727555"/>
                  </a:lnTo>
                  <a:close/>
                </a:path>
              </a:pathLst>
            </a:custGeom>
            <a:blipFill>
              <a:blip r:embed="rId9">
                <a:alphaModFix amt="0"/>
              </a:blip>
              <a:stretch>
                <a:fillRect l="0" t="-6200" r="0" b="-6200"/>
              </a:stretch>
            </a:blipFill>
          </p:spPr>
        </p:sp>
        <p:sp>
          <p:nvSpPr>
            <p:cNvPr name="TextBox 154" id="154"/>
            <p:cNvSpPr txBox="true"/>
            <p:nvPr/>
          </p:nvSpPr>
          <p:spPr>
            <a:xfrm>
              <a:off x="0" y="19050"/>
              <a:ext cx="4982769" cy="1708506"/>
            </a:xfrm>
            <a:prstGeom prst="rect">
              <a:avLst/>
            </a:prstGeom>
          </p:spPr>
          <p:txBody>
            <a:bodyPr anchor="ctr" rtlCol="false" tIns="0" lIns="0" bIns="0" rIns="0"/>
            <a:lstStyle/>
            <a:p>
              <a:pPr algn="l">
                <a:lnSpc>
                  <a:spcPts val="2268"/>
                </a:lnSpc>
              </a:pPr>
              <a:r>
                <a:rPr lang="en-US" sz="2100" b="true">
                  <a:solidFill>
                    <a:srgbClr val="CE4B4F"/>
                  </a:solidFill>
                  <a:latin typeface="TT Commons Pro Bold"/>
                  <a:ea typeface="TT Commons Pro Bold"/>
                  <a:cs typeface="TT Commons Pro Bold"/>
                  <a:sym typeface="TT Commons Pro Bold"/>
                </a:rPr>
                <a:t>Impact of Restaurant Characteristics on Platform Performance</a:t>
              </a:r>
            </a:p>
            <a:p>
              <a:pPr algn="l">
                <a:lnSpc>
                  <a:spcPts val="2268"/>
                </a:lnSpc>
              </a:pPr>
            </a:p>
          </p:txBody>
        </p:sp>
      </p:grpSp>
      <p:grpSp>
        <p:nvGrpSpPr>
          <p:cNvPr name="Group 155" id="155"/>
          <p:cNvGrpSpPr/>
          <p:nvPr/>
        </p:nvGrpSpPr>
        <p:grpSpPr>
          <a:xfrm rot="0">
            <a:off x="10682583" y="7131444"/>
            <a:ext cx="262509" cy="764162"/>
            <a:chOff x="0" y="0"/>
            <a:chExt cx="350012" cy="1018883"/>
          </a:xfrm>
        </p:grpSpPr>
        <p:sp>
          <p:nvSpPr>
            <p:cNvPr name="Freeform 156" id="156"/>
            <p:cNvSpPr/>
            <p:nvPr/>
          </p:nvSpPr>
          <p:spPr>
            <a:xfrm flipH="false" flipV="false" rot="0">
              <a:off x="0" y="0"/>
              <a:ext cx="350012" cy="1018921"/>
            </a:xfrm>
            <a:custGeom>
              <a:avLst/>
              <a:gdLst/>
              <a:ahLst/>
              <a:cxnLst/>
              <a:rect r="r" b="b" t="t" l="l"/>
              <a:pathLst>
                <a:path h="1018921" w="350012">
                  <a:moveTo>
                    <a:pt x="0" y="0"/>
                  </a:moveTo>
                  <a:lnTo>
                    <a:pt x="350012" y="0"/>
                  </a:lnTo>
                  <a:lnTo>
                    <a:pt x="350012" y="1018921"/>
                  </a:lnTo>
                  <a:lnTo>
                    <a:pt x="0" y="1018921"/>
                  </a:lnTo>
                  <a:close/>
                </a:path>
              </a:pathLst>
            </a:custGeom>
            <a:blipFill>
              <a:blip r:embed="rId8">
                <a:alphaModFix amt="0"/>
              </a:blip>
              <a:stretch>
                <a:fillRect l="-323751" t="0" r="-323748" b="3"/>
              </a:stretch>
            </a:blipFill>
          </p:spPr>
        </p:sp>
      </p:grpSp>
      <p:grpSp>
        <p:nvGrpSpPr>
          <p:cNvPr name="Group 157" id="157"/>
          <p:cNvGrpSpPr/>
          <p:nvPr/>
        </p:nvGrpSpPr>
        <p:grpSpPr>
          <a:xfrm rot="0">
            <a:off x="10682583" y="7238600"/>
            <a:ext cx="262509" cy="657006"/>
            <a:chOff x="0" y="0"/>
            <a:chExt cx="350012" cy="876008"/>
          </a:xfrm>
        </p:grpSpPr>
        <p:sp>
          <p:nvSpPr>
            <p:cNvPr name="Freeform 158" id="158"/>
            <p:cNvSpPr/>
            <p:nvPr/>
          </p:nvSpPr>
          <p:spPr>
            <a:xfrm flipH="false" flipV="false" rot="0">
              <a:off x="0" y="0"/>
              <a:ext cx="350012" cy="876013"/>
            </a:xfrm>
            <a:custGeom>
              <a:avLst/>
              <a:gdLst/>
              <a:ahLst/>
              <a:cxnLst/>
              <a:rect r="r" b="b" t="t" l="l"/>
              <a:pathLst>
                <a:path h="876013" w="350012">
                  <a:moveTo>
                    <a:pt x="0" y="0"/>
                  </a:moveTo>
                  <a:lnTo>
                    <a:pt x="350012" y="0"/>
                  </a:lnTo>
                  <a:lnTo>
                    <a:pt x="350012" y="876013"/>
                  </a:lnTo>
                  <a:lnTo>
                    <a:pt x="0" y="876013"/>
                  </a:lnTo>
                  <a:close/>
                </a:path>
              </a:pathLst>
            </a:custGeom>
            <a:blipFill>
              <a:blip r:embed="rId9">
                <a:alphaModFix amt="0"/>
              </a:blip>
              <a:stretch>
                <a:fillRect l="-271117" t="0" r="-271117" b="0"/>
              </a:stretch>
            </a:blipFill>
          </p:spPr>
        </p:sp>
        <p:sp>
          <p:nvSpPr>
            <p:cNvPr name="TextBox 159" id="159"/>
            <p:cNvSpPr txBox="true"/>
            <p:nvPr/>
          </p:nvSpPr>
          <p:spPr>
            <a:xfrm>
              <a:off x="0" y="142875"/>
              <a:ext cx="350012" cy="733133"/>
            </a:xfrm>
            <a:prstGeom prst="rect">
              <a:avLst/>
            </a:prstGeom>
          </p:spPr>
          <p:txBody>
            <a:bodyPr anchor="ctr" rtlCol="false" tIns="0" lIns="0" bIns="0" rIns="0"/>
            <a:lstStyle/>
            <a:p>
              <a:pPr algn="l">
                <a:lnSpc>
                  <a:spcPts val="2755"/>
                </a:lnSpc>
              </a:pPr>
              <a:r>
                <a:rPr lang="en-US" sz="3559" b="true">
                  <a:solidFill>
                    <a:srgbClr val="BF4144"/>
                  </a:solidFill>
                  <a:latin typeface="TT Commons Pro Bold"/>
                  <a:ea typeface="TT Commons Pro Bold"/>
                  <a:cs typeface="TT Commons Pro Bold"/>
                  <a:sym typeface="TT Commons Pro Bold"/>
                </a:rPr>
                <a:t>₹</a:t>
              </a:r>
            </a:p>
          </p:txBody>
        </p:sp>
      </p:grpSp>
      <p:grpSp>
        <p:nvGrpSpPr>
          <p:cNvPr name="Group 160" id="160"/>
          <p:cNvGrpSpPr/>
          <p:nvPr/>
        </p:nvGrpSpPr>
        <p:grpSpPr>
          <a:xfrm rot="0">
            <a:off x="12439926" y="0"/>
            <a:ext cx="5658517" cy="2668810"/>
            <a:chOff x="0" y="0"/>
            <a:chExt cx="7544689" cy="3558413"/>
          </a:xfrm>
        </p:grpSpPr>
        <p:sp>
          <p:nvSpPr>
            <p:cNvPr name="Freeform 161" id="161" descr="preencoded.png"/>
            <p:cNvSpPr/>
            <p:nvPr/>
          </p:nvSpPr>
          <p:spPr>
            <a:xfrm flipH="false" flipV="false" rot="0">
              <a:off x="0" y="0"/>
              <a:ext cx="7544689" cy="3558413"/>
            </a:xfrm>
            <a:custGeom>
              <a:avLst/>
              <a:gdLst/>
              <a:ahLst/>
              <a:cxnLst/>
              <a:rect r="r" b="b" t="t" l="l"/>
              <a:pathLst>
                <a:path h="3558413" w="7544689">
                  <a:moveTo>
                    <a:pt x="0" y="0"/>
                  </a:moveTo>
                  <a:lnTo>
                    <a:pt x="7544689" y="0"/>
                  </a:lnTo>
                  <a:lnTo>
                    <a:pt x="7544689" y="3558413"/>
                  </a:lnTo>
                  <a:lnTo>
                    <a:pt x="0" y="3558413"/>
                  </a:lnTo>
                  <a:lnTo>
                    <a:pt x="0" y="0"/>
                  </a:lnTo>
                  <a:close/>
                </a:path>
              </a:pathLst>
            </a:custGeom>
            <a:blipFill>
              <a:blip r:embed="rId29"/>
              <a:stretch>
                <a:fillRect l="0" t="-48" r="0" b="-48"/>
              </a:stretch>
            </a:blipFill>
          </p:spPr>
        </p:sp>
      </p:grpSp>
      <p:grpSp>
        <p:nvGrpSpPr>
          <p:cNvPr name="Group 162" id="162"/>
          <p:cNvGrpSpPr/>
          <p:nvPr/>
        </p:nvGrpSpPr>
        <p:grpSpPr>
          <a:xfrm rot="0">
            <a:off x="14561858" y="364598"/>
            <a:ext cx="357283" cy="576072"/>
            <a:chOff x="0" y="0"/>
            <a:chExt cx="476377" cy="768096"/>
          </a:xfrm>
        </p:grpSpPr>
        <p:sp>
          <p:nvSpPr>
            <p:cNvPr name="Freeform 163" id="163" descr="preencoded.png"/>
            <p:cNvSpPr/>
            <p:nvPr/>
          </p:nvSpPr>
          <p:spPr>
            <a:xfrm flipH="false" flipV="false" rot="0">
              <a:off x="0" y="0"/>
              <a:ext cx="476377" cy="768096"/>
            </a:xfrm>
            <a:custGeom>
              <a:avLst/>
              <a:gdLst/>
              <a:ahLst/>
              <a:cxnLst/>
              <a:rect r="r" b="b" t="t" l="l"/>
              <a:pathLst>
                <a:path h="768096" w="476377">
                  <a:moveTo>
                    <a:pt x="0" y="0"/>
                  </a:moveTo>
                  <a:lnTo>
                    <a:pt x="476377" y="0"/>
                  </a:lnTo>
                  <a:lnTo>
                    <a:pt x="476377" y="768096"/>
                  </a:lnTo>
                  <a:lnTo>
                    <a:pt x="0" y="768096"/>
                  </a:lnTo>
                  <a:lnTo>
                    <a:pt x="0" y="0"/>
                  </a:lnTo>
                  <a:close/>
                </a:path>
              </a:pathLst>
            </a:custGeom>
            <a:blipFill>
              <a:blip r:embed="rId30"/>
              <a:stretch>
                <a:fillRect l="-69" t="0" r="-66" b="0"/>
              </a:stretch>
            </a:blipFill>
          </p:spPr>
        </p:sp>
      </p:grpSp>
      <p:grpSp>
        <p:nvGrpSpPr>
          <p:cNvPr name="Group 164" id="164"/>
          <p:cNvGrpSpPr/>
          <p:nvPr/>
        </p:nvGrpSpPr>
        <p:grpSpPr>
          <a:xfrm rot="0">
            <a:off x="561470" y="1910467"/>
            <a:ext cx="699992" cy="36481"/>
            <a:chOff x="0" y="0"/>
            <a:chExt cx="933323" cy="48641"/>
          </a:xfrm>
        </p:grpSpPr>
        <p:sp>
          <p:nvSpPr>
            <p:cNvPr name="Freeform 165" id="165" descr="preencoded.png"/>
            <p:cNvSpPr/>
            <p:nvPr/>
          </p:nvSpPr>
          <p:spPr>
            <a:xfrm flipH="false" flipV="false" rot="0">
              <a:off x="0" y="0"/>
              <a:ext cx="933323" cy="48641"/>
            </a:xfrm>
            <a:custGeom>
              <a:avLst/>
              <a:gdLst/>
              <a:ahLst/>
              <a:cxnLst/>
              <a:rect r="r" b="b" t="t" l="l"/>
              <a:pathLst>
                <a:path h="48641" w="933323">
                  <a:moveTo>
                    <a:pt x="0" y="0"/>
                  </a:moveTo>
                  <a:lnTo>
                    <a:pt x="933323" y="0"/>
                  </a:lnTo>
                  <a:lnTo>
                    <a:pt x="933323" y="48641"/>
                  </a:lnTo>
                  <a:lnTo>
                    <a:pt x="0" y="48641"/>
                  </a:lnTo>
                  <a:lnTo>
                    <a:pt x="0" y="0"/>
                  </a:lnTo>
                  <a:close/>
                </a:path>
              </a:pathLst>
            </a:custGeom>
            <a:blipFill>
              <a:blip r:embed="rId31"/>
              <a:stretch>
                <a:fillRect l="0" t="-5143" r="0" b="-5143"/>
              </a:stretch>
            </a:blipFill>
          </p:spPr>
        </p:sp>
      </p:grpSp>
      <p:grpSp>
        <p:nvGrpSpPr>
          <p:cNvPr name="Group 166" id="166"/>
          <p:cNvGrpSpPr/>
          <p:nvPr/>
        </p:nvGrpSpPr>
        <p:grpSpPr>
          <a:xfrm rot="0">
            <a:off x="10719044" y="269796"/>
            <a:ext cx="1480280" cy="1341692"/>
            <a:chOff x="0" y="0"/>
            <a:chExt cx="1973707" cy="1788922"/>
          </a:xfrm>
        </p:grpSpPr>
        <p:sp>
          <p:nvSpPr>
            <p:cNvPr name="Freeform 167" id="167" descr="preencoded.png"/>
            <p:cNvSpPr/>
            <p:nvPr/>
          </p:nvSpPr>
          <p:spPr>
            <a:xfrm flipH="false" flipV="false" rot="0">
              <a:off x="0" y="0"/>
              <a:ext cx="1973707" cy="1788922"/>
            </a:xfrm>
            <a:custGeom>
              <a:avLst/>
              <a:gdLst/>
              <a:ahLst/>
              <a:cxnLst/>
              <a:rect r="r" b="b" t="t" l="l"/>
              <a:pathLst>
                <a:path h="1788922" w="1973707">
                  <a:moveTo>
                    <a:pt x="0" y="0"/>
                  </a:moveTo>
                  <a:lnTo>
                    <a:pt x="1973707" y="0"/>
                  </a:lnTo>
                  <a:lnTo>
                    <a:pt x="1973707" y="1788922"/>
                  </a:lnTo>
                  <a:lnTo>
                    <a:pt x="0" y="1788922"/>
                  </a:lnTo>
                  <a:lnTo>
                    <a:pt x="0" y="0"/>
                  </a:lnTo>
                  <a:close/>
                </a:path>
              </a:pathLst>
            </a:custGeom>
            <a:blipFill>
              <a:blip r:embed="rId32"/>
              <a:stretch>
                <a:fillRect l="0" t="-40" r="0" b="-39"/>
              </a:stretch>
            </a:blipFill>
          </p:spPr>
        </p:sp>
      </p:grpSp>
      <p:grpSp>
        <p:nvGrpSpPr>
          <p:cNvPr name="Group 168" id="168"/>
          <p:cNvGrpSpPr/>
          <p:nvPr/>
        </p:nvGrpSpPr>
        <p:grpSpPr>
          <a:xfrm rot="0">
            <a:off x="9603391" y="554184"/>
            <a:ext cx="751046" cy="751046"/>
            <a:chOff x="0" y="0"/>
            <a:chExt cx="1001395" cy="1001395"/>
          </a:xfrm>
        </p:grpSpPr>
        <p:sp>
          <p:nvSpPr>
            <p:cNvPr name="Freeform 169" id="169" descr="preencoded.png"/>
            <p:cNvSpPr/>
            <p:nvPr/>
          </p:nvSpPr>
          <p:spPr>
            <a:xfrm flipH="false" flipV="false" rot="0">
              <a:off x="0" y="0"/>
              <a:ext cx="1001395" cy="1001395"/>
            </a:xfrm>
            <a:custGeom>
              <a:avLst/>
              <a:gdLst/>
              <a:ahLst/>
              <a:cxnLst/>
              <a:rect r="r" b="b" t="t" l="l"/>
              <a:pathLst>
                <a:path h="1001395" w="1001395">
                  <a:moveTo>
                    <a:pt x="0" y="0"/>
                  </a:moveTo>
                  <a:lnTo>
                    <a:pt x="1001395" y="0"/>
                  </a:lnTo>
                  <a:lnTo>
                    <a:pt x="1001395" y="1001395"/>
                  </a:lnTo>
                  <a:lnTo>
                    <a:pt x="0" y="1001395"/>
                  </a:lnTo>
                  <a:lnTo>
                    <a:pt x="0" y="0"/>
                  </a:lnTo>
                  <a:close/>
                </a:path>
              </a:pathLst>
            </a:custGeom>
            <a:blipFill>
              <a:blip r:embed="rId33"/>
              <a:stretch>
                <a:fillRect l="0" t="0" r="0" b="0"/>
              </a:stretch>
            </a:blipFill>
          </p:spPr>
        </p:sp>
      </p:grpSp>
      <p:grpSp>
        <p:nvGrpSpPr>
          <p:cNvPr name="Group 170" id="170"/>
          <p:cNvGrpSpPr/>
          <p:nvPr/>
        </p:nvGrpSpPr>
        <p:grpSpPr>
          <a:xfrm rot="0">
            <a:off x="9756515" y="736483"/>
            <a:ext cx="481260" cy="587788"/>
            <a:chOff x="0" y="0"/>
            <a:chExt cx="641680" cy="783717"/>
          </a:xfrm>
        </p:grpSpPr>
        <p:sp>
          <p:nvSpPr>
            <p:cNvPr name="Freeform 171" id="171"/>
            <p:cNvSpPr/>
            <p:nvPr/>
          </p:nvSpPr>
          <p:spPr>
            <a:xfrm flipH="false" flipV="false" rot="0">
              <a:off x="0" y="0"/>
              <a:ext cx="641731" cy="783717"/>
            </a:xfrm>
            <a:custGeom>
              <a:avLst/>
              <a:gdLst/>
              <a:ahLst/>
              <a:cxnLst/>
              <a:rect r="r" b="b" t="t" l="l"/>
              <a:pathLst>
                <a:path h="783717" w="641731">
                  <a:moveTo>
                    <a:pt x="0" y="0"/>
                  </a:moveTo>
                  <a:lnTo>
                    <a:pt x="641731" y="0"/>
                  </a:lnTo>
                  <a:lnTo>
                    <a:pt x="641731" y="783717"/>
                  </a:lnTo>
                  <a:lnTo>
                    <a:pt x="0" y="783717"/>
                  </a:lnTo>
                  <a:close/>
                </a:path>
              </a:pathLst>
            </a:custGeom>
            <a:blipFill>
              <a:blip r:embed="rId8">
                <a:alphaModFix amt="0"/>
              </a:blip>
              <a:stretch>
                <a:fillRect l="-106805" t="0" r="-106797" b="0"/>
              </a:stretch>
            </a:blipFill>
          </p:spPr>
        </p:sp>
      </p:grpSp>
      <p:grpSp>
        <p:nvGrpSpPr>
          <p:cNvPr name="Group 172" id="172"/>
          <p:cNvGrpSpPr/>
          <p:nvPr/>
        </p:nvGrpSpPr>
        <p:grpSpPr>
          <a:xfrm rot="0">
            <a:off x="9756515" y="822208"/>
            <a:ext cx="481260" cy="502072"/>
            <a:chOff x="0" y="0"/>
            <a:chExt cx="641680" cy="669430"/>
          </a:xfrm>
        </p:grpSpPr>
        <p:sp>
          <p:nvSpPr>
            <p:cNvPr name="Freeform 173" id="173"/>
            <p:cNvSpPr/>
            <p:nvPr/>
          </p:nvSpPr>
          <p:spPr>
            <a:xfrm flipH="false" flipV="false" rot="0">
              <a:off x="0" y="0"/>
              <a:ext cx="641680" cy="669431"/>
            </a:xfrm>
            <a:custGeom>
              <a:avLst/>
              <a:gdLst/>
              <a:ahLst/>
              <a:cxnLst/>
              <a:rect r="r" b="b" t="t" l="l"/>
              <a:pathLst>
                <a:path h="669431" w="641680">
                  <a:moveTo>
                    <a:pt x="0" y="0"/>
                  </a:moveTo>
                  <a:lnTo>
                    <a:pt x="641680" y="0"/>
                  </a:lnTo>
                  <a:lnTo>
                    <a:pt x="641680" y="669431"/>
                  </a:lnTo>
                  <a:lnTo>
                    <a:pt x="0" y="669431"/>
                  </a:lnTo>
                  <a:close/>
                </a:path>
              </a:pathLst>
            </a:custGeom>
            <a:blipFill>
              <a:blip r:embed="rId9">
                <a:alphaModFix amt="0"/>
              </a:blip>
              <a:stretch>
                <a:fillRect l="-83852" t="0" r="-83852" b="0"/>
              </a:stretch>
            </a:blipFill>
          </p:spPr>
        </p:sp>
        <p:sp>
          <p:nvSpPr>
            <p:cNvPr name="TextBox 174" id="174"/>
            <p:cNvSpPr txBox="true"/>
            <p:nvPr/>
          </p:nvSpPr>
          <p:spPr>
            <a:xfrm>
              <a:off x="0" y="114300"/>
              <a:ext cx="641680" cy="555130"/>
            </a:xfrm>
            <a:prstGeom prst="rect">
              <a:avLst/>
            </a:prstGeom>
          </p:spPr>
          <p:txBody>
            <a:bodyPr anchor="ctr" rtlCol="false" tIns="0" lIns="0" bIns="0" rIns="0"/>
            <a:lstStyle/>
            <a:p>
              <a:pPr algn="l">
                <a:lnSpc>
                  <a:spcPts val="2098"/>
                </a:lnSpc>
              </a:pPr>
              <a:r>
                <a:rPr lang="en-US" sz="2755" b="true">
                  <a:solidFill>
                    <a:srgbClr val="CBCBCB"/>
                  </a:solidFill>
                  <a:latin typeface="TT Commons Pro Bold"/>
                  <a:ea typeface="TT Commons Pro Bold"/>
                  <a:cs typeface="TT Commons Pro Bold"/>
                  <a:sym typeface="TT Commons Pro Bold"/>
                </a:rPr>
                <a:t>VS</a:t>
              </a:r>
            </a:p>
          </p:txBody>
        </p:sp>
      </p:grpSp>
      <p:grpSp>
        <p:nvGrpSpPr>
          <p:cNvPr name="Group 175" id="175"/>
          <p:cNvGrpSpPr/>
          <p:nvPr/>
        </p:nvGrpSpPr>
        <p:grpSpPr>
          <a:xfrm rot="0">
            <a:off x="7867926" y="269796"/>
            <a:ext cx="1334452" cy="1341692"/>
            <a:chOff x="0" y="0"/>
            <a:chExt cx="1779270" cy="1788922"/>
          </a:xfrm>
        </p:grpSpPr>
        <p:sp>
          <p:nvSpPr>
            <p:cNvPr name="Freeform 176" id="176" descr="preencoded.png"/>
            <p:cNvSpPr/>
            <p:nvPr/>
          </p:nvSpPr>
          <p:spPr>
            <a:xfrm flipH="false" flipV="false" rot="0">
              <a:off x="0" y="0"/>
              <a:ext cx="1779270" cy="1788922"/>
            </a:xfrm>
            <a:custGeom>
              <a:avLst/>
              <a:gdLst/>
              <a:ahLst/>
              <a:cxnLst/>
              <a:rect r="r" b="b" t="t" l="l"/>
              <a:pathLst>
                <a:path h="1788922" w="1779270">
                  <a:moveTo>
                    <a:pt x="0" y="0"/>
                  </a:moveTo>
                  <a:lnTo>
                    <a:pt x="1779270" y="0"/>
                  </a:lnTo>
                  <a:lnTo>
                    <a:pt x="1779270" y="1788922"/>
                  </a:lnTo>
                  <a:lnTo>
                    <a:pt x="0" y="1788922"/>
                  </a:lnTo>
                  <a:lnTo>
                    <a:pt x="0" y="0"/>
                  </a:lnTo>
                  <a:close/>
                </a:path>
              </a:pathLst>
            </a:custGeom>
            <a:blipFill>
              <a:blip r:embed="rId34"/>
              <a:stretch>
                <a:fillRect l="0" t="-31" r="0" b="-31"/>
              </a:stretch>
            </a:blipFill>
          </p:spPr>
        </p:sp>
      </p:grpSp>
      <p:grpSp>
        <p:nvGrpSpPr>
          <p:cNvPr name="Group 177" id="177"/>
          <p:cNvGrpSpPr/>
          <p:nvPr/>
        </p:nvGrpSpPr>
        <p:grpSpPr>
          <a:xfrm rot="0">
            <a:off x="8305438" y="488556"/>
            <a:ext cx="444818" cy="663607"/>
            <a:chOff x="0" y="0"/>
            <a:chExt cx="593090" cy="884809"/>
          </a:xfrm>
        </p:grpSpPr>
        <p:sp>
          <p:nvSpPr>
            <p:cNvPr name="Freeform 178" id="178" descr="preencoded.png"/>
            <p:cNvSpPr/>
            <p:nvPr/>
          </p:nvSpPr>
          <p:spPr>
            <a:xfrm flipH="false" flipV="false" rot="0">
              <a:off x="0" y="0"/>
              <a:ext cx="593090" cy="884809"/>
            </a:xfrm>
            <a:custGeom>
              <a:avLst/>
              <a:gdLst/>
              <a:ahLst/>
              <a:cxnLst/>
              <a:rect r="r" b="b" t="t" l="l"/>
              <a:pathLst>
                <a:path h="884809" w="593090">
                  <a:moveTo>
                    <a:pt x="0" y="0"/>
                  </a:moveTo>
                  <a:lnTo>
                    <a:pt x="593090" y="0"/>
                  </a:lnTo>
                  <a:lnTo>
                    <a:pt x="593090" y="884809"/>
                  </a:lnTo>
                  <a:lnTo>
                    <a:pt x="0" y="884809"/>
                  </a:lnTo>
                  <a:lnTo>
                    <a:pt x="0" y="0"/>
                  </a:lnTo>
                  <a:close/>
                </a:path>
              </a:pathLst>
            </a:custGeom>
            <a:blipFill>
              <a:blip r:embed="rId35"/>
              <a:stretch>
                <a:fillRect l="-179" t="0" r="-182" b="0"/>
              </a:stretch>
            </a:blipFill>
          </p:spPr>
        </p:sp>
      </p:grpSp>
      <p:grpSp>
        <p:nvGrpSpPr>
          <p:cNvPr name="Group 179" id="179"/>
          <p:cNvGrpSpPr/>
          <p:nvPr/>
        </p:nvGrpSpPr>
        <p:grpSpPr>
          <a:xfrm rot="0">
            <a:off x="15983769" y="1611506"/>
            <a:ext cx="969816" cy="455124"/>
            <a:chOff x="0" y="0"/>
            <a:chExt cx="1293089" cy="606831"/>
          </a:xfrm>
        </p:grpSpPr>
        <p:sp>
          <p:nvSpPr>
            <p:cNvPr name="Freeform 180" id="180"/>
            <p:cNvSpPr/>
            <p:nvPr/>
          </p:nvSpPr>
          <p:spPr>
            <a:xfrm flipH="false" flipV="false" rot="0">
              <a:off x="0" y="0"/>
              <a:ext cx="1293114" cy="606806"/>
            </a:xfrm>
            <a:custGeom>
              <a:avLst/>
              <a:gdLst/>
              <a:ahLst/>
              <a:cxnLst/>
              <a:rect r="r" b="b" t="t" l="l"/>
              <a:pathLst>
                <a:path h="606806" w="1293114">
                  <a:moveTo>
                    <a:pt x="0" y="0"/>
                  </a:moveTo>
                  <a:lnTo>
                    <a:pt x="1293114" y="0"/>
                  </a:lnTo>
                  <a:lnTo>
                    <a:pt x="1293114" y="606806"/>
                  </a:lnTo>
                  <a:lnTo>
                    <a:pt x="0" y="606806"/>
                  </a:lnTo>
                  <a:close/>
                </a:path>
              </a:pathLst>
            </a:custGeom>
            <a:blipFill>
              <a:blip r:embed="rId8">
                <a:alphaModFix amt="0"/>
              </a:blip>
              <a:stretch>
                <a:fillRect l="-10253" t="0" r="-10251" b="-4"/>
              </a:stretch>
            </a:blipFill>
          </p:spPr>
        </p:sp>
      </p:grpSp>
      <p:grpSp>
        <p:nvGrpSpPr>
          <p:cNvPr name="Group 181" id="181"/>
          <p:cNvGrpSpPr/>
          <p:nvPr/>
        </p:nvGrpSpPr>
        <p:grpSpPr>
          <a:xfrm rot="0">
            <a:off x="15983769" y="1661512"/>
            <a:ext cx="969816" cy="405117"/>
            <a:chOff x="0" y="0"/>
            <a:chExt cx="1293089" cy="540156"/>
          </a:xfrm>
        </p:grpSpPr>
        <p:sp>
          <p:nvSpPr>
            <p:cNvPr name="Freeform 182" id="182"/>
            <p:cNvSpPr/>
            <p:nvPr/>
          </p:nvSpPr>
          <p:spPr>
            <a:xfrm flipH="false" flipV="false" rot="0">
              <a:off x="0" y="0"/>
              <a:ext cx="1293088" cy="540154"/>
            </a:xfrm>
            <a:custGeom>
              <a:avLst/>
              <a:gdLst/>
              <a:ahLst/>
              <a:cxnLst/>
              <a:rect r="r" b="b" t="t" l="l"/>
              <a:pathLst>
                <a:path h="540154" w="1293088">
                  <a:moveTo>
                    <a:pt x="0" y="0"/>
                  </a:moveTo>
                  <a:lnTo>
                    <a:pt x="1293088" y="0"/>
                  </a:lnTo>
                  <a:lnTo>
                    <a:pt x="1293088" y="540154"/>
                  </a:lnTo>
                  <a:lnTo>
                    <a:pt x="0" y="540154"/>
                  </a:lnTo>
                  <a:close/>
                </a:path>
              </a:pathLst>
            </a:custGeom>
            <a:blipFill>
              <a:blip r:embed="rId9">
                <a:alphaModFix amt="0"/>
              </a:blip>
              <a:stretch>
                <a:fillRect l="-3595" t="0" r="-3595" b="0"/>
              </a:stretch>
            </a:blipFill>
          </p:spPr>
        </p:sp>
        <p:sp>
          <p:nvSpPr>
            <p:cNvPr name="TextBox 183" id="183"/>
            <p:cNvSpPr txBox="true"/>
            <p:nvPr/>
          </p:nvSpPr>
          <p:spPr>
            <a:xfrm>
              <a:off x="0" y="66675"/>
              <a:ext cx="1293089" cy="473481"/>
            </a:xfrm>
            <a:prstGeom prst="rect">
              <a:avLst/>
            </a:prstGeom>
          </p:spPr>
          <p:txBody>
            <a:bodyPr anchor="ctr" rtlCol="false" tIns="0" lIns="0" bIns="0" rIns="0"/>
            <a:lstStyle/>
            <a:p>
              <a:pPr algn="l">
                <a:lnSpc>
                  <a:spcPts val="1885"/>
                </a:lnSpc>
              </a:pPr>
              <a:r>
                <a:rPr lang="en-US" b="true" sz="2106" i="true">
                  <a:solidFill>
                    <a:srgbClr val="F1C7C6"/>
                  </a:solidFill>
                  <a:latin typeface="TT Commons Pro Bold Italics"/>
                  <a:ea typeface="TT Commons Pro Bold Italics"/>
                  <a:cs typeface="TT Commons Pro Bold Italics"/>
                  <a:sym typeface="TT Commons Pro Bold Italics"/>
                </a:rPr>
                <a:t>zomato</a:t>
              </a:r>
            </a:p>
          </p:txBody>
        </p:sp>
      </p:grpSp>
      <p:grpSp>
        <p:nvGrpSpPr>
          <p:cNvPr name="Group 184" id="184"/>
          <p:cNvGrpSpPr/>
          <p:nvPr/>
        </p:nvGrpSpPr>
        <p:grpSpPr>
          <a:xfrm rot="0">
            <a:off x="14437890" y="984399"/>
            <a:ext cx="641680" cy="251879"/>
            <a:chOff x="0" y="0"/>
            <a:chExt cx="855574" cy="335839"/>
          </a:xfrm>
        </p:grpSpPr>
        <p:sp>
          <p:nvSpPr>
            <p:cNvPr name="Freeform 185" id="185"/>
            <p:cNvSpPr/>
            <p:nvPr/>
          </p:nvSpPr>
          <p:spPr>
            <a:xfrm flipH="false" flipV="false" rot="0">
              <a:off x="0" y="0"/>
              <a:ext cx="855599" cy="335788"/>
            </a:xfrm>
            <a:custGeom>
              <a:avLst/>
              <a:gdLst/>
              <a:ahLst/>
              <a:cxnLst/>
              <a:rect r="r" b="b" t="t" l="l"/>
              <a:pathLst>
                <a:path h="335788" w="855599">
                  <a:moveTo>
                    <a:pt x="0" y="0"/>
                  </a:moveTo>
                  <a:lnTo>
                    <a:pt x="855599" y="0"/>
                  </a:lnTo>
                  <a:lnTo>
                    <a:pt x="855599" y="335788"/>
                  </a:lnTo>
                  <a:lnTo>
                    <a:pt x="0" y="335788"/>
                  </a:lnTo>
                  <a:close/>
                </a:path>
              </a:pathLst>
            </a:custGeom>
            <a:blipFill>
              <a:blip r:embed="rId8">
                <a:alphaModFix amt="0"/>
              </a:blip>
              <a:stretch>
                <a:fillRect l="-397" t="0" r="-394" b="-15"/>
              </a:stretch>
            </a:blipFill>
          </p:spPr>
        </p:sp>
      </p:grpSp>
      <p:grpSp>
        <p:nvGrpSpPr>
          <p:cNvPr name="Group 186" id="186"/>
          <p:cNvGrpSpPr/>
          <p:nvPr/>
        </p:nvGrpSpPr>
        <p:grpSpPr>
          <a:xfrm rot="0">
            <a:off x="14437890" y="1012974"/>
            <a:ext cx="641680" cy="223304"/>
            <a:chOff x="0" y="0"/>
            <a:chExt cx="855574" cy="297739"/>
          </a:xfrm>
        </p:grpSpPr>
        <p:sp>
          <p:nvSpPr>
            <p:cNvPr name="Freeform 187" id="187"/>
            <p:cNvSpPr/>
            <p:nvPr/>
          </p:nvSpPr>
          <p:spPr>
            <a:xfrm flipH="false" flipV="false" rot="0">
              <a:off x="0" y="0"/>
              <a:ext cx="855573" cy="297743"/>
            </a:xfrm>
            <a:custGeom>
              <a:avLst/>
              <a:gdLst/>
              <a:ahLst/>
              <a:cxnLst/>
              <a:rect r="r" b="b" t="t" l="l"/>
              <a:pathLst>
                <a:path h="297743" w="855573">
                  <a:moveTo>
                    <a:pt x="0" y="0"/>
                  </a:moveTo>
                  <a:lnTo>
                    <a:pt x="855573" y="0"/>
                  </a:lnTo>
                  <a:lnTo>
                    <a:pt x="855573" y="297743"/>
                  </a:lnTo>
                  <a:lnTo>
                    <a:pt x="0" y="297743"/>
                  </a:lnTo>
                  <a:close/>
                </a:path>
              </a:pathLst>
            </a:custGeom>
            <a:blipFill>
              <a:blip r:embed="rId9">
                <a:alphaModFix amt="0"/>
              </a:blip>
              <a:stretch>
                <a:fillRect l="0" t="-5991" r="0" b="-5990"/>
              </a:stretch>
            </a:blipFill>
          </p:spPr>
        </p:sp>
        <p:sp>
          <p:nvSpPr>
            <p:cNvPr name="TextBox 188" id="188"/>
            <p:cNvSpPr txBox="true"/>
            <p:nvPr/>
          </p:nvSpPr>
          <p:spPr>
            <a:xfrm>
              <a:off x="0" y="38100"/>
              <a:ext cx="855574" cy="259639"/>
            </a:xfrm>
            <a:prstGeom prst="rect">
              <a:avLst/>
            </a:prstGeom>
          </p:spPr>
          <p:txBody>
            <a:bodyPr anchor="ctr" rtlCol="false" tIns="0" lIns="0" bIns="0" rIns="0"/>
            <a:lstStyle/>
            <a:p>
              <a:pPr algn="l">
                <a:lnSpc>
                  <a:spcPts val="999"/>
                </a:lnSpc>
              </a:pPr>
              <a:r>
                <a:rPr lang="en-US" sz="1176" b="true">
                  <a:solidFill>
                    <a:srgbClr val="F0A686"/>
                  </a:solidFill>
                  <a:latin typeface="TT Commons Pro Bold"/>
                  <a:ea typeface="TT Commons Pro Bold"/>
                  <a:cs typeface="TT Commons Pro Bold"/>
                  <a:sym typeface="TT Commons Pro Bold"/>
                </a:rPr>
                <a:t>SWIGGY</a:t>
              </a:r>
            </a:p>
          </p:txBody>
        </p:sp>
      </p:grpSp>
      <p:grpSp>
        <p:nvGrpSpPr>
          <p:cNvPr name="Group 189" id="189"/>
          <p:cNvGrpSpPr/>
          <p:nvPr/>
        </p:nvGrpSpPr>
        <p:grpSpPr>
          <a:xfrm rot="0">
            <a:off x="15261879" y="495843"/>
            <a:ext cx="831275" cy="391716"/>
            <a:chOff x="0" y="0"/>
            <a:chExt cx="1108367" cy="522288"/>
          </a:xfrm>
        </p:grpSpPr>
        <p:sp>
          <p:nvSpPr>
            <p:cNvPr name="Freeform 190" id="190"/>
            <p:cNvSpPr/>
            <p:nvPr/>
          </p:nvSpPr>
          <p:spPr>
            <a:xfrm flipH="false" flipV="false" rot="0">
              <a:off x="0" y="0"/>
              <a:ext cx="1108329" cy="522351"/>
            </a:xfrm>
            <a:custGeom>
              <a:avLst/>
              <a:gdLst/>
              <a:ahLst/>
              <a:cxnLst/>
              <a:rect r="r" b="b" t="t" l="l"/>
              <a:pathLst>
                <a:path h="522351" w="1108329">
                  <a:moveTo>
                    <a:pt x="0" y="0"/>
                  </a:moveTo>
                  <a:lnTo>
                    <a:pt x="1108329" y="0"/>
                  </a:lnTo>
                  <a:lnTo>
                    <a:pt x="1108329" y="522351"/>
                  </a:lnTo>
                  <a:lnTo>
                    <a:pt x="0" y="522351"/>
                  </a:lnTo>
                  <a:close/>
                </a:path>
              </a:pathLst>
            </a:custGeom>
            <a:blipFill>
              <a:blip r:embed="rId8">
                <a:alphaModFix amt="0"/>
              </a:blip>
              <a:stretch>
                <a:fillRect l="-10501" t="0" r="-10505" b="12"/>
              </a:stretch>
            </a:blipFill>
          </p:spPr>
        </p:sp>
      </p:grpSp>
      <p:grpSp>
        <p:nvGrpSpPr>
          <p:cNvPr name="Group 191" id="191"/>
          <p:cNvGrpSpPr/>
          <p:nvPr/>
        </p:nvGrpSpPr>
        <p:grpSpPr>
          <a:xfrm rot="0">
            <a:off x="15261879" y="552993"/>
            <a:ext cx="831275" cy="334566"/>
            <a:chOff x="0" y="0"/>
            <a:chExt cx="1108367" cy="446088"/>
          </a:xfrm>
        </p:grpSpPr>
        <p:sp>
          <p:nvSpPr>
            <p:cNvPr name="Freeform 192" id="192"/>
            <p:cNvSpPr/>
            <p:nvPr/>
          </p:nvSpPr>
          <p:spPr>
            <a:xfrm flipH="false" flipV="false" rot="0">
              <a:off x="0" y="0"/>
              <a:ext cx="1108367" cy="446089"/>
            </a:xfrm>
            <a:custGeom>
              <a:avLst/>
              <a:gdLst/>
              <a:ahLst/>
              <a:cxnLst/>
              <a:rect r="r" b="b" t="t" l="l"/>
              <a:pathLst>
                <a:path h="446089" w="1108367">
                  <a:moveTo>
                    <a:pt x="0" y="0"/>
                  </a:moveTo>
                  <a:lnTo>
                    <a:pt x="1108367" y="0"/>
                  </a:lnTo>
                  <a:lnTo>
                    <a:pt x="1108367" y="446089"/>
                  </a:lnTo>
                  <a:lnTo>
                    <a:pt x="0" y="446089"/>
                  </a:lnTo>
                  <a:close/>
                </a:path>
              </a:pathLst>
            </a:custGeom>
            <a:blipFill>
              <a:blip r:embed="rId9">
                <a:alphaModFix amt="0"/>
              </a:blip>
              <a:stretch>
                <a:fillRect l="-1638" t="0" r="-1638" b="0"/>
              </a:stretch>
            </a:blipFill>
          </p:spPr>
        </p:sp>
        <p:sp>
          <p:nvSpPr>
            <p:cNvPr name="TextBox 193" id="193"/>
            <p:cNvSpPr txBox="true"/>
            <p:nvPr/>
          </p:nvSpPr>
          <p:spPr>
            <a:xfrm>
              <a:off x="0" y="76200"/>
              <a:ext cx="1108367" cy="369888"/>
            </a:xfrm>
            <a:prstGeom prst="rect">
              <a:avLst/>
            </a:prstGeom>
          </p:spPr>
          <p:txBody>
            <a:bodyPr anchor="ctr" rtlCol="false" tIns="0" lIns="0" bIns="0" rIns="0"/>
            <a:lstStyle/>
            <a:p>
              <a:pPr algn="l">
                <a:lnSpc>
                  <a:spcPts val="1425"/>
                </a:lnSpc>
              </a:pPr>
              <a:r>
                <a:rPr lang="en-US" b="true" sz="1808" i="true">
                  <a:solidFill>
                    <a:srgbClr val="F1BCBC"/>
                  </a:solidFill>
                  <a:latin typeface="TT Commons Pro Bold Italics"/>
                  <a:ea typeface="TT Commons Pro Bold Italics"/>
                  <a:cs typeface="TT Commons Pro Bold Italics"/>
                  <a:sym typeface="TT Commons Pro Bold Italics"/>
                </a:rPr>
                <a:t>zomato</a:t>
              </a:r>
            </a:p>
          </p:txBody>
        </p:sp>
      </p:grpSp>
      <p:grpSp>
        <p:nvGrpSpPr>
          <p:cNvPr name="Group 194" id="194"/>
          <p:cNvGrpSpPr/>
          <p:nvPr/>
        </p:nvGrpSpPr>
        <p:grpSpPr>
          <a:xfrm rot="0">
            <a:off x="10894047" y="765648"/>
            <a:ext cx="1188577" cy="553298"/>
            <a:chOff x="0" y="0"/>
            <a:chExt cx="1584770" cy="737730"/>
          </a:xfrm>
        </p:grpSpPr>
        <p:sp>
          <p:nvSpPr>
            <p:cNvPr name="Freeform 195" id="195"/>
            <p:cNvSpPr/>
            <p:nvPr/>
          </p:nvSpPr>
          <p:spPr>
            <a:xfrm flipH="false" flipV="false" rot="0">
              <a:off x="0" y="0"/>
              <a:ext cx="1584706" cy="737743"/>
            </a:xfrm>
            <a:custGeom>
              <a:avLst/>
              <a:gdLst/>
              <a:ahLst/>
              <a:cxnLst/>
              <a:rect r="r" b="b" t="t" l="l"/>
              <a:pathLst>
                <a:path h="737743" w="1584706">
                  <a:moveTo>
                    <a:pt x="0" y="0"/>
                  </a:moveTo>
                  <a:lnTo>
                    <a:pt x="1584706" y="0"/>
                  </a:lnTo>
                  <a:lnTo>
                    <a:pt x="1584706" y="737743"/>
                  </a:lnTo>
                  <a:lnTo>
                    <a:pt x="0" y="737743"/>
                  </a:lnTo>
                  <a:close/>
                </a:path>
              </a:pathLst>
            </a:custGeom>
            <a:blipFill>
              <a:blip r:embed="rId8">
                <a:alphaModFix amt="0"/>
              </a:blip>
              <a:stretch>
                <a:fillRect l="-9769" t="0" r="-9773" b="1"/>
              </a:stretch>
            </a:blipFill>
          </p:spPr>
        </p:sp>
      </p:grpSp>
      <p:grpSp>
        <p:nvGrpSpPr>
          <p:cNvPr name="Group 196" id="196"/>
          <p:cNvGrpSpPr/>
          <p:nvPr/>
        </p:nvGrpSpPr>
        <p:grpSpPr>
          <a:xfrm rot="0">
            <a:off x="10894047" y="837086"/>
            <a:ext cx="1188577" cy="481870"/>
            <a:chOff x="0" y="0"/>
            <a:chExt cx="1584770" cy="642493"/>
          </a:xfrm>
        </p:grpSpPr>
        <p:sp>
          <p:nvSpPr>
            <p:cNvPr name="Freeform 197" id="197"/>
            <p:cNvSpPr/>
            <p:nvPr/>
          </p:nvSpPr>
          <p:spPr>
            <a:xfrm flipH="false" flipV="false" rot="0">
              <a:off x="0" y="0"/>
              <a:ext cx="1584769" cy="642495"/>
            </a:xfrm>
            <a:custGeom>
              <a:avLst/>
              <a:gdLst/>
              <a:ahLst/>
              <a:cxnLst/>
              <a:rect r="r" b="b" t="t" l="l"/>
              <a:pathLst>
                <a:path h="642495" w="1584769">
                  <a:moveTo>
                    <a:pt x="0" y="0"/>
                  </a:moveTo>
                  <a:lnTo>
                    <a:pt x="1584769" y="0"/>
                  </a:lnTo>
                  <a:lnTo>
                    <a:pt x="1584769" y="642495"/>
                  </a:lnTo>
                  <a:lnTo>
                    <a:pt x="0" y="642495"/>
                  </a:lnTo>
                  <a:close/>
                </a:path>
              </a:pathLst>
            </a:custGeom>
            <a:blipFill>
              <a:blip r:embed="rId9">
                <a:alphaModFix amt="0"/>
              </a:blip>
              <a:stretch>
                <a:fillRect l="-2016" t="0" r="-2016" b="0"/>
              </a:stretch>
            </a:blipFill>
          </p:spPr>
        </p:sp>
        <p:sp>
          <p:nvSpPr>
            <p:cNvPr name="TextBox 198" id="198"/>
            <p:cNvSpPr txBox="true"/>
            <p:nvPr/>
          </p:nvSpPr>
          <p:spPr>
            <a:xfrm>
              <a:off x="0" y="95250"/>
              <a:ext cx="1584770" cy="547243"/>
            </a:xfrm>
            <a:prstGeom prst="rect">
              <a:avLst/>
            </a:prstGeom>
          </p:spPr>
          <p:txBody>
            <a:bodyPr anchor="ctr" rtlCol="false" tIns="0" lIns="0" bIns="0" rIns="0"/>
            <a:lstStyle/>
            <a:p>
              <a:pPr algn="l">
                <a:lnSpc>
                  <a:spcPts val="2080"/>
                </a:lnSpc>
              </a:pPr>
              <a:r>
                <a:rPr lang="en-US" b="true" sz="2586" i="true">
                  <a:solidFill>
                    <a:srgbClr val="F3C3C3"/>
                  </a:solidFill>
                  <a:latin typeface="TT Commons Pro Bold Italics"/>
                  <a:ea typeface="TT Commons Pro Bold Italics"/>
                  <a:cs typeface="TT Commons Pro Bold Italics"/>
                  <a:sym typeface="TT Commons Pro Bold Italics"/>
                </a:rPr>
                <a:t>zomato</a:t>
              </a:r>
            </a:p>
          </p:txBody>
        </p:sp>
      </p:grpSp>
      <p:grpSp>
        <p:nvGrpSpPr>
          <p:cNvPr name="Group 199" id="199"/>
          <p:cNvGrpSpPr/>
          <p:nvPr/>
        </p:nvGrpSpPr>
        <p:grpSpPr>
          <a:xfrm rot="0">
            <a:off x="8021050" y="1188577"/>
            <a:ext cx="1064609" cy="336966"/>
            <a:chOff x="0" y="0"/>
            <a:chExt cx="1419479" cy="449288"/>
          </a:xfrm>
        </p:grpSpPr>
        <p:sp>
          <p:nvSpPr>
            <p:cNvPr name="Freeform 200" id="200"/>
            <p:cNvSpPr/>
            <p:nvPr/>
          </p:nvSpPr>
          <p:spPr>
            <a:xfrm flipH="false" flipV="false" rot="0">
              <a:off x="0" y="0"/>
              <a:ext cx="1419479" cy="449326"/>
            </a:xfrm>
            <a:custGeom>
              <a:avLst/>
              <a:gdLst/>
              <a:ahLst/>
              <a:cxnLst/>
              <a:rect r="r" b="b" t="t" l="l"/>
              <a:pathLst>
                <a:path h="449326" w="1419479">
                  <a:moveTo>
                    <a:pt x="0" y="0"/>
                  </a:moveTo>
                  <a:lnTo>
                    <a:pt x="1419479" y="0"/>
                  </a:lnTo>
                  <a:lnTo>
                    <a:pt x="1419479" y="449326"/>
                  </a:lnTo>
                  <a:lnTo>
                    <a:pt x="0" y="449326"/>
                  </a:lnTo>
                  <a:close/>
                </a:path>
              </a:pathLst>
            </a:custGeom>
            <a:blipFill>
              <a:blip r:embed="rId8">
                <a:alphaModFix amt="0"/>
              </a:blip>
              <a:stretch>
                <a:fillRect l="0" t="-11517" r="0" b="-11509"/>
              </a:stretch>
            </a:blipFill>
          </p:spPr>
        </p:sp>
      </p:grpSp>
      <p:grpSp>
        <p:nvGrpSpPr>
          <p:cNvPr name="Group 201" id="201"/>
          <p:cNvGrpSpPr/>
          <p:nvPr/>
        </p:nvGrpSpPr>
        <p:grpSpPr>
          <a:xfrm rot="0">
            <a:off x="8021050" y="1210008"/>
            <a:ext cx="1064609" cy="315535"/>
            <a:chOff x="0" y="0"/>
            <a:chExt cx="1419479" cy="420713"/>
          </a:xfrm>
        </p:grpSpPr>
        <p:sp>
          <p:nvSpPr>
            <p:cNvPr name="Freeform 202" id="202"/>
            <p:cNvSpPr/>
            <p:nvPr/>
          </p:nvSpPr>
          <p:spPr>
            <a:xfrm flipH="false" flipV="false" rot="0">
              <a:off x="0" y="0"/>
              <a:ext cx="1419479" cy="420708"/>
            </a:xfrm>
            <a:custGeom>
              <a:avLst/>
              <a:gdLst/>
              <a:ahLst/>
              <a:cxnLst/>
              <a:rect r="r" b="b" t="t" l="l"/>
              <a:pathLst>
                <a:path h="420708" w="1419479">
                  <a:moveTo>
                    <a:pt x="0" y="0"/>
                  </a:moveTo>
                  <a:lnTo>
                    <a:pt x="1419479" y="0"/>
                  </a:lnTo>
                  <a:lnTo>
                    <a:pt x="1419479" y="420708"/>
                  </a:lnTo>
                  <a:lnTo>
                    <a:pt x="0" y="420708"/>
                  </a:lnTo>
                  <a:close/>
                </a:path>
              </a:pathLst>
            </a:custGeom>
            <a:blipFill>
              <a:blip r:embed="rId9">
                <a:alphaModFix amt="0"/>
              </a:blip>
              <a:stretch>
                <a:fillRect l="0" t="-15742" r="0" b="-15743"/>
              </a:stretch>
            </a:blipFill>
          </p:spPr>
        </p:sp>
        <p:sp>
          <p:nvSpPr>
            <p:cNvPr name="TextBox 203" id="203"/>
            <p:cNvSpPr txBox="true"/>
            <p:nvPr/>
          </p:nvSpPr>
          <p:spPr>
            <a:xfrm>
              <a:off x="0" y="28575"/>
              <a:ext cx="1419479" cy="392138"/>
            </a:xfrm>
            <a:prstGeom prst="rect">
              <a:avLst/>
            </a:prstGeom>
          </p:spPr>
          <p:txBody>
            <a:bodyPr anchor="ctr" rtlCol="false" tIns="0" lIns="0" bIns="0" rIns="0"/>
            <a:lstStyle/>
            <a:p>
              <a:pPr algn="l">
                <a:lnSpc>
                  <a:spcPts val="1549"/>
                </a:lnSpc>
              </a:pPr>
              <a:r>
                <a:rPr lang="en-US" sz="1583" b="true">
                  <a:solidFill>
                    <a:srgbClr val="F1C1AA"/>
                  </a:solidFill>
                  <a:latin typeface="TT Commons Pro Bold"/>
                  <a:ea typeface="TT Commons Pro Bold"/>
                  <a:cs typeface="TT Commons Pro Bold"/>
                  <a:sym typeface="TT Commons Pro Bold"/>
                </a:rPr>
                <a:t>SWIGGY</a:t>
              </a:r>
            </a:p>
          </p:txBody>
        </p:sp>
      </p:grpSp>
      <p:grpSp>
        <p:nvGrpSpPr>
          <p:cNvPr name="Group 204" id="204"/>
          <p:cNvGrpSpPr/>
          <p:nvPr/>
        </p:nvGrpSpPr>
        <p:grpSpPr>
          <a:xfrm rot="0">
            <a:off x="2399024" y="208493"/>
            <a:ext cx="3616766" cy="1547765"/>
            <a:chOff x="0" y="0"/>
            <a:chExt cx="4822355" cy="2063686"/>
          </a:xfrm>
        </p:grpSpPr>
        <p:sp>
          <p:nvSpPr>
            <p:cNvPr name="Freeform 205" id="205"/>
            <p:cNvSpPr/>
            <p:nvPr/>
          </p:nvSpPr>
          <p:spPr>
            <a:xfrm flipH="false" flipV="false" rot="0">
              <a:off x="0" y="0"/>
              <a:ext cx="4822317" cy="2063623"/>
            </a:xfrm>
            <a:custGeom>
              <a:avLst/>
              <a:gdLst/>
              <a:ahLst/>
              <a:cxnLst/>
              <a:rect r="r" b="b" t="t" l="l"/>
              <a:pathLst>
                <a:path h="2063623" w="4822317">
                  <a:moveTo>
                    <a:pt x="0" y="0"/>
                  </a:moveTo>
                  <a:lnTo>
                    <a:pt x="4822317" y="0"/>
                  </a:lnTo>
                  <a:lnTo>
                    <a:pt x="4822317" y="2063623"/>
                  </a:lnTo>
                  <a:lnTo>
                    <a:pt x="0" y="2063623"/>
                  </a:lnTo>
                  <a:close/>
                </a:path>
              </a:pathLst>
            </a:custGeom>
            <a:blipFill>
              <a:blip r:embed="rId8">
                <a:alphaModFix amt="0"/>
              </a:blip>
              <a:stretch>
                <a:fillRect l="-4944" t="0" r="-4945" b="-3"/>
              </a:stretch>
            </a:blipFill>
          </p:spPr>
        </p:sp>
      </p:grpSp>
      <p:grpSp>
        <p:nvGrpSpPr>
          <p:cNvPr name="Group 206" id="206"/>
          <p:cNvGrpSpPr/>
          <p:nvPr/>
        </p:nvGrpSpPr>
        <p:grpSpPr>
          <a:xfrm rot="0">
            <a:off x="2399024" y="258499"/>
            <a:ext cx="3616766" cy="1497749"/>
            <a:chOff x="0" y="0"/>
            <a:chExt cx="4822355" cy="1996999"/>
          </a:xfrm>
        </p:grpSpPr>
        <p:sp>
          <p:nvSpPr>
            <p:cNvPr name="Freeform 207" id="207"/>
            <p:cNvSpPr/>
            <p:nvPr/>
          </p:nvSpPr>
          <p:spPr>
            <a:xfrm flipH="false" flipV="false" rot="0">
              <a:off x="0" y="0"/>
              <a:ext cx="4822355" cy="1997005"/>
            </a:xfrm>
            <a:custGeom>
              <a:avLst/>
              <a:gdLst/>
              <a:ahLst/>
              <a:cxnLst/>
              <a:rect r="r" b="b" t="t" l="l"/>
              <a:pathLst>
                <a:path h="1997005" w="4822355">
                  <a:moveTo>
                    <a:pt x="0" y="0"/>
                  </a:moveTo>
                  <a:lnTo>
                    <a:pt x="4822355" y="0"/>
                  </a:lnTo>
                  <a:lnTo>
                    <a:pt x="4822355" y="1997005"/>
                  </a:lnTo>
                  <a:lnTo>
                    <a:pt x="0" y="1997005"/>
                  </a:lnTo>
                  <a:close/>
                </a:path>
              </a:pathLst>
            </a:custGeom>
            <a:blipFill>
              <a:blip r:embed="rId9">
                <a:alphaModFix amt="0"/>
              </a:blip>
              <a:stretch>
                <a:fillRect l="-3132" t="0" r="-3132" b="0"/>
              </a:stretch>
            </a:blipFill>
          </p:spPr>
        </p:sp>
        <p:sp>
          <p:nvSpPr>
            <p:cNvPr name="TextBox 208" id="208"/>
            <p:cNvSpPr txBox="true"/>
            <p:nvPr/>
          </p:nvSpPr>
          <p:spPr>
            <a:xfrm>
              <a:off x="0" y="66675"/>
              <a:ext cx="4822355" cy="1930324"/>
            </a:xfrm>
            <a:prstGeom prst="rect">
              <a:avLst/>
            </a:prstGeom>
          </p:spPr>
          <p:txBody>
            <a:bodyPr anchor="ctr" rtlCol="false" tIns="0" lIns="0" bIns="0" rIns="0"/>
            <a:lstStyle/>
            <a:p>
              <a:pPr algn="l">
                <a:lnSpc>
                  <a:spcPts val="7808"/>
                </a:lnSpc>
              </a:pPr>
              <a:r>
                <a:rPr lang="en-US" sz="7148" b="true">
                  <a:solidFill>
                    <a:srgbClr val="E2E2E2"/>
                  </a:solidFill>
                  <a:latin typeface="TT Commons Pro Bold"/>
                  <a:ea typeface="TT Commons Pro Bold"/>
                  <a:cs typeface="TT Commons Pro Bold"/>
                  <a:sym typeface="TT Commons Pro Bold"/>
                </a:rPr>
                <a:t>Insights</a:t>
              </a:r>
            </a:p>
          </p:txBody>
        </p:sp>
      </p:grpSp>
      <p:grpSp>
        <p:nvGrpSpPr>
          <p:cNvPr name="Group 209" id="209"/>
          <p:cNvGrpSpPr/>
          <p:nvPr/>
        </p:nvGrpSpPr>
        <p:grpSpPr>
          <a:xfrm rot="0">
            <a:off x="576053" y="160420"/>
            <a:ext cx="1713586" cy="1528448"/>
            <a:chOff x="0" y="0"/>
            <a:chExt cx="2284781" cy="2037931"/>
          </a:xfrm>
        </p:grpSpPr>
        <p:sp>
          <p:nvSpPr>
            <p:cNvPr name="Freeform 210" id="210"/>
            <p:cNvSpPr/>
            <p:nvPr/>
          </p:nvSpPr>
          <p:spPr>
            <a:xfrm flipH="false" flipV="false" rot="0">
              <a:off x="0" y="0"/>
              <a:ext cx="2284730" cy="2037969"/>
            </a:xfrm>
            <a:custGeom>
              <a:avLst/>
              <a:gdLst/>
              <a:ahLst/>
              <a:cxnLst/>
              <a:rect r="r" b="b" t="t" l="l"/>
              <a:pathLst>
                <a:path h="2037969" w="2284730">
                  <a:moveTo>
                    <a:pt x="0" y="0"/>
                  </a:moveTo>
                  <a:lnTo>
                    <a:pt x="2284730" y="0"/>
                  </a:lnTo>
                  <a:lnTo>
                    <a:pt x="2284730" y="2037969"/>
                  </a:lnTo>
                  <a:lnTo>
                    <a:pt x="0" y="2037969"/>
                  </a:lnTo>
                  <a:close/>
                </a:path>
              </a:pathLst>
            </a:custGeom>
            <a:blipFill>
              <a:blip r:embed="rId8">
                <a:alphaModFix amt="0"/>
              </a:blip>
              <a:stretch>
                <a:fillRect l="-64522" t="0" r="-64524" b="1"/>
              </a:stretch>
            </a:blipFill>
          </p:spPr>
        </p:sp>
      </p:grpSp>
      <p:grpSp>
        <p:nvGrpSpPr>
          <p:cNvPr name="Group 211" id="211"/>
          <p:cNvGrpSpPr/>
          <p:nvPr/>
        </p:nvGrpSpPr>
        <p:grpSpPr>
          <a:xfrm rot="0">
            <a:off x="576053" y="224714"/>
            <a:ext cx="1713586" cy="1464154"/>
            <a:chOff x="0" y="0"/>
            <a:chExt cx="2284781" cy="1952206"/>
          </a:xfrm>
        </p:grpSpPr>
        <p:sp>
          <p:nvSpPr>
            <p:cNvPr name="Freeform 212" id="212"/>
            <p:cNvSpPr/>
            <p:nvPr/>
          </p:nvSpPr>
          <p:spPr>
            <a:xfrm flipH="false" flipV="false" rot="0">
              <a:off x="0" y="0"/>
              <a:ext cx="2284781" cy="1952206"/>
            </a:xfrm>
            <a:custGeom>
              <a:avLst/>
              <a:gdLst/>
              <a:ahLst/>
              <a:cxnLst/>
              <a:rect r="r" b="b" t="t" l="l"/>
              <a:pathLst>
                <a:path h="1952206" w="2284781">
                  <a:moveTo>
                    <a:pt x="0" y="0"/>
                  </a:moveTo>
                  <a:lnTo>
                    <a:pt x="2284781" y="0"/>
                  </a:lnTo>
                  <a:lnTo>
                    <a:pt x="2284781" y="1952206"/>
                  </a:lnTo>
                  <a:lnTo>
                    <a:pt x="0" y="1952206"/>
                  </a:lnTo>
                  <a:close/>
                </a:path>
              </a:pathLst>
            </a:custGeom>
            <a:blipFill>
              <a:blip r:embed="rId9">
                <a:alphaModFix amt="0"/>
              </a:blip>
              <a:stretch>
                <a:fillRect l="-59627" t="0" r="-59627" b="0"/>
              </a:stretch>
            </a:blipFill>
          </p:spPr>
        </p:sp>
        <p:sp>
          <p:nvSpPr>
            <p:cNvPr name="TextBox 213" id="213"/>
            <p:cNvSpPr txBox="true"/>
            <p:nvPr/>
          </p:nvSpPr>
          <p:spPr>
            <a:xfrm>
              <a:off x="0" y="85725"/>
              <a:ext cx="2284781" cy="1866481"/>
            </a:xfrm>
            <a:prstGeom prst="rect">
              <a:avLst/>
            </a:prstGeom>
          </p:spPr>
          <p:txBody>
            <a:bodyPr anchor="ctr" rtlCol="false" tIns="0" lIns="0" bIns="0" rIns="0"/>
            <a:lstStyle/>
            <a:p>
              <a:pPr algn="l">
                <a:lnSpc>
                  <a:spcPts val="7578"/>
                </a:lnSpc>
              </a:pPr>
              <a:r>
                <a:rPr lang="en-US" sz="7056" b="true">
                  <a:solidFill>
                    <a:srgbClr val="E06105"/>
                  </a:solidFill>
                  <a:latin typeface="TT Commons Pro Bold"/>
                  <a:ea typeface="TT Commons Pro Bold"/>
                  <a:cs typeface="TT Commons Pro Bold"/>
                  <a:sym typeface="TT Commons Pro Bold"/>
                </a:rPr>
                <a:t>Key</a:t>
              </a:r>
            </a:p>
          </p:txBody>
        </p:sp>
      </p:grpSp>
      <p:sp>
        <p:nvSpPr>
          <p:cNvPr name="Freeform 214" id="214"/>
          <p:cNvSpPr/>
          <p:nvPr/>
        </p:nvSpPr>
        <p:spPr>
          <a:xfrm flipH="false" flipV="false" rot="0">
            <a:off x="9293485" y="2519343"/>
            <a:ext cx="6001198" cy="2996917"/>
          </a:xfrm>
          <a:custGeom>
            <a:avLst/>
            <a:gdLst/>
            <a:ahLst/>
            <a:cxnLst/>
            <a:rect r="r" b="b" t="t" l="l"/>
            <a:pathLst>
              <a:path h="2996917" w="6001198">
                <a:moveTo>
                  <a:pt x="0" y="0"/>
                </a:moveTo>
                <a:lnTo>
                  <a:pt x="6001198" y="0"/>
                </a:lnTo>
                <a:lnTo>
                  <a:pt x="6001198" y="2996918"/>
                </a:lnTo>
                <a:lnTo>
                  <a:pt x="0" y="2996918"/>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grpSp>
        <p:nvGrpSpPr>
          <p:cNvPr name="Group 215" id="215"/>
          <p:cNvGrpSpPr/>
          <p:nvPr/>
        </p:nvGrpSpPr>
        <p:grpSpPr>
          <a:xfrm rot="0">
            <a:off x="9829438" y="3295926"/>
            <a:ext cx="1640681" cy="1640681"/>
            <a:chOff x="0" y="0"/>
            <a:chExt cx="2187575" cy="2187575"/>
          </a:xfrm>
        </p:grpSpPr>
        <p:sp>
          <p:nvSpPr>
            <p:cNvPr name="Freeform 216" id="216" descr="preencoded.png"/>
            <p:cNvSpPr/>
            <p:nvPr/>
          </p:nvSpPr>
          <p:spPr>
            <a:xfrm flipH="false" flipV="false" rot="0">
              <a:off x="0" y="0"/>
              <a:ext cx="2187575" cy="2187575"/>
            </a:xfrm>
            <a:custGeom>
              <a:avLst/>
              <a:gdLst/>
              <a:ahLst/>
              <a:cxnLst/>
              <a:rect r="r" b="b" t="t" l="l"/>
              <a:pathLst>
                <a:path h="2187575" w="2187575">
                  <a:moveTo>
                    <a:pt x="0" y="0"/>
                  </a:moveTo>
                  <a:lnTo>
                    <a:pt x="2187575" y="0"/>
                  </a:lnTo>
                  <a:lnTo>
                    <a:pt x="2187575" y="2187575"/>
                  </a:lnTo>
                  <a:lnTo>
                    <a:pt x="0" y="2187575"/>
                  </a:lnTo>
                  <a:lnTo>
                    <a:pt x="0" y="0"/>
                  </a:lnTo>
                  <a:close/>
                </a:path>
              </a:pathLst>
            </a:custGeom>
            <a:blipFill>
              <a:blip r:embed="rId38"/>
              <a:stretch>
                <a:fillRect l="0" t="0" r="0" b="0"/>
              </a:stretch>
            </a:blipFill>
          </p:spPr>
        </p:sp>
      </p:grpSp>
      <p:sp>
        <p:nvSpPr>
          <p:cNvPr name="Freeform 217" id="217"/>
          <p:cNvSpPr/>
          <p:nvPr/>
        </p:nvSpPr>
        <p:spPr>
          <a:xfrm flipH="false" flipV="false" rot="0">
            <a:off x="9611592" y="2779109"/>
            <a:ext cx="530485" cy="537820"/>
          </a:xfrm>
          <a:custGeom>
            <a:avLst/>
            <a:gdLst/>
            <a:ahLst/>
            <a:cxnLst/>
            <a:rect r="r" b="b" t="t" l="l"/>
            <a:pathLst>
              <a:path h="537820" w="530485">
                <a:moveTo>
                  <a:pt x="0" y="0"/>
                </a:moveTo>
                <a:lnTo>
                  <a:pt x="530485" y="0"/>
                </a:lnTo>
                <a:lnTo>
                  <a:pt x="530485" y="537820"/>
                </a:lnTo>
                <a:lnTo>
                  <a:pt x="0" y="537820"/>
                </a:lnTo>
                <a:lnTo>
                  <a:pt x="0" y="0"/>
                </a:lnTo>
                <a:close/>
              </a:path>
            </a:pathLst>
          </a:custGeom>
          <a:blipFill>
            <a:blip r:embed="rId39">
              <a:extLst>
                <a:ext uri="{96DAC541-7B7A-43D3-8B79-37D633B846F1}">
                  <asvg:svgBlip xmlns:asvg="http://schemas.microsoft.com/office/drawing/2016/SVG/main" r:embed="rId40"/>
                </a:ext>
              </a:extLst>
            </a:blip>
            <a:stretch>
              <a:fillRect l="0" t="0" r="0" b="0"/>
            </a:stretch>
          </a:blipFill>
        </p:spPr>
      </p:sp>
      <p:grpSp>
        <p:nvGrpSpPr>
          <p:cNvPr name="Group 218" id="218"/>
          <p:cNvGrpSpPr/>
          <p:nvPr/>
        </p:nvGrpSpPr>
        <p:grpSpPr>
          <a:xfrm rot="0">
            <a:off x="9682963" y="2801836"/>
            <a:ext cx="591912" cy="544306"/>
            <a:chOff x="0" y="0"/>
            <a:chExt cx="789216" cy="725742"/>
          </a:xfrm>
        </p:grpSpPr>
        <p:sp>
          <p:nvSpPr>
            <p:cNvPr name="Freeform 219" id="219"/>
            <p:cNvSpPr/>
            <p:nvPr/>
          </p:nvSpPr>
          <p:spPr>
            <a:xfrm flipH="false" flipV="false" rot="0">
              <a:off x="0" y="0"/>
              <a:ext cx="789178" cy="725805"/>
            </a:xfrm>
            <a:custGeom>
              <a:avLst/>
              <a:gdLst/>
              <a:ahLst/>
              <a:cxnLst/>
              <a:rect r="r" b="b" t="t" l="l"/>
              <a:pathLst>
                <a:path h="725805" w="789178">
                  <a:moveTo>
                    <a:pt x="0" y="0"/>
                  </a:moveTo>
                  <a:lnTo>
                    <a:pt x="789178" y="0"/>
                  </a:lnTo>
                  <a:lnTo>
                    <a:pt x="789178" y="725805"/>
                  </a:lnTo>
                  <a:lnTo>
                    <a:pt x="0" y="725805"/>
                  </a:lnTo>
                  <a:close/>
                </a:path>
              </a:pathLst>
            </a:custGeom>
            <a:blipFill>
              <a:blip r:embed="rId8">
                <a:alphaModFix amt="0"/>
              </a:blip>
              <a:stretch>
                <a:fillRect l="-68070" t="0" r="-68073" b="8"/>
              </a:stretch>
            </a:blipFill>
          </p:spPr>
        </p:sp>
      </p:grpSp>
      <p:grpSp>
        <p:nvGrpSpPr>
          <p:cNvPr name="Group 220" id="220"/>
          <p:cNvGrpSpPr/>
          <p:nvPr/>
        </p:nvGrpSpPr>
        <p:grpSpPr>
          <a:xfrm rot="0">
            <a:off x="9682963" y="2801836"/>
            <a:ext cx="591912" cy="458581"/>
            <a:chOff x="0" y="0"/>
            <a:chExt cx="789216" cy="611442"/>
          </a:xfrm>
        </p:grpSpPr>
        <p:sp>
          <p:nvSpPr>
            <p:cNvPr name="Freeform 221" id="221"/>
            <p:cNvSpPr/>
            <p:nvPr/>
          </p:nvSpPr>
          <p:spPr>
            <a:xfrm flipH="false" flipV="false" rot="0">
              <a:off x="0" y="0"/>
              <a:ext cx="789216" cy="611447"/>
            </a:xfrm>
            <a:custGeom>
              <a:avLst/>
              <a:gdLst/>
              <a:ahLst/>
              <a:cxnLst/>
              <a:rect r="r" b="b" t="t" l="l"/>
              <a:pathLst>
                <a:path h="611447" w="789216">
                  <a:moveTo>
                    <a:pt x="0" y="0"/>
                  </a:moveTo>
                  <a:lnTo>
                    <a:pt x="789216" y="0"/>
                  </a:lnTo>
                  <a:lnTo>
                    <a:pt x="789216" y="611447"/>
                  </a:lnTo>
                  <a:lnTo>
                    <a:pt x="0" y="611447"/>
                  </a:lnTo>
                  <a:close/>
                </a:path>
              </a:pathLst>
            </a:custGeom>
            <a:blipFill>
              <a:blip r:embed="rId9">
                <a:alphaModFix amt="0"/>
              </a:blip>
              <a:stretch>
                <a:fillRect l="-49402" t="0" r="-49402" b="0"/>
              </a:stretch>
            </a:blipFill>
          </p:spPr>
        </p:sp>
        <p:sp>
          <p:nvSpPr>
            <p:cNvPr name="TextBox 222" id="222"/>
            <p:cNvSpPr txBox="true"/>
            <p:nvPr/>
          </p:nvSpPr>
          <p:spPr>
            <a:xfrm>
              <a:off x="0" y="114300"/>
              <a:ext cx="789216" cy="497142"/>
            </a:xfrm>
            <a:prstGeom prst="rect">
              <a:avLst/>
            </a:prstGeom>
          </p:spPr>
          <p:txBody>
            <a:bodyPr anchor="ctr" rtlCol="false" tIns="0" lIns="0" bIns="0" rIns="0"/>
            <a:lstStyle/>
            <a:p>
              <a:pPr algn="l">
                <a:lnSpc>
                  <a:spcPts val="1870"/>
                </a:lnSpc>
              </a:pPr>
              <a:r>
                <a:rPr lang="en-US" sz="2553" b="true">
                  <a:solidFill>
                    <a:srgbClr val="EFBDBE"/>
                  </a:solidFill>
                  <a:latin typeface="TT Commons Pro Bold"/>
                  <a:ea typeface="TT Commons Pro Bold"/>
                  <a:cs typeface="TT Commons Pro Bold"/>
                  <a:sym typeface="TT Commons Pro Bold"/>
                </a:rPr>
                <a:t>02</a:t>
              </a:r>
            </a:p>
          </p:txBody>
        </p:sp>
      </p:grpSp>
      <p:grpSp>
        <p:nvGrpSpPr>
          <p:cNvPr name="Group 223" id="223"/>
          <p:cNvGrpSpPr/>
          <p:nvPr/>
        </p:nvGrpSpPr>
        <p:grpSpPr>
          <a:xfrm rot="0">
            <a:off x="11604546" y="2812047"/>
            <a:ext cx="3671459" cy="738454"/>
            <a:chOff x="0" y="0"/>
            <a:chExt cx="4895278" cy="984606"/>
          </a:xfrm>
        </p:grpSpPr>
        <p:sp>
          <p:nvSpPr>
            <p:cNvPr name="Freeform 224" id="224"/>
            <p:cNvSpPr/>
            <p:nvPr/>
          </p:nvSpPr>
          <p:spPr>
            <a:xfrm flipH="false" flipV="false" rot="0">
              <a:off x="0" y="0"/>
              <a:ext cx="4895215" cy="984631"/>
            </a:xfrm>
            <a:custGeom>
              <a:avLst/>
              <a:gdLst/>
              <a:ahLst/>
              <a:cxnLst/>
              <a:rect r="r" b="b" t="t" l="l"/>
              <a:pathLst>
                <a:path h="984631" w="4895215">
                  <a:moveTo>
                    <a:pt x="0" y="0"/>
                  </a:moveTo>
                  <a:lnTo>
                    <a:pt x="4895215" y="0"/>
                  </a:lnTo>
                  <a:lnTo>
                    <a:pt x="4895215" y="984631"/>
                  </a:lnTo>
                  <a:lnTo>
                    <a:pt x="0" y="984631"/>
                  </a:lnTo>
                  <a:close/>
                </a:path>
              </a:pathLst>
            </a:custGeom>
            <a:blipFill>
              <a:blip r:embed="rId8">
                <a:alphaModFix amt="0"/>
              </a:blip>
              <a:stretch>
                <a:fillRect l="0" t="-46807" r="-1" b="-46805"/>
              </a:stretch>
            </a:blipFill>
          </p:spPr>
        </p:sp>
      </p:grpSp>
      <p:grpSp>
        <p:nvGrpSpPr>
          <p:cNvPr name="Group 225" id="225"/>
          <p:cNvGrpSpPr/>
          <p:nvPr/>
        </p:nvGrpSpPr>
        <p:grpSpPr>
          <a:xfrm rot="0">
            <a:off x="11604546" y="2826334"/>
            <a:ext cx="3671459" cy="724167"/>
            <a:chOff x="0" y="0"/>
            <a:chExt cx="4895278" cy="965556"/>
          </a:xfrm>
        </p:grpSpPr>
        <p:sp>
          <p:nvSpPr>
            <p:cNvPr name="Freeform 226" id="226"/>
            <p:cNvSpPr/>
            <p:nvPr/>
          </p:nvSpPr>
          <p:spPr>
            <a:xfrm flipH="false" flipV="false" rot="0">
              <a:off x="0" y="0"/>
              <a:ext cx="4895279" cy="965555"/>
            </a:xfrm>
            <a:custGeom>
              <a:avLst/>
              <a:gdLst/>
              <a:ahLst/>
              <a:cxnLst/>
              <a:rect r="r" b="b" t="t" l="l"/>
              <a:pathLst>
                <a:path h="965555" w="4895279">
                  <a:moveTo>
                    <a:pt x="0" y="0"/>
                  </a:moveTo>
                  <a:lnTo>
                    <a:pt x="4895279" y="0"/>
                  </a:lnTo>
                  <a:lnTo>
                    <a:pt x="4895279" y="965555"/>
                  </a:lnTo>
                  <a:lnTo>
                    <a:pt x="0" y="965555"/>
                  </a:lnTo>
                  <a:close/>
                </a:path>
              </a:pathLst>
            </a:custGeom>
            <a:blipFill>
              <a:blip r:embed="rId9">
                <a:alphaModFix amt="0"/>
              </a:blip>
              <a:stretch>
                <a:fillRect l="0" t="-48787" r="0" b="-48787"/>
              </a:stretch>
            </a:blipFill>
          </p:spPr>
        </p:sp>
        <p:sp>
          <p:nvSpPr>
            <p:cNvPr name="TextBox 227" id="227"/>
            <p:cNvSpPr txBox="true"/>
            <p:nvPr/>
          </p:nvSpPr>
          <p:spPr>
            <a:xfrm>
              <a:off x="0" y="19050"/>
              <a:ext cx="4895278" cy="946506"/>
            </a:xfrm>
            <a:prstGeom prst="rect">
              <a:avLst/>
            </a:prstGeom>
          </p:spPr>
          <p:txBody>
            <a:bodyPr anchor="ctr" rtlCol="false" tIns="0" lIns="0" bIns="0" rIns="0"/>
            <a:lstStyle/>
            <a:p>
              <a:pPr algn="l">
                <a:lnSpc>
                  <a:spcPts val="2268"/>
                </a:lnSpc>
              </a:pPr>
              <a:r>
                <a:rPr lang="en-US" sz="2100" b="true">
                  <a:solidFill>
                    <a:srgbClr val="CB4349"/>
                  </a:solidFill>
                  <a:latin typeface="TT Commons Pro Bold"/>
                  <a:ea typeface="TT Commons Pro Bold"/>
                  <a:cs typeface="TT Commons Pro Bold"/>
                  <a:sym typeface="TT Commons Pro Bold"/>
                </a:rPr>
                <a:t>Restaurant Price Category Distribution</a:t>
              </a:r>
            </a:p>
          </p:txBody>
        </p:sp>
      </p:grpSp>
      <p:grpSp>
        <p:nvGrpSpPr>
          <p:cNvPr name="Group 228" id="228"/>
          <p:cNvGrpSpPr/>
          <p:nvPr/>
        </p:nvGrpSpPr>
        <p:grpSpPr>
          <a:xfrm rot="0">
            <a:off x="14328515" y="1822971"/>
            <a:ext cx="1852136" cy="714566"/>
            <a:chOff x="0" y="0"/>
            <a:chExt cx="2469515" cy="952754"/>
          </a:xfrm>
        </p:grpSpPr>
        <p:sp>
          <p:nvSpPr>
            <p:cNvPr name="Freeform 229" id="229" descr="preencoded.png"/>
            <p:cNvSpPr/>
            <p:nvPr/>
          </p:nvSpPr>
          <p:spPr>
            <a:xfrm flipH="false" flipV="false" rot="0">
              <a:off x="0" y="0"/>
              <a:ext cx="2469515" cy="952754"/>
            </a:xfrm>
            <a:custGeom>
              <a:avLst/>
              <a:gdLst/>
              <a:ahLst/>
              <a:cxnLst/>
              <a:rect r="r" b="b" t="t" l="l"/>
              <a:pathLst>
                <a:path h="952754" w="2469515">
                  <a:moveTo>
                    <a:pt x="0" y="0"/>
                  </a:moveTo>
                  <a:lnTo>
                    <a:pt x="2469515" y="0"/>
                  </a:lnTo>
                  <a:lnTo>
                    <a:pt x="2469515" y="952754"/>
                  </a:lnTo>
                  <a:lnTo>
                    <a:pt x="0" y="952754"/>
                  </a:lnTo>
                  <a:lnTo>
                    <a:pt x="0" y="0"/>
                  </a:lnTo>
                  <a:close/>
                </a:path>
              </a:pathLst>
            </a:custGeom>
            <a:blipFill>
              <a:blip r:embed="rId41"/>
              <a:stretch>
                <a:fillRect l="0" t="-367" r="0" b="-367"/>
              </a:stretch>
            </a:blipFill>
          </p:spPr>
        </p:sp>
      </p:grpSp>
      <p:grpSp>
        <p:nvGrpSpPr>
          <p:cNvPr name="Group 230" id="230"/>
          <p:cNvGrpSpPr/>
          <p:nvPr/>
        </p:nvGrpSpPr>
        <p:grpSpPr>
          <a:xfrm rot="0">
            <a:off x="0" y="2355275"/>
            <a:ext cx="3966781" cy="7401211"/>
            <a:chOff x="0" y="0"/>
            <a:chExt cx="5289042" cy="9868281"/>
          </a:xfrm>
        </p:grpSpPr>
        <p:sp>
          <p:nvSpPr>
            <p:cNvPr name="Freeform 231" id="231" descr="preencoded.png"/>
            <p:cNvSpPr/>
            <p:nvPr/>
          </p:nvSpPr>
          <p:spPr>
            <a:xfrm flipH="false" flipV="false" rot="0">
              <a:off x="0" y="0"/>
              <a:ext cx="5289042" cy="9868281"/>
            </a:xfrm>
            <a:custGeom>
              <a:avLst/>
              <a:gdLst/>
              <a:ahLst/>
              <a:cxnLst/>
              <a:rect r="r" b="b" t="t" l="l"/>
              <a:pathLst>
                <a:path h="9868281" w="5289042">
                  <a:moveTo>
                    <a:pt x="0" y="0"/>
                  </a:moveTo>
                  <a:lnTo>
                    <a:pt x="5289042" y="0"/>
                  </a:lnTo>
                  <a:lnTo>
                    <a:pt x="5289042" y="9868281"/>
                  </a:lnTo>
                  <a:lnTo>
                    <a:pt x="0" y="9868281"/>
                  </a:lnTo>
                  <a:lnTo>
                    <a:pt x="0" y="0"/>
                  </a:lnTo>
                  <a:close/>
                </a:path>
              </a:pathLst>
            </a:custGeom>
            <a:blipFill>
              <a:blip r:embed="rId42"/>
              <a:stretch>
                <a:fillRect l="-13" t="0" r="-13" b="0"/>
              </a:stretch>
            </a:blipFill>
          </p:spPr>
        </p:sp>
      </p:grpSp>
      <p:grpSp>
        <p:nvGrpSpPr>
          <p:cNvPr name="Group 232" id="232"/>
          <p:cNvGrpSpPr/>
          <p:nvPr/>
        </p:nvGrpSpPr>
        <p:grpSpPr>
          <a:xfrm rot="0">
            <a:off x="386467" y="8793994"/>
            <a:ext cx="955262" cy="58293"/>
            <a:chOff x="0" y="0"/>
            <a:chExt cx="1273683" cy="77724"/>
          </a:xfrm>
        </p:grpSpPr>
        <p:sp>
          <p:nvSpPr>
            <p:cNvPr name="Freeform 233" id="233" descr="preencoded.png"/>
            <p:cNvSpPr/>
            <p:nvPr/>
          </p:nvSpPr>
          <p:spPr>
            <a:xfrm flipH="false" flipV="false" rot="0">
              <a:off x="0" y="0"/>
              <a:ext cx="1273683" cy="77724"/>
            </a:xfrm>
            <a:custGeom>
              <a:avLst/>
              <a:gdLst/>
              <a:ahLst/>
              <a:cxnLst/>
              <a:rect r="r" b="b" t="t" l="l"/>
              <a:pathLst>
                <a:path h="77724" w="1273683">
                  <a:moveTo>
                    <a:pt x="0" y="0"/>
                  </a:moveTo>
                  <a:lnTo>
                    <a:pt x="1273683" y="0"/>
                  </a:lnTo>
                  <a:lnTo>
                    <a:pt x="1273683" y="77724"/>
                  </a:lnTo>
                  <a:lnTo>
                    <a:pt x="0" y="77724"/>
                  </a:lnTo>
                  <a:lnTo>
                    <a:pt x="0" y="0"/>
                  </a:lnTo>
                  <a:close/>
                </a:path>
              </a:pathLst>
            </a:custGeom>
            <a:blipFill>
              <a:blip r:embed="rId43"/>
              <a:stretch>
                <a:fillRect l="0" t="-5555" r="0" b="-5539"/>
              </a:stretch>
            </a:blipFill>
          </p:spPr>
        </p:sp>
      </p:grpSp>
      <p:sp>
        <p:nvSpPr>
          <p:cNvPr name="Freeform 234" id="234"/>
          <p:cNvSpPr/>
          <p:nvPr/>
        </p:nvSpPr>
        <p:spPr>
          <a:xfrm flipH="false" flipV="false" rot="0">
            <a:off x="3221184" y="2484711"/>
            <a:ext cx="5968413" cy="3058906"/>
          </a:xfrm>
          <a:custGeom>
            <a:avLst/>
            <a:gdLst/>
            <a:ahLst/>
            <a:cxnLst/>
            <a:rect r="r" b="b" t="t" l="l"/>
            <a:pathLst>
              <a:path h="3058906" w="5968413">
                <a:moveTo>
                  <a:pt x="0" y="0"/>
                </a:moveTo>
                <a:lnTo>
                  <a:pt x="5968412" y="0"/>
                </a:lnTo>
                <a:lnTo>
                  <a:pt x="5968412" y="3058906"/>
                </a:lnTo>
                <a:lnTo>
                  <a:pt x="0" y="3058906"/>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grpSp>
        <p:nvGrpSpPr>
          <p:cNvPr name="Group 235" id="235"/>
          <p:cNvGrpSpPr/>
          <p:nvPr/>
        </p:nvGrpSpPr>
        <p:grpSpPr>
          <a:xfrm rot="0">
            <a:off x="3718855" y="3201133"/>
            <a:ext cx="1655254" cy="1655254"/>
            <a:chOff x="0" y="0"/>
            <a:chExt cx="2207006" cy="2207006"/>
          </a:xfrm>
        </p:grpSpPr>
        <p:sp>
          <p:nvSpPr>
            <p:cNvPr name="Freeform 236" id="236" descr="preencoded.png"/>
            <p:cNvSpPr/>
            <p:nvPr/>
          </p:nvSpPr>
          <p:spPr>
            <a:xfrm flipH="false" flipV="false" rot="0">
              <a:off x="0" y="0"/>
              <a:ext cx="2207006" cy="2207006"/>
            </a:xfrm>
            <a:custGeom>
              <a:avLst/>
              <a:gdLst/>
              <a:ahLst/>
              <a:cxnLst/>
              <a:rect r="r" b="b" t="t" l="l"/>
              <a:pathLst>
                <a:path h="2207006" w="2207006">
                  <a:moveTo>
                    <a:pt x="0" y="0"/>
                  </a:moveTo>
                  <a:lnTo>
                    <a:pt x="2207006" y="0"/>
                  </a:lnTo>
                  <a:lnTo>
                    <a:pt x="2207006" y="2207006"/>
                  </a:lnTo>
                  <a:lnTo>
                    <a:pt x="0" y="2207006"/>
                  </a:lnTo>
                  <a:lnTo>
                    <a:pt x="0" y="0"/>
                  </a:lnTo>
                  <a:close/>
                </a:path>
              </a:pathLst>
            </a:custGeom>
            <a:blipFill>
              <a:blip r:embed="rId46"/>
              <a:stretch>
                <a:fillRect l="0" t="0" r="0" b="0"/>
              </a:stretch>
            </a:blipFill>
          </p:spPr>
        </p:sp>
      </p:grpSp>
      <p:sp>
        <p:nvSpPr>
          <p:cNvPr name="Freeform 237" id="237"/>
          <p:cNvSpPr/>
          <p:nvPr/>
        </p:nvSpPr>
        <p:spPr>
          <a:xfrm flipH="false" flipV="false" rot="0">
            <a:off x="3508296" y="2779109"/>
            <a:ext cx="530485" cy="537820"/>
          </a:xfrm>
          <a:custGeom>
            <a:avLst/>
            <a:gdLst/>
            <a:ahLst/>
            <a:cxnLst/>
            <a:rect r="r" b="b" t="t" l="l"/>
            <a:pathLst>
              <a:path h="537820" w="530485">
                <a:moveTo>
                  <a:pt x="0" y="0"/>
                </a:moveTo>
                <a:lnTo>
                  <a:pt x="530485" y="0"/>
                </a:lnTo>
                <a:lnTo>
                  <a:pt x="530485" y="537820"/>
                </a:lnTo>
                <a:lnTo>
                  <a:pt x="0" y="537820"/>
                </a:lnTo>
                <a:lnTo>
                  <a:pt x="0" y="0"/>
                </a:lnTo>
                <a:close/>
              </a:path>
            </a:pathLst>
          </a:custGeom>
          <a:blipFill>
            <a:blip r:embed="rId47">
              <a:extLst>
                <a:ext uri="{96DAC541-7B7A-43D3-8B79-37D633B846F1}">
                  <asvg:svgBlip xmlns:asvg="http://schemas.microsoft.com/office/drawing/2016/SVG/main" r:embed="rId48"/>
                </a:ext>
              </a:extLst>
            </a:blip>
            <a:stretch>
              <a:fillRect l="0" t="0" r="0" b="0"/>
            </a:stretch>
          </a:blipFill>
        </p:spPr>
      </p:sp>
      <p:grpSp>
        <p:nvGrpSpPr>
          <p:cNvPr name="Group 238" id="238"/>
          <p:cNvGrpSpPr/>
          <p:nvPr/>
        </p:nvGrpSpPr>
        <p:grpSpPr>
          <a:xfrm rot="0">
            <a:off x="3609470" y="2887580"/>
            <a:ext cx="328136" cy="482641"/>
            <a:chOff x="0" y="0"/>
            <a:chExt cx="437515" cy="643522"/>
          </a:xfrm>
        </p:grpSpPr>
        <p:sp>
          <p:nvSpPr>
            <p:cNvPr name="Freeform 239" id="239"/>
            <p:cNvSpPr/>
            <p:nvPr/>
          </p:nvSpPr>
          <p:spPr>
            <a:xfrm flipH="false" flipV="false" rot="0">
              <a:off x="0" y="0"/>
              <a:ext cx="437515" cy="643509"/>
            </a:xfrm>
            <a:custGeom>
              <a:avLst/>
              <a:gdLst/>
              <a:ahLst/>
              <a:cxnLst/>
              <a:rect r="r" b="b" t="t" l="l"/>
              <a:pathLst>
                <a:path h="643509" w="437515">
                  <a:moveTo>
                    <a:pt x="0" y="0"/>
                  </a:moveTo>
                  <a:lnTo>
                    <a:pt x="437515" y="0"/>
                  </a:lnTo>
                  <a:lnTo>
                    <a:pt x="437515" y="643509"/>
                  </a:lnTo>
                  <a:lnTo>
                    <a:pt x="0" y="643509"/>
                  </a:lnTo>
                  <a:close/>
                </a:path>
              </a:pathLst>
            </a:custGeom>
            <a:blipFill>
              <a:blip r:embed="rId8">
                <a:alphaModFix amt="0"/>
              </a:blip>
              <a:stretch>
                <a:fillRect l="-138847" t="0" r="-138847" b="-1"/>
              </a:stretch>
            </a:blipFill>
          </p:spPr>
        </p:sp>
      </p:grpSp>
      <p:grpSp>
        <p:nvGrpSpPr>
          <p:cNvPr name="Group 240" id="240"/>
          <p:cNvGrpSpPr/>
          <p:nvPr/>
        </p:nvGrpSpPr>
        <p:grpSpPr>
          <a:xfrm rot="0">
            <a:off x="3631344" y="2861239"/>
            <a:ext cx="328136" cy="425501"/>
            <a:chOff x="0" y="0"/>
            <a:chExt cx="437515" cy="567334"/>
          </a:xfrm>
        </p:grpSpPr>
        <p:sp>
          <p:nvSpPr>
            <p:cNvPr name="Freeform 241" id="241"/>
            <p:cNvSpPr/>
            <p:nvPr/>
          </p:nvSpPr>
          <p:spPr>
            <a:xfrm flipH="false" flipV="false" rot="0">
              <a:off x="0" y="0"/>
              <a:ext cx="437515" cy="567333"/>
            </a:xfrm>
            <a:custGeom>
              <a:avLst/>
              <a:gdLst/>
              <a:ahLst/>
              <a:cxnLst/>
              <a:rect r="r" b="b" t="t" l="l"/>
              <a:pathLst>
                <a:path h="567333" w="437515">
                  <a:moveTo>
                    <a:pt x="0" y="0"/>
                  </a:moveTo>
                  <a:lnTo>
                    <a:pt x="437515" y="0"/>
                  </a:lnTo>
                  <a:lnTo>
                    <a:pt x="437515" y="567333"/>
                  </a:lnTo>
                  <a:lnTo>
                    <a:pt x="0" y="567333"/>
                  </a:lnTo>
                  <a:close/>
                </a:path>
              </a:pathLst>
            </a:custGeom>
            <a:blipFill>
              <a:blip r:embed="rId9">
                <a:alphaModFix amt="0"/>
              </a:blip>
              <a:stretch>
                <a:fillRect l="-116373" t="0" r="-116373" b="0"/>
              </a:stretch>
            </a:blipFill>
          </p:spPr>
        </p:sp>
        <p:sp>
          <p:nvSpPr>
            <p:cNvPr name="TextBox 242" id="242"/>
            <p:cNvSpPr txBox="true"/>
            <p:nvPr/>
          </p:nvSpPr>
          <p:spPr>
            <a:xfrm>
              <a:off x="0" y="76200"/>
              <a:ext cx="437515" cy="491134"/>
            </a:xfrm>
            <a:prstGeom prst="rect">
              <a:avLst/>
            </a:prstGeom>
          </p:spPr>
          <p:txBody>
            <a:bodyPr anchor="ctr" rtlCol="false" tIns="0" lIns="0" bIns="0" rIns="0"/>
            <a:lstStyle/>
            <a:p>
              <a:pPr algn="l">
                <a:lnSpc>
                  <a:spcPts val="1894"/>
                </a:lnSpc>
              </a:pPr>
              <a:r>
                <a:rPr lang="en-US" sz="2239" b="true">
                  <a:solidFill>
                    <a:srgbClr val="F9D6BD"/>
                  </a:solidFill>
                  <a:latin typeface="TT Commons Pro Bold"/>
                  <a:ea typeface="TT Commons Pro Bold"/>
                  <a:cs typeface="TT Commons Pro Bold"/>
                  <a:sym typeface="TT Commons Pro Bold"/>
                </a:rPr>
                <a:t>01</a:t>
              </a:r>
            </a:p>
          </p:txBody>
        </p:sp>
      </p:grpSp>
      <p:grpSp>
        <p:nvGrpSpPr>
          <p:cNvPr name="Group 243" id="243"/>
          <p:cNvGrpSpPr/>
          <p:nvPr/>
        </p:nvGrpSpPr>
        <p:grpSpPr>
          <a:xfrm rot="0">
            <a:off x="5388693" y="3544024"/>
            <a:ext cx="3689728" cy="1749685"/>
            <a:chOff x="0" y="0"/>
            <a:chExt cx="4919637" cy="2332914"/>
          </a:xfrm>
        </p:grpSpPr>
        <p:sp>
          <p:nvSpPr>
            <p:cNvPr name="Freeform 244" id="244"/>
            <p:cNvSpPr/>
            <p:nvPr/>
          </p:nvSpPr>
          <p:spPr>
            <a:xfrm flipH="false" flipV="false" rot="0">
              <a:off x="0" y="0"/>
              <a:ext cx="4919599" cy="2332863"/>
            </a:xfrm>
            <a:custGeom>
              <a:avLst/>
              <a:gdLst/>
              <a:ahLst/>
              <a:cxnLst/>
              <a:rect r="r" b="b" t="t" l="l"/>
              <a:pathLst>
                <a:path h="2332863" w="4919599">
                  <a:moveTo>
                    <a:pt x="0" y="0"/>
                  </a:moveTo>
                  <a:lnTo>
                    <a:pt x="4919599" y="0"/>
                  </a:lnTo>
                  <a:lnTo>
                    <a:pt x="4919599" y="2332863"/>
                  </a:lnTo>
                  <a:lnTo>
                    <a:pt x="0" y="2332863"/>
                  </a:lnTo>
                  <a:close/>
                </a:path>
              </a:pathLst>
            </a:custGeom>
            <a:blipFill>
              <a:blip r:embed="rId8">
                <a:alphaModFix amt="0"/>
              </a:blip>
              <a:stretch>
                <a:fillRect l="-10884" t="0" r="-10885" b="-2"/>
              </a:stretch>
            </a:blipFill>
          </p:spPr>
        </p:sp>
      </p:grpSp>
      <p:grpSp>
        <p:nvGrpSpPr>
          <p:cNvPr name="Group 245" id="245"/>
          <p:cNvGrpSpPr/>
          <p:nvPr/>
        </p:nvGrpSpPr>
        <p:grpSpPr>
          <a:xfrm rot="0">
            <a:off x="5388693" y="3508305"/>
            <a:ext cx="3689728" cy="1785404"/>
            <a:chOff x="0" y="0"/>
            <a:chExt cx="4919637" cy="2380539"/>
          </a:xfrm>
        </p:grpSpPr>
        <p:sp>
          <p:nvSpPr>
            <p:cNvPr name="Freeform 246" id="246"/>
            <p:cNvSpPr/>
            <p:nvPr/>
          </p:nvSpPr>
          <p:spPr>
            <a:xfrm flipH="false" flipV="false" rot="0">
              <a:off x="0" y="0"/>
              <a:ext cx="4919637" cy="2380540"/>
            </a:xfrm>
            <a:custGeom>
              <a:avLst/>
              <a:gdLst/>
              <a:ahLst/>
              <a:cxnLst/>
              <a:rect r="r" b="b" t="t" l="l"/>
              <a:pathLst>
                <a:path h="2380540" w="4919637">
                  <a:moveTo>
                    <a:pt x="0" y="0"/>
                  </a:moveTo>
                  <a:lnTo>
                    <a:pt x="4919637" y="0"/>
                  </a:lnTo>
                  <a:lnTo>
                    <a:pt x="4919637" y="2380540"/>
                  </a:lnTo>
                  <a:lnTo>
                    <a:pt x="0" y="2380540"/>
                  </a:lnTo>
                  <a:close/>
                </a:path>
              </a:pathLst>
            </a:custGeom>
            <a:blipFill>
              <a:blip r:embed="rId9">
                <a:alphaModFix amt="0"/>
              </a:blip>
              <a:stretch>
                <a:fillRect l="-12084" t="0" r="-12084" b="0"/>
              </a:stretch>
            </a:blipFill>
          </p:spPr>
        </p:sp>
        <p:sp>
          <p:nvSpPr>
            <p:cNvPr name="TextBox 247" id="247"/>
            <p:cNvSpPr txBox="true"/>
            <p:nvPr/>
          </p:nvSpPr>
          <p:spPr>
            <a:xfrm>
              <a:off x="0" y="-47625"/>
              <a:ext cx="4919637" cy="2428164"/>
            </a:xfrm>
            <a:prstGeom prst="rect">
              <a:avLst/>
            </a:prstGeom>
          </p:spPr>
          <p:txBody>
            <a:bodyPr anchor="ctr" rtlCol="false" tIns="0" lIns="0" bIns="0" rIns="0"/>
            <a:lstStyle/>
            <a:p>
              <a:pPr algn="l">
                <a:lnSpc>
                  <a:spcPts val="2399"/>
                </a:lnSpc>
              </a:pPr>
              <a:r>
                <a:rPr lang="en-US" sz="1599">
                  <a:solidFill>
                    <a:srgbClr val="646464"/>
                  </a:solidFill>
                  <a:latin typeface="TT Commons Pro"/>
                  <a:ea typeface="TT Commons Pro"/>
                  <a:cs typeface="TT Commons Pro"/>
                  <a:sym typeface="TT Commons Pro"/>
                </a:rPr>
                <a:t> Restaurants located farther away require more travel time for deliveries. This highlights the importance of location in ensuring efficient food delivery.</a:t>
              </a:r>
            </a:p>
            <a:p>
              <a:pPr algn="l">
                <a:lnSpc>
                  <a:spcPts val="2399"/>
                </a:lnSpc>
              </a:pPr>
            </a:p>
          </p:txBody>
        </p:sp>
      </p:grpSp>
      <p:grpSp>
        <p:nvGrpSpPr>
          <p:cNvPr name="Group 248" id="248"/>
          <p:cNvGrpSpPr/>
          <p:nvPr/>
        </p:nvGrpSpPr>
        <p:grpSpPr>
          <a:xfrm rot="0">
            <a:off x="5337743" y="2817828"/>
            <a:ext cx="3864597" cy="2206247"/>
            <a:chOff x="0" y="0"/>
            <a:chExt cx="5152796" cy="2941663"/>
          </a:xfrm>
        </p:grpSpPr>
        <p:sp>
          <p:nvSpPr>
            <p:cNvPr name="Freeform 249" id="249"/>
            <p:cNvSpPr/>
            <p:nvPr/>
          </p:nvSpPr>
          <p:spPr>
            <a:xfrm flipH="false" flipV="false" rot="0">
              <a:off x="0" y="0"/>
              <a:ext cx="5152771" cy="2941701"/>
            </a:xfrm>
            <a:custGeom>
              <a:avLst/>
              <a:gdLst/>
              <a:ahLst/>
              <a:cxnLst/>
              <a:rect r="r" b="b" t="t" l="l"/>
              <a:pathLst>
                <a:path h="2941701" w="5152771">
                  <a:moveTo>
                    <a:pt x="0" y="0"/>
                  </a:moveTo>
                  <a:lnTo>
                    <a:pt x="5152771" y="0"/>
                  </a:lnTo>
                  <a:lnTo>
                    <a:pt x="5152771" y="2941701"/>
                  </a:lnTo>
                  <a:lnTo>
                    <a:pt x="0" y="2941701"/>
                  </a:lnTo>
                  <a:close/>
                </a:path>
              </a:pathLst>
            </a:custGeom>
            <a:blipFill>
              <a:blip r:embed="rId8">
                <a:alphaModFix amt="0"/>
              </a:blip>
              <a:stretch>
                <a:fillRect l="-23298" t="0" r="-23298" b="1"/>
              </a:stretch>
            </a:blipFill>
          </p:spPr>
        </p:sp>
      </p:grpSp>
      <p:grpSp>
        <p:nvGrpSpPr>
          <p:cNvPr name="Group 250" id="250"/>
          <p:cNvGrpSpPr/>
          <p:nvPr/>
        </p:nvGrpSpPr>
        <p:grpSpPr>
          <a:xfrm rot="0">
            <a:off x="5337743" y="2832116"/>
            <a:ext cx="3864597" cy="2191979"/>
            <a:chOff x="0" y="0"/>
            <a:chExt cx="5152796" cy="2922638"/>
          </a:xfrm>
        </p:grpSpPr>
        <p:sp>
          <p:nvSpPr>
            <p:cNvPr name="Freeform 251" id="251"/>
            <p:cNvSpPr/>
            <p:nvPr/>
          </p:nvSpPr>
          <p:spPr>
            <a:xfrm flipH="false" flipV="false" rot="0">
              <a:off x="0" y="0"/>
              <a:ext cx="5152796" cy="2922634"/>
            </a:xfrm>
            <a:custGeom>
              <a:avLst/>
              <a:gdLst/>
              <a:ahLst/>
              <a:cxnLst/>
              <a:rect r="r" b="b" t="t" l="l"/>
              <a:pathLst>
                <a:path h="2922634" w="5152796">
                  <a:moveTo>
                    <a:pt x="0" y="0"/>
                  </a:moveTo>
                  <a:lnTo>
                    <a:pt x="5152796" y="0"/>
                  </a:lnTo>
                  <a:lnTo>
                    <a:pt x="5152796" y="2922634"/>
                  </a:lnTo>
                  <a:lnTo>
                    <a:pt x="0" y="2922634"/>
                  </a:lnTo>
                  <a:close/>
                </a:path>
              </a:pathLst>
            </a:custGeom>
            <a:blipFill>
              <a:blip r:embed="rId9">
                <a:alphaModFix amt="0"/>
              </a:blip>
              <a:stretch>
                <a:fillRect l="-22773" t="0" r="-22773" b="0"/>
              </a:stretch>
            </a:blipFill>
          </p:spPr>
        </p:sp>
        <p:sp>
          <p:nvSpPr>
            <p:cNvPr name="TextBox 252" id="252"/>
            <p:cNvSpPr txBox="true"/>
            <p:nvPr/>
          </p:nvSpPr>
          <p:spPr>
            <a:xfrm>
              <a:off x="0" y="19050"/>
              <a:ext cx="5152796" cy="2903588"/>
            </a:xfrm>
            <a:prstGeom prst="rect">
              <a:avLst/>
            </a:prstGeom>
          </p:spPr>
          <p:txBody>
            <a:bodyPr anchor="ctr" rtlCol="false" tIns="0" lIns="0" bIns="0" rIns="0"/>
            <a:lstStyle/>
            <a:p>
              <a:pPr algn="l">
                <a:lnSpc>
                  <a:spcPts val="2268"/>
                </a:lnSpc>
              </a:pPr>
              <a:r>
                <a:rPr lang="en-US" sz="2100" b="true">
                  <a:solidFill>
                    <a:srgbClr val="E88552"/>
                  </a:solidFill>
                  <a:latin typeface="TT Commons Pro Bold"/>
                  <a:ea typeface="TT Commons Pro Bold"/>
                  <a:cs typeface="TT Commons Pro Bold"/>
                  <a:sym typeface="TT Commons Pro Bold"/>
                </a:rPr>
                <a:t>Delivery time increases with distance from the city center</a:t>
              </a:r>
            </a:p>
            <a:p>
              <a:pPr algn="l">
                <a:lnSpc>
                  <a:spcPts val="2268"/>
                </a:lnSpc>
              </a:pPr>
            </a:p>
            <a:p>
              <a:pPr algn="l">
                <a:lnSpc>
                  <a:spcPts val="2268"/>
                </a:lnSpc>
              </a:pPr>
            </a:p>
            <a:p>
              <a:pPr algn="l">
                <a:lnSpc>
                  <a:spcPts val="2268"/>
                </a:lnSpc>
              </a:pPr>
            </a:p>
            <a:p>
              <a:pPr algn="l">
                <a:lnSpc>
                  <a:spcPts val="2268"/>
                </a:lnSpc>
              </a:pPr>
            </a:p>
            <a:p>
              <a:pPr algn="l">
                <a:lnSpc>
                  <a:spcPts val="2268"/>
                </a:lnSpc>
              </a:pPr>
            </a:p>
          </p:txBody>
        </p:sp>
      </p:grpSp>
      <p:grpSp>
        <p:nvGrpSpPr>
          <p:cNvPr name="Group 253" id="253"/>
          <p:cNvGrpSpPr/>
          <p:nvPr/>
        </p:nvGrpSpPr>
        <p:grpSpPr>
          <a:xfrm rot="0">
            <a:off x="102089" y="2355275"/>
            <a:ext cx="2996946" cy="5818918"/>
            <a:chOff x="0" y="0"/>
            <a:chExt cx="3995928" cy="7758557"/>
          </a:xfrm>
        </p:grpSpPr>
        <p:sp>
          <p:nvSpPr>
            <p:cNvPr name="Freeform 254" id="254" descr="preencoded.png"/>
            <p:cNvSpPr/>
            <p:nvPr/>
          </p:nvSpPr>
          <p:spPr>
            <a:xfrm flipH="false" flipV="false" rot="0">
              <a:off x="0" y="0"/>
              <a:ext cx="3995928" cy="7758557"/>
            </a:xfrm>
            <a:custGeom>
              <a:avLst/>
              <a:gdLst/>
              <a:ahLst/>
              <a:cxnLst/>
              <a:rect r="r" b="b" t="t" l="l"/>
              <a:pathLst>
                <a:path h="7758557" w="3995928">
                  <a:moveTo>
                    <a:pt x="0" y="0"/>
                  </a:moveTo>
                  <a:lnTo>
                    <a:pt x="3995928" y="0"/>
                  </a:lnTo>
                  <a:lnTo>
                    <a:pt x="3995928" y="7758557"/>
                  </a:lnTo>
                  <a:lnTo>
                    <a:pt x="0" y="7758557"/>
                  </a:lnTo>
                  <a:lnTo>
                    <a:pt x="0" y="0"/>
                  </a:lnTo>
                  <a:close/>
                </a:path>
              </a:pathLst>
            </a:custGeom>
            <a:blipFill>
              <a:blip r:embed="rId49"/>
              <a:stretch>
                <a:fillRect l="0" t="-41" r="0" b="-41"/>
              </a:stretch>
            </a:blipFill>
          </p:spPr>
        </p:sp>
      </p:grpSp>
      <p:sp>
        <p:nvSpPr>
          <p:cNvPr name="Freeform 255" id="255"/>
          <p:cNvSpPr/>
          <p:nvPr/>
        </p:nvSpPr>
        <p:spPr>
          <a:xfrm flipH="false" flipV="false" rot="0">
            <a:off x="3191104" y="5612006"/>
            <a:ext cx="5984758" cy="2827411"/>
          </a:xfrm>
          <a:custGeom>
            <a:avLst/>
            <a:gdLst/>
            <a:ahLst/>
            <a:cxnLst/>
            <a:rect r="r" b="b" t="t" l="l"/>
            <a:pathLst>
              <a:path h="2827411" w="5984758">
                <a:moveTo>
                  <a:pt x="0" y="0"/>
                </a:moveTo>
                <a:lnTo>
                  <a:pt x="5984757" y="0"/>
                </a:lnTo>
                <a:lnTo>
                  <a:pt x="5984757" y="2827411"/>
                </a:lnTo>
                <a:lnTo>
                  <a:pt x="0" y="2827411"/>
                </a:lnTo>
                <a:lnTo>
                  <a:pt x="0" y="0"/>
                </a:lnTo>
                <a:close/>
              </a:path>
            </a:pathLst>
          </a:custGeom>
          <a:blipFill>
            <a:blip r:embed="rId50">
              <a:extLst>
                <a:ext uri="{96DAC541-7B7A-43D3-8B79-37D633B846F1}">
                  <asvg:svgBlip xmlns:asvg="http://schemas.microsoft.com/office/drawing/2016/SVG/main" r:embed="rId51"/>
                </a:ext>
              </a:extLst>
            </a:blip>
            <a:stretch>
              <a:fillRect l="0" t="0" r="0" b="0"/>
            </a:stretch>
          </a:blipFill>
        </p:spPr>
      </p:sp>
      <p:grpSp>
        <p:nvGrpSpPr>
          <p:cNvPr name="Group 256" id="256"/>
          <p:cNvGrpSpPr/>
          <p:nvPr/>
        </p:nvGrpSpPr>
        <p:grpSpPr>
          <a:xfrm rot="0">
            <a:off x="1436494" y="5622026"/>
            <a:ext cx="2493836" cy="3944874"/>
            <a:chOff x="0" y="0"/>
            <a:chExt cx="3325114" cy="5259832"/>
          </a:xfrm>
        </p:grpSpPr>
        <p:sp>
          <p:nvSpPr>
            <p:cNvPr name="Freeform 257" id="257" descr="preencoded.png"/>
            <p:cNvSpPr/>
            <p:nvPr/>
          </p:nvSpPr>
          <p:spPr>
            <a:xfrm flipH="false" flipV="false" rot="0">
              <a:off x="0" y="0"/>
              <a:ext cx="3325114" cy="5259832"/>
            </a:xfrm>
            <a:custGeom>
              <a:avLst/>
              <a:gdLst/>
              <a:ahLst/>
              <a:cxnLst/>
              <a:rect r="r" b="b" t="t" l="l"/>
              <a:pathLst>
                <a:path h="5259832" w="3325114">
                  <a:moveTo>
                    <a:pt x="0" y="0"/>
                  </a:moveTo>
                  <a:lnTo>
                    <a:pt x="3325114" y="0"/>
                  </a:lnTo>
                  <a:lnTo>
                    <a:pt x="3325114" y="5259832"/>
                  </a:lnTo>
                  <a:lnTo>
                    <a:pt x="0" y="5259832"/>
                  </a:lnTo>
                  <a:lnTo>
                    <a:pt x="0" y="0"/>
                  </a:lnTo>
                  <a:close/>
                </a:path>
              </a:pathLst>
            </a:custGeom>
            <a:blipFill>
              <a:blip r:embed="rId52"/>
              <a:stretch>
                <a:fillRect l="-21" t="0" r="-21" b="0"/>
              </a:stretch>
            </a:blipFill>
          </p:spPr>
        </p:sp>
      </p:grpSp>
      <p:grpSp>
        <p:nvGrpSpPr>
          <p:cNvPr name="Group 258" id="258"/>
          <p:cNvGrpSpPr/>
          <p:nvPr/>
        </p:nvGrpSpPr>
        <p:grpSpPr>
          <a:xfrm rot="0">
            <a:off x="3791769" y="6249133"/>
            <a:ext cx="1596962" cy="1596962"/>
            <a:chOff x="0" y="0"/>
            <a:chExt cx="2129282" cy="2129282"/>
          </a:xfrm>
        </p:grpSpPr>
        <p:sp>
          <p:nvSpPr>
            <p:cNvPr name="Freeform 259" id="259" descr="preencoded.png"/>
            <p:cNvSpPr/>
            <p:nvPr/>
          </p:nvSpPr>
          <p:spPr>
            <a:xfrm flipH="false" flipV="false" rot="0">
              <a:off x="0" y="0"/>
              <a:ext cx="2129282" cy="2129282"/>
            </a:xfrm>
            <a:custGeom>
              <a:avLst/>
              <a:gdLst/>
              <a:ahLst/>
              <a:cxnLst/>
              <a:rect r="r" b="b" t="t" l="l"/>
              <a:pathLst>
                <a:path h="2129282" w="2129282">
                  <a:moveTo>
                    <a:pt x="0" y="0"/>
                  </a:moveTo>
                  <a:lnTo>
                    <a:pt x="2129282" y="0"/>
                  </a:lnTo>
                  <a:lnTo>
                    <a:pt x="2129282" y="2129282"/>
                  </a:lnTo>
                  <a:lnTo>
                    <a:pt x="0" y="2129282"/>
                  </a:lnTo>
                  <a:lnTo>
                    <a:pt x="0" y="0"/>
                  </a:lnTo>
                  <a:close/>
                </a:path>
              </a:pathLst>
            </a:custGeom>
            <a:blipFill>
              <a:blip r:embed="rId53"/>
              <a:stretch>
                <a:fillRect l="0" t="0" r="0" b="0"/>
              </a:stretch>
            </a:blipFill>
          </p:spPr>
        </p:sp>
      </p:grpSp>
      <p:sp>
        <p:nvSpPr>
          <p:cNvPr name="Freeform 260" id="260"/>
          <p:cNvSpPr/>
          <p:nvPr/>
        </p:nvSpPr>
        <p:spPr>
          <a:xfrm flipH="false" flipV="false" rot="0">
            <a:off x="3508296" y="5892736"/>
            <a:ext cx="530485" cy="530485"/>
          </a:xfrm>
          <a:custGeom>
            <a:avLst/>
            <a:gdLst/>
            <a:ahLst/>
            <a:cxnLst/>
            <a:rect r="r" b="b" t="t" l="l"/>
            <a:pathLst>
              <a:path h="530485" w="530485">
                <a:moveTo>
                  <a:pt x="0" y="0"/>
                </a:moveTo>
                <a:lnTo>
                  <a:pt x="530485" y="0"/>
                </a:lnTo>
                <a:lnTo>
                  <a:pt x="530485" y="530486"/>
                </a:lnTo>
                <a:lnTo>
                  <a:pt x="0" y="530486"/>
                </a:lnTo>
                <a:lnTo>
                  <a:pt x="0" y="0"/>
                </a:lnTo>
                <a:close/>
              </a:path>
            </a:pathLst>
          </a:custGeom>
          <a:blipFill>
            <a:blip r:embed="rId54">
              <a:extLst>
                <a:ext uri="{96DAC541-7B7A-43D3-8B79-37D633B846F1}">
                  <asvg:svgBlip xmlns:asvg="http://schemas.microsoft.com/office/drawing/2016/SVG/main" r:embed="rId55"/>
                </a:ext>
              </a:extLst>
            </a:blip>
            <a:stretch>
              <a:fillRect l="0" t="0" r="0" b="0"/>
            </a:stretch>
          </a:blipFill>
        </p:spPr>
      </p:sp>
      <p:grpSp>
        <p:nvGrpSpPr>
          <p:cNvPr name="Group 261" id="261"/>
          <p:cNvGrpSpPr/>
          <p:nvPr/>
        </p:nvGrpSpPr>
        <p:grpSpPr>
          <a:xfrm rot="0">
            <a:off x="3594887" y="5993911"/>
            <a:ext cx="371885" cy="524942"/>
            <a:chOff x="0" y="0"/>
            <a:chExt cx="495846" cy="699922"/>
          </a:xfrm>
        </p:grpSpPr>
        <p:sp>
          <p:nvSpPr>
            <p:cNvPr name="Freeform 262" id="262"/>
            <p:cNvSpPr/>
            <p:nvPr/>
          </p:nvSpPr>
          <p:spPr>
            <a:xfrm flipH="false" flipV="false" rot="0">
              <a:off x="0" y="0"/>
              <a:ext cx="495808" cy="699897"/>
            </a:xfrm>
            <a:custGeom>
              <a:avLst/>
              <a:gdLst/>
              <a:ahLst/>
              <a:cxnLst/>
              <a:rect r="r" b="b" t="t" l="l"/>
              <a:pathLst>
                <a:path h="699897" w="495808">
                  <a:moveTo>
                    <a:pt x="0" y="0"/>
                  </a:moveTo>
                  <a:lnTo>
                    <a:pt x="495808" y="0"/>
                  </a:lnTo>
                  <a:lnTo>
                    <a:pt x="495808" y="699897"/>
                  </a:lnTo>
                  <a:lnTo>
                    <a:pt x="0" y="699897"/>
                  </a:lnTo>
                  <a:close/>
                </a:path>
              </a:pathLst>
            </a:custGeom>
            <a:blipFill>
              <a:blip r:embed="rId8">
                <a:alphaModFix amt="0"/>
              </a:blip>
              <a:stretch>
                <a:fillRect l="-131244" t="0" r="-131252" b="-3"/>
              </a:stretch>
            </a:blipFill>
          </p:spPr>
        </p:sp>
      </p:grpSp>
      <p:grpSp>
        <p:nvGrpSpPr>
          <p:cNvPr name="Group 263" id="263"/>
          <p:cNvGrpSpPr/>
          <p:nvPr/>
        </p:nvGrpSpPr>
        <p:grpSpPr>
          <a:xfrm rot="0">
            <a:off x="3609470" y="5926712"/>
            <a:ext cx="371885" cy="446361"/>
            <a:chOff x="0" y="0"/>
            <a:chExt cx="495846" cy="595147"/>
          </a:xfrm>
        </p:grpSpPr>
        <p:sp>
          <p:nvSpPr>
            <p:cNvPr name="Freeform 264" id="264"/>
            <p:cNvSpPr/>
            <p:nvPr/>
          </p:nvSpPr>
          <p:spPr>
            <a:xfrm flipH="false" flipV="false" rot="0">
              <a:off x="0" y="0"/>
              <a:ext cx="495847" cy="595153"/>
            </a:xfrm>
            <a:custGeom>
              <a:avLst/>
              <a:gdLst/>
              <a:ahLst/>
              <a:cxnLst/>
              <a:rect r="r" b="b" t="t" l="l"/>
              <a:pathLst>
                <a:path h="595153" w="495847">
                  <a:moveTo>
                    <a:pt x="0" y="0"/>
                  </a:moveTo>
                  <a:lnTo>
                    <a:pt x="495847" y="0"/>
                  </a:lnTo>
                  <a:lnTo>
                    <a:pt x="495847" y="595153"/>
                  </a:lnTo>
                  <a:lnTo>
                    <a:pt x="0" y="595153"/>
                  </a:lnTo>
                  <a:close/>
                </a:path>
              </a:pathLst>
            </a:custGeom>
            <a:blipFill>
              <a:blip r:embed="rId9">
                <a:alphaModFix amt="0"/>
              </a:blip>
              <a:stretch>
                <a:fillRect l="-103998" t="0" r="-103998" b="0"/>
              </a:stretch>
            </a:blipFill>
          </p:spPr>
        </p:sp>
        <p:sp>
          <p:nvSpPr>
            <p:cNvPr name="TextBox 265" id="265"/>
            <p:cNvSpPr txBox="true"/>
            <p:nvPr/>
          </p:nvSpPr>
          <p:spPr>
            <a:xfrm>
              <a:off x="0" y="104775"/>
              <a:ext cx="495846" cy="490372"/>
            </a:xfrm>
            <a:prstGeom prst="rect">
              <a:avLst/>
            </a:prstGeom>
          </p:spPr>
          <p:txBody>
            <a:bodyPr anchor="ctr" rtlCol="false" tIns="0" lIns="0" bIns="0" rIns="0"/>
            <a:lstStyle/>
            <a:p>
              <a:pPr algn="l">
                <a:lnSpc>
                  <a:spcPts val="1893"/>
                </a:lnSpc>
              </a:pPr>
              <a:r>
                <a:rPr lang="en-US" sz="2434" b="true">
                  <a:solidFill>
                    <a:srgbClr val="F7D4BC"/>
                  </a:solidFill>
                  <a:latin typeface="TT Commons Pro Bold"/>
                  <a:ea typeface="TT Commons Pro Bold"/>
                  <a:cs typeface="TT Commons Pro Bold"/>
                  <a:sym typeface="TT Commons Pro Bold"/>
                </a:rPr>
                <a:t>03</a:t>
              </a:r>
            </a:p>
          </p:txBody>
        </p:sp>
      </p:grpSp>
      <p:grpSp>
        <p:nvGrpSpPr>
          <p:cNvPr name="Group 266" id="266"/>
          <p:cNvGrpSpPr/>
          <p:nvPr/>
        </p:nvGrpSpPr>
        <p:grpSpPr>
          <a:xfrm rot="0">
            <a:off x="5461702" y="6558877"/>
            <a:ext cx="3274047" cy="1566805"/>
            <a:chOff x="0" y="0"/>
            <a:chExt cx="4365396" cy="2089074"/>
          </a:xfrm>
        </p:grpSpPr>
        <p:sp>
          <p:nvSpPr>
            <p:cNvPr name="Freeform 267" id="267"/>
            <p:cNvSpPr/>
            <p:nvPr/>
          </p:nvSpPr>
          <p:spPr>
            <a:xfrm flipH="false" flipV="false" rot="0">
              <a:off x="0" y="0"/>
              <a:ext cx="4365371" cy="2089023"/>
            </a:xfrm>
            <a:custGeom>
              <a:avLst/>
              <a:gdLst/>
              <a:ahLst/>
              <a:cxnLst/>
              <a:rect r="r" b="b" t="t" l="l"/>
              <a:pathLst>
                <a:path h="2089023" w="4365371">
                  <a:moveTo>
                    <a:pt x="0" y="0"/>
                  </a:moveTo>
                  <a:lnTo>
                    <a:pt x="4365371" y="0"/>
                  </a:lnTo>
                  <a:lnTo>
                    <a:pt x="4365371" y="2089023"/>
                  </a:lnTo>
                  <a:lnTo>
                    <a:pt x="0" y="2089023"/>
                  </a:lnTo>
                  <a:close/>
                </a:path>
              </a:pathLst>
            </a:custGeom>
            <a:blipFill>
              <a:blip r:embed="rId8">
                <a:alphaModFix amt="0"/>
              </a:blip>
              <a:stretch>
                <a:fillRect l="-11442" t="0" r="-11443" b="-2"/>
              </a:stretch>
            </a:blipFill>
          </p:spPr>
        </p:sp>
      </p:grpSp>
      <p:grpSp>
        <p:nvGrpSpPr>
          <p:cNvPr name="Group 268" id="268"/>
          <p:cNvGrpSpPr/>
          <p:nvPr/>
        </p:nvGrpSpPr>
        <p:grpSpPr>
          <a:xfrm rot="0">
            <a:off x="5461702" y="6530302"/>
            <a:ext cx="3274047" cy="1595380"/>
            <a:chOff x="0" y="0"/>
            <a:chExt cx="4365396" cy="2127174"/>
          </a:xfrm>
        </p:grpSpPr>
        <p:sp>
          <p:nvSpPr>
            <p:cNvPr name="Freeform 269" id="269"/>
            <p:cNvSpPr/>
            <p:nvPr/>
          </p:nvSpPr>
          <p:spPr>
            <a:xfrm flipH="false" flipV="false" rot="0">
              <a:off x="0" y="0"/>
              <a:ext cx="4365396" cy="2127168"/>
            </a:xfrm>
            <a:custGeom>
              <a:avLst/>
              <a:gdLst/>
              <a:ahLst/>
              <a:cxnLst/>
              <a:rect r="r" b="b" t="t" l="l"/>
              <a:pathLst>
                <a:path h="2127168" w="4365396">
                  <a:moveTo>
                    <a:pt x="0" y="0"/>
                  </a:moveTo>
                  <a:lnTo>
                    <a:pt x="4365396" y="0"/>
                  </a:lnTo>
                  <a:lnTo>
                    <a:pt x="4365396" y="2127168"/>
                  </a:lnTo>
                  <a:lnTo>
                    <a:pt x="0" y="2127168"/>
                  </a:lnTo>
                  <a:close/>
                </a:path>
              </a:pathLst>
            </a:custGeom>
            <a:blipFill>
              <a:blip r:embed="rId9">
                <a:alphaModFix amt="0"/>
              </a:blip>
              <a:stretch>
                <a:fillRect l="-12519" t="0" r="-12519" b="0"/>
              </a:stretch>
            </a:blipFill>
          </p:spPr>
        </p:sp>
        <p:sp>
          <p:nvSpPr>
            <p:cNvPr name="TextBox 270" id="270"/>
            <p:cNvSpPr txBox="true"/>
            <p:nvPr/>
          </p:nvSpPr>
          <p:spPr>
            <a:xfrm>
              <a:off x="0" y="-38100"/>
              <a:ext cx="4365396" cy="2165274"/>
            </a:xfrm>
            <a:prstGeom prst="rect">
              <a:avLst/>
            </a:prstGeom>
          </p:spPr>
          <p:txBody>
            <a:bodyPr anchor="ctr" rtlCol="false" tIns="0" lIns="0" bIns="0" rIns="0"/>
            <a:lstStyle/>
            <a:p>
              <a:pPr algn="l">
                <a:lnSpc>
                  <a:spcPts val="2452"/>
                </a:lnSpc>
              </a:pPr>
              <a:r>
                <a:rPr lang="en-US" sz="1635">
                  <a:solidFill>
                    <a:srgbClr val="616161"/>
                  </a:solidFill>
                  <a:latin typeface="TT Commons Pro"/>
                  <a:ea typeface="TT Commons Pro"/>
                  <a:cs typeface="TT Commons Pro"/>
                  <a:sym typeface="TT Commons Pro"/>
                </a:rPr>
                <a:t>Revenue and monthly orders differ across cities and restaurant types. This highlights the influence of location and restaurant category on overall business performance.</a:t>
              </a:r>
            </a:p>
          </p:txBody>
        </p:sp>
      </p:grpSp>
      <p:grpSp>
        <p:nvGrpSpPr>
          <p:cNvPr name="Group 271" id="271"/>
          <p:cNvGrpSpPr/>
          <p:nvPr/>
        </p:nvGrpSpPr>
        <p:grpSpPr>
          <a:xfrm rot="0">
            <a:off x="5388693" y="5731402"/>
            <a:ext cx="3521697" cy="915514"/>
            <a:chOff x="0" y="0"/>
            <a:chExt cx="4695596" cy="1220686"/>
          </a:xfrm>
        </p:grpSpPr>
        <p:sp>
          <p:nvSpPr>
            <p:cNvPr name="Freeform 272" id="272"/>
            <p:cNvSpPr/>
            <p:nvPr/>
          </p:nvSpPr>
          <p:spPr>
            <a:xfrm flipH="false" flipV="false" rot="0">
              <a:off x="0" y="0"/>
              <a:ext cx="4695571" cy="1220724"/>
            </a:xfrm>
            <a:custGeom>
              <a:avLst/>
              <a:gdLst/>
              <a:ahLst/>
              <a:cxnLst/>
              <a:rect r="r" b="b" t="t" l="l"/>
              <a:pathLst>
                <a:path h="1220724" w="4695571">
                  <a:moveTo>
                    <a:pt x="0" y="0"/>
                  </a:moveTo>
                  <a:lnTo>
                    <a:pt x="4695571" y="0"/>
                  </a:lnTo>
                  <a:lnTo>
                    <a:pt x="4695571" y="1220724"/>
                  </a:lnTo>
                  <a:lnTo>
                    <a:pt x="0" y="1220724"/>
                  </a:lnTo>
                  <a:close/>
                </a:path>
              </a:pathLst>
            </a:custGeom>
            <a:blipFill>
              <a:blip r:embed="rId8">
                <a:alphaModFix amt="0"/>
              </a:blip>
              <a:stretch>
                <a:fillRect l="0" t="-24900" r="0" b="-24897"/>
              </a:stretch>
            </a:blipFill>
          </p:spPr>
        </p:sp>
      </p:grpSp>
      <p:grpSp>
        <p:nvGrpSpPr>
          <p:cNvPr name="Group 273" id="273"/>
          <p:cNvGrpSpPr/>
          <p:nvPr/>
        </p:nvGrpSpPr>
        <p:grpSpPr>
          <a:xfrm rot="0">
            <a:off x="5388693" y="5745690"/>
            <a:ext cx="3521697" cy="901227"/>
            <a:chOff x="0" y="0"/>
            <a:chExt cx="4695596" cy="1201636"/>
          </a:xfrm>
        </p:grpSpPr>
        <p:sp>
          <p:nvSpPr>
            <p:cNvPr name="Freeform 274" id="274"/>
            <p:cNvSpPr/>
            <p:nvPr/>
          </p:nvSpPr>
          <p:spPr>
            <a:xfrm flipH="false" flipV="false" rot="0">
              <a:off x="0" y="0"/>
              <a:ext cx="4695596" cy="1201642"/>
            </a:xfrm>
            <a:custGeom>
              <a:avLst/>
              <a:gdLst/>
              <a:ahLst/>
              <a:cxnLst/>
              <a:rect r="r" b="b" t="t" l="l"/>
              <a:pathLst>
                <a:path h="1201642" w="4695596">
                  <a:moveTo>
                    <a:pt x="0" y="0"/>
                  </a:moveTo>
                  <a:lnTo>
                    <a:pt x="4695596" y="0"/>
                  </a:lnTo>
                  <a:lnTo>
                    <a:pt x="4695596" y="1201642"/>
                  </a:lnTo>
                  <a:lnTo>
                    <a:pt x="0" y="1201642"/>
                  </a:lnTo>
                  <a:close/>
                </a:path>
              </a:pathLst>
            </a:custGeom>
            <a:blipFill>
              <a:blip r:embed="rId9">
                <a:alphaModFix amt="0"/>
              </a:blip>
              <a:stretch>
                <a:fillRect l="0" t="-26140" r="0" b="-26140"/>
              </a:stretch>
            </a:blipFill>
          </p:spPr>
        </p:sp>
        <p:sp>
          <p:nvSpPr>
            <p:cNvPr name="TextBox 275" id="275"/>
            <p:cNvSpPr txBox="true"/>
            <p:nvPr/>
          </p:nvSpPr>
          <p:spPr>
            <a:xfrm>
              <a:off x="0" y="19050"/>
              <a:ext cx="4695596" cy="1182586"/>
            </a:xfrm>
            <a:prstGeom prst="rect">
              <a:avLst/>
            </a:prstGeom>
          </p:spPr>
          <p:txBody>
            <a:bodyPr anchor="ctr" rtlCol="false" tIns="0" lIns="0" bIns="0" rIns="0"/>
            <a:lstStyle/>
            <a:p>
              <a:pPr algn="l">
                <a:lnSpc>
                  <a:spcPts val="2268"/>
                </a:lnSpc>
              </a:pPr>
              <a:r>
                <a:rPr lang="en-US" sz="2100" b="true">
                  <a:solidFill>
                    <a:srgbClr val="E67F4D"/>
                  </a:solidFill>
                  <a:latin typeface="TT Commons Pro Bold"/>
                  <a:ea typeface="TT Commons Pro Bold"/>
                  <a:cs typeface="TT Commons Pro Bold"/>
                  <a:sym typeface="TT Commons Pro Bold"/>
                </a:rPr>
                <a:t> Revenue and Orders by City &amp; Restaurant Type</a:t>
              </a:r>
            </a:p>
          </p:txBody>
        </p:sp>
      </p:grpSp>
      <p:grpSp>
        <p:nvGrpSpPr>
          <p:cNvPr name="Group 276" id="276"/>
          <p:cNvGrpSpPr/>
          <p:nvPr/>
        </p:nvGrpSpPr>
        <p:grpSpPr>
          <a:xfrm rot="0">
            <a:off x="13548284" y="8925239"/>
            <a:ext cx="721900" cy="882301"/>
            <a:chOff x="0" y="0"/>
            <a:chExt cx="962533" cy="1176401"/>
          </a:xfrm>
        </p:grpSpPr>
        <p:sp>
          <p:nvSpPr>
            <p:cNvPr name="Freeform 277" id="277" descr="preencoded.png"/>
            <p:cNvSpPr/>
            <p:nvPr/>
          </p:nvSpPr>
          <p:spPr>
            <a:xfrm flipH="false" flipV="false" rot="0">
              <a:off x="0" y="0"/>
              <a:ext cx="962533" cy="1176401"/>
            </a:xfrm>
            <a:custGeom>
              <a:avLst/>
              <a:gdLst/>
              <a:ahLst/>
              <a:cxnLst/>
              <a:rect r="r" b="b" t="t" l="l"/>
              <a:pathLst>
                <a:path h="1176401" w="962533">
                  <a:moveTo>
                    <a:pt x="0" y="0"/>
                  </a:moveTo>
                  <a:lnTo>
                    <a:pt x="962533" y="0"/>
                  </a:lnTo>
                  <a:lnTo>
                    <a:pt x="962533" y="1176401"/>
                  </a:lnTo>
                  <a:lnTo>
                    <a:pt x="0" y="1176401"/>
                  </a:lnTo>
                  <a:lnTo>
                    <a:pt x="0" y="0"/>
                  </a:lnTo>
                  <a:close/>
                </a:path>
              </a:pathLst>
            </a:custGeom>
            <a:blipFill>
              <a:blip r:embed="rId56"/>
              <a:stretch>
                <a:fillRect l="-457" t="0" r="-457" b="0"/>
              </a:stretch>
            </a:blipFill>
          </p:spPr>
        </p:sp>
      </p:grpSp>
      <p:grpSp>
        <p:nvGrpSpPr>
          <p:cNvPr name="Group 278" id="278"/>
          <p:cNvGrpSpPr/>
          <p:nvPr/>
        </p:nvGrpSpPr>
        <p:grpSpPr>
          <a:xfrm rot="0">
            <a:off x="13293071" y="8925239"/>
            <a:ext cx="29146" cy="875062"/>
            <a:chOff x="0" y="0"/>
            <a:chExt cx="38862" cy="1166749"/>
          </a:xfrm>
        </p:grpSpPr>
        <p:sp>
          <p:nvSpPr>
            <p:cNvPr name="Freeform 279" id="279" descr="preencoded.png"/>
            <p:cNvSpPr/>
            <p:nvPr/>
          </p:nvSpPr>
          <p:spPr>
            <a:xfrm flipH="false" flipV="false" rot="0">
              <a:off x="0" y="0"/>
              <a:ext cx="38862" cy="1166749"/>
            </a:xfrm>
            <a:custGeom>
              <a:avLst/>
              <a:gdLst/>
              <a:ahLst/>
              <a:cxnLst/>
              <a:rect r="r" b="b" t="t" l="l"/>
              <a:pathLst>
                <a:path h="1166749" w="38862">
                  <a:moveTo>
                    <a:pt x="0" y="0"/>
                  </a:moveTo>
                  <a:lnTo>
                    <a:pt x="38862" y="0"/>
                  </a:lnTo>
                  <a:lnTo>
                    <a:pt x="38862" y="1166749"/>
                  </a:lnTo>
                  <a:lnTo>
                    <a:pt x="0" y="1166749"/>
                  </a:lnTo>
                  <a:lnTo>
                    <a:pt x="0" y="0"/>
                  </a:lnTo>
                  <a:close/>
                </a:path>
              </a:pathLst>
            </a:custGeom>
            <a:blipFill>
              <a:blip r:embed="rId57"/>
              <a:stretch>
                <a:fillRect l="-5588" t="0" r="-5620" b="0"/>
              </a:stretch>
            </a:blipFill>
          </p:spPr>
        </p:sp>
      </p:grpSp>
      <p:grpSp>
        <p:nvGrpSpPr>
          <p:cNvPr name="Group 280" id="280"/>
          <p:cNvGrpSpPr/>
          <p:nvPr/>
        </p:nvGrpSpPr>
        <p:grpSpPr>
          <a:xfrm rot="0">
            <a:off x="4345953" y="8910657"/>
            <a:ext cx="845820" cy="831247"/>
            <a:chOff x="0" y="0"/>
            <a:chExt cx="1127760" cy="1108329"/>
          </a:xfrm>
        </p:grpSpPr>
        <p:sp>
          <p:nvSpPr>
            <p:cNvPr name="Freeform 281" id="281" descr="preencoded.png"/>
            <p:cNvSpPr/>
            <p:nvPr/>
          </p:nvSpPr>
          <p:spPr>
            <a:xfrm flipH="false" flipV="false" rot="0">
              <a:off x="0" y="0"/>
              <a:ext cx="1127760" cy="1108329"/>
            </a:xfrm>
            <a:custGeom>
              <a:avLst/>
              <a:gdLst/>
              <a:ahLst/>
              <a:cxnLst/>
              <a:rect r="r" b="b" t="t" l="l"/>
              <a:pathLst>
                <a:path h="1108329" w="1127760">
                  <a:moveTo>
                    <a:pt x="0" y="0"/>
                  </a:moveTo>
                  <a:lnTo>
                    <a:pt x="1127760" y="0"/>
                  </a:lnTo>
                  <a:lnTo>
                    <a:pt x="1127760" y="1108329"/>
                  </a:lnTo>
                  <a:lnTo>
                    <a:pt x="0" y="1108329"/>
                  </a:lnTo>
                  <a:lnTo>
                    <a:pt x="0" y="0"/>
                  </a:lnTo>
                  <a:close/>
                </a:path>
              </a:pathLst>
            </a:custGeom>
            <a:blipFill>
              <a:blip r:embed="rId58"/>
              <a:stretch>
                <a:fillRect l="-92" t="0" r="-93" b="0"/>
              </a:stretch>
            </a:blipFill>
          </p:spPr>
        </p:sp>
      </p:grpSp>
      <p:grpSp>
        <p:nvGrpSpPr>
          <p:cNvPr name="Group 282" id="282"/>
          <p:cNvGrpSpPr/>
          <p:nvPr/>
        </p:nvGrpSpPr>
        <p:grpSpPr>
          <a:xfrm rot="0">
            <a:off x="1750047" y="7700210"/>
            <a:ext cx="291656" cy="466725"/>
            <a:chOff x="0" y="0"/>
            <a:chExt cx="388874" cy="622300"/>
          </a:xfrm>
        </p:grpSpPr>
        <p:sp>
          <p:nvSpPr>
            <p:cNvPr name="Freeform 283" id="283" descr="preencoded.png"/>
            <p:cNvSpPr/>
            <p:nvPr/>
          </p:nvSpPr>
          <p:spPr>
            <a:xfrm flipH="false" flipV="false" rot="0">
              <a:off x="0" y="0"/>
              <a:ext cx="388874" cy="622300"/>
            </a:xfrm>
            <a:custGeom>
              <a:avLst/>
              <a:gdLst/>
              <a:ahLst/>
              <a:cxnLst/>
              <a:rect r="r" b="b" t="t" l="l"/>
              <a:pathLst>
                <a:path h="622300" w="388874">
                  <a:moveTo>
                    <a:pt x="0" y="0"/>
                  </a:moveTo>
                  <a:lnTo>
                    <a:pt x="388874" y="0"/>
                  </a:lnTo>
                  <a:lnTo>
                    <a:pt x="388874" y="622300"/>
                  </a:lnTo>
                  <a:lnTo>
                    <a:pt x="0" y="622300"/>
                  </a:lnTo>
                  <a:lnTo>
                    <a:pt x="0" y="0"/>
                  </a:lnTo>
                  <a:close/>
                </a:path>
              </a:pathLst>
            </a:custGeom>
            <a:blipFill>
              <a:blip r:embed="rId59"/>
              <a:stretch>
                <a:fillRect l="-9320" t="0" r="-9320" b="0"/>
              </a:stretch>
            </a:blipFill>
          </p:spPr>
        </p:sp>
      </p:grpSp>
      <p:grpSp>
        <p:nvGrpSpPr>
          <p:cNvPr name="Group 284" id="284"/>
          <p:cNvGrpSpPr/>
          <p:nvPr/>
        </p:nvGrpSpPr>
        <p:grpSpPr>
          <a:xfrm rot="0">
            <a:off x="809396" y="7459580"/>
            <a:ext cx="284378" cy="174631"/>
            <a:chOff x="0" y="0"/>
            <a:chExt cx="379171" cy="232842"/>
          </a:xfrm>
        </p:grpSpPr>
        <p:sp>
          <p:nvSpPr>
            <p:cNvPr name="Freeform 285" id="285"/>
            <p:cNvSpPr/>
            <p:nvPr/>
          </p:nvSpPr>
          <p:spPr>
            <a:xfrm flipH="false" flipV="false" rot="0">
              <a:off x="0" y="0"/>
              <a:ext cx="379222" cy="232791"/>
            </a:xfrm>
            <a:custGeom>
              <a:avLst/>
              <a:gdLst/>
              <a:ahLst/>
              <a:cxnLst/>
              <a:rect r="r" b="b" t="t" l="l"/>
              <a:pathLst>
                <a:path h="232791" w="379222">
                  <a:moveTo>
                    <a:pt x="0" y="0"/>
                  </a:moveTo>
                  <a:lnTo>
                    <a:pt x="379222" y="0"/>
                  </a:lnTo>
                  <a:lnTo>
                    <a:pt x="379222" y="232791"/>
                  </a:lnTo>
                  <a:lnTo>
                    <a:pt x="0" y="232791"/>
                  </a:lnTo>
                  <a:close/>
                </a:path>
              </a:pathLst>
            </a:custGeom>
            <a:blipFill>
              <a:blip r:embed="rId8">
                <a:alphaModFix amt="0"/>
              </a:blip>
              <a:stretch>
                <a:fillRect l="-28841" t="0" r="-28827" b="-21"/>
              </a:stretch>
            </a:blipFill>
          </p:spPr>
        </p:sp>
      </p:grpSp>
      <p:grpSp>
        <p:nvGrpSpPr>
          <p:cNvPr name="Group 286" id="286"/>
          <p:cNvGrpSpPr/>
          <p:nvPr/>
        </p:nvGrpSpPr>
        <p:grpSpPr>
          <a:xfrm rot="0">
            <a:off x="809396" y="7502442"/>
            <a:ext cx="284378" cy="131769"/>
            <a:chOff x="0" y="0"/>
            <a:chExt cx="379171" cy="175692"/>
          </a:xfrm>
        </p:grpSpPr>
        <p:sp>
          <p:nvSpPr>
            <p:cNvPr name="Freeform 287" id="287"/>
            <p:cNvSpPr/>
            <p:nvPr/>
          </p:nvSpPr>
          <p:spPr>
            <a:xfrm flipH="false" flipV="false" rot="0">
              <a:off x="0" y="0"/>
              <a:ext cx="379171" cy="175694"/>
            </a:xfrm>
            <a:custGeom>
              <a:avLst/>
              <a:gdLst/>
              <a:ahLst/>
              <a:cxnLst/>
              <a:rect r="r" b="b" t="t" l="l"/>
              <a:pathLst>
                <a:path h="175694" w="379171">
                  <a:moveTo>
                    <a:pt x="0" y="0"/>
                  </a:moveTo>
                  <a:lnTo>
                    <a:pt x="379171" y="0"/>
                  </a:lnTo>
                  <a:lnTo>
                    <a:pt x="379171" y="175694"/>
                  </a:lnTo>
                  <a:lnTo>
                    <a:pt x="0" y="175694"/>
                  </a:lnTo>
                  <a:close/>
                </a:path>
              </a:pathLst>
            </a:custGeom>
            <a:blipFill>
              <a:blip r:embed="rId9">
                <a:alphaModFix amt="0"/>
              </a:blip>
              <a:stretch>
                <a:fillRect l="-9450" t="0" r="-9450" b="1"/>
              </a:stretch>
            </a:blipFill>
          </p:spPr>
        </p:sp>
        <p:sp>
          <p:nvSpPr>
            <p:cNvPr name="TextBox 288" id="288"/>
            <p:cNvSpPr txBox="true"/>
            <p:nvPr/>
          </p:nvSpPr>
          <p:spPr>
            <a:xfrm>
              <a:off x="0" y="57150"/>
              <a:ext cx="379171" cy="118542"/>
            </a:xfrm>
            <a:prstGeom prst="rect">
              <a:avLst/>
            </a:prstGeom>
          </p:spPr>
          <p:txBody>
            <a:bodyPr anchor="ctr" rtlCol="false" tIns="0" lIns="0" bIns="0" rIns="0"/>
            <a:lstStyle/>
            <a:p>
              <a:pPr algn="l">
                <a:lnSpc>
                  <a:spcPts val="459"/>
                </a:lnSpc>
              </a:pPr>
              <a:r>
                <a:rPr lang="en-US" sz="811">
                  <a:solidFill>
                    <a:srgbClr val="C38B79"/>
                  </a:solidFill>
                  <a:latin typeface="TT Commons Pro"/>
                  <a:ea typeface="TT Commons Pro"/>
                  <a:cs typeface="TT Commons Pro"/>
                  <a:sym typeface="TT Commons Pro"/>
                </a:rPr>
                <a:t>Home</a:t>
              </a:r>
            </a:p>
          </p:txBody>
        </p:sp>
      </p:grpSp>
      <p:grpSp>
        <p:nvGrpSpPr>
          <p:cNvPr name="Group 289" id="289"/>
          <p:cNvGrpSpPr/>
          <p:nvPr/>
        </p:nvGrpSpPr>
        <p:grpSpPr>
          <a:xfrm rot="0">
            <a:off x="1713586" y="7102278"/>
            <a:ext cx="269843" cy="284416"/>
            <a:chOff x="0" y="0"/>
            <a:chExt cx="359791" cy="379222"/>
          </a:xfrm>
        </p:grpSpPr>
        <p:sp>
          <p:nvSpPr>
            <p:cNvPr name="Freeform 290" id="290" descr="preencoded.png"/>
            <p:cNvSpPr/>
            <p:nvPr/>
          </p:nvSpPr>
          <p:spPr>
            <a:xfrm flipH="false" flipV="false" rot="0">
              <a:off x="0" y="0"/>
              <a:ext cx="359791" cy="379222"/>
            </a:xfrm>
            <a:custGeom>
              <a:avLst/>
              <a:gdLst/>
              <a:ahLst/>
              <a:cxnLst/>
              <a:rect r="r" b="b" t="t" l="l"/>
              <a:pathLst>
                <a:path h="379222" w="359791">
                  <a:moveTo>
                    <a:pt x="0" y="0"/>
                  </a:moveTo>
                  <a:lnTo>
                    <a:pt x="359791" y="0"/>
                  </a:lnTo>
                  <a:lnTo>
                    <a:pt x="359791" y="379222"/>
                  </a:lnTo>
                  <a:lnTo>
                    <a:pt x="0" y="379222"/>
                  </a:lnTo>
                  <a:lnTo>
                    <a:pt x="0" y="0"/>
                  </a:lnTo>
                  <a:close/>
                </a:path>
              </a:pathLst>
            </a:custGeom>
            <a:blipFill>
              <a:blip r:embed="rId60"/>
              <a:stretch>
                <a:fillRect l="-458" t="0" r="-455" b="0"/>
              </a:stretch>
            </a:blipFill>
          </p:spPr>
        </p:sp>
      </p:grpSp>
      <p:grpSp>
        <p:nvGrpSpPr>
          <p:cNvPr name="Group 291" id="291"/>
          <p:cNvGrpSpPr/>
          <p:nvPr/>
        </p:nvGrpSpPr>
        <p:grpSpPr>
          <a:xfrm rot="0">
            <a:off x="1786509" y="7167905"/>
            <a:ext cx="145828" cy="167735"/>
            <a:chOff x="0" y="0"/>
            <a:chExt cx="194437" cy="223647"/>
          </a:xfrm>
        </p:grpSpPr>
        <p:sp>
          <p:nvSpPr>
            <p:cNvPr name="Freeform 292" id="292" descr="preencoded.png"/>
            <p:cNvSpPr/>
            <p:nvPr/>
          </p:nvSpPr>
          <p:spPr>
            <a:xfrm flipH="false" flipV="false" rot="0">
              <a:off x="0" y="0"/>
              <a:ext cx="194437" cy="223647"/>
            </a:xfrm>
            <a:custGeom>
              <a:avLst/>
              <a:gdLst/>
              <a:ahLst/>
              <a:cxnLst/>
              <a:rect r="r" b="b" t="t" l="l"/>
              <a:pathLst>
                <a:path h="223647" w="194437">
                  <a:moveTo>
                    <a:pt x="0" y="0"/>
                  </a:moveTo>
                  <a:lnTo>
                    <a:pt x="194437" y="0"/>
                  </a:lnTo>
                  <a:lnTo>
                    <a:pt x="194437" y="223647"/>
                  </a:lnTo>
                  <a:lnTo>
                    <a:pt x="0" y="223647"/>
                  </a:lnTo>
                  <a:lnTo>
                    <a:pt x="0" y="0"/>
                  </a:lnTo>
                  <a:close/>
                </a:path>
              </a:pathLst>
            </a:custGeom>
            <a:blipFill>
              <a:blip r:embed="rId61"/>
              <a:stretch>
                <a:fillRect l="0" t="-482" r="0" b="-476"/>
              </a:stretch>
            </a:blipFill>
          </p:spPr>
        </p:sp>
      </p:grpSp>
      <p:grpSp>
        <p:nvGrpSpPr>
          <p:cNvPr name="Group 293" id="293"/>
          <p:cNvGrpSpPr/>
          <p:nvPr/>
        </p:nvGrpSpPr>
        <p:grpSpPr>
          <a:xfrm rot="0">
            <a:off x="853145" y="7248115"/>
            <a:ext cx="167735" cy="174974"/>
            <a:chOff x="0" y="0"/>
            <a:chExt cx="223647" cy="233299"/>
          </a:xfrm>
        </p:grpSpPr>
        <p:sp>
          <p:nvSpPr>
            <p:cNvPr name="Freeform 294" id="294" descr="preencoded.png"/>
            <p:cNvSpPr/>
            <p:nvPr/>
          </p:nvSpPr>
          <p:spPr>
            <a:xfrm flipH="false" flipV="false" rot="0">
              <a:off x="0" y="0"/>
              <a:ext cx="223647" cy="233299"/>
            </a:xfrm>
            <a:custGeom>
              <a:avLst/>
              <a:gdLst/>
              <a:ahLst/>
              <a:cxnLst/>
              <a:rect r="r" b="b" t="t" l="l"/>
              <a:pathLst>
                <a:path h="233299" w="223647">
                  <a:moveTo>
                    <a:pt x="0" y="0"/>
                  </a:moveTo>
                  <a:lnTo>
                    <a:pt x="223647" y="0"/>
                  </a:lnTo>
                  <a:lnTo>
                    <a:pt x="223647" y="233299"/>
                  </a:lnTo>
                  <a:lnTo>
                    <a:pt x="0" y="233299"/>
                  </a:lnTo>
                  <a:lnTo>
                    <a:pt x="0" y="0"/>
                  </a:lnTo>
                  <a:close/>
                </a:path>
              </a:pathLst>
            </a:custGeom>
            <a:blipFill>
              <a:blip r:embed="rId62"/>
              <a:stretch>
                <a:fillRect l="0" t="-1480" r="0" b="-1480"/>
              </a:stretch>
            </a:blipFill>
          </p:spPr>
        </p:sp>
      </p:grpSp>
      <p:grpSp>
        <p:nvGrpSpPr>
          <p:cNvPr name="Group 295" id="295"/>
          <p:cNvGrpSpPr/>
          <p:nvPr/>
        </p:nvGrpSpPr>
        <p:grpSpPr>
          <a:xfrm rot="0">
            <a:off x="1968808" y="6591843"/>
            <a:ext cx="247926" cy="176098"/>
            <a:chOff x="0" y="0"/>
            <a:chExt cx="330568" cy="234798"/>
          </a:xfrm>
        </p:grpSpPr>
        <p:sp>
          <p:nvSpPr>
            <p:cNvPr name="Freeform 296" id="296"/>
            <p:cNvSpPr/>
            <p:nvPr/>
          </p:nvSpPr>
          <p:spPr>
            <a:xfrm flipH="false" flipV="false" rot="0">
              <a:off x="0" y="0"/>
              <a:ext cx="330581" cy="234823"/>
            </a:xfrm>
            <a:custGeom>
              <a:avLst/>
              <a:gdLst/>
              <a:ahLst/>
              <a:cxnLst/>
              <a:rect r="r" b="b" t="t" l="l"/>
              <a:pathLst>
                <a:path h="234823" w="330581">
                  <a:moveTo>
                    <a:pt x="0" y="0"/>
                  </a:moveTo>
                  <a:lnTo>
                    <a:pt x="330581" y="0"/>
                  </a:lnTo>
                  <a:lnTo>
                    <a:pt x="330581" y="234823"/>
                  </a:lnTo>
                  <a:lnTo>
                    <a:pt x="0" y="234823"/>
                  </a:lnTo>
                  <a:close/>
                </a:path>
              </a:pathLst>
            </a:custGeom>
            <a:blipFill>
              <a:blip r:embed="rId8">
                <a:alphaModFix amt="0"/>
              </a:blip>
              <a:stretch>
                <a:fillRect l="-41190" t="0" r="-41187" b="10"/>
              </a:stretch>
            </a:blipFill>
          </p:spPr>
        </p:sp>
      </p:grpSp>
      <p:grpSp>
        <p:nvGrpSpPr>
          <p:cNvPr name="Group 297" id="297"/>
          <p:cNvGrpSpPr/>
          <p:nvPr/>
        </p:nvGrpSpPr>
        <p:grpSpPr>
          <a:xfrm rot="0">
            <a:off x="1968808" y="6620418"/>
            <a:ext cx="247926" cy="147514"/>
            <a:chOff x="0" y="0"/>
            <a:chExt cx="330568" cy="196685"/>
          </a:xfrm>
        </p:grpSpPr>
        <p:sp>
          <p:nvSpPr>
            <p:cNvPr name="Freeform 298" id="298"/>
            <p:cNvSpPr/>
            <p:nvPr/>
          </p:nvSpPr>
          <p:spPr>
            <a:xfrm flipH="false" flipV="false" rot="0">
              <a:off x="0" y="0"/>
              <a:ext cx="330568" cy="196688"/>
            </a:xfrm>
            <a:custGeom>
              <a:avLst/>
              <a:gdLst/>
              <a:ahLst/>
              <a:cxnLst/>
              <a:rect r="r" b="b" t="t" l="l"/>
              <a:pathLst>
                <a:path h="196688" w="330568">
                  <a:moveTo>
                    <a:pt x="0" y="0"/>
                  </a:moveTo>
                  <a:lnTo>
                    <a:pt x="330568" y="0"/>
                  </a:lnTo>
                  <a:lnTo>
                    <a:pt x="330568" y="196688"/>
                  </a:lnTo>
                  <a:lnTo>
                    <a:pt x="0" y="196688"/>
                  </a:lnTo>
                  <a:close/>
                </a:path>
              </a:pathLst>
            </a:custGeom>
            <a:blipFill>
              <a:blip r:embed="rId9">
                <a:alphaModFix amt="0"/>
              </a:blip>
              <a:stretch>
                <a:fillRect l="-26339" t="0" r="-26339" b="1"/>
              </a:stretch>
            </a:blipFill>
          </p:spPr>
        </p:sp>
        <p:sp>
          <p:nvSpPr>
            <p:cNvPr name="TextBox 299" id="299"/>
            <p:cNvSpPr txBox="true"/>
            <p:nvPr/>
          </p:nvSpPr>
          <p:spPr>
            <a:xfrm>
              <a:off x="0" y="38100"/>
              <a:ext cx="330568" cy="158585"/>
            </a:xfrm>
            <a:prstGeom prst="rect">
              <a:avLst/>
            </a:prstGeom>
          </p:spPr>
          <p:txBody>
            <a:bodyPr anchor="ctr" rtlCol="false" tIns="0" lIns="0" bIns="0" rIns="0"/>
            <a:lstStyle/>
            <a:p>
              <a:pPr algn="l">
                <a:lnSpc>
                  <a:spcPts val="632"/>
                </a:lnSpc>
              </a:pPr>
              <a:r>
                <a:rPr lang="en-US" sz="832">
                  <a:solidFill>
                    <a:srgbClr val="82817F"/>
                  </a:solidFill>
                  <a:latin typeface="TT Commons Pro"/>
                  <a:ea typeface="TT Commons Pro"/>
                  <a:cs typeface="TT Commons Pro"/>
                  <a:sym typeface="TT Commons Pro"/>
                </a:rPr>
                <a:t>4.5★</a:t>
              </a:r>
            </a:p>
          </p:txBody>
        </p:sp>
      </p:grpSp>
      <p:grpSp>
        <p:nvGrpSpPr>
          <p:cNvPr name="Group 300" id="300"/>
          <p:cNvGrpSpPr/>
          <p:nvPr/>
        </p:nvGrpSpPr>
        <p:grpSpPr>
          <a:xfrm rot="0">
            <a:off x="1050026" y="6876231"/>
            <a:ext cx="517722" cy="198568"/>
            <a:chOff x="0" y="0"/>
            <a:chExt cx="690296" cy="264757"/>
          </a:xfrm>
        </p:grpSpPr>
        <p:sp>
          <p:nvSpPr>
            <p:cNvPr name="Freeform 301" id="301"/>
            <p:cNvSpPr/>
            <p:nvPr/>
          </p:nvSpPr>
          <p:spPr>
            <a:xfrm flipH="false" flipV="false" rot="0">
              <a:off x="0" y="0"/>
              <a:ext cx="690245" cy="264795"/>
            </a:xfrm>
            <a:custGeom>
              <a:avLst/>
              <a:gdLst/>
              <a:ahLst/>
              <a:cxnLst/>
              <a:rect r="r" b="b" t="t" l="l"/>
              <a:pathLst>
                <a:path h="264795" w="690245">
                  <a:moveTo>
                    <a:pt x="0" y="0"/>
                  </a:moveTo>
                  <a:lnTo>
                    <a:pt x="690245" y="0"/>
                  </a:lnTo>
                  <a:lnTo>
                    <a:pt x="690245" y="264795"/>
                  </a:lnTo>
                  <a:lnTo>
                    <a:pt x="0" y="264795"/>
                  </a:lnTo>
                  <a:close/>
                </a:path>
              </a:pathLst>
            </a:custGeom>
            <a:blipFill>
              <a:blip r:embed="rId8">
                <a:alphaModFix amt="0"/>
              </a:blip>
              <a:stretch>
                <a:fillRect l="0" t="-767" r="-7" b="-752"/>
              </a:stretch>
            </a:blipFill>
          </p:spPr>
        </p:sp>
      </p:grpSp>
      <p:grpSp>
        <p:nvGrpSpPr>
          <p:cNvPr name="Group 302" id="302"/>
          <p:cNvGrpSpPr/>
          <p:nvPr/>
        </p:nvGrpSpPr>
        <p:grpSpPr>
          <a:xfrm rot="0">
            <a:off x="1050026" y="6897662"/>
            <a:ext cx="517722" cy="177136"/>
            <a:chOff x="0" y="0"/>
            <a:chExt cx="690296" cy="236182"/>
          </a:xfrm>
        </p:grpSpPr>
        <p:sp>
          <p:nvSpPr>
            <p:cNvPr name="Freeform 303" id="303"/>
            <p:cNvSpPr/>
            <p:nvPr/>
          </p:nvSpPr>
          <p:spPr>
            <a:xfrm flipH="false" flipV="false" rot="0">
              <a:off x="0" y="0"/>
              <a:ext cx="690296" cy="236186"/>
            </a:xfrm>
            <a:custGeom>
              <a:avLst/>
              <a:gdLst/>
              <a:ahLst/>
              <a:cxnLst/>
              <a:rect r="r" b="b" t="t" l="l"/>
              <a:pathLst>
                <a:path h="236186" w="690296">
                  <a:moveTo>
                    <a:pt x="0" y="0"/>
                  </a:moveTo>
                  <a:lnTo>
                    <a:pt x="690296" y="0"/>
                  </a:lnTo>
                  <a:lnTo>
                    <a:pt x="690296" y="236186"/>
                  </a:lnTo>
                  <a:lnTo>
                    <a:pt x="0" y="236186"/>
                  </a:lnTo>
                  <a:close/>
                </a:path>
              </a:pathLst>
            </a:custGeom>
            <a:blipFill>
              <a:blip r:embed="rId9">
                <a:alphaModFix amt="0"/>
              </a:blip>
              <a:stretch>
                <a:fillRect l="0" t="-6949" r="0" b="-6947"/>
              </a:stretch>
            </a:blipFill>
          </p:spPr>
        </p:sp>
        <p:sp>
          <p:nvSpPr>
            <p:cNvPr name="TextBox 304" id="304"/>
            <p:cNvSpPr txBox="true"/>
            <p:nvPr/>
          </p:nvSpPr>
          <p:spPr>
            <a:xfrm>
              <a:off x="0" y="28575"/>
              <a:ext cx="690296" cy="207607"/>
            </a:xfrm>
            <a:prstGeom prst="rect">
              <a:avLst/>
            </a:prstGeom>
          </p:spPr>
          <p:txBody>
            <a:bodyPr anchor="ctr" rtlCol="false" tIns="0" lIns="0" bIns="0" rIns="0"/>
            <a:lstStyle/>
            <a:p>
              <a:pPr algn="l">
                <a:lnSpc>
                  <a:spcPts val="879"/>
                </a:lnSpc>
              </a:pPr>
              <a:r>
                <a:rPr lang="en-US" sz="948">
                  <a:solidFill>
                    <a:srgbClr val="8C8886"/>
                  </a:solidFill>
                  <a:latin typeface="TT Commons Pro"/>
                  <a:ea typeface="TT Commons Pro"/>
                  <a:cs typeface="TT Commons Pro"/>
                  <a:sym typeface="TT Commons Pro"/>
                </a:rPr>
                <a:t>30-40min</a:t>
              </a:r>
            </a:p>
          </p:txBody>
        </p:sp>
      </p:grpSp>
      <p:grpSp>
        <p:nvGrpSpPr>
          <p:cNvPr name="Group 305" id="305"/>
          <p:cNvGrpSpPr/>
          <p:nvPr/>
        </p:nvGrpSpPr>
        <p:grpSpPr>
          <a:xfrm rot="0">
            <a:off x="743769" y="5979328"/>
            <a:ext cx="1028128" cy="867727"/>
            <a:chOff x="0" y="0"/>
            <a:chExt cx="1370838" cy="1156970"/>
          </a:xfrm>
        </p:grpSpPr>
        <p:sp>
          <p:nvSpPr>
            <p:cNvPr name="Freeform 306" id="306" descr="preencoded.png"/>
            <p:cNvSpPr/>
            <p:nvPr/>
          </p:nvSpPr>
          <p:spPr>
            <a:xfrm flipH="false" flipV="false" rot="0">
              <a:off x="0" y="0"/>
              <a:ext cx="1370838" cy="1156970"/>
            </a:xfrm>
            <a:custGeom>
              <a:avLst/>
              <a:gdLst/>
              <a:ahLst/>
              <a:cxnLst/>
              <a:rect r="r" b="b" t="t" l="l"/>
              <a:pathLst>
                <a:path h="1156970" w="1370838">
                  <a:moveTo>
                    <a:pt x="0" y="0"/>
                  </a:moveTo>
                  <a:lnTo>
                    <a:pt x="1370838" y="0"/>
                  </a:lnTo>
                  <a:lnTo>
                    <a:pt x="1370838" y="1156970"/>
                  </a:lnTo>
                  <a:lnTo>
                    <a:pt x="0" y="1156970"/>
                  </a:lnTo>
                  <a:lnTo>
                    <a:pt x="0" y="0"/>
                  </a:lnTo>
                  <a:close/>
                </a:path>
              </a:pathLst>
            </a:custGeom>
            <a:blipFill>
              <a:blip r:embed="rId63"/>
              <a:stretch>
                <a:fillRect l="0" t="-379" r="0" b="-378"/>
              </a:stretch>
            </a:blipFill>
          </p:spPr>
        </p:sp>
      </p:grpSp>
      <p:grpSp>
        <p:nvGrpSpPr>
          <p:cNvPr name="Group 307" id="307"/>
          <p:cNvGrpSpPr/>
          <p:nvPr/>
        </p:nvGrpSpPr>
        <p:grpSpPr>
          <a:xfrm rot="0">
            <a:off x="1407328" y="6642887"/>
            <a:ext cx="342719" cy="134055"/>
            <a:chOff x="0" y="0"/>
            <a:chExt cx="456959" cy="178740"/>
          </a:xfrm>
        </p:grpSpPr>
        <p:sp>
          <p:nvSpPr>
            <p:cNvPr name="Freeform 308" id="308"/>
            <p:cNvSpPr/>
            <p:nvPr/>
          </p:nvSpPr>
          <p:spPr>
            <a:xfrm flipH="false" flipV="false" rot="0">
              <a:off x="0" y="0"/>
              <a:ext cx="456946" cy="178689"/>
            </a:xfrm>
            <a:custGeom>
              <a:avLst/>
              <a:gdLst/>
              <a:ahLst/>
              <a:cxnLst/>
              <a:rect r="r" b="b" t="t" l="l"/>
              <a:pathLst>
                <a:path h="178689" w="456946">
                  <a:moveTo>
                    <a:pt x="0" y="0"/>
                  </a:moveTo>
                  <a:lnTo>
                    <a:pt x="456946" y="0"/>
                  </a:lnTo>
                  <a:lnTo>
                    <a:pt x="456946" y="178689"/>
                  </a:lnTo>
                  <a:lnTo>
                    <a:pt x="0" y="178689"/>
                  </a:lnTo>
                  <a:close/>
                </a:path>
              </a:pathLst>
            </a:custGeom>
            <a:blipFill>
              <a:blip r:embed="rId8">
                <a:alphaModFix amt="0"/>
              </a:blip>
              <a:stretch>
                <a:fillRect l="-222" t="0" r="-222" b="-28"/>
              </a:stretch>
            </a:blipFill>
          </p:spPr>
        </p:sp>
      </p:grpSp>
      <p:grpSp>
        <p:nvGrpSpPr>
          <p:cNvPr name="Group 309" id="309"/>
          <p:cNvGrpSpPr/>
          <p:nvPr/>
        </p:nvGrpSpPr>
        <p:grpSpPr>
          <a:xfrm rot="0">
            <a:off x="1407328" y="6664319"/>
            <a:ext cx="342719" cy="112624"/>
            <a:chOff x="0" y="0"/>
            <a:chExt cx="456959" cy="150165"/>
          </a:xfrm>
        </p:grpSpPr>
        <p:sp>
          <p:nvSpPr>
            <p:cNvPr name="Freeform 310" id="310"/>
            <p:cNvSpPr/>
            <p:nvPr/>
          </p:nvSpPr>
          <p:spPr>
            <a:xfrm flipH="false" flipV="false" rot="0">
              <a:off x="0" y="0"/>
              <a:ext cx="456959" cy="150170"/>
            </a:xfrm>
            <a:custGeom>
              <a:avLst/>
              <a:gdLst/>
              <a:ahLst/>
              <a:cxnLst/>
              <a:rect r="r" b="b" t="t" l="l"/>
              <a:pathLst>
                <a:path h="150170" w="456959">
                  <a:moveTo>
                    <a:pt x="0" y="0"/>
                  </a:moveTo>
                  <a:lnTo>
                    <a:pt x="456959" y="0"/>
                  </a:lnTo>
                  <a:lnTo>
                    <a:pt x="456959" y="150170"/>
                  </a:lnTo>
                  <a:lnTo>
                    <a:pt x="0" y="150170"/>
                  </a:lnTo>
                  <a:close/>
                </a:path>
              </a:pathLst>
            </a:custGeom>
            <a:blipFill>
              <a:blip r:embed="rId9">
                <a:alphaModFix amt="0"/>
              </a:blip>
              <a:stretch>
                <a:fillRect l="0" t="-9293" r="0" b="-9289"/>
              </a:stretch>
            </a:blipFill>
          </p:spPr>
        </p:sp>
        <p:sp>
          <p:nvSpPr>
            <p:cNvPr name="TextBox 311" id="311"/>
            <p:cNvSpPr txBox="true"/>
            <p:nvPr/>
          </p:nvSpPr>
          <p:spPr>
            <a:xfrm>
              <a:off x="0" y="28575"/>
              <a:ext cx="456959" cy="121590"/>
            </a:xfrm>
            <a:prstGeom prst="rect">
              <a:avLst/>
            </a:prstGeom>
          </p:spPr>
          <p:txBody>
            <a:bodyPr anchor="ctr" rtlCol="false" tIns="0" lIns="0" bIns="0" rIns="0"/>
            <a:lstStyle/>
            <a:p>
              <a:pPr algn="l">
                <a:lnSpc>
                  <a:spcPts val="491"/>
                </a:lnSpc>
              </a:pPr>
              <a:r>
                <a:rPr lang="en-US" sz="643" b="true">
                  <a:solidFill>
                    <a:srgbClr val="6B6766"/>
                  </a:solidFill>
                  <a:latin typeface="TT Commons Pro Bold"/>
                  <a:ea typeface="TT Commons Pro Bold"/>
                  <a:cs typeface="TT Commons Pro Bold"/>
                  <a:sym typeface="TT Commons Pro Bold"/>
                </a:rPr>
                <a:t>39-48 on</a:t>
              </a:r>
            </a:p>
          </p:txBody>
        </p:sp>
      </p:grpSp>
      <p:grpSp>
        <p:nvGrpSpPr>
          <p:cNvPr name="Group 312" id="312"/>
          <p:cNvGrpSpPr/>
          <p:nvPr/>
        </p:nvGrpSpPr>
        <p:grpSpPr>
          <a:xfrm rot="0">
            <a:off x="845858" y="6672053"/>
            <a:ext cx="262509" cy="213274"/>
            <a:chOff x="0" y="0"/>
            <a:chExt cx="350012" cy="284366"/>
          </a:xfrm>
        </p:grpSpPr>
        <p:sp>
          <p:nvSpPr>
            <p:cNvPr name="Freeform 313" id="313"/>
            <p:cNvSpPr/>
            <p:nvPr/>
          </p:nvSpPr>
          <p:spPr>
            <a:xfrm flipH="false" flipV="false" rot="0">
              <a:off x="0" y="0"/>
              <a:ext cx="350012" cy="284353"/>
            </a:xfrm>
            <a:custGeom>
              <a:avLst/>
              <a:gdLst/>
              <a:ahLst/>
              <a:cxnLst/>
              <a:rect r="r" b="b" t="t" l="l"/>
              <a:pathLst>
                <a:path h="284353" w="350012">
                  <a:moveTo>
                    <a:pt x="0" y="0"/>
                  </a:moveTo>
                  <a:lnTo>
                    <a:pt x="350012" y="0"/>
                  </a:lnTo>
                  <a:lnTo>
                    <a:pt x="350012" y="284353"/>
                  </a:lnTo>
                  <a:lnTo>
                    <a:pt x="0" y="284353"/>
                  </a:lnTo>
                  <a:close/>
                </a:path>
              </a:pathLst>
            </a:custGeom>
            <a:blipFill>
              <a:blip r:embed="rId8">
                <a:alphaModFix amt="0"/>
              </a:blip>
              <a:stretch>
                <a:fillRect l="-54310" t="0" r="-54310" b="-4"/>
              </a:stretch>
            </a:blipFill>
          </p:spPr>
        </p:sp>
      </p:grpSp>
      <p:grpSp>
        <p:nvGrpSpPr>
          <p:cNvPr name="Group 314" id="314"/>
          <p:cNvGrpSpPr/>
          <p:nvPr/>
        </p:nvGrpSpPr>
        <p:grpSpPr>
          <a:xfrm rot="0">
            <a:off x="845858" y="6700628"/>
            <a:ext cx="262509" cy="184690"/>
            <a:chOff x="0" y="0"/>
            <a:chExt cx="350012" cy="246253"/>
          </a:xfrm>
        </p:grpSpPr>
        <p:sp>
          <p:nvSpPr>
            <p:cNvPr name="Freeform 315" id="315"/>
            <p:cNvSpPr/>
            <p:nvPr/>
          </p:nvSpPr>
          <p:spPr>
            <a:xfrm flipH="false" flipV="false" rot="0">
              <a:off x="0" y="0"/>
              <a:ext cx="350012" cy="246257"/>
            </a:xfrm>
            <a:custGeom>
              <a:avLst/>
              <a:gdLst/>
              <a:ahLst/>
              <a:cxnLst/>
              <a:rect r="r" b="b" t="t" l="l"/>
              <a:pathLst>
                <a:path h="246257" w="350012">
                  <a:moveTo>
                    <a:pt x="0" y="0"/>
                  </a:moveTo>
                  <a:lnTo>
                    <a:pt x="350012" y="0"/>
                  </a:lnTo>
                  <a:lnTo>
                    <a:pt x="350012" y="246257"/>
                  </a:lnTo>
                  <a:lnTo>
                    <a:pt x="0" y="246257"/>
                  </a:lnTo>
                  <a:close/>
                </a:path>
              </a:pathLst>
            </a:custGeom>
            <a:blipFill>
              <a:blip r:embed="rId9">
                <a:alphaModFix amt="0"/>
              </a:blip>
              <a:stretch>
                <a:fillRect l="-40268" t="0" r="-40268" b="1"/>
              </a:stretch>
            </a:blipFill>
          </p:spPr>
        </p:sp>
        <p:sp>
          <p:nvSpPr>
            <p:cNvPr name="TextBox 316" id="316"/>
            <p:cNvSpPr txBox="true"/>
            <p:nvPr/>
          </p:nvSpPr>
          <p:spPr>
            <a:xfrm>
              <a:off x="0" y="38100"/>
              <a:ext cx="350012" cy="208153"/>
            </a:xfrm>
            <a:prstGeom prst="rect">
              <a:avLst/>
            </a:prstGeom>
          </p:spPr>
          <p:txBody>
            <a:bodyPr anchor="ctr" rtlCol="false" tIns="0" lIns="0" bIns="0" rIns="0"/>
            <a:lstStyle/>
            <a:p>
              <a:pPr algn="l">
                <a:lnSpc>
                  <a:spcPts val="802"/>
                </a:lnSpc>
              </a:pPr>
              <a:r>
                <a:rPr lang="en-US" sz="1015">
                  <a:solidFill>
                    <a:srgbClr val="838281"/>
                  </a:solidFill>
                  <a:latin typeface="TT Commons Pro"/>
                  <a:ea typeface="TT Commons Pro"/>
                  <a:cs typeface="TT Commons Pro"/>
                  <a:sym typeface="TT Commons Pro"/>
                </a:rPr>
                <a:t>43*</a:t>
              </a:r>
            </a:p>
          </p:txBody>
        </p:sp>
      </p:grpSp>
      <p:grpSp>
        <p:nvGrpSpPr>
          <p:cNvPr name="Group 317" id="317"/>
          <p:cNvGrpSpPr/>
          <p:nvPr/>
        </p:nvGrpSpPr>
        <p:grpSpPr>
          <a:xfrm rot="0">
            <a:off x="714604" y="5731402"/>
            <a:ext cx="1020861" cy="200492"/>
            <a:chOff x="0" y="0"/>
            <a:chExt cx="1361148" cy="267322"/>
          </a:xfrm>
        </p:grpSpPr>
        <p:sp>
          <p:nvSpPr>
            <p:cNvPr name="Freeform 318" id="318"/>
            <p:cNvSpPr/>
            <p:nvPr/>
          </p:nvSpPr>
          <p:spPr>
            <a:xfrm flipH="false" flipV="false" rot="0">
              <a:off x="0" y="0"/>
              <a:ext cx="1361186" cy="267335"/>
            </a:xfrm>
            <a:custGeom>
              <a:avLst/>
              <a:gdLst/>
              <a:ahLst/>
              <a:cxnLst/>
              <a:rect r="r" b="b" t="t" l="l"/>
              <a:pathLst>
                <a:path h="267335" w="1361186">
                  <a:moveTo>
                    <a:pt x="0" y="0"/>
                  </a:moveTo>
                  <a:lnTo>
                    <a:pt x="1361186" y="0"/>
                  </a:lnTo>
                  <a:lnTo>
                    <a:pt x="1361186" y="267335"/>
                  </a:lnTo>
                  <a:lnTo>
                    <a:pt x="0" y="267335"/>
                  </a:lnTo>
                  <a:close/>
                </a:path>
              </a:pathLst>
            </a:custGeom>
            <a:blipFill>
              <a:blip r:embed="rId8">
                <a:alphaModFix amt="0"/>
              </a:blip>
              <a:stretch>
                <a:fillRect l="0" t="-49140" r="2" b="-49140"/>
              </a:stretch>
            </a:blipFill>
          </p:spPr>
        </p:sp>
      </p:grpSp>
      <p:grpSp>
        <p:nvGrpSpPr>
          <p:cNvPr name="Group 319" id="319"/>
          <p:cNvGrpSpPr/>
          <p:nvPr/>
        </p:nvGrpSpPr>
        <p:grpSpPr>
          <a:xfrm rot="0">
            <a:off x="714604" y="5731402"/>
            <a:ext cx="1020861" cy="200492"/>
            <a:chOff x="0" y="0"/>
            <a:chExt cx="1361148" cy="267322"/>
          </a:xfrm>
        </p:grpSpPr>
        <p:sp>
          <p:nvSpPr>
            <p:cNvPr name="Freeform 320" id="320"/>
            <p:cNvSpPr/>
            <p:nvPr/>
          </p:nvSpPr>
          <p:spPr>
            <a:xfrm flipH="false" flipV="false" rot="0">
              <a:off x="0" y="0"/>
              <a:ext cx="1361148" cy="267323"/>
            </a:xfrm>
            <a:custGeom>
              <a:avLst/>
              <a:gdLst/>
              <a:ahLst/>
              <a:cxnLst/>
              <a:rect r="r" b="b" t="t" l="l"/>
              <a:pathLst>
                <a:path h="267323" w="1361148">
                  <a:moveTo>
                    <a:pt x="0" y="0"/>
                  </a:moveTo>
                  <a:lnTo>
                    <a:pt x="1361148" y="0"/>
                  </a:lnTo>
                  <a:lnTo>
                    <a:pt x="1361148" y="267323"/>
                  </a:lnTo>
                  <a:lnTo>
                    <a:pt x="0" y="267323"/>
                  </a:lnTo>
                  <a:close/>
                </a:path>
              </a:pathLst>
            </a:custGeom>
            <a:blipFill>
              <a:blip r:embed="rId9">
                <a:alphaModFix amt="0"/>
              </a:blip>
              <a:stretch>
                <a:fillRect l="0" t="-49213" r="0" b="-49213"/>
              </a:stretch>
            </a:blipFill>
          </p:spPr>
        </p:sp>
        <p:sp>
          <p:nvSpPr>
            <p:cNvPr name="TextBox 321" id="321"/>
            <p:cNvSpPr txBox="true"/>
            <p:nvPr/>
          </p:nvSpPr>
          <p:spPr>
            <a:xfrm>
              <a:off x="0" y="0"/>
              <a:ext cx="1361148" cy="267322"/>
            </a:xfrm>
            <a:prstGeom prst="rect">
              <a:avLst/>
            </a:prstGeom>
          </p:spPr>
          <p:txBody>
            <a:bodyPr anchor="ctr" rtlCol="false" tIns="0" lIns="0" bIns="0" rIns="0"/>
            <a:lstStyle/>
            <a:p>
              <a:pPr algn="l">
                <a:lnSpc>
                  <a:spcPts val="1138"/>
                </a:lnSpc>
              </a:pPr>
              <a:r>
                <a:rPr lang="en-US" sz="933" b="true">
                  <a:solidFill>
                    <a:srgbClr val="696866"/>
                  </a:solidFill>
                  <a:latin typeface="TT Commons Pro Bold"/>
                  <a:ea typeface="TT Commons Pro Bold"/>
                  <a:cs typeface="TT Commons Pro Bold"/>
                  <a:sym typeface="TT Commons Pro Bold"/>
                </a:rPr>
                <a:t>Top Picks for You</a:t>
              </a:r>
            </a:p>
          </p:txBody>
        </p:sp>
      </p:grpSp>
      <p:grpSp>
        <p:nvGrpSpPr>
          <p:cNvPr name="Group 322" id="322"/>
          <p:cNvGrpSpPr/>
          <p:nvPr/>
        </p:nvGrpSpPr>
        <p:grpSpPr>
          <a:xfrm rot="0">
            <a:off x="2406320" y="5301186"/>
            <a:ext cx="371885" cy="171031"/>
            <a:chOff x="0" y="0"/>
            <a:chExt cx="495846" cy="228041"/>
          </a:xfrm>
        </p:grpSpPr>
        <p:sp>
          <p:nvSpPr>
            <p:cNvPr name="Freeform 323" id="323"/>
            <p:cNvSpPr/>
            <p:nvPr/>
          </p:nvSpPr>
          <p:spPr>
            <a:xfrm flipH="false" flipV="false" rot="0">
              <a:off x="0" y="0"/>
              <a:ext cx="495808" cy="228092"/>
            </a:xfrm>
            <a:custGeom>
              <a:avLst/>
              <a:gdLst/>
              <a:ahLst/>
              <a:cxnLst/>
              <a:rect r="r" b="b" t="t" l="l"/>
              <a:pathLst>
                <a:path h="228092" w="495808">
                  <a:moveTo>
                    <a:pt x="0" y="0"/>
                  </a:moveTo>
                  <a:lnTo>
                    <a:pt x="495808" y="0"/>
                  </a:lnTo>
                  <a:lnTo>
                    <a:pt x="495808" y="228092"/>
                  </a:lnTo>
                  <a:lnTo>
                    <a:pt x="0" y="228092"/>
                  </a:lnTo>
                  <a:close/>
                </a:path>
              </a:pathLst>
            </a:custGeom>
            <a:blipFill>
              <a:blip r:embed="rId8">
                <a:alphaModFix amt="0"/>
              </a:blip>
              <a:stretch>
                <a:fillRect l="-9049" t="0" r="-9057" b="22"/>
              </a:stretch>
            </a:blipFill>
          </p:spPr>
        </p:sp>
      </p:grpSp>
      <p:grpSp>
        <p:nvGrpSpPr>
          <p:cNvPr name="Group 324" id="324"/>
          <p:cNvGrpSpPr/>
          <p:nvPr/>
        </p:nvGrpSpPr>
        <p:grpSpPr>
          <a:xfrm rot="0">
            <a:off x="2406320" y="5322618"/>
            <a:ext cx="371885" cy="149600"/>
            <a:chOff x="0" y="0"/>
            <a:chExt cx="495846" cy="199466"/>
          </a:xfrm>
        </p:grpSpPr>
        <p:sp>
          <p:nvSpPr>
            <p:cNvPr name="Freeform 325" id="325"/>
            <p:cNvSpPr/>
            <p:nvPr/>
          </p:nvSpPr>
          <p:spPr>
            <a:xfrm flipH="false" flipV="false" rot="0">
              <a:off x="0" y="0"/>
              <a:ext cx="495847" cy="199464"/>
            </a:xfrm>
            <a:custGeom>
              <a:avLst/>
              <a:gdLst/>
              <a:ahLst/>
              <a:cxnLst/>
              <a:rect r="r" b="b" t="t" l="l"/>
              <a:pathLst>
                <a:path h="199464" w="495847">
                  <a:moveTo>
                    <a:pt x="0" y="0"/>
                  </a:moveTo>
                  <a:lnTo>
                    <a:pt x="495847" y="0"/>
                  </a:lnTo>
                  <a:lnTo>
                    <a:pt x="495847" y="199464"/>
                  </a:lnTo>
                  <a:lnTo>
                    <a:pt x="0" y="199464"/>
                  </a:lnTo>
                  <a:close/>
                </a:path>
              </a:pathLst>
            </a:custGeom>
            <a:blipFill>
              <a:blip r:embed="rId9">
                <a:alphaModFix amt="0"/>
              </a:blip>
              <a:stretch>
                <a:fillRect l="-1613" t="0" r="-1613" b="-1"/>
              </a:stretch>
            </a:blipFill>
          </p:spPr>
        </p:sp>
        <p:sp>
          <p:nvSpPr>
            <p:cNvPr name="TextBox 326" id="326"/>
            <p:cNvSpPr txBox="true"/>
            <p:nvPr/>
          </p:nvSpPr>
          <p:spPr>
            <a:xfrm>
              <a:off x="0" y="28575"/>
              <a:ext cx="495846" cy="170891"/>
            </a:xfrm>
            <a:prstGeom prst="rect">
              <a:avLst/>
            </a:prstGeom>
          </p:spPr>
          <p:txBody>
            <a:bodyPr anchor="ctr" rtlCol="false" tIns="0" lIns="0" bIns="0" rIns="0"/>
            <a:lstStyle/>
            <a:p>
              <a:pPr algn="l">
                <a:lnSpc>
                  <a:spcPts val="777"/>
                </a:lnSpc>
              </a:pPr>
              <a:r>
                <a:rPr lang="en-US" sz="805">
                  <a:solidFill>
                    <a:srgbClr val="827F7E"/>
                  </a:solidFill>
                  <a:latin typeface="TT Commons Pro"/>
                  <a:ea typeface="TT Commons Pro"/>
                  <a:cs typeface="TT Commons Pro"/>
                  <a:sym typeface="TT Commons Pro"/>
                </a:rPr>
                <a:t>Dineout</a:t>
              </a:r>
            </a:p>
          </p:txBody>
        </p:sp>
      </p:grpSp>
      <p:grpSp>
        <p:nvGrpSpPr>
          <p:cNvPr name="Group 327" id="327"/>
          <p:cNvGrpSpPr/>
          <p:nvPr/>
        </p:nvGrpSpPr>
        <p:grpSpPr>
          <a:xfrm rot="0">
            <a:off x="2486530" y="4994929"/>
            <a:ext cx="189548" cy="233362"/>
            <a:chOff x="0" y="0"/>
            <a:chExt cx="252730" cy="311150"/>
          </a:xfrm>
        </p:grpSpPr>
        <p:sp>
          <p:nvSpPr>
            <p:cNvPr name="Freeform 328" id="328" descr="preencoded.png"/>
            <p:cNvSpPr/>
            <p:nvPr/>
          </p:nvSpPr>
          <p:spPr>
            <a:xfrm flipH="false" flipV="false" rot="0">
              <a:off x="0" y="0"/>
              <a:ext cx="252730" cy="311150"/>
            </a:xfrm>
            <a:custGeom>
              <a:avLst/>
              <a:gdLst/>
              <a:ahLst/>
              <a:cxnLst/>
              <a:rect r="r" b="b" t="t" l="l"/>
              <a:pathLst>
                <a:path h="311150" w="252730">
                  <a:moveTo>
                    <a:pt x="0" y="0"/>
                  </a:moveTo>
                  <a:lnTo>
                    <a:pt x="252730" y="0"/>
                  </a:lnTo>
                  <a:lnTo>
                    <a:pt x="252730" y="311150"/>
                  </a:lnTo>
                  <a:lnTo>
                    <a:pt x="0" y="311150"/>
                  </a:lnTo>
                  <a:lnTo>
                    <a:pt x="0" y="0"/>
                  </a:lnTo>
                  <a:close/>
                </a:path>
              </a:pathLst>
            </a:custGeom>
            <a:blipFill>
              <a:blip r:embed="rId64"/>
              <a:stretch>
                <a:fillRect l="-216" t="0" r="-221" b="0"/>
              </a:stretch>
            </a:blipFill>
          </p:spPr>
        </p:sp>
      </p:grpSp>
      <p:grpSp>
        <p:nvGrpSpPr>
          <p:cNvPr name="Group 329" id="329"/>
          <p:cNvGrpSpPr/>
          <p:nvPr/>
        </p:nvGrpSpPr>
        <p:grpSpPr>
          <a:xfrm rot="0">
            <a:off x="1895885" y="5323065"/>
            <a:ext cx="291675" cy="177356"/>
            <a:chOff x="0" y="0"/>
            <a:chExt cx="388899" cy="236474"/>
          </a:xfrm>
        </p:grpSpPr>
        <p:sp>
          <p:nvSpPr>
            <p:cNvPr name="Freeform 330" id="330"/>
            <p:cNvSpPr/>
            <p:nvPr/>
          </p:nvSpPr>
          <p:spPr>
            <a:xfrm flipH="false" flipV="false" rot="0">
              <a:off x="0" y="0"/>
              <a:ext cx="388874" cy="236474"/>
            </a:xfrm>
            <a:custGeom>
              <a:avLst/>
              <a:gdLst/>
              <a:ahLst/>
              <a:cxnLst/>
              <a:rect r="r" b="b" t="t" l="l"/>
              <a:pathLst>
                <a:path h="236474" w="388874">
                  <a:moveTo>
                    <a:pt x="0" y="0"/>
                  </a:moveTo>
                  <a:lnTo>
                    <a:pt x="388874" y="0"/>
                  </a:lnTo>
                  <a:lnTo>
                    <a:pt x="388874" y="236474"/>
                  </a:lnTo>
                  <a:lnTo>
                    <a:pt x="0" y="236474"/>
                  </a:lnTo>
                  <a:close/>
                </a:path>
              </a:pathLst>
            </a:custGeom>
            <a:blipFill>
              <a:blip r:embed="rId8">
                <a:alphaModFix amt="0"/>
              </a:blip>
              <a:stretch>
                <a:fillRect l="-28073" t="0" r="-28079" b="0"/>
              </a:stretch>
            </a:blipFill>
          </p:spPr>
        </p:sp>
      </p:grpSp>
      <p:grpSp>
        <p:nvGrpSpPr>
          <p:cNvPr name="Group 331" id="331"/>
          <p:cNvGrpSpPr/>
          <p:nvPr/>
        </p:nvGrpSpPr>
        <p:grpSpPr>
          <a:xfrm rot="0">
            <a:off x="1895885" y="5351640"/>
            <a:ext cx="291675" cy="148780"/>
            <a:chOff x="0" y="0"/>
            <a:chExt cx="388899" cy="198374"/>
          </a:xfrm>
        </p:grpSpPr>
        <p:sp>
          <p:nvSpPr>
            <p:cNvPr name="Freeform 332" id="332"/>
            <p:cNvSpPr/>
            <p:nvPr/>
          </p:nvSpPr>
          <p:spPr>
            <a:xfrm flipH="false" flipV="false" rot="0">
              <a:off x="0" y="0"/>
              <a:ext cx="388900" cy="198369"/>
            </a:xfrm>
            <a:custGeom>
              <a:avLst/>
              <a:gdLst/>
              <a:ahLst/>
              <a:cxnLst/>
              <a:rect r="r" b="b" t="t" l="l"/>
              <a:pathLst>
                <a:path h="198369" w="388900">
                  <a:moveTo>
                    <a:pt x="0" y="0"/>
                  </a:moveTo>
                  <a:lnTo>
                    <a:pt x="388900" y="0"/>
                  </a:lnTo>
                  <a:lnTo>
                    <a:pt x="388900" y="198369"/>
                  </a:lnTo>
                  <a:lnTo>
                    <a:pt x="0" y="198369"/>
                  </a:lnTo>
                  <a:close/>
                </a:path>
              </a:pathLst>
            </a:custGeom>
            <a:blipFill>
              <a:blip r:embed="rId9">
                <a:alphaModFix amt="0"/>
              </a:blip>
              <a:stretch>
                <a:fillRect l="-15446" t="0" r="-15446" b="-2"/>
              </a:stretch>
            </a:blipFill>
          </p:spPr>
        </p:sp>
        <p:sp>
          <p:nvSpPr>
            <p:cNvPr name="TextBox 333" id="333"/>
            <p:cNvSpPr txBox="true"/>
            <p:nvPr/>
          </p:nvSpPr>
          <p:spPr>
            <a:xfrm>
              <a:off x="0" y="38100"/>
              <a:ext cx="388899" cy="160274"/>
            </a:xfrm>
            <a:prstGeom prst="rect">
              <a:avLst/>
            </a:prstGeom>
          </p:spPr>
          <p:txBody>
            <a:bodyPr anchor="ctr" rtlCol="false" tIns="0" lIns="0" bIns="0" rIns="0"/>
            <a:lstStyle/>
            <a:p>
              <a:pPr algn="l">
                <a:lnSpc>
                  <a:spcPts val="698"/>
                </a:lnSpc>
              </a:pPr>
              <a:r>
                <a:rPr lang="en-US" sz="832">
                  <a:solidFill>
                    <a:srgbClr val="7E7D7B"/>
                  </a:solidFill>
                  <a:latin typeface="TT Commons Pro"/>
                  <a:ea typeface="TT Commons Pro"/>
                  <a:cs typeface="TT Commons Pro"/>
                  <a:sym typeface="TT Commons Pro"/>
                </a:rPr>
                <a:t>Genie</a:t>
              </a:r>
            </a:p>
          </p:txBody>
        </p:sp>
      </p:grpSp>
      <p:grpSp>
        <p:nvGrpSpPr>
          <p:cNvPr name="Group 334" id="334"/>
          <p:cNvGrpSpPr/>
          <p:nvPr/>
        </p:nvGrpSpPr>
        <p:grpSpPr>
          <a:xfrm rot="0">
            <a:off x="1917764" y="5024095"/>
            <a:ext cx="211455" cy="226028"/>
            <a:chOff x="0" y="0"/>
            <a:chExt cx="281940" cy="301371"/>
          </a:xfrm>
        </p:grpSpPr>
        <p:sp>
          <p:nvSpPr>
            <p:cNvPr name="Freeform 335" id="335" descr="preencoded.png"/>
            <p:cNvSpPr/>
            <p:nvPr/>
          </p:nvSpPr>
          <p:spPr>
            <a:xfrm flipH="false" flipV="false" rot="0">
              <a:off x="0" y="0"/>
              <a:ext cx="281940" cy="301371"/>
            </a:xfrm>
            <a:custGeom>
              <a:avLst/>
              <a:gdLst/>
              <a:ahLst/>
              <a:cxnLst/>
              <a:rect r="r" b="b" t="t" l="l"/>
              <a:pathLst>
                <a:path h="301371" w="281940">
                  <a:moveTo>
                    <a:pt x="0" y="0"/>
                  </a:moveTo>
                  <a:lnTo>
                    <a:pt x="281940" y="0"/>
                  </a:lnTo>
                  <a:lnTo>
                    <a:pt x="281940" y="301371"/>
                  </a:lnTo>
                  <a:lnTo>
                    <a:pt x="0" y="301371"/>
                  </a:lnTo>
                  <a:lnTo>
                    <a:pt x="0" y="0"/>
                  </a:lnTo>
                  <a:close/>
                </a:path>
              </a:pathLst>
            </a:custGeom>
            <a:blipFill>
              <a:blip r:embed="rId65"/>
              <a:stretch>
                <a:fillRect l="-558" t="0" r="-554" b="0"/>
              </a:stretch>
            </a:blipFill>
          </p:spPr>
        </p:sp>
      </p:grpSp>
      <p:grpSp>
        <p:nvGrpSpPr>
          <p:cNvPr name="Group 336" id="336"/>
          <p:cNvGrpSpPr/>
          <p:nvPr/>
        </p:nvGrpSpPr>
        <p:grpSpPr>
          <a:xfrm rot="0">
            <a:off x="1217743" y="5352231"/>
            <a:ext cx="481260" cy="186842"/>
            <a:chOff x="0" y="0"/>
            <a:chExt cx="641680" cy="249123"/>
          </a:xfrm>
        </p:grpSpPr>
        <p:sp>
          <p:nvSpPr>
            <p:cNvPr name="Freeform 337" id="337"/>
            <p:cNvSpPr/>
            <p:nvPr/>
          </p:nvSpPr>
          <p:spPr>
            <a:xfrm flipH="false" flipV="false" rot="0">
              <a:off x="0" y="0"/>
              <a:ext cx="641731" cy="249174"/>
            </a:xfrm>
            <a:custGeom>
              <a:avLst/>
              <a:gdLst/>
              <a:ahLst/>
              <a:cxnLst/>
              <a:rect r="r" b="b" t="t" l="l"/>
              <a:pathLst>
                <a:path h="249174" w="641731">
                  <a:moveTo>
                    <a:pt x="0" y="0"/>
                  </a:moveTo>
                  <a:lnTo>
                    <a:pt x="641731" y="0"/>
                  </a:lnTo>
                  <a:lnTo>
                    <a:pt x="641731" y="249174"/>
                  </a:lnTo>
                  <a:lnTo>
                    <a:pt x="0" y="249174"/>
                  </a:lnTo>
                  <a:close/>
                </a:path>
              </a:pathLst>
            </a:custGeom>
            <a:blipFill>
              <a:blip r:embed="rId8">
                <a:alphaModFix amt="0"/>
              </a:blip>
              <a:stretch>
                <a:fillRect l="0" t="-152" r="7" b="-132"/>
              </a:stretch>
            </a:blipFill>
          </p:spPr>
        </p:sp>
      </p:grpSp>
      <p:grpSp>
        <p:nvGrpSpPr>
          <p:cNvPr name="Group 338" id="338"/>
          <p:cNvGrpSpPr/>
          <p:nvPr/>
        </p:nvGrpSpPr>
        <p:grpSpPr>
          <a:xfrm rot="0">
            <a:off x="1217743" y="5366518"/>
            <a:ext cx="481260" cy="172545"/>
            <a:chOff x="0" y="0"/>
            <a:chExt cx="641680" cy="230060"/>
          </a:xfrm>
        </p:grpSpPr>
        <p:sp>
          <p:nvSpPr>
            <p:cNvPr name="Freeform 339" id="339"/>
            <p:cNvSpPr/>
            <p:nvPr/>
          </p:nvSpPr>
          <p:spPr>
            <a:xfrm flipH="false" flipV="false" rot="0">
              <a:off x="0" y="0"/>
              <a:ext cx="641680" cy="230063"/>
            </a:xfrm>
            <a:custGeom>
              <a:avLst/>
              <a:gdLst/>
              <a:ahLst/>
              <a:cxnLst/>
              <a:rect r="r" b="b" t="t" l="l"/>
              <a:pathLst>
                <a:path h="230063" w="641680">
                  <a:moveTo>
                    <a:pt x="0" y="0"/>
                  </a:moveTo>
                  <a:lnTo>
                    <a:pt x="641680" y="0"/>
                  </a:lnTo>
                  <a:lnTo>
                    <a:pt x="641680" y="230063"/>
                  </a:lnTo>
                  <a:lnTo>
                    <a:pt x="0" y="230063"/>
                  </a:lnTo>
                  <a:close/>
                </a:path>
              </a:pathLst>
            </a:custGeom>
            <a:blipFill>
              <a:blip r:embed="rId9">
                <a:alphaModFix amt="0"/>
              </a:blip>
              <a:stretch>
                <a:fillRect l="0" t="-4347" r="0" b="-4346"/>
              </a:stretch>
            </a:blipFill>
          </p:spPr>
        </p:sp>
        <p:sp>
          <p:nvSpPr>
            <p:cNvPr name="TextBox 340" id="340"/>
            <p:cNvSpPr txBox="true"/>
            <p:nvPr/>
          </p:nvSpPr>
          <p:spPr>
            <a:xfrm>
              <a:off x="0" y="19050"/>
              <a:ext cx="641680" cy="211010"/>
            </a:xfrm>
            <a:prstGeom prst="rect">
              <a:avLst/>
            </a:prstGeom>
          </p:spPr>
          <p:txBody>
            <a:bodyPr anchor="ctr" rtlCol="false" tIns="0" lIns="0" bIns="0" rIns="0"/>
            <a:lstStyle/>
            <a:p>
              <a:pPr algn="l">
                <a:lnSpc>
                  <a:spcPts val="859"/>
                </a:lnSpc>
              </a:pPr>
              <a:r>
                <a:rPr lang="en-US" sz="882">
                  <a:solidFill>
                    <a:srgbClr val="838280"/>
                  </a:solidFill>
                  <a:latin typeface="TT Commons Pro"/>
                  <a:ea typeface="TT Commons Pro"/>
                  <a:cs typeface="TT Commons Pro"/>
                  <a:sym typeface="TT Commons Pro"/>
                </a:rPr>
                <a:t>Instamart</a:t>
              </a:r>
            </a:p>
          </p:txBody>
        </p:sp>
      </p:grpSp>
      <p:grpSp>
        <p:nvGrpSpPr>
          <p:cNvPr name="Group 341" id="341"/>
          <p:cNvGrpSpPr/>
          <p:nvPr/>
        </p:nvGrpSpPr>
        <p:grpSpPr>
          <a:xfrm rot="0">
            <a:off x="1312535" y="5053260"/>
            <a:ext cx="240602" cy="226028"/>
            <a:chOff x="0" y="0"/>
            <a:chExt cx="320802" cy="301371"/>
          </a:xfrm>
        </p:grpSpPr>
        <p:sp>
          <p:nvSpPr>
            <p:cNvPr name="Freeform 342" id="342" descr="preencoded.png"/>
            <p:cNvSpPr/>
            <p:nvPr/>
          </p:nvSpPr>
          <p:spPr>
            <a:xfrm flipH="false" flipV="false" rot="0">
              <a:off x="0" y="0"/>
              <a:ext cx="320802" cy="301371"/>
            </a:xfrm>
            <a:custGeom>
              <a:avLst/>
              <a:gdLst/>
              <a:ahLst/>
              <a:cxnLst/>
              <a:rect r="r" b="b" t="t" l="l"/>
              <a:pathLst>
                <a:path h="301371" w="320802">
                  <a:moveTo>
                    <a:pt x="0" y="0"/>
                  </a:moveTo>
                  <a:lnTo>
                    <a:pt x="320802" y="0"/>
                  </a:lnTo>
                  <a:lnTo>
                    <a:pt x="320802" y="301371"/>
                  </a:lnTo>
                  <a:lnTo>
                    <a:pt x="0" y="301371"/>
                  </a:lnTo>
                  <a:lnTo>
                    <a:pt x="0" y="0"/>
                  </a:lnTo>
                  <a:close/>
                </a:path>
              </a:pathLst>
            </a:custGeom>
            <a:blipFill>
              <a:blip r:embed="rId66"/>
              <a:stretch>
                <a:fillRect l="0" t="-493" r="0" b="-497"/>
              </a:stretch>
            </a:blipFill>
          </p:spPr>
        </p:sp>
      </p:grpSp>
      <p:grpSp>
        <p:nvGrpSpPr>
          <p:cNvPr name="Group 343" id="343"/>
          <p:cNvGrpSpPr/>
          <p:nvPr/>
        </p:nvGrpSpPr>
        <p:grpSpPr>
          <a:xfrm rot="0">
            <a:off x="743769" y="5381396"/>
            <a:ext cx="262509" cy="189643"/>
            <a:chOff x="0" y="0"/>
            <a:chExt cx="350012" cy="252857"/>
          </a:xfrm>
        </p:grpSpPr>
        <p:sp>
          <p:nvSpPr>
            <p:cNvPr name="Freeform 344" id="344"/>
            <p:cNvSpPr/>
            <p:nvPr/>
          </p:nvSpPr>
          <p:spPr>
            <a:xfrm flipH="false" flipV="false" rot="0">
              <a:off x="0" y="0"/>
              <a:ext cx="350012" cy="252857"/>
            </a:xfrm>
            <a:custGeom>
              <a:avLst/>
              <a:gdLst/>
              <a:ahLst/>
              <a:cxnLst/>
              <a:rect r="r" b="b" t="t" l="l"/>
              <a:pathLst>
                <a:path h="252857" w="350012">
                  <a:moveTo>
                    <a:pt x="0" y="0"/>
                  </a:moveTo>
                  <a:lnTo>
                    <a:pt x="350012" y="0"/>
                  </a:lnTo>
                  <a:lnTo>
                    <a:pt x="350012" y="252857"/>
                  </a:lnTo>
                  <a:lnTo>
                    <a:pt x="0" y="252857"/>
                  </a:lnTo>
                  <a:close/>
                </a:path>
              </a:pathLst>
            </a:custGeom>
            <a:blipFill>
              <a:blip r:embed="rId8">
                <a:alphaModFix amt="0"/>
              </a:blip>
              <a:stretch>
                <a:fillRect l="-42757" t="0" r="-42753" b="0"/>
              </a:stretch>
            </a:blipFill>
          </p:spPr>
        </p:sp>
      </p:grpSp>
      <p:grpSp>
        <p:nvGrpSpPr>
          <p:cNvPr name="Group 345" id="345"/>
          <p:cNvGrpSpPr/>
          <p:nvPr/>
        </p:nvGrpSpPr>
        <p:grpSpPr>
          <a:xfrm rot="0">
            <a:off x="743769" y="5409971"/>
            <a:ext cx="262509" cy="161077"/>
            <a:chOff x="0" y="0"/>
            <a:chExt cx="350012" cy="214770"/>
          </a:xfrm>
        </p:grpSpPr>
        <p:sp>
          <p:nvSpPr>
            <p:cNvPr name="Freeform 346" id="346"/>
            <p:cNvSpPr/>
            <p:nvPr/>
          </p:nvSpPr>
          <p:spPr>
            <a:xfrm flipH="false" flipV="false" rot="0">
              <a:off x="0" y="0"/>
              <a:ext cx="350012" cy="214765"/>
            </a:xfrm>
            <a:custGeom>
              <a:avLst/>
              <a:gdLst/>
              <a:ahLst/>
              <a:cxnLst/>
              <a:rect r="r" b="b" t="t" l="l"/>
              <a:pathLst>
                <a:path h="214765" w="350012">
                  <a:moveTo>
                    <a:pt x="0" y="0"/>
                  </a:moveTo>
                  <a:lnTo>
                    <a:pt x="350012" y="0"/>
                  </a:lnTo>
                  <a:lnTo>
                    <a:pt x="350012" y="214765"/>
                  </a:lnTo>
                  <a:lnTo>
                    <a:pt x="0" y="214765"/>
                  </a:lnTo>
                  <a:close/>
                </a:path>
              </a:pathLst>
            </a:custGeom>
            <a:blipFill>
              <a:blip r:embed="rId9">
                <a:alphaModFix amt="0"/>
              </a:blip>
              <a:stretch>
                <a:fillRect l="-28727" t="0" r="-28727" b="-2"/>
              </a:stretch>
            </a:blipFill>
          </p:spPr>
        </p:sp>
        <p:sp>
          <p:nvSpPr>
            <p:cNvPr name="TextBox 347" id="347"/>
            <p:cNvSpPr txBox="true"/>
            <p:nvPr/>
          </p:nvSpPr>
          <p:spPr>
            <a:xfrm>
              <a:off x="0" y="38100"/>
              <a:ext cx="350012" cy="176670"/>
            </a:xfrm>
            <a:prstGeom prst="rect">
              <a:avLst/>
            </a:prstGeom>
          </p:spPr>
          <p:txBody>
            <a:bodyPr anchor="ctr" rtlCol="false" tIns="0" lIns="0" bIns="0" rIns="0"/>
            <a:lstStyle/>
            <a:p>
              <a:pPr algn="l">
                <a:lnSpc>
                  <a:spcPts val="682"/>
                </a:lnSpc>
              </a:pPr>
              <a:r>
                <a:rPr lang="en-US" sz="880">
                  <a:solidFill>
                    <a:srgbClr val="7E7C7A"/>
                  </a:solidFill>
                  <a:latin typeface="TT Commons Pro"/>
                  <a:ea typeface="TT Commons Pro"/>
                  <a:cs typeface="TT Commons Pro"/>
                  <a:sym typeface="TT Commons Pro"/>
                </a:rPr>
                <a:t>Food</a:t>
              </a:r>
            </a:p>
          </p:txBody>
        </p:sp>
      </p:grpSp>
      <p:grpSp>
        <p:nvGrpSpPr>
          <p:cNvPr name="Group 348" id="348"/>
          <p:cNvGrpSpPr/>
          <p:nvPr/>
        </p:nvGrpSpPr>
        <p:grpSpPr>
          <a:xfrm rot="0">
            <a:off x="743769" y="5067843"/>
            <a:ext cx="211455" cy="233362"/>
            <a:chOff x="0" y="0"/>
            <a:chExt cx="281940" cy="311150"/>
          </a:xfrm>
        </p:grpSpPr>
        <p:sp>
          <p:nvSpPr>
            <p:cNvPr name="Freeform 349" id="349" descr="preencoded.png"/>
            <p:cNvSpPr/>
            <p:nvPr/>
          </p:nvSpPr>
          <p:spPr>
            <a:xfrm flipH="false" flipV="false" rot="0">
              <a:off x="0" y="0"/>
              <a:ext cx="281940" cy="311150"/>
            </a:xfrm>
            <a:custGeom>
              <a:avLst/>
              <a:gdLst/>
              <a:ahLst/>
              <a:cxnLst/>
              <a:rect r="r" b="b" t="t" l="l"/>
              <a:pathLst>
                <a:path h="311150" w="281940">
                  <a:moveTo>
                    <a:pt x="0" y="0"/>
                  </a:moveTo>
                  <a:lnTo>
                    <a:pt x="281940" y="0"/>
                  </a:lnTo>
                  <a:lnTo>
                    <a:pt x="281940" y="311150"/>
                  </a:lnTo>
                  <a:lnTo>
                    <a:pt x="0" y="311150"/>
                  </a:lnTo>
                  <a:lnTo>
                    <a:pt x="0" y="0"/>
                  </a:lnTo>
                  <a:close/>
                </a:path>
              </a:pathLst>
            </a:custGeom>
            <a:blipFill>
              <a:blip r:embed="rId67"/>
              <a:stretch>
                <a:fillRect l="0" t="-485" r="0" b="-481"/>
              </a:stretch>
            </a:blipFill>
          </p:spPr>
        </p:sp>
      </p:grpSp>
      <p:grpSp>
        <p:nvGrpSpPr>
          <p:cNvPr name="Group 350" id="350"/>
          <p:cNvGrpSpPr/>
          <p:nvPr/>
        </p:nvGrpSpPr>
        <p:grpSpPr>
          <a:xfrm rot="0">
            <a:off x="1976095" y="3864693"/>
            <a:ext cx="867727" cy="947928"/>
            <a:chOff x="0" y="0"/>
            <a:chExt cx="1156970" cy="1263904"/>
          </a:xfrm>
        </p:grpSpPr>
        <p:sp>
          <p:nvSpPr>
            <p:cNvPr name="Freeform 351" id="351" descr="preencoded.png"/>
            <p:cNvSpPr/>
            <p:nvPr/>
          </p:nvSpPr>
          <p:spPr>
            <a:xfrm flipH="false" flipV="false" rot="0">
              <a:off x="0" y="0"/>
              <a:ext cx="1156970" cy="1263904"/>
            </a:xfrm>
            <a:custGeom>
              <a:avLst/>
              <a:gdLst/>
              <a:ahLst/>
              <a:cxnLst/>
              <a:rect r="r" b="b" t="t" l="l"/>
              <a:pathLst>
                <a:path h="1263904" w="1156970">
                  <a:moveTo>
                    <a:pt x="0" y="0"/>
                  </a:moveTo>
                  <a:lnTo>
                    <a:pt x="1156970" y="0"/>
                  </a:lnTo>
                  <a:lnTo>
                    <a:pt x="1156970" y="1263904"/>
                  </a:lnTo>
                  <a:lnTo>
                    <a:pt x="0" y="1263904"/>
                  </a:lnTo>
                  <a:lnTo>
                    <a:pt x="0" y="0"/>
                  </a:lnTo>
                  <a:close/>
                </a:path>
              </a:pathLst>
            </a:custGeom>
            <a:blipFill>
              <a:blip r:embed="rId68"/>
              <a:stretch>
                <a:fillRect l="-419" t="0" r="-420" b="0"/>
              </a:stretch>
            </a:blipFill>
          </p:spPr>
        </p:sp>
      </p:grpSp>
      <p:grpSp>
        <p:nvGrpSpPr>
          <p:cNvPr name="Group 352" id="352"/>
          <p:cNvGrpSpPr/>
          <p:nvPr/>
        </p:nvGrpSpPr>
        <p:grpSpPr>
          <a:xfrm rot="0">
            <a:off x="656272" y="4068861"/>
            <a:ext cx="1152115" cy="415642"/>
            <a:chOff x="0" y="0"/>
            <a:chExt cx="1536154" cy="554190"/>
          </a:xfrm>
        </p:grpSpPr>
        <p:sp>
          <p:nvSpPr>
            <p:cNvPr name="Freeform 353" id="353"/>
            <p:cNvSpPr/>
            <p:nvPr/>
          </p:nvSpPr>
          <p:spPr>
            <a:xfrm flipH="false" flipV="false" rot="0">
              <a:off x="0" y="0"/>
              <a:ext cx="1536192" cy="554228"/>
            </a:xfrm>
            <a:custGeom>
              <a:avLst/>
              <a:gdLst/>
              <a:ahLst/>
              <a:cxnLst/>
              <a:rect r="r" b="b" t="t" l="l"/>
              <a:pathLst>
                <a:path h="554228" w="1536192">
                  <a:moveTo>
                    <a:pt x="0" y="0"/>
                  </a:moveTo>
                  <a:lnTo>
                    <a:pt x="1536192" y="0"/>
                  </a:lnTo>
                  <a:lnTo>
                    <a:pt x="1536192" y="554228"/>
                  </a:lnTo>
                  <a:lnTo>
                    <a:pt x="0" y="554228"/>
                  </a:lnTo>
                  <a:close/>
                </a:path>
              </a:pathLst>
            </a:custGeom>
            <a:blipFill>
              <a:blip r:embed="rId8">
                <a:alphaModFix amt="0"/>
              </a:blip>
              <a:stretch>
                <a:fillRect l="0" t="-3973" r="2" b="-3964"/>
              </a:stretch>
            </a:blipFill>
          </p:spPr>
        </p:sp>
      </p:grpSp>
      <p:grpSp>
        <p:nvGrpSpPr>
          <p:cNvPr name="Group 354" id="354"/>
          <p:cNvGrpSpPr/>
          <p:nvPr/>
        </p:nvGrpSpPr>
        <p:grpSpPr>
          <a:xfrm rot="0">
            <a:off x="656272" y="4068861"/>
            <a:ext cx="1152115" cy="415633"/>
            <a:chOff x="0" y="0"/>
            <a:chExt cx="1536154" cy="554177"/>
          </a:xfrm>
        </p:grpSpPr>
        <p:sp>
          <p:nvSpPr>
            <p:cNvPr name="Freeform 355" id="355"/>
            <p:cNvSpPr/>
            <p:nvPr/>
          </p:nvSpPr>
          <p:spPr>
            <a:xfrm flipH="false" flipV="false" rot="0">
              <a:off x="0" y="0"/>
              <a:ext cx="1536153" cy="554181"/>
            </a:xfrm>
            <a:custGeom>
              <a:avLst/>
              <a:gdLst/>
              <a:ahLst/>
              <a:cxnLst/>
              <a:rect r="r" b="b" t="t" l="l"/>
              <a:pathLst>
                <a:path h="554181" w="1536153">
                  <a:moveTo>
                    <a:pt x="0" y="0"/>
                  </a:moveTo>
                  <a:lnTo>
                    <a:pt x="1536153" y="0"/>
                  </a:lnTo>
                  <a:lnTo>
                    <a:pt x="1536153" y="554181"/>
                  </a:lnTo>
                  <a:lnTo>
                    <a:pt x="0" y="554181"/>
                  </a:lnTo>
                  <a:close/>
                </a:path>
              </a:pathLst>
            </a:custGeom>
            <a:blipFill>
              <a:blip r:embed="rId9">
                <a:alphaModFix amt="0"/>
              </a:blip>
              <a:stretch>
                <a:fillRect l="0" t="-4011" r="0" b="-4010"/>
              </a:stretch>
            </a:blipFill>
          </p:spPr>
        </p:sp>
        <p:sp>
          <p:nvSpPr>
            <p:cNvPr name="TextBox 356" id="356"/>
            <p:cNvSpPr txBox="true"/>
            <p:nvPr/>
          </p:nvSpPr>
          <p:spPr>
            <a:xfrm>
              <a:off x="0" y="0"/>
              <a:ext cx="1536154" cy="554177"/>
            </a:xfrm>
            <a:prstGeom prst="rect">
              <a:avLst/>
            </a:prstGeom>
          </p:spPr>
          <p:txBody>
            <a:bodyPr anchor="ctr" rtlCol="false" tIns="0" lIns="0" bIns="0" rIns="0"/>
            <a:lstStyle/>
            <a:p>
              <a:pPr algn="l">
                <a:lnSpc>
                  <a:spcPts val="1246"/>
                </a:lnSpc>
              </a:pPr>
              <a:r>
                <a:rPr lang="en-US" sz="1021" b="true">
                  <a:solidFill>
                    <a:srgbClr val="672004"/>
                  </a:solidFill>
                  <a:latin typeface="TT Commons Pro Bold"/>
                  <a:ea typeface="TT Commons Pro Bold"/>
                  <a:cs typeface="TT Commons Pro Bold"/>
                  <a:sym typeface="TT Commons Pro Bold"/>
                </a:rPr>
                <a:t>FOOD YOU LOVE,</a:t>
              </a:r>
            </a:p>
            <a:p>
              <a:pPr algn="l">
                <a:lnSpc>
                  <a:spcPts val="1246"/>
                </a:lnSpc>
              </a:pPr>
              <a:r>
                <a:rPr lang="en-US" sz="1021" b="true">
                  <a:solidFill>
                    <a:srgbClr val="672004"/>
                  </a:solidFill>
                  <a:latin typeface="TT Commons Pro Bold"/>
                  <a:ea typeface="TT Commons Pro Bold"/>
                  <a:cs typeface="TT Commons Pro Bold"/>
                  <a:sym typeface="TT Commons Pro Bold"/>
                </a:rPr>
                <a:t>DELIVERED FAST</a:t>
              </a:r>
            </a:p>
          </p:txBody>
        </p:sp>
      </p:grpSp>
      <p:sp>
        <p:nvSpPr>
          <p:cNvPr name="Freeform 357" id="357"/>
          <p:cNvSpPr/>
          <p:nvPr/>
        </p:nvSpPr>
        <p:spPr>
          <a:xfrm flipH="false" flipV="false" rot="0">
            <a:off x="518636" y="3384337"/>
            <a:ext cx="2141925" cy="413709"/>
          </a:xfrm>
          <a:custGeom>
            <a:avLst/>
            <a:gdLst/>
            <a:ahLst/>
            <a:cxnLst/>
            <a:rect r="r" b="b" t="t" l="l"/>
            <a:pathLst>
              <a:path h="413709" w="2141925">
                <a:moveTo>
                  <a:pt x="0" y="0"/>
                </a:moveTo>
                <a:lnTo>
                  <a:pt x="2141925" y="0"/>
                </a:lnTo>
                <a:lnTo>
                  <a:pt x="2141925" y="413709"/>
                </a:lnTo>
                <a:lnTo>
                  <a:pt x="0" y="413709"/>
                </a:lnTo>
                <a:lnTo>
                  <a:pt x="0" y="0"/>
                </a:lnTo>
                <a:close/>
              </a:path>
            </a:pathLst>
          </a:custGeom>
          <a:blipFill>
            <a:blip r:embed="rId69">
              <a:extLst>
                <a:ext uri="{96DAC541-7B7A-43D3-8B79-37D633B846F1}">
                  <asvg:svgBlip xmlns:asvg="http://schemas.microsoft.com/office/drawing/2016/SVG/main" r:embed="rId70"/>
                </a:ext>
              </a:extLst>
            </a:blip>
            <a:stretch>
              <a:fillRect l="0" t="0" r="0" b="0"/>
            </a:stretch>
          </a:blipFill>
        </p:spPr>
      </p:sp>
      <p:grpSp>
        <p:nvGrpSpPr>
          <p:cNvPr name="Group 358" id="358"/>
          <p:cNvGrpSpPr/>
          <p:nvPr/>
        </p:nvGrpSpPr>
        <p:grpSpPr>
          <a:xfrm rot="0">
            <a:off x="641680" y="3521974"/>
            <a:ext cx="160401" cy="160401"/>
            <a:chOff x="0" y="0"/>
            <a:chExt cx="213868" cy="213868"/>
          </a:xfrm>
        </p:grpSpPr>
        <p:sp>
          <p:nvSpPr>
            <p:cNvPr name="Freeform 359" id="359" descr="preencoded.png"/>
            <p:cNvSpPr/>
            <p:nvPr/>
          </p:nvSpPr>
          <p:spPr>
            <a:xfrm flipH="false" flipV="false" rot="0">
              <a:off x="0" y="0"/>
              <a:ext cx="213868" cy="213868"/>
            </a:xfrm>
            <a:custGeom>
              <a:avLst/>
              <a:gdLst/>
              <a:ahLst/>
              <a:cxnLst/>
              <a:rect r="r" b="b" t="t" l="l"/>
              <a:pathLst>
                <a:path h="213868" w="213868">
                  <a:moveTo>
                    <a:pt x="0" y="0"/>
                  </a:moveTo>
                  <a:lnTo>
                    <a:pt x="213868" y="0"/>
                  </a:lnTo>
                  <a:lnTo>
                    <a:pt x="213868" y="213868"/>
                  </a:lnTo>
                  <a:lnTo>
                    <a:pt x="0" y="213868"/>
                  </a:lnTo>
                  <a:lnTo>
                    <a:pt x="0" y="0"/>
                  </a:lnTo>
                  <a:close/>
                </a:path>
              </a:pathLst>
            </a:custGeom>
            <a:blipFill>
              <a:blip r:embed="rId71"/>
              <a:stretch>
                <a:fillRect l="0" t="0" r="0" b="0"/>
              </a:stretch>
            </a:blipFill>
          </p:spPr>
        </p:sp>
      </p:grpSp>
      <p:grpSp>
        <p:nvGrpSpPr>
          <p:cNvPr name="Group 360" id="360"/>
          <p:cNvGrpSpPr/>
          <p:nvPr/>
        </p:nvGrpSpPr>
        <p:grpSpPr>
          <a:xfrm rot="0">
            <a:off x="875024" y="3507391"/>
            <a:ext cx="1254204" cy="200235"/>
            <a:chOff x="0" y="0"/>
            <a:chExt cx="1672273" cy="266979"/>
          </a:xfrm>
        </p:grpSpPr>
        <p:sp>
          <p:nvSpPr>
            <p:cNvPr name="Freeform 361" id="361"/>
            <p:cNvSpPr/>
            <p:nvPr/>
          </p:nvSpPr>
          <p:spPr>
            <a:xfrm flipH="false" flipV="false" rot="0">
              <a:off x="0" y="0"/>
              <a:ext cx="1672209" cy="266954"/>
            </a:xfrm>
            <a:custGeom>
              <a:avLst/>
              <a:gdLst/>
              <a:ahLst/>
              <a:cxnLst/>
              <a:rect r="r" b="b" t="t" l="l"/>
              <a:pathLst>
                <a:path h="266954" w="1672209">
                  <a:moveTo>
                    <a:pt x="0" y="0"/>
                  </a:moveTo>
                  <a:lnTo>
                    <a:pt x="1672209" y="0"/>
                  </a:lnTo>
                  <a:lnTo>
                    <a:pt x="1672209" y="266954"/>
                  </a:lnTo>
                  <a:lnTo>
                    <a:pt x="0" y="266954"/>
                  </a:lnTo>
                  <a:close/>
                </a:path>
              </a:pathLst>
            </a:custGeom>
            <a:blipFill>
              <a:blip r:embed="rId8">
                <a:alphaModFix amt="0"/>
              </a:blip>
              <a:stretch>
                <a:fillRect l="0" t="-71969" r="-3" b="-71979"/>
              </a:stretch>
            </a:blipFill>
          </p:spPr>
        </p:sp>
      </p:grpSp>
      <p:grpSp>
        <p:nvGrpSpPr>
          <p:cNvPr name="Group 362" id="362"/>
          <p:cNvGrpSpPr/>
          <p:nvPr/>
        </p:nvGrpSpPr>
        <p:grpSpPr>
          <a:xfrm rot="0">
            <a:off x="875024" y="3514534"/>
            <a:ext cx="1254204" cy="193091"/>
            <a:chOff x="0" y="0"/>
            <a:chExt cx="1672273" cy="257454"/>
          </a:xfrm>
        </p:grpSpPr>
        <p:sp>
          <p:nvSpPr>
            <p:cNvPr name="Freeform 363" id="363"/>
            <p:cNvSpPr/>
            <p:nvPr/>
          </p:nvSpPr>
          <p:spPr>
            <a:xfrm flipH="false" flipV="false" rot="0">
              <a:off x="0" y="0"/>
              <a:ext cx="1672272" cy="257455"/>
            </a:xfrm>
            <a:custGeom>
              <a:avLst/>
              <a:gdLst/>
              <a:ahLst/>
              <a:cxnLst/>
              <a:rect r="r" b="b" t="t" l="l"/>
              <a:pathLst>
                <a:path h="257455" w="1672272">
                  <a:moveTo>
                    <a:pt x="0" y="0"/>
                  </a:moveTo>
                  <a:lnTo>
                    <a:pt x="1672272" y="0"/>
                  </a:lnTo>
                  <a:lnTo>
                    <a:pt x="1672272" y="257455"/>
                  </a:lnTo>
                  <a:lnTo>
                    <a:pt x="0" y="257455"/>
                  </a:lnTo>
                  <a:close/>
                </a:path>
              </a:pathLst>
            </a:custGeom>
            <a:blipFill>
              <a:blip r:embed="rId9">
                <a:alphaModFix amt="0"/>
              </a:blip>
              <a:stretch>
                <a:fillRect l="0" t="-76563" r="0" b="-76562"/>
              </a:stretch>
            </a:blipFill>
          </p:spPr>
        </p:sp>
        <p:sp>
          <p:nvSpPr>
            <p:cNvPr name="TextBox 364" id="364"/>
            <p:cNvSpPr txBox="true"/>
            <p:nvPr/>
          </p:nvSpPr>
          <p:spPr>
            <a:xfrm>
              <a:off x="0" y="9525"/>
              <a:ext cx="1672273" cy="247929"/>
            </a:xfrm>
            <a:prstGeom prst="rect">
              <a:avLst/>
            </a:prstGeom>
          </p:spPr>
          <p:txBody>
            <a:bodyPr anchor="ctr" rtlCol="false" tIns="0" lIns="0" bIns="0" rIns="0"/>
            <a:lstStyle/>
            <a:p>
              <a:pPr algn="l">
                <a:lnSpc>
                  <a:spcPts val="1032"/>
                </a:lnSpc>
              </a:pPr>
              <a:r>
                <a:rPr lang="en-US" sz="958">
                  <a:solidFill>
                    <a:srgbClr val="A2A1A1"/>
                  </a:solidFill>
                  <a:latin typeface="TT Commons Pro"/>
                  <a:ea typeface="TT Commons Pro"/>
                  <a:cs typeface="TT Commons Pro"/>
                  <a:sym typeface="TT Commons Pro"/>
                </a:rPr>
                <a:t>Search for restaurants</a:t>
              </a:r>
            </a:p>
          </p:txBody>
        </p:sp>
      </p:grpSp>
      <p:grpSp>
        <p:nvGrpSpPr>
          <p:cNvPr name="Group 365" id="365"/>
          <p:cNvGrpSpPr/>
          <p:nvPr/>
        </p:nvGrpSpPr>
        <p:grpSpPr>
          <a:xfrm rot="0">
            <a:off x="2413606" y="2967790"/>
            <a:ext cx="153162" cy="204216"/>
            <a:chOff x="0" y="0"/>
            <a:chExt cx="204216" cy="272288"/>
          </a:xfrm>
        </p:grpSpPr>
        <p:sp>
          <p:nvSpPr>
            <p:cNvPr name="Freeform 366" id="366" descr="preencoded.png"/>
            <p:cNvSpPr/>
            <p:nvPr/>
          </p:nvSpPr>
          <p:spPr>
            <a:xfrm flipH="false" flipV="false" rot="0">
              <a:off x="0" y="0"/>
              <a:ext cx="204216" cy="272288"/>
            </a:xfrm>
            <a:custGeom>
              <a:avLst/>
              <a:gdLst/>
              <a:ahLst/>
              <a:cxnLst/>
              <a:rect r="r" b="b" t="t" l="l"/>
              <a:pathLst>
                <a:path h="272288" w="204216">
                  <a:moveTo>
                    <a:pt x="0" y="0"/>
                  </a:moveTo>
                  <a:lnTo>
                    <a:pt x="204216" y="0"/>
                  </a:lnTo>
                  <a:lnTo>
                    <a:pt x="204216" y="272288"/>
                  </a:lnTo>
                  <a:lnTo>
                    <a:pt x="0" y="272288"/>
                  </a:lnTo>
                  <a:lnTo>
                    <a:pt x="0" y="0"/>
                  </a:lnTo>
                  <a:close/>
                </a:path>
              </a:pathLst>
            </a:custGeom>
            <a:blipFill>
              <a:blip r:embed="rId72"/>
              <a:stretch>
                <a:fillRect l="0" t="0" r="0" b="0"/>
              </a:stretch>
            </a:blipFill>
          </p:spPr>
        </p:sp>
      </p:grpSp>
      <p:grpSp>
        <p:nvGrpSpPr>
          <p:cNvPr name="Group 367" id="367"/>
          <p:cNvGrpSpPr/>
          <p:nvPr/>
        </p:nvGrpSpPr>
        <p:grpSpPr>
          <a:xfrm rot="0">
            <a:off x="1305239" y="2989669"/>
            <a:ext cx="714604" cy="282759"/>
            <a:chOff x="0" y="0"/>
            <a:chExt cx="952805" cy="377012"/>
          </a:xfrm>
        </p:grpSpPr>
        <p:sp>
          <p:nvSpPr>
            <p:cNvPr name="Freeform 368" id="368"/>
            <p:cNvSpPr/>
            <p:nvPr/>
          </p:nvSpPr>
          <p:spPr>
            <a:xfrm flipH="false" flipV="false" rot="0">
              <a:off x="0" y="0"/>
              <a:ext cx="952754" cy="377063"/>
            </a:xfrm>
            <a:custGeom>
              <a:avLst/>
              <a:gdLst/>
              <a:ahLst/>
              <a:cxnLst/>
              <a:rect r="r" b="b" t="t" l="l"/>
              <a:pathLst>
                <a:path h="377063" w="952754">
                  <a:moveTo>
                    <a:pt x="0" y="0"/>
                  </a:moveTo>
                  <a:lnTo>
                    <a:pt x="952754" y="0"/>
                  </a:lnTo>
                  <a:lnTo>
                    <a:pt x="952754" y="377063"/>
                  </a:lnTo>
                  <a:lnTo>
                    <a:pt x="0" y="377063"/>
                  </a:lnTo>
                  <a:close/>
                </a:path>
              </a:pathLst>
            </a:custGeom>
            <a:blipFill>
              <a:blip r:embed="rId8">
                <a:alphaModFix amt="0"/>
              </a:blip>
              <a:stretch>
                <a:fillRect l="-803" t="0" r="-809" b="13"/>
              </a:stretch>
            </a:blipFill>
          </p:spPr>
        </p:sp>
      </p:grpSp>
      <p:grpSp>
        <p:nvGrpSpPr>
          <p:cNvPr name="Group 369" id="369"/>
          <p:cNvGrpSpPr/>
          <p:nvPr/>
        </p:nvGrpSpPr>
        <p:grpSpPr>
          <a:xfrm rot="0">
            <a:off x="1305239" y="3039675"/>
            <a:ext cx="714604" cy="232753"/>
            <a:chOff x="0" y="0"/>
            <a:chExt cx="952805" cy="310337"/>
          </a:xfrm>
        </p:grpSpPr>
        <p:sp>
          <p:nvSpPr>
            <p:cNvPr name="Freeform 370" id="370"/>
            <p:cNvSpPr/>
            <p:nvPr/>
          </p:nvSpPr>
          <p:spPr>
            <a:xfrm flipH="false" flipV="false" rot="0">
              <a:off x="0" y="0"/>
              <a:ext cx="952805" cy="310341"/>
            </a:xfrm>
            <a:custGeom>
              <a:avLst/>
              <a:gdLst/>
              <a:ahLst/>
              <a:cxnLst/>
              <a:rect r="r" b="b" t="t" l="l"/>
              <a:pathLst>
                <a:path h="310341" w="952805">
                  <a:moveTo>
                    <a:pt x="0" y="0"/>
                  </a:moveTo>
                  <a:lnTo>
                    <a:pt x="952805" y="0"/>
                  </a:lnTo>
                  <a:lnTo>
                    <a:pt x="952805" y="310341"/>
                  </a:lnTo>
                  <a:lnTo>
                    <a:pt x="0" y="310341"/>
                  </a:lnTo>
                  <a:close/>
                </a:path>
              </a:pathLst>
            </a:custGeom>
            <a:blipFill>
              <a:blip r:embed="rId9">
                <a:alphaModFix amt="0"/>
              </a:blip>
              <a:stretch>
                <a:fillRect l="0" t="-9823" r="0" b="-9822"/>
              </a:stretch>
            </a:blipFill>
          </p:spPr>
        </p:sp>
        <p:sp>
          <p:nvSpPr>
            <p:cNvPr name="TextBox 371" id="371"/>
            <p:cNvSpPr txBox="true"/>
            <p:nvPr/>
          </p:nvSpPr>
          <p:spPr>
            <a:xfrm>
              <a:off x="0" y="66675"/>
              <a:ext cx="952805" cy="243662"/>
            </a:xfrm>
            <a:prstGeom prst="rect">
              <a:avLst/>
            </a:prstGeom>
          </p:spPr>
          <p:txBody>
            <a:bodyPr anchor="ctr" rtlCol="false" tIns="0" lIns="0" bIns="0" rIns="0"/>
            <a:lstStyle/>
            <a:p>
              <a:pPr algn="l">
                <a:lnSpc>
                  <a:spcPts val="996"/>
                </a:lnSpc>
              </a:pPr>
              <a:r>
                <a:rPr lang="en-US" sz="1317" b="true">
                  <a:solidFill>
                    <a:srgbClr val="F2BB9C"/>
                  </a:solidFill>
                  <a:latin typeface="TT Commons Pro Bold"/>
                  <a:ea typeface="TT Commons Pro Bold"/>
                  <a:cs typeface="TT Commons Pro Bold"/>
                  <a:sym typeface="TT Commons Pro Bold"/>
                </a:rPr>
                <a:t>SWIGGY</a:t>
              </a:r>
            </a:p>
          </p:txBody>
        </p:sp>
      </p:grpSp>
      <p:grpSp>
        <p:nvGrpSpPr>
          <p:cNvPr name="Group 372" id="372"/>
          <p:cNvGrpSpPr/>
          <p:nvPr/>
        </p:nvGrpSpPr>
        <p:grpSpPr>
          <a:xfrm rot="0">
            <a:off x="1028157" y="2916746"/>
            <a:ext cx="211455" cy="342710"/>
            <a:chOff x="0" y="0"/>
            <a:chExt cx="281940" cy="456946"/>
          </a:xfrm>
        </p:grpSpPr>
        <p:sp>
          <p:nvSpPr>
            <p:cNvPr name="Freeform 373" id="373" descr="preencoded.png"/>
            <p:cNvSpPr/>
            <p:nvPr/>
          </p:nvSpPr>
          <p:spPr>
            <a:xfrm flipH="false" flipV="false" rot="0">
              <a:off x="0" y="0"/>
              <a:ext cx="281940" cy="456946"/>
            </a:xfrm>
            <a:custGeom>
              <a:avLst/>
              <a:gdLst/>
              <a:ahLst/>
              <a:cxnLst/>
              <a:rect r="r" b="b" t="t" l="l"/>
              <a:pathLst>
                <a:path h="456946" w="281940">
                  <a:moveTo>
                    <a:pt x="0" y="0"/>
                  </a:moveTo>
                  <a:lnTo>
                    <a:pt x="281940" y="0"/>
                  </a:lnTo>
                  <a:lnTo>
                    <a:pt x="281940" y="456946"/>
                  </a:lnTo>
                  <a:lnTo>
                    <a:pt x="0" y="456946"/>
                  </a:lnTo>
                  <a:lnTo>
                    <a:pt x="0" y="0"/>
                  </a:lnTo>
                  <a:close/>
                </a:path>
              </a:pathLst>
            </a:custGeom>
            <a:blipFill>
              <a:blip r:embed="rId73"/>
              <a:stretch>
                <a:fillRect l="-648" t="0" r="-644" b="0"/>
              </a:stretch>
            </a:blipFill>
          </p:spPr>
        </p:sp>
      </p:grpSp>
      <p:grpSp>
        <p:nvGrpSpPr>
          <p:cNvPr name="Group 374" id="374"/>
          <p:cNvGrpSpPr/>
          <p:nvPr/>
        </p:nvGrpSpPr>
        <p:grpSpPr>
          <a:xfrm rot="0">
            <a:off x="2420903" y="2661533"/>
            <a:ext cx="145828" cy="65627"/>
            <a:chOff x="0" y="0"/>
            <a:chExt cx="194437" cy="87503"/>
          </a:xfrm>
        </p:grpSpPr>
        <p:sp>
          <p:nvSpPr>
            <p:cNvPr name="Freeform 375" id="375" descr="preencoded.png"/>
            <p:cNvSpPr/>
            <p:nvPr/>
          </p:nvSpPr>
          <p:spPr>
            <a:xfrm flipH="false" flipV="false" rot="0">
              <a:off x="0" y="0"/>
              <a:ext cx="194437" cy="87503"/>
            </a:xfrm>
            <a:custGeom>
              <a:avLst/>
              <a:gdLst/>
              <a:ahLst/>
              <a:cxnLst/>
              <a:rect r="r" b="b" t="t" l="l"/>
              <a:pathLst>
                <a:path h="87503" w="194437">
                  <a:moveTo>
                    <a:pt x="0" y="0"/>
                  </a:moveTo>
                  <a:lnTo>
                    <a:pt x="194437" y="0"/>
                  </a:lnTo>
                  <a:lnTo>
                    <a:pt x="194437" y="87503"/>
                  </a:lnTo>
                  <a:lnTo>
                    <a:pt x="0" y="87503"/>
                  </a:lnTo>
                  <a:lnTo>
                    <a:pt x="0" y="0"/>
                  </a:lnTo>
                  <a:close/>
                </a:path>
              </a:pathLst>
            </a:custGeom>
            <a:blipFill>
              <a:blip r:embed="rId74"/>
              <a:stretch>
                <a:fillRect l="-1430" t="0" r="-1436" b="0"/>
              </a:stretch>
            </a:blipFill>
          </p:spPr>
        </p:sp>
      </p:grpSp>
      <p:grpSp>
        <p:nvGrpSpPr>
          <p:cNvPr name="Group 376" id="376"/>
          <p:cNvGrpSpPr/>
          <p:nvPr/>
        </p:nvGrpSpPr>
        <p:grpSpPr>
          <a:xfrm rot="0">
            <a:off x="2282352" y="2646950"/>
            <a:ext cx="102108" cy="87535"/>
            <a:chOff x="0" y="0"/>
            <a:chExt cx="136144" cy="116713"/>
          </a:xfrm>
        </p:grpSpPr>
        <p:sp>
          <p:nvSpPr>
            <p:cNvPr name="Freeform 377" id="377" descr="preencoded.png"/>
            <p:cNvSpPr/>
            <p:nvPr/>
          </p:nvSpPr>
          <p:spPr>
            <a:xfrm flipH="false" flipV="false" rot="0">
              <a:off x="0" y="0"/>
              <a:ext cx="136144" cy="116713"/>
            </a:xfrm>
            <a:custGeom>
              <a:avLst/>
              <a:gdLst/>
              <a:ahLst/>
              <a:cxnLst/>
              <a:rect r="r" b="b" t="t" l="l"/>
              <a:pathLst>
                <a:path h="116713" w="136144">
                  <a:moveTo>
                    <a:pt x="0" y="0"/>
                  </a:moveTo>
                  <a:lnTo>
                    <a:pt x="136144" y="0"/>
                  </a:lnTo>
                  <a:lnTo>
                    <a:pt x="136144" y="116713"/>
                  </a:lnTo>
                  <a:lnTo>
                    <a:pt x="0" y="116713"/>
                  </a:lnTo>
                  <a:lnTo>
                    <a:pt x="0" y="0"/>
                  </a:lnTo>
                  <a:close/>
                </a:path>
              </a:pathLst>
            </a:custGeom>
            <a:blipFill>
              <a:blip r:embed="rId75"/>
              <a:stretch>
                <a:fillRect l="-2388" t="0" r="-2388" b="0"/>
              </a:stretch>
            </a:blipFill>
          </p:spPr>
        </p:sp>
      </p:grpSp>
      <p:grpSp>
        <p:nvGrpSpPr>
          <p:cNvPr name="Group 378" id="378"/>
          <p:cNvGrpSpPr/>
          <p:nvPr/>
        </p:nvGrpSpPr>
        <p:grpSpPr>
          <a:xfrm rot="0">
            <a:off x="2136515" y="2646950"/>
            <a:ext cx="123920" cy="87535"/>
            <a:chOff x="0" y="0"/>
            <a:chExt cx="165227" cy="116713"/>
          </a:xfrm>
        </p:grpSpPr>
        <p:sp>
          <p:nvSpPr>
            <p:cNvPr name="Freeform 379" id="379" descr="preencoded.png"/>
            <p:cNvSpPr/>
            <p:nvPr/>
          </p:nvSpPr>
          <p:spPr>
            <a:xfrm flipH="false" flipV="false" rot="0">
              <a:off x="0" y="0"/>
              <a:ext cx="165227" cy="116713"/>
            </a:xfrm>
            <a:custGeom>
              <a:avLst/>
              <a:gdLst/>
              <a:ahLst/>
              <a:cxnLst/>
              <a:rect r="r" b="b" t="t" l="l"/>
              <a:pathLst>
                <a:path h="116713" w="165227">
                  <a:moveTo>
                    <a:pt x="0" y="0"/>
                  </a:moveTo>
                  <a:lnTo>
                    <a:pt x="165227" y="0"/>
                  </a:lnTo>
                  <a:lnTo>
                    <a:pt x="165227" y="116713"/>
                  </a:lnTo>
                  <a:lnTo>
                    <a:pt x="0" y="116713"/>
                  </a:lnTo>
                  <a:lnTo>
                    <a:pt x="0" y="0"/>
                  </a:lnTo>
                  <a:close/>
                </a:path>
              </a:pathLst>
            </a:custGeom>
            <a:blipFill>
              <a:blip r:embed="rId76"/>
              <a:stretch>
                <a:fillRect l="0" t="-968" r="0" b="-957"/>
              </a:stretch>
            </a:blipFill>
          </p:spPr>
        </p:sp>
      </p:grpSp>
      <p:grpSp>
        <p:nvGrpSpPr>
          <p:cNvPr name="Group 380" id="380"/>
          <p:cNvGrpSpPr/>
          <p:nvPr/>
        </p:nvGrpSpPr>
        <p:grpSpPr>
          <a:xfrm rot="0">
            <a:off x="517722" y="2595905"/>
            <a:ext cx="255213" cy="192462"/>
            <a:chOff x="0" y="0"/>
            <a:chExt cx="340284" cy="256616"/>
          </a:xfrm>
        </p:grpSpPr>
        <p:sp>
          <p:nvSpPr>
            <p:cNvPr name="Freeform 381" id="381"/>
            <p:cNvSpPr/>
            <p:nvPr/>
          </p:nvSpPr>
          <p:spPr>
            <a:xfrm flipH="false" flipV="false" rot="0">
              <a:off x="0" y="0"/>
              <a:ext cx="340233" cy="256667"/>
            </a:xfrm>
            <a:custGeom>
              <a:avLst/>
              <a:gdLst/>
              <a:ahLst/>
              <a:cxnLst/>
              <a:rect r="r" b="b" t="t" l="l"/>
              <a:pathLst>
                <a:path h="256667" w="340233">
                  <a:moveTo>
                    <a:pt x="0" y="0"/>
                  </a:moveTo>
                  <a:lnTo>
                    <a:pt x="340233" y="0"/>
                  </a:lnTo>
                  <a:lnTo>
                    <a:pt x="340233" y="256667"/>
                  </a:lnTo>
                  <a:lnTo>
                    <a:pt x="0" y="256667"/>
                  </a:lnTo>
                  <a:close/>
                </a:path>
              </a:pathLst>
            </a:custGeom>
            <a:blipFill>
              <a:blip r:embed="rId8">
                <a:alphaModFix amt="0"/>
              </a:blip>
              <a:stretch>
                <a:fillRect l="-46827" t="0" r="-46845" b="19"/>
              </a:stretch>
            </a:blipFill>
          </p:spPr>
        </p:sp>
      </p:grpSp>
      <p:grpSp>
        <p:nvGrpSpPr>
          <p:cNvPr name="Group 382" id="382"/>
          <p:cNvGrpSpPr/>
          <p:nvPr/>
        </p:nvGrpSpPr>
        <p:grpSpPr>
          <a:xfrm rot="0">
            <a:off x="517722" y="2624480"/>
            <a:ext cx="255213" cy="163887"/>
            <a:chOff x="0" y="0"/>
            <a:chExt cx="340284" cy="218516"/>
          </a:xfrm>
        </p:grpSpPr>
        <p:sp>
          <p:nvSpPr>
            <p:cNvPr name="Freeform 383" id="383"/>
            <p:cNvSpPr/>
            <p:nvPr/>
          </p:nvSpPr>
          <p:spPr>
            <a:xfrm flipH="false" flipV="false" rot="0">
              <a:off x="0" y="0"/>
              <a:ext cx="340284" cy="218511"/>
            </a:xfrm>
            <a:custGeom>
              <a:avLst/>
              <a:gdLst/>
              <a:ahLst/>
              <a:cxnLst/>
              <a:rect r="r" b="b" t="t" l="l"/>
              <a:pathLst>
                <a:path h="218511" w="340284">
                  <a:moveTo>
                    <a:pt x="0" y="0"/>
                  </a:moveTo>
                  <a:lnTo>
                    <a:pt x="340284" y="0"/>
                  </a:lnTo>
                  <a:lnTo>
                    <a:pt x="340284" y="218511"/>
                  </a:lnTo>
                  <a:lnTo>
                    <a:pt x="0" y="218511"/>
                  </a:lnTo>
                  <a:close/>
                </a:path>
              </a:pathLst>
            </a:custGeom>
            <a:blipFill>
              <a:blip r:embed="rId9">
                <a:alphaModFix amt="0"/>
              </a:blip>
              <a:stretch>
                <a:fillRect l="-32391" t="0" r="-32391" b="-2"/>
              </a:stretch>
            </a:blipFill>
          </p:spPr>
        </p:sp>
        <p:sp>
          <p:nvSpPr>
            <p:cNvPr name="TextBox 384" id="384"/>
            <p:cNvSpPr txBox="true"/>
            <p:nvPr/>
          </p:nvSpPr>
          <p:spPr>
            <a:xfrm>
              <a:off x="0" y="38100"/>
              <a:ext cx="340284" cy="180416"/>
            </a:xfrm>
            <a:prstGeom prst="rect">
              <a:avLst/>
            </a:prstGeom>
          </p:spPr>
          <p:txBody>
            <a:bodyPr anchor="ctr" rtlCol="false" tIns="0" lIns="0" bIns="0" rIns="0"/>
            <a:lstStyle/>
            <a:p>
              <a:pPr algn="l">
                <a:lnSpc>
                  <a:spcPts val="746"/>
                </a:lnSpc>
              </a:pPr>
              <a:r>
                <a:rPr lang="en-US" sz="930">
                  <a:solidFill>
                    <a:srgbClr val="F4A475"/>
                  </a:solidFill>
                  <a:latin typeface="TT Commons Pro"/>
                  <a:ea typeface="TT Commons Pro"/>
                  <a:cs typeface="TT Commons Pro"/>
                  <a:sym typeface="TT Commons Pro"/>
                </a:rPr>
                <a:t>9:41</a:t>
              </a:r>
            </a:p>
          </p:txBody>
        </p:sp>
      </p:grpSp>
      <p:grpSp>
        <p:nvGrpSpPr>
          <p:cNvPr name="Group 385" id="385"/>
          <p:cNvGrpSpPr/>
          <p:nvPr/>
        </p:nvGrpSpPr>
        <p:grpSpPr>
          <a:xfrm rot="0">
            <a:off x="6832502" y="9096604"/>
            <a:ext cx="772954" cy="532352"/>
            <a:chOff x="0" y="0"/>
            <a:chExt cx="1030605" cy="709803"/>
          </a:xfrm>
        </p:grpSpPr>
        <p:sp>
          <p:nvSpPr>
            <p:cNvPr name="Freeform 386" id="386" descr="preencoded.png"/>
            <p:cNvSpPr/>
            <p:nvPr/>
          </p:nvSpPr>
          <p:spPr>
            <a:xfrm flipH="false" flipV="false" rot="0">
              <a:off x="0" y="0"/>
              <a:ext cx="1030605" cy="709803"/>
            </a:xfrm>
            <a:custGeom>
              <a:avLst/>
              <a:gdLst/>
              <a:ahLst/>
              <a:cxnLst/>
              <a:rect r="r" b="b" t="t" l="l"/>
              <a:pathLst>
                <a:path h="709803" w="1030605">
                  <a:moveTo>
                    <a:pt x="0" y="0"/>
                  </a:moveTo>
                  <a:lnTo>
                    <a:pt x="1030605" y="0"/>
                  </a:lnTo>
                  <a:lnTo>
                    <a:pt x="1030605" y="709803"/>
                  </a:lnTo>
                  <a:lnTo>
                    <a:pt x="0" y="709803"/>
                  </a:lnTo>
                  <a:lnTo>
                    <a:pt x="0" y="0"/>
                  </a:lnTo>
                  <a:close/>
                </a:path>
              </a:pathLst>
            </a:custGeom>
            <a:blipFill>
              <a:blip r:embed="rId77"/>
              <a:stretch>
                <a:fillRect l="-268" t="0" r="-269" b="0"/>
              </a:stretch>
            </a:blipFill>
          </p:spPr>
        </p:sp>
      </p:grpSp>
      <p:grpSp>
        <p:nvGrpSpPr>
          <p:cNvPr name="Group 387" id="387"/>
          <p:cNvGrpSpPr/>
          <p:nvPr/>
        </p:nvGrpSpPr>
        <p:grpSpPr>
          <a:xfrm rot="0">
            <a:off x="10070068" y="9027328"/>
            <a:ext cx="624973" cy="729196"/>
            <a:chOff x="0" y="0"/>
            <a:chExt cx="833298" cy="972261"/>
          </a:xfrm>
        </p:grpSpPr>
        <p:sp>
          <p:nvSpPr>
            <p:cNvPr name="Freeform 388" id="388" descr="preencoded.png"/>
            <p:cNvSpPr/>
            <p:nvPr/>
          </p:nvSpPr>
          <p:spPr>
            <a:xfrm flipH="false" flipV="false" rot="0">
              <a:off x="0" y="0"/>
              <a:ext cx="833247" cy="972312"/>
            </a:xfrm>
            <a:custGeom>
              <a:avLst/>
              <a:gdLst/>
              <a:ahLst/>
              <a:cxnLst/>
              <a:rect r="r" b="b" t="t" l="l"/>
              <a:pathLst>
                <a:path h="972312" w="833247">
                  <a:moveTo>
                    <a:pt x="0" y="0"/>
                  </a:moveTo>
                  <a:lnTo>
                    <a:pt x="833247" y="0"/>
                  </a:lnTo>
                  <a:lnTo>
                    <a:pt x="833247" y="972312"/>
                  </a:lnTo>
                  <a:lnTo>
                    <a:pt x="0" y="972312"/>
                  </a:lnTo>
                  <a:lnTo>
                    <a:pt x="0" y="0"/>
                  </a:lnTo>
                  <a:close/>
                </a:path>
              </a:pathLst>
            </a:custGeom>
            <a:blipFill>
              <a:blip r:embed="rId78"/>
              <a:stretch>
                <a:fillRect l="0" t="-70" r="-6" b="-65"/>
              </a:stretch>
            </a:blipFill>
          </p:spPr>
        </p:sp>
      </p:grpSp>
      <p:sp>
        <p:nvSpPr>
          <p:cNvPr name="TextBox 389" id="389"/>
          <p:cNvSpPr txBox="true"/>
          <p:nvPr/>
        </p:nvSpPr>
        <p:spPr>
          <a:xfrm rot="0">
            <a:off x="2139010" y="9763535"/>
            <a:ext cx="7909179" cy="292732"/>
          </a:xfrm>
          <a:prstGeom prst="rect">
            <a:avLst/>
          </a:prstGeom>
        </p:spPr>
        <p:txBody>
          <a:bodyPr anchor="t" rtlCol="false" tIns="0" lIns="0" bIns="0" rIns="0">
            <a:spAutoFit/>
          </a:bodyPr>
          <a:lstStyle/>
          <a:p>
            <a:pPr algn="ctr">
              <a:lnSpc>
                <a:spcPts val="2210"/>
              </a:lnSpc>
            </a:pPr>
            <a:r>
              <a:rPr lang="en-US" sz="1700" b="true">
                <a:solidFill>
                  <a:srgbClr val="EC7624"/>
                </a:solidFill>
                <a:latin typeface="TT Commons Pro Bold"/>
                <a:ea typeface="TT Commons Pro Bold"/>
                <a:cs typeface="TT Commons Pro Bold"/>
                <a:sym typeface="TT Commons Pro Bold"/>
              </a:rPr>
              <a:t>SWIGGY</a:t>
            </a:r>
            <a:r>
              <a:rPr lang="en-US" sz="1700" b="true">
                <a:solidFill>
                  <a:srgbClr val="F2EFEB"/>
                </a:solidFill>
                <a:latin typeface="TT Commons Pro Bold"/>
                <a:ea typeface="TT Commons Pro Bold"/>
                <a:cs typeface="TT Commons Pro Bold"/>
                <a:sym typeface="TT Commons Pro Bold"/>
              </a:rPr>
              <a:t> VS</a:t>
            </a:r>
            <a:r>
              <a:rPr lang="en-US" sz="1700" b="true">
                <a:solidFill>
                  <a:srgbClr val="CF0B23"/>
                </a:solidFill>
                <a:latin typeface="TT Commons Pro Bold"/>
                <a:ea typeface="TT Commons Pro Bold"/>
                <a:cs typeface="TT Commons Pro Bold"/>
                <a:sym typeface="TT Commons Pro Bold"/>
              </a:rPr>
              <a:t> ZOMATO</a:t>
            </a:r>
            <a:r>
              <a:rPr lang="en-US" sz="1700" b="true">
                <a:solidFill>
                  <a:srgbClr val="F2EFEB"/>
                </a:solidFill>
                <a:latin typeface="TT Commons Pro Bold"/>
                <a:ea typeface="TT Commons Pro Bold"/>
                <a:cs typeface="TT Commons Pro Bold"/>
                <a:sym typeface="TT Commons Pro Bold"/>
              </a:rPr>
              <a:t>: Restaurant Performance and Customer Insights Analysis</a:t>
            </a:r>
          </a:p>
        </p:txBody>
      </p:sp>
      <p:grpSp>
        <p:nvGrpSpPr>
          <p:cNvPr name="Group 390" id="390"/>
          <p:cNvGrpSpPr/>
          <p:nvPr/>
        </p:nvGrpSpPr>
        <p:grpSpPr>
          <a:xfrm rot="0">
            <a:off x="1359941" y="9732274"/>
            <a:ext cx="896903" cy="393354"/>
            <a:chOff x="0" y="0"/>
            <a:chExt cx="1195870" cy="524472"/>
          </a:xfrm>
        </p:grpSpPr>
        <p:sp>
          <p:nvSpPr>
            <p:cNvPr name="Freeform 391" id="391"/>
            <p:cNvSpPr/>
            <p:nvPr/>
          </p:nvSpPr>
          <p:spPr>
            <a:xfrm flipH="false" flipV="false" rot="0">
              <a:off x="0" y="0"/>
              <a:ext cx="1195832" cy="524510"/>
            </a:xfrm>
            <a:custGeom>
              <a:avLst/>
              <a:gdLst/>
              <a:ahLst/>
              <a:cxnLst/>
              <a:rect r="r" b="b" t="t" l="l"/>
              <a:pathLst>
                <a:path h="524510" w="1195832">
                  <a:moveTo>
                    <a:pt x="0" y="0"/>
                  </a:moveTo>
                  <a:lnTo>
                    <a:pt x="1195832" y="0"/>
                  </a:lnTo>
                  <a:lnTo>
                    <a:pt x="1195832" y="524510"/>
                  </a:lnTo>
                  <a:lnTo>
                    <a:pt x="0" y="524510"/>
                  </a:lnTo>
                  <a:close/>
                </a:path>
              </a:pathLst>
            </a:custGeom>
            <a:blipFill>
              <a:blip r:embed="rId8">
                <a:alphaModFix amt="0"/>
              </a:blip>
              <a:stretch>
                <a:fillRect l="-6309" t="0" r="-6312" b="7"/>
              </a:stretch>
            </a:blipFill>
          </p:spPr>
        </p:sp>
      </p:grpSp>
      <p:grpSp>
        <p:nvGrpSpPr>
          <p:cNvPr name="Group 392" id="392"/>
          <p:cNvGrpSpPr/>
          <p:nvPr/>
        </p:nvGrpSpPr>
        <p:grpSpPr>
          <a:xfrm rot="0">
            <a:off x="1359941" y="9767992"/>
            <a:ext cx="896903" cy="357635"/>
            <a:chOff x="0" y="0"/>
            <a:chExt cx="1195870" cy="476847"/>
          </a:xfrm>
        </p:grpSpPr>
        <p:sp>
          <p:nvSpPr>
            <p:cNvPr name="Freeform 393" id="393"/>
            <p:cNvSpPr/>
            <p:nvPr/>
          </p:nvSpPr>
          <p:spPr>
            <a:xfrm flipH="false" flipV="false" rot="0">
              <a:off x="0" y="0"/>
              <a:ext cx="1195871" cy="476844"/>
            </a:xfrm>
            <a:custGeom>
              <a:avLst/>
              <a:gdLst/>
              <a:ahLst/>
              <a:cxnLst/>
              <a:rect r="r" b="b" t="t" l="l"/>
              <a:pathLst>
                <a:path h="476844" w="1195871">
                  <a:moveTo>
                    <a:pt x="0" y="0"/>
                  </a:moveTo>
                  <a:lnTo>
                    <a:pt x="1195871" y="0"/>
                  </a:lnTo>
                  <a:lnTo>
                    <a:pt x="1195871" y="476844"/>
                  </a:lnTo>
                  <a:lnTo>
                    <a:pt x="0" y="476844"/>
                  </a:lnTo>
                  <a:close/>
                </a:path>
              </a:pathLst>
            </a:custGeom>
            <a:blipFill>
              <a:blip r:embed="rId9">
                <a:alphaModFix amt="0"/>
              </a:blip>
              <a:stretch>
                <a:fillRect l="-1160" t="0" r="-1160" b="0"/>
              </a:stretch>
            </a:blipFill>
          </p:spPr>
        </p:sp>
        <p:sp>
          <p:nvSpPr>
            <p:cNvPr name="TextBox 394" id="394"/>
            <p:cNvSpPr txBox="true"/>
            <p:nvPr/>
          </p:nvSpPr>
          <p:spPr>
            <a:xfrm>
              <a:off x="0" y="47625"/>
              <a:ext cx="1195870" cy="429222"/>
            </a:xfrm>
            <a:prstGeom prst="rect">
              <a:avLst/>
            </a:prstGeom>
          </p:spPr>
          <p:txBody>
            <a:bodyPr anchor="ctr" rtlCol="false" tIns="0" lIns="0" bIns="0" rIns="0"/>
            <a:lstStyle/>
            <a:p>
              <a:pPr algn="l">
                <a:lnSpc>
                  <a:spcPts val="1765"/>
                </a:lnSpc>
              </a:pPr>
              <a:r>
                <a:rPr lang="en-US" sz="1839" b="true">
                  <a:solidFill>
                    <a:srgbClr val="949494"/>
                  </a:solidFill>
                  <a:latin typeface="TT Commons Pro Bold"/>
                  <a:ea typeface="TT Commons Pro Bold"/>
                  <a:cs typeface="TT Commons Pro Bold"/>
                  <a:sym typeface="TT Commons Pro Bold"/>
                </a:rPr>
                <a:t>Project:</a:t>
              </a:r>
            </a:p>
          </p:txBody>
        </p:sp>
      </p:grpSp>
      <p:grpSp>
        <p:nvGrpSpPr>
          <p:cNvPr name="Group 395" id="395"/>
          <p:cNvGrpSpPr/>
          <p:nvPr/>
        </p:nvGrpSpPr>
        <p:grpSpPr>
          <a:xfrm rot="0">
            <a:off x="11564855" y="3520507"/>
            <a:ext cx="3689728" cy="2108130"/>
            <a:chOff x="0" y="0"/>
            <a:chExt cx="4919637" cy="2810840"/>
          </a:xfrm>
        </p:grpSpPr>
        <p:sp>
          <p:nvSpPr>
            <p:cNvPr name="Freeform 396" id="396"/>
            <p:cNvSpPr/>
            <p:nvPr/>
          </p:nvSpPr>
          <p:spPr>
            <a:xfrm flipH="false" flipV="false" rot="0">
              <a:off x="0" y="0"/>
              <a:ext cx="4919599" cy="2810891"/>
            </a:xfrm>
            <a:custGeom>
              <a:avLst/>
              <a:gdLst/>
              <a:ahLst/>
              <a:cxnLst/>
              <a:rect r="r" b="b" t="t" l="l"/>
              <a:pathLst>
                <a:path h="2810891" w="4919599">
                  <a:moveTo>
                    <a:pt x="0" y="0"/>
                  </a:moveTo>
                  <a:lnTo>
                    <a:pt x="4919599" y="0"/>
                  </a:lnTo>
                  <a:lnTo>
                    <a:pt x="4919599" y="2810891"/>
                  </a:lnTo>
                  <a:lnTo>
                    <a:pt x="0" y="2810891"/>
                  </a:lnTo>
                  <a:close/>
                </a:path>
              </a:pathLst>
            </a:custGeom>
            <a:blipFill>
              <a:blip r:embed="rId8">
                <a:alphaModFix amt="0"/>
              </a:blip>
              <a:stretch>
                <a:fillRect l="-23357" t="0" r="-23358" b="1"/>
              </a:stretch>
            </a:blipFill>
          </p:spPr>
        </p:sp>
      </p:grpSp>
      <p:grpSp>
        <p:nvGrpSpPr>
          <p:cNvPr name="Group 397" id="397"/>
          <p:cNvGrpSpPr/>
          <p:nvPr/>
        </p:nvGrpSpPr>
        <p:grpSpPr>
          <a:xfrm rot="0">
            <a:off x="11564855" y="3484788"/>
            <a:ext cx="3689728" cy="2143849"/>
            <a:chOff x="0" y="0"/>
            <a:chExt cx="4919637" cy="2858465"/>
          </a:xfrm>
        </p:grpSpPr>
        <p:sp>
          <p:nvSpPr>
            <p:cNvPr name="Freeform 398" id="398"/>
            <p:cNvSpPr/>
            <p:nvPr/>
          </p:nvSpPr>
          <p:spPr>
            <a:xfrm flipH="false" flipV="false" rot="0">
              <a:off x="0" y="0"/>
              <a:ext cx="4919637" cy="2858465"/>
            </a:xfrm>
            <a:custGeom>
              <a:avLst/>
              <a:gdLst/>
              <a:ahLst/>
              <a:cxnLst/>
              <a:rect r="r" b="b" t="t" l="l"/>
              <a:pathLst>
                <a:path h="2858465" w="4919637">
                  <a:moveTo>
                    <a:pt x="0" y="0"/>
                  </a:moveTo>
                  <a:lnTo>
                    <a:pt x="4919637" y="0"/>
                  </a:lnTo>
                  <a:lnTo>
                    <a:pt x="4919637" y="2858465"/>
                  </a:lnTo>
                  <a:lnTo>
                    <a:pt x="0" y="2858465"/>
                  </a:lnTo>
                  <a:close/>
                </a:path>
              </a:pathLst>
            </a:custGeom>
            <a:blipFill>
              <a:blip r:embed="rId9">
                <a:alphaModFix amt="0"/>
              </a:blip>
              <a:stretch>
                <a:fillRect l="-24548" t="0" r="-24548" b="0"/>
              </a:stretch>
            </a:blipFill>
          </p:spPr>
        </p:sp>
        <p:sp>
          <p:nvSpPr>
            <p:cNvPr name="TextBox 399" id="399"/>
            <p:cNvSpPr txBox="true"/>
            <p:nvPr/>
          </p:nvSpPr>
          <p:spPr>
            <a:xfrm>
              <a:off x="0" y="-47625"/>
              <a:ext cx="4919637" cy="2906090"/>
            </a:xfrm>
            <a:prstGeom prst="rect">
              <a:avLst/>
            </a:prstGeom>
          </p:spPr>
          <p:txBody>
            <a:bodyPr anchor="ctr" rtlCol="false" tIns="0" lIns="0" bIns="0" rIns="0"/>
            <a:lstStyle/>
            <a:p>
              <a:pPr algn="l">
                <a:lnSpc>
                  <a:spcPts val="2325"/>
                </a:lnSpc>
              </a:pPr>
              <a:r>
                <a:rPr lang="en-US" sz="1549">
                  <a:solidFill>
                    <a:srgbClr val="646464"/>
                  </a:solidFill>
                  <a:latin typeface="TT Commons Pro"/>
                  <a:ea typeface="TT Commons Pro"/>
                  <a:cs typeface="TT Commons Pro"/>
                  <a:sym typeface="TT Commons Pro"/>
                </a:rPr>
                <a:t>The dataset is primarily composed of Budget and Mid-Range restaurants. Premium and Luxury restaurants represent a smaller share of the overall restaurant network. This indicates that affordable dining options dominate the dataset.</a:t>
              </a:r>
            </a:p>
            <a:p>
              <a:pPr algn="l">
                <a:lnSpc>
                  <a:spcPts val="2399"/>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8810"/>
            <a:chOff x="0" y="0"/>
            <a:chExt cx="24384000" cy="13718413"/>
          </a:xfrm>
        </p:grpSpPr>
        <p:sp>
          <p:nvSpPr>
            <p:cNvPr name="Freeform 3" id="3" descr="preencoded.png"/>
            <p:cNvSpPr/>
            <p:nvPr/>
          </p:nvSpPr>
          <p:spPr>
            <a:xfrm flipH="false" flipV="false" rot="0">
              <a:off x="0" y="0"/>
              <a:ext cx="24384000" cy="13718412"/>
            </a:xfrm>
            <a:custGeom>
              <a:avLst/>
              <a:gdLst/>
              <a:ahLst/>
              <a:cxnLst/>
              <a:rect r="r" b="b" t="t" l="l"/>
              <a:pathLst>
                <a:path h="13718412" w="24384000">
                  <a:moveTo>
                    <a:pt x="0" y="0"/>
                  </a:moveTo>
                  <a:lnTo>
                    <a:pt x="24384000" y="0"/>
                  </a:lnTo>
                  <a:lnTo>
                    <a:pt x="24384000" y="13718412"/>
                  </a:lnTo>
                  <a:lnTo>
                    <a:pt x="0" y="13718412"/>
                  </a:lnTo>
                  <a:lnTo>
                    <a:pt x="0" y="0"/>
                  </a:lnTo>
                  <a:close/>
                </a:path>
              </a:pathLst>
            </a:custGeom>
            <a:blipFill>
              <a:blip r:embed="rId2"/>
              <a:stretch>
                <a:fillRect l="-13" t="0" r="-13" b="0"/>
              </a:stretch>
            </a:blipFill>
          </p:spPr>
        </p:sp>
      </p:grpSp>
      <p:grpSp>
        <p:nvGrpSpPr>
          <p:cNvPr name="Group 4" id="4"/>
          <p:cNvGrpSpPr/>
          <p:nvPr/>
        </p:nvGrpSpPr>
        <p:grpSpPr>
          <a:xfrm rot="0">
            <a:off x="17114006" y="9457553"/>
            <a:ext cx="707327" cy="619792"/>
            <a:chOff x="0" y="0"/>
            <a:chExt cx="943102" cy="826389"/>
          </a:xfrm>
        </p:grpSpPr>
        <p:sp>
          <p:nvSpPr>
            <p:cNvPr name="Freeform 5" id="5" descr="preencoded.png"/>
            <p:cNvSpPr/>
            <p:nvPr/>
          </p:nvSpPr>
          <p:spPr>
            <a:xfrm flipH="false" flipV="false" rot="0">
              <a:off x="0" y="0"/>
              <a:ext cx="943102" cy="826389"/>
            </a:xfrm>
            <a:custGeom>
              <a:avLst/>
              <a:gdLst/>
              <a:ahLst/>
              <a:cxnLst/>
              <a:rect r="r" b="b" t="t" l="l"/>
              <a:pathLst>
                <a:path h="826389" w="943102">
                  <a:moveTo>
                    <a:pt x="0" y="0"/>
                  </a:moveTo>
                  <a:lnTo>
                    <a:pt x="943102" y="0"/>
                  </a:lnTo>
                  <a:lnTo>
                    <a:pt x="943102" y="826389"/>
                  </a:lnTo>
                  <a:lnTo>
                    <a:pt x="0" y="826389"/>
                  </a:lnTo>
                  <a:lnTo>
                    <a:pt x="0" y="0"/>
                  </a:lnTo>
                  <a:close/>
                </a:path>
              </a:pathLst>
            </a:custGeom>
            <a:blipFill>
              <a:blip r:embed="rId3"/>
              <a:stretch>
                <a:fillRect l="-255" t="0" r="-254" b="0"/>
              </a:stretch>
            </a:blipFill>
          </p:spPr>
        </p:sp>
      </p:grpSp>
      <p:grpSp>
        <p:nvGrpSpPr>
          <p:cNvPr name="Group 6" id="6"/>
          <p:cNvGrpSpPr/>
          <p:nvPr/>
        </p:nvGrpSpPr>
        <p:grpSpPr>
          <a:xfrm rot="0">
            <a:off x="17303601" y="9610677"/>
            <a:ext cx="357302" cy="524523"/>
            <a:chOff x="0" y="0"/>
            <a:chExt cx="476402" cy="699364"/>
          </a:xfrm>
        </p:grpSpPr>
        <p:sp>
          <p:nvSpPr>
            <p:cNvPr name="Freeform 7" id="7"/>
            <p:cNvSpPr/>
            <p:nvPr/>
          </p:nvSpPr>
          <p:spPr>
            <a:xfrm flipH="false" flipV="false" rot="0">
              <a:off x="0" y="0"/>
              <a:ext cx="476377" cy="699389"/>
            </a:xfrm>
            <a:custGeom>
              <a:avLst/>
              <a:gdLst/>
              <a:ahLst/>
              <a:cxnLst/>
              <a:rect r="r" b="b" t="t" l="l"/>
              <a:pathLst>
                <a:path h="699389" w="476377">
                  <a:moveTo>
                    <a:pt x="0" y="0"/>
                  </a:moveTo>
                  <a:lnTo>
                    <a:pt x="476377" y="0"/>
                  </a:lnTo>
                  <a:lnTo>
                    <a:pt x="476377" y="699389"/>
                  </a:lnTo>
                  <a:lnTo>
                    <a:pt x="0" y="699389"/>
                  </a:lnTo>
                  <a:close/>
                </a:path>
              </a:pathLst>
            </a:custGeom>
            <a:blipFill>
              <a:blip r:embed="rId4">
                <a:alphaModFix amt="0"/>
              </a:blip>
              <a:stretch>
                <a:fillRect l="-138491" t="0" r="-138493" b="3"/>
              </a:stretch>
            </a:blipFill>
          </p:spPr>
        </p:sp>
      </p:grpSp>
      <p:grpSp>
        <p:nvGrpSpPr>
          <p:cNvPr name="Group 8" id="8"/>
          <p:cNvGrpSpPr/>
          <p:nvPr/>
        </p:nvGrpSpPr>
        <p:grpSpPr>
          <a:xfrm rot="0">
            <a:off x="17303601" y="9682115"/>
            <a:ext cx="357302" cy="453085"/>
            <a:chOff x="0" y="0"/>
            <a:chExt cx="476402" cy="604114"/>
          </a:xfrm>
        </p:grpSpPr>
        <p:sp>
          <p:nvSpPr>
            <p:cNvPr name="Freeform 9" id="9"/>
            <p:cNvSpPr/>
            <p:nvPr/>
          </p:nvSpPr>
          <p:spPr>
            <a:xfrm flipH="false" flipV="false" rot="0">
              <a:off x="0" y="0"/>
              <a:ext cx="476403" cy="604114"/>
            </a:xfrm>
            <a:custGeom>
              <a:avLst/>
              <a:gdLst/>
              <a:ahLst/>
              <a:cxnLst/>
              <a:rect r="r" b="b" t="t" l="l"/>
              <a:pathLst>
                <a:path h="604114" w="476403">
                  <a:moveTo>
                    <a:pt x="0" y="0"/>
                  </a:moveTo>
                  <a:lnTo>
                    <a:pt x="476403" y="0"/>
                  </a:lnTo>
                  <a:lnTo>
                    <a:pt x="476403" y="604114"/>
                  </a:lnTo>
                  <a:lnTo>
                    <a:pt x="0" y="604114"/>
                  </a:lnTo>
                  <a:close/>
                </a:path>
              </a:pathLst>
            </a:custGeom>
            <a:blipFill>
              <a:blip r:embed="rId5">
                <a:alphaModFix amt="0"/>
              </a:blip>
              <a:stretch>
                <a:fillRect l="-112698" t="0" r="-112698" b="0"/>
              </a:stretch>
            </a:blipFill>
          </p:spPr>
        </p:sp>
        <p:sp>
          <p:nvSpPr>
            <p:cNvPr name="TextBox 10" id="10"/>
            <p:cNvSpPr txBox="true"/>
            <p:nvPr/>
          </p:nvSpPr>
          <p:spPr>
            <a:xfrm>
              <a:off x="0" y="95250"/>
              <a:ext cx="476402" cy="508864"/>
            </a:xfrm>
            <a:prstGeom prst="rect">
              <a:avLst/>
            </a:prstGeom>
          </p:spPr>
          <p:txBody>
            <a:bodyPr anchor="ctr" rtlCol="false" tIns="0" lIns="0" bIns="0" rIns="0"/>
            <a:lstStyle/>
            <a:p>
              <a:pPr algn="l">
                <a:lnSpc>
                  <a:spcPts val="1930"/>
                </a:lnSpc>
              </a:pPr>
              <a:r>
                <a:rPr lang="en-US" sz="2452" b="true">
                  <a:solidFill>
                    <a:srgbClr val="ACA4A4"/>
                  </a:solidFill>
                  <a:latin typeface="TT Commons Pro Bold"/>
                  <a:ea typeface="TT Commons Pro Bold"/>
                  <a:cs typeface="TT Commons Pro Bold"/>
                  <a:sym typeface="TT Commons Pro Bold"/>
                </a:rPr>
                <a:t>12</a:t>
              </a:r>
            </a:p>
          </p:txBody>
        </p:sp>
      </p:grpSp>
      <p:grpSp>
        <p:nvGrpSpPr>
          <p:cNvPr name="Group 11" id="11"/>
          <p:cNvGrpSpPr/>
          <p:nvPr/>
        </p:nvGrpSpPr>
        <p:grpSpPr>
          <a:xfrm rot="0">
            <a:off x="16341071" y="9559633"/>
            <a:ext cx="430244" cy="430244"/>
            <a:chOff x="0" y="0"/>
            <a:chExt cx="573659" cy="573659"/>
          </a:xfrm>
        </p:grpSpPr>
        <p:sp>
          <p:nvSpPr>
            <p:cNvPr name="Freeform 12" id="12" descr="preencoded.png"/>
            <p:cNvSpPr/>
            <p:nvPr/>
          </p:nvSpPr>
          <p:spPr>
            <a:xfrm flipH="false" flipV="false" rot="0">
              <a:off x="0" y="0"/>
              <a:ext cx="573659" cy="573659"/>
            </a:xfrm>
            <a:custGeom>
              <a:avLst/>
              <a:gdLst/>
              <a:ahLst/>
              <a:cxnLst/>
              <a:rect r="r" b="b" t="t" l="l"/>
              <a:pathLst>
                <a:path h="573659" w="573659">
                  <a:moveTo>
                    <a:pt x="0" y="0"/>
                  </a:moveTo>
                  <a:lnTo>
                    <a:pt x="573659" y="0"/>
                  </a:lnTo>
                  <a:lnTo>
                    <a:pt x="573659" y="573659"/>
                  </a:lnTo>
                  <a:lnTo>
                    <a:pt x="0" y="573659"/>
                  </a:lnTo>
                  <a:lnTo>
                    <a:pt x="0" y="0"/>
                  </a:lnTo>
                  <a:close/>
                </a:path>
              </a:pathLst>
            </a:custGeom>
            <a:blipFill>
              <a:blip r:embed="rId6"/>
              <a:stretch>
                <a:fillRect l="0" t="0" r="0" b="0"/>
              </a:stretch>
            </a:blipFill>
          </p:spPr>
        </p:sp>
      </p:grpSp>
      <p:grpSp>
        <p:nvGrpSpPr>
          <p:cNvPr name="Group 13" id="13"/>
          <p:cNvGrpSpPr/>
          <p:nvPr/>
        </p:nvGrpSpPr>
        <p:grpSpPr>
          <a:xfrm rot="0">
            <a:off x="16020231" y="9545050"/>
            <a:ext cx="72962" cy="444818"/>
            <a:chOff x="0" y="0"/>
            <a:chExt cx="97282" cy="593090"/>
          </a:xfrm>
        </p:grpSpPr>
        <p:sp>
          <p:nvSpPr>
            <p:cNvPr name="Freeform 14" id="14" descr="preencoded.png"/>
            <p:cNvSpPr/>
            <p:nvPr/>
          </p:nvSpPr>
          <p:spPr>
            <a:xfrm flipH="false" flipV="false" rot="0">
              <a:off x="0" y="0"/>
              <a:ext cx="97282" cy="593090"/>
            </a:xfrm>
            <a:custGeom>
              <a:avLst/>
              <a:gdLst/>
              <a:ahLst/>
              <a:cxnLst/>
              <a:rect r="r" b="b" t="t" l="l"/>
              <a:pathLst>
                <a:path h="593090" w="97282">
                  <a:moveTo>
                    <a:pt x="0" y="0"/>
                  </a:moveTo>
                  <a:lnTo>
                    <a:pt x="97282" y="0"/>
                  </a:lnTo>
                  <a:lnTo>
                    <a:pt x="97282" y="593090"/>
                  </a:lnTo>
                  <a:lnTo>
                    <a:pt x="0" y="593090"/>
                  </a:lnTo>
                  <a:lnTo>
                    <a:pt x="0" y="0"/>
                  </a:lnTo>
                  <a:close/>
                </a:path>
              </a:pathLst>
            </a:custGeom>
            <a:blipFill>
              <a:blip r:embed="rId7"/>
              <a:stretch>
                <a:fillRect l="-287" t="0" r="-274" b="0"/>
              </a:stretch>
            </a:blipFill>
          </p:spPr>
        </p:sp>
      </p:grpSp>
      <p:grpSp>
        <p:nvGrpSpPr>
          <p:cNvPr name="Group 15" id="15"/>
          <p:cNvGrpSpPr/>
          <p:nvPr/>
        </p:nvGrpSpPr>
        <p:grpSpPr>
          <a:xfrm rot="0">
            <a:off x="15247296" y="9515885"/>
            <a:ext cx="525018" cy="473964"/>
            <a:chOff x="0" y="0"/>
            <a:chExt cx="700024" cy="631952"/>
          </a:xfrm>
        </p:grpSpPr>
        <p:sp>
          <p:nvSpPr>
            <p:cNvPr name="Freeform 16" id="16" descr="preencoded.png"/>
            <p:cNvSpPr/>
            <p:nvPr/>
          </p:nvSpPr>
          <p:spPr>
            <a:xfrm flipH="false" flipV="false" rot="0">
              <a:off x="0" y="0"/>
              <a:ext cx="700024" cy="631952"/>
            </a:xfrm>
            <a:custGeom>
              <a:avLst/>
              <a:gdLst/>
              <a:ahLst/>
              <a:cxnLst/>
              <a:rect r="r" b="b" t="t" l="l"/>
              <a:pathLst>
                <a:path h="631952" w="700024">
                  <a:moveTo>
                    <a:pt x="0" y="0"/>
                  </a:moveTo>
                  <a:lnTo>
                    <a:pt x="700024" y="0"/>
                  </a:lnTo>
                  <a:lnTo>
                    <a:pt x="700024" y="631952"/>
                  </a:lnTo>
                  <a:lnTo>
                    <a:pt x="0" y="631952"/>
                  </a:lnTo>
                  <a:lnTo>
                    <a:pt x="0" y="0"/>
                  </a:lnTo>
                  <a:close/>
                </a:path>
              </a:pathLst>
            </a:custGeom>
            <a:blipFill>
              <a:blip r:embed="rId8"/>
              <a:stretch>
                <a:fillRect l="-346" t="0" r="-346" b="0"/>
              </a:stretch>
            </a:blipFill>
          </p:spPr>
        </p:sp>
      </p:grpSp>
      <p:grpSp>
        <p:nvGrpSpPr>
          <p:cNvPr name="Group 17" id="17"/>
          <p:cNvGrpSpPr/>
          <p:nvPr/>
        </p:nvGrpSpPr>
        <p:grpSpPr>
          <a:xfrm rot="0">
            <a:off x="14933743" y="9566929"/>
            <a:ext cx="29146" cy="415671"/>
            <a:chOff x="0" y="0"/>
            <a:chExt cx="38862" cy="554228"/>
          </a:xfrm>
        </p:grpSpPr>
        <p:sp>
          <p:nvSpPr>
            <p:cNvPr name="Freeform 18" id="18" descr="preencoded.png"/>
            <p:cNvSpPr/>
            <p:nvPr/>
          </p:nvSpPr>
          <p:spPr>
            <a:xfrm flipH="false" flipV="false" rot="0">
              <a:off x="0" y="0"/>
              <a:ext cx="38862" cy="554228"/>
            </a:xfrm>
            <a:custGeom>
              <a:avLst/>
              <a:gdLst/>
              <a:ahLst/>
              <a:cxnLst/>
              <a:rect r="r" b="b" t="t" l="l"/>
              <a:pathLst>
                <a:path h="554228" w="38862">
                  <a:moveTo>
                    <a:pt x="0" y="0"/>
                  </a:moveTo>
                  <a:lnTo>
                    <a:pt x="38862" y="0"/>
                  </a:lnTo>
                  <a:lnTo>
                    <a:pt x="38862" y="554228"/>
                  </a:lnTo>
                  <a:lnTo>
                    <a:pt x="0" y="554228"/>
                  </a:lnTo>
                  <a:lnTo>
                    <a:pt x="0" y="0"/>
                  </a:lnTo>
                  <a:close/>
                </a:path>
              </a:pathLst>
            </a:custGeom>
            <a:blipFill>
              <a:blip r:embed="rId9"/>
              <a:stretch>
                <a:fillRect l="0" t="-2591" r="0" b="-2589"/>
              </a:stretch>
            </a:blipFill>
          </p:spPr>
        </p:sp>
      </p:grpSp>
      <p:grpSp>
        <p:nvGrpSpPr>
          <p:cNvPr name="Group 19" id="19"/>
          <p:cNvGrpSpPr/>
          <p:nvPr/>
        </p:nvGrpSpPr>
        <p:grpSpPr>
          <a:xfrm rot="0">
            <a:off x="13978509" y="9545050"/>
            <a:ext cx="685419" cy="437483"/>
            <a:chOff x="0" y="0"/>
            <a:chExt cx="913892" cy="583311"/>
          </a:xfrm>
        </p:grpSpPr>
        <p:sp>
          <p:nvSpPr>
            <p:cNvPr name="Freeform 20" id="20" descr="preencoded.png"/>
            <p:cNvSpPr/>
            <p:nvPr/>
          </p:nvSpPr>
          <p:spPr>
            <a:xfrm flipH="false" flipV="false" rot="0">
              <a:off x="0" y="0"/>
              <a:ext cx="913892" cy="583311"/>
            </a:xfrm>
            <a:custGeom>
              <a:avLst/>
              <a:gdLst/>
              <a:ahLst/>
              <a:cxnLst/>
              <a:rect r="r" b="b" t="t" l="l"/>
              <a:pathLst>
                <a:path h="583311" w="913892">
                  <a:moveTo>
                    <a:pt x="0" y="0"/>
                  </a:moveTo>
                  <a:lnTo>
                    <a:pt x="913892" y="0"/>
                  </a:lnTo>
                  <a:lnTo>
                    <a:pt x="913892" y="583311"/>
                  </a:lnTo>
                  <a:lnTo>
                    <a:pt x="0" y="583311"/>
                  </a:lnTo>
                  <a:lnTo>
                    <a:pt x="0" y="0"/>
                  </a:lnTo>
                  <a:close/>
                </a:path>
              </a:pathLst>
            </a:custGeom>
            <a:blipFill>
              <a:blip r:embed="rId10"/>
              <a:stretch>
                <a:fillRect l="-341" t="0" r="-343" b="0"/>
              </a:stretch>
            </a:blipFill>
          </p:spPr>
        </p:sp>
      </p:grpSp>
      <p:grpSp>
        <p:nvGrpSpPr>
          <p:cNvPr name="Group 21" id="21"/>
          <p:cNvGrpSpPr/>
          <p:nvPr/>
        </p:nvGrpSpPr>
        <p:grpSpPr>
          <a:xfrm rot="0">
            <a:off x="13643077" y="9537764"/>
            <a:ext cx="72962" cy="437483"/>
            <a:chOff x="0" y="0"/>
            <a:chExt cx="97282" cy="583311"/>
          </a:xfrm>
        </p:grpSpPr>
        <p:sp>
          <p:nvSpPr>
            <p:cNvPr name="Freeform 22" id="22" descr="preencoded.png"/>
            <p:cNvSpPr/>
            <p:nvPr/>
          </p:nvSpPr>
          <p:spPr>
            <a:xfrm flipH="false" flipV="false" rot="0">
              <a:off x="0" y="0"/>
              <a:ext cx="97282" cy="583311"/>
            </a:xfrm>
            <a:custGeom>
              <a:avLst/>
              <a:gdLst/>
              <a:ahLst/>
              <a:cxnLst/>
              <a:rect r="r" b="b" t="t" l="l"/>
              <a:pathLst>
                <a:path h="583311" w="97282">
                  <a:moveTo>
                    <a:pt x="0" y="0"/>
                  </a:moveTo>
                  <a:lnTo>
                    <a:pt x="97282" y="0"/>
                  </a:lnTo>
                  <a:lnTo>
                    <a:pt x="97282" y="583311"/>
                  </a:lnTo>
                  <a:lnTo>
                    <a:pt x="0" y="583311"/>
                  </a:lnTo>
                  <a:lnTo>
                    <a:pt x="0" y="0"/>
                  </a:lnTo>
                  <a:close/>
                </a:path>
              </a:pathLst>
            </a:custGeom>
            <a:blipFill>
              <a:blip r:embed="rId11"/>
              <a:stretch>
                <a:fillRect l="-496" t="0" r="-496" b="0"/>
              </a:stretch>
            </a:blipFill>
          </p:spPr>
        </p:sp>
      </p:grpSp>
      <p:grpSp>
        <p:nvGrpSpPr>
          <p:cNvPr name="Group 23" id="23"/>
          <p:cNvGrpSpPr/>
          <p:nvPr/>
        </p:nvGrpSpPr>
        <p:grpSpPr>
          <a:xfrm rot="0">
            <a:off x="12768053" y="9552346"/>
            <a:ext cx="641699" cy="408337"/>
            <a:chOff x="0" y="0"/>
            <a:chExt cx="855599" cy="544449"/>
          </a:xfrm>
        </p:grpSpPr>
        <p:sp>
          <p:nvSpPr>
            <p:cNvPr name="Freeform 24" id="24" descr="preencoded.png"/>
            <p:cNvSpPr/>
            <p:nvPr/>
          </p:nvSpPr>
          <p:spPr>
            <a:xfrm flipH="false" flipV="false" rot="0">
              <a:off x="0" y="0"/>
              <a:ext cx="855599" cy="544449"/>
            </a:xfrm>
            <a:custGeom>
              <a:avLst/>
              <a:gdLst/>
              <a:ahLst/>
              <a:cxnLst/>
              <a:rect r="r" b="b" t="t" l="l"/>
              <a:pathLst>
                <a:path h="544449" w="855599">
                  <a:moveTo>
                    <a:pt x="0" y="0"/>
                  </a:moveTo>
                  <a:lnTo>
                    <a:pt x="855599" y="0"/>
                  </a:lnTo>
                  <a:lnTo>
                    <a:pt x="855599" y="544449"/>
                  </a:lnTo>
                  <a:lnTo>
                    <a:pt x="0" y="544449"/>
                  </a:lnTo>
                  <a:lnTo>
                    <a:pt x="0" y="0"/>
                  </a:lnTo>
                  <a:close/>
                </a:path>
              </a:pathLst>
            </a:custGeom>
            <a:blipFill>
              <a:blip r:embed="rId12"/>
              <a:stretch>
                <a:fillRect l="0" t="-137" r="0" b="-137"/>
              </a:stretch>
            </a:blipFill>
          </p:spPr>
        </p:sp>
      </p:grpSp>
      <p:grpSp>
        <p:nvGrpSpPr>
          <p:cNvPr name="Group 25" id="25"/>
          <p:cNvGrpSpPr/>
          <p:nvPr/>
        </p:nvGrpSpPr>
        <p:grpSpPr>
          <a:xfrm rot="0">
            <a:off x="12490971" y="9574216"/>
            <a:ext cx="14573" cy="401098"/>
            <a:chOff x="0" y="0"/>
            <a:chExt cx="19431" cy="534797"/>
          </a:xfrm>
        </p:grpSpPr>
        <p:sp>
          <p:nvSpPr>
            <p:cNvPr name="Freeform 26" id="26" descr="preencoded.png"/>
            <p:cNvSpPr/>
            <p:nvPr/>
          </p:nvSpPr>
          <p:spPr>
            <a:xfrm flipH="false" flipV="false" rot="0">
              <a:off x="0" y="0"/>
              <a:ext cx="19431" cy="534797"/>
            </a:xfrm>
            <a:custGeom>
              <a:avLst/>
              <a:gdLst/>
              <a:ahLst/>
              <a:cxnLst/>
              <a:rect r="r" b="b" t="t" l="l"/>
              <a:pathLst>
                <a:path h="534797" w="19431">
                  <a:moveTo>
                    <a:pt x="0" y="0"/>
                  </a:moveTo>
                  <a:lnTo>
                    <a:pt x="19431" y="0"/>
                  </a:lnTo>
                  <a:lnTo>
                    <a:pt x="19431" y="534797"/>
                  </a:lnTo>
                  <a:lnTo>
                    <a:pt x="0" y="534797"/>
                  </a:lnTo>
                  <a:lnTo>
                    <a:pt x="0" y="0"/>
                  </a:lnTo>
                  <a:close/>
                </a:path>
              </a:pathLst>
            </a:custGeom>
            <a:blipFill>
              <a:blip r:embed="rId13"/>
              <a:stretch>
                <a:fillRect l="0" t="-2077" r="0" b="-2077"/>
              </a:stretch>
            </a:blipFill>
          </p:spPr>
        </p:sp>
      </p:grpSp>
      <p:grpSp>
        <p:nvGrpSpPr>
          <p:cNvPr name="Group 27" id="27"/>
          <p:cNvGrpSpPr/>
          <p:nvPr/>
        </p:nvGrpSpPr>
        <p:grpSpPr>
          <a:xfrm rot="0">
            <a:off x="11564903" y="9537764"/>
            <a:ext cx="656272" cy="459391"/>
            <a:chOff x="0" y="0"/>
            <a:chExt cx="875030" cy="612521"/>
          </a:xfrm>
        </p:grpSpPr>
        <p:sp>
          <p:nvSpPr>
            <p:cNvPr name="Freeform 28" id="28" descr="preencoded.png"/>
            <p:cNvSpPr/>
            <p:nvPr/>
          </p:nvSpPr>
          <p:spPr>
            <a:xfrm flipH="false" flipV="false" rot="0">
              <a:off x="0" y="0"/>
              <a:ext cx="875030" cy="612521"/>
            </a:xfrm>
            <a:custGeom>
              <a:avLst/>
              <a:gdLst/>
              <a:ahLst/>
              <a:cxnLst/>
              <a:rect r="r" b="b" t="t" l="l"/>
              <a:pathLst>
                <a:path h="612521" w="875030">
                  <a:moveTo>
                    <a:pt x="0" y="0"/>
                  </a:moveTo>
                  <a:lnTo>
                    <a:pt x="875030" y="0"/>
                  </a:lnTo>
                  <a:lnTo>
                    <a:pt x="875030" y="612521"/>
                  </a:lnTo>
                  <a:lnTo>
                    <a:pt x="0" y="612521"/>
                  </a:lnTo>
                  <a:lnTo>
                    <a:pt x="0" y="0"/>
                  </a:lnTo>
                  <a:close/>
                </a:path>
              </a:pathLst>
            </a:custGeom>
            <a:blipFill>
              <a:blip r:embed="rId14"/>
              <a:stretch>
                <a:fillRect l="0" t="-66" r="0" b="-66"/>
              </a:stretch>
            </a:blipFill>
          </p:spPr>
        </p:sp>
      </p:grpSp>
      <p:grpSp>
        <p:nvGrpSpPr>
          <p:cNvPr name="Group 29" id="29"/>
          <p:cNvGrpSpPr/>
          <p:nvPr/>
        </p:nvGrpSpPr>
        <p:grpSpPr>
          <a:xfrm rot="0">
            <a:off x="495843" y="9508598"/>
            <a:ext cx="437483" cy="510445"/>
            <a:chOff x="0" y="0"/>
            <a:chExt cx="583311" cy="680593"/>
          </a:xfrm>
        </p:grpSpPr>
        <p:sp>
          <p:nvSpPr>
            <p:cNvPr name="Freeform 30" id="30" descr="preencoded.png"/>
            <p:cNvSpPr/>
            <p:nvPr/>
          </p:nvSpPr>
          <p:spPr>
            <a:xfrm flipH="false" flipV="false" rot="0">
              <a:off x="0" y="0"/>
              <a:ext cx="583311" cy="680593"/>
            </a:xfrm>
            <a:custGeom>
              <a:avLst/>
              <a:gdLst/>
              <a:ahLst/>
              <a:cxnLst/>
              <a:rect r="r" b="b" t="t" l="l"/>
              <a:pathLst>
                <a:path h="680593" w="583311">
                  <a:moveTo>
                    <a:pt x="0" y="0"/>
                  </a:moveTo>
                  <a:lnTo>
                    <a:pt x="583311" y="0"/>
                  </a:lnTo>
                  <a:lnTo>
                    <a:pt x="583311" y="680593"/>
                  </a:lnTo>
                  <a:lnTo>
                    <a:pt x="0" y="680593"/>
                  </a:lnTo>
                  <a:lnTo>
                    <a:pt x="0" y="0"/>
                  </a:lnTo>
                  <a:close/>
                </a:path>
              </a:pathLst>
            </a:custGeom>
            <a:blipFill>
              <a:blip r:embed="rId15"/>
              <a:stretch>
                <a:fillRect l="0" t="-70" r="0" b="-70"/>
              </a:stretch>
            </a:blipFill>
          </p:spPr>
        </p:sp>
      </p:grpSp>
      <p:grpSp>
        <p:nvGrpSpPr>
          <p:cNvPr name="Group 31" id="31"/>
          <p:cNvGrpSpPr/>
          <p:nvPr/>
        </p:nvGrpSpPr>
        <p:grpSpPr>
          <a:xfrm rot="0">
            <a:off x="14007675" y="5643905"/>
            <a:ext cx="328136" cy="1917764"/>
            <a:chOff x="0" y="0"/>
            <a:chExt cx="437515" cy="2557018"/>
          </a:xfrm>
        </p:grpSpPr>
        <p:sp>
          <p:nvSpPr>
            <p:cNvPr name="Freeform 32" id="32" descr="preencoded.png"/>
            <p:cNvSpPr/>
            <p:nvPr/>
          </p:nvSpPr>
          <p:spPr>
            <a:xfrm flipH="false" flipV="false" rot="0">
              <a:off x="0" y="0"/>
              <a:ext cx="437515" cy="2557018"/>
            </a:xfrm>
            <a:custGeom>
              <a:avLst/>
              <a:gdLst/>
              <a:ahLst/>
              <a:cxnLst/>
              <a:rect r="r" b="b" t="t" l="l"/>
              <a:pathLst>
                <a:path h="2557018" w="437515">
                  <a:moveTo>
                    <a:pt x="0" y="0"/>
                  </a:moveTo>
                  <a:lnTo>
                    <a:pt x="437515" y="0"/>
                  </a:lnTo>
                  <a:lnTo>
                    <a:pt x="437515" y="2557018"/>
                  </a:lnTo>
                  <a:lnTo>
                    <a:pt x="0" y="2557018"/>
                  </a:lnTo>
                  <a:lnTo>
                    <a:pt x="0" y="0"/>
                  </a:lnTo>
                  <a:close/>
                </a:path>
              </a:pathLst>
            </a:custGeom>
            <a:blipFill>
              <a:blip r:embed="rId16"/>
              <a:stretch>
                <a:fillRect l="-554" t="0" r="-551" b="0"/>
              </a:stretch>
            </a:blipFill>
          </p:spPr>
        </p:sp>
      </p:grpSp>
      <p:grpSp>
        <p:nvGrpSpPr>
          <p:cNvPr name="Group 33" id="33"/>
          <p:cNvGrpSpPr/>
          <p:nvPr/>
        </p:nvGrpSpPr>
        <p:grpSpPr>
          <a:xfrm rot="0">
            <a:off x="14080598" y="6467885"/>
            <a:ext cx="233362" cy="277082"/>
            <a:chOff x="0" y="0"/>
            <a:chExt cx="311150" cy="369443"/>
          </a:xfrm>
        </p:grpSpPr>
        <p:sp>
          <p:nvSpPr>
            <p:cNvPr name="Freeform 34" id="34" descr="preencoded.png"/>
            <p:cNvSpPr/>
            <p:nvPr/>
          </p:nvSpPr>
          <p:spPr>
            <a:xfrm flipH="false" flipV="false" rot="0">
              <a:off x="0" y="0"/>
              <a:ext cx="311150" cy="369443"/>
            </a:xfrm>
            <a:custGeom>
              <a:avLst/>
              <a:gdLst/>
              <a:ahLst/>
              <a:cxnLst/>
              <a:rect r="r" b="b" t="t" l="l"/>
              <a:pathLst>
                <a:path h="369443" w="311150">
                  <a:moveTo>
                    <a:pt x="0" y="0"/>
                  </a:moveTo>
                  <a:lnTo>
                    <a:pt x="311150" y="0"/>
                  </a:lnTo>
                  <a:lnTo>
                    <a:pt x="311150" y="369443"/>
                  </a:lnTo>
                  <a:lnTo>
                    <a:pt x="0" y="369443"/>
                  </a:lnTo>
                  <a:lnTo>
                    <a:pt x="0" y="0"/>
                  </a:lnTo>
                  <a:close/>
                </a:path>
              </a:pathLst>
            </a:custGeom>
            <a:blipFill>
              <a:blip r:embed="rId17"/>
              <a:stretch>
                <a:fillRect l="-130" t="0" r="-134" b="0"/>
              </a:stretch>
            </a:blipFill>
          </p:spPr>
        </p:sp>
      </p:grpSp>
      <p:sp>
        <p:nvSpPr>
          <p:cNvPr name="Freeform 35" id="35"/>
          <p:cNvSpPr/>
          <p:nvPr/>
        </p:nvSpPr>
        <p:spPr>
          <a:xfrm flipH="false" flipV="false" rot="0">
            <a:off x="9141266" y="5743118"/>
            <a:ext cx="4888840" cy="3525898"/>
          </a:xfrm>
          <a:custGeom>
            <a:avLst/>
            <a:gdLst/>
            <a:ahLst/>
            <a:cxnLst/>
            <a:rect r="r" b="b" t="t" l="l"/>
            <a:pathLst>
              <a:path h="3525898" w="4888840">
                <a:moveTo>
                  <a:pt x="0" y="0"/>
                </a:moveTo>
                <a:lnTo>
                  <a:pt x="4888840" y="0"/>
                </a:lnTo>
                <a:lnTo>
                  <a:pt x="4888840" y="3525898"/>
                </a:lnTo>
                <a:lnTo>
                  <a:pt x="0" y="352589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36" id="36"/>
          <p:cNvGrpSpPr/>
          <p:nvPr/>
        </p:nvGrpSpPr>
        <p:grpSpPr>
          <a:xfrm rot="0">
            <a:off x="9574216" y="7022068"/>
            <a:ext cx="525018" cy="43720"/>
            <a:chOff x="0" y="0"/>
            <a:chExt cx="700024" cy="58293"/>
          </a:xfrm>
        </p:grpSpPr>
        <p:sp>
          <p:nvSpPr>
            <p:cNvPr name="Freeform 37" id="37" descr="preencoded.png"/>
            <p:cNvSpPr/>
            <p:nvPr/>
          </p:nvSpPr>
          <p:spPr>
            <a:xfrm flipH="false" flipV="false" rot="0">
              <a:off x="0" y="0"/>
              <a:ext cx="700024" cy="58293"/>
            </a:xfrm>
            <a:custGeom>
              <a:avLst/>
              <a:gdLst/>
              <a:ahLst/>
              <a:cxnLst/>
              <a:rect r="r" b="b" t="t" l="l"/>
              <a:pathLst>
                <a:path h="58293" w="700024">
                  <a:moveTo>
                    <a:pt x="0" y="0"/>
                  </a:moveTo>
                  <a:lnTo>
                    <a:pt x="700024" y="0"/>
                  </a:lnTo>
                  <a:lnTo>
                    <a:pt x="700024" y="58293"/>
                  </a:lnTo>
                  <a:lnTo>
                    <a:pt x="0" y="58293"/>
                  </a:lnTo>
                  <a:lnTo>
                    <a:pt x="0" y="0"/>
                  </a:lnTo>
                  <a:close/>
                </a:path>
              </a:pathLst>
            </a:custGeom>
            <a:blipFill>
              <a:blip r:embed="rId20"/>
              <a:stretch>
                <a:fillRect l="0" t="-1764" r="0" b="-1764"/>
              </a:stretch>
            </a:blipFill>
          </p:spPr>
        </p:sp>
      </p:grpSp>
      <p:grpSp>
        <p:nvGrpSpPr>
          <p:cNvPr name="Group 38" id="38"/>
          <p:cNvGrpSpPr/>
          <p:nvPr/>
        </p:nvGrpSpPr>
        <p:grpSpPr>
          <a:xfrm rot="0">
            <a:off x="10891076" y="5884535"/>
            <a:ext cx="838581" cy="699992"/>
            <a:chOff x="0" y="0"/>
            <a:chExt cx="1118108" cy="933323"/>
          </a:xfrm>
        </p:grpSpPr>
        <p:sp>
          <p:nvSpPr>
            <p:cNvPr name="Freeform 39" id="39" descr="preencoded.png"/>
            <p:cNvSpPr/>
            <p:nvPr/>
          </p:nvSpPr>
          <p:spPr>
            <a:xfrm flipH="false" flipV="false" rot="0">
              <a:off x="0" y="0"/>
              <a:ext cx="1118108" cy="933323"/>
            </a:xfrm>
            <a:custGeom>
              <a:avLst/>
              <a:gdLst/>
              <a:ahLst/>
              <a:cxnLst/>
              <a:rect r="r" b="b" t="t" l="l"/>
              <a:pathLst>
                <a:path h="933323" w="1118108">
                  <a:moveTo>
                    <a:pt x="0" y="0"/>
                  </a:moveTo>
                  <a:lnTo>
                    <a:pt x="1118108" y="0"/>
                  </a:lnTo>
                  <a:lnTo>
                    <a:pt x="1118108" y="933323"/>
                  </a:lnTo>
                  <a:lnTo>
                    <a:pt x="0" y="933323"/>
                  </a:lnTo>
                  <a:lnTo>
                    <a:pt x="0" y="0"/>
                  </a:lnTo>
                  <a:close/>
                </a:path>
              </a:pathLst>
            </a:custGeom>
            <a:blipFill>
              <a:blip r:embed="rId21"/>
              <a:stretch>
                <a:fillRect l="0" t="-107" r="0" b="-108"/>
              </a:stretch>
            </a:blipFill>
          </p:spPr>
        </p:sp>
      </p:grpSp>
      <p:grpSp>
        <p:nvGrpSpPr>
          <p:cNvPr name="Group 40" id="40"/>
          <p:cNvGrpSpPr/>
          <p:nvPr/>
        </p:nvGrpSpPr>
        <p:grpSpPr>
          <a:xfrm rot="0">
            <a:off x="9184796" y="7165200"/>
            <a:ext cx="5078101" cy="1647444"/>
            <a:chOff x="0" y="0"/>
            <a:chExt cx="6770802" cy="2196592"/>
          </a:xfrm>
        </p:grpSpPr>
        <p:sp>
          <p:nvSpPr>
            <p:cNvPr name="Freeform 41" id="41"/>
            <p:cNvSpPr/>
            <p:nvPr/>
          </p:nvSpPr>
          <p:spPr>
            <a:xfrm flipH="false" flipV="false" rot="0">
              <a:off x="0" y="0"/>
              <a:ext cx="6770751" cy="2196592"/>
            </a:xfrm>
            <a:custGeom>
              <a:avLst/>
              <a:gdLst/>
              <a:ahLst/>
              <a:cxnLst/>
              <a:rect r="r" b="b" t="t" l="l"/>
              <a:pathLst>
                <a:path h="2196592" w="6770751">
                  <a:moveTo>
                    <a:pt x="0" y="0"/>
                  </a:moveTo>
                  <a:lnTo>
                    <a:pt x="6770751" y="0"/>
                  </a:lnTo>
                  <a:lnTo>
                    <a:pt x="6770751" y="2196592"/>
                  </a:lnTo>
                  <a:lnTo>
                    <a:pt x="0" y="2196592"/>
                  </a:lnTo>
                  <a:close/>
                </a:path>
              </a:pathLst>
            </a:custGeom>
            <a:blipFill>
              <a:blip r:embed="rId4">
                <a:alphaModFix amt="0"/>
              </a:blip>
              <a:stretch>
                <a:fillRect l="0" t="-10019" r="0" b="-10019"/>
              </a:stretch>
            </a:blipFill>
          </p:spPr>
        </p:sp>
      </p:grpSp>
      <p:grpSp>
        <p:nvGrpSpPr>
          <p:cNvPr name="Group 42" id="42"/>
          <p:cNvGrpSpPr/>
          <p:nvPr/>
        </p:nvGrpSpPr>
        <p:grpSpPr>
          <a:xfrm rot="0">
            <a:off x="9184796" y="7158057"/>
            <a:ext cx="5078101" cy="1654588"/>
            <a:chOff x="0" y="0"/>
            <a:chExt cx="6770802" cy="2206117"/>
          </a:xfrm>
        </p:grpSpPr>
        <p:sp>
          <p:nvSpPr>
            <p:cNvPr name="Freeform 43" id="43"/>
            <p:cNvSpPr/>
            <p:nvPr/>
          </p:nvSpPr>
          <p:spPr>
            <a:xfrm flipH="false" flipV="false" rot="0">
              <a:off x="0" y="0"/>
              <a:ext cx="6770801" cy="2206116"/>
            </a:xfrm>
            <a:custGeom>
              <a:avLst/>
              <a:gdLst/>
              <a:ahLst/>
              <a:cxnLst/>
              <a:rect r="r" b="b" t="t" l="l"/>
              <a:pathLst>
                <a:path h="2206116" w="6770801">
                  <a:moveTo>
                    <a:pt x="0" y="0"/>
                  </a:moveTo>
                  <a:lnTo>
                    <a:pt x="6770801" y="0"/>
                  </a:lnTo>
                  <a:lnTo>
                    <a:pt x="6770801" y="2206116"/>
                  </a:lnTo>
                  <a:lnTo>
                    <a:pt x="0" y="2206116"/>
                  </a:lnTo>
                  <a:close/>
                </a:path>
              </a:pathLst>
            </a:custGeom>
            <a:blipFill>
              <a:blip r:embed="rId5">
                <a:alphaModFix amt="0"/>
              </a:blip>
              <a:stretch>
                <a:fillRect l="0" t="-9801" r="0" b="-9801"/>
              </a:stretch>
            </a:blipFill>
          </p:spPr>
        </p:sp>
        <p:sp>
          <p:nvSpPr>
            <p:cNvPr name="TextBox 44" id="44"/>
            <p:cNvSpPr txBox="true"/>
            <p:nvPr/>
          </p:nvSpPr>
          <p:spPr>
            <a:xfrm>
              <a:off x="0" y="-9525"/>
              <a:ext cx="6770802" cy="2215642"/>
            </a:xfrm>
            <a:prstGeom prst="rect">
              <a:avLst/>
            </a:prstGeom>
          </p:spPr>
          <p:txBody>
            <a:bodyPr anchor="ctr" rtlCol="false" tIns="0" lIns="0" bIns="0" rIns="0"/>
            <a:lstStyle/>
            <a:p>
              <a:pPr algn="l">
                <a:lnSpc>
                  <a:spcPts val="2439"/>
                </a:lnSpc>
              </a:pPr>
              <a:r>
                <a:rPr lang="en-US" sz="1999">
                  <a:solidFill>
                    <a:srgbClr val="6E6D6B"/>
                  </a:solidFill>
                  <a:latin typeface="TT Commons Pro"/>
                  <a:ea typeface="TT Commons Pro"/>
                  <a:cs typeface="TT Commons Pro"/>
                  <a:sym typeface="TT Commons Pro"/>
                </a:rPr>
                <a:t>The project delivers an interactive and data-driven platform for analyzing and comparing Swiggy and Zomato, helping users gain meaningful insights into restaurant performance and business trends.</a:t>
              </a:r>
            </a:p>
          </p:txBody>
        </p:sp>
      </p:grpSp>
      <p:grpSp>
        <p:nvGrpSpPr>
          <p:cNvPr name="Group 45" id="45"/>
          <p:cNvGrpSpPr/>
          <p:nvPr/>
        </p:nvGrpSpPr>
        <p:grpSpPr>
          <a:xfrm rot="0">
            <a:off x="10423084" y="6624590"/>
            <a:ext cx="2435485" cy="458619"/>
            <a:chOff x="0" y="0"/>
            <a:chExt cx="3247314" cy="611492"/>
          </a:xfrm>
        </p:grpSpPr>
        <p:sp>
          <p:nvSpPr>
            <p:cNvPr name="Freeform 46" id="46"/>
            <p:cNvSpPr/>
            <p:nvPr/>
          </p:nvSpPr>
          <p:spPr>
            <a:xfrm flipH="false" flipV="false" rot="0">
              <a:off x="0" y="0"/>
              <a:ext cx="3247263" cy="611505"/>
            </a:xfrm>
            <a:custGeom>
              <a:avLst/>
              <a:gdLst/>
              <a:ahLst/>
              <a:cxnLst/>
              <a:rect r="r" b="b" t="t" l="l"/>
              <a:pathLst>
                <a:path h="611505" w="3247263">
                  <a:moveTo>
                    <a:pt x="0" y="0"/>
                  </a:moveTo>
                  <a:lnTo>
                    <a:pt x="3247263" y="0"/>
                  </a:lnTo>
                  <a:lnTo>
                    <a:pt x="3247263" y="611505"/>
                  </a:lnTo>
                  <a:lnTo>
                    <a:pt x="0" y="611505"/>
                  </a:lnTo>
                  <a:close/>
                </a:path>
              </a:pathLst>
            </a:custGeom>
            <a:blipFill>
              <a:blip r:embed="rId4">
                <a:alphaModFix amt="0"/>
              </a:blip>
              <a:stretch>
                <a:fillRect l="0" t="-53401" r="-1" b="-53399"/>
              </a:stretch>
            </a:blipFill>
          </p:spPr>
        </p:sp>
      </p:grpSp>
      <p:grpSp>
        <p:nvGrpSpPr>
          <p:cNvPr name="Group 47" id="47"/>
          <p:cNvGrpSpPr/>
          <p:nvPr/>
        </p:nvGrpSpPr>
        <p:grpSpPr>
          <a:xfrm rot="0">
            <a:off x="10423084" y="6688884"/>
            <a:ext cx="2435485" cy="394325"/>
            <a:chOff x="0" y="0"/>
            <a:chExt cx="3247314" cy="525767"/>
          </a:xfrm>
        </p:grpSpPr>
        <p:sp>
          <p:nvSpPr>
            <p:cNvPr name="Freeform 48" id="48"/>
            <p:cNvSpPr/>
            <p:nvPr/>
          </p:nvSpPr>
          <p:spPr>
            <a:xfrm flipH="false" flipV="false" rot="0">
              <a:off x="0" y="0"/>
              <a:ext cx="3247313" cy="525766"/>
            </a:xfrm>
            <a:custGeom>
              <a:avLst/>
              <a:gdLst/>
              <a:ahLst/>
              <a:cxnLst/>
              <a:rect r="r" b="b" t="t" l="l"/>
              <a:pathLst>
                <a:path h="525766" w="3247313">
                  <a:moveTo>
                    <a:pt x="0" y="0"/>
                  </a:moveTo>
                  <a:lnTo>
                    <a:pt x="3247313" y="0"/>
                  </a:lnTo>
                  <a:lnTo>
                    <a:pt x="3247313" y="525766"/>
                  </a:lnTo>
                  <a:lnTo>
                    <a:pt x="0" y="525766"/>
                  </a:lnTo>
                  <a:close/>
                </a:path>
              </a:pathLst>
            </a:custGeom>
            <a:blipFill>
              <a:blip r:embed="rId5">
                <a:alphaModFix amt="0"/>
              </a:blip>
              <a:stretch>
                <a:fillRect l="0" t="-70346" r="0" b="-70346"/>
              </a:stretch>
            </a:blipFill>
          </p:spPr>
        </p:sp>
        <p:sp>
          <p:nvSpPr>
            <p:cNvPr name="TextBox 49" id="49"/>
            <p:cNvSpPr txBox="true"/>
            <p:nvPr/>
          </p:nvSpPr>
          <p:spPr>
            <a:xfrm>
              <a:off x="0" y="85725"/>
              <a:ext cx="3247314" cy="440042"/>
            </a:xfrm>
            <a:prstGeom prst="rect">
              <a:avLst/>
            </a:prstGeom>
          </p:spPr>
          <p:txBody>
            <a:bodyPr anchor="ctr" rtlCol="false" tIns="0" lIns="0" bIns="0" rIns="0"/>
            <a:lstStyle/>
            <a:p>
              <a:pPr algn="l">
                <a:lnSpc>
                  <a:spcPts val="1606"/>
                </a:lnSpc>
              </a:pPr>
              <a:r>
                <a:rPr lang="en-US" sz="2135" b="true">
                  <a:solidFill>
                    <a:srgbClr val="A1555F"/>
                  </a:solidFill>
                  <a:latin typeface="TT Commons Pro Bold"/>
                  <a:ea typeface="TT Commons Pro Bold"/>
                  <a:cs typeface="TT Commons Pro Bold"/>
                  <a:sym typeface="TT Commons Pro Bold"/>
                </a:rPr>
                <a:t>FINAL OUTCOME</a:t>
              </a:r>
            </a:p>
          </p:txBody>
        </p:sp>
      </p:grpSp>
      <p:grpSp>
        <p:nvGrpSpPr>
          <p:cNvPr name="Group 50" id="50"/>
          <p:cNvGrpSpPr/>
          <p:nvPr/>
        </p:nvGrpSpPr>
        <p:grpSpPr>
          <a:xfrm rot="0">
            <a:off x="9574216" y="6479543"/>
            <a:ext cx="525018" cy="609448"/>
            <a:chOff x="0" y="0"/>
            <a:chExt cx="700024" cy="812597"/>
          </a:xfrm>
        </p:grpSpPr>
        <p:sp>
          <p:nvSpPr>
            <p:cNvPr name="Freeform 51" id="51"/>
            <p:cNvSpPr/>
            <p:nvPr/>
          </p:nvSpPr>
          <p:spPr>
            <a:xfrm flipH="false" flipV="false" rot="0">
              <a:off x="0" y="0"/>
              <a:ext cx="700024" cy="812546"/>
            </a:xfrm>
            <a:custGeom>
              <a:avLst/>
              <a:gdLst/>
              <a:ahLst/>
              <a:cxnLst/>
              <a:rect r="r" b="b" t="t" l="l"/>
              <a:pathLst>
                <a:path h="812546" w="700024">
                  <a:moveTo>
                    <a:pt x="0" y="0"/>
                  </a:moveTo>
                  <a:lnTo>
                    <a:pt x="700024" y="0"/>
                  </a:lnTo>
                  <a:lnTo>
                    <a:pt x="700024" y="812546"/>
                  </a:lnTo>
                  <a:lnTo>
                    <a:pt x="0" y="812546"/>
                  </a:lnTo>
                  <a:close/>
                </a:path>
              </a:pathLst>
            </a:custGeom>
            <a:blipFill>
              <a:blip r:embed="rId4">
                <a:alphaModFix amt="0"/>
              </a:blip>
              <a:stretch>
                <a:fillRect l="-99040" t="0" r="-99042" b="-6"/>
              </a:stretch>
            </a:blipFill>
          </p:spPr>
        </p:sp>
      </p:grpSp>
      <p:grpSp>
        <p:nvGrpSpPr>
          <p:cNvPr name="Group 52" id="52"/>
          <p:cNvGrpSpPr/>
          <p:nvPr/>
        </p:nvGrpSpPr>
        <p:grpSpPr>
          <a:xfrm rot="0">
            <a:off x="9574216" y="6579556"/>
            <a:ext cx="525018" cy="509445"/>
            <a:chOff x="0" y="0"/>
            <a:chExt cx="700024" cy="679260"/>
          </a:xfrm>
        </p:grpSpPr>
        <p:sp>
          <p:nvSpPr>
            <p:cNvPr name="Freeform 53" id="53"/>
            <p:cNvSpPr/>
            <p:nvPr/>
          </p:nvSpPr>
          <p:spPr>
            <a:xfrm flipH="false" flipV="false" rot="0">
              <a:off x="0" y="0"/>
              <a:ext cx="700024" cy="679257"/>
            </a:xfrm>
            <a:custGeom>
              <a:avLst/>
              <a:gdLst/>
              <a:ahLst/>
              <a:cxnLst/>
              <a:rect r="r" b="b" t="t" l="l"/>
              <a:pathLst>
                <a:path h="679257" w="700024">
                  <a:moveTo>
                    <a:pt x="0" y="0"/>
                  </a:moveTo>
                  <a:lnTo>
                    <a:pt x="700024" y="0"/>
                  </a:lnTo>
                  <a:lnTo>
                    <a:pt x="700024" y="679257"/>
                  </a:lnTo>
                  <a:lnTo>
                    <a:pt x="0" y="679257"/>
                  </a:lnTo>
                  <a:close/>
                </a:path>
              </a:pathLst>
            </a:custGeom>
            <a:blipFill>
              <a:blip r:embed="rId5">
                <a:alphaModFix amt="0"/>
              </a:blip>
              <a:stretch>
                <a:fillRect l="-74497" t="0" r="-74497" b="0"/>
              </a:stretch>
            </a:blipFill>
          </p:spPr>
        </p:sp>
        <p:sp>
          <p:nvSpPr>
            <p:cNvPr name="TextBox 54" id="54"/>
            <p:cNvSpPr txBox="true"/>
            <p:nvPr/>
          </p:nvSpPr>
          <p:spPr>
            <a:xfrm>
              <a:off x="0" y="133350"/>
              <a:ext cx="700024" cy="545910"/>
            </a:xfrm>
            <a:prstGeom prst="rect">
              <a:avLst/>
            </a:prstGeom>
          </p:spPr>
          <p:txBody>
            <a:bodyPr anchor="ctr" rtlCol="false" tIns="0" lIns="0" bIns="0" rIns="0"/>
            <a:lstStyle/>
            <a:p>
              <a:pPr algn="l">
                <a:lnSpc>
                  <a:spcPts val="2008"/>
                </a:lnSpc>
              </a:pPr>
              <a:r>
                <a:rPr lang="en-US" sz="2846" b="true">
                  <a:solidFill>
                    <a:srgbClr val="A84E5B"/>
                  </a:solidFill>
                  <a:latin typeface="TT Commons Pro Bold"/>
                  <a:ea typeface="TT Commons Pro Bold"/>
                  <a:cs typeface="TT Commons Pro Bold"/>
                  <a:sym typeface="TT Commons Pro Bold"/>
                </a:rPr>
                <a:t>04</a:t>
              </a:r>
            </a:p>
          </p:txBody>
        </p:sp>
      </p:grpSp>
      <p:sp>
        <p:nvSpPr>
          <p:cNvPr name="Freeform 55" id="55"/>
          <p:cNvSpPr/>
          <p:nvPr/>
        </p:nvSpPr>
        <p:spPr>
          <a:xfrm flipH="false" flipV="false" rot="0">
            <a:off x="4209231" y="5736641"/>
            <a:ext cx="4830851" cy="3527117"/>
          </a:xfrm>
          <a:custGeom>
            <a:avLst/>
            <a:gdLst/>
            <a:ahLst/>
            <a:cxnLst/>
            <a:rect r="r" b="b" t="t" l="l"/>
            <a:pathLst>
              <a:path h="3527117" w="4830851">
                <a:moveTo>
                  <a:pt x="0" y="0"/>
                </a:moveTo>
                <a:lnTo>
                  <a:pt x="4830851" y="0"/>
                </a:lnTo>
                <a:lnTo>
                  <a:pt x="4830851" y="3527117"/>
                </a:lnTo>
                <a:lnTo>
                  <a:pt x="0" y="3527117"/>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nvGrpSpPr>
          <p:cNvPr name="Group 56" id="56"/>
          <p:cNvGrpSpPr/>
          <p:nvPr/>
        </p:nvGrpSpPr>
        <p:grpSpPr>
          <a:xfrm rot="0">
            <a:off x="4608462" y="7065816"/>
            <a:ext cx="546926" cy="29146"/>
            <a:chOff x="0" y="0"/>
            <a:chExt cx="729234" cy="38862"/>
          </a:xfrm>
        </p:grpSpPr>
        <p:sp>
          <p:nvSpPr>
            <p:cNvPr name="Freeform 57" id="57" descr="preencoded.png"/>
            <p:cNvSpPr/>
            <p:nvPr/>
          </p:nvSpPr>
          <p:spPr>
            <a:xfrm flipH="false" flipV="false" rot="0">
              <a:off x="0" y="0"/>
              <a:ext cx="729234" cy="38862"/>
            </a:xfrm>
            <a:custGeom>
              <a:avLst/>
              <a:gdLst/>
              <a:ahLst/>
              <a:cxnLst/>
              <a:rect r="r" b="b" t="t" l="l"/>
              <a:pathLst>
                <a:path h="38862" w="729234">
                  <a:moveTo>
                    <a:pt x="0" y="0"/>
                  </a:moveTo>
                  <a:lnTo>
                    <a:pt x="729234" y="0"/>
                  </a:lnTo>
                  <a:lnTo>
                    <a:pt x="729234" y="38862"/>
                  </a:lnTo>
                  <a:lnTo>
                    <a:pt x="0" y="38862"/>
                  </a:lnTo>
                  <a:lnTo>
                    <a:pt x="0" y="0"/>
                  </a:lnTo>
                  <a:close/>
                </a:path>
              </a:pathLst>
            </a:custGeom>
            <a:blipFill>
              <a:blip r:embed="rId24"/>
              <a:stretch>
                <a:fillRect l="-3293" t="0" r="-3293" b="0"/>
              </a:stretch>
            </a:blipFill>
          </p:spPr>
        </p:sp>
      </p:grpSp>
      <p:grpSp>
        <p:nvGrpSpPr>
          <p:cNvPr name="Group 58" id="58"/>
          <p:cNvGrpSpPr/>
          <p:nvPr/>
        </p:nvGrpSpPr>
        <p:grpSpPr>
          <a:xfrm rot="0">
            <a:off x="6056519" y="5807802"/>
            <a:ext cx="831247" cy="707327"/>
            <a:chOff x="0" y="0"/>
            <a:chExt cx="1108329" cy="943102"/>
          </a:xfrm>
        </p:grpSpPr>
        <p:sp>
          <p:nvSpPr>
            <p:cNvPr name="Freeform 59" id="59" descr="preencoded.png"/>
            <p:cNvSpPr/>
            <p:nvPr/>
          </p:nvSpPr>
          <p:spPr>
            <a:xfrm flipH="false" flipV="false" rot="0">
              <a:off x="0" y="0"/>
              <a:ext cx="1108329" cy="943102"/>
            </a:xfrm>
            <a:custGeom>
              <a:avLst/>
              <a:gdLst/>
              <a:ahLst/>
              <a:cxnLst/>
              <a:rect r="r" b="b" t="t" l="l"/>
              <a:pathLst>
                <a:path h="943102" w="1108329">
                  <a:moveTo>
                    <a:pt x="0" y="0"/>
                  </a:moveTo>
                  <a:lnTo>
                    <a:pt x="1108329" y="0"/>
                  </a:lnTo>
                  <a:lnTo>
                    <a:pt x="1108329" y="943102"/>
                  </a:lnTo>
                  <a:lnTo>
                    <a:pt x="0" y="943102"/>
                  </a:lnTo>
                  <a:lnTo>
                    <a:pt x="0" y="0"/>
                  </a:lnTo>
                  <a:close/>
                </a:path>
              </a:pathLst>
            </a:custGeom>
            <a:blipFill>
              <a:blip r:embed="rId25"/>
              <a:stretch>
                <a:fillRect l="0" t="-201" r="0" b="-203"/>
              </a:stretch>
            </a:blipFill>
          </p:spPr>
        </p:sp>
      </p:grpSp>
      <p:grpSp>
        <p:nvGrpSpPr>
          <p:cNvPr name="Group 60" id="60"/>
          <p:cNvGrpSpPr/>
          <p:nvPr/>
        </p:nvGrpSpPr>
        <p:grpSpPr>
          <a:xfrm rot="0">
            <a:off x="4341352" y="7207510"/>
            <a:ext cx="4648562" cy="1370743"/>
            <a:chOff x="0" y="0"/>
            <a:chExt cx="6198083" cy="1827657"/>
          </a:xfrm>
        </p:grpSpPr>
        <p:sp>
          <p:nvSpPr>
            <p:cNvPr name="Freeform 61" id="61"/>
            <p:cNvSpPr/>
            <p:nvPr/>
          </p:nvSpPr>
          <p:spPr>
            <a:xfrm flipH="false" flipV="false" rot="0">
              <a:off x="0" y="0"/>
              <a:ext cx="6198108" cy="1827657"/>
            </a:xfrm>
            <a:custGeom>
              <a:avLst/>
              <a:gdLst/>
              <a:ahLst/>
              <a:cxnLst/>
              <a:rect r="r" b="b" t="t" l="l"/>
              <a:pathLst>
                <a:path h="1827657" w="6198108">
                  <a:moveTo>
                    <a:pt x="0" y="0"/>
                  </a:moveTo>
                  <a:lnTo>
                    <a:pt x="6198108" y="0"/>
                  </a:lnTo>
                  <a:lnTo>
                    <a:pt x="6198108" y="1827657"/>
                  </a:lnTo>
                  <a:lnTo>
                    <a:pt x="0" y="1827657"/>
                  </a:lnTo>
                  <a:close/>
                </a:path>
              </a:pathLst>
            </a:custGeom>
            <a:blipFill>
              <a:blip r:embed="rId4">
                <a:alphaModFix amt="0"/>
              </a:blip>
              <a:stretch>
                <a:fillRect l="0" t="-16032" r="0" b="-16033"/>
              </a:stretch>
            </a:blipFill>
          </p:spPr>
        </p:sp>
      </p:grpSp>
      <p:grpSp>
        <p:nvGrpSpPr>
          <p:cNvPr name="Group 62" id="62"/>
          <p:cNvGrpSpPr/>
          <p:nvPr/>
        </p:nvGrpSpPr>
        <p:grpSpPr>
          <a:xfrm rot="0">
            <a:off x="4341352" y="7200367"/>
            <a:ext cx="4648571" cy="1377877"/>
            <a:chOff x="0" y="0"/>
            <a:chExt cx="6198095" cy="1837169"/>
          </a:xfrm>
        </p:grpSpPr>
        <p:sp>
          <p:nvSpPr>
            <p:cNvPr name="Freeform 63" id="63"/>
            <p:cNvSpPr/>
            <p:nvPr/>
          </p:nvSpPr>
          <p:spPr>
            <a:xfrm flipH="false" flipV="false" rot="0">
              <a:off x="0" y="0"/>
              <a:ext cx="6198090" cy="1837174"/>
            </a:xfrm>
            <a:custGeom>
              <a:avLst/>
              <a:gdLst/>
              <a:ahLst/>
              <a:cxnLst/>
              <a:rect r="r" b="b" t="t" l="l"/>
              <a:pathLst>
                <a:path h="1837174" w="6198090">
                  <a:moveTo>
                    <a:pt x="0" y="0"/>
                  </a:moveTo>
                  <a:lnTo>
                    <a:pt x="6198090" y="0"/>
                  </a:lnTo>
                  <a:lnTo>
                    <a:pt x="6198090" y="1837174"/>
                  </a:lnTo>
                  <a:lnTo>
                    <a:pt x="0" y="1837174"/>
                  </a:lnTo>
                  <a:close/>
                </a:path>
              </a:pathLst>
            </a:custGeom>
            <a:blipFill>
              <a:blip r:embed="rId5">
                <a:alphaModFix amt="0"/>
              </a:blip>
              <a:stretch>
                <a:fillRect l="0" t="-15737" r="0" b="-15736"/>
              </a:stretch>
            </a:blipFill>
          </p:spPr>
        </p:sp>
        <p:sp>
          <p:nvSpPr>
            <p:cNvPr name="TextBox 64" id="64"/>
            <p:cNvSpPr txBox="true"/>
            <p:nvPr/>
          </p:nvSpPr>
          <p:spPr>
            <a:xfrm>
              <a:off x="0" y="-9525"/>
              <a:ext cx="6198095" cy="1846694"/>
            </a:xfrm>
            <a:prstGeom prst="rect">
              <a:avLst/>
            </a:prstGeom>
          </p:spPr>
          <p:txBody>
            <a:bodyPr anchor="ctr" rtlCol="false" tIns="0" lIns="0" bIns="0" rIns="0"/>
            <a:lstStyle/>
            <a:p>
              <a:pPr algn="l">
                <a:lnSpc>
                  <a:spcPts val="2439"/>
                </a:lnSpc>
              </a:pPr>
              <a:r>
                <a:rPr lang="en-US" sz="1999">
                  <a:solidFill>
                    <a:srgbClr val="6E6D6B"/>
                  </a:solidFill>
                  <a:latin typeface="TT Commons Pro"/>
                  <a:ea typeface="TT Commons Pro"/>
                  <a:cs typeface="TT Commons Pro"/>
                  <a:sym typeface="TT Commons Pro"/>
                </a:rPr>
                <a:t>An AI-based recommendation system for personalized restaurant suggestions based on user preferences, budget, and ratings and real-time order tracking.</a:t>
              </a:r>
            </a:p>
          </p:txBody>
        </p:sp>
      </p:grpSp>
      <p:grpSp>
        <p:nvGrpSpPr>
          <p:cNvPr name="Group 65" id="65"/>
          <p:cNvGrpSpPr/>
          <p:nvPr/>
        </p:nvGrpSpPr>
        <p:grpSpPr>
          <a:xfrm rot="0">
            <a:off x="5417277" y="6641563"/>
            <a:ext cx="2216725" cy="456124"/>
            <a:chOff x="0" y="0"/>
            <a:chExt cx="2955633" cy="608165"/>
          </a:xfrm>
        </p:grpSpPr>
        <p:sp>
          <p:nvSpPr>
            <p:cNvPr name="Freeform 66" id="66"/>
            <p:cNvSpPr/>
            <p:nvPr/>
          </p:nvSpPr>
          <p:spPr>
            <a:xfrm flipH="false" flipV="false" rot="0">
              <a:off x="0" y="0"/>
              <a:ext cx="2955671" cy="608203"/>
            </a:xfrm>
            <a:custGeom>
              <a:avLst/>
              <a:gdLst/>
              <a:ahLst/>
              <a:cxnLst/>
              <a:rect r="r" b="b" t="t" l="l"/>
              <a:pathLst>
                <a:path h="608203" w="2955671">
                  <a:moveTo>
                    <a:pt x="0" y="0"/>
                  </a:moveTo>
                  <a:lnTo>
                    <a:pt x="2955671" y="0"/>
                  </a:lnTo>
                  <a:lnTo>
                    <a:pt x="2955671" y="608203"/>
                  </a:lnTo>
                  <a:lnTo>
                    <a:pt x="0" y="608203"/>
                  </a:lnTo>
                  <a:close/>
                </a:path>
              </a:pathLst>
            </a:custGeom>
            <a:blipFill>
              <a:blip r:embed="rId4">
                <a:alphaModFix amt="0"/>
              </a:blip>
              <a:stretch>
                <a:fillRect l="0" t="-44627" r="1" b="-44621"/>
              </a:stretch>
            </a:blipFill>
          </p:spPr>
        </p:sp>
      </p:grpSp>
      <p:grpSp>
        <p:nvGrpSpPr>
          <p:cNvPr name="Group 67" id="67"/>
          <p:cNvGrpSpPr/>
          <p:nvPr/>
        </p:nvGrpSpPr>
        <p:grpSpPr>
          <a:xfrm rot="0">
            <a:off x="5417277" y="6705857"/>
            <a:ext cx="2216725" cy="391839"/>
            <a:chOff x="0" y="0"/>
            <a:chExt cx="2955633" cy="522453"/>
          </a:xfrm>
        </p:grpSpPr>
        <p:sp>
          <p:nvSpPr>
            <p:cNvPr name="Freeform 68" id="68"/>
            <p:cNvSpPr/>
            <p:nvPr/>
          </p:nvSpPr>
          <p:spPr>
            <a:xfrm flipH="false" flipV="false" rot="0">
              <a:off x="0" y="0"/>
              <a:ext cx="2955633" cy="522448"/>
            </a:xfrm>
            <a:custGeom>
              <a:avLst/>
              <a:gdLst/>
              <a:ahLst/>
              <a:cxnLst/>
              <a:rect r="r" b="b" t="t" l="l"/>
              <a:pathLst>
                <a:path h="522448" w="2955633">
                  <a:moveTo>
                    <a:pt x="0" y="0"/>
                  </a:moveTo>
                  <a:lnTo>
                    <a:pt x="2955633" y="0"/>
                  </a:lnTo>
                  <a:lnTo>
                    <a:pt x="2955633" y="522448"/>
                  </a:lnTo>
                  <a:lnTo>
                    <a:pt x="0" y="522448"/>
                  </a:lnTo>
                  <a:close/>
                </a:path>
              </a:pathLst>
            </a:custGeom>
            <a:blipFill>
              <a:blip r:embed="rId5">
                <a:alphaModFix amt="0"/>
              </a:blip>
              <a:stretch>
                <a:fillRect l="0" t="-60231" r="0" b="-60232"/>
              </a:stretch>
            </a:blipFill>
          </p:spPr>
        </p:sp>
        <p:sp>
          <p:nvSpPr>
            <p:cNvPr name="TextBox 69" id="69"/>
            <p:cNvSpPr txBox="true"/>
            <p:nvPr/>
          </p:nvSpPr>
          <p:spPr>
            <a:xfrm>
              <a:off x="0" y="85725"/>
              <a:ext cx="2955633" cy="436728"/>
            </a:xfrm>
            <a:prstGeom prst="rect">
              <a:avLst/>
            </a:prstGeom>
          </p:spPr>
          <p:txBody>
            <a:bodyPr anchor="ctr" rtlCol="false" tIns="0" lIns="0" bIns="0" rIns="0"/>
            <a:lstStyle/>
            <a:p>
              <a:pPr algn="l">
                <a:lnSpc>
                  <a:spcPts val="1606"/>
                </a:lnSpc>
              </a:pPr>
              <a:r>
                <a:rPr lang="en-US" sz="2124" b="true">
                  <a:solidFill>
                    <a:srgbClr val="C69466"/>
                  </a:solidFill>
                  <a:latin typeface="TT Commons Pro Bold"/>
                  <a:ea typeface="TT Commons Pro Bold"/>
                  <a:cs typeface="TT Commons Pro Bold"/>
                  <a:sym typeface="TT Commons Pro Bold"/>
                </a:rPr>
                <a:t>FUTURE SCOPE</a:t>
              </a:r>
            </a:p>
          </p:txBody>
        </p:sp>
      </p:grpSp>
      <p:grpSp>
        <p:nvGrpSpPr>
          <p:cNvPr name="Group 70" id="70"/>
          <p:cNvGrpSpPr/>
          <p:nvPr/>
        </p:nvGrpSpPr>
        <p:grpSpPr>
          <a:xfrm rot="0">
            <a:off x="4638199" y="6515110"/>
            <a:ext cx="779069" cy="652291"/>
            <a:chOff x="0" y="0"/>
            <a:chExt cx="1038758" cy="869721"/>
          </a:xfrm>
        </p:grpSpPr>
        <p:sp>
          <p:nvSpPr>
            <p:cNvPr name="Freeform 71" id="71"/>
            <p:cNvSpPr/>
            <p:nvPr/>
          </p:nvSpPr>
          <p:spPr>
            <a:xfrm flipH="false" flipV="false" rot="0">
              <a:off x="0" y="0"/>
              <a:ext cx="1038733" cy="869696"/>
            </a:xfrm>
            <a:custGeom>
              <a:avLst/>
              <a:gdLst/>
              <a:ahLst/>
              <a:cxnLst/>
              <a:rect r="r" b="b" t="t" l="l"/>
              <a:pathLst>
                <a:path h="869696" w="1038733">
                  <a:moveTo>
                    <a:pt x="0" y="0"/>
                  </a:moveTo>
                  <a:lnTo>
                    <a:pt x="1038733" y="0"/>
                  </a:lnTo>
                  <a:lnTo>
                    <a:pt x="1038733" y="869696"/>
                  </a:lnTo>
                  <a:lnTo>
                    <a:pt x="0" y="869696"/>
                  </a:lnTo>
                  <a:close/>
                </a:path>
              </a:pathLst>
            </a:custGeom>
            <a:blipFill>
              <a:blip r:embed="rId4">
                <a:alphaModFix amt="0"/>
              </a:blip>
              <a:stretch>
                <a:fillRect l="-57499" t="0" r="-57503" b="-2"/>
              </a:stretch>
            </a:blipFill>
          </p:spPr>
        </p:sp>
      </p:grpSp>
      <p:grpSp>
        <p:nvGrpSpPr>
          <p:cNvPr name="Group 72" id="72"/>
          <p:cNvGrpSpPr/>
          <p:nvPr/>
        </p:nvGrpSpPr>
        <p:grpSpPr>
          <a:xfrm rot="0">
            <a:off x="4638199" y="6615122"/>
            <a:ext cx="779078" cy="552269"/>
            <a:chOff x="0" y="0"/>
            <a:chExt cx="1038771" cy="736359"/>
          </a:xfrm>
        </p:grpSpPr>
        <p:sp>
          <p:nvSpPr>
            <p:cNvPr name="Freeform 73" id="73"/>
            <p:cNvSpPr/>
            <p:nvPr/>
          </p:nvSpPr>
          <p:spPr>
            <a:xfrm flipH="false" flipV="false" rot="0">
              <a:off x="0" y="0"/>
              <a:ext cx="1038771" cy="736363"/>
            </a:xfrm>
            <a:custGeom>
              <a:avLst/>
              <a:gdLst/>
              <a:ahLst/>
              <a:cxnLst/>
              <a:rect r="r" b="b" t="t" l="l"/>
              <a:pathLst>
                <a:path h="736363" w="1038771">
                  <a:moveTo>
                    <a:pt x="0" y="0"/>
                  </a:moveTo>
                  <a:lnTo>
                    <a:pt x="1038771" y="0"/>
                  </a:lnTo>
                  <a:lnTo>
                    <a:pt x="1038771" y="736363"/>
                  </a:lnTo>
                  <a:lnTo>
                    <a:pt x="0" y="736363"/>
                  </a:lnTo>
                  <a:close/>
                </a:path>
              </a:pathLst>
            </a:custGeom>
            <a:blipFill>
              <a:blip r:embed="rId5">
                <a:alphaModFix amt="0"/>
              </a:blip>
              <a:stretch>
                <a:fillRect l="-40951" t="0" r="-40951" b="0"/>
              </a:stretch>
            </a:blipFill>
          </p:spPr>
        </p:sp>
        <p:sp>
          <p:nvSpPr>
            <p:cNvPr name="TextBox 74" id="74"/>
            <p:cNvSpPr txBox="true"/>
            <p:nvPr/>
          </p:nvSpPr>
          <p:spPr>
            <a:xfrm>
              <a:off x="0" y="133350"/>
              <a:ext cx="1038771" cy="603009"/>
            </a:xfrm>
            <a:prstGeom prst="rect">
              <a:avLst/>
            </a:prstGeom>
          </p:spPr>
          <p:txBody>
            <a:bodyPr anchor="ctr" rtlCol="false" tIns="0" lIns="0" bIns="0" rIns="0"/>
            <a:lstStyle/>
            <a:p>
              <a:pPr algn="l">
                <a:lnSpc>
                  <a:spcPts val="2249"/>
                </a:lnSpc>
              </a:pPr>
              <a:r>
                <a:rPr lang="en-US" sz="3054" b="true">
                  <a:solidFill>
                    <a:srgbClr val="D5A475"/>
                  </a:solidFill>
                  <a:latin typeface="TT Commons Pro Bold"/>
                  <a:ea typeface="TT Commons Pro Bold"/>
                  <a:cs typeface="TT Commons Pro Bold"/>
                  <a:sym typeface="TT Commons Pro Bold"/>
                </a:rPr>
                <a:t>03</a:t>
              </a:r>
            </a:p>
          </p:txBody>
        </p:sp>
      </p:grpSp>
      <p:grpSp>
        <p:nvGrpSpPr>
          <p:cNvPr name="Group 75" id="75"/>
          <p:cNvGrpSpPr/>
          <p:nvPr/>
        </p:nvGrpSpPr>
        <p:grpSpPr>
          <a:xfrm rot="0">
            <a:off x="14007675" y="2172976"/>
            <a:ext cx="328136" cy="2245900"/>
            <a:chOff x="0" y="0"/>
            <a:chExt cx="437515" cy="2994533"/>
          </a:xfrm>
        </p:grpSpPr>
        <p:sp>
          <p:nvSpPr>
            <p:cNvPr name="Freeform 76" id="76" descr="preencoded.png"/>
            <p:cNvSpPr/>
            <p:nvPr/>
          </p:nvSpPr>
          <p:spPr>
            <a:xfrm flipH="false" flipV="false" rot="0">
              <a:off x="0" y="0"/>
              <a:ext cx="437515" cy="2994533"/>
            </a:xfrm>
            <a:custGeom>
              <a:avLst/>
              <a:gdLst/>
              <a:ahLst/>
              <a:cxnLst/>
              <a:rect r="r" b="b" t="t" l="l"/>
              <a:pathLst>
                <a:path h="2994533" w="437515">
                  <a:moveTo>
                    <a:pt x="0" y="0"/>
                  </a:moveTo>
                  <a:lnTo>
                    <a:pt x="437515" y="0"/>
                  </a:lnTo>
                  <a:lnTo>
                    <a:pt x="437515" y="2994533"/>
                  </a:lnTo>
                  <a:lnTo>
                    <a:pt x="0" y="2994533"/>
                  </a:lnTo>
                  <a:lnTo>
                    <a:pt x="0" y="0"/>
                  </a:lnTo>
                  <a:close/>
                </a:path>
              </a:pathLst>
            </a:custGeom>
            <a:blipFill>
              <a:blip r:embed="rId26"/>
              <a:stretch>
                <a:fillRect l="-470" t="0" r="-473" b="0"/>
              </a:stretch>
            </a:blipFill>
          </p:spPr>
        </p:sp>
      </p:grpSp>
      <p:grpSp>
        <p:nvGrpSpPr>
          <p:cNvPr name="Group 77" id="77"/>
          <p:cNvGrpSpPr/>
          <p:nvPr/>
        </p:nvGrpSpPr>
        <p:grpSpPr>
          <a:xfrm rot="0">
            <a:off x="14080598" y="3171958"/>
            <a:ext cx="182308" cy="277082"/>
            <a:chOff x="0" y="0"/>
            <a:chExt cx="243078" cy="369443"/>
          </a:xfrm>
        </p:grpSpPr>
        <p:sp>
          <p:nvSpPr>
            <p:cNvPr name="Freeform 78" id="78" descr="preencoded.png"/>
            <p:cNvSpPr/>
            <p:nvPr/>
          </p:nvSpPr>
          <p:spPr>
            <a:xfrm flipH="false" flipV="false" rot="0">
              <a:off x="0" y="0"/>
              <a:ext cx="243078" cy="369443"/>
            </a:xfrm>
            <a:custGeom>
              <a:avLst/>
              <a:gdLst/>
              <a:ahLst/>
              <a:cxnLst/>
              <a:rect r="r" b="b" t="t" l="l"/>
              <a:pathLst>
                <a:path h="369443" w="243078">
                  <a:moveTo>
                    <a:pt x="0" y="0"/>
                  </a:moveTo>
                  <a:lnTo>
                    <a:pt x="243078" y="0"/>
                  </a:lnTo>
                  <a:lnTo>
                    <a:pt x="243078" y="369443"/>
                  </a:lnTo>
                  <a:lnTo>
                    <a:pt x="0" y="369443"/>
                  </a:lnTo>
                  <a:lnTo>
                    <a:pt x="0" y="0"/>
                  </a:lnTo>
                  <a:close/>
                </a:path>
              </a:pathLst>
            </a:custGeom>
            <a:blipFill>
              <a:blip r:embed="rId27"/>
              <a:stretch>
                <a:fillRect l="-663" t="0" r="-658" b="0"/>
              </a:stretch>
            </a:blipFill>
          </p:spPr>
        </p:sp>
      </p:grpSp>
      <p:sp>
        <p:nvSpPr>
          <p:cNvPr name="Freeform 79" id="79"/>
          <p:cNvSpPr/>
          <p:nvPr/>
        </p:nvSpPr>
        <p:spPr>
          <a:xfrm flipH="false" flipV="false" rot="0">
            <a:off x="9126684" y="1574130"/>
            <a:ext cx="4845596" cy="4099750"/>
          </a:xfrm>
          <a:custGeom>
            <a:avLst/>
            <a:gdLst/>
            <a:ahLst/>
            <a:cxnLst/>
            <a:rect r="r" b="b" t="t" l="l"/>
            <a:pathLst>
              <a:path h="4099750" w="4845596">
                <a:moveTo>
                  <a:pt x="0" y="0"/>
                </a:moveTo>
                <a:lnTo>
                  <a:pt x="4845596" y="0"/>
                </a:lnTo>
                <a:lnTo>
                  <a:pt x="4845596" y="4099751"/>
                </a:lnTo>
                <a:lnTo>
                  <a:pt x="0" y="4099751"/>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grpSp>
        <p:nvGrpSpPr>
          <p:cNvPr name="Group 80" id="80"/>
          <p:cNvGrpSpPr/>
          <p:nvPr/>
        </p:nvGrpSpPr>
        <p:grpSpPr>
          <a:xfrm rot="0">
            <a:off x="9574216" y="2858414"/>
            <a:ext cx="517684" cy="43720"/>
            <a:chOff x="0" y="0"/>
            <a:chExt cx="690245" cy="58293"/>
          </a:xfrm>
        </p:grpSpPr>
        <p:sp>
          <p:nvSpPr>
            <p:cNvPr name="Freeform 81" id="81" descr="preencoded.png"/>
            <p:cNvSpPr/>
            <p:nvPr/>
          </p:nvSpPr>
          <p:spPr>
            <a:xfrm flipH="false" flipV="false" rot="0">
              <a:off x="0" y="0"/>
              <a:ext cx="690245" cy="58293"/>
            </a:xfrm>
            <a:custGeom>
              <a:avLst/>
              <a:gdLst/>
              <a:ahLst/>
              <a:cxnLst/>
              <a:rect r="r" b="b" t="t" l="l"/>
              <a:pathLst>
                <a:path h="58293" w="690245">
                  <a:moveTo>
                    <a:pt x="0" y="0"/>
                  </a:moveTo>
                  <a:lnTo>
                    <a:pt x="690245" y="0"/>
                  </a:lnTo>
                  <a:lnTo>
                    <a:pt x="690245" y="58293"/>
                  </a:lnTo>
                  <a:lnTo>
                    <a:pt x="0" y="58293"/>
                  </a:lnTo>
                  <a:lnTo>
                    <a:pt x="0" y="0"/>
                  </a:lnTo>
                  <a:close/>
                </a:path>
              </a:pathLst>
            </a:custGeom>
            <a:blipFill>
              <a:blip r:embed="rId30"/>
              <a:stretch>
                <a:fillRect l="0" t="-2854" r="0" b="-2875"/>
              </a:stretch>
            </a:blipFill>
          </p:spPr>
        </p:sp>
      </p:grpSp>
      <p:grpSp>
        <p:nvGrpSpPr>
          <p:cNvPr name="Group 82" id="82"/>
          <p:cNvGrpSpPr/>
          <p:nvPr/>
        </p:nvGrpSpPr>
        <p:grpSpPr>
          <a:xfrm rot="0">
            <a:off x="11156556" y="1655254"/>
            <a:ext cx="831247" cy="729234"/>
            <a:chOff x="0" y="0"/>
            <a:chExt cx="1108329" cy="972312"/>
          </a:xfrm>
        </p:grpSpPr>
        <p:sp>
          <p:nvSpPr>
            <p:cNvPr name="Freeform 83" id="83" descr="preencoded.png"/>
            <p:cNvSpPr/>
            <p:nvPr/>
          </p:nvSpPr>
          <p:spPr>
            <a:xfrm flipH="false" flipV="false" rot="0">
              <a:off x="0" y="0"/>
              <a:ext cx="1108329" cy="972312"/>
            </a:xfrm>
            <a:custGeom>
              <a:avLst/>
              <a:gdLst/>
              <a:ahLst/>
              <a:cxnLst/>
              <a:rect r="r" b="b" t="t" l="l"/>
              <a:pathLst>
                <a:path h="972312" w="1108329">
                  <a:moveTo>
                    <a:pt x="0" y="0"/>
                  </a:moveTo>
                  <a:lnTo>
                    <a:pt x="1108329" y="0"/>
                  </a:lnTo>
                  <a:lnTo>
                    <a:pt x="1108329" y="972312"/>
                  </a:lnTo>
                  <a:lnTo>
                    <a:pt x="0" y="972312"/>
                  </a:lnTo>
                  <a:lnTo>
                    <a:pt x="0" y="0"/>
                  </a:lnTo>
                  <a:close/>
                </a:path>
              </a:pathLst>
            </a:custGeom>
            <a:blipFill>
              <a:blip r:embed="rId31"/>
              <a:stretch>
                <a:fillRect l="-199" t="0" r="-200" b="0"/>
              </a:stretch>
            </a:blipFill>
          </p:spPr>
        </p:sp>
      </p:grpSp>
      <p:grpSp>
        <p:nvGrpSpPr>
          <p:cNvPr name="Group 84" id="84"/>
          <p:cNvGrpSpPr/>
          <p:nvPr/>
        </p:nvGrpSpPr>
        <p:grpSpPr>
          <a:xfrm rot="0">
            <a:off x="9130551" y="2990183"/>
            <a:ext cx="4791294" cy="2257025"/>
            <a:chOff x="0" y="0"/>
            <a:chExt cx="6388392" cy="3009367"/>
          </a:xfrm>
        </p:grpSpPr>
        <p:sp>
          <p:nvSpPr>
            <p:cNvPr name="Freeform 85" id="85"/>
            <p:cNvSpPr/>
            <p:nvPr/>
          </p:nvSpPr>
          <p:spPr>
            <a:xfrm flipH="false" flipV="false" rot="0">
              <a:off x="0" y="0"/>
              <a:ext cx="6388354" cy="3009392"/>
            </a:xfrm>
            <a:custGeom>
              <a:avLst/>
              <a:gdLst/>
              <a:ahLst/>
              <a:cxnLst/>
              <a:rect r="r" b="b" t="t" l="l"/>
              <a:pathLst>
                <a:path h="3009392" w="6388354">
                  <a:moveTo>
                    <a:pt x="0" y="0"/>
                  </a:moveTo>
                  <a:lnTo>
                    <a:pt x="6388354" y="0"/>
                  </a:lnTo>
                  <a:lnTo>
                    <a:pt x="6388354" y="3009392"/>
                  </a:lnTo>
                  <a:lnTo>
                    <a:pt x="0" y="3009392"/>
                  </a:lnTo>
                  <a:close/>
                </a:path>
              </a:pathLst>
            </a:custGeom>
            <a:blipFill>
              <a:blip r:embed="rId4">
                <a:alphaModFix amt="0"/>
              </a:blip>
              <a:stretch>
                <a:fillRect l="-10481" t="0" r="-10482" b="0"/>
              </a:stretch>
            </a:blipFill>
          </p:spPr>
        </p:sp>
      </p:grpSp>
      <p:grpSp>
        <p:nvGrpSpPr>
          <p:cNvPr name="Group 86" id="86"/>
          <p:cNvGrpSpPr/>
          <p:nvPr/>
        </p:nvGrpSpPr>
        <p:grpSpPr>
          <a:xfrm rot="0">
            <a:off x="9130551" y="2983040"/>
            <a:ext cx="4791304" cy="2264188"/>
            <a:chOff x="0" y="0"/>
            <a:chExt cx="6388405" cy="3018917"/>
          </a:xfrm>
        </p:grpSpPr>
        <p:sp>
          <p:nvSpPr>
            <p:cNvPr name="Freeform 87" id="87"/>
            <p:cNvSpPr/>
            <p:nvPr/>
          </p:nvSpPr>
          <p:spPr>
            <a:xfrm flipH="false" flipV="false" rot="0">
              <a:off x="0" y="0"/>
              <a:ext cx="6388399" cy="3018916"/>
            </a:xfrm>
            <a:custGeom>
              <a:avLst/>
              <a:gdLst/>
              <a:ahLst/>
              <a:cxnLst/>
              <a:rect r="r" b="b" t="t" l="l"/>
              <a:pathLst>
                <a:path h="3018916" w="6388399">
                  <a:moveTo>
                    <a:pt x="0" y="0"/>
                  </a:moveTo>
                  <a:lnTo>
                    <a:pt x="6388399" y="0"/>
                  </a:lnTo>
                  <a:lnTo>
                    <a:pt x="6388399" y="3018916"/>
                  </a:lnTo>
                  <a:lnTo>
                    <a:pt x="0" y="3018916"/>
                  </a:lnTo>
                  <a:close/>
                </a:path>
              </a:pathLst>
            </a:custGeom>
            <a:blipFill>
              <a:blip r:embed="rId5">
                <a:alphaModFix amt="0"/>
              </a:blip>
              <a:stretch>
                <a:fillRect l="-10631" t="0" r="-10631" b="0"/>
              </a:stretch>
            </a:blipFill>
          </p:spPr>
        </p:sp>
        <p:sp>
          <p:nvSpPr>
            <p:cNvPr name="TextBox 88" id="88"/>
            <p:cNvSpPr txBox="true"/>
            <p:nvPr/>
          </p:nvSpPr>
          <p:spPr>
            <a:xfrm>
              <a:off x="0" y="-9525"/>
              <a:ext cx="6388405" cy="3028442"/>
            </a:xfrm>
            <a:prstGeom prst="rect">
              <a:avLst/>
            </a:prstGeom>
          </p:spPr>
          <p:txBody>
            <a:bodyPr anchor="ctr" rtlCol="false" tIns="0" lIns="0" bIns="0" rIns="0"/>
            <a:lstStyle/>
            <a:p>
              <a:pPr algn="l" marL="457077" indent="-152359" lvl="2">
                <a:lnSpc>
                  <a:spcPts val="2439"/>
                </a:lnSpc>
                <a:buFont typeface="Arial"/>
                <a:buChar char="⚬"/>
              </a:pPr>
              <a:r>
                <a:rPr lang="en-US" sz="1999">
                  <a:solidFill>
                    <a:srgbClr val="6E6D6B"/>
                  </a:solidFill>
                  <a:latin typeface="TT Commons Pro"/>
                  <a:ea typeface="TT Commons Pro"/>
                  <a:cs typeface="TT Commons Pro"/>
                  <a:sym typeface="TT Commons Pro"/>
                </a:rPr>
                <a:t>High customer ratings across most restaurants.</a:t>
              </a:r>
            </a:p>
            <a:p>
              <a:pPr algn="l" marL="457077" indent="-152359" lvl="2">
                <a:lnSpc>
                  <a:spcPts val="2439"/>
                </a:lnSpc>
                <a:buFont typeface="Arial"/>
                <a:buChar char="⚬"/>
              </a:pPr>
              <a:r>
                <a:rPr lang="en-US" sz="1999">
                  <a:solidFill>
                    <a:srgbClr val="6E6D6B"/>
                  </a:solidFill>
                  <a:latin typeface="TT Commons Pro"/>
                  <a:ea typeface="TT Commons Pro"/>
                  <a:cs typeface="TT Commons Pro"/>
                  <a:sym typeface="TT Commons Pro"/>
                </a:rPr>
                <a:t>Location impacts delivery efficiency.</a:t>
              </a:r>
            </a:p>
            <a:p>
              <a:pPr algn="l" marL="457077" indent="-152359" lvl="2">
                <a:lnSpc>
                  <a:spcPts val="2439"/>
                </a:lnSpc>
                <a:buFont typeface="Arial"/>
                <a:buChar char="⚬"/>
              </a:pPr>
              <a:r>
                <a:rPr lang="en-US" sz="1999">
                  <a:solidFill>
                    <a:srgbClr val="6E6D6B"/>
                  </a:solidFill>
                  <a:latin typeface="TT Commons Pro"/>
                  <a:ea typeface="TT Commons Pro"/>
                  <a:cs typeface="TT Commons Pro"/>
                  <a:sym typeface="TT Commons Pro"/>
                </a:rPr>
                <a:t>Revenue and orders differ by city and restaurant type.</a:t>
              </a:r>
            </a:p>
            <a:p>
              <a:pPr algn="l" marL="457077" indent="-152359" lvl="2">
                <a:lnSpc>
                  <a:spcPts val="2439"/>
                </a:lnSpc>
                <a:buFont typeface="Arial"/>
                <a:buChar char="⚬"/>
              </a:pPr>
              <a:r>
                <a:rPr lang="en-US" sz="1999">
                  <a:solidFill>
                    <a:srgbClr val="6E6D6B"/>
                  </a:solidFill>
                  <a:latin typeface="TT Commons Pro"/>
                  <a:ea typeface="TT Commons Pro"/>
                  <a:cs typeface="TT Commons Pro"/>
                  <a:sym typeface="TT Commons Pro"/>
                </a:rPr>
                <a:t>Restaurant characteristics influence platform performance.</a:t>
              </a:r>
            </a:p>
          </p:txBody>
        </p:sp>
      </p:grpSp>
      <p:grpSp>
        <p:nvGrpSpPr>
          <p:cNvPr name="Group 89" id="89"/>
          <p:cNvGrpSpPr/>
          <p:nvPr/>
        </p:nvGrpSpPr>
        <p:grpSpPr>
          <a:xfrm rot="0">
            <a:off x="10234813" y="2402977"/>
            <a:ext cx="2151097" cy="473288"/>
            <a:chOff x="0" y="0"/>
            <a:chExt cx="2868130" cy="631050"/>
          </a:xfrm>
        </p:grpSpPr>
        <p:sp>
          <p:nvSpPr>
            <p:cNvPr name="Freeform 90" id="90"/>
            <p:cNvSpPr/>
            <p:nvPr/>
          </p:nvSpPr>
          <p:spPr>
            <a:xfrm flipH="false" flipV="false" rot="0">
              <a:off x="0" y="0"/>
              <a:ext cx="2868168" cy="631063"/>
            </a:xfrm>
            <a:custGeom>
              <a:avLst/>
              <a:gdLst/>
              <a:ahLst/>
              <a:cxnLst/>
              <a:rect r="r" b="b" t="t" l="l"/>
              <a:pathLst>
                <a:path h="631063" w="2868168">
                  <a:moveTo>
                    <a:pt x="0" y="0"/>
                  </a:moveTo>
                  <a:lnTo>
                    <a:pt x="2868168" y="0"/>
                  </a:lnTo>
                  <a:lnTo>
                    <a:pt x="2868168" y="631063"/>
                  </a:lnTo>
                  <a:lnTo>
                    <a:pt x="0" y="631063"/>
                  </a:lnTo>
                  <a:close/>
                </a:path>
              </a:pathLst>
            </a:custGeom>
            <a:blipFill>
              <a:blip r:embed="rId4">
                <a:alphaModFix amt="0"/>
              </a:blip>
              <a:stretch>
                <a:fillRect l="0" t="-38496" r="1" b="-38496"/>
              </a:stretch>
            </a:blipFill>
          </p:spPr>
        </p:sp>
      </p:grpSp>
      <p:grpSp>
        <p:nvGrpSpPr>
          <p:cNvPr name="Group 91" id="91"/>
          <p:cNvGrpSpPr/>
          <p:nvPr/>
        </p:nvGrpSpPr>
        <p:grpSpPr>
          <a:xfrm rot="0">
            <a:off x="10234813" y="2467270"/>
            <a:ext cx="2151097" cy="408994"/>
            <a:chOff x="0" y="0"/>
            <a:chExt cx="2868130" cy="545325"/>
          </a:xfrm>
        </p:grpSpPr>
        <p:sp>
          <p:nvSpPr>
            <p:cNvPr name="Freeform 92" id="92"/>
            <p:cNvSpPr/>
            <p:nvPr/>
          </p:nvSpPr>
          <p:spPr>
            <a:xfrm flipH="false" flipV="false" rot="0">
              <a:off x="0" y="0"/>
              <a:ext cx="2868129" cy="545330"/>
            </a:xfrm>
            <a:custGeom>
              <a:avLst/>
              <a:gdLst/>
              <a:ahLst/>
              <a:cxnLst/>
              <a:rect r="r" b="b" t="t" l="l"/>
              <a:pathLst>
                <a:path h="545330" w="2868129">
                  <a:moveTo>
                    <a:pt x="0" y="0"/>
                  </a:moveTo>
                  <a:lnTo>
                    <a:pt x="2868129" y="0"/>
                  </a:lnTo>
                  <a:lnTo>
                    <a:pt x="2868129" y="545330"/>
                  </a:lnTo>
                  <a:lnTo>
                    <a:pt x="0" y="545330"/>
                  </a:lnTo>
                  <a:close/>
                </a:path>
              </a:pathLst>
            </a:custGeom>
            <a:blipFill>
              <a:blip r:embed="rId5">
                <a:alphaModFix amt="0"/>
              </a:blip>
              <a:stretch>
                <a:fillRect l="0" t="-52480" r="0" b="-52480"/>
              </a:stretch>
            </a:blipFill>
          </p:spPr>
        </p:sp>
        <p:sp>
          <p:nvSpPr>
            <p:cNvPr name="TextBox 93" id="93"/>
            <p:cNvSpPr txBox="true"/>
            <p:nvPr/>
          </p:nvSpPr>
          <p:spPr>
            <a:xfrm>
              <a:off x="0" y="85725"/>
              <a:ext cx="2868130" cy="459600"/>
            </a:xfrm>
            <a:prstGeom prst="rect">
              <a:avLst/>
            </a:prstGeom>
          </p:spPr>
          <p:txBody>
            <a:bodyPr anchor="ctr" rtlCol="false" tIns="0" lIns="0" bIns="0" rIns="0"/>
            <a:lstStyle/>
            <a:p>
              <a:pPr algn="l">
                <a:lnSpc>
                  <a:spcPts val="1665"/>
                </a:lnSpc>
              </a:pPr>
              <a:r>
                <a:rPr lang="en-US" sz="2193" b="true">
                  <a:solidFill>
                    <a:srgbClr val="A75761"/>
                  </a:solidFill>
                  <a:latin typeface="TT Commons Pro Bold"/>
                  <a:ea typeface="TT Commons Pro Bold"/>
                  <a:cs typeface="TT Commons Pro Bold"/>
                  <a:sym typeface="TT Commons Pro Bold"/>
                </a:rPr>
                <a:t>KEY FINDINGS</a:t>
              </a:r>
            </a:p>
          </p:txBody>
        </p:sp>
      </p:grpSp>
      <p:grpSp>
        <p:nvGrpSpPr>
          <p:cNvPr name="Group 94" id="94"/>
          <p:cNvGrpSpPr/>
          <p:nvPr/>
        </p:nvGrpSpPr>
        <p:grpSpPr>
          <a:xfrm rot="0">
            <a:off x="9566929" y="2319528"/>
            <a:ext cx="525008" cy="598341"/>
            <a:chOff x="0" y="0"/>
            <a:chExt cx="700011" cy="797789"/>
          </a:xfrm>
        </p:grpSpPr>
        <p:sp>
          <p:nvSpPr>
            <p:cNvPr name="Freeform 95" id="95"/>
            <p:cNvSpPr/>
            <p:nvPr/>
          </p:nvSpPr>
          <p:spPr>
            <a:xfrm flipH="false" flipV="false" rot="0">
              <a:off x="0" y="0"/>
              <a:ext cx="700024" cy="797814"/>
            </a:xfrm>
            <a:custGeom>
              <a:avLst/>
              <a:gdLst/>
              <a:ahLst/>
              <a:cxnLst/>
              <a:rect r="r" b="b" t="t" l="l"/>
              <a:pathLst>
                <a:path h="797814" w="700024">
                  <a:moveTo>
                    <a:pt x="0" y="0"/>
                  </a:moveTo>
                  <a:lnTo>
                    <a:pt x="700024" y="0"/>
                  </a:lnTo>
                  <a:lnTo>
                    <a:pt x="700024" y="797814"/>
                  </a:lnTo>
                  <a:lnTo>
                    <a:pt x="0" y="797814"/>
                  </a:lnTo>
                  <a:close/>
                </a:path>
              </a:pathLst>
            </a:custGeom>
            <a:blipFill>
              <a:blip r:embed="rId4">
                <a:alphaModFix amt="0"/>
              </a:blip>
              <a:stretch>
                <a:fillRect l="-96324" t="0" r="-96322" b="3"/>
              </a:stretch>
            </a:blipFill>
          </p:spPr>
        </p:sp>
      </p:grpSp>
      <p:grpSp>
        <p:nvGrpSpPr>
          <p:cNvPr name="Group 96" id="96"/>
          <p:cNvGrpSpPr/>
          <p:nvPr/>
        </p:nvGrpSpPr>
        <p:grpSpPr>
          <a:xfrm rot="0">
            <a:off x="9566929" y="2362390"/>
            <a:ext cx="525008" cy="555479"/>
            <a:chOff x="0" y="0"/>
            <a:chExt cx="700011" cy="740639"/>
          </a:xfrm>
        </p:grpSpPr>
        <p:sp>
          <p:nvSpPr>
            <p:cNvPr name="Freeform 97" id="97"/>
            <p:cNvSpPr/>
            <p:nvPr/>
          </p:nvSpPr>
          <p:spPr>
            <a:xfrm flipH="false" flipV="false" rot="0">
              <a:off x="0" y="0"/>
              <a:ext cx="700011" cy="740639"/>
            </a:xfrm>
            <a:custGeom>
              <a:avLst/>
              <a:gdLst/>
              <a:ahLst/>
              <a:cxnLst/>
              <a:rect r="r" b="b" t="t" l="l"/>
              <a:pathLst>
                <a:path h="740639" w="700011">
                  <a:moveTo>
                    <a:pt x="0" y="0"/>
                  </a:moveTo>
                  <a:lnTo>
                    <a:pt x="700011" y="0"/>
                  </a:lnTo>
                  <a:lnTo>
                    <a:pt x="700011" y="740639"/>
                  </a:lnTo>
                  <a:lnTo>
                    <a:pt x="0" y="740639"/>
                  </a:lnTo>
                  <a:close/>
                </a:path>
              </a:pathLst>
            </a:custGeom>
            <a:blipFill>
              <a:blip r:embed="rId5">
                <a:alphaModFix amt="0"/>
              </a:blip>
              <a:stretch>
                <a:fillRect l="-85750" t="0" r="-85750" b="0"/>
              </a:stretch>
            </a:blipFill>
          </p:spPr>
        </p:sp>
        <p:sp>
          <p:nvSpPr>
            <p:cNvPr name="TextBox 98" id="98"/>
            <p:cNvSpPr txBox="true"/>
            <p:nvPr/>
          </p:nvSpPr>
          <p:spPr>
            <a:xfrm>
              <a:off x="0" y="57150"/>
              <a:ext cx="700011" cy="683489"/>
            </a:xfrm>
            <a:prstGeom prst="rect">
              <a:avLst/>
            </a:prstGeom>
          </p:spPr>
          <p:txBody>
            <a:bodyPr anchor="ctr" rtlCol="false" tIns="0" lIns="0" bIns="0" rIns="0"/>
            <a:lstStyle/>
            <a:p>
              <a:pPr algn="l">
                <a:lnSpc>
                  <a:spcPts val="2690"/>
                </a:lnSpc>
              </a:pPr>
              <a:r>
                <a:rPr lang="en-US" sz="2799" b="true">
                  <a:solidFill>
                    <a:srgbClr val="AE5C67"/>
                  </a:solidFill>
                  <a:latin typeface="TT Commons Pro Bold"/>
                  <a:ea typeface="TT Commons Pro Bold"/>
                  <a:cs typeface="TT Commons Pro Bold"/>
                  <a:sym typeface="TT Commons Pro Bold"/>
                </a:rPr>
                <a:t>02</a:t>
              </a:r>
            </a:p>
          </p:txBody>
        </p:sp>
      </p:grpSp>
      <p:sp>
        <p:nvSpPr>
          <p:cNvPr name="Freeform 99" id="99"/>
          <p:cNvSpPr/>
          <p:nvPr/>
        </p:nvSpPr>
        <p:spPr>
          <a:xfrm flipH="false" flipV="false" rot="0">
            <a:off x="4209231" y="1602391"/>
            <a:ext cx="4801629" cy="4087035"/>
          </a:xfrm>
          <a:custGeom>
            <a:avLst/>
            <a:gdLst/>
            <a:ahLst/>
            <a:cxnLst/>
            <a:rect r="r" b="b" t="t" l="l"/>
            <a:pathLst>
              <a:path h="4087035" w="4801629">
                <a:moveTo>
                  <a:pt x="0" y="0"/>
                </a:moveTo>
                <a:lnTo>
                  <a:pt x="4801629" y="0"/>
                </a:lnTo>
                <a:lnTo>
                  <a:pt x="4801629" y="4087034"/>
                </a:lnTo>
                <a:lnTo>
                  <a:pt x="0" y="4087034"/>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grpSp>
        <p:nvGrpSpPr>
          <p:cNvPr name="Group 100" id="100"/>
          <p:cNvGrpSpPr/>
          <p:nvPr/>
        </p:nvGrpSpPr>
        <p:grpSpPr>
          <a:xfrm rot="0">
            <a:off x="4608462" y="2858414"/>
            <a:ext cx="546926" cy="51054"/>
            <a:chOff x="0" y="0"/>
            <a:chExt cx="729234" cy="68072"/>
          </a:xfrm>
        </p:grpSpPr>
        <p:sp>
          <p:nvSpPr>
            <p:cNvPr name="Freeform 101" id="101" descr="preencoded.png"/>
            <p:cNvSpPr/>
            <p:nvPr/>
          </p:nvSpPr>
          <p:spPr>
            <a:xfrm flipH="false" flipV="false" rot="0">
              <a:off x="0" y="0"/>
              <a:ext cx="729234" cy="68072"/>
            </a:xfrm>
            <a:custGeom>
              <a:avLst/>
              <a:gdLst/>
              <a:ahLst/>
              <a:cxnLst/>
              <a:rect r="r" b="b" t="t" l="l"/>
              <a:pathLst>
                <a:path h="68072" w="729234">
                  <a:moveTo>
                    <a:pt x="0" y="0"/>
                  </a:moveTo>
                  <a:lnTo>
                    <a:pt x="729234" y="0"/>
                  </a:lnTo>
                  <a:lnTo>
                    <a:pt x="729234" y="68072"/>
                  </a:lnTo>
                  <a:lnTo>
                    <a:pt x="0" y="68072"/>
                  </a:lnTo>
                  <a:lnTo>
                    <a:pt x="0" y="0"/>
                  </a:lnTo>
                  <a:close/>
                </a:path>
              </a:pathLst>
            </a:custGeom>
            <a:blipFill>
              <a:blip r:embed="rId34"/>
              <a:stretch>
                <a:fillRect l="0" t="-3563" r="0" b="-3563"/>
              </a:stretch>
            </a:blipFill>
          </p:spPr>
        </p:sp>
      </p:grpSp>
      <p:grpSp>
        <p:nvGrpSpPr>
          <p:cNvPr name="Group 102" id="102"/>
          <p:cNvGrpSpPr/>
          <p:nvPr/>
        </p:nvGrpSpPr>
        <p:grpSpPr>
          <a:xfrm rot="0">
            <a:off x="6256420" y="1655254"/>
            <a:ext cx="845820" cy="729234"/>
            <a:chOff x="0" y="0"/>
            <a:chExt cx="1127760" cy="972312"/>
          </a:xfrm>
        </p:grpSpPr>
        <p:sp>
          <p:nvSpPr>
            <p:cNvPr name="Freeform 103" id="103" descr="preencoded.png"/>
            <p:cNvSpPr/>
            <p:nvPr/>
          </p:nvSpPr>
          <p:spPr>
            <a:xfrm flipH="false" flipV="false" rot="0">
              <a:off x="0" y="0"/>
              <a:ext cx="1127760" cy="972312"/>
            </a:xfrm>
            <a:custGeom>
              <a:avLst/>
              <a:gdLst/>
              <a:ahLst/>
              <a:cxnLst/>
              <a:rect r="r" b="b" t="t" l="l"/>
              <a:pathLst>
                <a:path h="972312" w="1127760">
                  <a:moveTo>
                    <a:pt x="0" y="0"/>
                  </a:moveTo>
                  <a:lnTo>
                    <a:pt x="1127760" y="0"/>
                  </a:lnTo>
                  <a:lnTo>
                    <a:pt x="1127760" y="972312"/>
                  </a:lnTo>
                  <a:lnTo>
                    <a:pt x="0" y="972312"/>
                  </a:lnTo>
                  <a:lnTo>
                    <a:pt x="0" y="0"/>
                  </a:lnTo>
                  <a:close/>
                </a:path>
              </a:pathLst>
            </a:custGeom>
            <a:blipFill>
              <a:blip r:embed="rId35"/>
              <a:stretch>
                <a:fillRect l="-292" t="0" r="-292" b="0"/>
              </a:stretch>
            </a:blipFill>
          </p:spPr>
        </p:sp>
      </p:grpSp>
      <p:grpSp>
        <p:nvGrpSpPr>
          <p:cNvPr name="Group 104" id="104"/>
          <p:cNvGrpSpPr/>
          <p:nvPr/>
        </p:nvGrpSpPr>
        <p:grpSpPr>
          <a:xfrm rot="0">
            <a:off x="4417866" y="2878493"/>
            <a:ext cx="4663926" cy="2311146"/>
            <a:chOff x="0" y="0"/>
            <a:chExt cx="6218568" cy="3081528"/>
          </a:xfrm>
        </p:grpSpPr>
        <p:sp>
          <p:nvSpPr>
            <p:cNvPr name="Freeform 105" id="105"/>
            <p:cNvSpPr/>
            <p:nvPr/>
          </p:nvSpPr>
          <p:spPr>
            <a:xfrm flipH="false" flipV="false" rot="0">
              <a:off x="0" y="0"/>
              <a:ext cx="6218555" cy="3081528"/>
            </a:xfrm>
            <a:custGeom>
              <a:avLst/>
              <a:gdLst/>
              <a:ahLst/>
              <a:cxnLst/>
              <a:rect r="r" b="b" t="t" l="l"/>
              <a:pathLst>
                <a:path h="3081528" w="6218555">
                  <a:moveTo>
                    <a:pt x="0" y="0"/>
                  </a:moveTo>
                  <a:lnTo>
                    <a:pt x="6218555" y="0"/>
                  </a:lnTo>
                  <a:lnTo>
                    <a:pt x="6218555" y="3081528"/>
                  </a:lnTo>
                  <a:lnTo>
                    <a:pt x="0" y="3081528"/>
                  </a:lnTo>
                  <a:close/>
                </a:path>
              </a:pathLst>
            </a:custGeom>
            <a:blipFill>
              <a:blip r:embed="rId4">
                <a:alphaModFix amt="0"/>
              </a:blip>
              <a:stretch>
                <a:fillRect l="-13623" t="0" r="-13623" b="0"/>
              </a:stretch>
            </a:blipFill>
          </p:spPr>
        </p:sp>
      </p:grpSp>
      <p:grpSp>
        <p:nvGrpSpPr>
          <p:cNvPr name="Group 106" id="106"/>
          <p:cNvGrpSpPr/>
          <p:nvPr/>
        </p:nvGrpSpPr>
        <p:grpSpPr>
          <a:xfrm rot="0">
            <a:off x="4417866" y="2871349"/>
            <a:ext cx="4663926" cy="2318299"/>
            <a:chOff x="0" y="0"/>
            <a:chExt cx="6218568" cy="3091066"/>
          </a:xfrm>
        </p:grpSpPr>
        <p:sp>
          <p:nvSpPr>
            <p:cNvPr name="Freeform 107" id="107"/>
            <p:cNvSpPr/>
            <p:nvPr/>
          </p:nvSpPr>
          <p:spPr>
            <a:xfrm flipH="false" flipV="false" rot="0">
              <a:off x="0" y="0"/>
              <a:ext cx="6218568" cy="3091060"/>
            </a:xfrm>
            <a:custGeom>
              <a:avLst/>
              <a:gdLst/>
              <a:ahLst/>
              <a:cxnLst/>
              <a:rect r="r" b="b" t="t" l="l"/>
              <a:pathLst>
                <a:path h="3091060" w="6218568">
                  <a:moveTo>
                    <a:pt x="0" y="0"/>
                  </a:moveTo>
                  <a:lnTo>
                    <a:pt x="6218568" y="0"/>
                  </a:lnTo>
                  <a:lnTo>
                    <a:pt x="6218568" y="3091060"/>
                  </a:lnTo>
                  <a:lnTo>
                    <a:pt x="0" y="3091060"/>
                  </a:lnTo>
                  <a:close/>
                </a:path>
              </a:pathLst>
            </a:custGeom>
            <a:blipFill>
              <a:blip r:embed="rId5">
                <a:alphaModFix amt="0"/>
              </a:blip>
              <a:stretch>
                <a:fillRect l="-13775" t="0" r="-13775" b="0"/>
              </a:stretch>
            </a:blipFill>
          </p:spPr>
        </p:sp>
        <p:sp>
          <p:nvSpPr>
            <p:cNvPr name="TextBox 108" id="108"/>
            <p:cNvSpPr txBox="true"/>
            <p:nvPr/>
          </p:nvSpPr>
          <p:spPr>
            <a:xfrm>
              <a:off x="0" y="-9525"/>
              <a:ext cx="6218568" cy="3100591"/>
            </a:xfrm>
            <a:prstGeom prst="rect">
              <a:avLst/>
            </a:prstGeom>
          </p:spPr>
          <p:txBody>
            <a:bodyPr anchor="ctr" rtlCol="false" tIns="0" lIns="0" bIns="0" rIns="0"/>
            <a:lstStyle/>
            <a:p>
              <a:pPr algn="l">
                <a:lnSpc>
                  <a:spcPts val="2439"/>
                </a:lnSpc>
              </a:pPr>
              <a:r>
                <a:rPr lang="en-US" sz="1999">
                  <a:solidFill>
                    <a:srgbClr val="6E6D6B"/>
                  </a:solidFill>
                  <a:latin typeface="TT Commons Pro"/>
                  <a:ea typeface="TT Commons Pro"/>
                  <a:cs typeface="TT Commons Pro"/>
                  <a:sym typeface="TT Commons Pro"/>
                </a:rPr>
                <a:t>The project highlights that restaurant performance cannot be evaluated using only one parameter. A combination of ratings, orders, revenue, pricing, and operational metrics provides a more comprehensive understanding of platform performance. </a:t>
              </a:r>
            </a:p>
          </p:txBody>
        </p:sp>
      </p:grpSp>
      <p:grpSp>
        <p:nvGrpSpPr>
          <p:cNvPr name="Group 109" id="109"/>
          <p:cNvGrpSpPr/>
          <p:nvPr/>
        </p:nvGrpSpPr>
        <p:grpSpPr>
          <a:xfrm rot="0">
            <a:off x="5293890" y="2471947"/>
            <a:ext cx="2194855" cy="439788"/>
            <a:chOff x="0" y="0"/>
            <a:chExt cx="2926474" cy="586384"/>
          </a:xfrm>
        </p:grpSpPr>
        <p:sp>
          <p:nvSpPr>
            <p:cNvPr name="Freeform 110" id="110"/>
            <p:cNvSpPr/>
            <p:nvPr/>
          </p:nvSpPr>
          <p:spPr>
            <a:xfrm flipH="false" flipV="false" rot="0">
              <a:off x="0" y="0"/>
              <a:ext cx="2926461" cy="586359"/>
            </a:xfrm>
            <a:custGeom>
              <a:avLst/>
              <a:gdLst/>
              <a:ahLst/>
              <a:cxnLst/>
              <a:rect r="r" b="b" t="t" l="l"/>
              <a:pathLst>
                <a:path h="586359" w="2926461">
                  <a:moveTo>
                    <a:pt x="0" y="0"/>
                  </a:moveTo>
                  <a:lnTo>
                    <a:pt x="2926461" y="0"/>
                  </a:lnTo>
                  <a:lnTo>
                    <a:pt x="2926461" y="586359"/>
                  </a:lnTo>
                  <a:lnTo>
                    <a:pt x="0" y="586359"/>
                  </a:lnTo>
                  <a:close/>
                </a:path>
              </a:pathLst>
            </a:custGeom>
            <a:blipFill>
              <a:blip r:embed="rId4">
                <a:alphaModFix amt="0"/>
              </a:blip>
              <a:stretch>
                <a:fillRect l="0" t="-47177" r="0" b="-47184"/>
              </a:stretch>
            </a:blipFill>
          </p:spPr>
        </p:sp>
      </p:grpSp>
      <p:grpSp>
        <p:nvGrpSpPr>
          <p:cNvPr name="Group 111" id="111"/>
          <p:cNvGrpSpPr/>
          <p:nvPr/>
        </p:nvGrpSpPr>
        <p:grpSpPr>
          <a:xfrm rot="0">
            <a:off x="5293890" y="2529097"/>
            <a:ext cx="2194855" cy="382638"/>
            <a:chOff x="0" y="0"/>
            <a:chExt cx="2926474" cy="510184"/>
          </a:xfrm>
        </p:grpSpPr>
        <p:sp>
          <p:nvSpPr>
            <p:cNvPr name="Freeform 112" id="112"/>
            <p:cNvSpPr/>
            <p:nvPr/>
          </p:nvSpPr>
          <p:spPr>
            <a:xfrm flipH="false" flipV="false" rot="0">
              <a:off x="0" y="0"/>
              <a:ext cx="2926473" cy="510181"/>
            </a:xfrm>
            <a:custGeom>
              <a:avLst/>
              <a:gdLst/>
              <a:ahLst/>
              <a:cxnLst/>
              <a:rect r="r" b="b" t="t" l="l"/>
              <a:pathLst>
                <a:path h="510181" w="2926473">
                  <a:moveTo>
                    <a:pt x="0" y="0"/>
                  </a:moveTo>
                  <a:lnTo>
                    <a:pt x="2926473" y="0"/>
                  </a:lnTo>
                  <a:lnTo>
                    <a:pt x="2926473" y="510181"/>
                  </a:lnTo>
                  <a:lnTo>
                    <a:pt x="0" y="510181"/>
                  </a:lnTo>
                  <a:close/>
                </a:path>
              </a:pathLst>
            </a:custGeom>
            <a:blipFill>
              <a:blip r:embed="rId5">
                <a:alphaModFix amt="0"/>
              </a:blip>
              <a:stretch>
                <a:fillRect l="0" t="-61768" r="0" b="-61769"/>
              </a:stretch>
            </a:blipFill>
          </p:spPr>
        </p:sp>
        <p:sp>
          <p:nvSpPr>
            <p:cNvPr name="TextBox 113" id="113"/>
            <p:cNvSpPr txBox="true"/>
            <p:nvPr/>
          </p:nvSpPr>
          <p:spPr>
            <a:xfrm>
              <a:off x="0" y="76200"/>
              <a:ext cx="2926474" cy="433984"/>
            </a:xfrm>
            <a:prstGeom prst="rect">
              <a:avLst/>
            </a:prstGeom>
          </p:spPr>
          <p:txBody>
            <a:bodyPr anchor="ctr" rtlCol="false" tIns="0" lIns="0" bIns="0" rIns="0"/>
            <a:lstStyle/>
            <a:p>
              <a:pPr algn="l">
                <a:lnSpc>
                  <a:spcPts val="1664"/>
                </a:lnSpc>
              </a:pPr>
              <a:r>
                <a:rPr lang="en-US" sz="2038" b="true">
                  <a:solidFill>
                    <a:srgbClr val="C79163"/>
                  </a:solidFill>
                  <a:latin typeface="TT Commons Pro Bold"/>
                  <a:ea typeface="TT Commons Pro Bold"/>
                  <a:cs typeface="TT Commons Pro Bold"/>
                  <a:sym typeface="TT Commons Pro Bold"/>
                </a:rPr>
                <a:t>CONCLUSION</a:t>
              </a:r>
            </a:p>
          </p:txBody>
        </p:sp>
      </p:grpSp>
      <p:grpSp>
        <p:nvGrpSpPr>
          <p:cNvPr name="Group 114" id="114"/>
          <p:cNvGrpSpPr/>
          <p:nvPr/>
        </p:nvGrpSpPr>
        <p:grpSpPr>
          <a:xfrm rot="0">
            <a:off x="4619396" y="2319252"/>
            <a:ext cx="408346" cy="598742"/>
            <a:chOff x="0" y="0"/>
            <a:chExt cx="544462" cy="798322"/>
          </a:xfrm>
        </p:grpSpPr>
        <p:sp>
          <p:nvSpPr>
            <p:cNvPr name="Freeform 115" id="115"/>
            <p:cNvSpPr/>
            <p:nvPr/>
          </p:nvSpPr>
          <p:spPr>
            <a:xfrm flipH="false" flipV="false" rot="0">
              <a:off x="0" y="0"/>
              <a:ext cx="544449" cy="798322"/>
            </a:xfrm>
            <a:custGeom>
              <a:avLst/>
              <a:gdLst/>
              <a:ahLst/>
              <a:cxnLst/>
              <a:rect r="r" b="b" t="t" l="l"/>
              <a:pathLst>
                <a:path h="798322" w="544449">
                  <a:moveTo>
                    <a:pt x="0" y="0"/>
                  </a:moveTo>
                  <a:lnTo>
                    <a:pt x="544449" y="0"/>
                  </a:lnTo>
                  <a:lnTo>
                    <a:pt x="544449" y="798322"/>
                  </a:lnTo>
                  <a:lnTo>
                    <a:pt x="0" y="798322"/>
                  </a:lnTo>
                  <a:close/>
                </a:path>
              </a:pathLst>
            </a:custGeom>
            <a:blipFill>
              <a:blip r:embed="rId4">
                <a:alphaModFix amt="0"/>
              </a:blip>
              <a:stretch>
                <a:fillRect l="-138262" t="0" r="-138264" b="0"/>
              </a:stretch>
            </a:blipFill>
          </p:spPr>
        </p:sp>
      </p:grpSp>
      <p:grpSp>
        <p:nvGrpSpPr>
          <p:cNvPr name="Group 116" id="116"/>
          <p:cNvGrpSpPr/>
          <p:nvPr/>
        </p:nvGrpSpPr>
        <p:grpSpPr>
          <a:xfrm rot="0">
            <a:off x="4619396" y="2433552"/>
            <a:ext cx="408346" cy="484441"/>
            <a:chOff x="0" y="0"/>
            <a:chExt cx="544462" cy="645922"/>
          </a:xfrm>
        </p:grpSpPr>
        <p:sp>
          <p:nvSpPr>
            <p:cNvPr name="Freeform 117" id="117"/>
            <p:cNvSpPr/>
            <p:nvPr/>
          </p:nvSpPr>
          <p:spPr>
            <a:xfrm flipH="false" flipV="false" rot="0">
              <a:off x="0" y="0"/>
              <a:ext cx="544461" cy="645924"/>
            </a:xfrm>
            <a:custGeom>
              <a:avLst/>
              <a:gdLst/>
              <a:ahLst/>
              <a:cxnLst/>
              <a:rect r="r" b="b" t="t" l="l"/>
              <a:pathLst>
                <a:path h="645924" w="544461">
                  <a:moveTo>
                    <a:pt x="0" y="0"/>
                  </a:moveTo>
                  <a:lnTo>
                    <a:pt x="544461" y="0"/>
                  </a:lnTo>
                  <a:lnTo>
                    <a:pt x="544461" y="645924"/>
                  </a:lnTo>
                  <a:lnTo>
                    <a:pt x="0" y="645924"/>
                  </a:lnTo>
                  <a:close/>
                </a:path>
              </a:pathLst>
            </a:custGeom>
            <a:blipFill>
              <a:blip r:embed="rId5">
                <a:alphaModFix amt="0"/>
              </a:blip>
              <a:stretch>
                <a:fillRect l="-102212" t="0" r="-102213" b="0"/>
              </a:stretch>
            </a:blipFill>
          </p:spPr>
        </p:sp>
        <p:sp>
          <p:nvSpPr>
            <p:cNvPr name="TextBox 118" id="118"/>
            <p:cNvSpPr txBox="true"/>
            <p:nvPr/>
          </p:nvSpPr>
          <p:spPr>
            <a:xfrm>
              <a:off x="0" y="152400"/>
              <a:ext cx="544462" cy="493522"/>
            </a:xfrm>
            <a:prstGeom prst="rect">
              <a:avLst/>
            </a:prstGeom>
          </p:spPr>
          <p:txBody>
            <a:bodyPr anchor="ctr" rtlCol="false" tIns="0" lIns="0" bIns="0" rIns="0"/>
            <a:lstStyle/>
            <a:p>
              <a:pPr algn="l">
                <a:lnSpc>
                  <a:spcPts val="1869"/>
                </a:lnSpc>
              </a:pPr>
              <a:r>
                <a:rPr lang="en-US" sz="2804" b="true">
                  <a:solidFill>
                    <a:srgbClr val="D59F70"/>
                  </a:solidFill>
                  <a:latin typeface="TT Commons Pro Bold"/>
                  <a:ea typeface="TT Commons Pro Bold"/>
                  <a:cs typeface="TT Commons Pro Bold"/>
                  <a:sym typeface="TT Commons Pro Bold"/>
                </a:rPr>
                <a:t>01</a:t>
              </a:r>
            </a:p>
          </p:txBody>
        </p:sp>
      </p:grpSp>
      <p:grpSp>
        <p:nvGrpSpPr>
          <p:cNvPr name="Group 119" id="119"/>
          <p:cNvGrpSpPr/>
          <p:nvPr/>
        </p:nvGrpSpPr>
        <p:grpSpPr>
          <a:xfrm rot="0">
            <a:off x="1042740" y="2136515"/>
            <a:ext cx="357283" cy="517684"/>
            <a:chOff x="0" y="0"/>
            <a:chExt cx="476377" cy="690245"/>
          </a:xfrm>
        </p:grpSpPr>
        <p:sp>
          <p:nvSpPr>
            <p:cNvPr name="Freeform 120" id="120" descr="preencoded.png"/>
            <p:cNvSpPr/>
            <p:nvPr/>
          </p:nvSpPr>
          <p:spPr>
            <a:xfrm flipH="false" flipV="false" rot="0">
              <a:off x="0" y="0"/>
              <a:ext cx="476377" cy="690245"/>
            </a:xfrm>
            <a:custGeom>
              <a:avLst/>
              <a:gdLst/>
              <a:ahLst/>
              <a:cxnLst/>
              <a:rect r="r" b="b" t="t" l="l"/>
              <a:pathLst>
                <a:path h="690245" w="476377">
                  <a:moveTo>
                    <a:pt x="0" y="0"/>
                  </a:moveTo>
                  <a:lnTo>
                    <a:pt x="476377" y="0"/>
                  </a:lnTo>
                  <a:lnTo>
                    <a:pt x="476377" y="690245"/>
                  </a:lnTo>
                  <a:lnTo>
                    <a:pt x="0" y="690245"/>
                  </a:lnTo>
                  <a:lnTo>
                    <a:pt x="0" y="0"/>
                  </a:lnTo>
                  <a:close/>
                </a:path>
              </a:pathLst>
            </a:custGeom>
            <a:blipFill>
              <a:blip r:embed="rId36"/>
              <a:stretch>
                <a:fillRect l="0" t="-572" r="0" b="-572"/>
              </a:stretch>
            </a:blipFill>
          </p:spPr>
        </p:sp>
      </p:grpSp>
      <p:grpSp>
        <p:nvGrpSpPr>
          <p:cNvPr name="Group 121" id="121"/>
          <p:cNvGrpSpPr/>
          <p:nvPr/>
        </p:nvGrpSpPr>
        <p:grpSpPr>
          <a:xfrm rot="0">
            <a:off x="218761" y="2909459"/>
            <a:ext cx="3711607" cy="5396008"/>
            <a:chOff x="0" y="0"/>
            <a:chExt cx="4948809" cy="7194677"/>
          </a:xfrm>
        </p:grpSpPr>
        <p:sp>
          <p:nvSpPr>
            <p:cNvPr name="Freeform 122" id="122" descr="preencoded.png"/>
            <p:cNvSpPr/>
            <p:nvPr/>
          </p:nvSpPr>
          <p:spPr>
            <a:xfrm flipH="false" flipV="false" rot="0">
              <a:off x="0" y="0"/>
              <a:ext cx="4948809" cy="7194677"/>
            </a:xfrm>
            <a:custGeom>
              <a:avLst/>
              <a:gdLst/>
              <a:ahLst/>
              <a:cxnLst/>
              <a:rect r="r" b="b" t="t" l="l"/>
              <a:pathLst>
                <a:path h="7194677" w="4948809">
                  <a:moveTo>
                    <a:pt x="0" y="0"/>
                  </a:moveTo>
                  <a:lnTo>
                    <a:pt x="4948809" y="0"/>
                  </a:lnTo>
                  <a:lnTo>
                    <a:pt x="4948809" y="7194677"/>
                  </a:lnTo>
                  <a:lnTo>
                    <a:pt x="0" y="7194677"/>
                  </a:lnTo>
                  <a:lnTo>
                    <a:pt x="0" y="0"/>
                  </a:lnTo>
                  <a:close/>
                </a:path>
              </a:pathLst>
            </a:custGeom>
            <a:blipFill>
              <a:blip r:embed="rId37"/>
              <a:stretch>
                <a:fillRect l="-97" t="0" r="-98" b="0"/>
              </a:stretch>
            </a:blipFill>
          </p:spPr>
        </p:sp>
      </p:grpSp>
      <p:grpSp>
        <p:nvGrpSpPr>
          <p:cNvPr name="Group 123" id="123"/>
          <p:cNvGrpSpPr/>
          <p:nvPr/>
        </p:nvGrpSpPr>
        <p:grpSpPr>
          <a:xfrm rot="0">
            <a:off x="2216725" y="4980346"/>
            <a:ext cx="408337" cy="371856"/>
            <a:chOff x="0" y="0"/>
            <a:chExt cx="544449" cy="495808"/>
          </a:xfrm>
        </p:grpSpPr>
        <p:sp>
          <p:nvSpPr>
            <p:cNvPr name="Freeform 124" id="124" descr="preencoded.png"/>
            <p:cNvSpPr/>
            <p:nvPr/>
          </p:nvSpPr>
          <p:spPr>
            <a:xfrm flipH="false" flipV="false" rot="0">
              <a:off x="0" y="0"/>
              <a:ext cx="544449" cy="495808"/>
            </a:xfrm>
            <a:custGeom>
              <a:avLst/>
              <a:gdLst/>
              <a:ahLst/>
              <a:cxnLst/>
              <a:rect r="r" b="b" t="t" l="l"/>
              <a:pathLst>
                <a:path h="495808" w="544449">
                  <a:moveTo>
                    <a:pt x="0" y="0"/>
                  </a:moveTo>
                  <a:lnTo>
                    <a:pt x="544449" y="0"/>
                  </a:lnTo>
                  <a:lnTo>
                    <a:pt x="544449" y="495808"/>
                  </a:lnTo>
                  <a:lnTo>
                    <a:pt x="0" y="495808"/>
                  </a:lnTo>
                  <a:lnTo>
                    <a:pt x="0" y="0"/>
                  </a:lnTo>
                  <a:close/>
                </a:path>
              </a:pathLst>
            </a:custGeom>
            <a:blipFill>
              <a:blip r:embed="rId38"/>
              <a:stretch>
                <a:fillRect l="-86" t="0" r="-86" b="0"/>
              </a:stretch>
            </a:blipFill>
          </p:spPr>
        </p:sp>
      </p:grpSp>
      <p:grpSp>
        <p:nvGrpSpPr>
          <p:cNvPr name="Group 125" id="125"/>
          <p:cNvGrpSpPr/>
          <p:nvPr/>
        </p:nvGrpSpPr>
        <p:grpSpPr>
          <a:xfrm rot="0">
            <a:off x="1604210" y="4987633"/>
            <a:ext cx="393764" cy="364617"/>
            <a:chOff x="0" y="0"/>
            <a:chExt cx="525018" cy="486156"/>
          </a:xfrm>
        </p:grpSpPr>
        <p:sp>
          <p:nvSpPr>
            <p:cNvPr name="Freeform 126" id="126" descr="preencoded.png"/>
            <p:cNvSpPr/>
            <p:nvPr/>
          </p:nvSpPr>
          <p:spPr>
            <a:xfrm flipH="false" flipV="false" rot="0">
              <a:off x="0" y="0"/>
              <a:ext cx="525018" cy="486156"/>
            </a:xfrm>
            <a:custGeom>
              <a:avLst/>
              <a:gdLst/>
              <a:ahLst/>
              <a:cxnLst/>
              <a:rect r="r" b="b" t="t" l="l"/>
              <a:pathLst>
                <a:path h="486156" w="525018">
                  <a:moveTo>
                    <a:pt x="0" y="0"/>
                  </a:moveTo>
                  <a:lnTo>
                    <a:pt x="525018" y="0"/>
                  </a:lnTo>
                  <a:lnTo>
                    <a:pt x="525018" y="486156"/>
                  </a:lnTo>
                  <a:lnTo>
                    <a:pt x="0" y="486156"/>
                  </a:lnTo>
                  <a:lnTo>
                    <a:pt x="0" y="0"/>
                  </a:lnTo>
                  <a:close/>
                </a:path>
              </a:pathLst>
            </a:custGeom>
            <a:blipFill>
              <a:blip r:embed="rId39"/>
              <a:stretch>
                <a:fillRect l="-157" t="0" r="-157" b="0"/>
              </a:stretch>
            </a:blipFill>
          </p:spPr>
        </p:sp>
      </p:grpSp>
      <p:grpSp>
        <p:nvGrpSpPr>
          <p:cNvPr name="Group 127" id="127"/>
          <p:cNvGrpSpPr/>
          <p:nvPr/>
        </p:nvGrpSpPr>
        <p:grpSpPr>
          <a:xfrm rot="0">
            <a:off x="947947" y="4987633"/>
            <a:ext cx="415671" cy="357283"/>
            <a:chOff x="0" y="0"/>
            <a:chExt cx="554228" cy="476377"/>
          </a:xfrm>
        </p:grpSpPr>
        <p:sp>
          <p:nvSpPr>
            <p:cNvPr name="Freeform 128" id="128" descr="preencoded.png"/>
            <p:cNvSpPr/>
            <p:nvPr/>
          </p:nvSpPr>
          <p:spPr>
            <a:xfrm flipH="false" flipV="false" rot="0">
              <a:off x="0" y="0"/>
              <a:ext cx="554228" cy="476377"/>
            </a:xfrm>
            <a:custGeom>
              <a:avLst/>
              <a:gdLst/>
              <a:ahLst/>
              <a:cxnLst/>
              <a:rect r="r" b="b" t="t" l="l"/>
              <a:pathLst>
                <a:path h="476377" w="554228">
                  <a:moveTo>
                    <a:pt x="0" y="0"/>
                  </a:moveTo>
                  <a:lnTo>
                    <a:pt x="554228" y="0"/>
                  </a:lnTo>
                  <a:lnTo>
                    <a:pt x="554228" y="476377"/>
                  </a:lnTo>
                  <a:lnTo>
                    <a:pt x="0" y="476377"/>
                  </a:lnTo>
                  <a:lnTo>
                    <a:pt x="0" y="0"/>
                  </a:lnTo>
                  <a:close/>
                </a:path>
              </a:pathLst>
            </a:custGeom>
            <a:blipFill>
              <a:blip r:embed="rId40"/>
              <a:stretch>
                <a:fillRect l="-387" t="0" r="-384" b="0"/>
              </a:stretch>
            </a:blipFill>
          </p:spPr>
        </p:sp>
      </p:grpSp>
      <p:grpSp>
        <p:nvGrpSpPr>
          <p:cNvPr name="Group 129" id="129"/>
          <p:cNvGrpSpPr/>
          <p:nvPr/>
        </p:nvGrpSpPr>
        <p:grpSpPr>
          <a:xfrm rot="0">
            <a:off x="3893858" y="2172976"/>
            <a:ext cx="350044" cy="2245900"/>
            <a:chOff x="0" y="0"/>
            <a:chExt cx="466725" cy="2994533"/>
          </a:xfrm>
        </p:grpSpPr>
        <p:sp>
          <p:nvSpPr>
            <p:cNvPr name="Freeform 130" id="130" descr="preencoded.png"/>
            <p:cNvSpPr/>
            <p:nvPr/>
          </p:nvSpPr>
          <p:spPr>
            <a:xfrm flipH="false" flipV="false" rot="0">
              <a:off x="0" y="0"/>
              <a:ext cx="466725" cy="2994533"/>
            </a:xfrm>
            <a:custGeom>
              <a:avLst/>
              <a:gdLst/>
              <a:ahLst/>
              <a:cxnLst/>
              <a:rect r="r" b="b" t="t" l="l"/>
              <a:pathLst>
                <a:path h="2994533" w="466725">
                  <a:moveTo>
                    <a:pt x="0" y="0"/>
                  </a:moveTo>
                  <a:lnTo>
                    <a:pt x="466725" y="0"/>
                  </a:lnTo>
                  <a:lnTo>
                    <a:pt x="466725" y="2994533"/>
                  </a:lnTo>
                  <a:lnTo>
                    <a:pt x="0" y="2994533"/>
                  </a:lnTo>
                  <a:lnTo>
                    <a:pt x="0" y="0"/>
                  </a:lnTo>
                  <a:close/>
                </a:path>
              </a:pathLst>
            </a:custGeom>
            <a:blipFill>
              <a:blip r:embed="rId41"/>
              <a:stretch>
                <a:fillRect l="-775" t="0" r="-772" b="0"/>
              </a:stretch>
            </a:blipFill>
          </p:spPr>
        </p:sp>
      </p:grpSp>
      <p:grpSp>
        <p:nvGrpSpPr>
          <p:cNvPr name="Group 131" id="131"/>
          <p:cNvGrpSpPr/>
          <p:nvPr/>
        </p:nvGrpSpPr>
        <p:grpSpPr>
          <a:xfrm rot="0">
            <a:off x="3981355" y="3171958"/>
            <a:ext cx="189548" cy="284416"/>
            <a:chOff x="0" y="0"/>
            <a:chExt cx="252730" cy="379222"/>
          </a:xfrm>
        </p:grpSpPr>
        <p:sp>
          <p:nvSpPr>
            <p:cNvPr name="Freeform 132" id="132" descr="preencoded.png"/>
            <p:cNvSpPr/>
            <p:nvPr/>
          </p:nvSpPr>
          <p:spPr>
            <a:xfrm flipH="false" flipV="false" rot="0">
              <a:off x="0" y="0"/>
              <a:ext cx="252730" cy="379222"/>
            </a:xfrm>
            <a:custGeom>
              <a:avLst/>
              <a:gdLst/>
              <a:ahLst/>
              <a:cxnLst/>
              <a:rect r="r" b="b" t="t" l="l"/>
              <a:pathLst>
                <a:path h="379222" w="252730">
                  <a:moveTo>
                    <a:pt x="0" y="0"/>
                  </a:moveTo>
                  <a:lnTo>
                    <a:pt x="252730" y="0"/>
                  </a:lnTo>
                  <a:lnTo>
                    <a:pt x="252730" y="379222"/>
                  </a:lnTo>
                  <a:lnTo>
                    <a:pt x="0" y="379222"/>
                  </a:lnTo>
                  <a:lnTo>
                    <a:pt x="0" y="0"/>
                  </a:lnTo>
                  <a:close/>
                </a:path>
              </a:pathLst>
            </a:custGeom>
            <a:blipFill>
              <a:blip r:embed="rId42"/>
              <a:stretch>
                <a:fillRect l="-15" t="0" r="-20" b="0"/>
              </a:stretch>
            </a:blipFill>
          </p:spPr>
        </p:sp>
      </p:grpSp>
      <p:grpSp>
        <p:nvGrpSpPr>
          <p:cNvPr name="Group 133" id="133"/>
          <p:cNvGrpSpPr/>
          <p:nvPr/>
        </p:nvGrpSpPr>
        <p:grpSpPr>
          <a:xfrm rot="0">
            <a:off x="911485" y="4637627"/>
            <a:ext cx="977113" cy="212074"/>
            <a:chOff x="0" y="0"/>
            <a:chExt cx="1302817" cy="282766"/>
          </a:xfrm>
        </p:grpSpPr>
        <p:sp>
          <p:nvSpPr>
            <p:cNvPr name="Freeform 134" id="134"/>
            <p:cNvSpPr/>
            <p:nvPr/>
          </p:nvSpPr>
          <p:spPr>
            <a:xfrm flipH="false" flipV="false" rot="0">
              <a:off x="0" y="0"/>
              <a:ext cx="1302766" cy="282829"/>
            </a:xfrm>
            <a:custGeom>
              <a:avLst/>
              <a:gdLst/>
              <a:ahLst/>
              <a:cxnLst/>
              <a:rect r="r" b="b" t="t" l="l"/>
              <a:pathLst>
                <a:path h="282829" w="1302766">
                  <a:moveTo>
                    <a:pt x="0" y="0"/>
                  </a:moveTo>
                  <a:lnTo>
                    <a:pt x="1302766" y="0"/>
                  </a:lnTo>
                  <a:lnTo>
                    <a:pt x="1302766" y="282829"/>
                  </a:lnTo>
                  <a:lnTo>
                    <a:pt x="0" y="282829"/>
                  </a:lnTo>
                  <a:close/>
                </a:path>
              </a:pathLst>
            </a:custGeom>
            <a:blipFill>
              <a:blip r:embed="rId4">
                <a:alphaModFix amt="0"/>
              </a:blip>
              <a:stretch>
                <a:fillRect l="0" t="-39703" r="-3" b="-39681"/>
              </a:stretch>
            </a:blipFill>
          </p:spPr>
        </p:sp>
      </p:grpSp>
      <p:grpSp>
        <p:nvGrpSpPr>
          <p:cNvPr name="Group 135" id="135"/>
          <p:cNvGrpSpPr/>
          <p:nvPr/>
        </p:nvGrpSpPr>
        <p:grpSpPr>
          <a:xfrm rot="0">
            <a:off x="911485" y="4630484"/>
            <a:ext cx="977113" cy="219218"/>
            <a:chOff x="0" y="0"/>
            <a:chExt cx="1302817" cy="292290"/>
          </a:xfrm>
        </p:grpSpPr>
        <p:sp>
          <p:nvSpPr>
            <p:cNvPr name="Freeform 136" id="136"/>
            <p:cNvSpPr/>
            <p:nvPr/>
          </p:nvSpPr>
          <p:spPr>
            <a:xfrm flipH="false" flipV="false" rot="0">
              <a:off x="0" y="0"/>
              <a:ext cx="1302817" cy="292293"/>
            </a:xfrm>
            <a:custGeom>
              <a:avLst/>
              <a:gdLst/>
              <a:ahLst/>
              <a:cxnLst/>
              <a:rect r="r" b="b" t="t" l="l"/>
              <a:pathLst>
                <a:path h="292293" w="1302817">
                  <a:moveTo>
                    <a:pt x="0" y="0"/>
                  </a:moveTo>
                  <a:lnTo>
                    <a:pt x="1302817" y="0"/>
                  </a:lnTo>
                  <a:lnTo>
                    <a:pt x="1302817" y="292293"/>
                  </a:lnTo>
                  <a:lnTo>
                    <a:pt x="0" y="292293"/>
                  </a:lnTo>
                  <a:close/>
                </a:path>
              </a:pathLst>
            </a:custGeom>
            <a:blipFill>
              <a:blip r:embed="rId5">
                <a:alphaModFix amt="0"/>
              </a:blip>
              <a:stretch>
                <a:fillRect l="0" t="-36849" r="0" b="-36848"/>
              </a:stretch>
            </a:blipFill>
          </p:spPr>
        </p:sp>
        <p:sp>
          <p:nvSpPr>
            <p:cNvPr name="TextBox 137" id="137"/>
            <p:cNvSpPr txBox="true"/>
            <p:nvPr/>
          </p:nvSpPr>
          <p:spPr>
            <a:xfrm>
              <a:off x="0" y="-9525"/>
              <a:ext cx="1302817" cy="301815"/>
            </a:xfrm>
            <a:prstGeom prst="rect">
              <a:avLst/>
            </a:prstGeom>
          </p:spPr>
          <p:txBody>
            <a:bodyPr anchor="ctr" rtlCol="false" tIns="0" lIns="0" bIns="0" rIns="0"/>
            <a:lstStyle/>
            <a:p>
              <a:pPr algn="l">
                <a:lnSpc>
                  <a:spcPts val="1205"/>
                </a:lnSpc>
              </a:pPr>
              <a:r>
                <a:rPr lang="en-US" sz="982">
                  <a:solidFill>
                    <a:srgbClr val="D28668"/>
                  </a:solidFill>
                  <a:latin typeface="TT Commons Pro"/>
                  <a:ea typeface="TT Commons Pro"/>
                  <a:cs typeface="TT Commons Pro"/>
                  <a:sym typeface="TT Commons Pro"/>
                </a:rPr>
                <a:t>10 mins delivery</a:t>
              </a:r>
            </a:p>
          </p:txBody>
        </p:sp>
      </p:grpSp>
      <p:grpSp>
        <p:nvGrpSpPr>
          <p:cNvPr name="Group 138" id="138"/>
          <p:cNvGrpSpPr/>
          <p:nvPr/>
        </p:nvGrpSpPr>
        <p:grpSpPr>
          <a:xfrm rot="0">
            <a:off x="2384441" y="4265743"/>
            <a:ext cx="204216" cy="262509"/>
            <a:chOff x="0" y="0"/>
            <a:chExt cx="272288" cy="350012"/>
          </a:xfrm>
        </p:grpSpPr>
        <p:sp>
          <p:nvSpPr>
            <p:cNvPr name="Freeform 139" id="139" descr="preencoded.png"/>
            <p:cNvSpPr/>
            <p:nvPr/>
          </p:nvSpPr>
          <p:spPr>
            <a:xfrm flipH="false" flipV="false" rot="0">
              <a:off x="0" y="0"/>
              <a:ext cx="272288" cy="350012"/>
            </a:xfrm>
            <a:custGeom>
              <a:avLst/>
              <a:gdLst/>
              <a:ahLst/>
              <a:cxnLst/>
              <a:rect r="r" b="b" t="t" l="l"/>
              <a:pathLst>
                <a:path h="350012" w="272288">
                  <a:moveTo>
                    <a:pt x="0" y="0"/>
                  </a:moveTo>
                  <a:lnTo>
                    <a:pt x="272288" y="0"/>
                  </a:lnTo>
                  <a:lnTo>
                    <a:pt x="272288" y="350012"/>
                  </a:lnTo>
                  <a:lnTo>
                    <a:pt x="0" y="350012"/>
                  </a:lnTo>
                  <a:lnTo>
                    <a:pt x="0" y="0"/>
                  </a:lnTo>
                  <a:close/>
                </a:path>
              </a:pathLst>
            </a:custGeom>
            <a:blipFill>
              <a:blip r:embed="rId43"/>
              <a:stretch>
                <a:fillRect l="0" t="-682" r="0" b="-685"/>
              </a:stretch>
            </a:blipFill>
          </p:spPr>
        </p:sp>
      </p:grpSp>
      <p:grpSp>
        <p:nvGrpSpPr>
          <p:cNvPr name="Group 140" id="140"/>
          <p:cNvGrpSpPr/>
          <p:nvPr/>
        </p:nvGrpSpPr>
        <p:grpSpPr>
          <a:xfrm rot="0">
            <a:off x="882320" y="4229281"/>
            <a:ext cx="1173994" cy="457295"/>
            <a:chOff x="0" y="0"/>
            <a:chExt cx="1565326" cy="609727"/>
          </a:xfrm>
        </p:grpSpPr>
        <p:sp>
          <p:nvSpPr>
            <p:cNvPr name="Freeform 141" id="141"/>
            <p:cNvSpPr/>
            <p:nvPr/>
          </p:nvSpPr>
          <p:spPr>
            <a:xfrm flipH="false" flipV="false" rot="0">
              <a:off x="0" y="0"/>
              <a:ext cx="1565275" cy="609727"/>
            </a:xfrm>
            <a:custGeom>
              <a:avLst/>
              <a:gdLst/>
              <a:ahLst/>
              <a:cxnLst/>
              <a:rect r="r" b="b" t="t" l="l"/>
              <a:pathLst>
                <a:path h="609727" w="1565275">
                  <a:moveTo>
                    <a:pt x="0" y="0"/>
                  </a:moveTo>
                  <a:lnTo>
                    <a:pt x="1565275" y="0"/>
                  </a:lnTo>
                  <a:lnTo>
                    <a:pt x="1565275" y="609727"/>
                  </a:lnTo>
                  <a:lnTo>
                    <a:pt x="0" y="609727"/>
                  </a:lnTo>
                  <a:close/>
                </a:path>
              </a:pathLst>
            </a:custGeom>
            <a:blipFill>
              <a:blip r:embed="rId4">
                <a:alphaModFix amt="0"/>
              </a:blip>
              <a:stretch>
                <a:fillRect l="-12" t="0" r="-14" b="0"/>
              </a:stretch>
            </a:blipFill>
          </p:spPr>
        </p:sp>
      </p:grpSp>
      <p:grpSp>
        <p:nvGrpSpPr>
          <p:cNvPr name="Group 142" id="142"/>
          <p:cNvGrpSpPr/>
          <p:nvPr/>
        </p:nvGrpSpPr>
        <p:grpSpPr>
          <a:xfrm rot="0">
            <a:off x="882320" y="4229281"/>
            <a:ext cx="1173994" cy="457295"/>
            <a:chOff x="0" y="0"/>
            <a:chExt cx="1565326" cy="609727"/>
          </a:xfrm>
        </p:grpSpPr>
        <p:sp>
          <p:nvSpPr>
            <p:cNvPr name="Freeform 143" id="143"/>
            <p:cNvSpPr/>
            <p:nvPr/>
          </p:nvSpPr>
          <p:spPr>
            <a:xfrm flipH="false" flipV="false" rot="0">
              <a:off x="0" y="0"/>
              <a:ext cx="1565325" cy="609733"/>
            </a:xfrm>
            <a:custGeom>
              <a:avLst/>
              <a:gdLst/>
              <a:ahLst/>
              <a:cxnLst/>
              <a:rect r="r" b="b" t="t" l="l"/>
              <a:pathLst>
                <a:path h="609733" w="1565325">
                  <a:moveTo>
                    <a:pt x="0" y="0"/>
                  </a:moveTo>
                  <a:lnTo>
                    <a:pt x="1565325" y="0"/>
                  </a:lnTo>
                  <a:lnTo>
                    <a:pt x="1565325" y="609733"/>
                  </a:lnTo>
                  <a:lnTo>
                    <a:pt x="0" y="609733"/>
                  </a:lnTo>
                  <a:close/>
                </a:path>
              </a:pathLst>
            </a:custGeom>
            <a:blipFill>
              <a:blip r:embed="rId5">
                <a:alphaModFix amt="0"/>
              </a:blip>
              <a:stretch>
                <a:fillRect l="0" t="-23" r="0" b="-22"/>
              </a:stretch>
            </a:blipFill>
          </p:spPr>
        </p:sp>
        <p:sp>
          <p:nvSpPr>
            <p:cNvPr name="TextBox 144" id="144"/>
            <p:cNvSpPr txBox="true"/>
            <p:nvPr/>
          </p:nvSpPr>
          <p:spPr>
            <a:xfrm>
              <a:off x="0" y="0"/>
              <a:ext cx="1565326" cy="609727"/>
            </a:xfrm>
            <a:prstGeom prst="rect">
              <a:avLst/>
            </a:prstGeom>
          </p:spPr>
          <p:txBody>
            <a:bodyPr anchor="ctr" rtlCol="false" tIns="0" lIns="0" bIns="0" rIns="0"/>
            <a:lstStyle/>
            <a:p>
              <a:pPr algn="l">
                <a:lnSpc>
                  <a:spcPts val="1505"/>
                </a:lnSpc>
              </a:pPr>
              <a:r>
                <a:rPr lang="en-US" sz="1234" b="true">
                  <a:solidFill>
                    <a:srgbClr val="E19871"/>
                  </a:solidFill>
                  <a:latin typeface="TT Commons Pro Bold"/>
                  <a:ea typeface="TT Commons Pro Bold"/>
                  <a:cs typeface="TT Commons Pro Bold"/>
                  <a:sym typeface="TT Commons Pro Bold"/>
                </a:rPr>
                <a:t>SWIGGY</a:t>
              </a:r>
            </a:p>
            <a:p>
              <a:pPr algn="l">
                <a:lnSpc>
                  <a:spcPts val="1505"/>
                </a:lnSpc>
              </a:pPr>
              <a:r>
                <a:rPr lang="en-US" sz="1234" b="true">
                  <a:solidFill>
                    <a:srgbClr val="E19871"/>
                  </a:solidFill>
                  <a:latin typeface="TT Commons Pro Bold"/>
                  <a:ea typeface="TT Commons Pro Bold"/>
                  <a:cs typeface="TT Commons Pro Bold"/>
                  <a:sym typeface="TT Commons Pro Bold"/>
                </a:rPr>
                <a:t>instamart</a:t>
              </a:r>
            </a:p>
          </p:txBody>
        </p:sp>
      </p:grpSp>
      <p:grpSp>
        <p:nvGrpSpPr>
          <p:cNvPr name="Group 145" id="145"/>
          <p:cNvGrpSpPr/>
          <p:nvPr/>
        </p:nvGrpSpPr>
        <p:grpSpPr>
          <a:xfrm rot="0">
            <a:off x="853145" y="3879275"/>
            <a:ext cx="109347" cy="109347"/>
            <a:chOff x="0" y="0"/>
            <a:chExt cx="145796" cy="145796"/>
          </a:xfrm>
        </p:grpSpPr>
        <p:sp>
          <p:nvSpPr>
            <p:cNvPr name="Freeform 146" id="146" descr="preencoded.png"/>
            <p:cNvSpPr/>
            <p:nvPr/>
          </p:nvSpPr>
          <p:spPr>
            <a:xfrm flipH="false" flipV="false" rot="0">
              <a:off x="0" y="0"/>
              <a:ext cx="145796" cy="145796"/>
            </a:xfrm>
            <a:custGeom>
              <a:avLst/>
              <a:gdLst/>
              <a:ahLst/>
              <a:cxnLst/>
              <a:rect r="r" b="b" t="t" l="l"/>
              <a:pathLst>
                <a:path h="145796" w="145796">
                  <a:moveTo>
                    <a:pt x="0" y="0"/>
                  </a:moveTo>
                  <a:lnTo>
                    <a:pt x="145796" y="0"/>
                  </a:lnTo>
                  <a:lnTo>
                    <a:pt x="145796" y="145796"/>
                  </a:lnTo>
                  <a:lnTo>
                    <a:pt x="0" y="145796"/>
                  </a:lnTo>
                  <a:lnTo>
                    <a:pt x="0" y="0"/>
                  </a:lnTo>
                  <a:close/>
                </a:path>
              </a:pathLst>
            </a:custGeom>
            <a:blipFill>
              <a:blip r:embed="rId44"/>
              <a:stretch>
                <a:fillRect l="0" t="0" r="0" b="0"/>
              </a:stretch>
            </a:blipFill>
          </p:spPr>
        </p:sp>
      </p:grpSp>
      <p:grpSp>
        <p:nvGrpSpPr>
          <p:cNvPr name="Group 147" id="147"/>
          <p:cNvGrpSpPr/>
          <p:nvPr/>
        </p:nvGrpSpPr>
        <p:grpSpPr>
          <a:xfrm rot="0">
            <a:off x="1166698" y="3602184"/>
            <a:ext cx="72962" cy="43720"/>
            <a:chOff x="0" y="0"/>
            <a:chExt cx="97282" cy="58293"/>
          </a:xfrm>
        </p:grpSpPr>
        <p:sp>
          <p:nvSpPr>
            <p:cNvPr name="Freeform 148" id="148" descr="preencoded.png"/>
            <p:cNvSpPr/>
            <p:nvPr/>
          </p:nvSpPr>
          <p:spPr>
            <a:xfrm flipH="false" flipV="false" rot="0">
              <a:off x="0" y="0"/>
              <a:ext cx="97282" cy="58293"/>
            </a:xfrm>
            <a:custGeom>
              <a:avLst/>
              <a:gdLst/>
              <a:ahLst/>
              <a:cxnLst/>
              <a:rect r="r" b="b" t="t" l="l"/>
              <a:pathLst>
                <a:path h="58293" w="97282">
                  <a:moveTo>
                    <a:pt x="0" y="0"/>
                  </a:moveTo>
                  <a:lnTo>
                    <a:pt x="97282" y="0"/>
                  </a:lnTo>
                  <a:lnTo>
                    <a:pt x="97282" y="58293"/>
                  </a:lnTo>
                  <a:lnTo>
                    <a:pt x="0" y="58293"/>
                  </a:lnTo>
                  <a:lnTo>
                    <a:pt x="0" y="0"/>
                  </a:lnTo>
                  <a:close/>
                </a:path>
              </a:pathLst>
            </a:custGeom>
            <a:blipFill>
              <a:blip r:embed="rId45"/>
              <a:stretch>
                <a:fillRect l="0" t="-65" r="0" b="-65"/>
              </a:stretch>
            </a:blipFill>
          </p:spPr>
        </p:sp>
      </p:grpSp>
      <p:grpSp>
        <p:nvGrpSpPr>
          <p:cNvPr name="Group 149" id="149"/>
          <p:cNvGrpSpPr/>
          <p:nvPr/>
        </p:nvGrpSpPr>
        <p:grpSpPr>
          <a:xfrm rot="0">
            <a:off x="2413606" y="3244882"/>
            <a:ext cx="123920" cy="58293"/>
            <a:chOff x="0" y="0"/>
            <a:chExt cx="165227" cy="77724"/>
          </a:xfrm>
        </p:grpSpPr>
        <p:sp>
          <p:nvSpPr>
            <p:cNvPr name="Freeform 150" id="150" descr="preencoded.png"/>
            <p:cNvSpPr/>
            <p:nvPr/>
          </p:nvSpPr>
          <p:spPr>
            <a:xfrm flipH="false" flipV="false" rot="0">
              <a:off x="0" y="0"/>
              <a:ext cx="165227" cy="77724"/>
            </a:xfrm>
            <a:custGeom>
              <a:avLst/>
              <a:gdLst/>
              <a:ahLst/>
              <a:cxnLst/>
              <a:rect r="r" b="b" t="t" l="l"/>
              <a:pathLst>
                <a:path h="77724" w="165227">
                  <a:moveTo>
                    <a:pt x="0" y="0"/>
                  </a:moveTo>
                  <a:lnTo>
                    <a:pt x="165227" y="0"/>
                  </a:lnTo>
                  <a:lnTo>
                    <a:pt x="165227" y="77724"/>
                  </a:lnTo>
                  <a:lnTo>
                    <a:pt x="0" y="77724"/>
                  </a:lnTo>
                  <a:lnTo>
                    <a:pt x="0" y="0"/>
                  </a:lnTo>
                  <a:close/>
                </a:path>
              </a:pathLst>
            </a:custGeom>
            <a:blipFill>
              <a:blip r:embed="rId46"/>
              <a:stretch>
                <a:fillRect l="0" t="-3137" r="0" b="-3153"/>
              </a:stretch>
            </a:blipFill>
          </p:spPr>
        </p:sp>
      </p:grpSp>
      <p:grpSp>
        <p:nvGrpSpPr>
          <p:cNvPr name="Group 151" id="151"/>
          <p:cNvGrpSpPr/>
          <p:nvPr/>
        </p:nvGrpSpPr>
        <p:grpSpPr>
          <a:xfrm rot="0">
            <a:off x="2296935" y="3237586"/>
            <a:ext cx="80200" cy="65627"/>
            <a:chOff x="0" y="0"/>
            <a:chExt cx="106934" cy="87503"/>
          </a:xfrm>
        </p:grpSpPr>
        <p:sp>
          <p:nvSpPr>
            <p:cNvPr name="Freeform 152" id="152" descr="preencoded.png"/>
            <p:cNvSpPr/>
            <p:nvPr/>
          </p:nvSpPr>
          <p:spPr>
            <a:xfrm flipH="false" flipV="false" rot="0">
              <a:off x="0" y="0"/>
              <a:ext cx="106934" cy="87503"/>
            </a:xfrm>
            <a:custGeom>
              <a:avLst/>
              <a:gdLst/>
              <a:ahLst/>
              <a:cxnLst/>
              <a:rect r="r" b="b" t="t" l="l"/>
              <a:pathLst>
                <a:path h="87503" w="106934">
                  <a:moveTo>
                    <a:pt x="0" y="0"/>
                  </a:moveTo>
                  <a:lnTo>
                    <a:pt x="106934" y="0"/>
                  </a:lnTo>
                  <a:lnTo>
                    <a:pt x="106934" y="87503"/>
                  </a:lnTo>
                  <a:lnTo>
                    <a:pt x="0" y="87503"/>
                  </a:lnTo>
                  <a:lnTo>
                    <a:pt x="0" y="0"/>
                  </a:lnTo>
                  <a:close/>
                </a:path>
              </a:pathLst>
            </a:custGeom>
            <a:blipFill>
              <a:blip r:embed="rId47"/>
              <a:stretch>
                <a:fillRect l="0" t="-319" r="0" b="-319"/>
              </a:stretch>
            </a:blipFill>
          </p:spPr>
        </p:sp>
      </p:grpSp>
      <p:grpSp>
        <p:nvGrpSpPr>
          <p:cNvPr name="Group 153" id="153"/>
          <p:cNvGrpSpPr/>
          <p:nvPr/>
        </p:nvGrpSpPr>
        <p:grpSpPr>
          <a:xfrm rot="0">
            <a:off x="2165680" y="3237586"/>
            <a:ext cx="102108" cy="65627"/>
            <a:chOff x="0" y="0"/>
            <a:chExt cx="136144" cy="87503"/>
          </a:xfrm>
        </p:grpSpPr>
        <p:sp>
          <p:nvSpPr>
            <p:cNvPr name="Freeform 154" id="154" descr="preencoded.png"/>
            <p:cNvSpPr/>
            <p:nvPr/>
          </p:nvSpPr>
          <p:spPr>
            <a:xfrm flipH="false" flipV="false" rot="0">
              <a:off x="0" y="0"/>
              <a:ext cx="136144" cy="87503"/>
            </a:xfrm>
            <a:custGeom>
              <a:avLst/>
              <a:gdLst/>
              <a:ahLst/>
              <a:cxnLst/>
              <a:rect r="r" b="b" t="t" l="l"/>
              <a:pathLst>
                <a:path h="87503" w="136144">
                  <a:moveTo>
                    <a:pt x="0" y="0"/>
                  </a:moveTo>
                  <a:lnTo>
                    <a:pt x="136144" y="0"/>
                  </a:lnTo>
                  <a:lnTo>
                    <a:pt x="136144" y="87503"/>
                  </a:lnTo>
                  <a:lnTo>
                    <a:pt x="0" y="87503"/>
                  </a:lnTo>
                  <a:lnTo>
                    <a:pt x="0" y="0"/>
                  </a:lnTo>
                  <a:close/>
                </a:path>
              </a:pathLst>
            </a:custGeom>
            <a:blipFill>
              <a:blip r:embed="rId48"/>
              <a:stretch>
                <a:fillRect l="-503" t="0" r="-494" b="0"/>
              </a:stretch>
            </a:blipFill>
          </p:spPr>
        </p:sp>
      </p:grpSp>
      <p:grpSp>
        <p:nvGrpSpPr>
          <p:cNvPr name="Group 155" id="155"/>
          <p:cNvGrpSpPr/>
          <p:nvPr/>
        </p:nvGrpSpPr>
        <p:grpSpPr>
          <a:xfrm rot="0">
            <a:off x="14620189" y="2792787"/>
            <a:ext cx="3551110" cy="5527262"/>
            <a:chOff x="0" y="0"/>
            <a:chExt cx="4734814" cy="7369683"/>
          </a:xfrm>
        </p:grpSpPr>
        <p:sp>
          <p:nvSpPr>
            <p:cNvPr name="Freeform 156" id="156" descr="preencoded.png"/>
            <p:cNvSpPr/>
            <p:nvPr/>
          </p:nvSpPr>
          <p:spPr>
            <a:xfrm flipH="false" flipV="false" rot="0">
              <a:off x="0" y="0"/>
              <a:ext cx="4734814" cy="7369683"/>
            </a:xfrm>
            <a:custGeom>
              <a:avLst/>
              <a:gdLst/>
              <a:ahLst/>
              <a:cxnLst/>
              <a:rect r="r" b="b" t="t" l="l"/>
              <a:pathLst>
                <a:path h="7369683" w="4734814">
                  <a:moveTo>
                    <a:pt x="0" y="0"/>
                  </a:moveTo>
                  <a:lnTo>
                    <a:pt x="4734814" y="0"/>
                  </a:lnTo>
                  <a:lnTo>
                    <a:pt x="4734814" y="7369683"/>
                  </a:lnTo>
                  <a:lnTo>
                    <a:pt x="0" y="7369683"/>
                  </a:lnTo>
                  <a:lnTo>
                    <a:pt x="0" y="0"/>
                  </a:lnTo>
                  <a:close/>
                </a:path>
              </a:pathLst>
            </a:custGeom>
            <a:blipFill>
              <a:blip r:embed="rId49"/>
              <a:stretch>
                <a:fillRect l="-21" t="0" r="-21" b="0"/>
              </a:stretch>
            </a:blipFill>
          </p:spPr>
        </p:sp>
      </p:grpSp>
      <p:grpSp>
        <p:nvGrpSpPr>
          <p:cNvPr name="Group 157" id="157"/>
          <p:cNvGrpSpPr/>
          <p:nvPr/>
        </p:nvGrpSpPr>
        <p:grpSpPr>
          <a:xfrm rot="0">
            <a:off x="14620189" y="2851118"/>
            <a:ext cx="3543872" cy="5454301"/>
            <a:chOff x="0" y="0"/>
            <a:chExt cx="4725162" cy="7272401"/>
          </a:xfrm>
        </p:grpSpPr>
        <p:sp>
          <p:nvSpPr>
            <p:cNvPr name="Freeform 158" id="158" descr="preencoded.png"/>
            <p:cNvSpPr/>
            <p:nvPr/>
          </p:nvSpPr>
          <p:spPr>
            <a:xfrm flipH="false" flipV="false" rot="0">
              <a:off x="0" y="0"/>
              <a:ext cx="4725162" cy="7272401"/>
            </a:xfrm>
            <a:custGeom>
              <a:avLst/>
              <a:gdLst/>
              <a:ahLst/>
              <a:cxnLst/>
              <a:rect r="r" b="b" t="t" l="l"/>
              <a:pathLst>
                <a:path h="7272401" w="4725162">
                  <a:moveTo>
                    <a:pt x="0" y="0"/>
                  </a:moveTo>
                  <a:lnTo>
                    <a:pt x="4725162" y="0"/>
                  </a:lnTo>
                  <a:lnTo>
                    <a:pt x="4725162" y="7272401"/>
                  </a:lnTo>
                  <a:lnTo>
                    <a:pt x="0" y="7272401"/>
                  </a:lnTo>
                  <a:lnTo>
                    <a:pt x="0" y="0"/>
                  </a:lnTo>
                  <a:close/>
                </a:path>
              </a:pathLst>
            </a:custGeom>
            <a:blipFill>
              <a:blip r:embed="rId50"/>
              <a:stretch>
                <a:fillRect l="-8" t="0" r="-8" b="0"/>
              </a:stretch>
            </a:blipFill>
          </p:spPr>
        </p:sp>
      </p:grpSp>
      <p:grpSp>
        <p:nvGrpSpPr>
          <p:cNvPr name="Group 159" id="159"/>
          <p:cNvGrpSpPr/>
          <p:nvPr/>
        </p:nvGrpSpPr>
        <p:grpSpPr>
          <a:xfrm rot="0">
            <a:off x="4098026" y="8422110"/>
            <a:ext cx="43720" cy="714566"/>
            <a:chOff x="0" y="0"/>
            <a:chExt cx="58293" cy="952754"/>
          </a:xfrm>
        </p:grpSpPr>
        <p:sp>
          <p:nvSpPr>
            <p:cNvPr name="Freeform 160" id="160" descr="preencoded.png"/>
            <p:cNvSpPr/>
            <p:nvPr/>
          </p:nvSpPr>
          <p:spPr>
            <a:xfrm flipH="false" flipV="false" rot="0">
              <a:off x="0" y="0"/>
              <a:ext cx="58293" cy="952754"/>
            </a:xfrm>
            <a:custGeom>
              <a:avLst/>
              <a:gdLst/>
              <a:ahLst/>
              <a:cxnLst/>
              <a:rect r="r" b="b" t="t" l="l"/>
              <a:pathLst>
                <a:path h="952754" w="58293">
                  <a:moveTo>
                    <a:pt x="0" y="0"/>
                  </a:moveTo>
                  <a:lnTo>
                    <a:pt x="58293" y="0"/>
                  </a:lnTo>
                  <a:lnTo>
                    <a:pt x="58293" y="952754"/>
                  </a:lnTo>
                  <a:lnTo>
                    <a:pt x="0" y="952754"/>
                  </a:lnTo>
                  <a:lnTo>
                    <a:pt x="0" y="0"/>
                  </a:lnTo>
                  <a:close/>
                </a:path>
              </a:pathLst>
            </a:custGeom>
            <a:blipFill>
              <a:blip r:embed="rId51"/>
              <a:stretch>
                <a:fillRect l="-43" t="0" r="-21" b="0"/>
              </a:stretch>
            </a:blipFill>
          </p:spPr>
        </p:sp>
      </p:grpSp>
      <p:grpSp>
        <p:nvGrpSpPr>
          <p:cNvPr name="Group 161" id="161"/>
          <p:cNvGrpSpPr/>
          <p:nvPr/>
        </p:nvGrpSpPr>
        <p:grpSpPr>
          <a:xfrm rot="0">
            <a:off x="860441" y="5585565"/>
            <a:ext cx="3376136" cy="2654236"/>
            <a:chOff x="0" y="0"/>
            <a:chExt cx="4501515" cy="3538982"/>
          </a:xfrm>
        </p:grpSpPr>
        <p:sp>
          <p:nvSpPr>
            <p:cNvPr name="Freeform 162" id="162" descr="preencoded.png"/>
            <p:cNvSpPr/>
            <p:nvPr/>
          </p:nvSpPr>
          <p:spPr>
            <a:xfrm flipH="false" flipV="false" rot="0">
              <a:off x="0" y="0"/>
              <a:ext cx="4501515" cy="3538982"/>
            </a:xfrm>
            <a:custGeom>
              <a:avLst/>
              <a:gdLst/>
              <a:ahLst/>
              <a:cxnLst/>
              <a:rect r="r" b="b" t="t" l="l"/>
              <a:pathLst>
                <a:path h="3538982" w="4501515">
                  <a:moveTo>
                    <a:pt x="0" y="0"/>
                  </a:moveTo>
                  <a:lnTo>
                    <a:pt x="4501515" y="0"/>
                  </a:lnTo>
                  <a:lnTo>
                    <a:pt x="4501515" y="3538982"/>
                  </a:lnTo>
                  <a:lnTo>
                    <a:pt x="0" y="3538982"/>
                  </a:lnTo>
                  <a:lnTo>
                    <a:pt x="0" y="0"/>
                  </a:lnTo>
                  <a:close/>
                </a:path>
              </a:pathLst>
            </a:custGeom>
            <a:blipFill>
              <a:blip r:embed="rId52"/>
              <a:stretch>
                <a:fillRect l="0" t="-25" r="0" b="-25"/>
              </a:stretch>
            </a:blipFill>
          </p:spPr>
        </p:sp>
      </p:grpSp>
      <p:grpSp>
        <p:nvGrpSpPr>
          <p:cNvPr name="Group 163" id="163"/>
          <p:cNvGrpSpPr/>
          <p:nvPr/>
        </p:nvGrpSpPr>
        <p:grpSpPr>
          <a:xfrm rot="0">
            <a:off x="1071905" y="7204367"/>
            <a:ext cx="269843" cy="109347"/>
            <a:chOff x="0" y="0"/>
            <a:chExt cx="359791" cy="145796"/>
          </a:xfrm>
        </p:grpSpPr>
        <p:sp>
          <p:nvSpPr>
            <p:cNvPr name="Freeform 164" id="164" descr="preencoded.png"/>
            <p:cNvSpPr/>
            <p:nvPr/>
          </p:nvSpPr>
          <p:spPr>
            <a:xfrm flipH="false" flipV="false" rot="0">
              <a:off x="0" y="0"/>
              <a:ext cx="359791" cy="145796"/>
            </a:xfrm>
            <a:custGeom>
              <a:avLst/>
              <a:gdLst/>
              <a:ahLst/>
              <a:cxnLst/>
              <a:rect r="r" b="b" t="t" l="l"/>
              <a:pathLst>
                <a:path h="145796" w="359791">
                  <a:moveTo>
                    <a:pt x="0" y="0"/>
                  </a:moveTo>
                  <a:lnTo>
                    <a:pt x="359791" y="0"/>
                  </a:lnTo>
                  <a:lnTo>
                    <a:pt x="359791" y="145796"/>
                  </a:lnTo>
                  <a:lnTo>
                    <a:pt x="0" y="145796"/>
                  </a:lnTo>
                  <a:lnTo>
                    <a:pt x="0" y="0"/>
                  </a:lnTo>
                  <a:close/>
                </a:path>
              </a:pathLst>
            </a:custGeom>
            <a:blipFill>
              <a:blip r:embed="rId53"/>
              <a:stretch>
                <a:fillRect l="-2100" t="0" r="-2100" b="0"/>
              </a:stretch>
            </a:blipFill>
          </p:spPr>
        </p:sp>
      </p:grpSp>
      <p:grpSp>
        <p:nvGrpSpPr>
          <p:cNvPr name="Group 165" id="165"/>
          <p:cNvGrpSpPr/>
          <p:nvPr/>
        </p:nvGrpSpPr>
        <p:grpSpPr>
          <a:xfrm rot="0">
            <a:off x="1502121" y="7029355"/>
            <a:ext cx="131254" cy="131254"/>
            <a:chOff x="0" y="0"/>
            <a:chExt cx="175006" cy="175006"/>
          </a:xfrm>
        </p:grpSpPr>
        <p:sp>
          <p:nvSpPr>
            <p:cNvPr name="Freeform 166" id="166" descr="preencoded.png"/>
            <p:cNvSpPr/>
            <p:nvPr/>
          </p:nvSpPr>
          <p:spPr>
            <a:xfrm flipH="false" flipV="false" rot="0">
              <a:off x="0" y="0"/>
              <a:ext cx="175006" cy="175006"/>
            </a:xfrm>
            <a:custGeom>
              <a:avLst/>
              <a:gdLst/>
              <a:ahLst/>
              <a:cxnLst/>
              <a:rect r="r" b="b" t="t" l="l"/>
              <a:pathLst>
                <a:path h="175006" w="175006">
                  <a:moveTo>
                    <a:pt x="0" y="0"/>
                  </a:moveTo>
                  <a:lnTo>
                    <a:pt x="175006" y="0"/>
                  </a:lnTo>
                  <a:lnTo>
                    <a:pt x="175006" y="175006"/>
                  </a:lnTo>
                  <a:lnTo>
                    <a:pt x="0" y="175006"/>
                  </a:lnTo>
                  <a:lnTo>
                    <a:pt x="0" y="0"/>
                  </a:lnTo>
                  <a:close/>
                </a:path>
              </a:pathLst>
            </a:custGeom>
            <a:blipFill>
              <a:blip r:embed="rId54"/>
              <a:stretch>
                <a:fillRect l="0" t="0" r="0" b="0"/>
              </a:stretch>
            </a:blipFill>
          </p:spPr>
        </p:sp>
      </p:grpSp>
      <p:grpSp>
        <p:nvGrpSpPr>
          <p:cNvPr name="Group 167" id="167"/>
          <p:cNvGrpSpPr/>
          <p:nvPr/>
        </p:nvGrpSpPr>
        <p:grpSpPr>
          <a:xfrm rot="0">
            <a:off x="1101071" y="6467885"/>
            <a:ext cx="65627" cy="51054"/>
            <a:chOff x="0" y="0"/>
            <a:chExt cx="87503" cy="68072"/>
          </a:xfrm>
        </p:grpSpPr>
        <p:sp>
          <p:nvSpPr>
            <p:cNvPr name="Freeform 168" id="168" descr="preencoded.png"/>
            <p:cNvSpPr/>
            <p:nvPr/>
          </p:nvSpPr>
          <p:spPr>
            <a:xfrm flipH="false" flipV="false" rot="0">
              <a:off x="0" y="0"/>
              <a:ext cx="87503" cy="68072"/>
            </a:xfrm>
            <a:custGeom>
              <a:avLst/>
              <a:gdLst/>
              <a:ahLst/>
              <a:cxnLst/>
              <a:rect r="r" b="b" t="t" l="l"/>
              <a:pathLst>
                <a:path h="68072" w="87503">
                  <a:moveTo>
                    <a:pt x="0" y="0"/>
                  </a:moveTo>
                  <a:lnTo>
                    <a:pt x="87503" y="0"/>
                  </a:lnTo>
                  <a:lnTo>
                    <a:pt x="87503" y="68072"/>
                  </a:lnTo>
                  <a:lnTo>
                    <a:pt x="0" y="68072"/>
                  </a:lnTo>
                  <a:lnTo>
                    <a:pt x="0" y="0"/>
                  </a:lnTo>
                  <a:close/>
                </a:path>
              </a:pathLst>
            </a:custGeom>
            <a:blipFill>
              <a:blip r:embed="rId55"/>
              <a:stretch>
                <a:fillRect l="-566" t="0" r="-566" b="0"/>
              </a:stretch>
            </a:blipFill>
          </p:spPr>
        </p:sp>
      </p:grpSp>
      <p:grpSp>
        <p:nvGrpSpPr>
          <p:cNvPr name="Group 169" id="169"/>
          <p:cNvGrpSpPr/>
          <p:nvPr/>
        </p:nvGrpSpPr>
        <p:grpSpPr>
          <a:xfrm rot="0">
            <a:off x="16384819" y="5009512"/>
            <a:ext cx="422910" cy="364617"/>
            <a:chOff x="0" y="0"/>
            <a:chExt cx="563880" cy="486156"/>
          </a:xfrm>
        </p:grpSpPr>
        <p:sp>
          <p:nvSpPr>
            <p:cNvPr name="Freeform 170" id="170" descr="preencoded.png"/>
            <p:cNvSpPr/>
            <p:nvPr/>
          </p:nvSpPr>
          <p:spPr>
            <a:xfrm flipH="false" flipV="false" rot="0">
              <a:off x="0" y="0"/>
              <a:ext cx="563880" cy="486156"/>
            </a:xfrm>
            <a:custGeom>
              <a:avLst/>
              <a:gdLst/>
              <a:ahLst/>
              <a:cxnLst/>
              <a:rect r="r" b="b" t="t" l="l"/>
              <a:pathLst>
                <a:path h="486156" w="563880">
                  <a:moveTo>
                    <a:pt x="0" y="0"/>
                  </a:moveTo>
                  <a:lnTo>
                    <a:pt x="563880" y="0"/>
                  </a:lnTo>
                  <a:lnTo>
                    <a:pt x="563880" y="486156"/>
                  </a:lnTo>
                  <a:lnTo>
                    <a:pt x="0" y="486156"/>
                  </a:lnTo>
                  <a:lnTo>
                    <a:pt x="0" y="0"/>
                  </a:lnTo>
                  <a:close/>
                </a:path>
              </a:pathLst>
            </a:custGeom>
            <a:blipFill>
              <a:blip r:embed="rId56"/>
              <a:stretch>
                <a:fillRect l="0" t="-428" r="0" b="-431"/>
              </a:stretch>
            </a:blipFill>
          </p:spPr>
        </p:sp>
      </p:grpSp>
      <p:grpSp>
        <p:nvGrpSpPr>
          <p:cNvPr name="Group 171" id="171"/>
          <p:cNvGrpSpPr/>
          <p:nvPr/>
        </p:nvGrpSpPr>
        <p:grpSpPr>
          <a:xfrm rot="0">
            <a:off x="15735843" y="5002216"/>
            <a:ext cx="401098" cy="342710"/>
            <a:chOff x="0" y="0"/>
            <a:chExt cx="534797" cy="456946"/>
          </a:xfrm>
        </p:grpSpPr>
        <p:sp>
          <p:nvSpPr>
            <p:cNvPr name="Freeform 172" id="172" descr="preencoded.png"/>
            <p:cNvSpPr/>
            <p:nvPr/>
          </p:nvSpPr>
          <p:spPr>
            <a:xfrm flipH="false" flipV="false" rot="0">
              <a:off x="0" y="0"/>
              <a:ext cx="534797" cy="456946"/>
            </a:xfrm>
            <a:custGeom>
              <a:avLst/>
              <a:gdLst/>
              <a:ahLst/>
              <a:cxnLst/>
              <a:rect r="r" b="b" t="t" l="l"/>
              <a:pathLst>
                <a:path h="456946" w="534797">
                  <a:moveTo>
                    <a:pt x="0" y="0"/>
                  </a:moveTo>
                  <a:lnTo>
                    <a:pt x="534797" y="0"/>
                  </a:lnTo>
                  <a:lnTo>
                    <a:pt x="534797" y="456946"/>
                  </a:lnTo>
                  <a:lnTo>
                    <a:pt x="0" y="456946"/>
                  </a:lnTo>
                  <a:lnTo>
                    <a:pt x="0" y="0"/>
                  </a:lnTo>
                  <a:close/>
                </a:path>
              </a:pathLst>
            </a:custGeom>
            <a:blipFill>
              <a:blip r:embed="rId57"/>
              <a:stretch>
                <a:fillRect l="0" t="-539" r="0" b="-539"/>
              </a:stretch>
            </a:blipFill>
          </p:spPr>
        </p:sp>
      </p:grpSp>
      <p:grpSp>
        <p:nvGrpSpPr>
          <p:cNvPr name="Group 173" id="173"/>
          <p:cNvGrpSpPr/>
          <p:nvPr/>
        </p:nvGrpSpPr>
        <p:grpSpPr>
          <a:xfrm rot="0">
            <a:off x="15108746" y="4987633"/>
            <a:ext cx="393764" cy="357283"/>
            <a:chOff x="0" y="0"/>
            <a:chExt cx="525018" cy="476377"/>
          </a:xfrm>
        </p:grpSpPr>
        <p:sp>
          <p:nvSpPr>
            <p:cNvPr name="Freeform 174" id="174" descr="preencoded.png"/>
            <p:cNvSpPr/>
            <p:nvPr/>
          </p:nvSpPr>
          <p:spPr>
            <a:xfrm flipH="false" flipV="false" rot="0">
              <a:off x="0" y="0"/>
              <a:ext cx="525018" cy="476377"/>
            </a:xfrm>
            <a:custGeom>
              <a:avLst/>
              <a:gdLst/>
              <a:ahLst/>
              <a:cxnLst/>
              <a:rect r="r" b="b" t="t" l="l"/>
              <a:pathLst>
                <a:path h="476377" w="525018">
                  <a:moveTo>
                    <a:pt x="0" y="0"/>
                  </a:moveTo>
                  <a:lnTo>
                    <a:pt x="525018" y="0"/>
                  </a:lnTo>
                  <a:lnTo>
                    <a:pt x="525018" y="476377"/>
                  </a:lnTo>
                  <a:lnTo>
                    <a:pt x="0" y="476377"/>
                  </a:lnTo>
                  <a:lnTo>
                    <a:pt x="0" y="0"/>
                  </a:lnTo>
                  <a:close/>
                </a:path>
              </a:pathLst>
            </a:custGeom>
            <a:blipFill>
              <a:blip r:embed="rId58"/>
              <a:stretch>
                <a:fillRect l="-60" t="0" r="-60" b="0"/>
              </a:stretch>
            </a:blipFill>
          </p:spPr>
        </p:sp>
      </p:grpSp>
      <p:grpSp>
        <p:nvGrpSpPr>
          <p:cNvPr name="Group 175" id="175"/>
          <p:cNvGrpSpPr/>
          <p:nvPr/>
        </p:nvGrpSpPr>
        <p:grpSpPr>
          <a:xfrm rot="0">
            <a:off x="15145207" y="4448042"/>
            <a:ext cx="612515" cy="352873"/>
            <a:chOff x="0" y="0"/>
            <a:chExt cx="816686" cy="470497"/>
          </a:xfrm>
        </p:grpSpPr>
        <p:sp>
          <p:nvSpPr>
            <p:cNvPr name="Freeform 176" id="176"/>
            <p:cNvSpPr/>
            <p:nvPr/>
          </p:nvSpPr>
          <p:spPr>
            <a:xfrm flipH="false" flipV="false" rot="0">
              <a:off x="0" y="0"/>
              <a:ext cx="816737" cy="470535"/>
            </a:xfrm>
            <a:custGeom>
              <a:avLst/>
              <a:gdLst/>
              <a:ahLst/>
              <a:cxnLst/>
              <a:rect r="r" b="b" t="t" l="l"/>
              <a:pathLst>
                <a:path h="470535" w="816737">
                  <a:moveTo>
                    <a:pt x="0" y="0"/>
                  </a:moveTo>
                  <a:lnTo>
                    <a:pt x="816737" y="0"/>
                  </a:lnTo>
                  <a:lnTo>
                    <a:pt x="816737" y="470535"/>
                  </a:lnTo>
                  <a:lnTo>
                    <a:pt x="0" y="470535"/>
                  </a:lnTo>
                  <a:close/>
                </a:path>
              </a:pathLst>
            </a:custGeom>
            <a:blipFill>
              <a:blip r:embed="rId4">
                <a:alphaModFix amt="0"/>
              </a:blip>
              <a:stretch>
                <a:fillRect l="-23965" t="0" r="-23958" b="8"/>
              </a:stretch>
            </a:blipFill>
          </p:spPr>
        </p:sp>
      </p:grpSp>
      <p:grpSp>
        <p:nvGrpSpPr>
          <p:cNvPr name="Group 177" id="177"/>
          <p:cNvGrpSpPr/>
          <p:nvPr/>
        </p:nvGrpSpPr>
        <p:grpSpPr>
          <a:xfrm rot="0">
            <a:off x="15145207" y="4512335"/>
            <a:ext cx="612515" cy="288569"/>
            <a:chOff x="0" y="0"/>
            <a:chExt cx="816686" cy="384759"/>
          </a:xfrm>
        </p:grpSpPr>
        <p:sp>
          <p:nvSpPr>
            <p:cNvPr name="Freeform 178" id="178"/>
            <p:cNvSpPr/>
            <p:nvPr/>
          </p:nvSpPr>
          <p:spPr>
            <a:xfrm flipH="false" flipV="false" rot="0">
              <a:off x="0" y="0"/>
              <a:ext cx="816687" cy="384762"/>
            </a:xfrm>
            <a:custGeom>
              <a:avLst/>
              <a:gdLst/>
              <a:ahLst/>
              <a:cxnLst/>
              <a:rect r="r" b="b" t="t" l="l"/>
              <a:pathLst>
                <a:path h="384762" w="816687">
                  <a:moveTo>
                    <a:pt x="0" y="0"/>
                  </a:moveTo>
                  <a:lnTo>
                    <a:pt x="816687" y="0"/>
                  </a:lnTo>
                  <a:lnTo>
                    <a:pt x="816687" y="384762"/>
                  </a:lnTo>
                  <a:lnTo>
                    <a:pt x="0" y="384762"/>
                  </a:lnTo>
                  <a:close/>
                </a:path>
              </a:pathLst>
            </a:custGeom>
            <a:blipFill>
              <a:blip r:embed="rId5">
                <a:alphaModFix amt="0"/>
              </a:blip>
              <a:stretch>
                <a:fillRect l="-10446" t="0" r="-10446" b="0"/>
              </a:stretch>
            </a:blipFill>
          </p:spPr>
        </p:sp>
        <p:sp>
          <p:nvSpPr>
            <p:cNvPr name="TextBox 179" id="179"/>
            <p:cNvSpPr txBox="true"/>
            <p:nvPr/>
          </p:nvSpPr>
          <p:spPr>
            <a:xfrm>
              <a:off x="0" y="85725"/>
              <a:ext cx="816686" cy="299034"/>
            </a:xfrm>
            <a:prstGeom prst="rect">
              <a:avLst/>
            </a:prstGeom>
          </p:spPr>
          <p:txBody>
            <a:bodyPr anchor="ctr" rtlCol="false" tIns="0" lIns="0" bIns="0" rIns="0"/>
            <a:lstStyle/>
            <a:p>
              <a:pPr algn="l">
                <a:lnSpc>
                  <a:spcPts val="1163"/>
                </a:lnSpc>
              </a:pPr>
              <a:r>
                <a:rPr lang="en-US" sz="1651">
                  <a:solidFill>
                    <a:srgbClr val="9D785A"/>
                  </a:solidFill>
                  <a:latin typeface="TT Commons Pro"/>
                  <a:ea typeface="TT Commons Pro"/>
                  <a:cs typeface="TT Commons Pro"/>
                  <a:sym typeface="TT Commons Pro"/>
                </a:rPr>
                <a:t>GOLD</a:t>
              </a:r>
            </a:p>
          </p:txBody>
        </p:sp>
      </p:grpSp>
      <p:grpSp>
        <p:nvGrpSpPr>
          <p:cNvPr name="Group 180" id="180"/>
          <p:cNvGrpSpPr/>
          <p:nvPr/>
        </p:nvGrpSpPr>
        <p:grpSpPr>
          <a:xfrm rot="0">
            <a:off x="15103288" y="4184113"/>
            <a:ext cx="1017203" cy="390544"/>
            <a:chOff x="0" y="0"/>
            <a:chExt cx="1356271" cy="520725"/>
          </a:xfrm>
        </p:grpSpPr>
        <p:sp>
          <p:nvSpPr>
            <p:cNvPr name="Freeform 181" id="181"/>
            <p:cNvSpPr/>
            <p:nvPr/>
          </p:nvSpPr>
          <p:spPr>
            <a:xfrm flipH="false" flipV="false" rot="0">
              <a:off x="0" y="0"/>
              <a:ext cx="1356233" cy="520700"/>
            </a:xfrm>
            <a:custGeom>
              <a:avLst/>
              <a:gdLst/>
              <a:ahLst/>
              <a:cxnLst/>
              <a:rect r="r" b="b" t="t" l="l"/>
              <a:pathLst>
                <a:path h="520700" w="1356233">
                  <a:moveTo>
                    <a:pt x="0" y="0"/>
                  </a:moveTo>
                  <a:lnTo>
                    <a:pt x="1356233" y="0"/>
                  </a:lnTo>
                  <a:lnTo>
                    <a:pt x="1356233" y="520700"/>
                  </a:lnTo>
                  <a:lnTo>
                    <a:pt x="0" y="520700"/>
                  </a:lnTo>
                  <a:close/>
                </a:path>
              </a:pathLst>
            </a:custGeom>
            <a:blipFill>
              <a:blip r:embed="rId4">
                <a:alphaModFix amt="0"/>
              </a:blip>
              <a:stretch>
                <a:fillRect l="0" t="-714" r="-2" b="-719"/>
              </a:stretch>
            </a:blipFill>
          </p:spPr>
        </p:sp>
      </p:grpSp>
      <p:grpSp>
        <p:nvGrpSpPr>
          <p:cNvPr name="Group 182" id="182"/>
          <p:cNvGrpSpPr/>
          <p:nvPr/>
        </p:nvGrpSpPr>
        <p:grpSpPr>
          <a:xfrm rot="0">
            <a:off x="15103288" y="4248407"/>
            <a:ext cx="1017203" cy="326250"/>
            <a:chOff x="0" y="0"/>
            <a:chExt cx="1356271" cy="435000"/>
          </a:xfrm>
        </p:grpSpPr>
        <p:sp>
          <p:nvSpPr>
            <p:cNvPr name="Freeform 183" id="183"/>
            <p:cNvSpPr/>
            <p:nvPr/>
          </p:nvSpPr>
          <p:spPr>
            <a:xfrm flipH="false" flipV="false" rot="0">
              <a:off x="0" y="0"/>
              <a:ext cx="1356271" cy="435002"/>
            </a:xfrm>
            <a:custGeom>
              <a:avLst/>
              <a:gdLst/>
              <a:ahLst/>
              <a:cxnLst/>
              <a:rect r="r" b="b" t="t" l="l"/>
              <a:pathLst>
                <a:path h="435002" w="1356271">
                  <a:moveTo>
                    <a:pt x="0" y="0"/>
                  </a:moveTo>
                  <a:lnTo>
                    <a:pt x="1356271" y="0"/>
                  </a:lnTo>
                  <a:lnTo>
                    <a:pt x="1356271" y="435002"/>
                  </a:lnTo>
                  <a:lnTo>
                    <a:pt x="0" y="435002"/>
                  </a:lnTo>
                  <a:close/>
                </a:path>
              </a:pathLst>
            </a:custGeom>
            <a:blipFill>
              <a:blip r:embed="rId5">
                <a:alphaModFix amt="0"/>
              </a:blip>
              <a:stretch>
                <a:fillRect l="0" t="-10751" r="0" b="-10751"/>
              </a:stretch>
            </a:blipFill>
          </p:spPr>
        </p:sp>
        <p:sp>
          <p:nvSpPr>
            <p:cNvPr name="TextBox 184" id="184"/>
            <p:cNvSpPr txBox="true"/>
            <p:nvPr/>
          </p:nvSpPr>
          <p:spPr>
            <a:xfrm>
              <a:off x="0" y="85725"/>
              <a:ext cx="1356271" cy="349275"/>
            </a:xfrm>
            <a:prstGeom prst="rect">
              <a:avLst/>
            </a:prstGeom>
          </p:spPr>
          <p:txBody>
            <a:bodyPr anchor="ctr" rtlCol="false" tIns="0" lIns="0" bIns="0" rIns="0"/>
            <a:lstStyle/>
            <a:p>
              <a:pPr algn="l">
                <a:lnSpc>
                  <a:spcPts val="1302"/>
                </a:lnSpc>
              </a:pPr>
              <a:r>
                <a:rPr lang="en-US" b="true" sz="1818" i="true">
                  <a:solidFill>
                    <a:srgbClr val="B7B4B2"/>
                  </a:solidFill>
                  <a:latin typeface="TT Commons Pro Bold Italics"/>
                  <a:ea typeface="TT Commons Pro Bold Italics"/>
                  <a:cs typeface="TT Commons Pro Bold Italics"/>
                  <a:sym typeface="TT Commons Pro Bold Italics"/>
                </a:rPr>
                <a:t>zomato</a:t>
              </a:r>
            </a:p>
          </p:txBody>
        </p:sp>
      </p:grpSp>
      <p:grpSp>
        <p:nvGrpSpPr>
          <p:cNvPr name="Group 185" id="185"/>
          <p:cNvGrpSpPr/>
          <p:nvPr/>
        </p:nvGrpSpPr>
        <p:grpSpPr>
          <a:xfrm rot="0">
            <a:off x="16144189" y="4156367"/>
            <a:ext cx="824008" cy="634365"/>
            <a:chOff x="0" y="0"/>
            <a:chExt cx="1098677" cy="845820"/>
          </a:xfrm>
        </p:grpSpPr>
        <p:sp>
          <p:nvSpPr>
            <p:cNvPr name="Freeform 186" id="186" descr="preencoded.png"/>
            <p:cNvSpPr/>
            <p:nvPr/>
          </p:nvSpPr>
          <p:spPr>
            <a:xfrm flipH="false" flipV="false" rot="0">
              <a:off x="0" y="0"/>
              <a:ext cx="1098677" cy="845820"/>
            </a:xfrm>
            <a:custGeom>
              <a:avLst/>
              <a:gdLst/>
              <a:ahLst/>
              <a:cxnLst/>
              <a:rect r="r" b="b" t="t" l="l"/>
              <a:pathLst>
                <a:path h="845820" w="1098677">
                  <a:moveTo>
                    <a:pt x="0" y="0"/>
                  </a:moveTo>
                  <a:lnTo>
                    <a:pt x="1098677" y="0"/>
                  </a:lnTo>
                  <a:lnTo>
                    <a:pt x="1098677" y="845820"/>
                  </a:lnTo>
                  <a:lnTo>
                    <a:pt x="0" y="845820"/>
                  </a:lnTo>
                  <a:lnTo>
                    <a:pt x="0" y="0"/>
                  </a:lnTo>
                  <a:close/>
                </a:path>
              </a:pathLst>
            </a:custGeom>
            <a:blipFill>
              <a:blip r:embed="rId59"/>
              <a:stretch>
                <a:fillRect l="0" t="-142" r="0" b="-144"/>
              </a:stretch>
            </a:blipFill>
          </p:spPr>
        </p:sp>
      </p:grpSp>
      <p:grpSp>
        <p:nvGrpSpPr>
          <p:cNvPr name="Group 187" id="187"/>
          <p:cNvGrpSpPr/>
          <p:nvPr/>
        </p:nvGrpSpPr>
        <p:grpSpPr>
          <a:xfrm rot="0">
            <a:off x="15145207" y="4681376"/>
            <a:ext cx="1035444" cy="182813"/>
            <a:chOff x="0" y="0"/>
            <a:chExt cx="1380592" cy="243751"/>
          </a:xfrm>
        </p:grpSpPr>
        <p:sp>
          <p:nvSpPr>
            <p:cNvPr name="Freeform 188" id="188"/>
            <p:cNvSpPr/>
            <p:nvPr/>
          </p:nvSpPr>
          <p:spPr>
            <a:xfrm flipH="false" flipV="false" rot="0">
              <a:off x="0" y="0"/>
              <a:ext cx="1380617" cy="243713"/>
            </a:xfrm>
            <a:custGeom>
              <a:avLst/>
              <a:gdLst/>
              <a:ahLst/>
              <a:cxnLst/>
              <a:rect r="r" b="b" t="t" l="l"/>
              <a:pathLst>
                <a:path h="243713" w="1380617">
                  <a:moveTo>
                    <a:pt x="0" y="0"/>
                  </a:moveTo>
                  <a:lnTo>
                    <a:pt x="1380617" y="0"/>
                  </a:lnTo>
                  <a:lnTo>
                    <a:pt x="1380617" y="243713"/>
                  </a:lnTo>
                  <a:lnTo>
                    <a:pt x="0" y="243713"/>
                  </a:lnTo>
                  <a:close/>
                </a:path>
              </a:pathLst>
            </a:custGeom>
            <a:blipFill>
              <a:blip r:embed="rId4">
                <a:alphaModFix amt="0"/>
              </a:blip>
              <a:stretch>
                <a:fillRect l="0" t="-60291" r="1" b="-60312"/>
              </a:stretch>
            </a:blipFill>
          </p:spPr>
        </p:sp>
      </p:grpSp>
      <p:grpSp>
        <p:nvGrpSpPr>
          <p:cNvPr name="Group 189" id="189"/>
          <p:cNvGrpSpPr/>
          <p:nvPr/>
        </p:nvGrpSpPr>
        <p:grpSpPr>
          <a:xfrm rot="0">
            <a:off x="15145207" y="4695663"/>
            <a:ext cx="1035444" cy="168526"/>
            <a:chOff x="0" y="0"/>
            <a:chExt cx="1380592" cy="224701"/>
          </a:xfrm>
        </p:grpSpPr>
        <p:sp>
          <p:nvSpPr>
            <p:cNvPr name="Freeform 190" id="190"/>
            <p:cNvSpPr/>
            <p:nvPr/>
          </p:nvSpPr>
          <p:spPr>
            <a:xfrm flipH="false" flipV="false" rot="0">
              <a:off x="0" y="0"/>
              <a:ext cx="1380592" cy="224702"/>
            </a:xfrm>
            <a:custGeom>
              <a:avLst/>
              <a:gdLst/>
              <a:ahLst/>
              <a:cxnLst/>
              <a:rect r="r" b="b" t="t" l="l"/>
              <a:pathLst>
                <a:path h="224702" w="1380592">
                  <a:moveTo>
                    <a:pt x="0" y="0"/>
                  </a:moveTo>
                  <a:lnTo>
                    <a:pt x="1380592" y="0"/>
                  </a:lnTo>
                  <a:lnTo>
                    <a:pt x="1380592" y="224702"/>
                  </a:lnTo>
                  <a:lnTo>
                    <a:pt x="0" y="224702"/>
                  </a:lnTo>
                  <a:close/>
                </a:path>
              </a:pathLst>
            </a:custGeom>
            <a:blipFill>
              <a:blip r:embed="rId5">
                <a:alphaModFix amt="0"/>
              </a:blip>
              <a:stretch>
                <a:fillRect l="0" t="-69718" r="0" b="-69717"/>
              </a:stretch>
            </a:blipFill>
          </p:spPr>
        </p:sp>
        <p:sp>
          <p:nvSpPr>
            <p:cNvPr name="TextBox 191" id="191"/>
            <p:cNvSpPr txBox="true"/>
            <p:nvPr/>
          </p:nvSpPr>
          <p:spPr>
            <a:xfrm>
              <a:off x="0" y="19050"/>
              <a:ext cx="1380592" cy="205651"/>
            </a:xfrm>
            <a:prstGeom prst="rect">
              <a:avLst/>
            </a:prstGeom>
          </p:spPr>
          <p:txBody>
            <a:bodyPr anchor="ctr" rtlCol="false" tIns="0" lIns="0" bIns="0" rIns="0"/>
            <a:lstStyle/>
            <a:p>
              <a:pPr algn="l">
                <a:lnSpc>
                  <a:spcPts val="857"/>
                </a:lnSpc>
              </a:pPr>
              <a:r>
                <a:rPr lang="en-US" sz="862" b="true">
                  <a:solidFill>
                    <a:srgbClr val="827A77"/>
                  </a:solidFill>
                  <a:latin typeface="TT Commons Pro Bold"/>
                  <a:ea typeface="TT Commons Pro Bold"/>
                  <a:cs typeface="TT Commons Pro Bold"/>
                  <a:sym typeface="TT Commons Pro Bold"/>
                </a:rPr>
                <a:t>10% OFF on orders</a:t>
              </a:r>
            </a:p>
          </p:txBody>
        </p:sp>
      </p:grpSp>
      <p:sp>
        <p:nvSpPr>
          <p:cNvPr name="Freeform 192" id="192"/>
          <p:cNvSpPr/>
          <p:nvPr/>
        </p:nvSpPr>
        <p:spPr>
          <a:xfrm flipH="false" flipV="false" rot="0">
            <a:off x="15110574" y="3771719"/>
            <a:ext cx="1914125" cy="324498"/>
          </a:xfrm>
          <a:custGeom>
            <a:avLst/>
            <a:gdLst/>
            <a:ahLst/>
            <a:cxnLst/>
            <a:rect r="r" b="b" t="t" l="l"/>
            <a:pathLst>
              <a:path h="324498" w="1914125">
                <a:moveTo>
                  <a:pt x="0" y="0"/>
                </a:moveTo>
                <a:lnTo>
                  <a:pt x="1914125" y="0"/>
                </a:lnTo>
                <a:lnTo>
                  <a:pt x="1914125" y="324498"/>
                </a:lnTo>
                <a:lnTo>
                  <a:pt x="0" y="324498"/>
                </a:lnTo>
                <a:lnTo>
                  <a:pt x="0" y="0"/>
                </a:lnTo>
                <a:close/>
              </a:path>
            </a:pathLst>
          </a:custGeom>
          <a:blipFill>
            <a:blip r:embed="rId60">
              <a:extLst>
                <a:ext uri="{96DAC541-7B7A-43D3-8B79-37D633B846F1}">
                  <asvg:svgBlip xmlns:asvg="http://schemas.microsoft.com/office/drawing/2016/SVG/main" r:embed="rId61"/>
                </a:ext>
              </a:extLst>
            </a:blip>
            <a:stretch>
              <a:fillRect l="0" t="0" r="0" b="0"/>
            </a:stretch>
          </a:blipFill>
        </p:spPr>
      </p:sp>
      <p:grpSp>
        <p:nvGrpSpPr>
          <p:cNvPr name="Group 193" id="193"/>
          <p:cNvGrpSpPr/>
          <p:nvPr/>
        </p:nvGrpSpPr>
        <p:grpSpPr>
          <a:xfrm rot="0">
            <a:off x="15203538" y="3886562"/>
            <a:ext cx="109347" cy="116681"/>
            <a:chOff x="0" y="0"/>
            <a:chExt cx="145796" cy="155575"/>
          </a:xfrm>
        </p:grpSpPr>
        <p:sp>
          <p:nvSpPr>
            <p:cNvPr name="Freeform 194" id="194" descr="preencoded.png"/>
            <p:cNvSpPr/>
            <p:nvPr/>
          </p:nvSpPr>
          <p:spPr>
            <a:xfrm flipH="false" flipV="false" rot="0">
              <a:off x="0" y="0"/>
              <a:ext cx="145796" cy="155575"/>
            </a:xfrm>
            <a:custGeom>
              <a:avLst/>
              <a:gdLst/>
              <a:ahLst/>
              <a:cxnLst/>
              <a:rect r="r" b="b" t="t" l="l"/>
              <a:pathLst>
                <a:path h="155575" w="145796">
                  <a:moveTo>
                    <a:pt x="0" y="0"/>
                  </a:moveTo>
                  <a:lnTo>
                    <a:pt x="145796" y="0"/>
                  </a:lnTo>
                  <a:lnTo>
                    <a:pt x="145796" y="155575"/>
                  </a:lnTo>
                  <a:lnTo>
                    <a:pt x="0" y="155575"/>
                  </a:lnTo>
                  <a:lnTo>
                    <a:pt x="0" y="0"/>
                  </a:lnTo>
                  <a:close/>
                </a:path>
              </a:pathLst>
            </a:custGeom>
            <a:blipFill>
              <a:blip r:embed="rId62"/>
              <a:stretch>
                <a:fillRect l="-548" t="0" r="-540" b="0"/>
              </a:stretch>
            </a:blipFill>
          </p:spPr>
        </p:sp>
      </p:grpSp>
      <p:grpSp>
        <p:nvGrpSpPr>
          <p:cNvPr name="Group 195" id="195"/>
          <p:cNvGrpSpPr/>
          <p:nvPr/>
        </p:nvGrpSpPr>
        <p:grpSpPr>
          <a:xfrm rot="0">
            <a:off x="15378541" y="3864693"/>
            <a:ext cx="1013565" cy="153724"/>
            <a:chOff x="0" y="0"/>
            <a:chExt cx="1351420" cy="204965"/>
          </a:xfrm>
        </p:grpSpPr>
        <p:sp>
          <p:nvSpPr>
            <p:cNvPr name="Freeform 196" id="196"/>
            <p:cNvSpPr/>
            <p:nvPr/>
          </p:nvSpPr>
          <p:spPr>
            <a:xfrm flipH="false" flipV="false" rot="0">
              <a:off x="0" y="0"/>
              <a:ext cx="1351407" cy="204978"/>
            </a:xfrm>
            <a:custGeom>
              <a:avLst/>
              <a:gdLst/>
              <a:ahLst/>
              <a:cxnLst/>
              <a:rect r="r" b="b" t="t" l="l"/>
              <a:pathLst>
                <a:path h="204978" w="1351407">
                  <a:moveTo>
                    <a:pt x="0" y="0"/>
                  </a:moveTo>
                  <a:lnTo>
                    <a:pt x="1351407" y="0"/>
                  </a:lnTo>
                  <a:lnTo>
                    <a:pt x="1351407" y="204978"/>
                  </a:lnTo>
                  <a:lnTo>
                    <a:pt x="0" y="204978"/>
                  </a:lnTo>
                  <a:close/>
                </a:path>
              </a:pathLst>
            </a:custGeom>
            <a:blipFill>
              <a:blip r:embed="rId4">
                <a:alphaModFix amt="0"/>
              </a:blip>
              <a:stretch>
                <a:fillRect l="0" t="-78382" r="0" b="-78370"/>
              </a:stretch>
            </a:blipFill>
          </p:spPr>
        </p:sp>
      </p:grpSp>
      <p:grpSp>
        <p:nvGrpSpPr>
          <p:cNvPr name="Group 197" id="197"/>
          <p:cNvGrpSpPr/>
          <p:nvPr/>
        </p:nvGrpSpPr>
        <p:grpSpPr>
          <a:xfrm rot="0">
            <a:off x="15378541" y="3864693"/>
            <a:ext cx="1013565" cy="153724"/>
            <a:chOff x="0" y="0"/>
            <a:chExt cx="1351420" cy="204965"/>
          </a:xfrm>
        </p:grpSpPr>
        <p:sp>
          <p:nvSpPr>
            <p:cNvPr name="Freeform 198" id="198"/>
            <p:cNvSpPr/>
            <p:nvPr/>
          </p:nvSpPr>
          <p:spPr>
            <a:xfrm flipH="false" flipV="false" rot="0">
              <a:off x="0" y="0"/>
              <a:ext cx="1351420" cy="204963"/>
            </a:xfrm>
            <a:custGeom>
              <a:avLst/>
              <a:gdLst/>
              <a:ahLst/>
              <a:cxnLst/>
              <a:rect r="r" b="b" t="t" l="l"/>
              <a:pathLst>
                <a:path h="204963" w="1351420">
                  <a:moveTo>
                    <a:pt x="0" y="0"/>
                  </a:moveTo>
                  <a:lnTo>
                    <a:pt x="1351420" y="0"/>
                  </a:lnTo>
                  <a:lnTo>
                    <a:pt x="1351420" y="204963"/>
                  </a:lnTo>
                  <a:lnTo>
                    <a:pt x="0" y="204963"/>
                  </a:lnTo>
                  <a:close/>
                </a:path>
              </a:pathLst>
            </a:custGeom>
            <a:blipFill>
              <a:blip r:embed="rId5">
                <a:alphaModFix amt="0"/>
              </a:blip>
              <a:stretch>
                <a:fillRect l="0" t="-78473" r="0" b="-78475"/>
              </a:stretch>
            </a:blipFill>
          </p:spPr>
        </p:sp>
        <p:sp>
          <p:nvSpPr>
            <p:cNvPr name="TextBox 199" id="199"/>
            <p:cNvSpPr txBox="true"/>
            <p:nvPr/>
          </p:nvSpPr>
          <p:spPr>
            <a:xfrm>
              <a:off x="0" y="0"/>
              <a:ext cx="1351420" cy="204965"/>
            </a:xfrm>
            <a:prstGeom prst="rect">
              <a:avLst/>
            </a:prstGeom>
          </p:spPr>
          <p:txBody>
            <a:bodyPr anchor="ctr" rtlCol="false" tIns="0" lIns="0" bIns="0" rIns="0"/>
            <a:lstStyle/>
            <a:p>
              <a:pPr algn="l">
                <a:lnSpc>
                  <a:spcPts val="802"/>
                </a:lnSpc>
              </a:pPr>
              <a:r>
                <a:rPr lang="en-US" sz="740">
                  <a:solidFill>
                    <a:srgbClr val="AFABAA"/>
                  </a:solidFill>
                  <a:latin typeface="TT Commons Pro"/>
                  <a:ea typeface="TT Commons Pro"/>
                  <a:cs typeface="TT Commons Pro"/>
                  <a:sym typeface="TT Commons Pro"/>
                </a:rPr>
                <a:t>Search for restaurants</a:t>
              </a:r>
            </a:p>
          </p:txBody>
        </p:sp>
      </p:grpSp>
      <p:grpSp>
        <p:nvGrpSpPr>
          <p:cNvPr name="Group 200" id="200"/>
          <p:cNvGrpSpPr/>
          <p:nvPr/>
        </p:nvGrpSpPr>
        <p:grpSpPr>
          <a:xfrm rot="0">
            <a:off x="15538971" y="3594887"/>
            <a:ext cx="72962" cy="51054"/>
            <a:chOff x="0" y="0"/>
            <a:chExt cx="97282" cy="68072"/>
          </a:xfrm>
        </p:grpSpPr>
        <p:sp>
          <p:nvSpPr>
            <p:cNvPr name="Freeform 201" id="201" descr="preencoded.png"/>
            <p:cNvSpPr/>
            <p:nvPr/>
          </p:nvSpPr>
          <p:spPr>
            <a:xfrm flipH="false" flipV="false" rot="0">
              <a:off x="0" y="0"/>
              <a:ext cx="97282" cy="68072"/>
            </a:xfrm>
            <a:custGeom>
              <a:avLst/>
              <a:gdLst/>
              <a:ahLst/>
              <a:cxnLst/>
              <a:rect r="r" b="b" t="t" l="l"/>
              <a:pathLst>
                <a:path h="68072" w="97282">
                  <a:moveTo>
                    <a:pt x="0" y="0"/>
                  </a:moveTo>
                  <a:lnTo>
                    <a:pt x="97282" y="0"/>
                  </a:lnTo>
                  <a:lnTo>
                    <a:pt x="97282" y="68072"/>
                  </a:lnTo>
                  <a:lnTo>
                    <a:pt x="0" y="68072"/>
                  </a:lnTo>
                  <a:lnTo>
                    <a:pt x="0" y="0"/>
                  </a:lnTo>
                  <a:close/>
                </a:path>
              </a:pathLst>
            </a:custGeom>
            <a:blipFill>
              <a:blip r:embed="rId63"/>
              <a:stretch>
                <a:fillRect l="-2480" t="0" r="-2480" b="0"/>
              </a:stretch>
            </a:blipFill>
          </p:spPr>
        </p:sp>
      </p:grpSp>
      <p:grpSp>
        <p:nvGrpSpPr>
          <p:cNvPr name="Group 202" id="202"/>
          <p:cNvGrpSpPr/>
          <p:nvPr/>
        </p:nvGrpSpPr>
        <p:grpSpPr>
          <a:xfrm rot="0">
            <a:off x="16887958" y="3150089"/>
            <a:ext cx="131254" cy="58293"/>
            <a:chOff x="0" y="0"/>
            <a:chExt cx="175006" cy="77724"/>
          </a:xfrm>
        </p:grpSpPr>
        <p:sp>
          <p:nvSpPr>
            <p:cNvPr name="Freeform 203" id="203" descr="preencoded.png"/>
            <p:cNvSpPr/>
            <p:nvPr/>
          </p:nvSpPr>
          <p:spPr>
            <a:xfrm flipH="false" flipV="false" rot="0">
              <a:off x="0" y="0"/>
              <a:ext cx="175006" cy="77724"/>
            </a:xfrm>
            <a:custGeom>
              <a:avLst/>
              <a:gdLst/>
              <a:ahLst/>
              <a:cxnLst/>
              <a:rect r="r" b="b" t="t" l="l"/>
              <a:pathLst>
                <a:path h="77724" w="175006">
                  <a:moveTo>
                    <a:pt x="0" y="0"/>
                  </a:moveTo>
                  <a:lnTo>
                    <a:pt x="175006" y="0"/>
                  </a:lnTo>
                  <a:lnTo>
                    <a:pt x="175006" y="77724"/>
                  </a:lnTo>
                  <a:lnTo>
                    <a:pt x="0" y="77724"/>
                  </a:lnTo>
                  <a:lnTo>
                    <a:pt x="0" y="0"/>
                  </a:lnTo>
                  <a:close/>
                </a:path>
              </a:pathLst>
            </a:custGeom>
            <a:blipFill>
              <a:blip r:embed="rId64"/>
              <a:stretch>
                <a:fillRect l="-1814" t="0" r="-1814" b="0"/>
              </a:stretch>
            </a:blipFill>
          </p:spPr>
        </p:sp>
      </p:grpSp>
      <p:grpSp>
        <p:nvGrpSpPr>
          <p:cNvPr name="Group 204" id="204"/>
          <p:cNvGrpSpPr/>
          <p:nvPr/>
        </p:nvGrpSpPr>
        <p:grpSpPr>
          <a:xfrm rot="0">
            <a:off x="16756704" y="3150089"/>
            <a:ext cx="94774" cy="72962"/>
            <a:chOff x="0" y="0"/>
            <a:chExt cx="126365" cy="97282"/>
          </a:xfrm>
        </p:grpSpPr>
        <p:sp>
          <p:nvSpPr>
            <p:cNvPr name="Freeform 205" id="205" descr="preencoded.png"/>
            <p:cNvSpPr/>
            <p:nvPr/>
          </p:nvSpPr>
          <p:spPr>
            <a:xfrm flipH="false" flipV="false" rot="0">
              <a:off x="0" y="0"/>
              <a:ext cx="126365" cy="97282"/>
            </a:xfrm>
            <a:custGeom>
              <a:avLst/>
              <a:gdLst/>
              <a:ahLst/>
              <a:cxnLst/>
              <a:rect r="r" b="b" t="t" l="l"/>
              <a:pathLst>
                <a:path h="97282" w="126365">
                  <a:moveTo>
                    <a:pt x="0" y="0"/>
                  </a:moveTo>
                  <a:lnTo>
                    <a:pt x="126365" y="0"/>
                  </a:lnTo>
                  <a:lnTo>
                    <a:pt x="126365" y="97282"/>
                  </a:lnTo>
                  <a:lnTo>
                    <a:pt x="0" y="97282"/>
                  </a:lnTo>
                  <a:lnTo>
                    <a:pt x="0" y="0"/>
                  </a:lnTo>
                  <a:close/>
                </a:path>
              </a:pathLst>
            </a:custGeom>
            <a:blipFill>
              <a:blip r:embed="rId65"/>
              <a:stretch>
                <a:fillRect l="-1326" t="0" r="-1316" b="0"/>
              </a:stretch>
            </a:blipFill>
          </p:spPr>
        </p:sp>
      </p:grpSp>
      <p:grpSp>
        <p:nvGrpSpPr>
          <p:cNvPr name="Group 206" id="206"/>
          <p:cNvGrpSpPr/>
          <p:nvPr/>
        </p:nvGrpSpPr>
        <p:grpSpPr>
          <a:xfrm rot="0">
            <a:off x="16618163" y="3150089"/>
            <a:ext cx="109347" cy="65627"/>
            <a:chOff x="0" y="0"/>
            <a:chExt cx="145796" cy="87503"/>
          </a:xfrm>
        </p:grpSpPr>
        <p:sp>
          <p:nvSpPr>
            <p:cNvPr name="Freeform 207" id="207" descr="preencoded.png"/>
            <p:cNvSpPr/>
            <p:nvPr/>
          </p:nvSpPr>
          <p:spPr>
            <a:xfrm flipH="false" flipV="false" rot="0">
              <a:off x="0" y="0"/>
              <a:ext cx="145796" cy="87503"/>
            </a:xfrm>
            <a:custGeom>
              <a:avLst/>
              <a:gdLst/>
              <a:ahLst/>
              <a:cxnLst/>
              <a:rect r="r" b="b" t="t" l="l"/>
              <a:pathLst>
                <a:path h="87503" w="145796">
                  <a:moveTo>
                    <a:pt x="0" y="0"/>
                  </a:moveTo>
                  <a:lnTo>
                    <a:pt x="145796" y="0"/>
                  </a:lnTo>
                  <a:lnTo>
                    <a:pt x="145796" y="87503"/>
                  </a:lnTo>
                  <a:lnTo>
                    <a:pt x="0" y="87503"/>
                  </a:lnTo>
                  <a:lnTo>
                    <a:pt x="0" y="0"/>
                  </a:lnTo>
                  <a:close/>
                </a:path>
              </a:pathLst>
            </a:custGeom>
            <a:blipFill>
              <a:blip r:embed="rId66"/>
              <a:stretch>
                <a:fillRect l="0" t="-914" r="0" b="-914"/>
              </a:stretch>
            </a:blipFill>
          </p:spPr>
        </p:sp>
      </p:grpSp>
      <p:grpSp>
        <p:nvGrpSpPr>
          <p:cNvPr name="Group 208" id="208"/>
          <p:cNvGrpSpPr/>
          <p:nvPr/>
        </p:nvGrpSpPr>
        <p:grpSpPr>
          <a:xfrm rot="0">
            <a:off x="2340693" y="1159402"/>
            <a:ext cx="371856" cy="473964"/>
            <a:chOff x="0" y="0"/>
            <a:chExt cx="495808" cy="631952"/>
          </a:xfrm>
        </p:grpSpPr>
        <p:sp>
          <p:nvSpPr>
            <p:cNvPr name="Freeform 209" id="209" descr="preencoded.png"/>
            <p:cNvSpPr/>
            <p:nvPr/>
          </p:nvSpPr>
          <p:spPr>
            <a:xfrm flipH="false" flipV="false" rot="0">
              <a:off x="0" y="0"/>
              <a:ext cx="495808" cy="631952"/>
            </a:xfrm>
            <a:custGeom>
              <a:avLst/>
              <a:gdLst/>
              <a:ahLst/>
              <a:cxnLst/>
              <a:rect r="r" b="b" t="t" l="l"/>
              <a:pathLst>
                <a:path h="631952" w="495808">
                  <a:moveTo>
                    <a:pt x="0" y="0"/>
                  </a:moveTo>
                  <a:lnTo>
                    <a:pt x="495808" y="0"/>
                  </a:lnTo>
                  <a:lnTo>
                    <a:pt x="495808" y="631952"/>
                  </a:lnTo>
                  <a:lnTo>
                    <a:pt x="0" y="631952"/>
                  </a:lnTo>
                  <a:lnTo>
                    <a:pt x="0" y="0"/>
                  </a:lnTo>
                  <a:close/>
                </a:path>
              </a:pathLst>
            </a:custGeom>
            <a:blipFill>
              <a:blip r:embed="rId67"/>
              <a:stretch>
                <a:fillRect l="0" t="-160" r="0" b="-160"/>
              </a:stretch>
            </a:blipFill>
          </p:spPr>
        </p:sp>
      </p:grpSp>
      <p:grpSp>
        <p:nvGrpSpPr>
          <p:cNvPr name="Group 210" id="210"/>
          <p:cNvGrpSpPr/>
          <p:nvPr/>
        </p:nvGrpSpPr>
        <p:grpSpPr>
          <a:xfrm rot="0">
            <a:off x="14423307" y="612515"/>
            <a:ext cx="576072" cy="72962"/>
            <a:chOff x="0" y="0"/>
            <a:chExt cx="768096" cy="97282"/>
          </a:xfrm>
        </p:grpSpPr>
        <p:sp>
          <p:nvSpPr>
            <p:cNvPr name="Freeform 211" id="211" descr="preencoded.png"/>
            <p:cNvSpPr/>
            <p:nvPr/>
          </p:nvSpPr>
          <p:spPr>
            <a:xfrm flipH="false" flipV="false" rot="0">
              <a:off x="0" y="0"/>
              <a:ext cx="768096" cy="97282"/>
            </a:xfrm>
            <a:custGeom>
              <a:avLst/>
              <a:gdLst/>
              <a:ahLst/>
              <a:cxnLst/>
              <a:rect r="r" b="b" t="t" l="l"/>
              <a:pathLst>
                <a:path h="97282" w="768096">
                  <a:moveTo>
                    <a:pt x="0" y="0"/>
                  </a:moveTo>
                  <a:lnTo>
                    <a:pt x="768096" y="0"/>
                  </a:lnTo>
                  <a:lnTo>
                    <a:pt x="768096" y="97282"/>
                  </a:lnTo>
                  <a:lnTo>
                    <a:pt x="0" y="97282"/>
                  </a:lnTo>
                  <a:lnTo>
                    <a:pt x="0" y="0"/>
                  </a:lnTo>
                  <a:close/>
                </a:path>
              </a:pathLst>
            </a:custGeom>
            <a:blipFill>
              <a:blip r:embed="rId68"/>
              <a:stretch>
                <a:fillRect l="0" t="-130" r="0" b="-130"/>
              </a:stretch>
            </a:blipFill>
          </p:spPr>
        </p:sp>
      </p:grpSp>
      <p:grpSp>
        <p:nvGrpSpPr>
          <p:cNvPr name="Group 212" id="212"/>
          <p:cNvGrpSpPr/>
          <p:nvPr/>
        </p:nvGrpSpPr>
        <p:grpSpPr>
          <a:xfrm rot="0">
            <a:off x="3091748" y="612515"/>
            <a:ext cx="648938" cy="72962"/>
            <a:chOff x="0" y="0"/>
            <a:chExt cx="865251" cy="97282"/>
          </a:xfrm>
        </p:grpSpPr>
        <p:sp>
          <p:nvSpPr>
            <p:cNvPr name="Freeform 213" id="213" descr="preencoded.png"/>
            <p:cNvSpPr/>
            <p:nvPr/>
          </p:nvSpPr>
          <p:spPr>
            <a:xfrm flipH="false" flipV="false" rot="0">
              <a:off x="0" y="0"/>
              <a:ext cx="865251" cy="97282"/>
            </a:xfrm>
            <a:custGeom>
              <a:avLst/>
              <a:gdLst/>
              <a:ahLst/>
              <a:cxnLst/>
              <a:rect r="r" b="b" t="t" l="l"/>
              <a:pathLst>
                <a:path h="97282" w="865251">
                  <a:moveTo>
                    <a:pt x="0" y="0"/>
                  </a:moveTo>
                  <a:lnTo>
                    <a:pt x="865251" y="0"/>
                  </a:lnTo>
                  <a:lnTo>
                    <a:pt x="865251" y="97282"/>
                  </a:lnTo>
                  <a:lnTo>
                    <a:pt x="0" y="97282"/>
                  </a:lnTo>
                  <a:lnTo>
                    <a:pt x="0" y="0"/>
                  </a:lnTo>
                  <a:close/>
                </a:path>
              </a:pathLst>
            </a:custGeom>
            <a:blipFill>
              <a:blip r:embed="rId69"/>
              <a:stretch>
                <a:fillRect l="-126" t="0" r="-124" b="0"/>
              </a:stretch>
            </a:blipFill>
          </p:spPr>
        </p:sp>
      </p:grpSp>
      <p:grpSp>
        <p:nvGrpSpPr>
          <p:cNvPr name="Group 214" id="214"/>
          <p:cNvGrpSpPr/>
          <p:nvPr/>
        </p:nvGrpSpPr>
        <p:grpSpPr>
          <a:xfrm rot="0">
            <a:off x="627097" y="233343"/>
            <a:ext cx="619792" cy="751046"/>
            <a:chOff x="0" y="0"/>
            <a:chExt cx="826389" cy="1001395"/>
          </a:xfrm>
        </p:grpSpPr>
        <p:sp>
          <p:nvSpPr>
            <p:cNvPr name="Freeform 215" id="215" descr="preencoded.png"/>
            <p:cNvSpPr/>
            <p:nvPr/>
          </p:nvSpPr>
          <p:spPr>
            <a:xfrm flipH="false" flipV="false" rot="0">
              <a:off x="0" y="0"/>
              <a:ext cx="826389" cy="1001395"/>
            </a:xfrm>
            <a:custGeom>
              <a:avLst/>
              <a:gdLst/>
              <a:ahLst/>
              <a:cxnLst/>
              <a:rect r="r" b="b" t="t" l="l"/>
              <a:pathLst>
                <a:path h="1001395" w="826389">
                  <a:moveTo>
                    <a:pt x="0" y="0"/>
                  </a:moveTo>
                  <a:lnTo>
                    <a:pt x="826389" y="0"/>
                  </a:lnTo>
                  <a:lnTo>
                    <a:pt x="826389" y="1001395"/>
                  </a:lnTo>
                  <a:lnTo>
                    <a:pt x="0" y="1001395"/>
                  </a:lnTo>
                  <a:lnTo>
                    <a:pt x="0" y="0"/>
                  </a:lnTo>
                  <a:close/>
                </a:path>
              </a:pathLst>
            </a:custGeom>
            <a:blipFill>
              <a:blip r:embed="rId70"/>
              <a:stretch>
                <a:fillRect l="-159" t="0" r="-158" b="0"/>
              </a:stretch>
            </a:blipFill>
          </p:spPr>
        </p:sp>
      </p:grpSp>
      <p:grpSp>
        <p:nvGrpSpPr>
          <p:cNvPr name="Group 216" id="216"/>
          <p:cNvGrpSpPr/>
          <p:nvPr/>
        </p:nvGrpSpPr>
        <p:grpSpPr>
          <a:xfrm rot="0">
            <a:off x="2318814" y="5366814"/>
            <a:ext cx="306257" cy="173622"/>
            <a:chOff x="0" y="0"/>
            <a:chExt cx="408343" cy="231496"/>
          </a:xfrm>
        </p:grpSpPr>
        <p:sp>
          <p:nvSpPr>
            <p:cNvPr name="Freeform 217" id="217"/>
            <p:cNvSpPr/>
            <p:nvPr/>
          </p:nvSpPr>
          <p:spPr>
            <a:xfrm flipH="false" flipV="false" rot="0">
              <a:off x="0" y="0"/>
              <a:ext cx="408305" cy="231521"/>
            </a:xfrm>
            <a:custGeom>
              <a:avLst/>
              <a:gdLst/>
              <a:ahLst/>
              <a:cxnLst/>
              <a:rect r="r" b="b" t="t" l="l"/>
              <a:pathLst>
                <a:path h="231521" w="408305">
                  <a:moveTo>
                    <a:pt x="0" y="0"/>
                  </a:moveTo>
                  <a:lnTo>
                    <a:pt x="408305" y="0"/>
                  </a:lnTo>
                  <a:lnTo>
                    <a:pt x="408305" y="231521"/>
                  </a:lnTo>
                  <a:lnTo>
                    <a:pt x="0" y="231521"/>
                  </a:lnTo>
                  <a:close/>
                </a:path>
              </a:pathLst>
            </a:custGeom>
            <a:blipFill>
              <a:blip r:embed="rId4">
                <a:alphaModFix amt="0"/>
              </a:blip>
              <a:stretch>
                <a:fillRect l="-22790" t="0" r="-22802" b="10"/>
              </a:stretch>
            </a:blipFill>
          </p:spPr>
        </p:sp>
      </p:grpSp>
      <p:grpSp>
        <p:nvGrpSpPr>
          <p:cNvPr name="Group 218" id="218"/>
          <p:cNvGrpSpPr/>
          <p:nvPr/>
        </p:nvGrpSpPr>
        <p:grpSpPr>
          <a:xfrm rot="0">
            <a:off x="2318814" y="5381101"/>
            <a:ext cx="306257" cy="159334"/>
            <a:chOff x="0" y="0"/>
            <a:chExt cx="408343" cy="212446"/>
          </a:xfrm>
        </p:grpSpPr>
        <p:sp>
          <p:nvSpPr>
            <p:cNvPr name="Freeform 219" id="219"/>
            <p:cNvSpPr/>
            <p:nvPr/>
          </p:nvSpPr>
          <p:spPr>
            <a:xfrm flipH="false" flipV="false" rot="0">
              <a:off x="0" y="0"/>
              <a:ext cx="408343" cy="212451"/>
            </a:xfrm>
            <a:custGeom>
              <a:avLst/>
              <a:gdLst/>
              <a:ahLst/>
              <a:cxnLst/>
              <a:rect r="r" b="b" t="t" l="l"/>
              <a:pathLst>
                <a:path h="212451" w="408343">
                  <a:moveTo>
                    <a:pt x="0" y="0"/>
                  </a:moveTo>
                  <a:lnTo>
                    <a:pt x="408343" y="0"/>
                  </a:lnTo>
                  <a:lnTo>
                    <a:pt x="408343" y="212451"/>
                  </a:lnTo>
                  <a:lnTo>
                    <a:pt x="0" y="212451"/>
                  </a:lnTo>
                  <a:close/>
                </a:path>
              </a:pathLst>
            </a:custGeom>
            <a:blipFill>
              <a:blip r:embed="rId5">
                <a:alphaModFix amt="0"/>
              </a:blip>
              <a:stretch>
                <a:fillRect l="-16751" t="0" r="-16751" b="2"/>
              </a:stretch>
            </a:blipFill>
          </p:spPr>
        </p:sp>
        <p:sp>
          <p:nvSpPr>
            <p:cNvPr name="TextBox 220" id="220"/>
            <p:cNvSpPr txBox="true"/>
            <p:nvPr/>
          </p:nvSpPr>
          <p:spPr>
            <a:xfrm>
              <a:off x="0" y="19050"/>
              <a:ext cx="408343" cy="193396"/>
            </a:xfrm>
            <a:prstGeom prst="rect">
              <a:avLst/>
            </a:prstGeom>
          </p:spPr>
          <p:txBody>
            <a:bodyPr anchor="ctr" rtlCol="false" tIns="0" lIns="0" bIns="0" rIns="0"/>
            <a:lstStyle/>
            <a:p>
              <a:pPr algn="l">
                <a:lnSpc>
                  <a:spcPts val="802"/>
                </a:lnSpc>
              </a:pPr>
              <a:r>
                <a:rPr lang="en-US" sz="832">
                  <a:solidFill>
                    <a:srgbClr val="9A9694"/>
                  </a:solidFill>
                  <a:latin typeface="TT Commons Pro"/>
                  <a:ea typeface="TT Commons Pro"/>
                  <a:cs typeface="TT Commons Pro"/>
                  <a:sym typeface="TT Commons Pro"/>
                </a:rPr>
                <a:t>Gerke</a:t>
              </a:r>
            </a:p>
          </p:txBody>
        </p:sp>
      </p:grpSp>
      <p:grpSp>
        <p:nvGrpSpPr>
          <p:cNvPr name="Group 221" id="221"/>
          <p:cNvGrpSpPr/>
          <p:nvPr/>
        </p:nvGrpSpPr>
        <p:grpSpPr>
          <a:xfrm rot="0">
            <a:off x="1604210" y="5381396"/>
            <a:ext cx="444808" cy="144932"/>
            <a:chOff x="0" y="0"/>
            <a:chExt cx="593077" cy="193243"/>
          </a:xfrm>
        </p:grpSpPr>
        <p:sp>
          <p:nvSpPr>
            <p:cNvPr name="Freeform 222" id="222"/>
            <p:cNvSpPr/>
            <p:nvPr/>
          </p:nvSpPr>
          <p:spPr>
            <a:xfrm flipH="false" flipV="false" rot="0">
              <a:off x="0" y="0"/>
              <a:ext cx="593090" cy="193294"/>
            </a:xfrm>
            <a:custGeom>
              <a:avLst/>
              <a:gdLst/>
              <a:ahLst/>
              <a:cxnLst/>
              <a:rect r="r" b="b" t="t" l="l"/>
              <a:pathLst>
                <a:path h="193294" w="593090">
                  <a:moveTo>
                    <a:pt x="0" y="0"/>
                  </a:moveTo>
                  <a:lnTo>
                    <a:pt x="593090" y="0"/>
                  </a:lnTo>
                  <a:lnTo>
                    <a:pt x="593090" y="193294"/>
                  </a:lnTo>
                  <a:lnTo>
                    <a:pt x="0" y="193294"/>
                  </a:lnTo>
                  <a:close/>
                </a:path>
              </a:pathLst>
            </a:custGeom>
            <a:blipFill>
              <a:blip r:embed="rId4">
                <a:alphaModFix amt="0"/>
              </a:blip>
              <a:stretch>
                <a:fillRect l="0" t="-9756" r="2" b="-9730"/>
              </a:stretch>
            </a:blipFill>
          </p:spPr>
        </p:sp>
      </p:grpSp>
      <p:grpSp>
        <p:nvGrpSpPr>
          <p:cNvPr name="Group 223" id="223"/>
          <p:cNvGrpSpPr/>
          <p:nvPr/>
        </p:nvGrpSpPr>
        <p:grpSpPr>
          <a:xfrm rot="0">
            <a:off x="1604210" y="5374253"/>
            <a:ext cx="444808" cy="152076"/>
            <a:chOff x="0" y="0"/>
            <a:chExt cx="593077" cy="202768"/>
          </a:xfrm>
        </p:grpSpPr>
        <p:sp>
          <p:nvSpPr>
            <p:cNvPr name="Freeform 224" id="224"/>
            <p:cNvSpPr/>
            <p:nvPr/>
          </p:nvSpPr>
          <p:spPr>
            <a:xfrm flipH="false" flipV="false" rot="0">
              <a:off x="0" y="0"/>
              <a:ext cx="593077" cy="202766"/>
            </a:xfrm>
            <a:custGeom>
              <a:avLst/>
              <a:gdLst/>
              <a:ahLst/>
              <a:cxnLst/>
              <a:rect r="r" b="b" t="t" l="l"/>
              <a:pathLst>
                <a:path h="202766" w="593077">
                  <a:moveTo>
                    <a:pt x="0" y="0"/>
                  </a:moveTo>
                  <a:lnTo>
                    <a:pt x="593077" y="0"/>
                  </a:lnTo>
                  <a:lnTo>
                    <a:pt x="593077" y="202766"/>
                  </a:lnTo>
                  <a:lnTo>
                    <a:pt x="0" y="202766"/>
                  </a:lnTo>
                  <a:close/>
                </a:path>
              </a:pathLst>
            </a:custGeom>
            <a:blipFill>
              <a:blip r:embed="rId5">
                <a:alphaModFix amt="0"/>
              </a:blip>
              <a:stretch>
                <a:fillRect l="0" t="-6991" r="0" b="-6992"/>
              </a:stretch>
            </a:blipFill>
          </p:spPr>
        </p:sp>
        <p:sp>
          <p:nvSpPr>
            <p:cNvPr name="TextBox 225" id="225"/>
            <p:cNvSpPr txBox="true"/>
            <p:nvPr/>
          </p:nvSpPr>
          <p:spPr>
            <a:xfrm>
              <a:off x="0" y="-9525"/>
              <a:ext cx="593077" cy="212293"/>
            </a:xfrm>
            <a:prstGeom prst="rect">
              <a:avLst/>
            </a:prstGeom>
          </p:spPr>
          <p:txBody>
            <a:bodyPr anchor="ctr" rtlCol="false" tIns="0" lIns="0" bIns="0" rIns="0"/>
            <a:lstStyle/>
            <a:p>
              <a:pPr algn="l">
                <a:lnSpc>
                  <a:spcPts val="802"/>
                </a:lnSpc>
              </a:pPr>
              <a:r>
                <a:rPr lang="en-US" sz="699">
                  <a:solidFill>
                    <a:srgbClr val="8B8885"/>
                  </a:solidFill>
                  <a:latin typeface="TT Commons Pro"/>
                  <a:ea typeface="TT Commons Pro"/>
                  <a:cs typeface="TT Commons Pro"/>
                  <a:sym typeface="TT Commons Pro"/>
                </a:rPr>
                <a:t>Instarmart</a:t>
              </a:r>
            </a:p>
          </p:txBody>
        </p:sp>
      </p:grpSp>
      <p:grpSp>
        <p:nvGrpSpPr>
          <p:cNvPr name="Group 226" id="226"/>
          <p:cNvGrpSpPr/>
          <p:nvPr/>
        </p:nvGrpSpPr>
        <p:grpSpPr>
          <a:xfrm rot="0">
            <a:off x="1057323" y="5381396"/>
            <a:ext cx="255213" cy="174869"/>
            <a:chOff x="0" y="0"/>
            <a:chExt cx="340284" cy="233159"/>
          </a:xfrm>
        </p:grpSpPr>
        <p:sp>
          <p:nvSpPr>
            <p:cNvPr name="Freeform 227" id="227"/>
            <p:cNvSpPr/>
            <p:nvPr/>
          </p:nvSpPr>
          <p:spPr>
            <a:xfrm flipH="false" flipV="false" rot="0">
              <a:off x="0" y="0"/>
              <a:ext cx="340233" cy="233172"/>
            </a:xfrm>
            <a:custGeom>
              <a:avLst/>
              <a:gdLst/>
              <a:ahLst/>
              <a:cxnLst/>
              <a:rect r="r" b="b" t="t" l="l"/>
              <a:pathLst>
                <a:path h="233172" w="340233">
                  <a:moveTo>
                    <a:pt x="0" y="0"/>
                  </a:moveTo>
                  <a:lnTo>
                    <a:pt x="340233" y="0"/>
                  </a:lnTo>
                  <a:lnTo>
                    <a:pt x="340233" y="233172"/>
                  </a:lnTo>
                  <a:lnTo>
                    <a:pt x="0" y="233172"/>
                  </a:lnTo>
                  <a:close/>
                </a:path>
              </a:pathLst>
            </a:custGeom>
            <a:blipFill>
              <a:blip r:embed="rId4">
                <a:alphaModFix amt="0"/>
              </a:blip>
              <a:stretch>
                <a:fillRect l="-37976" t="0" r="-37995" b="5"/>
              </a:stretch>
            </a:blipFill>
          </p:spPr>
        </p:sp>
      </p:grpSp>
      <p:grpSp>
        <p:nvGrpSpPr>
          <p:cNvPr name="Group 228" id="228"/>
          <p:cNvGrpSpPr/>
          <p:nvPr/>
        </p:nvGrpSpPr>
        <p:grpSpPr>
          <a:xfrm rot="0">
            <a:off x="1057323" y="5409971"/>
            <a:ext cx="255213" cy="146294"/>
            <a:chOff x="0" y="0"/>
            <a:chExt cx="340284" cy="195059"/>
          </a:xfrm>
        </p:grpSpPr>
        <p:sp>
          <p:nvSpPr>
            <p:cNvPr name="Freeform 229" id="229"/>
            <p:cNvSpPr/>
            <p:nvPr/>
          </p:nvSpPr>
          <p:spPr>
            <a:xfrm flipH="false" flipV="false" rot="0">
              <a:off x="0" y="0"/>
              <a:ext cx="340284" cy="195060"/>
            </a:xfrm>
            <a:custGeom>
              <a:avLst/>
              <a:gdLst/>
              <a:ahLst/>
              <a:cxnLst/>
              <a:rect r="r" b="b" t="t" l="l"/>
              <a:pathLst>
                <a:path h="195060" w="340284">
                  <a:moveTo>
                    <a:pt x="0" y="0"/>
                  </a:moveTo>
                  <a:lnTo>
                    <a:pt x="340284" y="0"/>
                  </a:lnTo>
                  <a:lnTo>
                    <a:pt x="340284" y="195060"/>
                  </a:lnTo>
                  <a:lnTo>
                    <a:pt x="0" y="195060"/>
                  </a:lnTo>
                  <a:close/>
                </a:path>
              </a:pathLst>
            </a:custGeom>
            <a:blipFill>
              <a:blip r:embed="rId5">
                <a:alphaModFix amt="0"/>
              </a:blip>
              <a:stretch>
                <a:fillRect l="-23546" t="0" r="-23546" b="0"/>
              </a:stretch>
            </a:blipFill>
          </p:spPr>
        </p:sp>
        <p:sp>
          <p:nvSpPr>
            <p:cNvPr name="TextBox 230" id="230"/>
            <p:cNvSpPr txBox="true"/>
            <p:nvPr/>
          </p:nvSpPr>
          <p:spPr>
            <a:xfrm>
              <a:off x="0" y="38100"/>
              <a:ext cx="340284" cy="156959"/>
            </a:xfrm>
            <a:prstGeom prst="rect">
              <a:avLst/>
            </a:prstGeom>
          </p:spPr>
          <p:txBody>
            <a:bodyPr anchor="ctr" rtlCol="false" tIns="0" lIns="0" bIns="0" rIns="0"/>
            <a:lstStyle/>
            <a:p>
              <a:pPr algn="l">
                <a:lnSpc>
                  <a:spcPts val="687"/>
                </a:lnSpc>
              </a:pPr>
              <a:r>
                <a:rPr lang="en-US" sz="815">
                  <a:solidFill>
                    <a:srgbClr val="7E7B77"/>
                  </a:solidFill>
                  <a:latin typeface="TT Commons Pro"/>
                  <a:ea typeface="TT Commons Pro"/>
                  <a:cs typeface="TT Commons Pro"/>
                  <a:sym typeface="TT Commons Pro"/>
                </a:rPr>
                <a:t>Food</a:t>
              </a:r>
            </a:p>
          </p:txBody>
        </p:sp>
      </p:grpSp>
      <p:grpSp>
        <p:nvGrpSpPr>
          <p:cNvPr name="Group 231" id="231"/>
          <p:cNvGrpSpPr/>
          <p:nvPr/>
        </p:nvGrpSpPr>
        <p:grpSpPr>
          <a:xfrm rot="0">
            <a:off x="1028157" y="3871979"/>
            <a:ext cx="1013565" cy="162096"/>
            <a:chOff x="0" y="0"/>
            <a:chExt cx="1351420" cy="216129"/>
          </a:xfrm>
        </p:grpSpPr>
        <p:sp>
          <p:nvSpPr>
            <p:cNvPr name="Freeform 232" id="232"/>
            <p:cNvSpPr/>
            <p:nvPr/>
          </p:nvSpPr>
          <p:spPr>
            <a:xfrm flipH="false" flipV="false" rot="0">
              <a:off x="0" y="0"/>
              <a:ext cx="1351407" cy="216154"/>
            </a:xfrm>
            <a:custGeom>
              <a:avLst/>
              <a:gdLst/>
              <a:ahLst/>
              <a:cxnLst/>
              <a:rect r="r" b="b" t="t" l="l"/>
              <a:pathLst>
                <a:path h="216154" w="1351407">
                  <a:moveTo>
                    <a:pt x="0" y="0"/>
                  </a:moveTo>
                  <a:lnTo>
                    <a:pt x="1351407" y="0"/>
                  </a:lnTo>
                  <a:lnTo>
                    <a:pt x="1351407" y="216154"/>
                  </a:lnTo>
                  <a:lnTo>
                    <a:pt x="0" y="216154"/>
                  </a:lnTo>
                  <a:close/>
                </a:path>
              </a:pathLst>
            </a:custGeom>
            <a:blipFill>
              <a:blip r:embed="rId4">
                <a:alphaModFix amt="0"/>
              </a:blip>
              <a:stretch>
                <a:fillRect l="0" t="-71745" r="0" b="-71733"/>
              </a:stretch>
            </a:blipFill>
          </p:spPr>
        </p:sp>
      </p:grpSp>
      <p:grpSp>
        <p:nvGrpSpPr>
          <p:cNvPr name="Group 233" id="233"/>
          <p:cNvGrpSpPr/>
          <p:nvPr/>
        </p:nvGrpSpPr>
        <p:grpSpPr>
          <a:xfrm rot="0">
            <a:off x="1028157" y="3871979"/>
            <a:ext cx="1013565" cy="162096"/>
            <a:chOff x="0" y="0"/>
            <a:chExt cx="1351420" cy="216129"/>
          </a:xfrm>
        </p:grpSpPr>
        <p:sp>
          <p:nvSpPr>
            <p:cNvPr name="Freeform 234" id="234"/>
            <p:cNvSpPr/>
            <p:nvPr/>
          </p:nvSpPr>
          <p:spPr>
            <a:xfrm flipH="false" flipV="false" rot="0">
              <a:off x="0" y="0"/>
              <a:ext cx="1351420" cy="216123"/>
            </a:xfrm>
            <a:custGeom>
              <a:avLst/>
              <a:gdLst/>
              <a:ahLst/>
              <a:cxnLst/>
              <a:rect r="r" b="b" t="t" l="l"/>
              <a:pathLst>
                <a:path h="216123" w="1351420">
                  <a:moveTo>
                    <a:pt x="0" y="0"/>
                  </a:moveTo>
                  <a:lnTo>
                    <a:pt x="1351420" y="0"/>
                  </a:lnTo>
                  <a:lnTo>
                    <a:pt x="1351420" y="216123"/>
                  </a:lnTo>
                  <a:lnTo>
                    <a:pt x="0" y="216123"/>
                  </a:lnTo>
                  <a:close/>
                </a:path>
              </a:pathLst>
            </a:custGeom>
            <a:blipFill>
              <a:blip r:embed="rId5">
                <a:alphaModFix amt="0"/>
              </a:blip>
              <a:stretch>
                <a:fillRect l="0" t="-71838" r="0" b="-71841"/>
              </a:stretch>
            </a:blipFill>
          </p:spPr>
        </p:sp>
        <p:sp>
          <p:nvSpPr>
            <p:cNvPr name="TextBox 235" id="235"/>
            <p:cNvSpPr txBox="true"/>
            <p:nvPr/>
          </p:nvSpPr>
          <p:spPr>
            <a:xfrm>
              <a:off x="0" y="0"/>
              <a:ext cx="1351420" cy="216129"/>
            </a:xfrm>
            <a:prstGeom prst="rect">
              <a:avLst/>
            </a:prstGeom>
          </p:spPr>
          <p:txBody>
            <a:bodyPr anchor="ctr" rtlCol="false" tIns="0" lIns="0" bIns="0" rIns="0"/>
            <a:lstStyle/>
            <a:p>
              <a:pPr algn="l">
                <a:lnSpc>
                  <a:spcPts val="861"/>
                </a:lnSpc>
              </a:pPr>
              <a:r>
                <a:rPr lang="en-US" sz="769">
                  <a:solidFill>
                    <a:srgbClr val="B0ACA8"/>
                  </a:solidFill>
                  <a:latin typeface="TT Commons Pro"/>
                  <a:ea typeface="TT Commons Pro"/>
                  <a:cs typeface="TT Commons Pro"/>
                  <a:sym typeface="TT Commons Pro"/>
                </a:rPr>
                <a:t>Sosrch for restaurants</a:t>
              </a:r>
            </a:p>
          </p:txBody>
        </p:sp>
      </p:grpSp>
      <p:grpSp>
        <p:nvGrpSpPr>
          <p:cNvPr name="Group 236" id="236"/>
          <p:cNvGrpSpPr/>
          <p:nvPr/>
        </p:nvGrpSpPr>
        <p:grpSpPr>
          <a:xfrm rot="0">
            <a:off x="765648" y="3536556"/>
            <a:ext cx="379181" cy="204645"/>
            <a:chOff x="0" y="0"/>
            <a:chExt cx="505574" cy="272860"/>
          </a:xfrm>
        </p:grpSpPr>
        <p:sp>
          <p:nvSpPr>
            <p:cNvPr name="Freeform 237" id="237"/>
            <p:cNvSpPr/>
            <p:nvPr/>
          </p:nvSpPr>
          <p:spPr>
            <a:xfrm flipH="false" flipV="false" rot="0">
              <a:off x="0" y="0"/>
              <a:ext cx="505587" cy="272923"/>
            </a:xfrm>
            <a:custGeom>
              <a:avLst/>
              <a:gdLst/>
              <a:ahLst/>
              <a:cxnLst/>
              <a:rect r="r" b="b" t="t" l="l"/>
              <a:pathLst>
                <a:path h="272923" w="505587">
                  <a:moveTo>
                    <a:pt x="0" y="0"/>
                  </a:moveTo>
                  <a:lnTo>
                    <a:pt x="505587" y="0"/>
                  </a:lnTo>
                  <a:lnTo>
                    <a:pt x="505587" y="272923"/>
                  </a:lnTo>
                  <a:lnTo>
                    <a:pt x="0" y="272923"/>
                  </a:lnTo>
                  <a:close/>
                </a:path>
              </a:pathLst>
            </a:custGeom>
            <a:blipFill>
              <a:blip r:embed="rId4">
                <a:alphaModFix amt="0"/>
              </a:blip>
              <a:stretch>
                <a:fillRect l="-19294" t="0" r="-19291" b="23"/>
              </a:stretch>
            </a:blipFill>
          </p:spPr>
        </p:sp>
      </p:grpSp>
      <p:grpSp>
        <p:nvGrpSpPr>
          <p:cNvPr name="Group 238" id="238"/>
          <p:cNvGrpSpPr/>
          <p:nvPr/>
        </p:nvGrpSpPr>
        <p:grpSpPr>
          <a:xfrm rot="0">
            <a:off x="765648" y="3557988"/>
            <a:ext cx="379181" cy="183213"/>
            <a:chOff x="0" y="0"/>
            <a:chExt cx="505574" cy="244284"/>
          </a:xfrm>
        </p:grpSpPr>
        <p:sp>
          <p:nvSpPr>
            <p:cNvPr name="Freeform 239" id="239"/>
            <p:cNvSpPr/>
            <p:nvPr/>
          </p:nvSpPr>
          <p:spPr>
            <a:xfrm flipH="false" flipV="false" rot="0">
              <a:off x="0" y="0"/>
              <a:ext cx="505575" cy="244282"/>
            </a:xfrm>
            <a:custGeom>
              <a:avLst/>
              <a:gdLst/>
              <a:ahLst/>
              <a:cxnLst/>
              <a:rect r="r" b="b" t="t" l="l"/>
              <a:pathLst>
                <a:path h="244282" w="505575">
                  <a:moveTo>
                    <a:pt x="0" y="0"/>
                  </a:moveTo>
                  <a:lnTo>
                    <a:pt x="505575" y="0"/>
                  </a:lnTo>
                  <a:lnTo>
                    <a:pt x="505575" y="244282"/>
                  </a:lnTo>
                  <a:lnTo>
                    <a:pt x="0" y="244282"/>
                  </a:lnTo>
                  <a:close/>
                </a:path>
              </a:pathLst>
            </a:custGeom>
            <a:blipFill>
              <a:blip r:embed="rId5">
                <a:alphaModFix amt="0"/>
              </a:blip>
              <a:stretch>
                <a:fillRect l="-11993" t="0" r="-11993" b="0"/>
              </a:stretch>
            </a:blipFill>
          </p:spPr>
        </p:sp>
        <p:sp>
          <p:nvSpPr>
            <p:cNvPr name="TextBox 240" id="240"/>
            <p:cNvSpPr txBox="true"/>
            <p:nvPr/>
          </p:nvSpPr>
          <p:spPr>
            <a:xfrm>
              <a:off x="0" y="28575"/>
              <a:ext cx="505574" cy="215709"/>
            </a:xfrm>
            <a:prstGeom prst="rect">
              <a:avLst/>
            </a:prstGeom>
          </p:spPr>
          <p:txBody>
            <a:bodyPr anchor="ctr" rtlCol="false" tIns="0" lIns="0" bIns="0" rIns="0"/>
            <a:lstStyle/>
            <a:p>
              <a:pPr algn="l">
                <a:lnSpc>
                  <a:spcPts val="802"/>
                </a:lnSpc>
              </a:pPr>
              <a:r>
                <a:rPr lang="en-US" sz="975">
                  <a:solidFill>
                    <a:srgbClr val="958B86"/>
                  </a:solidFill>
                  <a:latin typeface="TT Commons Pro"/>
                  <a:ea typeface="TT Commons Pro"/>
                  <a:cs typeface="TT Commons Pro"/>
                  <a:sym typeface="TT Commons Pro"/>
                </a:rPr>
                <a:t>Home</a:t>
              </a:r>
            </a:p>
          </p:txBody>
        </p:sp>
      </p:grpSp>
      <p:grpSp>
        <p:nvGrpSpPr>
          <p:cNvPr name="Group 241" id="241"/>
          <p:cNvGrpSpPr/>
          <p:nvPr/>
        </p:nvGrpSpPr>
        <p:grpSpPr>
          <a:xfrm rot="0">
            <a:off x="758352" y="3390719"/>
            <a:ext cx="466677" cy="185309"/>
            <a:chOff x="0" y="0"/>
            <a:chExt cx="622236" cy="247078"/>
          </a:xfrm>
        </p:grpSpPr>
        <p:sp>
          <p:nvSpPr>
            <p:cNvPr name="Freeform 242" id="242"/>
            <p:cNvSpPr/>
            <p:nvPr/>
          </p:nvSpPr>
          <p:spPr>
            <a:xfrm flipH="false" flipV="false" rot="0">
              <a:off x="0" y="0"/>
              <a:ext cx="622300" cy="247015"/>
            </a:xfrm>
            <a:custGeom>
              <a:avLst/>
              <a:gdLst/>
              <a:ahLst/>
              <a:cxnLst/>
              <a:rect r="r" b="b" t="t" l="l"/>
              <a:pathLst>
                <a:path h="247015" w="622300">
                  <a:moveTo>
                    <a:pt x="0" y="0"/>
                  </a:moveTo>
                  <a:lnTo>
                    <a:pt x="622300" y="0"/>
                  </a:lnTo>
                  <a:lnTo>
                    <a:pt x="622300" y="247015"/>
                  </a:lnTo>
                  <a:lnTo>
                    <a:pt x="0" y="247015"/>
                  </a:lnTo>
                  <a:close/>
                </a:path>
              </a:pathLst>
            </a:custGeom>
            <a:blipFill>
              <a:blip r:embed="rId4">
                <a:alphaModFix amt="0"/>
              </a:blip>
              <a:stretch>
                <a:fillRect l="-981" t="0" r="-971" b="-25"/>
              </a:stretch>
            </a:blipFill>
          </p:spPr>
        </p:sp>
      </p:grpSp>
      <p:grpSp>
        <p:nvGrpSpPr>
          <p:cNvPr name="Group 243" id="243"/>
          <p:cNvGrpSpPr/>
          <p:nvPr/>
        </p:nvGrpSpPr>
        <p:grpSpPr>
          <a:xfrm rot="0">
            <a:off x="758352" y="3397863"/>
            <a:ext cx="466677" cy="178156"/>
            <a:chOff x="0" y="0"/>
            <a:chExt cx="622236" cy="237541"/>
          </a:xfrm>
        </p:grpSpPr>
        <p:sp>
          <p:nvSpPr>
            <p:cNvPr name="Freeform 244" id="244"/>
            <p:cNvSpPr/>
            <p:nvPr/>
          </p:nvSpPr>
          <p:spPr>
            <a:xfrm flipH="false" flipV="false" rot="0">
              <a:off x="0" y="0"/>
              <a:ext cx="622236" cy="237543"/>
            </a:xfrm>
            <a:custGeom>
              <a:avLst/>
              <a:gdLst/>
              <a:ahLst/>
              <a:cxnLst/>
              <a:rect r="r" b="b" t="t" l="l"/>
              <a:pathLst>
                <a:path h="237543" w="622236">
                  <a:moveTo>
                    <a:pt x="0" y="0"/>
                  </a:moveTo>
                  <a:lnTo>
                    <a:pt x="622236" y="0"/>
                  </a:lnTo>
                  <a:lnTo>
                    <a:pt x="622236" y="237543"/>
                  </a:lnTo>
                  <a:lnTo>
                    <a:pt x="0" y="237543"/>
                  </a:lnTo>
                  <a:close/>
                </a:path>
              </a:pathLst>
            </a:custGeom>
            <a:blipFill>
              <a:blip r:embed="rId5">
                <a:alphaModFix amt="0"/>
              </a:blip>
              <a:stretch>
                <a:fillRect l="0" t="-1040" r="0" b="-1039"/>
              </a:stretch>
            </a:blipFill>
          </p:spPr>
        </p:sp>
        <p:sp>
          <p:nvSpPr>
            <p:cNvPr name="TextBox 245" id="245"/>
            <p:cNvSpPr txBox="true"/>
            <p:nvPr/>
          </p:nvSpPr>
          <p:spPr>
            <a:xfrm>
              <a:off x="0" y="9525"/>
              <a:ext cx="622236" cy="228016"/>
            </a:xfrm>
            <a:prstGeom prst="rect">
              <a:avLst/>
            </a:prstGeom>
          </p:spPr>
          <p:txBody>
            <a:bodyPr anchor="ctr" rtlCol="false" tIns="0" lIns="0" bIns="0" rIns="0"/>
            <a:lstStyle/>
            <a:p>
              <a:pPr algn="l">
                <a:lnSpc>
                  <a:spcPts val="976"/>
                </a:lnSpc>
              </a:pPr>
              <a:r>
                <a:rPr lang="en-US" sz="855">
                  <a:solidFill>
                    <a:srgbClr val="75675F"/>
                  </a:solidFill>
                  <a:latin typeface="TT Commons Pro"/>
                  <a:ea typeface="TT Commons Pro"/>
                  <a:cs typeface="TT Commons Pro"/>
                  <a:sym typeface="TT Commons Pro"/>
                </a:rPr>
                <a:t>Deiver io</a:t>
              </a:r>
            </a:p>
          </p:txBody>
        </p:sp>
      </p:grpSp>
      <p:grpSp>
        <p:nvGrpSpPr>
          <p:cNvPr name="Group 246" id="246"/>
          <p:cNvGrpSpPr/>
          <p:nvPr/>
        </p:nvGrpSpPr>
        <p:grpSpPr>
          <a:xfrm rot="0">
            <a:off x="816693" y="3171958"/>
            <a:ext cx="204168" cy="116672"/>
            <a:chOff x="0" y="0"/>
            <a:chExt cx="272224" cy="155562"/>
          </a:xfrm>
        </p:grpSpPr>
        <p:sp>
          <p:nvSpPr>
            <p:cNvPr name="Freeform 247" id="247"/>
            <p:cNvSpPr/>
            <p:nvPr/>
          </p:nvSpPr>
          <p:spPr>
            <a:xfrm flipH="false" flipV="false" rot="0">
              <a:off x="0" y="0"/>
              <a:ext cx="272288" cy="155575"/>
            </a:xfrm>
            <a:custGeom>
              <a:avLst/>
              <a:gdLst/>
              <a:ahLst/>
              <a:cxnLst/>
              <a:rect r="r" b="b" t="t" l="l"/>
              <a:pathLst>
                <a:path h="155575" w="272288">
                  <a:moveTo>
                    <a:pt x="0" y="0"/>
                  </a:moveTo>
                  <a:lnTo>
                    <a:pt x="272288" y="0"/>
                  </a:lnTo>
                  <a:lnTo>
                    <a:pt x="272288" y="155575"/>
                  </a:lnTo>
                  <a:lnTo>
                    <a:pt x="0" y="155575"/>
                  </a:lnTo>
                  <a:close/>
                </a:path>
              </a:pathLst>
            </a:custGeom>
            <a:blipFill>
              <a:blip r:embed="rId4">
                <a:alphaModFix amt="0"/>
              </a:blip>
              <a:stretch>
                <a:fillRect l="-23362" t="0" r="-23339" b="8"/>
              </a:stretch>
            </a:blipFill>
          </p:spPr>
        </p:sp>
      </p:grpSp>
      <p:grpSp>
        <p:nvGrpSpPr>
          <p:cNvPr name="Group 248" id="248"/>
          <p:cNvGrpSpPr/>
          <p:nvPr/>
        </p:nvGrpSpPr>
        <p:grpSpPr>
          <a:xfrm rot="0">
            <a:off x="816693" y="3171958"/>
            <a:ext cx="204168" cy="116672"/>
            <a:chOff x="0" y="0"/>
            <a:chExt cx="272224" cy="155562"/>
          </a:xfrm>
        </p:grpSpPr>
        <p:sp>
          <p:nvSpPr>
            <p:cNvPr name="Freeform 249" id="249"/>
            <p:cNvSpPr/>
            <p:nvPr/>
          </p:nvSpPr>
          <p:spPr>
            <a:xfrm flipH="false" flipV="false" rot="0">
              <a:off x="0" y="0"/>
              <a:ext cx="272224" cy="155560"/>
            </a:xfrm>
            <a:custGeom>
              <a:avLst/>
              <a:gdLst/>
              <a:ahLst/>
              <a:cxnLst/>
              <a:rect r="r" b="b" t="t" l="l"/>
              <a:pathLst>
                <a:path h="155560" w="272224">
                  <a:moveTo>
                    <a:pt x="0" y="0"/>
                  </a:moveTo>
                  <a:lnTo>
                    <a:pt x="272224" y="0"/>
                  </a:lnTo>
                  <a:lnTo>
                    <a:pt x="272224" y="155560"/>
                  </a:lnTo>
                  <a:lnTo>
                    <a:pt x="0" y="155560"/>
                  </a:lnTo>
                  <a:close/>
                </a:path>
              </a:pathLst>
            </a:custGeom>
            <a:blipFill>
              <a:blip r:embed="rId5">
                <a:alphaModFix amt="0"/>
              </a:blip>
              <a:stretch>
                <a:fillRect l="-23318" t="0" r="-23319" b="-1"/>
              </a:stretch>
            </a:blipFill>
          </p:spPr>
        </p:sp>
        <p:sp>
          <p:nvSpPr>
            <p:cNvPr name="TextBox 250" id="250"/>
            <p:cNvSpPr txBox="true"/>
            <p:nvPr/>
          </p:nvSpPr>
          <p:spPr>
            <a:xfrm>
              <a:off x="0" y="0"/>
              <a:ext cx="272224" cy="155562"/>
            </a:xfrm>
            <a:prstGeom prst="rect">
              <a:avLst/>
            </a:prstGeom>
          </p:spPr>
          <p:txBody>
            <a:bodyPr anchor="ctr" rtlCol="false" tIns="0" lIns="0" bIns="0" rIns="0"/>
            <a:lstStyle/>
            <a:p>
              <a:pPr algn="l">
                <a:lnSpc>
                  <a:spcPts val="508"/>
                </a:lnSpc>
              </a:pPr>
              <a:r>
                <a:rPr lang="en-US" sz="487" b="true">
                  <a:solidFill>
                    <a:srgbClr val="82746C"/>
                  </a:solidFill>
                  <a:latin typeface="TT Commons Pro Bold"/>
                  <a:ea typeface="TT Commons Pro Bold"/>
                  <a:cs typeface="TT Commons Pro Bold"/>
                  <a:sym typeface="TT Commons Pro Bold"/>
                </a:rPr>
                <a:t>లెటపే</a:t>
              </a:r>
            </a:p>
          </p:txBody>
        </p:sp>
      </p:grpSp>
      <p:grpSp>
        <p:nvGrpSpPr>
          <p:cNvPr name="Group 251" id="251"/>
          <p:cNvGrpSpPr/>
          <p:nvPr/>
        </p:nvGrpSpPr>
        <p:grpSpPr>
          <a:xfrm rot="0">
            <a:off x="17347349" y="6876231"/>
            <a:ext cx="714604" cy="331280"/>
            <a:chOff x="0" y="0"/>
            <a:chExt cx="952805" cy="441706"/>
          </a:xfrm>
        </p:grpSpPr>
        <p:sp>
          <p:nvSpPr>
            <p:cNvPr name="Freeform 252" id="252"/>
            <p:cNvSpPr/>
            <p:nvPr/>
          </p:nvSpPr>
          <p:spPr>
            <a:xfrm flipH="false" flipV="false" rot="0">
              <a:off x="0" y="0"/>
              <a:ext cx="952754" cy="441706"/>
            </a:xfrm>
            <a:custGeom>
              <a:avLst/>
              <a:gdLst/>
              <a:ahLst/>
              <a:cxnLst/>
              <a:rect r="r" b="b" t="t" l="l"/>
              <a:pathLst>
                <a:path h="441706" w="952754">
                  <a:moveTo>
                    <a:pt x="0" y="0"/>
                  </a:moveTo>
                  <a:lnTo>
                    <a:pt x="952754" y="0"/>
                  </a:lnTo>
                  <a:lnTo>
                    <a:pt x="952754" y="441706"/>
                  </a:lnTo>
                  <a:lnTo>
                    <a:pt x="0" y="441706"/>
                  </a:lnTo>
                  <a:close/>
                </a:path>
              </a:pathLst>
            </a:custGeom>
            <a:blipFill>
              <a:blip r:embed="rId4">
                <a:alphaModFix amt="0"/>
              </a:blip>
              <a:stretch>
                <a:fillRect l="-9521" t="0" r="-9525" b="0"/>
              </a:stretch>
            </a:blipFill>
          </p:spPr>
        </p:sp>
      </p:grpSp>
      <p:grpSp>
        <p:nvGrpSpPr>
          <p:cNvPr name="Group 253" id="253"/>
          <p:cNvGrpSpPr/>
          <p:nvPr/>
        </p:nvGrpSpPr>
        <p:grpSpPr>
          <a:xfrm rot="0">
            <a:off x="17347349" y="6926237"/>
            <a:ext cx="714604" cy="281273"/>
            <a:chOff x="0" y="0"/>
            <a:chExt cx="952805" cy="375031"/>
          </a:xfrm>
        </p:grpSpPr>
        <p:sp>
          <p:nvSpPr>
            <p:cNvPr name="Freeform 254" id="254"/>
            <p:cNvSpPr/>
            <p:nvPr/>
          </p:nvSpPr>
          <p:spPr>
            <a:xfrm flipH="false" flipV="false" rot="0">
              <a:off x="0" y="0"/>
              <a:ext cx="952805" cy="375036"/>
            </a:xfrm>
            <a:custGeom>
              <a:avLst/>
              <a:gdLst/>
              <a:ahLst/>
              <a:cxnLst/>
              <a:rect r="r" b="b" t="t" l="l"/>
              <a:pathLst>
                <a:path h="375036" w="952805">
                  <a:moveTo>
                    <a:pt x="0" y="0"/>
                  </a:moveTo>
                  <a:lnTo>
                    <a:pt x="952805" y="0"/>
                  </a:lnTo>
                  <a:lnTo>
                    <a:pt x="952805" y="375036"/>
                  </a:lnTo>
                  <a:lnTo>
                    <a:pt x="0" y="375036"/>
                  </a:lnTo>
                  <a:close/>
                </a:path>
              </a:pathLst>
            </a:custGeom>
            <a:blipFill>
              <a:blip r:embed="rId5">
                <a:alphaModFix amt="0"/>
              </a:blip>
              <a:stretch>
                <a:fillRect l="-501" t="0" r="-501" b="1"/>
              </a:stretch>
            </a:blipFill>
          </p:spPr>
        </p:sp>
        <p:sp>
          <p:nvSpPr>
            <p:cNvPr name="TextBox 255" id="255"/>
            <p:cNvSpPr txBox="true"/>
            <p:nvPr/>
          </p:nvSpPr>
          <p:spPr>
            <a:xfrm>
              <a:off x="0" y="66675"/>
              <a:ext cx="952805" cy="308356"/>
            </a:xfrm>
            <a:prstGeom prst="rect">
              <a:avLst/>
            </a:prstGeom>
          </p:spPr>
          <p:txBody>
            <a:bodyPr anchor="ctr" rtlCol="false" tIns="0" lIns="0" bIns="0" rIns="0"/>
            <a:lstStyle/>
            <a:p>
              <a:pPr algn="l">
                <a:lnSpc>
                  <a:spcPts val="1103"/>
                </a:lnSpc>
              </a:pPr>
              <a:r>
                <a:rPr lang="en-US" sz="1559" b="true">
                  <a:solidFill>
                    <a:srgbClr val="CC9AA0"/>
                  </a:solidFill>
                  <a:latin typeface="TT Commons Pro Bold"/>
                  <a:ea typeface="TT Commons Pro Bold"/>
                  <a:cs typeface="TT Commons Pro Bold"/>
                  <a:sym typeface="TT Commons Pro Bold"/>
                </a:rPr>
                <a:t>zomato</a:t>
              </a:r>
            </a:p>
          </p:txBody>
        </p:sp>
      </p:grpSp>
      <p:grpSp>
        <p:nvGrpSpPr>
          <p:cNvPr name="Group 256" id="256"/>
          <p:cNvGrpSpPr/>
          <p:nvPr/>
        </p:nvGrpSpPr>
        <p:grpSpPr>
          <a:xfrm rot="0">
            <a:off x="15013953" y="6629105"/>
            <a:ext cx="743760" cy="138551"/>
            <a:chOff x="0" y="0"/>
            <a:chExt cx="991679" cy="184734"/>
          </a:xfrm>
        </p:grpSpPr>
        <p:sp>
          <p:nvSpPr>
            <p:cNvPr name="Freeform 257" id="257"/>
            <p:cNvSpPr/>
            <p:nvPr/>
          </p:nvSpPr>
          <p:spPr>
            <a:xfrm flipH="false" flipV="false" rot="0">
              <a:off x="0" y="0"/>
              <a:ext cx="991743" cy="184785"/>
            </a:xfrm>
            <a:custGeom>
              <a:avLst/>
              <a:gdLst/>
              <a:ahLst/>
              <a:cxnLst/>
              <a:rect r="r" b="b" t="t" l="l"/>
              <a:pathLst>
                <a:path h="184785" w="991743">
                  <a:moveTo>
                    <a:pt x="0" y="0"/>
                  </a:moveTo>
                  <a:lnTo>
                    <a:pt x="991743" y="0"/>
                  </a:lnTo>
                  <a:lnTo>
                    <a:pt x="991743" y="184785"/>
                  </a:lnTo>
                  <a:lnTo>
                    <a:pt x="0" y="184785"/>
                  </a:lnTo>
                  <a:close/>
                </a:path>
              </a:pathLst>
            </a:custGeom>
            <a:blipFill>
              <a:blip r:embed="rId4">
                <a:alphaModFix amt="0"/>
              </a:blip>
              <a:stretch>
                <a:fillRect l="0" t="-54508" r="6" b="-54487"/>
              </a:stretch>
            </a:blipFill>
          </p:spPr>
        </p:sp>
      </p:grpSp>
      <p:grpSp>
        <p:nvGrpSpPr>
          <p:cNvPr name="Group 258" id="258"/>
          <p:cNvGrpSpPr/>
          <p:nvPr/>
        </p:nvGrpSpPr>
        <p:grpSpPr>
          <a:xfrm rot="0">
            <a:off x="15028535" y="5648935"/>
            <a:ext cx="1600562" cy="193834"/>
            <a:chOff x="0" y="0"/>
            <a:chExt cx="2134083" cy="258445"/>
          </a:xfrm>
        </p:grpSpPr>
        <p:sp>
          <p:nvSpPr>
            <p:cNvPr name="Freeform 259" id="259"/>
            <p:cNvSpPr/>
            <p:nvPr/>
          </p:nvSpPr>
          <p:spPr>
            <a:xfrm flipH="false" flipV="false" rot="0">
              <a:off x="0" y="0"/>
              <a:ext cx="2134108" cy="258445"/>
            </a:xfrm>
            <a:custGeom>
              <a:avLst/>
              <a:gdLst/>
              <a:ahLst/>
              <a:cxnLst/>
              <a:rect r="r" b="b" t="t" l="l"/>
              <a:pathLst>
                <a:path h="258445" w="2134108">
                  <a:moveTo>
                    <a:pt x="0" y="0"/>
                  </a:moveTo>
                  <a:lnTo>
                    <a:pt x="2134108" y="0"/>
                  </a:lnTo>
                  <a:lnTo>
                    <a:pt x="2134108" y="258445"/>
                  </a:lnTo>
                  <a:lnTo>
                    <a:pt x="0" y="258445"/>
                  </a:lnTo>
                  <a:close/>
                </a:path>
              </a:pathLst>
            </a:custGeom>
            <a:blipFill>
              <a:blip r:embed="rId4">
                <a:alphaModFix amt="0"/>
              </a:blip>
              <a:stretch>
                <a:fillRect l="0" t="-110781" r="1" b="-110786"/>
              </a:stretch>
            </a:blipFill>
          </p:spPr>
        </p:sp>
      </p:grpSp>
      <p:grpSp>
        <p:nvGrpSpPr>
          <p:cNvPr name="Group 260" id="260"/>
          <p:cNvGrpSpPr/>
          <p:nvPr/>
        </p:nvGrpSpPr>
        <p:grpSpPr>
          <a:xfrm rot="0">
            <a:off x="15028535" y="5656078"/>
            <a:ext cx="1600562" cy="186700"/>
            <a:chOff x="0" y="0"/>
            <a:chExt cx="2134083" cy="248933"/>
          </a:xfrm>
        </p:grpSpPr>
        <p:sp>
          <p:nvSpPr>
            <p:cNvPr name="Freeform 261" id="261"/>
            <p:cNvSpPr/>
            <p:nvPr/>
          </p:nvSpPr>
          <p:spPr>
            <a:xfrm flipH="false" flipV="false" rot="0">
              <a:off x="0" y="0"/>
              <a:ext cx="2134083" cy="248932"/>
            </a:xfrm>
            <a:custGeom>
              <a:avLst/>
              <a:gdLst/>
              <a:ahLst/>
              <a:cxnLst/>
              <a:rect r="r" b="b" t="t" l="l"/>
              <a:pathLst>
                <a:path h="248932" w="2134083">
                  <a:moveTo>
                    <a:pt x="0" y="0"/>
                  </a:moveTo>
                  <a:lnTo>
                    <a:pt x="2134083" y="0"/>
                  </a:lnTo>
                  <a:lnTo>
                    <a:pt x="2134083" y="248932"/>
                  </a:lnTo>
                  <a:lnTo>
                    <a:pt x="0" y="248932"/>
                  </a:lnTo>
                  <a:close/>
                </a:path>
              </a:pathLst>
            </a:custGeom>
            <a:blipFill>
              <a:blip r:embed="rId5">
                <a:alphaModFix amt="0"/>
              </a:blip>
              <a:stretch>
                <a:fillRect l="0" t="-117044" r="0" b="-117044"/>
              </a:stretch>
            </a:blipFill>
          </p:spPr>
        </p:sp>
        <p:sp>
          <p:nvSpPr>
            <p:cNvPr name="TextBox 262" id="262"/>
            <p:cNvSpPr txBox="true"/>
            <p:nvPr/>
          </p:nvSpPr>
          <p:spPr>
            <a:xfrm>
              <a:off x="0" y="9525"/>
              <a:ext cx="2134083" cy="239408"/>
            </a:xfrm>
            <a:prstGeom prst="rect">
              <a:avLst/>
            </a:prstGeom>
          </p:spPr>
          <p:txBody>
            <a:bodyPr anchor="ctr" rtlCol="false" tIns="0" lIns="0" bIns="0" rIns="0"/>
            <a:lstStyle/>
            <a:p>
              <a:pPr algn="l">
                <a:lnSpc>
                  <a:spcPts val="1090"/>
                </a:lnSpc>
              </a:pPr>
              <a:r>
                <a:rPr lang="en-US" sz="918">
                  <a:solidFill>
                    <a:srgbClr val="797776"/>
                  </a:solidFill>
                  <a:latin typeface="TT Commons Pro"/>
                  <a:ea typeface="TT Commons Pro"/>
                  <a:cs typeface="TT Commons Pro"/>
                  <a:sym typeface="TT Commons Pro"/>
                </a:rPr>
                <a:t>Top Rated Restaurants</a:t>
              </a:r>
            </a:p>
          </p:txBody>
        </p:sp>
      </p:grpSp>
      <p:grpSp>
        <p:nvGrpSpPr>
          <p:cNvPr name="Group 263" id="263"/>
          <p:cNvGrpSpPr/>
          <p:nvPr/>
        </p:nvGrpSpPr>
        <p:grpSpPr>
          <a:xfrm rot="0">
            <a:off x="1443790" y="7189784"/>
            <a:ext cx="269796" cy="145266"/>
            <a:chOff x="0" y="0"/>
            <a:chExt cx="359728" cy="193688"/>
          </a:xfrm>
        </p:grpSpPr>
        <p:sp>
          <p:nvSpPr>
            <p:cNvPr name="Freeform 264" id="264"/>
            <p:cNvSpPr/>
            <p:nvPr/>
          </p:nvSpPr>
          <p:spPr>
            <a:xfrm flipH="false" flipV="false" rot="0">
              <a:off x="0" y="0"/>
              <a:ext cx="359791" cy="193675"/>
            </a:xfrm>
            <a:custGeom>
              <a:avLst/>
              <a:gdLst/>
              <a:ahLst/>
              <a:cxnLst/>
              <a:rect r="r" b="b" t="t" l="l"/>
              <a:pathLst>
                <a:path h="193675" w="359791">
                  <a:moveTo>
                    <a:pt x="0" y="0"/>
                  </a:moveTo>
                  <a:lnTo>
                    <a:pt x="359791" y="0"/>
                  </a:lnTo>
                  <a:lnTo>
                    <a:pt x="359791" y="193675"/>
                  </a:lnTo>
                  <a:lnTo>
                    <a:pt x="0" y="193675"/>
                  </a:lnTo>
                  <a:close/>
                </a:path>
              </a:pathLst>
            </a:custGeom>
            <a:blipFill>
              <a:blip r:embed="rId4">
                <a:alphaModFix amt="0"/>
              </a:blip>
              <a:stretch>
                <a:fillRect l="-19124" t="0" r="-19110" b="-6"/>
              </a:stretch>
            </a:blipFill>
          </p:spPr>
        </p:sp>
      </p:grpSp>
      <p:grpSp>
        <p:nvGrpSpPr>
          <p:cNvPr name="Group 265" id="265"/>
          <p:cNvGrpSpPr/>
          <p:nvPr/>
        </p:nvGrpSpPr>
        <p:grpSpPr>
          <a:xfrm rot="0">
            <a:off x="1443790" y="7196928"/>
            <a:ext cx="269796" cy="138122"/>
            <a:chOff x="0" y="0"/>
            <a:chExt cx="359728" cy="184163"/>
          </a:xfrm>
        </p:grpSpPr>
        <p:sp>
          <p:nvSpPr>
            <p:cNvPr name="Freeform 266" id="266"/>
            <p:cNvSpPr/>
            <p:nvPr/>
          </p:nvSpPr>
          <p:spPr>
            <a:xfrm flipH="false" flipV="false" rot="0">
              <a:off x="0" y="0"/>
              <a:ext cx="359728" cy="184167"/>
            </a:xfrm>
            <a:custGeom>
              <a:avLst/>
              <a:gdLst/>
              <a:ahLst/>
              <a:cxnLst/>
              <a:rect r="r" b="b" t="t" l="l"/>
              <a:pathLst>
                <a:path h="184167" w="359728">
                  <a:moveTo>
                    <a:pt x="0" y="0"/>
                  </a:moveTo>
                  <a:lnTo>
                    <a:pt x="359728" y="0"/>
                  </a:lnTo>
                  <a:lnTo>
                    <a:pt x="359728" y="184167"/>
                  </a:lnTo>
                  <a:lnTo>
                    <a:pt x="0" y="184167"/>
                  </a:lnTo>
                  <a:close/>
                </a:path>
              </a:pathLst>
            </a:custGeom>
            <a:blipFill>
              <a:blip r:embed="rId5">
                <a:alphaModFix amt="0"/>
              </a:blip>
              <a:stretch>
                <a:fillRect l="-15685" t="0" r="-15684" b="2"/>
              </a:stretch>
            </a:blipFill>
          </p:spPr>
        </p:sp>
        <p:sp>
          <p:nvSpPr>
            <p:cNvPr name="TextBox 267" id="267"/>
            <p:cNvSpPr txBox="true"/>
            <p:nvPr/>
          </p:nvSpPr>
          <p:spPr>
            <a:xfrm>
              <a:off x="0" y="9525"/>
              <a:ext cx="359728" cy="174638"/>
            </a:xfrm>
            <a:prstGeom prst="rect">
              <a:avLst/>
            </a:prstGeom>
          </p:spPr>
          <p:txBody>
            <a:bodyPr anchor="ctr" rtlCol="false" tIns="0" lIns="0" bIns="0" rIns="0"/>
            <a:lstStyle/>
            <a:p>
              <a:pPr algn="l">
                <a:lnSpc>
                  <a:spcPts val="631"/>
                </a:lnSpc>
              </a:pPr>
              <a:r>
                <a:rPr lang="en-US" sz="687">
                  <a:solidFill>
                    <a:srgbClr val="ADA7A1"/>
                  </a:solidFill>
                  <a:latin typeface="TT Commons Pro"/>
                  <a:ea typeface="TT Commons Pro"/>
                  <a:cs typeface="TT Commons Pro"/>
                  <a:sym typeface="TT Commons Pro"/>
                </a:rPr>
                <a:t>Searth</a:t>
              </a:r>
            </a:p>
          </p:txBody>
        </p:sp>
      </p:grpSp>
      <p:grpSp>
        <p:nvGrpSpPr>
          <p:cNvPr name="Group 268" id="268"/>
          <p:cNvGrpSpPr/>
          <p:nvPr/>
        </p:nvGrpSpPr>
        <p:grpSpPr>
          <a:xfrm rot="0">
            <a:off x="3966772" y="6424136"/>
            <a:ext cx="211465" cy="595141"/>
            <a:chOff x="0" y="0"/>
            <a:chExt cx="281953" cy="793521"/>
          </a:xfrm>
        </p:grpSpPr>
        <p:sp>
          <p:nvSpPr>
            <p:cNvPr name="Freeform 269" id="269"/>
            <p:cNvSpPr/>
            <p:nvPr/>
          </p:nvSpPr>
          <p:spPr>
            <a:xfrm flipH="false" flipV="false" rot="0">
              <a:off x="0" y="0"/>
              <a:ext cx="281940" cy="793496"/>
            </a:xfrm>
            <a:custGeom>
              <a:avLst/>
              <a:gdLst/>
              <a:ahLst/>
              <a:cxnLst/>
              <a:rect r="r" b="b" t="t" l="l"/>
              <a:pathLst>
                <a:path h="793496" w="281940">
                  <a:moveTo>
                    <a:pt x="0" y="0"/>
                  </a:moveTo>
                  <a:lnTo>
                    <a:pt x="281940" y="0"/>
                  </a:lnTo>
                  <a:lnTo>
                    <a:pt x="281940" y="793496"/>
                  </a:lnTo>
                  <a:lnTo>
                    <a:pt x="0" y="793496"/>
                  </a:lnTo>
                  <a:close/>
                </a:path>
              </a:pathLst>
            </a:custGeom>
            <a:blipFill>
              <a:blip r:embed="rId4">
                <a:alphaModFix amt="0"/>
              </a:blip>
              <a:stretch>
                <a:fillRect l="-311360" t="0" r="-311364" b="-3"/>
              </a:stretch>
            </a:blipFill>
          </p:spPr>
        </p:sp>
      </p:grpSp>
      <p:grpSp>
        <p:nvGrpSpPr>
          <p:cNvPr name="Group 270" id="270"/>
          <p:cNvGrpSpPr/>
          <p:nvPr/>
        </p:nvGrpSpPr>
        <p:grpSpPr>
          <a:xfrm rot="0">
            <a:off x="3966772" y="6524149"/>
            <a:ext cx="211465" cy="495129"/>
            <a:chOff x="0" y="0"/>
            <a:chExt cx="281953" cy="660171"/>
          </a:xfrm>
        </p:grpSpPr>
        <p:sp>
          <p:nvSpPr>
            <p:cNvPr name="Freeform 271" id="271"/>
            <p:cNvSpPr/>
            <p:nvPr/>
          </p:nvSpPr>
          <p:spPr>
            <a:xfrm flipH="false" flipV="false" rot="0">
              <a:off x="0" y="0"/>
              <a:ext cx="281953" cy="660177"/>
            </a:xfrm>
            <a:custGeom>
              <a:avLst/>
              <a:gdLst/>
              <a:ahLst/>
              <a:cxnLst/>
              <a:rect r="r" b="b" t="t" l="l"/>
              <a:pathLst>
                <a:path h="660177" w="281953">
                  <a:moveTo>
                    <a:pt x="0" y="0"/>
                  </a:moveTo>
                  <a:lnTo>
                    <a:pt x="281953" y="0"/>
                  </a:lnTo>
                  <a:lnTo>
                    <a:pt x="281953" y="660177"/>
                  </a:lnTo>
                  <a:lnTo>
                    <a:pt x="0" y="660177"/>
                  </a:lnTo>
                  <a:close/>
                </a:path>
              </a:pathLst>
            </a:custGeom>
            <a:blipFill>
              <a:blip r:embed="rId5">
                <a:alphaModFix amt="0"/>
              </a:blip>
              <a:stretch>
                <a:fillRect l="-250412" t="0" r="-250412" b="0"/>
              </a:stretch>
            </a:blipFill>
          </p:spPr>
        </p:sp>
        <p:sp>
          <p:nvSpPr>
            <p:cNvPr name="TextBox 272" id="272"/>
            <p:cNvSpPr txBox="true"/>
            <p:nvPr/>
          </p:nvSpPr>
          <p:spPr>
            <a:xfrm>
              <a:off x="0" y="133350"/>
              <a:ext cx="281953" cy="526821"/>
            </a:xfrm>
            <a:prstGeom prst="rect">
              <a:avLst/>
            </a:prstGeom>
          </p:spPr>
          <p:txBody>
            <a:bodyPr anchor="ctr" rtlCol="false" tIns="0" lIns="0" bIns="0" rIns="0"/>
            <a:lstStyle/>
            <a:p>
              <a:pPr algn="l">
                <a:lnSpc>
                  <a:spcPts val="1830"/>
                </a:lnSpc>
              </a:pPr>
              <a:r>
                <a:rPr lang="en-US" sz="2765" b="true">
                  <a:solidFill>
                    <a:srgbClr val="F1D3A5"/>
                  </a:solidFill>
                  <a:latin typeface="TT Commons Pro Bold"/>
                  <a:ea typeface="TT Commons Pro Bold"/>
                  <a:cs typeface="TT Commons Pro Bold"/>
                  <a:sym typeface="TT Commons Pro Bold"/>
                </a:rPr>
                <a:t>&gt;</a:t>
              </a:r>
            </a:p>
          </p:txBody>
        </p:sp>
      </p:grpSp>
      <p:grpSp>
        <p:nvGrpSpPr>
          <p:cNvPr name="Group 273" id="273"/>
          <p:cNvGrpSpPr/>
          <p:nvPr/>
        </p:nvGrpSpPr>
        <p:grpSpPr>
          <a:xfrm rot="0">
            <a:off x="1101071" y="6584556"/>
            <a:ext cx="641680" cy="159268"/>
            <a:chOff x="0" y="0"/>
            <a:chExt cx="855574" cy="212357"/>
          </a:xfrm>
        </p:grpSpPr>
        <p:sp>
          <p:nvSpPr>
            <p:cNvPr name="Freeform 274" id="274"/>
            <p:cNvSpPr/>
            <p:nvPr/>
          </p:nvSpPr>
          <p:spPr>
            <a:xfrm flipH="false" flipV="false" rot="0">
              <a:off x="0" y="0"/>
              <a:ext cx="855599" cy="212344"/>
            </a:xfrm>
            <a:custGeom>
              <a:avLst/>
              <a:gdLst/>
              <a:ahLst/>
              <a:cxnLst/>
              <a:rect r="r" b="b" t="t" l="l"/>
              <a:pathLst>
                <a:path h="212344" w="855599">
                  <a:moveTo>
                    <a:pt x="0" y="0"/>
                  </a:moveTo>
                  <a:lnTo>
                    <a:pt x="855599" y="0"/>
                  </a:lnTo>
                  <a:lnTo>
                    <a:pt x="855599" y="212344"/>
                  </a:lnTo>
                  <a:lnTo>
                    <a:pt x="0" y="212344"/>
                  </a:lnTo>
                  <a:close/>
                </a:path>
              </a:pathLst>
            </a:custGeom>
            <a:blipFill>
              <a:blip r:embed="rId4">
                <a:alphaModFix amt="0"/>
              </a:blip>
              <a:stretch>
                <a:fillRect l="0" t="-28450" r="2" b="-28456"/>
              </a:stretch>
            </a:blipFill>
          </p:spPr>
        </p:sp>
      </p:grpSp>
      <p:grpSp>
        <p:nvGrpSpPr>
          <p:cNvPr name="Group 275" id="275"/>
          <p:cNvGrpSpPr/>
          <p:nvPr/>
        </p:nvGrpSpPr>
        <p:grpSpPr>
          <a:xfrm rot="0">
            <a:off x="1101071" y="6570269"/>
            <a:ext cx="641680" cy="173555"/>
            <a:chOff x="0" y="0"/>
            <a:chExt cx="855574" cy="231407"/>
          </a:xfrm>
        </p:grpSpPr>
        <p:sp>
          <p:nvSpPr>
            <p:cNvPr name="Freeform 276" id="276"/>
            <p:cNvSpPr/>
            <p:nvPr/>
          </p:nvSpPr>
          <p:spPr>
            <a:xfrm flipH="false" flipV="false" rot="0">
              <a:off x="0" y="0"/>
              <a:ext cx="855573" cy="231405"/>
            </a:xfrm>
            <a:custGeom>
              <a:avLst/>
              <a:gdLst/>
              <a:ahLst/>
              <a:cxnLst/>
              <a:rect r="r" b="b" t="t" l="l"/>
              <a:pathLst>
                <a:path h="231405" w="855573">
                  <a:moveTo>
                    <a:pt x="0" y="0"/>
                  </a:moveTo>
                  <a:lnTo>
                    <a:pt x="855573" y="0"/>
                  </a:lnTo>
                  <a:lnTo>
                    <a:pt x="855573" y="231405"/>
                  </a:lnTo>
                  <a:lnTo>
                    <a:pt x="0" y="231405"/>
                  </a:lnTo>
                  <a:close/>
                </a:path>
              </a:pathLst>
            </a:custGeom>
            <a:blipFill>
              <a:blip r:embed="rId5">
                <a:alphaModFix amt="0"/>
              </a:blip>
              <a:stretch>
                <a:fillRect l="0" t="-22041" r="0" b="-22042"/>
              </a:stretch>
            </a:blipFill>
          </p:spPr>
        </p:sp>
        <p:sp>
          <p:nvSpPr>
            <p:cNvPr name="TextBox 277" id="277"/>
            <p:cNvSpPr txBox="true"/>
            <p:nvPr/>
          </p:nvSpPr>
          <p:spPr>
            <a:xfrm>
              <a:off x="0" y="-19050"/>
              <a:ext cx="855574" cy="250457"/>
            </a:xfrm>
            <a:prstGeom prst="rect">
              <a:avLst/>
            </a:prstGeom>
          </p:spPr>
          <p:txBody>
            <a:bodyPr anchor="ctr" rtlCol="false" tIns="0" lIns="0" bIns="0" rIns="0"/>
            <a:lstStyle/>
            <a:p>
              <a:pPr algn="l">
                <a:lnSpc>
                  <a:spcPts val="1032"/>
                </a:lnSpc>
              </a:pPr>
              <a:r>
                <a:rPr lang="en-US" sz="769">
                  <a:solidFill>
                    <a:srgbClr val="665A55"/>
                  </a:solidFill>
                  <a:latin typeface="TT Commons Pro"/>
                  <a:ea typeface="TT Commons Pro"/>
                  <a:cs typeface="TT Commons Pro"/>
                  <a:sym typeface="TT Commons Pro"/>
                </a:rPr>
                <a:t>Biryani House</a:t>
              </a:r>
            </a:p>
          </p:txBody>
        </p:sp>
      </p:grpSp>
      <p:grpSp>
        <p:nvGrpSpPr>
          <p:cNvPr name="Group 278" id="278"/>
          <p:cNvGrpSpPr/>
          <p:nvPr/>
        </p:nvGrpSpPr>
        <p:grpSpPr>
          <a:xfrm rot="0">
            <a:off x="1188577" y="6424136"/>
            <a:ext cx="590645" cy="200835"/>
            <a:chOff x="0" y="0"/>
            <a:chExt cx="787527" cy="267780"/>
          </a:xfrm>
        </p:grpSpPr>
        <p:sp>
          <p:nvSpPr>
            <p:cNvPr name="Freeform 279" id="279"/>
            <p:cNvSpPr/>
            <p:nvPr/>
          </p:nvSpPr>
          <p:spPr>
            <a:xfrm flipH="false" flipV="false" rot="0">
              <a:off x="0" y="0"/>
              <a:ext cx="787527" cy="267716"/>
            </a:xfrm>
            <a:custGeom>
              <a:avLst/>
              <a:gdLst/>
              <a:ahLst/>
              <a:cxnLst/>
              <a:rect r="r" b="b" t="t" l="l"/>
              <a:pathLst>
                <a:path h="267716" w="787527">
                  <a:moveTo>
                    <a:pt x="0" y="0"/>
                  </a:moveTo>
                  <a:lnTo>
                    <a:pt x="787527" y="0"/>
                  </a:lnTo>
                  <a:lnTo>
                    <a:pt x="787527" y="267716"/>
                  </a:lnTo>
                  <a:lnTo>
                    <a:pt x="0" y="267716"/>
                  </a:lnTo>
                  <a:close/>
                </a:path>
              </a:pathLst>
            </a:custGeom>
            <a:blipFill>
              <a:blip r:embed="rId4">
                <a:alphaModFix amt="0"/>
              </a:blip>
              <a:stretch>
                <a:fillRect l="0" t="-7267" r="0" b="-7286"/>
              </a:stretch>
            </a:blipFill>
          </p:spPr>
        </p:sp>
      </p:grpSp>
      <p:grpSp>
        <p:nvGrpSpPr>
          <p:cNvPr name="Group 280" id="280"/>
          <p:cNvGrpSpPr/>
          <p:nvPr/>
        </p:nvGrpSpPr>
        <p:grpSpPr>
          <a:xfrm rot="0">
            <a:off x="1188577" y="6445568"/>
            <a:ext cx="590645" cy="179394"/>
            <a:chOff x="0" y="0"/>
            <a:chExt cx="787527" cy="239192"/>
          </a:xfrm>
        </p:grpSpPr>
        <p:sp>
          <p:nvSpPr>
            <p:cNvPr name="Freeform 281" id="281"/>
            <p:cNvSpPr/>
            <p:nvPr/>
          </p:nvSpPr>
          <p:spPr>
            <a:xfrm flipH="false" flipV="false" rot="0">
              <a:off x="0" y="0"/>
              <a:ext cx="787527" cy="239196"/>
            </a:xfrm>
            <a:custGeom>
              <a:avLst/>
              <a:gdLst/>
              <a:ahLst/>
              <a:cxnLst/>
              <a:rect r="r" b="b" t="t" l="l"/>
              <a:pathLst>
                <a:path h="239196" w="787527">
                  <a:moveTo>
                    <a:pt x="0" y="0"/>
                  </a:moveTo>
                  <a:lnTo>
                    <a:pt x="787527" y="0"/>
                  </a:lnTo>
                  <a:lnTo>
                    <a:pt x="787527" y="239196"/>
                  </a:lnTo>
                  <a:lnTo>
                    <a:pt x="0" y="239196"/>
                  </a:lnTo>
                  <a:close/>
                </a:path>
              </a:pathLst>
            </a:custGeom>
            <a:blipFill>
              <a:blip r:embed="rId5">
                <a:alphaModFix amt="0"/>
              </a:blip>
              <a:stretch>
                <a:fillRect l="0" t="-14153" r="0" b="-14151"/>
              </a:stretch>
            </a:blipFill>
          </p:spPr>
        </p:sp>
        <p:sp>
          <p:nvSpPr>
            <p:cNvPr name="TextBox 282" id="282"/>
            <p:cNvSpPr txBox="true"/>
            <p:nvPr/>
          </p:nvSpPr>
          <p:spPr>
            <a:xfrm>
              <a:off x="0" y="28575"/>
              <a:ext cx="787527" cy="210617"/>
            </a:xfrm>
            <a:prstGeom prst="rect">
              <a:avLst/>
            </a:prstGeom>
          </p:spPr>
          <p:txBody>
            <a:bodyPr anchor="ctr" rtlCol="false" tIns="0" lIns="0" bIns="0" rIns="0"/>
            <a:lstStyle/>
            <a:p>
              <a:pPr algn="l">
                <a:lnSpc>
                  <a:spcPts val="802"/>
                </a:lnSpc>
              </a:pPr>
              <a:r>
                <a:rPr lang="en-US" sz="958">
                  <a:solidFill>
                    <a:srgbClr val="726B67"/>
                  </a:solidFill>
                  <a:latin typeface="TT Commons Pro"/>
                  <a:ea typeface="TT Commons Pro"/>
                  <a:cs typeface="TT Commons Pro"/>
                  <a:sym typeface="TT Commons Pro"/>
                </a:rPr>
                <a:t>43•30mm</a:t>
              </a:r>
            </a:p>
          </p:txBody>
        </p:sp>
      </p:grpSp>
      <p:grpSp>
        <p:nvGrpSpPr>
          <p:cNvPr name="Group 283" id="283"/>
          <p:cNvGrpSpPr/>
          <p:nvPr/>
        </p:nvGrpSpPr>
        <p:grpSpPr>
          <a:xfrm rot="0">
            <a:off x="940651" y="5665784"/>
            <a:ext cx="969816" cy="188395"/>
            <a:chOff x="0" y="0"/>
            <a:chExt cx="1293089" cy="251193"/>
          </a:xfrm>
        </p:grpSpPr>
        <p:sp>
          <p:nvSpPr>
            <p:cNvPr name="Freeform 284" id="284"/>
            <p:cNvSpPr/>
            <p:nvPr/>
          </p:nvSpPr>
          <p:spPr>
            <a:xfrm flipH="false" flipV="false" rot="0">
              <a:off x="0" y="0"/>
              <a:ext cx="1293114" cy="251206"/>
            </a:xfrm>
            <a:custGeom>
              <a:avLst/>
              <a:gdLst/>
              <a:ahLst/>
              <a:cxnLst/>
              <a:rect r="r" b="b" t="t" l="l"/>
              <a:pathLst>
                <a:path h="251206" w="1293114">
                  <a:moveTo>
                    <a:pt x="0" y="0"/>
                  </a:moveTo>
                  <a:lnTo>
                    <a:pt x="1293114" y="0"/>
                  </a:lnTo>
                  <a:lnTo>
                    <a:pt x="1293114" y="251206"/>
                  </a:lnTo>
                  <a:lnTo>
                    <a:pt x="0" y="251206"/>
                  </a:lnTo>
                  <a:close/>
                </a:path>
              </a:pathLst>
            </a:custGeom>
            <a:blipFill>
              <a:blip r:embed="rId4">
                <a:alphaModFix amt="0"/>
              </a:blip>
              <a:stretch>
                <a:fillRect l="0" t="-50232" r="1" b="-50227"/>
              </a:stretch>
            </a:blipFill>
          </p:spPr>
        </p:sp>
      </p:grpSp>
      <p:grpSp>
        <p:nvGrpSpPr>
          <p:cNvPr name="Group 285" id="285"/>
          <p:cNvGrpSpPr/>
          <p:nvPr/>
        </p:nvGrpSpPr>
        <p:grpSpPr>
          <a:xfrm rot="0">
            <a:off x="940651" y="5665784"/>
            <a:ext cx="969816" cy="188404"/>
            <a:chOff x="0" y="0"/>
            <a:chExt cx="1293089" cy="251206"/>
          </a:xfrm>
        </p:grpSpPr>
        <p:sp>
          <p:nvSpPr>
            <p:cNvPr name="Freeform 286" id="286"/>
            <p:cNvSpPr/>
            <p:nvPr/>
          </p:nvSpPr>
          <p:spPr>
            <a:xfrm flipH="false" flipV="false" rot="0">
              <a:off x="0" y="0"/>
              <a:ext cx="1293088" cy="251205"/>
            </a:xfrm>
            <a:custGeom>
              <a:avLst/>
              <a:gdLst/>
              <a:ahLst/>
              <a:cxnLst/>
              <a:rect r="r" b="b" t="t" l="l"/>
              <a:pathLst>
                <a:path h="251205" w="1293088">
                  <a:moveTo>
                    <a:pt x="0" y="0"/>
                  </a:moveTo>
                  <a:lnTo>
                    <a:pt x="1293088" y="0"/>
                  </a:lnTo>
                  <a:lnTo>
                    <a:pt x="1293088" y="251205"/>
                  </a:lnTo>
                  <a:lnTo>
                    <a:pt x="0" y="251205"/>
                  </a:lnTo>
                  <a:close/>
                </a:path>
              </a:pathLst>
            </a:custGeom>
            <a:blipFill>
              <a:blip r:embed="rId5">
                <a:alphaModFix amt="0"/>
              </a:blip>
              <a:stretch>
                <a:fillRect l="0" t="-50299" r="0" b="-50300"/>
              </a:stretch>
            </a:blipFill>
          </p:spPr>
        </p:sp>
        <p:sp>
          <p:nvSpPr>
            <p:cNvPr name="TextBox 287" id="287"/>
            <p:cNvSpPr txBox="true"/>
            <p:nvPr/>
          </p:nvSpPr>
          <p:spPr>
            <a:xfrm>
              <a:off x="0" y="0"/>
              <a:ext cx="1293089" cy="251206"/>
            </a:xfrm>
            <a:prstGeom prst="rect">
              <a:avLst/>
            </a:prstGeom>
          </p:spPr>
          <p:txBody>
            <a:bodyPr anchor="ctr" rtlCol="false" tIns="0" lIns="0" bIns="0" rIns="0"/>
            <a:lstStyle/>
            <a:p>
              <a:pPr algn="l">
                <a:lnSpc>
                  <a:spcPts val="1080"/>
                </a:lnSpc>
              </a:pPr>
              <a:r>
                <a:rPr lang="en-US" sz="887" b="true">
                  <a:solidFill>
                    <a:srgbClr val="7C7975"/>
                  </a:solidFill>
                  <a:latin typeface="TT Commons Pro Bold"/>
                  <a:ea typeface="TT Commons Pro Bold"/>
                  <a:cs typeface="TT Commons Pro Bold"/>
                  <a:sym typeface="TT Commons Pro Bold"/>
                </a:rPr>
                <a:t>Top Picks for You</a:t>
              </a:r>
            </a:p>
          </p:txBody>
        </p:sp>
      </p:grpSp>
      <p:grpSp>
        <p:nvGrpSpPr>
          <p:cNvPr name="Group 288" id="288"/>
          <p:cNvGrpSpPr/>
          <p:nvPr/>
        </p:nvGrpSpPr>
        <p:grpSpPr>
          <a:xfrm rot="0">
            <a:off x="16370237" y="5448367"/>
            <a:ext cx="517722" cy="167697"/>
            <a:chOff x="0" y="0"/>
            <a:chExt cx="690296" cy="223596"/>
          </a:xfrm>
        </p:grpSpPr>
        <p:sp>
          <p:nvSpPr>
            <p:cNvPr name="Freeform 289" id="289"/>
            <p:cNvSpPr/>
            <p:nvPr/>
          </p:nvSpPr>
          <p:spPr>
            <a:xfrm flipH="false" flipV="false" rot="0">
              <a:off x="0" y="0"/>
              <a:ext cx="690245" cy="223647"/>
            </a:xfrm>
            <a:custGeom>
              <a:avLst/>
              <a:gdLst/>
              <a:ahLst/>
              <a:cxnLst/>
              <a:rect r="r" b="b" t="t" l="l"/>
              <a:pathLst>
                <a:path h="223647" w="690245">
                  <a:moveTo>
                    <a:pt x="0" y="0"/>
                  </a:moveTo>
                  <a:lnTo>
                    <a:pt x="690245" y="0"/>
                  </a:lnTo>
                  <a:lnTo>
                    <a:pt x="690245" y="223647"/>
                  </a:lnTo>
                  <a:lnTo>
                    <a:pt x="0" y="223647"/>
                  </a:lnTo>
                  <a:close/>
                </a:path>
              </a:pathLst>
            </a:custGeom>
            <a:blipFill>
              <a:blip r:embed="rId4">
                <a:alphaModFix amt="0"/>
              </a:blip>
              <a:stretch>
                <a:fillRect l="0" t="-10107" r="-7" b="-10090"/>
              </a:stretch>
            </a:blipFill>
          </p:spPr>
        </p:sp>
      </p:grpSp>
      <p:grpSp>
        <p:nvGrpSpPr>
          <p:cNvPr name="Group 290" id="290"/>
          <p:cNvGrpSpPr/>
          <p:nvPr/>
        </p:nvGrpSpPr>
        <p:grpSpPr>
          <a:xfrm rot="0">
            <a:off x="16370237" y="5455510"/>
            <a:ext cx="517722" cy="160553"/>
            <a:chOff x="0" y="0"/>
            <a:chExt cx="690296" cy="214071"/>
          </a:xfrm>
        </p:grpSpPr>
        <p:sp>
          <p:nvSpPr>
            <p:cNvPr name="Freeform 291" id="291"/>
            <p:cNvSpPr/>
            <p:nvPr/>
          </p:nvSpPr>
          <p:spPr>
            <a:xfrm flipH="false" flipV="false" rot="0">
              <a:off x="0" y="0"/>
              <a:ext cx="690296" cy="214071"/>
            </a:xfrm>
            <a:custGeom>
              <a:avLst/>
              <a:gdLst/>
              <a:ahLst/>
              <a:cxnLst/>
              <a:rect r="r" b="b" t="t" l="l"/>
              <a:pathLst>
                <a:path h="214071" w="690296">
                  <a:moveTo>
                    <a:pt x="0" y="0"/>
                  </a:moveTo>
                  <a:lnTo>
                    <a:pt x="690296" y="0"/>
                  </a:lnTo>
                  <a:lnTo>
                    <a:pt x="690296" y="214071"/>
                  </a:lnTo>
                  <a:lnTo>
                    <a:pt x="0" y="214071"/>
                  </a:lnTo>
                  <a:close/>
                </a:path>
              </a:pathLst>
            </a:custGeom>
            <a:blipFill>
              <a:blip r:embed="rId5">
                <a:alphaModFix amt="0"/>
              </a:blip>
              <a:stretch>
                <a:fillRect l="0" t="-12831" r="0" b="-12831"/>
              </a:stretch>
            </a:blipFill>
          </p:spPr>
        </p:sp>
        <p:sp>
          <p:nvSpPr>
            <p:cNvPr name="TextBox 292" id="292"/>
            <p:cNvSpPr txBox="true"/>
            <p:nvPr/>
          </p:nvSpPr>
          <p:spPr>
            <a:xfrm>
              <a:off x="0" y="9525"/>
              <a:ext cx="690296" cy="204546"/>
            </a:xfrm>
            <a:prstGeom prst="rect">
              <a:avLst/>
            </a:prstGeom>
          </p:spPr>
          <p:txBody>
            <a:bodyPr anchor="ctr" rtlCol="false" tIns="0" lIns="0" bIns="0" rIns="0"/>
            <a:lstStyle/>
            <a:p>
              <a:pPr algn="l">
                <a:lnSpc>
                  <a:spcPts val="794"/>
                </a:lnSpc>
              </a:pPr>
              <a:r>
                <a:rPr lang="en-US" sz="800">
                  <a:solidFill>
                    <a:srgbClr val="8C8887"/>
                  </a:solidFill>
                  <a:latin typeface="TT Commons Pro"/>
                  <a:ea typeface="TT Commons Pro"/>
                  <a:cs typeface="TT Commons Pro"/>
                  <a:sym typeface="TT Commons Pro"/>
                </a:rPr>
                <a:t>Hot-meal</a:t>
              </a:r>
            </a:p>
          </p:txBody>
        </p:sp>
      </p:grpSp>
      <p:grpSp>
        <p:nvGrpSpPr>
          <p:cNvPr name="Group 293" id="293"/>
          <p:cNvGrpSpPr/>
          <p:nvPr/>
        </p:nvGrpSpPr>
        <p:grpSpPr>
          <a:xfrm rot="0">
            <a:off x="15772305" y="5433784"/>
            <a:ext cx="459391" cy="169878"/>
            <a:chOff x="0" y="0"/>
            <a:chExt cx="612521" cy="226504"/>
          </a:xfrm>
        </p:grpSpPr>
        <p:sp>
          <p:nvSpPr>
            <p:cNvPr name="Freeform 294" id="294"/>
            <p:cNvSpPr/>
            <p:nvPr/>
          </p:nvSpPr>
          <p:spPr>
            <a:xfrm flipH="false" flipV="false" rot="0">
              <a:off x="0" y="0"/>
              <a:ext cx="612521" cy="226568"/>
            </a:xfrm>
            <a:custGeom>
              <a:avLst/>
              <a:gdLst/>
              <a:ahLst/>
              <a:cxnLst/>
              <a:rect r="r" b="b" t="t" l="l"/>
              <a:pathLst>
                <a:path h="226568" w="612521">
                  <a:moveTo>
                    <a:pt x="0" y="0"/>
                  </a:moveTo>
                  <a:lnTo>
                    <a:pt x="612521" y="0"/>
                  </a:lnTo>
                  <a:lnTo>
                    <a:pt x="612521" y="226568"/>
                  </a:lnTo>
                  <a:lnTo>
                    <a:pt x="0" y="226568"/>
                  </a:lnTo>
                  <a:close/>
                </a:path>
              </a:pathLst>
            </a:custGeom>
            <a:blipFill>
              <a:blip r:embed="rId4">
                <a:alphaModFix amt="0"/>
              </a:blip>
              <a:stretch>
                <a:fillRect l="0" t="-2651" r="0" b="-2628"/>
              </a:stretch>
            </a:blipFill>
          </p:spPr>
        </p:sp>
      </p:grpSp>
      <p:grpSp>
        <p:nvGrpSpPr>
          <p:cNvPr name="Group 295" id="295"/>
          <p:cNvGrpSpPr/>
          <p:nvPr/>
        </p:nvGrpSpPr>
        <p:grpSpPr>
          <a:xfrm rot="0">
            <a:off x="15772305" y="5433784"/>
            <a:ext cx="459391" cy="169878"/>
            <a:chOff x="0" y="0"/>
            <a:chExt cx="612521" cy="226504"/>
          </a:xfrm>
        </p:grpSpPr>
        <p:sp>
          <p:nvSpPr>
            <p:cNvPr name="Freeform 296" id="296"/>
            <p:cNvSpPr/>
            <p:nvPr/>
          </p:nvSpPr>
          <p:spPr>
            <a:xfrm flipH="false" flipV="false" rot="0">
              <a:off x="0" y="0"/>
              <a:ext cx="612515" cy="226508"/>
            </a:xfrm>
            <a:custGeom>
              <a:avLst/>
              <a:gdLst/>
              <a:ahLst/>
              <a:cxnLst/>
              <a:rect r="r" b="b" t="t" l="l"/>
              <a:pathLst>
                <a:path h="226508" w="612515">
                  <a:moveTo>
                    <a:pt x="0" y="0"/>
                  </a:moveTo>
                  <a:lnTo>
                    <a:pt x="612515" y="0"/>
                  </a:lnTo>
                  <a:lnTo>
                    <a:pt x="612515" y="226508"/>
                  </a:lnTo>
                  <a:lnTo>
                    <a:pt x="0" y="226508"/>
                  </a:lnTo>
                  <a:close/>
                </a:path>
              </a:pathLst>
            </a:custGeom>
            <a:blipFill>
              <a:blip r:embed="rId5">
                <a:alphaModFix amt="0"/>
              </a:blip>
              <a:stretch>
                <a:fillRect l="0" t="-2692" r="-1" b="-2690"/>
              </a:stretch>
            </a:blipFill>
          </p:spPr>
        </p:sp>
        <p:sp>
          <p:nvSpPr>
            <p:cNvPr name="TextBox 297" id="297"/>
            <p:cNvSpPr txBox="true"/>
            <p:nvPr/>
          </p:nvSpPr>
          <p:spPr>
            <a:xfrm>
              <a:off x="0" y="0"/>
              <a:ext cx="612521" cy="226504"/>
            </a:xfrm>
            <a:prstGeom prst="rect">
              <a:avLst/>
            </a:prstGeom>
          </p:spPr>
          <p:txBody>
            <a:bodyPr anchor="ctr" rtlCol="false" tIns="0" lIns="0" bIns="0" rIns="0"/>
            <a:lstStyle/>
            <a:p>
              <a:pPr algn="l">
                <a:lnSpc>
                  <a:spcPts val="852"/>
                </a:lnSpc>
              </a:pPr>
              <a:r>
                <a:rPr lang="en-US" sz="800">
                  <a:solidFill>
                    <a:srgbClr val="827F7E"/>
                  </a:solidFill>
                  <a:latin typeface="TT Commons Pro"/>
                  <a:ea typeface="TT Commons Pro"/>
                  <a:cs typeface="TT Commons Pro"/>
                  <a:sym typeface="TT Commons Pro"/>
                </a:rPr>
                <a:t>Drining</a:t>
              </a:r>
            </a:p>
          </p:txBody>
        </p:sp>
      </p:grpSp>
      <p:grpSp>
        <p:nvGrpSpPr>
          <p:cNvPr name="Group 298" id="298"/>
          <p:cNvGrpSpPr/>
          <p:nvPr/>
        </p:nvGrpSpPr>
        <p:grpSpPr>
          <a:xfrm rot="0">
            <a:off x="15174373" y="5414439"/>
            <a:ext cx="313553" cy="163992"/>
            <a:chOff x="0" y="0"/>
            <a:chExt cx="418071" cy="218656"/>
          </a:xfrm>
        </p:grpSpPr>
        <p:sp>
          <p:nvSpPr>
            <p:cNvPr name="Freeform 299" id="299"/>
            <p:cNvSpPr/>
            <p:nvPr/>
          </p:nvSpPr>
          <p:spPr>
            <a:xfrm flipH="false" flipV="false" rot="0">
              <a:off x="0" y="0"/>
              <a:ext cx="418084" cy="218694"/>
            </a:xfrm>
            <a:custGeom>
              <a:avLst/>
              <a:gdLst/>
              <a:ahLst/>
              <a:cxnLst/>
              <a:rect r="r" b="b" t="t" l="l"/>
              <a:pathLst>
                <a:path h="218694" w="418084">
                  <a:moveTo>
                    <a:pt x="0" y="0"/>
                  </a:moveTo>
                  <a:lnTo>
                    <a:pt x="418084" y="0"/>
                  </a:lnTo>
                  <a:lnTo>
                    <a:pt x="418084" y="218694"/>
                  </a:lnTo>
                  <a:lnTo>
                    <a:pt x="0" y="218694"/>
                  </a:lnTo>
                  <a:close/>
                </a:path>
              </a:pathLst>
            </a:custGeom>
            <a:blipFill>
              <a:blip r:embed="rId4">
                <a:alphaModFix amt="0"/>
              </a:blip>
              <a:stretch>
                <a:fillRect l="-17153" t="0" r="-17147" b="17"/>
              </a:stretch>
            </a:blipFill>
          </p:spPr>
        </p:sp>
      </p:grpSp>
      <p:grpSp>
        <p:nvGrpSpPr>
          <p:cNvPr name="Group 300" id="300"/>
          <p:cNvGrpSpPr/>
          <p:nvPr/>
        </p:nvGrpSpPr>
        <p:grpSpPr>
          <a:xfrm rot="0">
            <a:off x="15174373" y="5414439"/>
            <a:ext cx="313553" cy="163992"/>
            <a:chOff x="0" y="0"/>
            <a:chExt cx="418071" cy="218656"/>
          </a:xfrm>
        </p:grpSpPr>
        <p:sp>
          <p:nvSpPr>
            <p:cNvPr name="Freeform 301" id="301"/>
            <p:cNvSpPr/>
            <p:nvPr/>
          </p:nvSpPr>
          <p:spPr>
            <a:xfrm flipH="false" flipV="false" rot="0">
              <a:off x="0" y="0"/>
              <a:ext cx="418071" cy="218656"/>
            </a:xfrm>
            <a:custGeom>
              <a:avLst/>
              <a:gdLst/>
              <a:ahLst/>
              <a:cxnLst/>
              <a:rect r="r" b="b" t="t" l="l"/>
              <a:pathLst>
                <a:path h="218656" w="418071">
                  <a:moveTo>
                    <a:pt x="0" y="0"/>
                  </a:moveTo>
                  <a:lnTo>
                    <a:pt x="418071" y="0"/>
                  </a:lnTo>
                  <a:lnTo>
                    <a:pt x="418071" y="218656"/>
                  </a:lnTo>
                  <a:lnTo>
                    <a:pt x="0" y="218656"/>
                  </a:lnTo>
                  <a:close/>
                </a:path>
              </a:pathLst>
            </a:custGeom>
            <a:blipFill>
              <a:blip r:embed="rId5">
                <a:alphaModFix amt="0"/>
              </a:blip>
              <a:stretch>
                <a:fillRect l="-17104" t="0" r="-17104" b="0"/>
              </a:stretch>
            </a:blipFill>
          </p:spPr>
        </p:sp>
        <p:sp>
          <p:nvSpPr>
            <p:cNvPr name="TextBox 302" id="302"/>
            <p:cNvSpPr txBox="true"/>
            <p:nvPr/>
          </p:nvSpPr>
          <p:spPr>
            <a:xfrm>
              <a:off x="0" y="0"/>
              <a:ext cx="418071" cy="218656"/>
            </a:xfrm>
            <a:prstGeom prst="rect">
              <a:avLst/>
            </a:prstGeom>
          </p:spPr>
          <p:txBody>
            <a:bodyPr anchor="ctr" rtlCol="false" tIns="0" lIns="0" bIns="0" rIns="0"/>
            <a:lstStyle/>
            <a:p>
              <a:pPr algn="l">
                <a:lnSpc>
                  <a:spcPts val="823"/>
                </a:lnSpc>
              </a:pPr>
              <a:r>
                <a:rPr lang="en-US" sz="800">
                  <a:solidFill>
                    <a:srgbClr val="918A89"/>
                  </a:solidFill>
                  <a:latin typeface="TT Commons Pro"/>
                  <a:ea typeface="TT Commons Pro"/>
                  <a:cs typeface="TT Commons Pro"/>
                  <a:sym typeface="TT Commons Pro"/>
                </a:rPr>
                <a:t>Food</a:t>
              </a:r>
            </a:p>
          </p:txBody>
        </p:sp>
      </p:grpSp>
      <p:grpSp>
        <p:nvGrpSpPr>
          <p:cNvPr name="Group 303" id="303"/>
          <p:cNvGrpSpPr/>
          <p:nvPr/>
        </p:nvGrpSpPr>
        <p:grpSpPr>
          <a:xfrm rot="0">
            <a:off x="15181669" y="3533575"/>
            <a:ext cx="532305" cy="211465"/>
            <a:chOff x="0" y="0"/>
            <a:chExt cx="709740" cy="281953"/>
          </a:xfrm>
        </p:grpSpPr>
        <p:sp>
          <p:nvSpPr>
            <p:cNvPr name="Freeform 304" id="304"/>
            <p:cNvSpPr/>
            <p:nvPr/>
          </p:nvSpPr>
          <p:spPr>
            <a:xfrm flipH="false" flipV="false" rot="0">
              <a:off x="0" y="0"/>
              <a:ext cx="709676" cy="281940"/>
            </a:xfrm>
            <a:custGeom>
              <a:avLst/>
              <a:gdLst/>
              <a:ahLst/>
              <a:cxnLst/>
              <a:rect r="r" b="b" t="t" l="l"/>
              <a:pathLst>
                <a:path h="281940" w="709676">
                  <a:moveTo>
                    <a:pt x="0" y="0"/>
                  </a:moveTo>
                  <a:lnTo>
                    <a:pt x="709676" y="0"/>
                  </a:lnTo>
                  <a:lnTo>
                    <a:pt x="709676" y="281940"/>
                  </a:lnTo>
                  <a:lnTo>
                    <a:pt x="0" y="281940"/>
                  </a:lnTo>
                  <a:close/>
                </a:path>
              </a:pathLst>
            </a:custGeom>
            <a:blipFill>
              <a:blip r:embed="rId4">
                <a:alphaModFix amt="0"/>
              </a:blip>
              <a:stretch>
                <a:fillRect l="-1005" t="0" r="-1012" b="-4"/>
              </a:stretch>
            </a:blipFill>
          </p:spPr>
        </p:sp>
      </p:grpSp>
      <p:grpSp>
        <p:nvGrpSpPr>
          <p:cNvPr name="Group 305" id="305"/>
          <p:cNvGrpSpPr/>
          <p:nvPr/>
        </p:nvGrpSpPr>
        <p:grpSpPr>
          <a:xfrm rot="0">
            <a:off x="15181669" y="3562150"/>
            <a:ext cx="532305" cy="182880"/>
            <a:chOff x="0" y="0"/>
            <a:chExt cx="709740" cy="243840"/>
          </a:xfrm>
        </p:grpSpPr>
        <p:sp>
          <p:nvSpPr>
            <p:cNvPr name="Freeform 306" id="306"/>
            <p:cNvSpPr/>
            <p:nvPr/>
          </p:nvSpPr>
          <p:spPr>
            <a:xfrm flipH="false" flipV="false" rot="0">
              <a:off x="0" y="0"/>
              <a:ext cx="709740" cy="243843"/>
            </a:xfrm>
            <a:custGeom>
              <a:avLst/>
              <a:gdLst/>
              <a:ahLst/>
              <a:cxnLst/>
              <a:rect r="r" b="b" t="t" l="l"/>
              <a:pathLst>
                <a:path h="243843" w="709740">
                  <a:moveTo>
                    <a:pt x="0" y="0"/>
                  </a:moveTo>
                  <a:lnTo>
                    <a:pt x="709740" y="0"/>
                  </a:lnTo>
                  <a:lnTo>
                    <a:pt x="709740" y="243843"/>
                  </a:lnTo>
                  <a:lnTo>
                    <a:pt x="0" y="243843"/>
                  </a:lnTo>
                  <a:close/>
                </a:path>
              </a:pathLst>
            </a:custGeom>
            <a:blipFill>
              <a:blip r:embed="rId5">
                <a:alphaModFix amt="0"/>
              </a:blip>
              <a:stretch>
                <a:fillRect l="0" t="-6714" r="0" b="-6713"/>
              </a:stretch>
            </a:blipFill>
          </p:spPr>
        </p:sp>
        <p:sp>
          <p:nvSpPr>
            <p:cNvPr name="TextBox 307" id="307"/>
            <p:cNvSpPr txBox="true"/>
            <p:nvPr/>
          </p:nvSpPr>
          <p:spPr>
            <a:xfrm>
              <a:off x="0" y="38100"/>
              <a:ext cx="709740" cy="205740"/>
            </a:xfrm>
            <a:prstGeom prst="rect">
              <a:avLst/>
            </a:prstGeom>
          </p:spPr>
          <p:txBody>
            <a:bodyPr anchor="ctr" rtlCol="false" tIns="0" lIns="0" bIns="0" rIns="0"/>
            <a:lstStyle/>
            <a:p>
              <a:pPr algn="l">
                <a:lnSpc>
                  <a:spcPts val="872"/>
                </a:lnSpc>
              </a:pPr>
              <a:r>
                <a:rPr lang="en-US" sz="1003" b="true">
                  <a:solidFill>
                    <a:srgbClr val="C9757D"/>
                  </a:solidFill>
                  <a:latin typeface="TT Commons Pro Bold"/>
                  <a:ea typeface="TT Commons Pro Bold"/>
                  <a:cs typeface="TT Commons Pro Bold"/>
                  <a:sym typeface="TT Commons Pro Bold"/>
                </a:rPr>
                <a:t>Work</a:t>
              </a:r>
            </a:p>
          </p:txBody>
        </p:sp>
      </p:grpSp>
      <p:grpSp>
        <p:nvGrpSpPr>
          <p:cNvPr name="Group 308" id="308"/>
          <p:cNvGrpSpPr/>
          <p:nvPr/>
        </p:nvGrpSpPr>
        <p:grpSpPr>
          <a:xfrm rot="0">
            <a:off x="15181669" y="3398006"/>
            <a:ext cx="488556" cy="188052"/>
            <a:chOff x="0" y="0"/>
            <a:chExt cx="651408" cy="250736"/>
          </a:xfrm>
        </p:grpSpPr>
        <p:sp>
          <p:nvSpPr>
            <p:cNvPr name="Freeform 309" id="309"/>
            <p:cNvSpPr/>
            <p:nvPr/>
          </p:nvSpPr>
          <p:spPr>
            <a:xfrm flipH="false" flipV="false" rot="0">
              <a:off x="0" y="0"/>
              <a:ext cx="651383" cy="250698"/>
            </a:xfrm>
            <a:custGeom>
              <a:avLst/>
              <a:gdLst/>
              <a:ahLst/>
              <a:cxnLst/>
              <a:rect r="r" b="b" t="t" l="l"/>
              <a:pathLst>
                <a:path h="250698" w="651383">
                  <a:moveTo>
                    <a:pt x="0" y="0"/>
                  </a:moveTo>
                  <a:lnTo>
                    <a:pt x="651383" y="0"/>
                  </a:lnTo>
                  <a:lnTo>
                    <a:pt x="651383" y="250698"/>
                  </a:lnTo>
                  <a:lnTo>
                    <a:pt x="0" y="250698"/>
                  </a:lnTo>
                  <a:close/>
                </a:path>
              </a:pathLst>
            </a:custGeom>
            <a:blipFill>
              <a:blip r:embed="rId4">
                <a:alphaModFix amt="0"/>
              </a:blip>
              <a:stretch>
                <a:fillRect l="0" t="-587" r="-3" b="-602"/>
              </a:stretch>
            </a:blipFill>
          </p:spPr>
        </p:sp>
      </p:grpSp>
      <p:grpSp>
        <p:nvGrpSpPr>
          <p:cNvPr name="Group 310" id="310"/>
          <p:cNvGrpSpPr/>
          <p:nvPr/>
        </p:nvGrpSpPr>
        <p:grpSpPr>
          <a:xfrm rot="0">
            <a:off x="15181669" y="3405149"/>
            <a:ext cx="488556" cy="180899"/>
            <a:chOff x="0" y="0"/>
            <a:chExt cx="651408" cy="241198"/>
          </a:xfrm>
        </p:grpSpPr>
        <p:sp>
          <p:nvSpPr>
            <p:cNvPr name="Freeform 311" id="311"/>
            <p:cNvSpPr/>
            <p:nvPr/>
          </p:nvSpPr>
          <p:spPr>
            <a:xfrm flipH="false" flipV="false" rot="0">
              <a:off x="0" y="0"/>
              <a:ext cx="651408" cy="241200"/>
            </a:xfrm>
            <a:custGeom>
              <a:avLst/>
              <a:gdLst/>
              <a:ahLst/>
              <a:cxnLst/>
              <a:rect r="r" b="b" t="t" l="l"/>
              <a:pathLst>
                <a:path h="241200" w="651408">
                  <a:moveTo>
                    <a:pt x="0" y="0"/>
                  </a:moveTo>
                  <a:lnTo>
                    <a:pt x="651408" y="0"/>
                  </a:lnTo>
                  <a:lnTo>
                    <a:pt x="651408" y="241200"/>
                  </a:lnTo>
                  <a:lnTo>
                    <a:pt x="0" y="241200"/>
                  </a:lnTo>
                  <a:close/>
                </a:path>
              </a:pathLst>
            </a:custGeom>
            <a:blipFill>
              <a:blip r:embed="rId5">
                <a:alphaModFix amt="0"/>
              </a:blip>
              <a:stretch>
                <a:fillRect l="0" t="-2623" r="0" b="-2622"/>
              </a:stretch>
            </a:blipFill>
          </p:spPr>
        </p:sp>
        <p:sp>
          <p:nvSpPr>
            <p:cNvPr name="TextBox 312" id="312"/>
            <p:cNvSpPr txBox="true"/>
            <p:nvPr/>
          </p:nvSpPr>
          <p:spPr>
            <a:xfrm>
              <a:off x="0" y="9525"/>
              <a:ext cx="651408" cy="231673"/>
            </a:xfrm>
            <a:prstGeom prst="rect">
              <a:avLst/>
            </a:prstGeom>
          </p:spPr>
          <p:txBody>
            <a:bodyPr anchor="ctr" rtlCol="false" tIns="0" lIns="0" bIns="0" rIns="0"/>
            <a:lstStyle/>
            <a:p>
              <a:pPr algn="l">
                <a:lnSpc>
                  <a:spcPts val="918"/>
                </a:lnSpc>
              </a:pPr>
              <a:r>
                <a:rPr lang="en-US" sz="877">
                  <a:solidFill>
                    <a:srgbClr val="C75B63"/>
                  </a:solidFill>
                  <a:latin typeface="TT Commons Pro"/>
                  <a:ea typeface="TT Commons Pro"/>
                  <a:cs typeface="TT Commons Pro"/>
                  <a:sym typeface="TT Commons Pro"/>
                </a:rPr>
                <a:t>Deiver to</a:t>
              </a:r>
            </a:p>
          </p:txBody>
        </p:sp>
      </p:grpSp>
      <p:grpSp>
        <p:nvGrpSpPr>
          <p:cNvPr name="Group 313" id="313"/>
          <p:cNvGrpSpPr/>
          <p:nvPr/>
        </p:nvGrpSpPr>
        <p:grpSpPr>
          <a:xfrm rot="0">
            <a:off x="15269166" y="3157376"/>
            <a:ext cx="218761" cy="116672"/>
            <a:chOff x="0" y="0"/>
            <a:chExt cx="291681" cy="155562"/>
          </a:xfrm>
        </p:grpSpPr>
        <p:sp>
          <p:nvSpPr>
            <p:cNvPr name="Freeform 314" id="314"/>
            <p:cNvSpPr/>
            <p:nvPr/>
          </p:nvSpPr>
          <p:spPr>
            <a:xfrm flipH="false" flipV="false" rot="0">
              <a:off x="0" y="0"/>
              <a:ext cx="291719" cy="155575"/>
            </a:xfrm>
            <a:custGeom>
              <a:avLst/>
              <a:gdLst/>
              <a:ahLst/>
              <a:cxnLst/>
              <a:rect r="r" b="b" t="t" l="l"/>
              <a:pathLst>
                <a:path h="155575" w="291719">
                  <a:moveTo>
                    <a:pt x="0" y="0"/>
                  </a:moveTo>
                  <a:lnTo>
                    <a:pt x="291719" y="0"/>
                  </a:lnTo>
                  <a:lnTo>
                    <a:pt x="291719" y="155575"/>
                  </a:lnTo>
                  <a:lnTo>
                    <a:pt x="0" y="155575"/>
                  </a:lnTo>
                  <a:close/>
                </a:path>
              </a:pathLst>
            </a:custGeom>
            <a:blipFill>
              <a:blip r:embed="rId4">
                <a:alphaModFix amt="0"/>
              </a:blip>
              <a:stretch>
                <a:fillRect l="-18471" t="0" r="-18458" b="8"/>
              </a:stretch>
            </a:blipFill>
          </p:spPr>
        </p:sp>
      </p:grpSp>
      <p:grpSp>
        <p:nvGrpSpPr>
          <p:cNvPr name="Group 315" id="315"/>
          <p:cNvGrpSpPr/>
          <p:nvPr/>
        </p:nvGrpSpPr>
        <p:grpSpPr>
          <a:xfrm rot="0">
            <a:off x="15269166" y="3143088"/>
            <a:ext cx="218761" cy="130959"/>
            <a:chOff x="0" y="0"/>
            <a:chExt cx="291681" cy="174612"/>
          </a:xfrm>
        </p:grpSpPr>
        <p:sp>
          <p:nvSpPr>
            <p:cNvPr name="Freeform 316" id="316"/>
            <p:cNvSpPr/>
            <p:nvPr/>
          </p:nvSpPr>
          <p:spPr>
            <a:xfrm flipH="false" flipV="false" rot="0">
              <a:off x="0" y="0"/>
              <a:ext cx="291681" cy="174610"/>
            </a:xfrm>
            <a:custGeom>
              <a:avLst/>
              <a:gdLst/>
              <a:ahLst/>
              <a:cxnLst/>
              <a:rect r="r" b="b" t="t" l="l"/>
              <a:pathLst>
                <a:path h="174610" w="291681">
                  <a:moveTo>
                    <a:pt x="0" y="0"/>
                  </a:moveTo>
                  <a:lnTo>
                    <a:pt x="291681" y="0"/>
                  </a:lnTo>
                  <a:lnTo>
                    <a:pt x="291681" y="174610"/>
                  </a:lnTo>
                  <a:lnTo>
                    <a:pt x="0" y="174610"/>
                  </a:lnTo>
                  <a:close/>
                </a:path>
              </a:pathLst>
            </a:custGeom>
            <a:blipFill>
              <a:blip r:embed="rId5">
                <a:alphaModFix amt="0"/>
              </a:blip>
              <a:stretch>
                <a:fillRect l="-26807" t="0" r="-26807" b="-1"/>
              </a:stretch>
            </a:blipFill>
          </p:spPr>
        </p:sp>
        <p:sp>
          <p:nvSpPr>
            <p:cNvPr name="TextBox 317" id="317"/>
            <p:cNvSpPr txBox="true"/>
            <p:nvPr/>
          </p:nvSpPr>
          <p:spPr>
            <a:xfrm>
              <a:off x="0" y="-19050"/>
              <a:ext cx="291681" cy="193662"/>
            </a:xfrm>
            <a:prstGeom prst="rect">
              <a:avLst/>
            </a:prstGeom>
          </p:spPr>
          <p:txBody>
            <a:bodyPr anchor="ctr" rtlCol="false" tIns="0" lIns="0" bIns="0" rIns="0"/>
            <a:lstStyle/>
            <a:p>
              <a:pPr algn="l">
                <a:lnSpc>
                  <a:spcPts val="746"/>
                </a:lnSpc>
              </a:pPr>
              <a:r>
                <a:rPr lang="en-US" sz="459" b="true">
                  <a:solidFill>
                    <a:srgbClr val="C95960"/>
                  </a:solidFill>
                  <a:latin typeface="TT Commons Pro Bold"/>
                  <a:ea typeface="TT Commons Pro Bold"/>
                  <a:cs typeface="TT Commons Pro Bold"/>
                  <a:sym typeface="TT Commons Pro Bold"/>
                </a:rPr>
                <a:t>క్రియిటి</a:t>
              </a:r>
            </a:p>
          </p:txBody>
        </p:sp>
      </p:grpSp>
      <p:grpSp>
        <p:nvGrpSpPr>
          <p:cNvPr name="Group 318" id="318"/>
          <p:cNvGrpSpPr/>
          <p:nvPr/>
        </p:nvGrpSpPr>
        <p:grpSpPr>
          <a:xfrm rot="0">
            <a:off x="15684808" y="1120445"/>
            <a:ext cx="2479224" cy="585673"/>
            <a:chOff x="0" y="0"/>
            <a:chExt cx="3305632" cy="780898"/>
          </a:xfrm>
        </p:grpSpPr>
        <p:sp>
          <p:nvSpPr>
            <p:cNvPr name="Freeform 319" id="319"/>
            <p:cNvSpPr/>
            <p:nvPr/>
          </p:nvSpPr>
          <p:spPr>
            <a:xfrm flipH="false" flipV="false" rot="0">
              <a:off x="0" y="0"/>
              <a:ext cx="3305683" cy="780923"/>
            </a:xfrm>
            <a:custGeom>
              <a:avLst/>
              <a:gdLst/>
              <a:ahLst/>
              <a:cxnLst/>
              <a:rect r="r" b="b" t="t" l="l"/>
              <a:pathLst>
                <a:path h="780923" w="3305683">
                  <a:moveTo>
                    <a:pt x="0" y="0"/>
                  </a:moveTo>
                  <a:lnTo>
                    <a:pt x="3305683" y="0"/>
                  </a:lnTo>
                  <a:lnTo>
                    <a:pt x="3305683" y="780923"/>
                  </a:lnTo>
                  <a:lnTo>
                    <a:pt x="0" y="780923"/>
                  </a:lnTo>
                  <a:close/>
                </a:path>
              </a:pathLst>
            </a:custGeom>
            <a:blipFill>
              <a:blip r:embed="rId4">
                <a:alphaModFix amt="0"/>
              </a:blip>
              <a:stretch>
                <a:fillRect l="0" t="-32423" r="1" b="-32421"/>
              </a:stretch>
            </a:blipFill>
          </p:spPr>
        </p:sp>
      </p:grpSp>
      <p:grpSp>
        <p:nvGrpSpPr>
          <p:cNvPr name="Group 320" id="320"/>
          <p:cNvGrpSpPr/>
          <p:nvPr/>
        </p:nvGrpSpPr>
        <p:grpSpPr>
          <a:xfrm rot="0">
            <a:off x="15684808" y="1127589"/>
            <a:ext cx="2479224" cy="578529"/>
            <a:chOff x="0" y="0"/>
            <a:chExt cx="3305632" cy="771373"/>
          </a:xfrm>
        </p:grpSpPr>
        <p:sp>
          <p:nvSpPr>
            <p:cNvPr name="Freeform 321" id="321"/>
            <p:cNvSpPr/>
            <p:nvPr/>
          </p:nvSpPr>
          <p:spPr>
            <a:xfrm flipH="false" flipV="false" rot="0">
              <a:off x="0" y="0"/>
              <a:ext cx="3305632" cy="771368"/>
            </a:xfrm>
            <a:custGeom>
              <a:avLst/>
              <a:gdLst/>
              <a:ahLst/>
              <a:cxnLst/>
              <a:rect r="r" b="b" t="t" l="l"/>
              <a:pathLst>
                <a:path h="771368" w="3305632">
                  <a:moveTo>
                    <a:pt x="0" y="0"/>
                  </a:moveTo>
                  <a:lnTo>
                    <a:pt x="3305632" y="0"/>
                  </a:lnTo>
                  <a:lnTo>
                    <a:pt x="3305632" y="771368"/>
                  </a:lnTo>
                  <a:lnTo>
                    <a:pt x="0" y="771368"/>
                  </a:lnTo>
                  <a:close/>
                </a:path>
              </a:pathLst>
            </a:custGeom>
            <a:blipFill>
              <a:blip r:embed="rId5">
                <a:alphaModFix amt="0"/>
              </a:blip>
              <a:stretch>
                <a:fillRect l="0" t="-33501" r="0" b="-33501"/>
              </a:stretch>
            </a:blipFill>
          </p:spPr>
        </p:sp>
        <p:sp>
          <p:nvSpPr>
            <p:cNvPr name="TextBox 322" id="322"/>
            <p:cNvSpPr txBox="true"/>
            <p:nvPr/>
          </p:nvSpPr>
          <p:spPr>
            <a:xfrm>
              <a:off x="0" y="9525"/>
              <a:ext cx="3305632" cy="761848"/>
            </a:xfrm>
            <a:prstGeom prst="rect">
              <a:avLst/>
            </a:prstGeom>
          </p:spPr>
          <p:txBody>
            <a:bodyPr anchor="ctr" rtlCol="false" tIns="0" lIns="0" bIns="0" rIns="0"/>
            <a:lstStyle/>
            <a:p>
              <a:pPr algn="l">
                <a:lnSpc>
                  <a:spcPts val="1929"/>
                </a:lnSpc>
              </a:pPr>
              <a:r>
                <a:rPr lang="en-US" sz="1636">
                  <a:solidFill>
                    <a:srgbClr val="937C7C"/>
                  </a:solidFill>
                  <a:latin typeface="TT Commons Pro"/>
                  <a:ea typeface="TT Commons Pro"/>
                  <a:cs typeface="TT Commons Pro"/>
                  <a:sym typeface="TT Commons Pro"/>
                </a:rPr>
                <a:t>Discover more places.</a:t>
              </a:r>
            </a:p>
            <a:p>
              <a:pPr algn="l">
                <a:lnSpc>
                  <a:spcPts val="1929"/>
                </a:lnSpc>
              </a:pPr>
              <a:r>
                <a:rPr lang="en-US" sz="1636">
                  <a:solidFill>
                    <a:srgbClr val="937C7C"/>
                  </a:solidFill>
                  <a:latin typeface="TT Commons Pro"/>
                  <a:ea typeface="TT Commons Pro"/>
                  <a:cs typeface="TT Commons Pro"/>
                  <a:sym typeface="TT Commons Pro"/>
                </a:rPr>
                <a:t>More food.</a:t>
              </a:r>
            </a:p>
          </p:txBody>
        </p:sp>
      </p:grpSp>
      <p:grpSp>
        <p:nvGrpSpPr>
          <p:cNvPr name="Group 323" id="323"/>
          <p:cNvGrpSpPr/>
          <p:nvPr/>
        </p:nvGrpSpPr>
        <p:grpSpPr>
          <a:xfrm rot="0">
            <a:off x="346358" y="1409138"/>
            <a:ext cx="1509417" cy="512731"/>
            <a:chOff x="0" y="0"/>
            <a:chExt cx="2012556" cy="683641"/>
          </a:xfrm>
        </p:grpSpPr>
        <p:sp>
          <p:nvSpPr>
            <p:cNvPr name="Freeform 324" id="324"/>
            <p:cNvSpPr/>
            <p:nvPr/>
          </p:nvSpPr>
          <p:spPr>
            <a:xfrm flipH="false" flipV="false" rot="0">
              <a:off x="0" y="0"/>
              <a:ext cx="2012569" cy="683641"/>
            </a:xfrm>
            <a:custGeom>
              <a:avLst/>
              <a:gdLst/>
              <a:ahLst/>
              <a:cxnLst/>
              <a:rect r="r" b="b" t="t" l="l"/>
              <a:pathLst>
                <a:path h="683641" w="2012569">
                  <a:moveTo>
                    <a:pt x="0" y="0"/>
                  </a:moveTo>
                  <a:lnTo>
                    <a:pt x="2012569" y="0"/>
                  </a:lnTo>
                  <a:lnTo>
                    <a:pt x="2012569" y="683641"/>
                  </a:lnTo>
                  <a:lnTo>
                    <a:pt x="0" y="683641"/>
                  </a:lnTo>
                  <a:close/>
                </a:path>
              </a:pathLst>
            </a:custGeom>
            <a:blipFill>
              <a:blip r:embed="rId4">
                <a:alphaModFix amt="0"/>
              </a:blip>
              <a:stretch>
                <a:fillRect l="0" t="-7321" r="0" b="-7321"/>
              </a:stretch>
            </a:blipFill>
          </p:spPr>
        </p:sp>
      </p:grpSp>
      <p:grpSp>
        <p:nvGrpSpPr>
          <p:cNvPr name="Group 325" id="325"/>
          <p:cNvGrpSpPr/>
          <p:nvPr/>
        </p:nvGrpSpPr>
        <p:grpSpPr>
          <a:xfrm rot="0">
            <a:off x="346358" y="1409138"/>
            <a:ext cx="1509417" cy="512731"/>
            <a:chOff x="0" y="0"/>
            <a:chExt cx="2012556" cy="683641"/>
          </a:xfrm>
        </p:grpSpPr>
        <p:sp>
          <p:nvSpPr>
            <p:cNvPr name="Freeform 326" id="326"/>
            <p:cNvSpPr/>
            <p:nvPr/>
          </p:nvSpPr>
          <p:spPr>
            <a:xfrm flipH="false" flipV="false" rot="0">
              <a:off x="0" y="0"/>
              <a:ext cx="2012556" cy="683635"/>
            </a:xfrm>
            <a:custGeom>
              <a:avLst/>
              <a:gdLst/>
              <a:ahLst/>
              <a:cxnLst/>
              <a:rect r="r" b="b" t="t" l="l"/>
              <a:pathLst>
                <a:path h="683635" w="2012556">
                  <a:moveTo>
                    <a:pt x="0" y="0"/>
                  </a:moveTo>
                  <a:lnTo>
                    <a:pt x="2012556" y="0"/>
                  </a:lnTo>
                  <a:lnTo>
                    <a:pt x="2012556" y="683635"/>
                  </a:lnTo>
                  <a:lnTo>
                    <a:pt x="0" y="683635"/>
                  </a:lnTo>
                  <a:close/>
                </a:path>
              </a:pathLst>
            </a:custGeom>
            <a:blipFill>
              <a:blip r:embed="rId5">
                <a:alphaModFix amt="0"/>
              </a:blip>
              <a:stretch>
                <a:fillRect l="0" t="-7361" r="0" b="-7362"/>
              </a:stretch>
            </a:blipFill>
          </p:spPr>
        </p:sp>
        <p:sp>
          <p:nvSpPr>
            <p:cNvPr name="TextBox 327" id="327"/>
            <p:cNvSpPr txBox="true"/>
            <p:nvPr/>
          </p:nvSpPr>
          <p:spPr>
            <a:xfrm>
              <a:off x="0" y="0"/>
              <a:ext cx="2012556" cy="683641"/>
            </a:xfrm>
            <a:prstGeom prst="rect">
              <a:avLst/>
            </a:prstGeom>
          </p:spPr>
          <p:txBody>
            <a:bodyPr anchor="ctr" rtlCol="false" tIns="0" lIns="0" bIns="0" rIns="0"/>
            <a:lstStyle/>
            <a:p>
              <a:pPr algn="l">
                <a:lnSpc>
                  <a:spcPts val="1651"/>
                </a:lnSpc>
              </a:pPr>
              <a:r>
                <a:rPr lang="en-US" sz="1399">
                  <a:solidFill>
                    <a:srgbClr val="987D71"/>
                  </a:solidFill>
                  <a:latin typeface="TT Commons Pro"/>
                  <a:ea typeface="TT Commons Pro"/>
                  <a:cs typeface="TT Commons Pro"/>
                  <a:sym typeface="TT Commons Pro"/>
                </a:rPr>
                <a:t>Food you love,</a:t>
              </a:r>
            </a:p>
            <a:p>
              <a:pPr algn="l">
                <a:lnSpc>
                  <a:spcPts val="1651"/>
                </a:lnSpc>
              </a:pPr>
              <a:r>
                <a:rPr lang="en-US" sz="1399">
                  <a:solidFill>
                    <a:srgbClr val="987D71"/>
                  </a:solidFill>
                  <a:latin typeface="TT Commons Pro"/>
                  <a:ea typeface="TT Commons Pro"/>
                  <a:cs typeface="TT Commons Pro"/>
                  <a:sym typeface="TT Commons Pro"/>
                </a:rPr>
                <a:t>delivered fast.</a:t>
              </a:r>
            </a:p>
          </p:txBody>
        </p:sp>
      </p:grpSp>
      <p:grpSp>
        <p:nvGrpSpPr>
          <p:cNvPr name="Group 328" id="328"/>
          <p:cNvGrpSpPr/>
          <p:nvPr/>
        </p:nvGrpSpPr>
        <p:grpSpPr>
          <a:xfrm rot="0">
            <a:off x="3995947" y="-115729"/>
            <a:ext cx="10084651" cy="1189206"/>
            <a:chOff x="0" y="0"/>
            <a:chExt cx="13446201" cy="1585608"/>
          </a:xfrm>
        </p:grpSpPr>
        <p:sp>
          <p:nvSpPr>
            <p:cNvPr name="Freeform 329" id="329"/>
            <p:cNvSpPr/>
            <p:nvPr/>
          </p:nvSpPr>
          <p:spPr>
            <a:xfrm flipH="false" flipV="false" rot="0">
              <a:off x="0" y="0"/>
              <a:ext cx="13446252" cy="1585595"/>
            </a:xfrm>
            <a:custGeom>
              <a:avLst/>
              <a:gdLst/>
              <a:ahLst/>
              <a:cxnLst/>
              <a:rect r="r" b="b" t="t" l="l"/>
              <a:pathLst>
                <a:path h="1585595" w="13446252">
                  <a:moveTo>
                    <a:pt x="0" y="0"/>
                  </a:moveTo>
                  <a:lnTo>
                    <a:pt x="13446252" y="0"/>
                  </a:lnTo>
                  <a:lnTo>
                    <a:pt x="13446252" y="1585595"/>
                  </a:lnTo>
                  <a:lnTo>
                    <a:pt x="0" y="1585595"/>
                  </a:lnTo>
                  <a:close/>
                </a:path>
              </a:pathLst>
            </a:custGeom>
            <a:blipFill>
              <a:blip r:embed="rId4">
                <a:alphaModFix amt="0"/>
              </a:blip>
              <a:stretch>
                <a:fillRect l="0" t="-115122" r="0" b="-115122"/>
              </a:stretch>
            </a:blipFill>
          </p:spPr>
        </p:sp>
      </p:grpSp>
      <p:grpSp>
        <p:nvGrpSpPr>
          <p:cNvPr name="Group 330" id="330"/>
          <p:cNvGrpSpPr/>
          <p:nvPr/>
        </p:nvGrpSpPr>
        <p:grpSpPr>
          <a:xfrm rot="0">
            <a:off x="3995947" y="-22860"/>
            <a:ext cx="10084651" cy="1096337"/>
            <a:chOff x="0" y="0"/>
            <a:chExt cx="13446201" cy="1461783"/>
          </a:xfrm>
        </p:grpSpPr>
        <p:sp>
          <p:nvSpPr>
            <p:cNvPr name="Freeform 331" id="331"/>
            <p:cNvSpPr/>
            <p:nvPr/>
          </p:nvSpPr>
          <p:spPr>
            <a:xfrm flipH="false" flipV="false" rot="0">
              <a:off x="0" y="0"/>
              <a:ext cx="13446201" cy="1461784"/>
            </a:xfrm>
            <a:custGeom>
              <a:avLst/>
              <a:gdLst/>
              <a:ahLst/>
              <a:cxnLst/>
              <a:rect r="r" b="b" t="t" l="l"/>
              <a:pathLst>
                <a:path h="1461784" w="13446201">
                  <a:moveTo>
                    <a:pt x="0" y="0"/>
                  </a:moveTo>
                  <a:lnTo>
                    <a:pt x="13446201" y="0"/>
                  </a:lnTo>
                  <a:lnTo>
                    <a:pt x="13446201" y="1461784"/>
                  </a:lnTo>
                  <a:lnTo>
                    <a:pt x="0" y="1461784"/>
                  </a:lnTo>
                  <a:close/>
                </a:path>
              </a:pathLst>
            </a:custGeom>
            <a:blipFill>
              <a:blip r:embed="rId5">
                <a:alphaModFix amt="0"/>
              </a:blip>
              <a:stretch>
                <a:fillRect l="0" t="-129232" r="0" b="-129232"/>
              </a:stretch>
            </a:blipFill>
          </p:spPr>
        </p:sp>
        <p:sp>
          <p:nvSpPr>
            <p:cNvPr name="TextBox 332" id="332"/>
            <p:cNvSpPr txBox="true"/>
            <p:nvPr/>
          </p:nvSpPr>
          <p:spPr>
            <a:xfrm>
              <a:off x="0" y="123825"/>
              <a:ext cx="13446201" cy="1337958"/>
            </a:xfrm>
            <a:prstGeom prst="rect">
              <a:avLst/>
            </a:prstGeom>
          </p:spPr>
          <p:txBody>
            <a:bodyPr anchor="ctr" rtlCol="false" tIns="0" lIns="0" bIns="0" rIns="0"/>
            <a:lstStyle/>
            <a:p>
              <a:pPr algn="l">
                <a:lnSpc>
                  <a:spcPts val="5268"/>
                </a:lnSpc>
              </a:pPr>
              <a:r>
                <a:rPr lang="en-US" sz="5498" b="true">
                  <a:solidFill>
                    <a:srgbClr val="F5F4F4"/>
                  </a:solidFill>
                  <a:latin typeface="TT Commons Pro Bold"/>
                  <a:ea typeface="TT Commons Pro Bold"/>
                  <a:cs typeface="TT Commons Pro Bold"/>
                  <a:sym typeface="TT Commons Pro Bold"/>
                </a:rPr>
                <a:t>Conclusion &amp; Future Scope</a:t>
              </a:r>
            </a:p>
          </p:txBody>
        </p:sp>
      </p:grpSp>
      <p:grpSp>
        <p:nvGrpSpPr>
          <p:cNvPr name="Group 333" id="333"/>
          <p:cNvGrpSpPr/>
          <p:nvPr/>
        </p:nvGrpSpPr>
        <p:grpSpPr>
          <a:xfrm rot="0">
            <a:off x="6056519" y="870480"/>
            <a:ext cx="5998759" cy="516407"/>
            <a:chOff x="0" y="0"/>
            <a:chExt cx="7998346" cy="688543"/>
          </a:xfrm>
        </p:grpSpPr>
        <p:sp>
          <p:nvSpPr>
            <p:cNvPr name="Freeform 334" id="334"/>
            <p:cNvSpPr/>
            <p:nvPr/>
          </p:nvSpPr>
          <p:spPr>
            <a:xfrm flipH="false" flipV="false" rot="0">
              <a:off x="0" y="0"/>
              <a:ext cx="7998333" cy="688594"/>
            </a:xfrm>
            <a:custGeom>
              <a:avLst/>
              <a:gdLst/>
              <a:ahLst/>
              <a:cxnLst/>
              <a:rect r="r" b="b" t="t" l="l"/>
              <a:pathLst>
                <a:path h="688594" w="7998333">
                  <a:moveTo>
                    <a:pt x="0" y="0"/>
                  </a:moveTo>
                  <a:lnTo>
                    <a:pt x="7998333" y="0"/>
                  </a:lnTo>
                  <a:lnTo>
                    <a:pt x="7998333" y="688594"/>
                  </a:lnTo>
                  <a:lnTo>
                    <a:pt x="0" y="688594"/>
                  </a:lnTo>
                  <a:close/>
                </a:path>
              </a:pathLst>
            </a:custGeom>
            <a:blipFill>
              <a:blip r:embed="rId4">
                <a:alphaModFix amt="0"/>
              </a:blip>
              <a:stretch>
                <a:fillRect l="0" t="-176172" r="0" b="-176167"/>
              </a:stretch>
            </a:blipFill>
          </p:spPr>
        </p:sp>
      </p:grpSp>
      <p:grpSp>
        <p:nvGrpSpPr>
          <p:cNvPr name="Group 335" id="335"/>
          <p:cNvGrpSpPr/>
          <p:nvPr/>
        </p:nvGrpSpPr>
        <p:grpSpPr>
          <a:xfrm rot="0">
            <a:off x="6056519" y="906199"/>
            <a:ext cx="5998769" cy="480698"/>
            <a:chOff x="0" y="0"/>
            <a:chExt cx="7998358" cy="640931"/>
          </a:xfrm>
        </p:grpSpPr>
        <p:sp>
          <p:nvSpPr>
            <p:cNvPr name="Freeform 336" id="336"/>
            <p:cNvSpPr/>
            <p:nvPr/>
          </p:nvSpPr>
          <p:spPr>
            <a:xfrm flipH="false" flipV="false" rot="0">
              <a:off x="0" y="0"/>
              <a:ext cx="7998354" cy="640932"/>
            </a:xfrm>
            <a:custGeom>
              <a:avLst/>
              <a:gdLst/>
              <a:ahLst/>
              <a:cxnLst/>
              <a:rect r="r" b="b" t="t" l="l"/>
              <a:pathLst>
                <a:path h="640932" w="7998354">
                  <a:moveTo>
                    <a:pt x="0" y="0"/>
                  </a:moveTo>
                  <a:lnTo>
                    <a:pt x="7998354" y="0"/>
                  </a:lnTo>
                  <a:lnTo>
                    <a:pt x="7998354" y="640932"/>
                  </a:lnTo>
                  <a:lnTo>
                    <a:pt x="0" y="640932"/>
                  </a:lnTo>
                  <a:close/>
                </a:path>
              </a:pathLst>
            </a:custGeom>
            <a:blipFill>
              <a:blip r:embed="rId5">
                <a:alphaModFix amt="0"/>
              </a:blip>
              <a:stretch>
                <a:fillRect l="0" t="-193158" r="0" b="-193158"/>
              </a:stretch>
            </a:blipFill>
          </p:spPr>
        </p:sp>
        <p:sp>
          <p:nvSpPr>
            <p:cNvPr name="TextBox 337" id="337"/>
            <p:cNvSpPr txBox="true"/>
            <p:nvPr/>
          </p:nvSpPr>
          <p:spPr>
            <a:xfrm>
              <a:off x="0" y="47625"/>
              <a:ext cx="7998358" cy="593306"/>
            </a:xfrm>
            <a:prstGeom prst="rect">
              <a:avLst/>
            </a:prstGeom>
          </p:spPr>
          <p:txBody>
            <a:bodyPr anchor="ctr" rtlCol="false" tIns="0" lIns="0" bIns="0" rIns="0"/>
            <a:lstStyle/>
            <a:p>
              <a:pPr algn="l">
                <a:lnSpc>
                  <a:spcPts val="2203"/>
                </a:lnSpc>
              </a:pPr>
              <a:r>
                <a:rPr lang="en-US" sz="2399" b="true">
                  <a:solidFill>
                    <a:srgbClr val="ED5E40"/>
                  </a:solidFill>
                  <a:latin typeface="TT Commons Pro Bold"/>
                  <a:ea typeface="TT Commons Pro Bold"/>
                  <a:cs typeface="TT Commons Pro Bold"/>
                  <a:sym typeface="TT Commons Pro Bold"/>
                </a:rPr>
                <a:t>Swiggy</a:t>
              </a:r>
              <a:r>
                <a:rPr lang="en-US" sz="2399">
                  <a:solidFill>
                    <a:srgbClr val="A3A2A4"/>
                  </a:solidFill>
                  <a:latin typeface="TT Commons Pro"/>
                  <a:ea typeface="TT Commons Pro"/>
                  <a:cs typeface="TT Commons Pro"/>
                  <a:sym typeface="TT Commons Pro"/>
                </a:rPr>
                <a:t> </a:t>
              </a:r>
              <a:r>
                <a:rPr lang="en-US" sz="2399">
                  <a:solidFill>
                    <a:srgbClr val="F5F4F4"/>
                  </a:solidFill>
                  <a:latin typeface="TT Commons Pro"/>
                  <a:ea typeface="TT Commons Pro"/>
                  <a:cs typeface="TT Commons Pro"/>
                  <a:sym typeface="TT Commons Pro"/>
                </a:rPr>
                <a:t>vs</a:t>
              </a:r>
              <a:r>
                <a:rPr lang="en-US" sz="2399">
                  <a:solidFill>
                    <a:srgbClr val="A3A2A4"/>
                  </a:solidFill>
                  <a:latin typeface="TT Commons Pro"/>
                  <a:ea typeface="TT Commons Pro"/>
                  <a:cs typeface="TT Commons Pro"/>
                  <a:sym typeface="TT Commons Pro"/>
                </a:rPr>
                <a:t> </a:t>
              </a:r>
              <a:r>
                <a:rPr lang="en-US" sz="2399" b="true">
                  <a:solidFill>
                    <a:srgbClr val="CF0B23"/>
                  </a:solidFill>
                  <a:latin typeface="TT Commons Pro Bold"/>
                  <a:ea typeface="TT Commons Pro Bold"/>
                  <a:cs typeface="TT Commons Pro Bold"/>
                  <a:sym typeface="TT Commons Pro Bold"/>
                </a:rPr>
                <a:t>Zomato</a:t>
              </a:r>
              <a:r>
                <a:rPr lang="en-US" sz="2399">
                  <a:solidFill>
                    <a:srgbClr val="A3A2A4"/>
                  </a:solidFill>
                  <a:latin typeface="TT Commons Pro"/>
                  <a:ea typeface="TT Commons Pro"/>
                  <a:cs typeface="TT Commons Pro"/>
                  <a:sym typeface="TT Commons Pro"/>
                </a:rPr>
                <a:t> </a:t>
              </a:r>
              <a:r>
                <a:rPr lang="en-US" sz="2399">
                  <a:solidFill>
                    <a:srgbClr val="F5F4F4"/>
                  </a:solidFill>
                  <a:latin typeface="TT Commons Pro"/>
                  <a:ea typeface="TT Commons Pro"/>
                  <a:cs typeface="TT Commons Pro"/>
                  <a:sym typeface="TT Commons Pro"/>
                </a:rPr>
                <a:t>Platform Comparison</a:t>
              </a:r>
            </a:p>
          </p:txBody>
        </p:sp>
      </p:grpSp>
      <p:grpSp>
        <p:nvGrpSpPr>
          <p:cNvPr name="Group 338" id="338"/>
          <p:cNvGrpSpPr/>
          <p:nvPr/>
        </p:nvGrpSpPr>
        <p:grpSpPr>
          <a:xfrm rot="0">
            <a:off x="386467" y="1035444"/>
            <a:ext cx="1144819" cy="348567"/>
            <a:chOff x="0" y="0"/>
            <a:chExt cx="1526426" cy="464756"/>
          </a:xfrm>
        </p:grpSpPr>
        <p:sp>
          <p:nvSpPr>
            <p:cNvPr name="Freeform 339" id="339"/>
            <p:cNvSpPr/>
            <p:nvPr/>
          </p:nvSpPr>
          <p:spPr>
            <a:xfrm flipH="false" flipV="false" rot="0">
              <a:off x="0" y="0"/>
              <a:ext cx="1526413" cy="464820"/>
            </a:xfrm>
            <a:custGeom>
              <a:avLst/>
              <a:gdLst/>
              <a:ahLst/>
              <a:cxnLst/>
              <a:rect r="r" b="b" t="t" l="l"/>
              <a:pathLst>
                <a:path h="464820" w="1526413">
                  <a:moveTo>
                    <a:pt x="0" y="0"/>
                  </a:moveTo>
                  <a:lnTo>
                    <a:pt x="1526413" y="0"/>
                  </a:lnTo>
                  <a:lnTo>
                    <a:pt x="1526413" y="464820"/>
                  </a:lnTo>
                  <a:lnTo>
                    <a:pt x="0" y="464820"/>
                  </a:lnTo>
                  <a:close/>
                </a:path>
              </a:pathLst>
            </a:custGeom>
            <a:blipFill>
              <a:blip r:embed="rId4">
                <a:alphaModFix amt="0"/>
              </a:blip>
              <a:stretch>
                <a:fillRect l="0" t="-13948" r="0" b="-13937"/>
              </a:stretch>
            </a:blipFill>
          </p:spPr>
        </p:sp>
      </p:grpSp>
      <p:grpSp>
        <p:nvGrpSpPr>
          <p:cNvPr name="Group 340" id="340"/>
          <p:cNvGrpSpPr/>
          <p:nvPr/>
        </p:nvGrpSpPr>
        <p:grpSpPr>
          <a:xfrm rot="0">
            <a:off x="386467" y="1085450"/>
            <a:ext cx="1144819" cy="298571"/>
            <a:chOff x="0" y="0"/>
            <a:chExt cx="1526426" cy="398094"/>
          </a:xfrm>
        </p:grpSpPr>
        <p:sp>
          <p:nvSpPr>
            <p:cNvPr name="Freeform 341" id="341"/>
            <p:cNvSpPr/>
            <p:nvPr/>
          </p:nvSpPr>
          <p:spPr>
            <a:xfrm flipH="false" flipV="false" rot="0">
              <a:off x="0" y="0"/>
              <a:ext cx="1526425" cy="398096"/>
            </a:xfrm>
            <a:custGeom>
              <a:avLst/>
              <a:gdLst/>
              <a:ahLst/>
              <a:cxnLst/>
              <a:rect r="r" b="b" t="t" l="l"/>
              <a:pathLst>
                <a:path h="398096" w="1526425">
                  <a:moveTo>
                    <a:pt x="0" y="0"/>
                  </a:moveTo>
                  <a:lnTo>
                    <a:pt x="1526425" y="0"/>
                  </a:lnTo>
                  <a:lnTo>
                    <a:pt x="1526425" y="398096"/>
                  </a:lnTo>
                  <a:lnTo>
                    <a:pt x="0" y="398096"/>
                  </a:lnTo>
                  <a:close/>
                </a:path>
              </a:pathLst>
            </a:custGeom>
            <a:blipFill>
              <a:blip r:embed="rId5">
                <a:alphaModFix amt="0"/>
              </a:blip>
              <a:stretch>
                <a:fillRect l="0" t="-24712" r="0" b="-24711"/>
              </a:stretch>
            </a:blipFill>
          </p:spPr>
        </p:sp>
        <p:sp>
          <p:nvSpPr>
            <p:cNvPr name="TextBox 342" id="342"/>
            <p:cNvSpPr txBox="true"/>
            <p:nvPr/>
          </p:nvSpPr>
          <p:spPr>
            <a:xfrm>
              <a:off x="0" y="66675"/>
              <a:ext cx="1526426" cy="331419"/>
            </a:xfrm>
            <a:prstGeom prst="rect">
              <a:avLst/>
            </a:prstGeom>
          </p:spPr>
          <p:txBody>
            <a:bodyPr anchor="ctr" rtlCol="false" tIns="0" lIns="0" bIns="0" rIns="0"/>
            <a:lstStyle/>
            <a:p>
              <a:pPr algn="l">
                <a:lnSpc>
                  <a:spcPts val="1377"/>
                </a:lnSpc>
              </a:pPr>
              <a:r>
                <a:rPr lang="en-US" sz="1625" b="true">
                  <a:solidFill>
                    <a:srgbClr val="AA5A2D"/>
                  </a:solidFill>
                  <a:latin typeface="TT Commons Pro Bold"/>
                  <a:ea typeface="TT Commons Pro Bold"/>
                  <a:cs typeface="TT Commons Pro Bold"/>
                  <a:sym typeface="TT Commons Pro Bold"/>
                </a:rPr>
                <a:t>SWIGGY</a:t>
              </a:r>
            </a:p>
          </p:txBody>
        </p:sp>
      </p:grpSp>
      <p:grpSp>
        <p:nvGrpSpPr>
          <p:cNvPr name="Group 343" id="343"/>
          <p:cNvGrpSpPr/>
          <p:nvPr/>
        </p:nvGrpSpPr>
        <p:grpSpPr>
          <a:xfrm rot="0">
            <a:off x="15903559" y="357302"/>
            <a:ext cx="1917764" cy="860431"/>
            <a:chOff x="0" y="0"/>
            <a:chExt cx="2557018" cy="1147242"/>
          </a:xfrm>
        </p:grpSpPr>
        <p:sp>
          <p:nvSpPr>
            <p:cNvPr name="Freeform 344" id="344"/>
            <p:cNvSpPr/>
            <p:nvPr/>
          </p:nvSpPr>
          <p:spPr>
            <a:xfrm flipH="false" flipV="false" rot="0">
              <a:off x="0" y="0"/>
              <a:ext cx="2557018" cy="1147191"/>
            </a:xfrm>
            <a:custGeom>
              <a:avLst/>
              <a:gdLst/>
              <a:ahLst/>
              <a:cxnLst/>
              <a:rect r="r" b="b" t="t" l="l"/>
              <a:pathLst>
                <a:path h="1147191" w="2557018">
                  <a:moveTo>
                    <a:pt x="0" y="0"/>
                  </a:moveTo>
                  <a:lnTo>
                    <a:pt x="2557018" y="0"/>
                  </a:lnTo>
                  <a:lnTo>
                    <a:pt x="2557018" y="1147191"/>
                  </a:lnTo>
                  <a:lnTo>
                    <a:pt x="0" y="1147191"/>
                  </a:lnTo>
                  <a:close/>
                </a:path>
              </a:pathLst>
            </a:custGeom>
            <a:blipFill>
              <a:blip r:embed="rId4">
                <a:alphaModFix amt="0"/>
              </a:blip>
              <a:stretch>
                <a:fillRect l="-7605" t="0" r="-7605" b="-4"/>
              </a:stretch>
            </a:blipFill>
          </p:spPr>
        </p:sp>
      </p:grpSp>
      <p:grpSp>
        <p:nvGrpSpPr>
          <p:cNvPr name="Group 345" id="345"/>
          <p:cNvGrpSpPr/>
          <p:nvPr/>
        </p:nvGrpSpPr>
        <p:grpSpPr>
          <a:xfrm rot="0">
            <a:off x="15903559" y="485889"/>
            <a:ext cx="1917764" cy="731844"/>
            <a:chOff x="0" y="0"/>
            <a:chExt cx="2557018" cy="975792"/>
          </a:xfrm>
        </p:grpSpPr>
        <p:sp>
          <p:nvSpPr>
            <p:cNvPr name="Freeform 346" id="346"/>
            <p:cNvSpPr/>
            <p:nvPr/>
          </p:nvSpPr>
          <p:spPr>
            <a:xfrm flipH="false" flipV="false" rot="0">
              <a:off x="0" y="0"/>
              <a:ext cx="2557019" cy="975794"/>
            </a:xfrm>
            <a:custGeom>
              <a:avLst/>
              <a:gdLst/>
              <a:ahLst/>
              <a:cxnLst/>
              <a:rect r="r" b="b" t="t" l="l"/>
              <a:pathLst>
                <a:path h="975794" w="2557019">
                  <a:moveTo>
                    <a:pt x="0" y="0"/>
                  </a:moveTo>
                  <a:lnTo>
                    <a:pt x="2557019" y="0"/>
                  </a:lnTo>
                  <a:lnTo>
                    <a:pt x="2557019" y="975794"/>
                  </a:lnTo>
                  <a:lnTo>
                    <a:pt x="0" y="975794"/>
                  </a:lnTo>
                  <a:close/>
                </a:path>
              </a:pathLst>
            </a:custGeom>
            <a:blipFill>
              <a:blip r:embed="rId5">
                <a:alphaModFix amt="0"/>
              </a:blip>
              <a:stretch>
                <a:fillRect l="0" t="-1059" r="0" b="-1059"/>
              </a:stretch>
            </a:blipFill>
          </p:spPr>
        </p:sp>
        <p:sp>
          <p:nvSpPr>
            <p:cNvPr name="TextBox 347" id="347"/>
            <p:cNvSpPr txBox="true"/>
            <p:nvPr/>
          </p:nvSpPr>
          <p:spPr>
            <a:xfrm>
              <a:off x="0" y="171450"/>
              <a:ext cx="2557018" cy="804342"/>
            </a:xfrm>
            <a:prstGeom prst="rect">
              <a:avLst/>
            </a:prstGeom>
          </p:spPr>
          <p:txBody>
            <a:bodyPr anchor="ctr" rtlCol="false" tIns="0" lIns="0" bIns="0" rIns="0"/>
            <a:lstStyle/>
            <a:p>
              <a:pPr algn="l">
                <a:lnSpc>
                  <a:spcPts val="2928"/>
                </a:lnSpc>
              </a:pPr>
              <a:r>
                <a:rPr lang="en-US" b="true" sz="3973" i="true">
                  <a:solidFill>
                    <a:srgbClr val="D7CFCE"/>
                  </a:solidFill>
                  <a:latin typeface="TT Commons Pro Bold Italics"/>
                  <a:ea typeface="TT Commons Pro Bold Italics"/>
                  <a:cs typeface="TT Commons Pro Bold Italics"/>
                  <a:sym typeface="TT Commons Pro Bold Italics"/>
                </a:rPr>
                <a:t>zomato</a:t>
              </a:r>
            </a:p>
          </p:txBody>
        </p:sp>
      </p:grpSp>
      <p:sp>
        <p:nvSpPr>
          <p:cNvPr name="TextBox 348" id="348"/>
          <p:cNvSpPr txBox="true"/>
          <p:nvPr/>
        </p:nvSpPr>
        <p:spPr>
          <a:xfrm rot="0">
            <a:off x="2139010" y="9763535"/>
            <a:ext cx="7909179" cy="292732"/>
          </a:xfrm>
          <a:prstGeom prst="rect">
            <a:avLst/>
          </a:prstGeom>
        </p:spPr>
        <p:txBody>
          <a:bodyPr anchor="t" rtlCol="false" tIns="0" lIns="0" bIns="0" rIns="0">
            <a:spAutoFit/>
          </a:bodyPr>
          <a:lstStyle/>
          <a:p>
            <a:pPr algn="ctr">
              <a:lnSpc>
                <a:spcPts val="2210"/>
              </a:lnSpc>
            </a:pPr>
            <a:r>
              <a:rPr lang="en-US" sz="1700" b="true">
                <a:solidFill>
                  <a:srgbClr val="EC7624"/>
                </a:solidFill>
                <a:latin typeface="TT Commons Pro Bold"/>
                <a:ea typeface="TT Commons Pro Bold"/>
                <a:cs typeface="TT Commons Pro Bold"/>
                <a:sym typeface="TT Commons Pro Bold"/>
              </a:rPr>
              <a:t>SWIGGY</a:t>
            </a:r>
            <a:r>
              <a:rPr lang="en-US" sz="1700" b="true">
                <a:solidFill>
                  <a:srgbClr val="F2EFEB"/>
                </a:solidFill>
                <a:latin typeface="TT Commons Pro Bold"/>
                <a:ea typeface="TT Commons Pro Bold"/>
                <a:cs typeface="TT Commons Pro Bold"/>
                <a:sym typeface="TT Commons Pro Bold"/>
              </a:rPr>
              <a:t> VS</a:t>
            </a:r>
            <a:r>
              <a:rPr lang="en-US" sz="1700" b="true">
                <a:solidFill>
                  <a:srgbClr val="CF0B23"/>
                </a:solidFill>
                <a:latin typeface="TT Commons Pro Bold"/>
                <a:ea typeface="TT Commons Pro Bold"/>
                <a:cs typeface="TT Commons Pro Bold"/>
                <a:sym typeface="TT Commons Pro Bold"/>
              </a:rPr>
              <a:t> ZOMATO</a:t>
            </a:r>
            <a:r>
              <a:rPr lang="en-US" sz="1700" b="true">
                <a:solidFill>
                  <a:srgbClr val="F2EFEB"/>
                </a:solidFill>
                <a:latin typeface="TT Commons Pro Bold"/>
                <a:ea typeface="TT Commons Pro Bold"/>
                <a:cs typeface="TT Commons Pro Bold"/>
                <a:sym typeface="TT Commons Pro Bold"/>
              </a:rPr>
              <a:t>: Restaurant Performance and Customer Insights Analysis</a:t>
            </a:r>
          </a:p>
        </p:txBody>
      </p:sp>
      <p:grpSp>
        <p:nvGrpSpPr>
          <p:cNvPr name="Group 349" id="349"/>
          <p:cNvGrpSpPr/>
          <p:nvPr/>
        </p:nvGrpSpPr>
        <p:grpSpPr>
          <a:xfrm rot="0">
            <a:off x="1352636" y="9732274"/>
            <a:ext cx="896903" cy="393354"/>
            <a:chOff x="0" y="0"/>
            <a:chExt cx="1195870" cy="524472"/>
          </a:xfrm>
        </p:grpSpPr>
        <p:sp>
          <p:nvSpPr>
            <p:cNvPr name="Freeform 350" id="350"/>
            <p:cNvSpPr/>
            <p:nvPr/>
          </p:nvSpPr>
          <p:spPr>
            <a:xfrm flipH="false" flipV="false" rot="0">
              <a:off x="0" y="0"/>
              <a:ext cx="1195832" cy="524510"/>
            </a:xfrm>
            <a:custGeom>
              <a:avLst/>
              <a:gdLst/>
              <a:ahLst/>
              <a:cxnLst/>
              <a:rect r="r" b="b" t="t" l="l"/>
              <a:pathLst>
                <a:path h="524510" w="1195832">
                  <a:moveTo>
                    <a:pt x="0" y="0"/>
                  </a:moveTo>
                  <a:lnTo>
                    <a:pt x="1195832" y="0"/>
                  </a:lnTo>
                  <a:lnTo>
                    <a:pt x="1195832" y="524510"/>
                  </a:lnTo>
                  <a:lnTo>
                    <a:pt x="0" y="524510"/>
                  </a:lnTo>
                  <a:close/>
                </a:path>
              </a:pathLst>
            </a:custGeom>
            <a:blipFill>
              <a:blip r:embed="rId4">
                <a:alphaModFix amt="0"/>
              </a:blip>
              <a:stretch>
                <a:fillRect l="-6309" t="0" r="-6312" b="7"/>
              </a:stretch>
            </a:blipFill>
          </p:spPr>
        </p:sp>
      </p:grpSp>
      <p:grpSp>
        <p:nvGrpSpPr>
          <p:cNvPr name="Group 351" id="351"/>
          <p:cNvGrpSpPr/>
          <p:nvPr/>
        </p:nvGrpSpPr>
        <p:grpSpPr>
          <a:xfrm rot="0">
            <a:off x="1352636" y="9767992"/>
            <a:ext cx="896903" cy="357635"/>
            <a:chOff x="0" y="0"/>
            <a:chExt cx="1195870" cy="476847"/>
          </a:xfrm>
        </p:grpSpPr>
        <p:sp>
          <p:nvSpPr>
            <p:cNvPr name="Freeform 352" id="352"/>
            <p:cNvSpPr/>
            <p:nvPr/>
          </p:nvSpPr>
          <p:spPr>
            <a:xfrm flipH="false" flipV="false" rot="0">
              <a:off x="0" y="0"/>
              <a:ext cx="1195871" cy="476844"/>
            </a:xfrm>
            <a:custGeom>
              <a:avLst/>
              <a:gdLst/>
              <a:ahLst/>
              <a:cxnLst/>
              <a:rect r="r" b="b" t="t" l="l"/>
              <a:pathLst>
                <a:path h="476844" w="1195871">
                  <a:moveTo>
                    <a:pt x="0" y="0"/>
                  </a:moveTo>
                  <a:lnTo>
                    <a:pt x="1195871" y="0"/>
                  </a:lnTo>
                  <a:lnTo>
                    <a:pt x="1195871" y="476844"/>
                  </a:lnTo>
                  <a:lnTo>
                    <a:pt x="0" y="476844"/>
                  </a:lnTo>
                  <a:close/>
                </a:path>
              </a:pathLst>
            </a:custGeom>
            <a:blipFill>
              <a:blip r:embed="rId5">
                <a:alphaModFix amt="0"/>
              </a:blip>
              <a:stretch>
                <a:fillRect l="-1160" t="0" r="-1160" b="0"/>
              </a:stretch>
            </a:blipFill>
          </p:spPr>
        </p:sp>
        <p:sp>
          <p:nvSpPr>
            <p:cNvPr name="TextBox 353" id="353"/>
            <p:cNvSpPr txBox="true"/>
            <p:nvPr/>
          </p:nvSpPr>
          <p:spPr>
            <a:xfrm>
              <a:off x="0" y="47625"/>
              <a:ext cx="1195870" cy="429222"/>
            </a:xfrm>
            <a:prstGeom prst="rect">
              <a:avLst/>
            </a:prstGeom>
          </p:spPr>
          <p:txBody>
            <a:bodyPr anchor="ctr" rtlCol="false" tIns="0" lIns="0" bIns="0" rIns="0"/>
            <a:lstStyle/>
            <a:p>
              <a:pPr algn="l">
                <a:lnSpc>
                  <a:spcPts val="1765"/>
                </a:lnSpc>
              </a:pPr>
              <a:r>
                <a:rPr lang="en-US" sz="1839" b="true">
                  <a:solidFill>
                    <a:srgbClr val="949494"/>
                  </a:solidFill>
                  <a:latin typeface="TT Commons Pro Bold"/>
                  <a:ea typeface="TT Commons Pro Bold"/>
                  <a:cs typeface="TT Commons Pro Bold"/>
                  <a:sym typeface="TT Commons Pro Bold"/>
                </a:rPr>
                <a:t>Project:</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8810"/>
            <a:chOff x="0" y="0"/>
            <a:chExt cx="24384000" cy="13718413"/>
          </a:xfrm>
        </p:grpSpPr>
        <p:sp>
          <p:nvSpPr>
            <p:cNvPr name="Freeform 3" id="3" descr="preencoded.png"/>
            <p:cNvSpPr/>
            <p:nvPr/>
          </p:nvSpPr>
          <p:spPr>
            <a:xfrm flipH="false" flipV="false" rot="0">
              <a:off x="0" y="0"/>
              <a:ext cx="24384000" cy="13718412"/>
            </a:xfrm>
            <a:custGeom>
              <a:avLst/>
              <a:gdLst/>
              <a:ahLst/>
              <a:cxnLst/>
              <a:rect r="r" b="b" t="t" l="l"/>
              <a:pathLst>
                <a:path h="13718412" w="24384000">
                  <a:moveTo>
                    <a:pt x="0" y="0"/>
                  </a:moveTo>
                  <a:lnTo>
                    <a:pt x="24384000" y="0"/>
                  </a:lnTo>
                  <a:lnTo>
                    <a:pt x="24384000" y="13718412"/>
                  </a:lnTo>
                  <a:lnTo>
                    <a:pt x="0" y="13718412"/>
                  </a:lnTo>
                  <a:lnTo>
                    <a:pt x="0" y="0"/>
                  </a:lnTo>
                  <a:close/>
                </a:path>
              </a:pathLst>
            </a:custGeom>
            <a:blipFill>
              <a:blip r:embed="rId2"/>
              <a:stretch>
                <a:fillRect l="-13" t="0" r="-13" b="0"/>
              </a:stretch>
            </a:blipFill>
          </p:spPr>
        </p:sp>
      </p:grpSp>
      <p:grpSp>
        <p:nvGrpSpPr>
          <p:cNvPr name="Group 4" id="4"/>
          <p:cNvGrpSpPr/>
          <p:nvPr/>
        </p:nvGrpSpPr>
        <p:grpSpPr>
          <a:xfrm rot="0">
            <a:off x="5118887" y="481260"/>
            <a:ext cx="320802" cy="269843"/>
            <a:chOff x="0" y="0"/>
            <a:chExt cx="427736" cy="359791"/>
          </a:xfrm>
        </p:grpSpPr>
        <p:sp>
          <p:nvSpPr>
            <p:cNvPr name="Freeform 5" id="5" descr="preencoded.png"/>
            <p:cNvSpPr/>
            <p:nvPr/>
          </p:nvSpPr>
          <p:spPr>
            <a:xfrm flipH="false" flipV="false" rot="0">
              <a:off x="0" y="0"/>
              <a:ext cx="427736" cy="359791"/>
            </a:xfrm>
            <a:custGeom>
              <a:avLst/>
              <a:gdLst/>
              <a:ahLst/>
              <a:cxnLst/>
              <a:rect r="r" b="b" t="t" l="l"/>
              <a:pathLst>
                <a:path h="359791" w="427736">
                  <a:moveTo>
                    <a:pt x="0" y="0"/>
                  </a:moveTo>
                  <a:lnTo>
                    <a:pt x="427736" y="0"/>
                  </a:lnTo>
                  <a:lnTo>
                    <a:pt x="427736" y="359791"/>
                  </a:lnTo>
                  <a:lnTo>
                    <a:pt x="0" y="359791"/>
                  </a:lnTo>
                  <a:lnTo>
                    <a:pt x="0" y="0"/>
                  </a:lnTo>
                  <a:close/>
                </a:path>
              </a:pathLst>
            </a:custGeom>
            <a:blipFill>
              <a:blip r:embed="rId3"/>
              <a:stretch>
                <a:fillRect l="0" t="-525" r="0" b="-525"/>
              </a:stretch>
            </a:blipFill>
          </p:spPr>
        </p:sp>
      </p:grpSp>
      <p:sp>
        <p:nvSpPr>
          <p:cNvPr name="Freeform 6" id="6"/>
          <p:cNvSpPr/>
          <p:nvPr/>
        </p:nvSpPr>
        <p:spPr>
          <a:xfrm flipH="false" flipV="false" rot="0">
            <a:off x="701840" y="8817693"/>
            <a:ext cx="16855230" cy="1243374"/>
          </a:xfrm>
          <a:custGeom>
            <a:avLst/>
            <a:gdLst/>
            <a:ahLst/>
            <a:cxnLst/>
            <a:rect r="r" b="b" t="t" l="l"/>
            <a:pathLst>
              <a:path h="1243374" w="16855230">
                <a:moveTo>
                  <a:pt x="0" y="0"/>
                </a:moveTo>
                <a:lnTo>
                  <a:pt x="16855231" y="0"/>
                </a:lnTo>
                <a:lnTo>
                  <a:pt x="16855231" y="1243374"/>
                </a:lnTo>
                <a:lnTo>
                  <a:pt x="0" y="12433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1316976" y="9034624"/>
            <a:ext cx="816673" cy="736473"/>
            <a:chOff x="0" y="0"/>
            <a:chExt cx="1088898" cy="981964"/>
          </a:xfrm>
        </p:grpSpPr>
        <p:sp>
          <p:nvSpPr>
            <p:cNvPr name="Freeform 8" id="8" descr="preencoded.png"/>
            <p:cNvSpPr/>
            <p:nvPr/>
          </p:nvSpPr>
          <p:spPr>
            <a:xfrm flipH="false" flipV="false" rot="0">
              <a:off x="0" y="0"/>
              <a:ext cx="1088898" cy="981964"/>
            </a:xfrm>
            <a:custGeom>
              <a:avLst/>
              <a:gdLst/>
              <a:ahLst/>
              <a:cxnLst/>
              <a:rect r="r" b="b" t="t" l="l"/>
              <a:pathLst>
                <a:path h="981964" w="1088898">
                  <a:moveTo>
                    <a:pt x="0" y="0"/>
                  </a:moveTo>
                  <a:lnTo>
                    <a:pt x="1088898" y="0"/>
                  </a:lnTo>
                  <a:lnTo>
                    <a:pt x="1088898" y="981964"/>
                  </a:lnTo>
                  <a:lnTo>
                    <a:pt x="0" y="981964"/>
                  </a:lnTo>
                  <a:lnTo>
                    <a:pt x="0" y="0"/>
                  </a:lnTo>
                  <a:close/>
                </a:path>
              </a:pathLst>
            </a:custGeom>
            <a:blipFill>
              <a:blip r:embed="rId6"/>
              <a:stretch>
                <a:fillRect l="-44" t="0" r="-45" b="0"/>
              </a:stretch>
            </a:blipFill>
          </p:spPr>
        </p:sp>
      </p:grpSp>
      <p:grpSp>
        <p:nvGrpSpPr>
          <p:cNvPr name="Group 9" id="9"/>
          <p:cNvGrpSpPr/>
          <p:nvPr/>
        </p:nvGrpSpPr>
        <p:grpSpPr>
          <a:xfrm rot="0">
            <a:off x="10500284" y="9056494"/>
            <a:ext cx="357283" cy="780193"/>
            <a:chOff x="0" y="0"/>
            <a:chExt cx="476377" cy="1040257"/>
          </a:xfrm>
        </p:grpSpPr>
        <p:sp>
          <p:nvSpPr>
            <p:cNvPr name="Freeform 10" id="10"/>
            <p:cNvSpPr/>
            <p:nvPr/>
          </p:nvSpPr>
          <p:spPr>
            <a:xfrm flipH="false" flipV="false" rot="0">
              <a:off x="0" y="0"/>
              <a:ext cx="476377" cy="1040257"/>
            </a:xfrm>
            <a:custGeom>
              <a:avLst/>
              <a:gdLst/>
              <a:ahLst/>
              <a:cxnLst/>
              <a:rect r="r" b="b" t="t" l="l"/>
              <a:pathLst>
                <a:path h="1040257" w="476377">
                  <a:moveTo>
                    <a:pt x="0" y="0"/>
                  </a:moveTo>
                  <a:lnTo>
                    <a:pt x="476377" y="0"/>
                  </a:lnTo>
                  <a:lnTo>
                    <a:pt x="476377" y="1040257"/>
                  </a:lnTo>
                  <a:lnTo>
                    <a:pt x="0" y="1040257"/>
                  </a:lnTo>
                  <a:close/>
                </a:path>
              </a:pathLst>
            </a:custGeom>
            <a:solidFill>
              <a:srgbClr val="050507"/>
            </a:solidFill>
          </p:spPr>
        </p:sp>
      </p:grpSp>
      <p:grpSp>
        <p:nvGrpSpPr>
          <p:cNvPr name="Group 11" id="11"/>
          <p:cNvGrpSpPr/>
          <p:nvPr/>
        </p:nvGrpSpPr>
        <p:grpSpPr>
          <a:xfrm rot="0">
            <a:off x="10529459" y="9056494"/>
            <a:ext cx="685419" cy="772954"/>
            <a:chOff x="0" y="0"/>
            <a:chExt cx="913892" cy="1030605"/>
          </a:xfrm>
        </p:grpSpPr>
        <p:sp>
          <p:nvSpPr>
            <p:cNvPr name="Freeform 12" id="12" descr="preencoded.png"/>
            <p:cNvSpPr/>
            <p:nvPr/>
          </p:nvSpPr>
          <p:spPr>
            <a:xfrm flipH="false" flipV="false" rot="0">
              <a:off x="0" y="0"/>
              <a:ext cx="913892" cy="1030605"/>
            </a:xfrm>
            <a:custGeom>
              <a:avLst/>
              <a:gdLst/>
              <a:ahLst/>
              <a:cxnLst/>
              <a:rect r="r" b="b" t="t" l="l"/>
              <a:pathLst>
                <a:path h="1030605" w="913892">
                  <a:moveTo>
                    <a:pt x="0" y="0"/>
                  </a:moveTo>
                  <a:lnTo>
                    <a:pt x="913892" y="0"/>
                  </a:lnTo>
                  <a:lnTo>
                    <a:pt x="913892" y="1030605"/>
                  </a:lnTo>
                  <a:lnTo>
                    <a:pt x="0" y="1030605"/>
                  </a:lnTo>
                  <a:lnTo>
                    <a:pt x="0" y="0"/>
                  </a:lnTo>
                  <a:close/>
                </a:path>
              </a:pathLst>
            </a:custGeom>
            <a:blipFill>
              <a:blip r:embed="rId7"/>
              <a:stretch>
                <a:fillRect l="0" t="-75" r="0" b="-76"/>
              </a:stretch>
            </a:blipFill>
          </p:spPr>
        </p:sp>
      </p:grpSp>
      <p:grpSp>
        <p:nvGrpSpPr>
          <p:cNvPr name="Group 13" id="13"/>
          <p:cNvGrpSpPr/>
          <p:nvPr/>
        </p:nvGrpSpPr>
        <p:grpSpPr>
          <a:xfrm rot="0">
            <a:off x="10799254" y="9107538"/>
            <a:ext cx="21908" cy="670846"/>
            <a:chOff x="0" y="0"/>
            <a:chExt cx="29210" cy="894461"/>
          </a:xfrm>
        </p:grpSpPr>
        <p:sp>
          <p:nvSpPr>
            <p:cNvPr name="Freeform 14" id="14" descr="preencoded.png"/>
            <p:cNvSpPr/>
            <p:nvPr/>
          </p:nvSpPr>
          <p:spPr>
            <a:xfrm flipH="false" flipV="false" rot="0">
              <a:off x="0" y="0"/>
              <a:ext cx="29210" cy="894461"/>
            </a:xfrm>
            <a:custGeom>
              <a:avLst/>
              <a:gdLst/>
              <a:ahLst/>
              <a:cxnLst/>
              <a:rect r="r" b="b" t="t" l="l"/>
              <a:pathLst>
                <a:path h="894461" w="29210">
                  <a:moveTo>
                    <a:pt x="0" y="0"/>
                  </a:moveTo>
                  <a:lnTo>
                    <a:pt x="29210" y="0"/>
                  </a:lnTo>
                  <a:lnTo>
                    <a:pt x="29210" y="894461"/>
                  </a:lnTo>
                  <a:lnTo>
                    <a:pt x="0" y="894461"/>
                  </a:lnTo>
                  <a:lnTo>
                    <a:pt x="0" y="0"/>
                  </a:lnTo>
                  <a:close/>
                </a:path>
              </a:pathLst>
            </a:custGeom>
            <a:blipFill>
              <a:blip r:embed="rId8"/>
              <a:stretch>
                <a:fillRect l="-5347" t="0" r="-5347" b="0"/>
              </a:stretch>
            </a:blipFill>
          </p:spPr>
        </p:sp>
      </p:grpSp>
      <p:grpSp>
        <p:nvGrpSpPr>
          <p:cNvPr name="Group 15" id="15"/>
          <p:cNvGrpSpPr/>
          <p:nvPr/>
        </p:nvGrpSpPr>
        <p:grpSpPr>
          <a:xfrm rot="0">
            <a:off x="6475181" y="9100252"/>
            <a:ext cx="882301" cy="714566"/>
            <a:chOff x="0" y="0"/>
            <a:chExt cx="1176401" cy="952754"/>
          </a:xfrm>
        </p:grpSpPr>
        <p:sp>
          <p:nvSpPr>
            <p:cNvPr name="Freeform 16" id="16" descr="preencoded.png"/>
            <p:cNvSpPr/>
            <p:nvPr/>
          </p:nvSpPr>
          <p:spPr>
            <a:xfrm flipH="false" flipV="false" rot="0">
              <a:off x="0" y="0"/>
              <a:ext cx="1176401" cy="952754"/>
            </a:xfrm>
            <a:custGeom>
              <a:avLst/>
              <a:gdLst/>
              <a:ahLst/>
              <a:cxnLst/>
              <a:rect r="r" b="b" t="t" l="l"/>
              <a:pathLst>
                <a:path h="952754" w="1176401">
                  <a:moveTo>
                    <a:pt x="0" y="0"/>
                  </a:moveTo>
                  <a:lnTo>
                    <a:pt x="1176401" y="0"/>
                  </a:lnTo>
                  <a:lnTo>
                    <a:pt x="1176401" y="952754"/>
                  </a:lnTo>
                  <a:lnTo>
                    <a:pt x="0" y="952754"/>
                  </a:lnTo>
                  <a:lnTo>
                    <a:pt x="0" y="0"/>
                  </a:lnTo>
                  <a:close/>
                </a:path>
              </a:pathLst>
            </a:custGeom>
            <a:blipFill>
              <a:blip r:embed="rId9"/>
              <a:stretch>
                <a:fillRect l="0" t="-409" r="0" b="-409"/>
              </a:stretch>
            </a:blipFill>
          </p:spPr>
        </p:sp>
      </p:grpSp>
      <p:grpSp>
        <p:nvGrpSpPr>
          <p:cNvPr name="Group 17" id="17"/>
          <p:cNvGrpSpPr/>
          <p:nvPr/>
        </p:nvGrpSpPr>
        <p:grpSpPr>
          <a:xfrm rot="0">
            <a:off x="5753281" y="9107538"/>
            <a:ext cx="14573" cy="670846"/>
            <a:chOff x="0" y="0"/>
            <a:chExt cx="19431" cy="894461"/>
          </a:xfrm>
        </p:grpSpPr>
        <p:sp>
          <p:nvSpPr>
            <p:cNvPr name="Freeform 18" id="18" descr="preencoded.png"/>
            <p:cNvSpPr/>
            <p:nvPr/>
          </p:nvSpPr>
          <p:spPr>
            <a:xfrm flipH="false" flipV="false" rot="0">
              <a:off x="0" y="0"/>
              <a:ext cx="19431" cy="894461"/>
            </a:xfrm>
            <a:custGeom>
              <a:avLst/>
              <a:gdLst/>
              <a:ahLst/>
              <a:cxnLst/>
              <a:rect r="r" b="b" t="t" l="l"/>
              <a:pathLst>
                <a:path h="894461" w="19431">
                  <a:moveTo>
                    <a:pt x="0" y="0"/>
                  </a:moveTo>
                  <a:lnTo>
                    <a:pt x="19431" y="0"/>
                  </a:lnTo>
                  <a:lnTo>
                    <a:pt x="19431" y="894461"/>
                  </a:lnTo>
                  <a:lnTo>
                    <a:pt x="0" y="894461"/>
                  </a:lnTo>
                  <a:lnTo>
                    <a:pt x="0" y="0"/>
                  </a:lnTo>
                  <a:close/>
                </a:path>
              </a:pathLst>
            </a:custGeom>
            <a:blipFill>
              <a:blip r:embed="rId10"/>
              <a:stretch>
                <a:fillRect l="-35" t="0" r="-29" b="0"/>
              </a:stretch>
            </a:blipFill>
          </p:spPr>
        </p:sp>
      </p:grpSp>
      <p:grpSp>
        <p:nvGrpSpPr>
          <p:cNvPr name="Group 19" id="19"/>
          <p:cNvGrpSpPr/>
          <p:nvPr/>
        </p:nvGrpSpPr>
        <p:grpSpPr>
          <a:xfrm rot="0">
            <a:off x="1020861" y="8983580"/>
            <a:ext cx="911447" cy="911447"/>
            <a:chOff x="0" y="0"/>
            <a:chExt cx="1215263" cy="1215263"/>
          </a:xfrm>
        </p:grpSpPr>
        <p:sp>
          <p:nvSpPr>
            <p:cNvPr name="Freeform 20" id="20" descr="preencoded.png"/>
            <p:cNvSpPr/>
            <p:nvPr/>
          </p:nvSpPr>
          <p:spPr>
            <a:xfrm flipH="false" flipV="false" rot="0">
              <a:off x="0" y="0"/>
              <a:ext cx="1215263" cy="1215263"/>
            </a:xfrm>
            <a:custGeom>
              <a:avLst/>
              <a:gdLst/>
              <a:ahLst/>
              <a:cxnLst/>
              <a:rect r="r" b="b" t="t" l="l"/>
              <a:pathLst>
                <a:path h="1215263" w="1215263">
                  <a:moveTo>
                    <a:pt x="0" y="0"/>
                  </a:moveTo>
                  <a:lnTo>
                    <a:pt x="1215263" y="0"/>
                  </a:lnTo>
                  <a:lnTo>
                    <a:pt x="1215263" y="1215263"/>
                  </a:lnTo>
                  <a:lnTo>
                    <a:pt x="0" y="1215263"/>
                  </a:lnTo>
                  <a:lnTo>
                    <a:pt x="0" y="0"/>
                  </a:lnTo>
                  <a:close/>
                </a:path>
              </a:pathLst>
            </a:custGeom>
            <a:blipFill>
              <a:blip r:embed="rId11"/>
              <a:stretch>
                <a:fillRect l="0" t="0" r="0" b="0"/>
              </a:stretch>
            </a:blipFill>
          </p:spPr>
        </p:sp>
      </p:grpSp>
      <p:grpSp>
        <p:nvGrpSpPr>
          <p:cNvPr name="Group 21" id="21"/>
          <p:cNvGrpSpPr/>
          <p:nvPr/>
        </p:nvGrpSpPr>
        <p:grpSpPr>
          <a:xfrm rot="0">
            <a:off x="12542006" y="9267958"/>
            <a:ext cx="4192819" cy="448780"/>
            <a:chOff x="0" y="0"/>
            <a:chExt cx="5590426" cy="598373"/>
          </a:xfrm>
        </p:grpSpPr>
        <p:sp>
          <p:nvSpPr>
            <p:cNvPr name="Freeform 22" id="22"/>
            <p:cNvSpPr/>
            <p:nvPr/>
          </p:nvSpPr>
          <p:spPr>
            <a:xfrm flipH="false" flipV="false" rot="0">
              <a:off x="0" y="0"/>
              <a:ext cx="5590413" cy="598424"/>
            </a:xfrm>
            <a:custGeom>
              <a:avLst/>
              <a:gdLst/>
              <a:ahLst/>
              <a:cxnLst/>
              <a:rect r="r" b="b" t="t" l="l"/>
              <a:pathLst>
                <a:path h="598424" w="5590413">
                  <a:moveTo>
                    <a:pt x="0" y="0"/>
                  </a:moveTo>
                  <a:lnTo>
                    <a:pt x="5590413" y="0"/>
                  </a:lnTo>
                  <a:lnTo>
                    <a:pt x="5590413" y="598424"/>
                  </a:lnTo>
                  <a:lnTo>
                    <a:pt x="0" y="598424"/>
                  </a:lnTo>
                  <a:close/>
                </a:path>
              </a:pathLst>
            </a:custGeom>
            <a:blipFill>
              <a:blip r:embed="rId12">
                <a:alphaModFix amt="0"/>
              </a:blip>
              <a:stretch>
                <a:fillRect l="0" t="-131905" r="0" b="-131897"/>
              </a:stretch>
            </a:blipFill>
          </p:spPr>
        </p:sp>
      </p:grpSp>
      <p:grpSp>
        <p:nvGrpSpPr>
          <p:cNvPr name="Group 23" id="23"/>
          <p:cNvGrpSpPr/>
          <p:nvPr/>
        </p:nvGrpSpPr>
        <p:grpSpPr>
          <a:xfrm rot="0">
            <a:off x="12542006" y="9260815"/>
            <a:ext cx="4192819" cy="455924"/>
            <a:chOff x="0" y="0"/>
            <a:chExt cx="5590426" cy="607898"/>
          </a:xfrm>
        </p:grpSpPr>
        <p:sp>
          <p:nvSpPr>
            <p:cNvPr name="Freeform 24" id="24"/>
            <p:cNvSpPr/>
            <p:nvPr/>
          </p:nvSpPr>
          <p:spPr>
            <a:xfrm flipH="false" flipV="false" rot="0">
              <a:off x="0" y="0"/>
              <a:ext cx="5590425" cy="607904"/>
            </a:xfrm>
            <a:custGeom>
              <a:avLst/>
              <a:gdLst/>
              <a:ahLst/>
              <a:cxnLst/>
              <a:rect r="r" b="b" t="t" l="l"/>
              <a:pathLst>
                <a:path h="607904" w="5590425">
                  <a:moveTo>
                    <a:pt x="0" y="0"/>
                  </a:moveTo>
                  <a:lnTo>
                    <a:pt x="5590425" y="0"/>
                  </a:lnTo>
                  <a:lnTo>
                    <a:pt x="5590425" y="607904"/>
                  </a:lnTo>
                  <a:lnTo>
                    <a:pt x="0" y="607904"/>
                  </a:lnTo>
                  <a:close/>
                </a:path>
              </a:pathLst>
            </a:custGeom>
            <a:blipFill>
              <a:blip r:embed="rId13">
                <a:alphaModFix amt="0"/>
              </a:blip>
              <a:stretch>
                <a:fillRect l="0" t="-129189" r="0" b="-129188"/>
              </a:stretch>
            </a:blipFill>
          </p:spPr>
        </p:sp>
        <p:sp>
          <p:nvSpPr>
            <p:cNvPr name="TextBox 25" id="25"/>
            <p:cNvSpPr txBox="true"/>
            <p:nvPr/>
          </p:nvSpPr>
          <p:spPr>
            <a:xfrm>
              <a:off x="0" y="-9525"/>
              <a:ext cx="5590426" cy="617423"/>
            </a:xfrm>
            <a:prstGeom prst="rect">
              <a:avLst/>
            </a:prstGeom>
          </p:spPr>
          <p:txBody>
            <a:bodyPr anchor="ctr" rtlCol="false" tIns="0" lIns="0" bIns="0" rIns="0"/>
            <a:lstStyle/>
            <a:p>
              <a:pPr algn="l">
                <a:lnSpc>
                  <a:spcPts val="2526"/>
                </a:lnSpc>
              </a:pPr>
              <a:r>
                <a:rPr lang="en-US" sz="2101">
                  <a:solidFill>
                    <a:srgbClr val="B1AEAE"/>
                  </a:solidFill>
                  <a:latin typeface="TT Commons Pro"/>
                  <a:ea typeface="TT Commons Pro"/>
                  <a:cs typeface="TT Commons Pro"/>
                  <a:sym typeface="TT Commons Pro"/>
                </a:rPr>
                <a:t>Sant Baba Bhag Singh University</a:t>
              </a:r>
            </a:p>
          </p:txBody>
        </p:sp>
      </p:grpSp>
      <p:grpSp>
        <p:nvGrpSpPr>
          <p:cNvPr name="Group 26" id="26"/>
          <p:cNvGrpSpPr/>
          <p:nvPr/>
        </p:nvGrpSpPr>
        <p:grpSpPr>
          <a:xfrm rot="0">
            <a:off x="7667396" y="9198693"/>
            <a:ext cx="2876645" cy="437359"/>
            <a:chOff x="0" y="0"/>
            <a:chExt cx="3835527" cy="583146"/>
          </a:xfrm>
        </p:grpSpPr>
        <p:sp>
          <p:nvSpPr>
            <p:cNvPr name="Freeform 27" id="27"/>
            <p:cNvSpPr/>
            <p:nvPr/>
          </p:nvSpPr>
          <p:spPr>
            <a:xfrm flipH="false" flipV="false" rot="0">
              <a:off x="0" y="0"/>
              <a:ext cx="3835527" cy="583184"/>
            </a:xfrm>
            <a:custGeom>
              <a:avLst/>
              <a:gdLst/>
              <a:ahLst/>
              <a:cxnLst/>
              <a:rect r="r" b="b" t="t" l="l"/>
              <a:pathLst>
                <a:path h="583184" w="3835527">
                  <a:moveTo>
                    <a:pt x="0" y="0"/>
                  </a:moveTo>
                  <a:lnTo>
                    <a:pt x="3835527" y="0"/>
                  </a:lnTo>
                  <a:lnTo>
                    <a:pt x="3835527" y="583184"/>
                  </a:lnTo>
                  <a:lnTo>
                    <a:pt x="0" y="583184"/>
                  </a:lnTo>
                  <a:close/>
                </a:path>
              </a:pathLst>
            </a:custGeom>
            <a:blipFill>
              <a:blip r:embed="rId12">
                <a:alphaModFix amt="0"/>
              </a:blip>
              <a:stretch>
                <a:fillRect l="0" t="-78064" r="0" b="-78059"/>
              </a:stretch>
            </a:blipFill>
          </p:spPr>
        </p:sp>
      </p:grpSp>
      <p:grpSp>
        <p:nvGrpSpPr>
          <p:cNvPr name="Group 28" id="28"/>
          <p:cNvGrpSpPr/>
          <p:nvPr/>
        </p:nvGrpSpPr>
        <p:grpSpPr>
          <a:xfrm rot="0">
            <a:off x="7667396" y="9227268"/>
            <a:ext cx="2876645" cy="408784"/>
            <a:chOff x="0" y="0"/>
            <a:chExt cx="3835527" cy="545046"/>
          </a:xfrm>
        </p:grpSpPr>
        <p:sp>
          <p:nvSpPr>
            <p:cNvPr name="Freeform 29" id="29"/>
            <p:cNvSpPr/>
            <p:nvPr/>
          </p:nvSpPr>
          <p:spPr>
            <a:xfrm flipH="false" flipV="false" rot="0">
              <a:off x="0" y="0"/>
              <a:ext cx="3835533" cy="545051"/>
            </a:xfrm>
            <a:custGeom>
              <a:avLst/>
              <a:gdLst/>
              <a:ahLst/>
              <a:cxnLst/>
              <a:rect r="r" b="b" t="t" l="l"/>
              <a:pathLst>
                <a:path h="545051" w="3835533">
                  <a:moveTo>
                    <a:pt x="0" y="0"/>
                  </a:moveTo>
                  <a:lnTo>
                    <a:pt x="3835533" y="0"/>
                  </a:lnTo>
                  <a:lnTo>
                    <a:pt x="3835533" y="545051"/>
                  </a:lnTo>
                  <a:lnTo>
                    <a:pt x="0" y="545051"/>
                  </a:lnTo>
                  <a:close/>
                </a:path>
              </a:pathLst>
            </a:custGeom>
            <a:blipFill>
              <a:blip r:embed="rId13">
                <a:alphaModFix amt="0"/>
              </a:blip>
              <a:stretch>
                <a:fillRect l="0" t="-87116" r="0" b="-87115"/>
              </a:stretch>
            </a:blipFill>
          </p:spPr>
        </p:sp>
        <p:sp>
          <p:nvSpPr>
            <p:cNvPr name="TextBox 30" id="30"/>
            <p:cNvSpPr txBox="true"/>
            <p:nvPr/>
          </p:nvSpPr>
          <p:spPr>
            <a:xfrm>
              <a:off x="0" y="38100"/>
              <a:ext cx="3835527" cy="506946"/>
            </a:xfrm>
            <a:prstGeom prst="rect">
              <a:avLst/>
            </a:prstGeom>
          </p:spPr>
          <p:txBody>
            <a:bodyPr anchor="ctr" rtlCol="false" tIns="0" lIns="0" bIns="0" rIns="0"/>
            <a:lstStyle/>
            <a:p>
              <a:pPr algn="l">
                <a:lnSpc>
                  <a:spcPts val="2066"/>
                </a:lnSpc>
              </a:pPr>
              <a:r>
                <a:rPr lang="en-US" sz="2043">
                  <a:solidFill>
                    <a:srgbClr val="A5A5A5"/>
                  </a:solidFill>
                  <a:latin typeface="TT Commons Pro"/>
                  <a:ea typeface="TT Commons Pro"/>
                  <a:cs typeface="TT Commons Pro"/>
                  <a:sym typeface="TT Commons Pro"/>
                </a:rPr>
                <a:t>B.Tech CSE (AI &amp; ML)</a:t>
              </a:r>
            </a:p>
          </p:txBody>
        </p:sp>
      </p:grpSp>
      <p:grpSp>
        <p:nvGrpSpPr>
          <p:cNvPr name="Group 31" id="31"/>
          <p:cNvGrpSpPr/>
          <p:nvPr/>
        </p:nvGrpSpPr>
        <p:grpSpPr>
          <a:xfrm rot="0">
            <a:off x="2333396" y="9384630"/>
            <a:ext cx="2632367" cy="682323"/>
            <a:chOff x="0" y="0"/>
            <a:chExt cx="3509823" cy="909765"/>
          </a:xfrm>
        </p:grpSpPr>
        <p:sp>
          <p:nvSpPr>
            <p:cNvPr name="Freeform 32" id="32"/>
            <p:cNvSpPr/>
            <p:nvPr/>
          </p:nvSpPr>
          <p:spPr>
            <a:xfrm flipH="false" flipV="false" rot="0">
              <a:off x="0" y="0"/>
              <a:ext cx="3509772" cy="909701"/>
            </a:xfrm>
            <a:custGeom>
              <a:avLst/>
              <a:gdLst/>
              <a:ahLst/>
              <a:cxnLst/>
              <a:rect r="r" b="b" t="t" l="l"/>
              <a:pathLst>
                <a:path h="909701" w="3509772">
                  <a:moveTo>
                    <a:pt x="0" y="0"/>
                  </a:moveTo>
                  <a:lnTo>
                    <a:pt x="3509772" y="0"/>
                  </a:lnTo>
                  <a:lnTo>
                    <a:pt x="3509772" y="909701"/>
                  </a:lnTo>
                  <a:lnTo>
                    <a:pt x="0" y="909701"/>
                  </a:lnTo>
                  <a:close/>
                </a:path>
              </a:pathLst>
            </a:custGeom>
            <a:blipFill>
              <a:blip r:embed="rId12">
                <a:alphaModFix amt="0"/>
              </a:blip>
              <a:stretch>
                <a:fillRect l="0" t="-25122" r="-1" b="-25127"/>
              </a:stretch>
            </a:blipFill>
          </p:spPr>
        </p:sp>
      </p:grpSp>
      <p:grpSp>
        <p:nvGrpSpPr>
          <p:cNvPr name="Group 33" id="33"/>
          <p:cNvGrpSpPr/>
          <p:nvPr/>
        </p:nvGrpSpPr>
        <p:grpSpPr>
          <a:xfrm rot="0">
            <a:off x="2333396" y="9463211"/>
            <a:ext cx="2632367" cy="603733"/>
            <a:chOff x="0" y="0"/>
            <a:chExt cx="3509823" cy="804977"/>
          </a:xfrm>
        </p:grpSpPr>
        <p:sp>
          <p:nvSpPr>
            <p:cNvPr name="Freeform 34" id="34"/>
            <p:cNvSpPr/>
            <p:nvPr/>
          </p:nvSpPr>
          <p:spPr>
            <a:xfrm flipH="false" flipV="false" rot="0">
              <a:off x="0" y="0"/>
              <a:ext cx="3509823" cy="804981"/>
            </a:xfrm>
            <a:custGeom>
              <a:avLst/>
              <a:gdLst/>
              <a:ahLst/>
              <a:cxnLst/>
              <a:rect r="r" b="b" t="t" l="l"/>
              <a:pathLst>
                <a:path h="804981" w="3509823">
                  <a:moveTo>
                    <a:pt x="0" y="0"/>
                  </a:moveTo>
                  <a:lnTo>
                    <a:pt x="3509823" y="0"/>
                  </a:lnTo>
                  <a:lnTo>
                    <a:pt x="3509823" y="804981"/>
                  </a:lnTo>
                  <a:lnTo>
                    <a:pt x="0" y="804981"/>
                  </a:lnTo>
                  <a:close/>
                </a:path>
              </a:pathLst>
            </a:custGeom>
            <a:blipFill>
              <a:blip r:embed="rId13">
                <a:alphaModFix amt="0"/>
              </a:blip>
              <a:stretch>
                <a:fillRect l="0" t="-34957" r="0" b="-34957"/>
              </a:stretch>
            </a:blipFill>
          </p:spPr>
        </p:sp>
        <p:sp>
          <p:nvSpPr>
            <p:cNvPr name="TextBox 35" id="35"/>
            <p:cNvSpPr txBox="true"/>
            <p:nvPr/>
          </p:nvSpPr>
          <p:spPr>
            <a:xfrm>
              <a:off x="0" y="104775"/>
              <a:ext cx="3509823" cy="700202"/>
            </a:xfrm>
            <a:prstGeom prst="rect">
              <a:avLst/>
            </a:prstGeom>
          </p:spPr>
          <p:txBody>
            <a:bodyPr anchor="ctr" rtlCol="false" tIns="0" lIns="0" bIns="0" rIns="0"/>
            <a:lstStyle/>
            <a:p>
              <a:pPr algn="l">
                <a:lnSpc>
                  <a:spcPts val="2697"/>
                </a:lnSpc>
              </a:pPr>
              <a:r>
                <a:rPr lang="en-US" sz="3192" b="true">
                  <a:solidFill>
                    <a:srgbClr val="CFCFCF"/>
                  </a:solidFill>
                  <a:latin typeface="TT Commons Pro Bold"/>
                  <a:ea typeface="TT Commons Pro Bold"/>
                  <a:cs typeface="TT Commons Pro Bold"/>
                  <a:sym typeface="TT Commons Pro Bold"/>
                </a:rPr>
                <a:t>Parneet Kaur</a:t>
              </a:r>
            </a:p>
          </p:txBody>
        </p:sp>
      </p:grpSp>
      <p:grpSp>
        <p:nvGrpSpPr>
          <p:cNvPr name="Group 36" id="36"/>
          <p:cNvGrpSpPr/>
          <p:nvPr/>
        </p:nvGrpSpPr>
        <p:grpSpPr>
          <a:xfrm rot="0">
            <a:off x="2333396" y="9133732"/>
            <a:ext cx="1822971" cy="364769"/>
            <a:chOff x="0" y="0"/>
            <a:chExt cx="2430628" cy="486359"/>
          </a:xfrm>
        </p:grpSpPr>
        <p:sp>
          <p:nvSpPr>
            <p:cNvPr name="Freeform 37" id="37"/>
            <p:cNvSpPr/>
            <p:nvPr/>
          </p:nvSpPr>
          <p:spPr>
            <a:xfrm flipH="false" flipV="false" rot="0">
              <a:off x="0" y="0"/>
              <a:ext cx="2430653" cy="486410"/>
            </a:xfrm>
            <a:custGeom>
              <a:avLst/>
              <a:gdLst/>
              <a:ahLst/>
              <a:cxnLst/>
              <a:rect r="r" b="b" t="t" l="l"/>
              <a:pathLst>
                <a:path h="486410" w="2430653">
                  <a:moveTo>
                    <a:pt x="0" y="0"/>
                  </a:moveTo>
                  <a:lnTo>
                    <a:pt x="2430653" y="0"/>
                  </a:lnTo>
                  <a:lnTo>
                    <a:pt x="2430653" y="486410"/>
                  </a:lnTo>
                  <a:lnTo>
                    <a:pt x="0" y="486410"/>
                  </a:lnTo>
                  <a:close/>
                </a:path>
              </a:pathLst>
            </a:custGeom>
            <a:blipFill>
              <a:blip r:embed="rId12">
                <a:alphaModFix amt="0"/>
              </a:blip>
              <a:stretch>
                <a:fillRect l="0" t="-47305" r="1" b="-47295"/>
              </a:stretch>
            </a:blipFill>
          </p:spPr>
        </p:sp>
      </p:grpSp>
      <p:grpSp>
        <p:nvGrpSpPr>
          <p:cNvPr name="Group 38" id="38"/>
          <p:cNvGrpSpPr/>
          <p:nvPr/>
        </p:nvGrpSpPr>
        <p:grpSpPr>
          <a:xfrm rot="0">
            <a:off x="2333396" y="9169451"/>
            <a:ext cx="1822971" cy="329051"/>
            <a:chOff x="0" y="0"/>
            <a:chExt cx="2430628" cy="438734"/>
          </a:xfrm>
        </p:grpSpPr>
        <p:sp>
          <p:nvSpPr>
            <p:cNvPr name="Freeform 39" id="39"/>
            <p:cNvSpPr/>
            <p:nvPr/>
          </p:nvSpPr>
          <p:spPr>
            <a:xfrm flipH="false" flipV="false" rot="0">
              <a:off x="0" y="0"/>
              <a:ext cx="2430628" cy="438734"/>
            </a:xfrm>
            <a:custGeom>
              <a:avLst/>
              <a:gdLst/>
              <a:ahLst/>
              <a:cxnLst/>
              <a:rect r="r" b="b" t="t" l="l"/>
              <a:pathLst>
                <a:path h="438734" w="2430628">
                  <a:moveTo>
                    <a:pt x="0" y="0"/>
                  </a:moveTo>
                  <a:lnTo>
                    <a:pt x="2430628" y="0"/>
                  </a:lnTo>
                  <a:lnTo>
                    <a:pt x="2430628" y="438734"/>
                  </a:lnTo>
                  <a:lnTo>
                    <a:pt x="0" y="438734"/>
                  </a:lnTo>
                  <a:close/>
                </a:path>
              </a:pathLst>
            </a:custGeom>
            <a:blipFill>
              <a:blip r:embed="rId13">
                <a:alphaModFix amt="0"/>
              </a:blip>
              <a:stretch>
                <a:fillRect l="0" t="-57948" r="0" b="-57949"/>
              </a:stretch>
            </a:blipFill>
          </p:spPr>
        </p:sp>
        <p:sp>
          <p:nvSpPr>
            <p:cNvPr name="TextBox 40" id="40"/>
            <p:cNvSpPr txBox="true"/>
            <p:nvPr/>
          </p:nvSpPr>
          <p:spPr>
            <a:xfrm>
              <a:off x="0" y="47625"/>
              <a:ext cx="2430628" cy="391109"/>
            </a:xfrm>
            <a:prstGeom prst="rect">
              <a:avLst/>
            </a:prstGeom>
          </p:spPr>
          <p:txBody>
            <a:bodyPr anchor="ctr" rtlCol="false" tIns="0" lIns="0" bIns="0" rIns="0"/>
            <a:lstStyle/>
            <a:p>
              <a:pPr algn="l">
                <a:lnSpc>
                  <a:spcPts val="1693"/>
                </a:lnSpc>
              </a:pPr>
              <a:r>
                <a:rPr lang="en-US" sz="1709" b="true">
                  <a:solidFill>
                    <a:srgbClr val="A6520E"/>
                  </a:solidFill>
                  <a:latin typeface="TT Commons Pro Bold"/>
                  <a:ea typeface="TT Commons Pro Bold"/>
                  <a:cs typeface="TT Commons Pro Bold"/>
                  <a:sym typeface="TT Commons Pro Bold"/>
                </a:rPr>
                <a:t>Presented by:</a:t>
              </a:r>
            </a:p>
          </p:txBody>
        </p:sp>
      </p:grpSp>
      <p:grpSp>
        <p:nvGrpSpPr>
          <p:cNvPr name="Group 41" id="41"/>
          <p:cNvGrpSpPr/>
          <p:nvPr/>
        </p:nvGrpSpPr>
        <p:grpSpPr>
          <a:xfrm rot="0">
            <a:off x="12760766" y="7459580"/>
            <a:ext cx="1618774" cy="1013555"/>
            <a:chOff x="0" y="0"/>
            <a:chExt cx="2158365" cy="1351407"/>
          </a:xfrm>
        </p:grpSpPr>
        <p:sp>
          <p:nvSpPr>
            <p:cNvPr name="Freeform 42" id="42" descr="preencoded.png"/>
            <p:cNvSpPr/>
            <p:nvPr/>
          </p:nvSpPr>
          <p:spPr>
            <a:xfrm flipH="false" flipV="false" rot="0">
              <a:off x="0" y="0"/>
              <a:ext cx="2158365" cy="1351407"/>
            </a:xfrm>
            <a:custGeom>
              <a:avLst/>
              <a:gdLst/>
              <a:ahLst/>
              <a:cxnLst/>
              <a:rect r="r" b="b" t="t" l="l"/>
              <a:pathLst>
                <a:path h="1351407" w="2158365">
                  <a:moveTo>
                    <a:pt x="0" y="0"/>
                  </a:moveTo>
                  <a:lnTo>
                    <a:pt x="2158365" y="0"/>
                  </a:lnTo>
                  <a:lnTo>
                    <a:pt x="2158365" y="1351407"/>
                  </a:lnTo>
                  <a:lnTo>
                    <a:pt x="0" y="1351407"/>
                  </a:lnTo>
                  <a:lnTo>
                    <a:pt x="0" y="0"/>
                  </a:lnTo>
                  <a:close/>
                </a:path>
              </a:pathLst>
            </a:custGeom>
            <a:blipFill>
              <a:blip r:embed="rId14"/>
              <a:stretch>
                <a:fillRect l="0" t="-309" r="0" b="-310"/>
              </a:stretch>
            </a:blipFill>
          </p:spPr>
        </p:sp>
      </p:grpSp>
      <p:sp>
        <p:nvSpPr>
          <p:cNvPr name="Freeform 43" id="43"/>
          <p:cNvSpPr/>
          <p:nvPr/>
        </p:nvSpPr>
        <p:spPr>
          <a:xfrm flipH="false" flipV="false" rot="0">
            <a:off x="5334000" y="6777790"/>
            <a:ext cx="6358480" cy="1822961"/>
          </a:xfrm>
          <a:custGeom>
            <a:avLst/>
            <a:gdLst/>
            <a:ahLst/>
            <a:cxnLst/>
            <a:rect r="r" b="b" t="t" l="l"/>
            <a:pathLst>
              <a:path h="1822961" w="6358480">
                <a:moveTo>
                  <a:pt x="0" y="0"/>
                </a:moveTo>
                <a:lnTo>
                  <a:pt x="6358480" y="0"/>
                </a:lnTo>
                <a:lnTo>
                  <a:pt x="6358480" y="1822961"/>
                </a:lnTo>
                <a:lnTo>
                  <a:pt x="0" y="182296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44" id="44"/>
          <p:cNvGrpSpPr/>
          <p:nvPr/>
        </p:nvGrpSpPr>
        <p:grpSpPr>
          <a:xfrm rot="0">
            <a:off x="10383622" y="7824168"/>
            <a:ext cx="1115654" cy="554184"/>
            <a:chOff x="0" y="0"/>
            <a:chExt cx="1487538" cy="738911"/>
          </a:xfrm>
        </p:grpSpPr>
        <p:sp>
          <p:nvSpPr>
            <p:cNvPr name="Freeform 45" id="45"/>
            <p:cNvSpPr/>
            <p:nvPr/>
          </p:nvSpPr>
          <p:spPr>
            <a:xfrm flipH="false" flipV="false" rot="0">
              <a:off x="0" y="0"/>
              <a:ext cx="1487551" cy="738886"/>
            </a:xfrm>
            <a:custGeom>
              <a:avLst/>
              <a:gdLst/>
              <a:ahLst/>
              <a:cxnLst/>
              <a:rect r="r" b="b" t="t" l="l"/>
              <a:pathLst>
                <a:path h="738886" w="1487551">
                  <a:moveTo>
                    <a:pt x="0" y="0"/>
                  </a:moveTo>
                  <a:lnTo>
                    <a:pt x="1487551" y="0"/>
                  </a:lnTo>
                  <a:lnTo>
                    <a:pt x="1487551" y="738886"/>
                  </a:lnTo>
                  <a:lnTo>
                    <a:pt x="0" y="738886"/>
                  </a:lnTo>
                  <a:close/>
                </a:path>
              </a:pathLst>
            </a:custGeom>
            <a:blipFill>
              <a:blip r:embed="rId12">
                <a:alphaModFix amt="0"/>
              </a:blip>
              <a:stretch>
                <a:fillRect l="-13776" t="0" r="-13776" b="-3"/>
              </a:stretch>
            </a:blipFill>
          </p:spPr>
        </p:sp>
      </p:grpSp>
      <p:grpSp>
        <p:nvGrpSpPr>
          <p:cNvPr name="Group 46" id="46"/>
          <p:cNvGrpSpPr/>
          <p:nvPr/>
        </p:nvGrpSpPr>
        <p:grpSpPr>
          <a:xfrm rot="0">
            <a:off x="10383622" y="7802737"/>
            <a:ext cx="1115654" cy="575615"/>
            <a:chOff x="0" y="0"/>
            <a:chExt cx="1487538" cy="767486"/>
          </a:xfrm>
        </p:grpSpPr>
        <p:sp>
          <p:nvSpPr>
            <p:cNvPr name="Freeform 47" id="47"/>
            <p:cNvSpPr/>
            <p:nvPr/>
          </p:nvSpPr>
          <p:spPr>
            <a:xfrm flipH="false" flipV="false" rot="0">
              <a:off x="0" y="0"/>
              <a:ext cx="1487539" cy="767484"/>
            </a:xfrm>
            <a:custGeom>
              <a:avLst/>
              <a:gdLst/>
              <a:ahLst/>
              <a:cxnLst/>
              <a:rect r="r" b="b" t="t" l="l"/>
              <a:pathLst>
                <a:path h="767484" w="1487539">
                  <a:moveTo>
                    <a:pt x="0" y="0"/>
                  </a:moveTo>
                  <a:lnTo>
                    <a:pt x="1487539" y="0"/>
                  </a:lnTo>
                  <a:lnTo>
                    <a:pt x="1487539" y="767484"/>
                  </a:lnTo>
                  <a:lnTo>
                    <a:pt x="0" y="767484"/>
                  </a:lnTo>
                  <a:close/>
                </a:path>
              </a:pathLst>
            </a:custGeom>
            <a:blipFill>
              <a:blip r:embed="rId13">
                <a:alphaModFix amt="0"/>
              </a:blip>
              <a:stretch>
                <a:fillRect l="-16197" t="0" r="-16197" b="0"/>
              </a:stretch>
            </a:blipFill>
          </p:spPr>
        </p:sp>
        <p:sp>
          <p:nvSpPr>
            <p:cNvPr name="TextBox 48" id="48"/>
            <p:cNvSpPr txBox="true"/>
            <p:nvPr/>
          </p:nvSpPr>
          <p:spPr>
            <a:xfrm>
              <a:off x="0" y="-28575"/>
              <a:ext cx="1487538" cy="796061"/>
            </a:xfrm>
            <a:prstGeom prst="rect">
              <a:avLst/>
            </a:prstGeom>
          </p:spPr>
          <p:txBody>
            <a:bodyPr anchor="ctr" rtlCol="false" tIns="0" lIns="0" bIns="0" rIns="0"/>
            <a:lstStyle/>
            <a:p>
              <a:pPr algn="ctr">
                <a:lnSpc>
                  <a:spcPts val="1866"/>
                </a:lnSpc>
              </a:pPr>
              <a:r>
                <a:rPr lang="en-US" sz="1200">
                  <a:solidFill>
                    <a:srgbClr val="A9A9A9"/>
                  </a:solidFill>
                  <a:latin typeface="TT Commons Pro"/>
                  <a:ea typeface="TT Commons Pro"/>
                  <a:cs typeface="TT Commons Pro"/>
                  <a:sym typeface="TT Commons Pro"/>
                </a:rPr>
                <a:t>HAPPIER</a:t>
              </a:r>
            </a:p>
            <a:p>
              <a:pPr algn="ctr">
                <a:lnSpc>
                  <a:spcPts val="1866"/>
                </a:lnSpc>
              </a:pPr>
              <a:r>
                <a:rPr lang="en-US" sz="1200">
                  <a:solidFill>
                    <a:srgbClr val="A9A9A9"/>
                  </a:solidFill>
                  <a:latin typeface="TT Commons Pro"/>
                  <a:ea typeface="TT Commons Pro"/>
                  <a:cs typeface="TT Commons Pro"/>
                  <a:sym typeface="TT Commons Pro"/>
                </a:rPr>
                <a:t>CUSTOMERS</a:t>
              </a:r>
            </a:p>
          </p:txBody>
        </p:sp>
      </p:grpSp>
      <p:grpSp>
        <p:nvGrpSpPr>
          <p:cNvPr name="Group 49" id="49"/>
          <p:cNvGrpSpPr/>
          <p:nvPr/>
        </p:nvGrpSpPr>
        <p:grpSpPr>
          <a:xfrm rot="0">
            <a:off x="10544042" y="7094982"/>
            <a:ext cx="765620" cy="561499"/>
            <a:chOff x="0" y="0"/>
            <a:chExt cx="1020826" cy="748665"/>
          </a:xfrm>
        </p:grpSpPr>
        <p:sp>
          <p:nvSpPr>
            <p:cNvPr name="Freeform 50" id="50" descr="preencoded.png"/>
            <p:cNvSpPr/>
            <p:nvPr/>
          </p:nvSpPr>
          <p:spPr>
            <a:xfrm flipH="false" flipV="false" rot="0">
              <a:off x="0" y="0"/>
              <a:ext cx="1020826" cy="748665"/>
            </a:xfrm>
            <a:custGeom>
              <a:avLst/>
              <a:gdLst/>
              <a:ahLst/>
              <a:cxnLst/>
              <a:rect r="r" b="b" t="t" l="l"/>
              <a:pathLst>
                <a:path h="748665" w="1020826">
                  <a:moveTo>
                    <a:pt x="0" y="0"/>
                  </a:moveTo>
                  <a:lnTo>
                    <a:pt x="1020826" y="0"/>
                  </a:lnTo>
                  <a:lnTo>
                    <a:pt x="1020826" y="748665"/>
                  </a:lnTo>
                  <a:lnTo>
                    <a:pt x="0" y="748665"/>
                  </a:lnTo>
                  <a:lnTo>
                    <a:pt x="0" y="0"/>
                  </a:lnTo>
                  <a:close/>
                </a:path>
              </a:pathLst>
            </a:custGeom>
            <a:blipFill>
              <a:blip r:embed="rId17"/>
              <a:stretch>
                <a:fillRect l="-221" t="0" r="-221" b="0"/>
              </a:stretch>
            </a:blipFill>
          </p:spPr>
        </p:sp>
      </p:grpSp>
      <p:grpSp>
        <p:nvGrpSpPr>
          <p:cNvPr name="Group 51" id="51"/>
          <p:cNvGrpSpPr/>
          <p:nvPr/>
        </p:nvGrpSpPr>
        <p:grpSpPr>
          <a:xfrm rot="0">
            <a:off x="10121113" y="7131444"/>
            <a:ext cx="58293" cy="1181290"/>
            <a:chOff x="0" y="0"/>
            <a:chExt cx="77724" cy="1575054"/>
          </a:xfrm>
        </p:grpSpPr>
        <p:sp>
          <p:nvSpPr>
            <p:cNvPr name="Freeform 52" id="52" descr="preencoded.png"/>
            <p:cNvSpPr/>
            <p:nvPr/>
          </p:nvSpPr>
          <p:spPr>
            <a:xfrm flipH="false" flipV="false" rot="0">
              <a:off x="0" y="0"/>
              <a:ext cx="77724" cy="1575054"/>
            </a:xfrm>
            <a:custGeom>
              <a:avLst/>
              <a:gdLst/>
              <a:ahLst/>
              <a:cxnLst/>
              <a:rect r="r" b="b" t="t" l="l"/>
              <a:pathLst>
                <a:path h="1575054" w="77724">
                  <a:moveTo>
                    <a:pt x="0" y="0"/>
                  </a:moveTo>
                  <a:lnTo>
                    <a:pt x="77724" y="0"/>
                  </a:lnTo>
                  <a:lnTo>
                    <a:pt x="77724" y="1575054"/>
                  </a:lnTo>
                  <a:lnTo>
                    <a:pt x="0" y="1575054"/>
                  </a:lnTo>
                  <a:lnTo>
                    <a:pt x="0" y="0"/>
                  </a:lnTo>
                  <a:close/>
                </a:path>
              </a:pathLst>
            </a:custGeom>
            <a:blipFill>
              <a:blip r:embed="rId18"/>
              <a:stretch>
                <a:fillRect l="-5522" t="0" r="-5522" b="0"/>
              </a:stretch>
            </a:blipFill>
          </p:spPr>
        </p:sp>
      </p:grpSp>
      <p:grpSp>
        <p:nvGrpSpPr>
          <p:cNvPr name="Group 53" id="53"/>
          <p:cNvGrpSpPr/>
          <p:nvPr/>
        </p:nvGrpSpPr>
        <p:grpSpPr>
          <a:xfrm rot="0">
            <a:off x="8735654" y="7824168"/>
            <a:ext cx="1254204" cy="561480"/>
            <a:chOff x="0" y="0"/>
            <a:chExt cx="1672273" cy="748640"/>
          </a:xfrm>
        </p:grpSpPr>
        <p:sp>
          <p:nvSpPr>
            <p:cNvPr name="Freeform 54" id="54"/>
            <p:cNvSpPr/>
            <p:nvPr/>
          </p:nvSpPr>
          <p:spPr>
            <a:xfrm flipH="false" flipV="false" rot="0">
              <a:off x="0" y="0"/>
              <a:ext cx="1672209" cy="748665"/>
            </a:xfrm>
            <a:custGeom>
              <a:avLst/>
              <a:gdLst/>
              <a:ahLst/>
              <a:cxnLst/>
              <a:rect r="r" b="b" t="t" l="l"/>
              <a:pathLst>
                <a:path h="748665" w="1672209">
                  <a:moveTo>
                    <a:pt x="0" y="0"/>
                  </a:moveTo>
                  <a:lnTo>
                    <a:pt x="1672209" y="0"/>
                  </a:lnTo>
                  <a:lnTo>
                    <a:pt x="1672209" y="748665"/>
                  </a:lnTo>
                  <a:lnTo>
                    <a:pt x="0" y="748665"/>
                  </a:lnTo>
                  <a:close/>
                </a:path>
              </a:pathLst>
            </a:custGeom>
            <a:blipFill>
              <a:blip r:embed="rId12">
                <a:alphaModFix amt="0"/>
              </a:blip>
              <a:stretch>
                <a:fillRect l="-7478" t="0" r="-7482" b="3"/>
              </a:stretch>
            </a:blipFill>
          </p:spPr>
        </p:sp>
      </p:grpSp>
      <p:grpSp>
        <p:nvGrpSpPr>
          <p:cNvPr name="Group 55" id="55"/>
          <p:cNvGrpSpPr/>
          <p:nvPr/>
        </p:nvGrpSpPr>
        <p:grpSpPr>
          <a:xfrm rot="0">
            <a:off x="8735654" y="7802737"/>
            <a:ext cx="1254204" cy="582901"/>
            <a:chOff x="0" y="0"/>
            <a:chExt cx="1672273" cy="777202"/>
          </a:xfrm>
        </p:grpSpPr>
        <p:sp>
          <p:nvSpPr>
            <p:cNvPr name="Freeform 56" id="56"/>
            <p:cNvSpPr/>
            <p:nvPr/>
          </p:nvSpPr>
          <p:spPr>
            <a:xfrm flipH="false" flipV="false" rot="0">
              <a:off x="0" y="0"/>
              <a:ext cx="1672272" cy="777207"/>
            </a:xfrm>
            <a:custGeom>
              <a:avLst/>
              <a:gdLst/>
              <a:ahLst/>
              <a:cxnLst/>
              <a:rect r="r" b="b" t="t" l="l"/>
              <a:pathLst>
                <a:path h="777207" w="1672272">
                  <a:moveTo>
                    <a:pt x="0" y="0"/>
                  </a:moveTo>
                  <a:lnTo>
                    <a:pt x="1672272" y="0"/>
                  </a:lnTo>
                  <a:lnTo>
                    <a:pt x="1672272" y="777207"/>
                  </a:lnTo>
                  <a:lnTo>
                    <a:pt x="0" y="777207"/>
                  </a:lnTo>
                  <a:close/>
                </a:path>
              </a:pathLst>
            </a:custGeom>
            <a:blipFill>
              <a:blip r:embed="rId13">
                <a:alphaModFix amt="0"/>
              </a:blip>
              <a:stretch>
                <a:fillRect l="-9630" t="0" r="-9630" b="0"/>
              </a:stretch>
            </a:blipFill>
          </p:spPr>
        </p:sp>
        <p:sp>
          <p:nvSpPr>
            <p:cNvPr name="TextBox 57" id="57"/>
            <p:cNvSpPr txBox="true"/>
            <p:nvPr/>
          </p:nvSpPr>
          <p:spPr>
            <a:xfrm>
              <a:off x="0" y="-28575"/>
              <a:ext cx="1672273" cy="805777"/>
            </a:xfrm>
            <a:prstGeom prst="rect">
              <a:avLst/>
            </a:prstGeom>
          </p:spPr>
          <p:txBody>
            <a:bodyPr anchor="ctr" rtlCol="false" tIns="0" lIns="0" bIns="0" rIns="0"/>
            <a:lstStyle/>
            <a:p>
              <a:pPr algn="ctr">
                <a:lnSpc>
                  <a:spcPts val="1866"/>
                </a:lnSpc>
              </a:pPr>
              <a:r>
                <a:rPr lang="en-US" sz="1200">
                  <a:solidFill>
                    <a:srgbClr val="A8A8A8"/>
                  </a:solidFill>
                  <a:latin typeface="TT Commons Pro"/>
                  <a:ea typeface="TT Commons Pro"/>
                  <a:cs typeface="TT Commons Pro"/>
                  <a:sym typeface="TT Commons Pro"/>
                </a:rPr>
                <a:t>SMARTER</a:t>
              </a:r>
            </a:p>
            <a:p>
              <a:pPr algn="ctr">
                <a:lnSpc>
                  <a:spcPts val="1866"/>
                </a:lnSpc>
              </a:pPr>
              <a:r>
                <a:rPr lang="en-US" sz="1200">
                  <a:solidFill>
                    <a:srgbClr val="A8A8A8"/>
                  </a:solidFill>
                  <a:latin typeface="TT Commons Pro"/>
                  <a:ea typeface="TT Commons Pro"/>
                  <a:cs typeface="TT Commons Pro"/>
                  <a:sym typeface="TT Commons Pro"/>
                </a:rPr>
                <a:t>TECHNOLOGY</a:t>
              </a:r>
            </a:p>
          </p:txBody>
        </p:sp>
      </p:grpSp>
      <p:grpSp>
        <p:nvGrpSpPr>
          <p:cNvPr name="Group 58" id="58"/>
          <p:cNvGrpSpPr/>
          <p:nvPr/>
        </p:nvGrpSpPr>
        <p:grpSpPr>
          <a:xfrm rot="0">
            <a:off x="8990867" y="7014772"/>
            <a:ext cx="685419" cy="670846"/>
            <a:chOff x="0" y="0"/>
            <a:chExt cx="913892" cy="894461"/>
          </a:xfrm>
        </p:grpSpPr>
        <p:sp>
          <p:nvSpPr>
            <p:cNvPr name="Freeform 59" id="59" descr="preencoded.png"/>
            <p:cNvSpPr/>
            <p:nvPr/>
          </p:nvSpPr>
          <p:spPr>
            <a:xfrm flipH="false" flipV="false" rot="0">
              <a:off x="0" y="0"/>
              <a:ext cx="913892" cy="894461"/>
            </a:xfrm>
            <a:custGeom>
              <a:avLst/>
              <a:gdLst/>
              <a:ahLst/>
              <a:cxnLst/>
              <a:rect r="r" b="b" t="t" l="l"/>
              <a:pathLst>
                <a:path h="894461" w="913892">
                  <a:moveTo>
                    <a:pt x="0" y="0"/>
                  </a:moveTo>
                  <a:lnTo>
                    <a:pt x="913892" y="0"/>
                  </a:lnTo>
                  <a:lnTo>
                    <a:pt x="913892" y="894461"/>
                  </a:lnTo>
                  <a:lnTo>
                    <a:pt x="0" y="894461"/>
                  </a:lnTo>
                  <a:lnTo>
                    <a:pt x="0" y="0"/>
                  </a:lnTo>
                  <a:close/>
                </a:path>
              </a:pathLst>
            </a:custGeom>
            <a:blipFill>
              <a:blip r:embed="rId19"/>
              <a:stretch>
                <a:fillRect l="0" t="-174" r="0" b="-173"/>
              </a:stretch>
            </a:blipFill>
          </p:spPr>
        </p:sp>
      </p:grpSp>
      <p:grpSp>
        <p:nvGrpSpPr>
          <p:cNvPr name="Group 60" id="60"/>
          <p:cNvGrpSpPr/>
          <p:nvPr/>
        </p:nvGrpSpPr>
        <p:grpSpPr>
          <a:xfrm rot="0">
            <a:off x="6919979" y="7583538"/>
            <a:ext cx="7334" cy="525018"/>
            <a:chOff x="0" y="0"/>
            <a:chExt cx="9779" cy="700024"/>
          </a:xfrm>
        </p:grpSpPr>
        <p:sp>
          <p:nvSpPr>
            <p:cNvPr name="Freeform 61" id="61" descr="preencoded.png"/>
            <p:cNvSpPr/>
            <p:nvPr/>
          </p:nvSpPr>
          <p:spPr>
            <a:xfrm flipH="false" flipV="false" rot="0">
              <a:off x="0" y="0"/>
              <a:ext cx="9779" cy="700024"/>
            </a:xfrm>
            <a:custGeom>
              <a:avLst/>
              <a:gdLst/>
              <a:ahLst/>
              <a:cxnLst/>
              <a:rect r="r" b="b" t="t" l="l"/>
              <a:pathLst>
                <a:path h="700024" w="9779">
                  <a:moveTo>
                    <a:pt x="0" y="0"/>
                  </a:moveTo>
                  <a:lnTo>
                    <a:pt x="9779" y="0"/>
                  </a:lnTo>
                  <a:lnTo>
                    <a:pt x="9779" y="700024"/>
                  </a:lnTo>
                  <a:lnTo>
                    <a:pt x="0" y="700024"/>
                  </a:lnTo>
                  <a:lnTo>
                    <a:pt x="0" y="0"/>
                  </a:lnTo>
                  <a:close/>
                </a:path>
              </a:pathLst>
            </a:custGeom>
            <a:blipFill>
              <a:blip r:embed="rId20"/>
              <a:stretch>
                <a:fillRect l="-49480" t="0" r="-49350" b="0"/>
              </a:stretch>
            </a:blipFill>
          </p:spPr>
        </p:sp>
      </p:grpSp>
      <p:grpSp>
        <p:nvGrpSpPr>
          <p:cNvPr name="Group 62" id="62"/>
          <p:cNvGrpSpPr/>
          <p:nvPr/>
        </p:nvGrpSpPr>
        <p:grpSpPr>
          <a:xfrm rot="0">
            <a:off x="8458562" y="7233533"/>
            <a:ext cx="21908" cy="947928"/>
            <a:chOff x="0" y="0"/>
            <a:chExt cx="29210" cy="1263904"/>
          </a:xfrm>
        </p:grpSpPr>
        <p:sp>
          <p:nvSpPr>
            <p:cNvPr name="Freeform 63" id="63" descr="preencoded.png"/>
            <p:cNvSpPr/>
            <p:nvPr/>
          </p:nvSpPr>
          <p:spPr>
            <a:xfrm flipH="false" flipV="false" rot="0">
              <a:off x="0" y="0"/>
              <a:ext cx="29210" cy="1263904"/>
            </a:xfrm>
            <a:custGeom>
              <a:avLst/>
              <a:gdLst/>
              <a:ahLst/>
              <a:cxnLst/>
              <a:rect r="r" b="b" t="t" l="l"/>
              <a:pathLst>
                <a:path h="1263904" w="29210">
                  <a:moveTo>
                    <a:pt x="0" y="0"/>
                  </a:moveTo>
                  <a:lnTo>
                    <a:pt x="29210" y="0"/>
                  </a:lnTo>
                  <a:lnTo>
                    <a:pt x="29210" y="1263904"/>
                  </a:lnTo>
                  <a:lnTo>
                    <a:pt x="0" y="1263904"/>
                  </a:lnTo>
                  <a:lnTo>
                    <a:pt x="0" y="0"/>
                  </a:lnTo>
                  <a:close/>
                </a:path>
              </a:pathLst>
            </a:custGeom>
            <a:blipFill>
              <a:blip r:embed="rId21"/>
              <a:stretch>
                <a:fillRect l="-5478" t="0" r="-5478" b="0"/>
              </a:stretch>
            </a:blipFill>
          </p:spPr>
        </p:sp>
      </p:grpSp>
      <p:grpSp>
        <p:nvGrpSpPr>
          <p:cNvPr name="Group 64" id="64"/>
          <p:cNvGrpSpPr/>
          <p:nvPr/>
        </p:nvGrpSpPr>
        <p:grpSpPr>
          <a:xfrm rot="0">
            <a:off x="7328325" y="7051234"/>
            <a:ext cx="816673" cy="605218"/>
            <a:chOff x="0" y="0"/>
            <a:chExt cx="1088898" cy="806958"/>
          </a:xfrm>
        </p:grpSpPr>
        <p:sp>
          <p:nvSpPr>
            <p:cNvPr name="Freeform 65" id="65" descr="preencoded.png"/>
            <p:cNvSpPr/>
            <p:nvPr/>
          </p:nvSpPr>
          <p:spPr>
            <a:xfrm flipH="false" flipV="false" rot="0">
              <a:off x="0" y="0"/>
              <a:ext cx="1088898" cy="806958"/>
            </a:xfrm>
            <a:custGeom>
              <a:avLst/>
              <a:gdLst/>
              <a:ahLst/>
              <a:cxnLst/>
              <a:rect r="r" b="b" t="t" l="l"/>
              <a:pathLst>
                <a:path h="806958" w="1088898">
                  <a:moveTo>
                    <a:pt x="0" y="0"/>
                  </a:moveTo>
                  <a:lnTo>
                    <a:pt x="1088898" y="0"/>
                  </a:lnTo>
                  <a:lnTo>
                    <a:pt x="1088898" y="806958"/>
                  </a:lnTo>
                  <a:lnTo>
                    <a:pt x="0" y="806958"/>
                  </a:lnTo>
                  <a:lnTo>
                    <a:pt x="0" y="0"/>
                  </a:lnTo>
                  <a:close/>
                </a:path>
              </a:pathLst>
            </a:custGeom>
            <a:blipFill>
              <a:blip r:embed="rId22"/>
              <a:stretch>
                <a:fillRect l="0" t="-100" r="0" b="-100"/>
              </a:stretch>
            </a:blipFill>
          </p:spPr>
        </p:sp>
      </p:grpSp>
      <p:grpSp>
        <p:nvGrpSpPr>
          <p:cNvPr name="Group 66" id="66"/>
          <p:cNvGrpSpPr/>
          <p:nvPr/>
        </p:nvGrpSpPr>
        <p:grpSpPr>
          <a:xfrm rot="0">
            <a:off x="5767864" y="7816882"/>
            <a:ext cx="882320" cy="561480"/>
            <a:chOff x="0" y="0"/>
            <a:chExt cx="1176426" cy="748640"/>
          </a:xfrm>
        </p:grpSpPr>
        <p:sp>
          <p:nvSpPr>
            <p:cNvPr name="Freeform 67" id="67"/>
            <p:cNvSpPr/>
            <p:nvPr/>
          </p:nvSpPr>
          <p:spPr>
            <a:xfrm flipH="false" flipV="false" rot="0">
              <a:off x="0" y="0"/>
              <a:ext cx="1176401" cy="748665"/>
            </a:xfrm>
            <a:custGeom>
              <a:avLst/>
              <a:gdLst/>
              <a:ahLst/>
              <a:cxnLst/>
              <a:rect r="r" b="b" t="t" l="l"/>
              <a:pathLst>
                <a:path h="748665" w="1176401">
                  <a:moveTo>
                    <a:pt x="0" y="0"/>
                  </a:moveTo>
                  <a:lnTo>
                    <a:pt x="1176401" y="0"/>
                  </a:lnTo>
                  <a:lnTo>
                    <a:pt x="1176401" y="748665"/>
                  </a:lnTo>
                  <a:lnTo>
                    <a:pt x="0" y="748665"/>
                  </a:lnTo>
                  <a:close/>
                </a:path>
              </a:pathLst>
            </a:custGeom>
            <a:blipFill>
              <a:blip r:embed="rId12">
                <a:alphaModFix amt="0"/>
              </a:blip>
              <a:stretch>
                <a:fillRect l="-31705" t="0" r="-31706" b="3"/>
              </a:stretch>
            </a:blipFill>
          </p:spPr>
        </p:sp>
      </p:grpSp>
      <p:grpSp>
        <p:nvGrpSpPr>
          <p:cNvPr name="Group 68" id="68"/>
          <p:cNvGrpSpPr/>
          <p:nvPr/>
        </p:nvGrpSpPr>
        <p:grpSpPr>
          <a:xfrm rot="0">
            <a:off x="5767864" y="7824025"/>
            <a:ext cx="882320" cy="554326"/>
            <a:chOff x="0" y="0"/>
            <a:chExt cx="1176426" cy="739102"/>
          </a:xfrm>
        </p:grpSpPr>
        <p:sp>
          <p:nvSpPr>
            <p:cNvPr name="Freeform 69" id="69"/>
            <p:cNvSpPr/>
            <p:nvPr/>
          </p:nvSpPr>
          <p:spPr>
            <a:xfrm flipH="false" flipV="false" rot="0">
              <a:off x="0" y="0"/>
              <a:ext cx="1176427" cy="739107"/>
            </a:xfrm>
            <a:custGeom>
              <a:avLst/>
              <a:gdLst/>
              <a:ahLst/>
              <a:cxnLst/>
              <a:rect r="r" b="b" t="t" l="l"/>
              <a:pathLst>
                <a:path h="739107" w="1176427">
                  <a:moveTo>
                    <a:pt x="0" y="0"/>
                  </a:moveTo>
                  <a:lnTo>
                    <a:pt x="1176427" y="0"/>
                  </a:lnTo>
                  <a:lnTo>
                    <a:pt x="1176427" y="739107"/>
                  </a:lnTo>
                  <a:lnTo>
                    <a:pt x="0" y="739107"/>
                  </a:lnTo>
                  <a:close/>
                </a:path>
              </a:pathLst>
            </a:custGeom>
            <a:blipFill>
              <a:blip r:embed="rId13">
                <a:alphaModFix amt="0"/>
              </a:blip>
              <a:stretch>
                <a:fillRect l="-30608" t="0" r="-30608" b="0"/>
              </a:stretch>
            </a:blipFill>
          </p:spPr>
        </p:sp>
        <p:sp>
          <p:nvSpPr>
            <p:cNvPr name="TextBox 70" id="70"/>
            <p:cNvSpPr txBox="true"/>
            <p:nvPr/>
          </p:nvSpPr>
          <p:spPr>
            <a:xfrm>
              <a:off x="0" y="9525"/>
              <a:ext cx="1176426" cy="729577"/>
            </a:xfrm>
            <a:prstGeom prst="rect">
              <a:avLst/>
            </a:prstGeom>
          </p:spPr>
          <p:txBody>
            <a:bodyPr anchor="ctr" rtlCol="false" tIns="0" lIns="0" bIns="0" rIns="0"/>
            <a:lstStyle/>
            <a:p>
              <a:pPr algn="ctr">
                <a:lnSpc>
                  <a:spcPts val="1467"/>
                </a:lnSpc>
              </a:pPr>
              <a:r>
                <a:rPr lang="en-US" sz="1200">
                  <a:solidFill>
                    <a:srgbClr val="ACACAC"/>
                  </a:solidFill>
                  <a:latin typeface="TT Commons Pro"/>
                  <a:ea typeface="TT Commons Pro"/>
                  <a:cs typeface="TT Commons Pro"/>
                  <a:sym typeface="TT Commons Pro"/>
                </a:rPr>
                <a:t>FASTER</a:t>
              </a:r>
            </a:p>
            <a:p>
              <a:pPr algn="ctr">
                <a:lnSpc>
                  <a:spcPts val="1467"/>
                </a:lnSpc>
              </a:pPr>
              <a:r>
                <a:rPr lang="en-US" sz="1200">
                  <a:solidFill>
                    <a:srgbClr val="ACACAC"/>
                  </a:solidFill>
                  <a:latin typeface="TT Commons Pro"/>
                  <a:ea typeface="TT Commons Pro"/>
                  <a:cs typeface="TT Commons Pro"/>
                  <a:sym typeface="TT Commons Pro"/>
                </a:rPr>
                <a:t>DELIVERY</a:t>
              </a:r>
            </a:p>
          </p:txBody>
        </p:sp>
      </p:grpSp>
      <p:grpSp>
        <p:nvGrpSpPr>
          <p:cNvPr name="Group 71" id="71"/>
          <p:cNvGrpSpPr/>
          <p:nvPr/>
        </p:nvGrpSpPr>
        <p:grpSpPr>
          <a:xfrm rot="0">
            <a:off x="5782447" y="7014772"/>
            <a:ext cx="678180" cy="670846"/>
            <a:chOff x="0" y="0"/>
            <a:chExt cx="904240" cy="894461"/>
          </a:xfrm>
        </p:grpSpPr>
        <p:sp>
          <p:nvSpPr>
            <p:cNvPr name="Freeform 72" id="72" descr="preencoded.png"/>
            <p:cNvSpPr/>
            <p:nvPr/>
          </p:nvSpPr>
          <p:spPr>
            <a:xfrm flipH="false" flipV="false" rot="0">
              <a:off x="0" y="0"/>
              <a:ext cx="904240" cy="894461"/>
            </a:xfrm>
            <a:custGeom>
              <a:avLst/>
              <a:gdLst/>
              <a:ahLst/>
              <a:cxnLst/>
              <a:rect r="r" b="b" t="t" l="l"/>
              <a:pathLst>
                <a:path h="894461" w="904240">
                  <a:moveTo>
                    <a:pt x="0" y="0"/>
                  </a:moveTo>
                  <a:lnTo>
                    <a:pt x="904240" y="0"/>
                  </a:lnTo>
                  <a:lnTo>
                    <a:pt x="904240" y="894461"/>
                  </a:lnTo>
                  <a:lnTo>
                    <a:pt x="0" y="894461"/>
                  </a:lnTo>
                  <a:lnTo>
                    <a:pt x="0" y="0"/>
                  </a:lnTo>
                  <a:close/>
                </a:path>
              </a:pathLst>
            </a:custGeom>
            <a:blipFill>
              <a:blip r:embed="rId23"/>
              <a:stretch>
                <a:fillRect l="0" t="-95" r="0" b="-95"/>
              </a:stretch>
            </a:blipFill>
          </p:spPr>
        </p:sp>
      </p:grpSp>
      <p:grpSp>
        <p:nvGrpSpPr>
          <p:cNvPr name="Group 73" id="73"/>
          <p:cNvGrpSpPr/>
          <p:nvPr/>
        </p:nvGrpSpPr>
        <p:grpSpPr>
          <a:xfrm rot="0">
            <a:off x="11395872" y="5592870"/>
            <a:ext cx="787527" cy="145828"/>
            <a:chOff x="0" y="0"/>
            <a:chExt cx="1050036" cy="194437"/>
          </a:xfrm>
        </p:grpSpPr>
        <p:sp>
          <p:nvSpPr>
            <p:cNvPr name="Freeform 74" id="74" descr="preencoded.png"/>
            <p:cNvSpPr/>
            <p:nvPr/>
          </p:nvSpPr>
          <p:spPr>
            <a:xfrm flipH="false" flipV="false" rot="0">
              <a:off x="0" y="0"/>
              <a:ext cx="1050036" cy="194437"/>
            </a:xfrm>
            <a:custGeom>
              <a:avLst/>
              <a:gdLst/>
              <a:ahLst/>
              <a:cxnLst/>
              <a:rect r="r" b="b" t="t" l="l"/>
              <a:pathLst>
                <a:path h="194437" w="1050036">
                  <a:moveTo>
                    <a:pt x="0" y="0"/>
                  </a:moveTo>
                  <a:lnTo>
                    <a:pt x="1050036" y="0"/>
                  </a:lnTo>
                  <a:lnTo>
                    <a:pt x="1050036" y="194437"/>
                  </a:lnTo>
                  <a:lnTo>
                    <a:pt x="0" y="194437"/>
                  </a:lnTo>
                  <a:lnTo>
                    <a:pt x="0" y="0"/>
                  </a:lnTo>
                  <a:close/>
                </a:path>
              </a:pathLst>
            </a:custGeom>
            <a:blipFill>
              <a:blip r:embed="rId24"/>
              <a:stretch>
                <a:fillRect l="-407" t="0" r="-407" b="0"/>
              </a:stretch>
            </a:blipFill>
          </p:spPr>
        </p:sp>
      </p:grpSp>
      <p:grpSp>
        <p:nvGrpSpPr>
          <p:cNvPr name="Group 75" id="75"/>
          <p:cNvGrpSpPr/>
          <p:nvPr/>
        </p:nvGrpSpPr>
        <p:grpSpPr>
          <a:xfrm rot="0">
            <a:off x="11732609" y="5600157"/>
            <a:ext cx="517684" cy="94774"/>
            <a:chOff x="0" y="0"/>
            <a:chExt cx="690245" cy="126365"/>
          </a:xfrm>
        </p:grpSpPr>
        <p:sp>
          <p:nvSpPr>
            <p:cNvPr name="Freeform 76" id="76" descr="preencoded.png"/>
            <p:cNvSpPr/>
            <p:nvPr/>
          </p:nvSpPr>
          <p:spPr>
            <a:xfrm flipH="false" flipV="false" rot="0">
              <a:off x="0" y="0"/>
              <a:ext cx="690245" cy="126365"/>
            </a:xfrm>
            <a:custGeom>
              <a:avLst/>
              <a:gdLst/>
              <a:ahLst/>
              <a:cxnLst/>
              <a:rect r="r" b="b" t="t" l="l"/>
              <a:pathLst>
                <a:path h="126365" w="690245">
                  <a:moveTo>
                    <a:pt x="0" y="0"/>
                  </a:moveTo>
                  <a:lnTo>
                    <a:pt x="690245" y="0"/>
                  </a:lnTo>
                  <a:lnTo>
                    <a:pt x="690245" y="126365"/>
                  </a:lnTo>
                  <a:lnTo>
                    <a:pt x="0" y="126365"/>
                  </a:lnTo>
                  <a:lnTo>
                    <a:pt x="0" y="0"/>
                  </a:lnTo>
                  <a:close/>
                </a:path>
              </a:pathLst>
            </a:custGeom>
            <a:blipFill>
              <a:blip r:embed="rId25"/>
              <a:stretch>
                <a:fillRect l="0" t="-1206" r="0" b="-1216"/>
              </a:stretch>
            </a:blipFill>
          </p:spPr>
        </p:sp>
      </p:grpSp>
      <p:grpSp>
        <p:nvGrpSpPr>
          <p:cNvPr name="Group 77" id="77"/>
          <p:cNvGrpSpPr/>
          <p:nvPr/>
        </p:nvGrpSpPr>
        <p:grpSpPr>
          <a:xfrm rot="0">
            <a:off x="11491979" y="5673071"/>
            <a:ext cx="481298" cy="29146"/>
            <a:chOff x="0" y="0"/>
            <a:chExt cx="641731" cy="38862"/>
          </a:xfrm>
        </p:grpSpPr>
        <p:sp>
          <p:nvSpPr>
            <p:cNvPr name="Freeform 78" id="78" descr="preencoded.png"/>
            <p:cNvSpPr/>
            <p:nvPr/>
          </p:nvSpPr>
          <p:spPr>
            <a:xfrm flipH="false" flipV="false" rot="0">
              <a:off x="0" y="0"/>
              <a:ext cx="641731" cy="38862"/>
            </a:xfrm>
            <a:custGeom>
              <a:avLst/>
              <a:gdLst/>
              <a:ahLst/>
              <a:cxnLst/>
              <a:rect r="r" b="b" t="t" l="l"/>
              <a:pathLst>
                <a:path h="38862" w="641731">
                  <a:moveTo>
                    <a:pt x="0" y="0"/>
                  </a:moveTo>
                  <a:lnTo>
                    <a:pt x="641731" y="0"/>
                  </a:lnTo>
                  <a:lnTo>
                    <a:pt x="641731" y="38862"/>
                  </a:lnTo>
                  <a:lnTo>
                    <a:pt x="0" y="38862"/>
                  </a:lnTo>
                  <a:lnTo>
                    <a:pt x="0" y="0"/>
                  </a:lnTo>
                  <a:close/>
                </a:path>
              </a:pathLst>
            </a:custGeom>
            <a:blipFill>
              <a:blip r:embed="rId26"/>
              <a:stretch>
                <a:fillRect l="-2990" t="0" r="-2988" b="0"/>
              </a:stretch>
            </a:blipFill>
          </p:spPr>
        </p:sp>
      </p:grpSp>
      <p:grpSp>
        <p:nvGrpSpPr>
          <p:cNvPr name="Group 79" id="79"/>
          <p:cNvGrpSpPr/>
          <p:nvPr/>
        </p:nvGrpSpPr>
        <p:grpSpPr>
          <a:xfrm rot="0">
            <a:off x="11251359" y="5651202"/>
            <a:ext cx="116681" cy="116681"/>
            <a:chOff x="0" y="0"/>
            <a:chExt cx="155575" cy="155575"/>
          </a:xfrm>
        </p:grpSpPr>
        <p:sp>
          <p:nvSpPr>
            <p:cNvPr name="Freeform 80" id="80" descr="preencoded.png"/>
            <p:cNvSpPr/>
            <p:nvPr/>
          </p:nvSpPr>
          <p:spPr>
            <a:xfrm flipH="false" flipV="false" rot="0">
              <a:off x="0" y="0"/>
              <a:ext cx="155575" cy="155575"/>
            </a:xfrm>
            <a:custGeom>
              <a:avLst/>
              <a:gdLst/>
              <a:ahLst/>
              <a:cxnLst/>
              <a:rect r="r" b="b" t="t" l="l"/>
              <a:pathLst>
                <a:path h="155575" w="155575">
                  <a:moveTo>
                    <a:pt x="0" y="0"/>
                  </a:moveTo>
                  <a:lnTo>
                    <a:pt x="155575" y="0"/>
                  </a:lnTo>
                  <a:lnTo>
                    <a:pt x="155575" y="155575"/>
                  </a:lnTo>
                  <a:lnTo>
                    <a:pt x="0" y="155575"/>
                  </a:lnTo>
                  <a:lnTo>
                    <a:pt x="0" y="0"/>
                  </a:lnTo>
                  <a:close/>
                </a:path>
              </a:pathLst>
            </a:custGeom>
            <a:blipFill>
              <a:blip r:embed="rId27"/>
              <a:stretch>
                <a:fillRect l="0" t="0" r="0" b="0"/>
              </a:stretch>
            </a:blipFill>
          </p:spPr>
        </p:sp>
      </p:grpSp>
      <p:grpSp>
        <p:nvGrpSpPr>
          <p:cNvPr name="Group 81" id="81"/>
          <p:cNvGrpSpPr/>
          <p:nvPr/>
        </p:nvGrpSpPr>
        <p:grpSpPr>
          <a:xfrm rot="0">
            <a:off x="13198278" y="2049018"/>
            <a:ext cx="2092738" cy="5089684"/>
            <a:chOff x="0" y="0"/>
            <a:chExt cx="2790317" cy="6786245"/>
          </a:xfrm>
        </p:grpSpPr>
        <p:sp>
          <p:nvSpPr>
            <p:cNvPr name="Freeform 82" id="82" descr="preencoded.png"/>
            <p:cNvSpPr/>
            <p:nvPr/>
          </p:nvSpPr>
          <p:spPr>
            <a:xfrm flipH="false" flipV="false" rot="0">
              <a:off x="0" y="0"/>
              <a:ext cx="2790317" cy="6786245"/>
            </a:xfrm>
            <a:custGeom>
              <a:avLst/>
              <a:gdLst/>
              <a:ahLst/>
              <a:cxnLst/>
              <a:rect r="r" b="b" t="t" l="l"/>
              <a:pathLst>
                <a:path h="6786245" w="2790317">
                  <a:moveTo>
                    <a:pt x="0" y="0"/>
                  </a:moveTo>
                  <a:lnTo>
                    <a:pt x="2790317" y="0"/>
                  </a:lnTo>
                  <a:lnTo>
                    <a:pt x="2790317" y="6786245"/>
                  </a:lnTo>
                  <a:lnTo>
                    <a:pt x="0" y="6786245"/>
                  </a:lnTo>
                  <a:lnTo>
                    <a:pt x="0" y="0"/>
                  </a:lnTo>
                  <a:close/>
                </a:path>
              </a:pathLst>
            </a:custGeom>
            <a:blipFill>
              <a:blip r:embed="rId28"/>
              <a:stretch>
                <a:fillRect l="-71" t="0" r="-71" b="0"/>
              </a:stretch>
            </a:blipFill>
          </p:spPr>
        </p:sp>
      </p:grpSp>
      <p:grpSp>
        <p:nvGrpSpPr>
          <p:cNvPr name="Group 83" id="83"/>
          <p:cNvGrpSpPr/>
          <p:nvPr/>
        </p:nvGrpSpPr>
        <p:grpSpPr>
          <a:xfrm rot="0">
            <a:off x="14277470" y="7007485"/>
            <a:ext cx="291675" cy="137512"/>
            <a:chOff x="0" y="0"/>
            <a:chExt cx="388899" cy="183350"/>
          </a:xfrm>
        </p:grpSpPr>
        <p:sp>
          <p:nvSpPr>
            <p:cNvPr name="Freeform 84" id="84"/>
            <p:cNvSpPr/>
            <p:nvPr/>
          </p:nvSpPr>
          <p:spPr>
            <a:xfrm flipH="false" flipV="false" rot="0">
              <a:off x="0" y="0"/>
              <a:ext cx="388874" cy="183388"/>
            </a:xfrm>
            <a:custGeom>
              <a:avLst/>
              <a:gdLst/>
              <a:ahLst/>
              <a:cxnLst/>
              <a:rect r="r" b="b" t="t" l="l"/>
              <a:pathLst>
                <a:path h="183388" w="388874">
                  <a:moveTo>
                    <a:pt x="0" y="0"/>
                  </a:moveTo>
                  <a:lnTo>
                    <a:pt x="388874" y="0"/>
                  </a:lnTo>
                  <a:lnTo>
                    <a:pt x="388874" y="183388"/>
                  </a:lnTo>
                  <a:lnTo>
                    <a:pt x="0" y="183388"/>
                  </a:lnTo>
                  <a:close/>
                </a:path>
              </a:pathLst>
            </a:custGeom>
            <a:blipFill>
              <a:blip r:embed="rId12">
                <a:alphaModFix amt="0"/>
              </a:blip>
              <a:stretch>
                <a:fillRect l="-10532" t="0" r="-10538" b="20"/>
              </a:stretch>
            </a:blipFill>
          </p:spPr>
        </p:sp>
      </p:grpSp>
      <p:grpSp>
        <p:nvGrpSpPr>
          <p:cNvPr name="Group 85" id="85"/>
          <p:cNvGrpSpPr/>
          <p:nvPr/>
        </p:nvGrpSpPr>
        <p:grpSpPr>
          <a:xfrm rot="0">
            <a:off x="14277470" y="7014629"/>
            <a:ext cx="291675" cy="130359"/>
            <a:chOff x="0" y="0"/>
            <a:chExt cx="388899" cy="173812"/>
          </a:xfrm>
        </p:grpSpPr>
        <p:sp>
          <p:nvSpPr>
            <p:cNvPr name="Freeform 86" id="86"/>
            <p:cNvSpPr/>
            <p:nvPr/>
          </p:nvSpPr>
          <p:spPr>
            <a:xfrm flipH="false" flipV="false" rot="0">
              <a:off x="0" y="0"/>
              <a:ext cx="388900" cy="173818"/>
            </a:xfrm>
            <a:custGeom>
              <a:avLst/>
              <a:gdLst/>
              <a:ahLst/>
              <a:cxnLst/>
              <a:rect r="r" b="b" t="t" l="l"/>
              <a:pathLst>
                <a:path h="173818" w="388900">
                  <a:moveTo>
                    <a:pt x="0" y="0"/>
                  </a:moveTo>
                  <a:lnTo>
                    <a:pt x="388900" y="0"/>
                  </a:lnTo>
                  <a:lnTo>
                    <a:pt x="388900" y="173818"/>
                  </a:lnTo>
                  <a:lnTo>
                    <a:pt x="0" y="173818"/>
                  </a:lnTo>
                  <a:close/>
                </a:path>
              </a:pathLst>
            </a:custGeom>
            <a:blipFill>
              <a:blip r:embed="rId13">
                <a:alphaModFix amt="0"/>
              </a:blip>
              <a:stretch>
                <a:fillRect l="-7343" t="0" r="-7343" b="3"/>
              </a:stretch>
            </a:blipFill>
          </p:spPr>
        </p:sp>
        <p:sp>
          <p:nvSpPr>
            <p:cNvPr name="TextBox 87" id="87"/>
            <p:cNvSpPr txBox="true"/>
            <p:nvPr/>
          </p:nvSpPr>
          <p:spPr>
            <a:xfrm>
              <a:off x="0" y="9525"/>
              <a:ext cx="388899" cy="164287"/>
            </a:xfrm>
            <a:prstGeom prst="rect">
              <a:avLst/>
            </a:prstGeom>
          </p:spPr>
          <p:txBody>
            <a:bodyPr anchor="ctr" rtlCol="false" tIns="0" lIns="0" bIns="0" rIns="0"/>
            <a:lstStyle/>
            <a:p>
              <a:pPr algn="l">
                <a:lnSpc>
                  <a:spcPts val="642"/>
                </a:lnSpc>
              </a:pPr>
              <a:r>
                <a:rPr lang="en-US" sz="658" b="true">
                  <a:solidFill>
                    <a:srgbClr val="7C7773"/>
                  </a:solidFill>
                  <a:latin typeface="TT Commons Pro Bold"/>
                  <a:ea typeface="TT Commons Pro Bold"/>
                  <a:cs typeface="TT Commons Pro Bold"/>
                  <a:sym typeface="TT Commons Pro Bold"/>
                </a:rPr>
                <a:t>Burger</a:t>
              </a:r>
            </a:p>
          </p:txBody>
        </p:sp>
      </p:grpSp>
      <p:grpSp>
        <p:nvGrpSpPr>
          <p:cNvPr name="Group 88" id="88"/>
          <p:cNvGrpSpPr/>
          <p:nvPr/>
        </p:nvGrpSpPr>
        <p:grpSpPr>
          <a:xfrm rot="0">
            <a:off x="13434755" y="6981958"/>
            <a:ext cx="285379" cy="151848"/>
            <a:chOff x="0" y="0"/>
            <a:chExt cx="380505" cy="202463"/>
          </a:xfrm>
        </p:grpSpPr>
        <p:sp>
          <p:nvSpPr>
            <p:cNvPr name="Freeform 89" id="89"/>
            <p:cNvSpPr/>
            <p:nvPr/>
          </p:nvSpPr>
          <p:spPr>
            <a:xfrm flipH="false" flipV="false" rot="0">
              <a:off x="0" y="0"/>
              <a:ext cx="380492" cy="202438"/>
            </a:xfrm>
            <a:custGeom>
              <a:avLst/>
              <a:gdLst/>
              <a:ahLst/>
              <a:cxnLst/>
              <a:rect r="r" b="b" t="t" l="l"/>
              <a:pathLst>
                <a:path h="202438" w="380492">
                  <a:moveTo>
                    <a:pt x="0" y="0"/>
                  </a:moveTo>
                  <a:lnTo>
                    <a:pt x="380492" y="0"/>
                  </a:lnTo>
                  <a:lnTo>
                    <a:pt x="380492" y="202438"/>
                  </a:lnTo>
                  <a:lnTo>
                    <a:pt x="0" y="202438"/>
                  </a:lnTo>
                  <a:close/>
                </a:path>
              </a:pathLst>
            </a:custGeom>
            <a:blipFill>
              <a:blip r:embed="rId12">
                <a:alphaModFix amt="0"/>
              </a:blip>
              <a:stretch>
                <a:fillRect l="-18317" t="0" r="-18317" b="-12"/>
              </a:stretch>
            </a:blipFill>
          </p:spPr>
        </p:sp>
      </p:grpSp>
      <p:grpSp>
        <p:nvGrpSpPr>
          <p:cNvPr name="Group 90" id="90"/>
          <p:cNvGrpSpPr/>
          <p:nvPr/>
        </p:nvGrpSpPr>
        <p:grpSpPr>
          <a:xfrm rot="0">
            <a:off x="13434755" y="6974815"/>
            <a:ext cx="285379" cy="158991"/>
            <a:chOff x="0" y="0"/>
            <a:chExt cx="380505" cy="211988"/>
          </a:xfrm>
        </p:grpSpPr>
        <p:sp>
          <p:nvSpPr>
            <p:cNvPr name="Freeform 91" id="91"/>
            <p:cNvSpPr/>
            <p:nvPr/>
          </p:nvSpPr>
          <p:spPr>
            <a:xfrm flipH="false" flipV="false" rot="0">
              <a:off x="0" y="0"/>
              <a:ext cx="380505" cy="211985"/>
            </a:xfrm>
            <a:custGeom>
              <a:avLst/>
              <a:gdLst/>
              <a:ahLst/>
              <a:cxnLst/>
              <a:rect r="r" b="b" t="t" l="l"/>
              <a:pathLst>
                <a:path h="211985" w="380505">
                  <a:moveTo>
                    <a:pt x="0" y="0"/>
                  </a:moveTo>
                  <a:lnTo>
                    <a:pt x="380505" y="0"/>
                  </a:lnTo>
                  <a:lnTo>
                    <a:pt x="380505" y="211985"/>
                  </a:lnTo>
                  <a:lnTo>
                    <a:pt x="0" y="211985"/>
                  </a:lnTo>
                  <a:close/>
                </a:path>
              </a:pathLst>
            </a:custGeom>
            <a:blipFill>
              <a:blip r:embed="rId13">
                <a:alphaModFix amt="0"/>
              </a:blip>
              <a:stretch>
                <a:fillRect l="-21480" t="0" r="-21480" b="-1"/>
              </a:stretch>
            </a:blipFill>
          </p:spPr>
        </p:sp>
        <p:sp>
          <p:nvSpPr>
            <p:cNvPr name="TextBox 92" id="92"/>
            <p:cNvSpPr txBox="true"/>
            <p:nvPr/>
          </p:nvSpPr>
          <p:spPr>
            <a:xfrm>
              <a:off x="0" y="-9525"/>
              <a:ext cx="380505" cy="221513"/>
            </a:xfrm>
            <a:prstGeom prst="rect">
              <a:avLst/>
            </a:prstGeom>
          </p:spPr>
          <p:txBody>
            <a:bodyPr anchor="ctr" rtlCol="false" tIns="0" lIns="0" bIns="0" rIns="0"/>
            <a:lstStyle/>
            <a:p>
              <a:pPr algn="l">
                <a:lnSpc>
                  <a:spcPts val="915"/>
                </a:lnSpc>
              </a:pPr>
              <a:r>
                <a:rPr lang="en-US" sz="710" b="true">
                  <a:solidFill>
                    <a:srgbClr val="847E7A"/>
                  </a:solidFill>
                  <a:latin typeface="TT Commons Pro Bold"/>
                  <a:ea typeface="TT Commons Pro Bold"/>
                  <a:cs typeface="TT Commons Pro Bold"/>
                  <a:sym typeface="TT Commons Pro Bold"/>
                </a:rPr>
                <a:t>Pizza</a:t>
              </a:r>
            </a:p>
          </p:txBody>
        </p:sp>
      </p:grpSp>
      <p:grpSp>
        <p:nvGrpSpPr>
          <p:cNvPr name="Group 93" id="93"/>
          <p:cNvGrpSpPr/>
          <p:nvPr/>
        </p:nvGrpSpPr>
        <p:grpSpPr>
          <a:xfrm rot="0">
            <a:off x="14262887" y="6263716"/>
            <a:ext cx="794766" cy="685419"/>
            <a:chOff x="0" y="0"/>
            <a:chExt cx="1059688" cy="913892"/>
          </a:xfrm>
        </p:grpSpPr>
        <p:sp>
          <p:nvSpPr>
            <p:cNvPr name="Freeform 94" id="94" descr="preencoded.png"/>
            <p:cNvSpPr/>
            <p:nvPr/>
          </p:nvSpPr>
          <p:spPr>
            <a:xfrm flipH="false" flipV="false" rot="0">
              <a:off x="0" y="0"/>
              <a:ext cx="1059688" cy="913892"/>
            </a:xfrm>
            <a:custGeom>
              <a:avLst/>
              <a:gdLst/>
              <a:ahLst/>
              <a:cxnLst/>
              <a:rect r="r" b="b" t="t" l="l"/>
              <a:pathLst>
                <a:path h="913892" w="1059688">
                  <a:moveTo>
                    <a:pt x="0" y="0"/>
                  </a:moveTo>
                  <a:lnTo>
                    <a:pt x="1059688" y="0"/>
                  </a:lnTo>
                  <a:lnTo>
                    <a:pt x="1059688" y="913892"/>
                  </a:lnTo>
                  <a:lnTo>
                    <a:pt x="0" y="913892"/>
                  </a:lnTo>
                  <a:lnTo>
                    <a:pt x="0" y="0"/>
                  </a:lnTo>
                  <a:close/>
                </a:path>
              </a:pathLst>
            </a:custGeom>
            <a:blipFill>
              <a:blip r:embed="rId29"/>
              <a:stretch>
                <a:fillRect l="-51" t="0" r="-50" b="0"/>
              </a:stretch>
            </a:blipFill>
          </p:spPr>
        </p:sp>
      </p:grpSp>
      <p:grpSp>
        <p:nvGrpSpPr>
          <p:cNvPr name="Group 95" id="95"/>
          <p:cNvGrpSpPr/>
          <p:nvPr/>
        </p:nvGrpSpPr>
        <p:grpSpPr>
          <a:xfrm rot="0">
            <a:off x="14408725" y="6781438"/>
            <a:ext cx="517722" cy="134722"/>
            <a:chOff x="0" y="0"/>
            <a:chExt cx="690296" cy="179629"/>
          </a:xfrm>
        </p:grpSpPr>
        <p:sp>
          <p:nvSpPr>
            <p:cNvPr name="Freeform 96" id="96"/>
            <p:cNvSpPr/>
            <p:nvPr/>
          </p:nvSpPr>
          <p:spPr>
            <a:xfrm flipH="false" flipV="false" rot="0">
              <a:off x="0" y="0"/>
              <a:ext cx="690245" cy="179578"/>
            </a:xfrm>
            <a:custGeom>
              <a:avLst/>
              <a:gdLst/>
              <a:ahLst/>
              <a:cxnLst/>
              <a:rect r="r" b="b" t="t" l="l"/>
              <a:pathLst>
                <a:path h="179578" w="690245">
                  <a:moveTo>
                    <a:pt x="0" y="0"/>
                  </a:moveTo>
                  <a:lnTo>
                    <a:pt x="690245" y="0"/>
                  </a:lnTo>
                  <a:lnTo>
                    <a:pt x="690245" y="179578"/>
                  </a:lnTo>
                  <a:lnTo>
                    <a:pt x="0" y="179578"/>
                  </a:lnTo>
                  <a:close/>
                </a:path>
              </a:pathLst>
            </a:custGeom>
            <a:blipFill>
              <a:blip r:embed="rId12">
                <a:alphaModFix amt="0"/>
              </a:blip>
              <a:stretch>
                <a:fillRect l="0" t="-24837" r="-7" b="-24858"/>
              </a:stretch>
            </a:blipFill>
          </p:spPr>
        </p:sp>
      </p:grpSp>
      <p:grpSp>
        <p:nvGrpSpPr>
          <p:cNvPr name="Group 97" id="97"/>
          <p:cNvGrpSpPr/>
          <p:nvPr/>
        </p:nvGrpSpPr>
        <p:grpSpPr>
          <a:xfrm rot="0">
            <a:off x="14408725" y="6774294"/>
            <a:ext cx="517722" cy="141865"/>
            <a:chOff x="0" y="0"/>
            <a:chExt cx="690296" cy="189154"/>
          </a:xfrm>
        </p:grpSpPr>
        <p:sp>
          <p:nvSpPr>
            <p:cNvPr name="Freeform 98" id="98"/>
            <p:cNvSpPr/>
            <p:nvPr/>
          </p:nvSpPr>
          <p:spPr>
            <a:xfrm flipH="false" flipV="false" rot="0">
              <a:off x="0" y="0"/>
              <a:ext cx="690296" cy="189157"/>
            </a:xfrm>
            <a:custGeom>
              <a:avLst/>
              <a:gdLst/>
              <a:ahLst/>
              <a:cxnLst/>
              <a:rect r="r" b="b" t="t" l="l"/>
              <a:pathLst>
                <a:path h="189157" w="690296">
                  <a:moveTo>
                    <a:pt x="0" y="0"/>
                  </a:moveTo>
                  <a:lnTo>
                    <a:pt x="690296" y="0"/>
                  </a:lnTo>
                  <a:lnTo>
                    <a:pt x="690296" y="189157"/>
                  </a:lnTo>
                  <a:lnTo>
                    <a:pt x="0" y="189157"/>
                  </a:lnTo>
                  <a:close/>
                </a:path>
              </a:pathLst>
            </a:custGeom>
            <a:blipFill>
              <a:blip r:embed="rId13">
                <a:alphaModFix amt="0"/>
              </a:blip>
              <a:stretch>
                <a:fillRect l="0" t="-21108" r="0" b="-21106"/>
              </a:stretch>
            </a:blipFill>
          </p:spPr>
        </p:sp>
        <p:sp>
          <p:nvSpPr>
            <p:cNvPr name="TextBox 99" id="99"/>
            <p:cNvSpPr txBox="true"/>
            <p:nvPr/>
          </p:nvSpPr>
          <p:spPr>
            <a:xfrm>
              <a:off x="0" y="-9525"/>
              <a:ext cx="690296" cy="198679"/>
            </a:xfrm>
            <a:prstGeom prst="rect">
              <a:avLst/>
            </a:prstGeom>
          </p:spPr>
          <p:txBody>
            <a:bodyPr anchor="ctr" rtlCol="false" tIns="0" lIns="0" bIns="0" rIns="0"/>
            <a:lstStyle/>
            <a:p>
              <a:pPr algn="l">
                <a:lnSpc>
                  <a:spcPts val="861"/>
                </a:lnSpc>
              </a:pPr>
              <a:r>
                <a:rPr lang="en-US" sz="643" b="true">
                  <a:solidFill>
                    <a:srgbClr val="65625E"/>
                  </a:solidFill>
                  <a:latin typeface="TT Commons Pro Bold"/>
                  <a:ea typeface="TT Commons Pro Bold"/>
                  <a:cs typeface="TT Commons Pro Bold"/>
                  <a:sym typeface="TT Commons Pro Bold"/>
                </a:rPr>
                <a:t>4.5 | 25 mins</a:t>
              </a:r>
            </a:p>
          </p:txBody>
        </p:sp>
      </p:grpSp>
      <p:grpSp>
        <p:nvGrpSpPr>
          <p:cNvPr name="Group 100" id="100"/>
          <p:cNvGrpSpPr/>
          <p:nvPr/>
        </p:nvGrpSpPr>
        <p:grpSpPr>
          <a:xfrm rot="0">
            <a:off x="13409743" y="6256420"/>
            <a:ext cx="787527" cy="678180"/>
            <a:chOff x="0" y="0"/>
            <a:chExt cx="1050036" cy="904240"/>
          </a:xfrm>
        </p:grpSpPr>
        <p:sp>
          <p:nvSpPr>
            <p:cNvPr name="Freeform 101" id="101" descr="preencoded.png"/>
            <p:cNvSpPr/>
            <p:nvPr/>
          </p:nvSpPr>
          <p:spPr>
            <a:xfrm flipH="false" flipV="false" rot="0">
              <a:off x="0" y="0"/>
              <a:ext cx="1050036" cy="904240"/>
            </a:xfrm>
            <a:custGeom>
              <a:avLst/>
              <a:gdLst/>
              <a:ahLst/>
              <a:cxnLst/>
              <a:rect r="r" b="b" t="t" l="l"/>
              <a:pathLst>
                <a:path h="904240" w="1050036">
                  <a:moveTo>
                    <a:pt x="0" y="0"/>
                  </a:moveTo>
                  <a:lnTo>
                    <a:pt x="1050036" y="0"/>
                  </a:lnTo>
                  <a:lnTo>
                    <a:pt x="1050036" y="904240"/>
                  </a:lnTo>
                  <a:lnTo>
                    <a:pt x="0" y="904240"/>
                  </a:lnTo>
                  <a:lnTo>
                    <a:pt x="0" y="0"/>
                  </a:lnTo>
                  <a:close/>
                </a:path>
              </a:pathLst>
            </a:custGeom>
            <a:blipFill>
              <a:blip r:embed="rId30"/>
              <a:stretch>
                <a:fillRect l="-39" t="0" r="-39" b="0"/>
              </a:stretch>
            </a:blipFill>
          </p:spPr>
        </p:sp>
      </p:grpSp>
      <p:grpSp>
        <p:nvGrpSpPr>
          <p:cNvPr name="Group 102" id="102"/>
          <p:cNvGrpSpPr/>
          <p:nvPr/>
        </p:nvGrpSpPr>
        <p:grpSpPr>
          <a:xfrm rot="0">
            <a:off x="13475370" y="6781438"/>
            <a:ext cx="58293" cy="65627"/>
            <a:chOff x="0" y="0"/>
            <a:chExt cx="77724" cy="87503"/>
          </a:xfrm>
        </p:grpSpPr>
        <p:sp>
          <p:nvSpPr>
            <p:cNvPr name="Freeform 103" id="103" descr="preencoded.png"/>
            <p:cNvSpPr/>
            <p:nvPr/>
          </p:nvSpPr>
          <p:spPr>
            <a:xfrm flipH="false" flipV="false" rot="0">
              <a:off x="0" y="0"/>
              <a:ext cx="77724" cy="87503"/>
            </a:xfrm>
            <a:custGeom>
              <a:avLst/>
              <a:gdLst/>
              <a:ahLst/>
              <a:cxnLst/>
              <a:rect r="r" b="b" t="t" l="l"/>
              <a:pathLst>
                <a:path h="87503" w="77724">
                  <a:moveTo>
                    <a:pt x="0" y="0"/>
                  </a:moveTo>
                  <a:lnTo>
                    <a:pt x="77724" y="0"/>
                  </a:lnTo>
                  <a:lnTo>
                    <a:pt x="77724" y="87503"/>
                  </a:lnTo>
                  <a:lnTo>
                    <a:pt x="0" y="87503"/>
                  </a:lnTo>
                  <a:lnTo>
                    <a:pt x="0" y="0"/>
                  </a:lnTo>
                  <a:close/>
                </a:path>
              </a:pathLst>
            </a:custGeom>
            <a:blipFill>
              <a:blip r:embed="rId31"/>
              <a:stretch>
                <a:fillRect l="0" t="-1814" r="0" b="-1814"/>
              </a:stretch>
            </a:blipFill>
          </p:spPr>
        </p:sp>
      </p:grpSp>
      <p:grpSp>
        <p:nvGrpSpPr>
          <p:cNvPr name="Group 104" id="104"/>
          <p:cNvGrpSpPr/>
          <p:nvPr/>
        </p:nvGrpSpPr>
        <p:grpSpPr>
          <a:xfrm rot="0">
            <a:off x="13555580" y="6766855"/>
            <a:ext cx="579701" cy="143808"/>
            <a:chOff x="0" y="0"/>
            <a:chExt cx="772935" cy="191745"/>
          </a:xfrm>
        </p:grpSpPr>
        <p:sp>
          <p:nvSpPr>
            <p:cNvPr name="Freeform 105" id="105"/>
            <p:cNvSpPr/>
            <p:nvPr/>
          </p:nvSpPr>
          <p:spPr>
            <a:xfrm flipH="false" flipV="false" rot="0">
              <a:off x="0" y="0"/>
              <a:ext cx="772922" cy="191770"/>
            </a:xfrm>
            <a:custGeom>
              <a:avLst/>
              <a:gdLst/>
              <a:ahLst/>
              <a:cxnLst/>
              <a:rect r="r" b="b" t="t" l="l"/>
              <a:pathLst>
                <a:path h="191770" w="772922">
                  <a:moveTo>
                    <a:pt x="0" y="0"/>
                  </a:moveTo>
                  <a:lnTo>
                    <a:pt x="772922" y="0"/>
                  </a:lnTo>
                  <a:lnTo>
                    <a:pt x="772922" y="191770"/>
                  </a:lnTo>
                  <a:lnTo>
                    <a:pt x="0" y="191770"/>
                  </a:lnTo>
                  <a:close/>
                </a:path>
              </a:pathLst>
            </a:custGeom>
            <a:blipFill>
              <a:blip r:embed="rId12">
                <a:alphaModFix amt="0"/>
              </a:blip>
              <a:stretch>
                <a:fillRect l="0" t="-28490" r="-1" b="-28470"/>
              </a:stretch>
            </a:blipFill>
          </p:spPr>
        </p:sp>
      </p:grpSp>
      <p:grpSp>
        <p:nvGrpSpPr>
          <p:cNvPr name="Group 106" id="106"/>
          <p:cNvGrpSpPr/>
          <p:nvPr/>
        </p:nvGrpSpPr>
        <p:grpSpPr>
          <a:xfrm rot="0">
            <a:off x="13555580" y="6775085"/>
            <a:ext cx="579701" cy="135569"/>
            <a:chOff x="0" y="0"/>
            <a:chExt cx="772935" cy="180759"/>
          </a:xfrm>
        </p:grpSpPr>
        <p:sp>
          <p:nvSpPr>
            <p:cNvPr name="Freeform 107" id="107"/>
            <p:cNvSpPr/>
            <p:nvPr/>
          </p:nvSpPr>
          <p:spPr>
            <a:xfrm flipH="false" flipV="false" rot="0">
              <a:off x="0" y="0"/>
              <a:ext cx="772935" cy="180763"/>
            </a:xfrm>
            <a:custGeom>
              <a:avLst/>
              <a:gdLst/>
              <a:ahLst/>
              <a:cxnLst/>
              <a:rect r="r" b="b" t="t" l="l"/>
              <a:pathLst>
                <a:path h="180763" w="772935">
                  <a:moveTo>
                    <a:pt x="0" y="0"/>
                  </a:moveTo>
                  <a:lnTo>
                    <a:pt x="772935" y="0"/>
                  </a:lnTo>
                  <a:lnTo>
                    <a:pt x="772935" y="180763"/>
                  </a:lnTo>
                  <a:lnTo>
                    <a:pt x="0" y="180763"/>
                  </a:lnTo>
                  <a:close/>
                </a:path>
              </a:pathLst>
            </a:custGeom>
            <a:blipFill>
              <a:blip r:embed="rId13">
                <a:alphaModFix amt="0"/>
              </a:blip>
              <a:stretch>
                <a:fillRect l="0" t="-33318" r="0" b="-33316"/>
              </a:stretch>
            </a:blipFill>
          </p:spPr>
        </p:sp>
        <p:sp>
          <p:nvSpPr>
            <p:cNvPr name="TextBox 108" id="108"/>
            <p:cNvSpPr txBox="true"/>
            <p:nvPr/>
          </p:nvSpPr>
          <p:spPr>
            <a:xfrm>
              <a:off x="0" y="9525"/>
              <a:ext cx="772935" cy="171234"/>
            </a:xfrm>
            <a:prstGeom prst="rect">
              <a:avLst/>
            </a:prstGeom>
          </p:spPr>
          <p:txBody>
            <a:bodyPr anchor="ctr" rtlCol="false" tIns="0" lIns="0" bIns="0" rIns="0"/>
            <a:lstStyle/>
            <a:p>
              <a:pPr algn="l">
                <a:lnSpc>
                  <a:spcPts val="681"/>
                </a:lnSpc>
              </a:pPr>
              <a:r>
                <a:rPr lang="en-US" sz="600" b="true">
                  <a:solidFill>
                    <a:srgbClr val="6A6967"/>
                  </a:solidFill>
                  <a:latin typeface="TT Commons Pro Bold"/>
                  <a:ea typeface="TT Commons Pro Bold"/>
                  <a:cs typeface="TT Commons Pro Bold"/>
                  <a:sym typeface="TT Commons Pro Bold"/>
                </a:rPr>
                <a:t>4.3|30mins</a:t>
              </a:r>
            </a:p>
          </p:txBody>
        </p:sp>
      </p:grpSp>
      <p:grpSp>
        <p:nvGrpSpPr>
          <p:cNvPr name="Group 109" id="109"/>
          <p:cNvGrpSpPr/>
          <p:nvPr/>
        </p:nvGrpSpPr>
        <p:grpSpPr>
          <a:xfrm rot="0">
            <a:off x="14766026" y="6080531"/>
            <a:ext cx="335413" cy="145180"/>
            <a:chOff x="0" y="0"/>
            <a:chExt cx="447218" cy="193573"/>
          </a:xfrm>
        </p:grpSpPr>
        <p:sp>
          <p:nvSpPr>
            <p:cNvPr name="Freeform 110" id="110"/>
            <p:cNvSpPr/>
            <p:nvPr/>
          </p:nvSpPr>
          <p:spPr>
            <a:xfrm flipH="false" flipV="false" rot="0">
              <a:off x="0" y="0"/>
              <a:ext cx="447167" cy="193548"/>
            </a:xfrm>
            <a:custGeom>
              <a:avLst/>
              <a:gdLst/>
              <a:ahLst/>
              <a:cxnLst/>
              <a:rect r="r" b="b" t="t" l="l"/>
              <a:pathLst>
                <a:path h="193548" w="447167">
                  <a:moveTo>
                    <a:pt x="0" y="0"/>
                  </a:moveTo>
                  <a:lnTo>
                    <a:pt x="447167" y="0"/>
                  </a:lnTo>
                  <a:lnTo>
                    <a:pt x="447167" y="193548"/>
                  </a:lnTo>
                  <a:lnTo>
                    <a:pt x="0" y="193548"/>
                  </a:lnTo>
                  <a:close/>
                </a:path>
              </a:pathLst>
            </a:custGeom>
            <a:blipFill>
              <a:blip r:embed="rId12">
                <a:alphaModFix amt="0"/>
              </a:blip>
              <a:stretch>
                <a:fillRect l="-5575" t="0" r="-5586" b="-13"/>
              </a:stretch>
            </a:blipFill>
          </p:spPr>
        </p:sp>
      </p:grpSp>
      <p:grpSp>
        <p:nvGrpSpPr>
          <p:cNvPr name="Group 111" id="111"/>
          <p:cNvGrpSpPr/>
          <p:nvPr/>
        </p:nvGrpSpPr>
        <p:grpSpPr>
          <a:xfrm rot="0">
            <a:off x="14766026" y="6087675"/>
            <a:ext cx="335423" cy="138046"/>
            <a:chOff x="0" y="0"/>
            <a:chExt cx="447231" cy="184061"/>
          </a:xfrm>
        </p:grpSpPr>
        <p:sp>
          <p:nvSpPr>
            <p:cNvPr name="Freeform 112" id="112"/>
            <p:cNvSpPr/>
            <p:nvPr/>
          </p:nvSpPr>
          <p:spPr>
            <a:xfrm flipH="false" flipV="false" rot="0">
              <a:off x="0" y="0"/>
              <a:ext cx="447231" cy="184056"/>
            </a:xfrm>
            <a:custGeom>
              <a:avLst/>
              <a:gdLst/>
              <a:ahLst/>
              <a:cxnLst/>
              <a:rect r="r" b="b" t="t" l="l"/>
              <a:pathLst>
                <a:path h="184056" w="447231">
                  <a:moveTo>
                    <a:pt x="0" y="0"/>
                  </a:moveTo>
                  <a:lnTo>
                    <a:pt x="447231" y="0"/>
                  </a:lnTo>
                  <a:lnTo>
                    <a:pt x="447231" y="184056"/>
                  </a:lnTo>
                  <a:lnTo>
                    <a:pt x="0" y="184056"/>
                  </a:lnTo>
                  <a:close/>
                </a:path>
              </a:pathLst>
            </a:custGeom>
            <a:blipFill>
              <a:blip r:embed="rId13">
                <a:alphaModFix amt="0"/>
              </a:blip>
              <a:stretch>
                <a:fillRect l="-2804" t="0" r="-2804" b="-2"/>
              </a:stretch>
            </a:blipFill>
          </p:spPr>
        </p:sp>
        <p:sp>
          <p:nvSpPr>
            <p:cNvPr name="TextBox 113" id="113"/>
            <p:cNvSpPr txBox="true"/>
            <p:nvPr/>
          </p:nvSpPr>
          <p:spPr>
            <a:xfrm>
              <a:off x="0" y="9525"/>
              <a:ext cx="447231" cy="174536"/>
            </a:xfrm>
            <a:prstGeom prst="rect">
              <a:avLst/>
            </a:prstGeom>
          </p:spPr>
          <p:txBody>
            <a:bodyPr anchor="ctr" rtlCol="false" tIns="0" lIns="0" bIns="0" rIns="0"/>
            <a:lstStyle/>
            <a:p>
              <a:pPr algn="l">
                <a:lnSpc>
                  <a:spcPts val="745"/>
                </a:lnSpc>
              </a:pPr>
              <a:r>
                <a:rPr lang="en-US" sz="711" b="true">
                  <a:solidFill>
                    <a:srgbClr val="CE7B79"/>
                  </a:solidFill>
                  <a:latin typeface="TT Commons Pro Bold"/>
                  <a:ea typeface="TT Commons Pro Bold"/>
                  <a:cs typeface="TT Commons Pro Bold"/>
                  <a:sym typeface="TT Commons Pro Bold"/>
                </a:rPr>
                <a:t>See all</a:t>
              </a:r>
            </a:p>
          </p:txBody>
        </p:sp>
      </p:grpSp>
      <p:grpSp>
        <p:nvGrpSpPr>
          <p:cNvPr name="Group 114" id="114"/>
          <p:cNvGrpSpPr/>
          <p:nvPr/>
        </p:nvGrpSpPr>
        <p:grpSpPr>
          <a:xfrm rot="0">
            <a:off x="13384216" y="6004722"/>
            <a:ext cx="954348" cy="164611"/>
            <a:chOff x="0" y="0"/>
            <a:chExt cx="1272464" cy="219481"/>
          </a:xfrm>
        </p:grpSpPr>
        <p:sp>
          <p:nvSpPr>
            <p:cNvPr name="Freeform 115" id="115"/>
            <p:cNvSpPr/>
            <p:nvPr/>
          </p:nvSpPr>
          <p:spPr>
            <a:xfrm flipH="false" flipV="false" rot="0">
              <a:off x="0" y="0"/>
              <a:ext cx="1272413" cy="219456"/>
            </a:xfrm>
            <a:custGeom>
              <a:avLst/>
              <a:gdLst/>
              <a:ahLst/>
              <a:cxnLst/>
              <a:rect r="r" b="b" t="t" l="l"/>
              <a:pathLst>
                <a:path h="219456" w="1272413">
                  <a:moveTo>
                    <a:pt x="0" y="0"/>
                  </a:moveTo>
                  <a:lnTo>
                    <a:pt x="1272413" y="0"/>
                  </a:lnTo>
                  <a:lnTo>
                    <a:pt x="1272413" y="219456"/>
                  </a:lnTo>
                  <a:lnTo>
                    <a:pt x="0" y="219456"/>
                  </a:lnTo>
                  <a:close/>
                </a:path>
              </a:pathLst>
            </a:custGeom>
            <a:blipFill>
              <a:blip r:embed="rId12">
                <a:alphaModFix amt="0"/>
              </a:blip>
              <a:stretch>
                <a:fillRect l="0" t="-62893" r="-3" b="-62905"/>
              </a:stretch>
            </a:blipFill>
          </p:spPr>
        </p:sp>
      </p:grpSp>
      <p:grpSp>
        <p:nvGrpSpPr>
          <p:cNvPr name="Group 116" id="116"/>
          <p:cNvGrpSpPr/>
          <p:nvPr/>
        </p:nvGrpSpPr>
        <p:grpSpPr>
          <a:xfrm rot="0">
            <a:off x="13384216" y="6011866"/>
            <a:ext cx="954338" cy="157467"/>
            <a:chOff x="0" y="0"/>
            <a:chExt cx="1272451" cy="209956"/>
          </a:xfrm>
        </p:grpSpPr>
        <p:sp>
          <p:nvSpPr>
            <p:cNvPr name="Freeform 117" id="117"/>
            <p:cNvSpPr/>
            <p:nvPr/>
          </p:nvSpPr>
          <p:spPr>
            <a:xfrm flipH="false" flipV="false" rot="0">
              <a:off x="0" y="0"/>
              <a:ext cx="1272456" cy="209958"/>
            </a:xfrm>
            <a:custGeom>
              <a:avLst/>
              <a:gdLst/>
              <a:ahLst/>
              <a:cxnLst/>
              <a:rect r="r" b="b" t="t" l="l"/>
              <a:pathLst>
                <a:path h="209958" w="1272456">
                  <a:moveTo>
                    <a:pt x="0" y="0"/>
                  </a:moveTo>
                  <a:lnTo>
                    <a:pt x="1272456" y="0"/>
                  </a:lnTo>
                  <a:lnTo>
                    <a:pt x="1272456" y="209958"/>
                  </a:lnTo>
                  <a:lnTo>
                    <a:pt x="0" y="209958"/>
                  </a:lnTo>
                  <a:close/>
                </a:path>
              </a:pathLst>
            </a:custGeom>
            <a:blipFill>
              <a:blip r:embed="rId13">
                <a:alphaModFix amt="0"/>
              </a:blip>
              <a:stretch>
                <a:fillRect l="0" t="-68089" r="0" b="-68089"/>
              </a:stretch>
            </a:blipFill>
          </p:spPr>
        </p:sp>
        <p:sp>
          <p:nvSpPr>
            <p:cNvPr name="TextBox 118" id="118"/>
            <p:cNvSpPr txBox="true"/>
            <p:nvPr/>
          </p:nvSpPr>
          <p:spPr>
            <a:xfrm>
              <a:off x="0" y="9525"/>
              <a:ext cx="1272451" cy="200431"/>
            </a:xfrm>
            <a:prstGeom prst="rect">
              <a:avLst/>
            </a:prstGeom>
          </p:spPr>
          <p:txBody>
            <a:bodyPr anchor="ctr" rtlCol="false" tIns="0" lIns="0" bIns="0" rIns="0"/>
            <a:lstStyle/>
            <a:p>
              <a:pPr algn="l">
                <a:lnSpc>
                  <a:spcPts val="783"/>
                </a:lnSpc>
              </a:pPr>
              <a:r>
                <a:rPr lang="en-US" sz="779" b="true">
                  <a:solidFill>
                    <a:srgbClr val="787674"/>
                  </a:solidFill>
                  <a:latin typeface="TT Commons Pro Bold"/>
                  <a:ea typeface="TT Commons Pro Bold"/>
                  <a:cs typeface="TT Commons Pro Bold"/>
                  <a:sym typeface="TT Commons Pro Bold"/>
                </a:rPr>
                <a:t>Top Picks for You</a:t>
              </a:r>
            </a:p>
          </p:txBody>
        </p:sp>
      </p:grpSp>
      <p:grpSp>
        <p:nvGrpSpPr>
          <p:cNvPr name="Group 119" id="119"/>
          <p:cNvGrpSpPr/>
          <p:nvPr/>
        </p:nvGrpSpPr>
        <p:grpSpPr>
          <a:xfrm rot="0">
            <a:off x="13373281" y="4469911"/>
            <a:ext cx="1728216" cy="1356265"/>
            <a:chOff x="0" y="0"/>
            <a:chExt cx="2304288" cy="1808353"/>
          </a:xfrm>
        </p:grpSpPr>
        <p:sp>
          <p:nvSpPr>
            <p:cNvPr name="Freeform 120" id="120" descr="preencoded.png"/>
            <p:cNvSpPr/>
            <p:nvPr/>
          </p:nvSpPr>
          <p:spPr>
            <a:xfrm flipH="false" flipV="false" rot="0">
              <a:off x="0" y="0"/>
              <a:ext cx="2304288" cy="1808353"/>
            </a:xfrm>
            <a:custGeom>
              <a:avLst/>
              <a:gdLst/>
              <a:ahLst/>
              <a:cxnLst/>
              <a:rect r="r" b="b" t="t" l="l"/>
              <a:pathLst>
                <a:path h="1808353" w="2304288">
                  <a:moveTo>
                    <a:pt x="0" y="0"/>
                  </a:moveTo>
                  <a:lnTo>
                    <a:pt x="2304288" y="0"/>
                  </a:lnTo>
                  <a:lnTo>
                    <a:pt x="2304288" y="1808353"/>
                  </a:lnTo>
                  <a:lnTo>
                    <a:pt x="0" y="1808353"/>
                  </a:lnTo>
                  <a:lnTo>
                    <a:pt x="0" y="0"/>
                  </a:lnTo>
                  <a:close/>
                </a:path>
              </a:pathLst>
            </a:custGeom>
            <a:blipFill>
              <a:blip r:embed="rId32"/>
              <a:stretch>
                <a:fillRect l="0" t="-16" r="0" b="-17"/>
              </a:stretch>
            </a:blipFill>
          </p:spPr>
        </p:sp>
      </p:grpSp>
      <p:sp>
        <p:nvSpPr>
          <p:cNvPr name="Freeform 121" id="121"/>
          <p:cNvSpPr/>
          <p:nvPr/>
        </p:nvSpPr>
        <p:spPr>
          <a:xfrm flipH="false" flipV="false" rot="0">
            <a:off x="13490867" y="5469807"/>
            <a:ext cx="647167" cy="224161"/>
          </a:xfrm>
          <a:custGeom>
            <a:avLst/>
            <a:gdLst/>
            <a:ahLst/>
            <a:cxnLst/>
            <a:rect r="r" b="b" t="t" l="l"/>
            <a:pathLst>
              <a:path h="224161" w="647167">
                <a:moveTo>
                  <a:pt x="0" y="0"/>
                </a:moveTo>
                <a:lnTo>
                  <a:pt x="647167" y="0"/>
                </a:lnTo>
                <a:lnTo>
                  <a:pt x="647167" y="224162"/>
                </a:lnTo>
                <a:lnTo>
                  <a:pt x="0" y="224162"/>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grpSp>
        <p:nvGrpSpPr>
          <p:cNvPr name="Group 122" id="122"/>
          <p:cNvGrpSpPr/>
          <p:nvPr/>
        </p:nvGrpSpPr>
        <p:grpSpPr>
          <a:xfrm rot="0">
            <a:off x="13613911" y="5519947"/>
            <a:ext cx="415633" cy="139427"/>
            <a:chOff x="0" y="0"/>
            <a:chExt cx="554177" cy="185903"/>
          </a:xfrm>
        </p:grpSpPr>
        <p:sp>
          <p:nvSpPr>
            <p:cNvPr name="Freeform 123" id="123"/>
            <p:cNvSpPr/>
            <p:nvPr/>
          </p:nvSpPr>
          <p:spPr>
            <a:xfrm flipH="false" flipV="false" rot="0">
              <a:off x="0" y="0"/>
              <a:ext cx="554228" cy="185928"/>
            </a:xfrm>
            <a:custGeom>
              <a:avLst/>
              <a:gdLst/>
              <a:ahLst/>
              <a:cxnLst/>
              <a:rect r="r" b="b" t="t" l="l"/>
              <a:pathLst>
                <a:path h="185928" w="554228">
                  <a:moveTo>
                    <a:pt x="0" y="0"/>
                  </a:moveTo>
                  <a:lnTo>
                    <a:pt x="554228" y="0"/>
                  </a:lnTo>
                  <a:lnTo>
                    <a:pt x="554228" y="185928"/>
                  </a:lnTo>
                  <a:lnTo>
                    <a:pt x="0" y="185928"/>
                  </a:lnTo>
                  <a:close/>
                </a:path>
              </a:pathLst>
            </a:custGeom>
            <a:blipFill>
              <a:blip r:embed="rId12">
                <a:alphaModFix amt="0"/>
              </a:blip>
              <a:stretch>
                <a:fillRect l="0" t="-8039" r="9" b="-8032"/>
              </a:stretch>
            </a:blipFill>
          </p:spPr>
        </p:sp>
      </p:grpSp>
      <p:grpSp>
        <p:nvGrpSpPr>
          <p:cNvPr name="Group 124" id="124"/>
          <p:cNvGrpSpPr/>
          <p:nvPr/>
        </p:nvGrpSpPr>
        <p:grpSpPr>
          <a:xfrm rot="0">
            <a:off x="13613911" y="5541378"/>
            <a:ext cx="415633" cy="117996"/>
            <a:chOff x="0" y="0"/>
            <a:chExt cx="554177" cy="157328"/>
          </a:xfrm>
        </p:grpSpPr>
        <p:sp>
          <p:nvSpPr>
            <p:cNvPr name="Freeform 125" id="125"/>
            <p:cNvSpPr/>
            <p:nvPr/>
          </p:nvSpPr>
          <p:spPr>
            <a:xfrm flipH="false" flipV="false" rot="0">
              <a:off x="0" y="0"/>
              <a:ext cx="554177" cy="157328"/>
            </a:xfrm>
            <a:custGeom>
              <a:avLst/>
              <a:gdLst/>
              <a:ahLst/>
              <a:cxnLst/>
              <a:rect r="r" b="b" t="t" l="l"/>
              <a:pathLst>
                <a:path h="157328" w="554177">
                  <a:moveTo>
                    <a:pt x="0" y="0"/>
                  </a:moveTo>
                  <a:lnTo>
                    <a:pt x="554177" y="0"/>
                  </a:lnTo>
                  <a:lnTo>
                    <a:pt x="554177" y="157328"/>
                  </a:lnTo>
                  <a:lnTo>
                    <a:pt x="0" y="157328"/>
                  </a:lnTo>
                  <a:close/>
                </a:path>
              </a:pathLst>
            </a:custGeom>
            <a:blipFill>
              <a:blip r:embed="rId13">
                <a:alphaModFix amt="0"/>
              </a:blip>
              <a:stretch>
                <a:fillRect l="0" t="-18634" r="0" b="-18634"/>
              </a:stretch>
            </a:blipFill>
          </p:spPr>
        </p:sp>
        <p:sp>
          <p:nvSpPr>
            <p:cNvPr name="TextBox 126" id="126"/>
            <p:cNvSpPr txBox="true"/>
            <p:nvPr/>
          </p:nvSpPr>
          <p:spPr>
            <a:xfrm>
              <a:off x="0" y="28575"/>
              <a:ext cx="554177" cy="128753"/>
            </a:xfrm>
            <a:prstGeom prst="rect">
              <a:avLst/>
            </a:prstGeom>
          </p:spPr>
          <p:txBody>
            <a:bodyPr anchor="ctr" rtlCol="false" tIns="0" lIns="0" bIns="0" rIns="0"/>
            <a:lstStyle/>
            <a:p>
              <a:pPr algn="l">
                <a:lnSpc>
                  <a:spcPts val="435"/>
                </a:lnSpc>
              </a:pPr>
              <a:r>
                <a:rPr lang="en-US" sz="678" b="true">
                  <a:solidFill>
                    <a:srgbClr val="8D5218"/>
                  </a:solidFill>
                  <a:latin typeface="TT Commons Pro Bold"/>
                  <a:ea typeface="TT Commons Pro Bold"/>
                  <a:cs typeface="TT Commons Pro Bold"/>
                  <a:sym typeface="TT Commons Pro Bold"/>
                </a:rPr>
                <a:t>Join Gold</a:t>
              </a:r>
            </a:p>
          </p:txBody>
        </p:sp>
      </p:grpSp>
      <p:grpSp>
        <p:nvGrpSpPr>
          <p:cNvPr name="Group 127" id="127"/>
          <p:cNvGrpSpPr/>
          <p:nvPr/>
        </p:nvGrpSpPr>
        <p:grpSpPr>
          <a:xfrm rot="0">
            <a:off x="13497239" y="5038677"/>
            <a:ext cx="802110" cy="364588"/>
            <a:chOff x="0" y="0"/>
            <a:chExt cx="1069480" cy="486118"/>
          </a:xfrm>
        </p:grpSpPr>
        <p:sp>
          <p:nvSpPr>
            <p:cNvPr name="Freeform 128" id="128"/>
            <p:cNvSpPr/>
            <p:nvPr/>
          </p:nvSpPr>
          <p:spPr>
            <a:xfrm flipH="false" flipV="false" rot="0">
              <a:off x="0" y="0"/>
              <a:ext cx="1069467" cy="486156"/>
            </a:xfrm>
            <a:custGeom>
              <a:avLst/>
              <a:gdLst/>
              <a:ahLst/>
              <a:cxnLst/>
              <a:rect r="r" b="b" t="t" l="l"/>
              <a:pathLst>
                <a:path h="486156" w="1069467">
                  <a:moveTo>
                    <a:pt x="0" y="0"/>
                  </a:moveTo>
                  <a:lnTo>
                    <a:pt x="1069467" y="0"/>
                  </a:lnTo>
                  <a:lnTo>
                    <a:pt x="1069467" y="486156"/>
                  </a:lnTo>
                  <a:lnTo>
                    <a:pt x="0" y="486156"/>
                  </a:lnTo>
                  <a:close/>
                </a:path>
              </a:pathLst>
            </a:custGeom>
            <a:blipFill>
              <a:blip r:embed="rId12">
                <a:alphaModFix amt="0"/>
              </a:blip>
              <a:stretch>
                <a:fillRect l="-8360" t="0" r="-8360" b="7"/>
              </a:stretch>
            </a:blipFill>
          </p:spPr>
        </p:sp>
      </p:grpSp>
      <p:grpSp>
        <p:nvGrpSpPr>
          <p:cNvPr name="Group 129" id="129"/>
          <p:cNvGrpSpPr/>
          <p:nvPr/>
        </p:nvGrpSpPr>
        <p:grpSpPr>
          <a:xfrm rot="0">
            <a:off x="13497239" y="5038677"/>
            <a:ext cx="802110" cy="364588"/>
            <a:chOff x="0" y="0"/>
            <a:chExt cx="1069480" cy="486118"/>
          </a:xfrm>
        </p:grpSpPr>
        <p:sp>
          <p:nvSpPr>
            <p:cNvPr name="Freeform 130" id="130"/>
            <p:cNvSpPr/>
            <p:nvPr/>
          </p:nvSpPr>
          <p:spPr>
            <a:xfrm flipH="false" flipV="false" rot="0">
              <a:off x="0" y="0"/>
              <a:ext cx="1069480" cy="486124"/>
            </a:xfrm>
            <a:custGeom>
              <a:avLst/>
              <a:gdLst/>
              <a:ahLst/>
              <a:cxnLst/>
              <a:rect r="r" b="b" t="t" l="l"/>
              <a:pathLst>
                <a:path h="486124" w="1069480">
                  <a:moveTo>
                    <a:pt x="0" y="0"/>
                  </a:moveTo>
                  <a:lnTo>
                    <a:pt x="1069480" y="0"/>
                  </a:lnTo>
                  <a:lnTo>
                    <a:pt x="1069480" y="486124"/>
                  </a:lnTo>
                  <a:lnTo>
                    <a:pt x="0" y="486124"/>
                  </a:lnTo>
                  <a:close/>
                </a:path>
              </a:pathLst>
            </a:custGeom>
            <a:blipFill>
              <a:blip r:embed="rId13">
                <a:alphaModFix amt="0"/>
              </a:blip>
              <a:stretch>
                <a:fillRect l="-8318" t="0" r="-8318" b="1"/>
              </a:stretch>
            </a:blipFill>
          </p:spPr>
        </p:sp>
        <p:sp>
          <p:nvSpPr>
            <p:cNvPr name="TextBox 131" id="131"/>
            <p:cNvSpPr txBox="true"/>
            <p:nvPr/>
          </p:nvSpPr>
          <p:spPr>
            <a:xfrm>
              <a:off x="0" y="0"/>
              <a:ext cx="1069480" cy="486118"/>
            </a:xfrm>
            <a:prstGeom prst="rect">
              <a:avLst/>
            </a:prstGeom>
          </p:spPr>
          <p:txBody>
            <a:bodyPr anchor="ctr" rtlCol="false" tIns="0" lIns="0" bIns="0" rIns="0"/>
            <a:lstStyle/>
            <a:p>
              <a:pPr algn="l">
                <a:lnSpc>
                  <a:spcPts val="1095"/>
                </a:lnSpc>
              </a:pPr>
              <a:r>
                <a:rPr lang="en-US" sz="832" b="true">
                  <a:solidFill>
                    <a:srgbClr val="787777"/>
                  </a:solidFill>
                  <a:latin typeface="TT Commons Pro Bold"/>
                  <a:ea typeface="TT Commons Pro Bold"/>
                  <a:cs typeface="TT Commons Pro Bold"/>
                  <a:sym typeface="TT Commons Pro Bold"/>
                </a:rPr>
                <a:t>Up to 30% OFF</a:t>
              </a:r>
            </a:p>
            <a:p>
              <a:pPr algn="l">
                <a:lnSpc>
                  <a:spcPts val="1095"/>
                </a:lnSpc>
              </a:pPr>
              <a:r>
                <a:rPr lang="en-US" sz="832" b="true">
                  <a:solidFill>
                    <a:srgbClr val="787777"/>
                  </a:solidFill>
                  <a:latin typeface="TT Commons Pro Bold"/>
                  <a:ea typeface="TT Commons Pro Bold"/>
                  <a:cs typeface="TT Commons Pro Bold"/>
                  <a:sym typeface="TT Commons Pro Bold"/>
                </a:rPr>
                <a:t>+FREE dellvery</a:t>
              </a:r>
            </a:p>
          </p:txBody>
        </p:sp>
      </p:grpSp>
      <p:grpSp>
        <p:nvGrpSpPr>
          <p:cNvPr name="Group 132" id="132"/>
          <p:cNvGrpSpPr/>
          <p:nvPr/>
        </p:nvGrpSpPr>
        <p:grpSpPr>
          <a:xfrm rot="0">
            <a:off x="13497239" y="4593879"/>
            <a:ext cx="700021" cy="481155"/>
            <a:chOff x="0" y="0"/>
            <a:chExt cx="933361" cy="641540"/>
          </a:xfrm>
        </p:grpSpPr>
        <p:sp>
          <p:nvSpPr>
            <p:cNvPr name="Freeform 133" id="133"/>
            <p:cNvSpPr/>
            <p:nvPr/>
          </p:nvSpPr>
          <p:spPr>
            <a:xfrm flipH="false" flipV="false" rot="0">
              <a:off x="0" y="0"/>
              <a:ext cx="933323" cy="641477"/>
            </a:xfrm>
            <a:custGeom>
              <a:avLst/>
              <a:gdLst/>
              <a:ahLst/>
              <a:cxnLst/>
              <a:rect r="r" b="b" t="t" l="l"/>
              <a:pathLst>
                <a:path h="641477" w="933323">
                  <a:moveTo>
                    <a:pt x="0" y="0"/>
                  </a:moveTo>
                  <a:lnTo>
                    <a:pt x="933323" y="0"/>
                  </a:lnTo>
                  <a:lnTo>
                    <a:pt x="933323" y="641477"/>
                  </a:lnTo>
                  <a:lnTo>
                    <a:pt x="0" y="641477"/>
                  </a:lnTo>
                  <a:close/>
                </a:path>
              </a:pathLst>
            </a:custGeom>
            <a:blipFill>
              <a:blip r:embed="rId12">
                <a:alphaModFix amt="0"/>
              </a:blip>
              <a:stretch>
                <a:fillRect l="-38251" t="0" r="-38255" b="-9"/>
              </a:stretch>
            </a:blipFill>
          </p:spPr>
        </p:sp>
      </p:grpSp>
      <p:grpSp>
        <p:nvGrpSpPr>
          <p:cNvPr name="Group 134" id="134"/>
          <p:cNvGrpSpPr/>
          <p:nvPr/>
        </p:nvGrpSpPr>
        <p:grpSpPr>
          <a:xfrm rot="0">
            <a:off x="13497239" y="4593879"/>
            <a:ext cx="700021" cy="481155"/>
            <a:chOff x="0" y="0"/>
            <a:chExt cx="933361" cy="641540"/>
          </a:xfrm>
        </p:grpSpPr>
        <p:sp>
          <p:nvSpPr>
            <p:cNvPr name="Freeform 135" id="135"/>
            <p:cNvSpPr/>
            <p:nvPr/>
          </p:nvSpPr>
          <p:spPr>
            <a:xfrm flipH="false" flipV="false" rot="0">
              <a:off x="0" y="0"/>
              <a:ext cx="933361" cy="641540"/>
            </a:xfrm>
            <a:custGeom>
              <a:avLst/>
              <a:gdLst/>
              <a:ahLst/>
              <a:cxnLst/>
              <a:rect r="r" b="b" t="t" l="l"/>
              <a:pathLst>
                <a:path h="641540" w="933361">
                  <a:moveTo>
                    <a:pt x="0" y="0"/>
                  </a:moveTo>
                  <a:lnTo>
                    <a:pt x="933361" y="0"/>
                  </a:lnTo>
                  <a:lnTo>
                    <a:pt x="933361" y="641540"/>
                  </a:lnTo>
                  <a:lnTo>
                    <a:pt x="0" y="641540"/>
                  </a:lnTo>
                  <a:close/>
                </a:path>
              </a:pathLst>
            </a:custGeom>
            <a:blipFill>
              <a:blip r:embed="rId13">
                <a:alphaModFix amt="0"/>
              </a:blip>
              <a:stretch>
                <a:fillRect l="-38188" t="0" r="-38188" b="0"/>
              </a:stretch>
            </a:blipFill>
          </p:spPr>
        </p:sp>
        <p:sp>
          <p:nvSpPr>
            <p:cNvPr name="TextBox 136" id="136"/>
            <p:cNvSpPr txBox="true"/>
            <p:nvPr/>
          </p:nvSpPr>
          <p:spPr>
            <a:xfrm>
              <a:off x="0" y="0"/>
              <a:ext cx="933361" cy="641540"/>
            </a:xfrm>
            <a:prstGeom prst="rect">
              <a:avLst/>
            </a:prstGeom>
          </p:spPr>
          <p:txBody>
            <a:bodyPr anchor="ctr" rtlCol="false" tIns="0" lIns="0" bIns="0" rIns="0"/>
            <a:lstStyle/>
            <a:p>
              <a:pPr algn="l">
                <a:lnSpc>
                  <a:spcPts val="1603"/>
                </a:lnSpc>
              </a:pPr>
              <a:r>
                <a:rPr lang="en-US" b="true" sz="1314" i="true">
                  <a:solidFill>
                    <a:srgbClr val="BDA261"/>
                  </a:solidFill>
                  <a:latin typeface="TT Commons Pro Bold Italics"/>
                  <a:ea typeface="TT Commons Pro Bold Italics"/>
                  <a:cs typeface="TT Commons Pro Bold Italics"/>
                  <a:sym typeface="TT Commons Pro Bold Italics"/>
                </a:rPr>
                <a:t>zomato</a:t>
              </a:r>
            </a:p>
            <a:p>
              <a:pPr algn="l">
                <a:lnSpc>
                  <a:spcPts val="1603"/>
                </a:lnSpc>
              </a:pPr>
              <a:r>
                <a:rPr lang="en-US" b="true" sz="1314" i="true">
                  <a:solidFill>
                    <a:srgbClr val="BDA261"/>
                  </a:solidFill>
                  <a:latin typeface="TT Commons Pro Bold Italics"/>
                  <a:ea typeface="TT Commons Pro Bold Italics"/>
                  <a:cs typeface="TT Commons Pro Bold Italics"/>
                  <a:sym typeface="TT Commons Pro Bold Italics"/>
                </a:rPr>
                <a:t>GOLD</a:t>
              </a:r>
            </a:p>
          </p:txBody>
        </p:sp>
      </p:grpSp>
      <p:grpSp>
        <p:nvGrpSpPr>
          <p:cNvPr name="Group 137" id="137"/>
          <p:cNvGrpSpPr/>
          <p:nvPr/>
        </p:nvGrpSpPr>
        <p:grpSpPr>
          <a:xfrm rot="0">
            <a:off x="14714982" y="3842814"/>
            <a:ext cx="328136" cy="342710"/>
            <a:chOff x="0" y="0"/>
            <a:chExt cx="437515" cy="456946"/>
          </a:xfrm>
        </p:grpSpPr>
        <p:sp>
          <p:nvSpPr>
            <p:cNvPr name="Freeform 138" id="138" descr="preencoded.png"/>
            <p:cNvSpPr/>
            <p:nvPr/>
          </p:nvSpPr>
          <p:spPr>
            <a:xfrm flipH="false" flipV="false" rot="0">
              <a:off x="0" y="0"/>
              <a:ext cx="437515" cy="456946"/>
            </a:xfrm>
            <a:custGeom>
              <a:avLst/>
              <a:gdLst/>
              <a:ahLst/>
              <a:cxnLst/>
              <a:rect r="r" b="b" t="t" l="l"/>
              <a:pathLst>
                <a:path h="456946" w="437515">
                  <a:moveTo>
                    <a:pt x="0" y="0"/>
                  </a:moveTo>
                  <a:lnTo>
                    <a:pt x="437515" y="0"/>
                  </a:lnTo>
                  <a:lnTo>
                    <a:pt x="437515" y="456946"/>
                  </a:lnTo>
                  <a:lnTo>
                    <a:pt x="0" y="456946"/>
                  </a:lnTo>
                  <a:lnTo>
                    <a:pt x="0" y="0"/>
                  </a:lnTo>
                  <a:close/>
                </a:path>
              </a:pathLst>
            </a:custGeom>
            <a:blipFill>
              <a:blip r:embed="rId35"/>
              <a:stretch>
                <a:fillRect l="0" t="-533" r="0" b="-533"/>
              </a:stretch>
            </a:blipFill>
          </p:spPr>
        </p:sp>
      </p:grpSp>
      <p:grpSp>
        <p:nvGrpSpPr>
          <p:cNvPr name="Group 139" id="139"/>
          <p:cNvGrpSpPr/>
          <p:nvPr/>
        </p:nvGrpSpPr>
        <p:grpSpPr>
          <a:xfrm rot="0">
            <a:off x="14277470" y="4207402"/>
            <a:ext cx="320840" cy="139541"/>
            <a:chOff x="0" y="0"/>
            <a:chExt cx="427787" cy="186055"/>
          </a:xfrm>
        </p:grpSpPr>
        <p:sp>
          <p:nvSpPr>
            <p:cNvPr name="Freeform 140" id="140"/>
            <p:cNvSpPr/>
            <p:nvPr/>
          </p:nvSpPr>
          <p:spPr>
            <a:xfrm flipH="false" flipV="false" rot="0">
              <a:off x="0" y="0"/>
              <a:ext cx="427736" cy="186055"/>
            </a:xfrm>
            <a:custGeom>
              <a:avLst/>
              <a:gdLst/>
              <a:ahLst/>
              <a:cxnLst/>
              <a:rect r="r" b="b" t="t" l="l"/>
              <a:pathLst>
                <a:path h="186055" w="427736">
                  <a:moveTo>
                    <a:pt x="0" y="0"/>
                  </a:moveTo>
                  <a:lnTo>
                    <a:pt x="427736" y="0"/>
                  </a:lnTo>
                  <a:lnTo>
                    <a:pt x="427736" y="186055"/>
                  </a:lnTo>
                  <a:lnTo>
                    <a:pt x="0" y="186055"/>
                  </a:lnTo>
                  <a:close/>
                </a:path>
              </a:pathLst>
            </a:custGeom>
            <a:blipFill>
              <a:blip r:embed="rId12">
                <a:alphaModFix amt="0"/>
              </a:blip>
              <a:stretch>
                <a:fillRect l="-5840" t="0" r="-5855" b="0"/>
              </a:stretch>
            </a:blipFill>
          </p:spPr>
        </p:sp>
      </p:grpSp>
      <p:grpSp>
        <p:nvGrpSpPr>
          <p:cNvPr name="Group 141" id="141"/>
          <p:cNvGrpSpPr/>
          <p:nvPr/>
        </p:nvGrpSpPr>
        <p:grpSpPr>
          <a:xfrm rot="0">
            <a:off x="14277470" y="4207402"/>
            <a:ext cx="320840" cy="139541"/>
            <a:chOff x="0" y="0"/>
            <a:chExt cx="427787" cy="186055"/>
          </a:xfrm>
        </p:grpSpPr>
        <p:sp>
          <p:nvSpPr>
            <p:cNvPr name="Freeform 142" id="142"/>
            <p:cNvSpPr/>
            <p:nvPr/>
          </p:nvSpPr>
          <p:spPr>
            <a:xfrm flipH="false" flipV="false" rot="0">
              <a:off x="0" y="0"/>
              <a:ext cx="427787" cy="186057"/>
            </a:xfrm>
            <a:custGeom>
              <a:avLst/>
              <a:gdLst/>
              <a:ahLst/>
              <a:cxnLst/>
              <a:rect r="r" b="b" t="t" l="l"/>
              <a:pathLst>
                <a:path h="186057" w="427787">
                  <a:moveTo>
                    <a:pt x="0" y="0"/>
                  </a:moveTo>
                  <a:lnTo>
                    <a:pt x="427787" y="0"/>
                  </a:lnTo>
                  <a:lnTo>
                    <a:pt x="427787" y="186057"/>
                  </a:lnTo>
                  <a:lnTo>
                    <a:pt x="0" y="186057"/>
                  </a:lnTo>
                  <a:close/>
                </a:path>
              </a:pathLst>
            </a:custGeom>
            <a:blipFill>
              <a:blip r:embed="rId13">
                <a:alphaModFix amt="0"/>
              </a:blip>
              <a:stretch>
                <a:fillRect l="-5802" t="0" r="-5802" b="1"/>
              </a:stretch>
            </a:blipFill>
          </p:spPr>
        </p:sp>
        <p:sp>
          <p:nvSpPr>
            <p:cNvPr name="TextBox 143" id="143"/>
            <p:cNvSpPr txBox="true"/>
            <p:nvPr/>
          </p:nvSpPr>
          <p:spPr>
            <a:xfrm>
              <a:off x="0" y="0"/>
              <a:ext cx="427787" cy="186055"/>
            </a:xfrm>
            <a:prstGeom prst="rect">
              <a:avLst/>
            </a:prstGeom>
          </p:spPr>
          <p:txBody>
            <a:bodyPr anchor="ctr" rtlCol="false" tIns="0" lIns="0" bIns="0" rIns="0"/>
            <a:lstStyle/>
            <a:p>
              <a:pPr algn="l">
                <a:lnSpc>
                  <a:spcPts val="777"/>
                </a:lnSpc>
              </a:pPr>
              <a:r>
                <a:rPr lang="en-US" sz="658" b="true">
                  <a:solidFill>
                    <a:srgbClr val="8E8A8C"/>
                  </a:solidFill>
                  <a:latin typeface="TT Commons Pro Bold"/>
                  <a:ea typeface="TT Commons Pro Bold"/>
                  <a:cs typeface="TT Commons Pro Bold"/>
                  <a:sym typeface="TT Commons Pro Bold"/>
                </a:rPr>
                <a:t>Offers</a:t>
              </a:r>
            </a:p>
          </p:txBody>
        </p:sp>
      </p:grpSp>
      <p:grpSp>
        <p:nvGrpSpPr>
          <p:cNvPr name="Group 144" id="144"/>
          <p:cNvGrpSpPr/>
          <p:nvPr/>
        </p:nvGrpSpPr>
        <p:grpSpPr>
          <a:xfrm rot="0">
            <a:off x="14284766" y="3842814"/>
            <a:ext cx="320802" cy="335470"/>
            <a:chOff x="0" y="0"/>
            <a:chExt cx="427736" cy="447294"/>
          </a:xfrm>
        </p:grpSpPr>
        <p:sp>
          <p:nvSpPr>
            <p:cNvPr name="Freeform 145" id="145" descr="preencoded.png"/>
            <p:cNvSpPr/>
            <p:nvPr/>
          </p:nvSpPr>
          <p:spPr>
            <a:xfrm flipH="false" flipV="false" rot="0">
              <a:off x="0" y="0"/>
              <a:ext cx="427736" cy="447294"/>
            </a:xfrm>
            <a:custGeom>
              <a:avLst/>
              <a:gdLst/>
              <a:ahLst/>
              <a:cxnLst/>
              <a:rect r="r" b="b" t="t" l="l"/>
              <a:pathLst>
                <a:path h="447294" w="427736">
                  <a:moveTo>
                    <a:pt x="0" y="0"/>
                  </a:moveTo>
                  <a:lnTo>
                    <a:pt x="427736" y="0"/>
                  </a:lnTo>
                  <a:lnTo>
                    <a:pt x="427736" y="447294"/>
                  </a:lnTo>
                  <a:lnTo>
                    <a:pt x="0" y="447294"/>
                  </a:lnTo>
                  <a:lnTo>
                    <a:pt x="0" y="0"/>
                  </a:lnTo>
                  <a:close/>
                </a:path>
              </a:pathLst>
            </a:custGeom>
            <a:blipFill>
              <a:blip r:embed="rId36"/>
              <a:stretch>
                <a:fillRect l="0" t="-573" r="0" b="-570"/>
              </a:stretch>
            </a:blipFill>
          </p:spPr>
        </p:sp>
      </p:grpSp>
      <p:grpSp>
        <p:nvGrpSpPr>
          <p:cNvPr name="Group 146" id="146"/>
          <p:cNvGrpSpPr/>
          <p:nvPr/>
        </p:nvGrpSpPr>
        <p:grpSpPr>
          <a:xfrm rot="0">
            <a:off x="13847254" y="3842814"/>
            <a:ext cx="313563" cy="335470"/>
            <a:chOff x="0" y="0"/>
            <a:chExt cx="418084" cy="447294"/>
          </a:xfrm>
        </p:grpSpPr>
        <p:sp>
          <p:nvSpPr>
            <p:cNvPr name="Freeform 147" id="147" descr="preencoded.png"/>
            <p:cNvSpPr/>
            <p:nvPr/>
          </p:nvSpPr>
          <p:spPr>
            <a:xfrm flipH="false" flipV="false" rot="0">
              <a:off x="0" y="0"/>
              <a:ext cx="418084" cy="447294"/>
            </a:xfrm>
            <a:custGeom>
              <a:avLst/>
              <a:gdLst/>
              <a:ahLst/>
              <a:cxnLst/>
              <a:rect r="r" b="b" t="t" l="l"/>
              <a:pathLst>
                <a:path h="447294" w="418084">
                  <a:moveTo>
                    <a:pt x="0" y="0"/>
                  </a:moveTo>
                  <a:lnTo>
                    <a:pt x="418084" y="0"/>
                  </a:lnTo>
                  <a:lnTo>
                    <a:pt x="418084" y="447294"/>
                  </a:lnTo>
                  <a:lnTo>
                    <a:pt x="0" y="447294"/>
                  </a:lnTo>
                  <a:lnTo>
                    <a:pt x="0" y="0"/>
                  </a:lnTo>
                  <a:close/>
                </a:path>
              </a:pathLst>
            </a:custGeom>
            <a:blipFill>
              <a:blip r:embed="rId37"/>
              <a:stretch>
                <a:fillRect l="0" t="-400" r="0" b="-400"/>
              </a:stretch>
            </a:blipFill>
          </p:spPr>
        </p:sp>
      </p:grpSp>
      <p:grpSp>
        <p:nvGrpSpPr>
          <p:cNvPr name="Group 148" id="148"/>
          <p:cNvGrpSpPr/>
          <p:nvPr/>
        </p:nvGrpSpPr>
        <p:grpSpPr>
          <a:xfrm rot="0">
            <a:off x="13417029" y="3842814"/>
            <a:ext cx="313563" cy="342710"/>
            <a:chOff x="0" y="0"/>
            <a:chExt cx="418084" cy="456946"/>
          </a:xfrm>
        </p:grpSpPr>
        <p:sp>
          <p:nvSpPr>
            <p:cNvPr name="Freeform 149" id="149" descr="preencoded.png"/>
            <p:cNvSpPr/>
            <p:nvPr/>
          </p:nvSpPr>
          <p:spPr>
            <a:xfrm flipH="false" flipV="false" rot="0">
              <a:off x="0" y="0"/>
              <a:ext cx="418084" cy="456946"/>
            </a:xfrm>
            <a:custGeom>
              <a:avLst/>
              <a:gdLst/>
              <a:ahLst/>
              <a:cxnLst/>
              <a:rect r="r" b="b" t="t" l="l"/>
              <a:pathLst>
                <a:path h="456946" w="418084">
                  <a:moveTo>
                    <a:pt x="0" y="0"/>
                  </a:moveTo>
                  <a:lnTo>
                    <a:pt x="418084" y="0"/>
                  </a:lnTo>
                  <a:lnTo>
                    <a:pt x="418084" y="456946"/>
                  </a:lnTo>
                  <a:lnTo>
                    <a:pt x="0" y="456946"/>
                  </a:lnTo>
                  <a:lnTo>
                    <a:pt x="0" y="0"/>
                  </a:lnTo>
                  <a:close/>
                </a:path>
              </a:pathLst>
            </a:custGeom>
            <a:blipFill>
              <a:blip r:embed="rId38"/>
              <a:stretch>
                <a:fillRect l="0" t="-147" r="0" b="-144"/>
              </a:stretch>
            </a:blipFill>
          </p:spPr>
        </p:sp>
      </p:grpSp>
      <p:sp>
        <p:nvSpPr>
          <p:cNvPr name="Freeform 150" id="150"/>
          <p:cNvSpPr/>
          <p:nvPr/>
        </p:nvSpPr>
        <p:spPr>
          <a:xfrm flipH="false" flipV="false" rot="0">
            <a:off x="13381482" y="3274962"/>
            <a:ext cx="1697203" cy="340843"/>
          </a:xfrm>
          <a:custGeom>
            <a:avLst/>
            <a:gdLst/>
            <a:ahLst/>
            <a:cxnLst/>
            <a:rect r="r" b="b" t="t" l="l"/>
            <a:pathLst>
              <a:path h="340843" w="1697203">
                <a:moveTo>
                  <a:pt x="0" y="0"/>
                </a:moveTo>
                <a:lnTo>
                  <a:pt x="1697203" y="0"/>
                </a:lnTo>
                <a:lnTo>
                  <a:pt x="1697203" y="340842"/>
                </a:lnTo>
                <a:lnTo>
                  <a:pt x="0" y="340842"/>
                </a:lnTo>
                <a:lnTo>
                  <a:pt x="0" y="0"/>
                </a:lnTo>
                <a:close/>
              </a:path>
            </a:pathLst>
          </a:custGeom>
          <a:blipFill>
            <a:blip r:embed="rId39">
              <a:extLst>
                <a:ext uri="{96DAC541-7B7A-43D3-8B79-37D633B846F1}">
                  <asvg:svgBlip xmlns:asvg="http://schemas.microsoft.com/office/drawing/2016/SVG/main" r:embed="rId40"/>
                </a:ext>
              </a:extLst>
            </a:blip>
            <a:stretch>
              <a:fillRect l="0" t="0" r="0" b="0"/>
            </a:stretch>
          </a:blipFill>
        </p:spPr>
      </p:sp>
      <p:grpSp>
        <p:nvGrpSpPr>
          <p:cNvPr name="Group 151" id="151"/>
          <p:cNvGrpSpPr/>
          <p:nvPr/>
        </p:nvGrpSpPr>
        <p:grpSpPr>
          <a:xfrm rot="0">
            <a:off x="13482657" y="3398006"/>
            <a:ext cx="94774" cy="102108"/>
            <a:chOff x="0" y="0"/>
            <a:chExt cx="126365" cy="136144"/>
          </a:xfrm>
        </p:grpSpPr>
        <p:sp>
          <p:nvSpPr>
            <p:cNvPr name="Freeform 152" id="152" descr="preencoded.png"/>
            <p:cNvSpPr/>
            <p:nvPr/>
          </p:nvSpPr>
          <p:spPr>
            <a:xfrm flipH="false" flipV="false" rot="0">
              <a:off x="0" y="0"/>
              <a:ext cx="126365" cy="136144"/>
            </a:xfrm>
            <a:custGeom>
              <a:avLst/>
              <a:gdLst/>
              <a:ahLst/>
              <a:cxnLst/>
              <a:rect r="r" b="b" t="t" l="l"/>
              <a:pathLst>
                <a:path h="136144" w="126365">
                  <a:moveTo>
                    <a:pt x="0" y="0"/>
                  </a:moveTo>
                  <a:lnTo>
                    <a:pt x="126365" y="0"/>
                  </a:lnTo>
                  <a:lnTo>
                    <a:pt x="126365" y="136144"/>
                  </a:lnTo>
                  <a:lnTo>
                    <a:pt x="0" y="136144"/>
                  </a:lnTo>
                  <a:lnTo>
                    <a:pt x="0" y="0"/>
                  </a:lnTo>
                  <a:close/>
                </a:path>
              </a:pathLst>
            </a:custGeom>
            <a:blipFill>
              <a:blip r:embed="rId41"/>
              <a:stretch>
                <a:fillRect l="-1306" t="0" r="-1296" b="0"/>
              </a:stretch>
            </a:blipFill>
          </p:spPr>
        </p:sp>
      </p:grpSp>
      <p:grpSp>
        <p:nvGrpSpPr>
          <p:cNvPr name="Group 153" id="153"/>
          <p:cNvGrpSpPr/>
          <p:nvPr/>
        </p:nvGrpSpPr>
        <p:grpSpPr>
          <a:xfrm rot="0">
            <a:off x="13621207" y="3376136"/>
            <a:ext cx="1246908" cy="131254"/>
            <a:chOff x="0" y="0"/>
            <a:chExt cx="1662544" cy="175006"/>
          </a:xfrm>
        </p:grpSpPr>
        <p:sp>
          <p:nvSpPr>
            <p:cNvPr name="Freeform 154" id="154"/>
            <p:cNvSpPr/>
            <p:nvPr/>
          </p:nvSpPr>
          <p:spPr>
            <a:xfrm flipH="false" flipV="false" rot="0">
              <a:off x="0" y="0"/>
              <a:ext cx="1662557" cy="175006"/>
            </a:xfrm>
            <a:custGeom>
              <a:avLst/>
              <a:gdLst/>
              <a:ahLst/>
              <a:cxnLst/>
              <a:rect r="r" b="b" t="t" l="l"/>
              <a:pathLst>
                <a:path h="175006" w="1662557">
                  <a:moveTo>
                    <a:pt x="0" y="0"/>
                  </a:moveTo>
                  <a:lnTo>
                    <a:pt x="1662557" y="0"/>
                  </a:lnTo>
                  <a:lnTo>
                    <a:pt x="1662557" y="175006"/>
                  </a:lnTo>
                  <a:lnTo>
                    <a:pt x="0" y="175006"/>
                  </a:lnTo>
                  <a:close/>
                </a:path>
              </a:pathLst>
            </a:custGeom>
            <a:blipFill>
              <a:blip r:embed="rId12">
                <a:alphaModFix amt="0"/>
              </a:blip>
              <a:stretch>
                <a:fillRect l="0" t="-134978" r="0" b="-134978"/>
              </a:stretch>
            </a:blipFill>
          </p:spPr>
        </p:sp>
      </p:grpSp>
      <p:grpSp>
        <p:nvGrpSpPr>
          <p:cNvPr name="Group 155" id="155"/>
          <p:cNvGrpSpPr/>
          <p:nvPr/>
        </p:nvGrpSpPr>
        <p:grpSpPr>
          <a:xfrm rot="0">
            <a:off x="13621207" y="3368992"/>
            <a:ext cx="1246908" cy="138398"/>
            <a:chOff x="0" y="0"/>
            <a:chExt cx="1662544" cy="184531"/>
          </a:xfrm>
        </p:grpSpPr>
        <p:sp>
          <p:nvSpPr>
            <p:cNvPr name="Freeform 156" id="156"/>
            <p:cNvSpPr/>
            <p:nvPr/>
          </p:nvSpPr>
          <p:spPr>
            <a:xfrm flipH="false" flipV="false" rot="0">
              <a:off x="0" y="0"/>
              <a:ext cx="1662544" cy="184530"/>
            </a:xfrm>
            <a:custGeom>
              <a:avLst/>
              <a:gdLst/>
              <a:ahLst/>
              <a:cxnLst/>
              <a:rect r="r" b="b" t="t" l="l"/>
              <a:pathLst>
                <a:path h="184530" w="1662544">
                  <a:moveTo>
                    <a:pt x="0" y="0"/>
                  </a:moveTo>
                  <a:lnTo>
                    <a:pt x="1662544" y="0"/>
                  </a:lnTo>
                  <a:lnTo>
                    <a:pt x="1662544" y="184530"/>
                  </a:lnTo>
                  <a:lnTo>
                    <a:pt x="0" y="184530"/>
                  </a:lnTo>
                  <a:close/>
                </a:path>
              </a:pathLst>
            </a:custGeom>
            <a:blipFill>
              <a:blip r:embed="rId13">
                <a:alphaModFix amt="0"/>
              </a:blip>
              <a:stretch>
                <a:fillRect l="0" t="-125552" r="0" b="-125552"/>
              </a:stretch>
            </a:blipFill>
          </p:spPr>
        </p:sp>
        <p:sp>
          <p:nvSpPr>
            <p:cNvPr name="TextBox 157" id="157"/>
            <p:cNvSpPr txBox="true"/>
            <p:nvPr/>
          </p:nvSpPr>
          <p:spPr>
            <a:xfrm>
              <a:off x="0" y="-9525"/>
              <a:ext cx="1662544" cy="194056"/>
            </a:xfrm>
            <a:prstGeom prst="rect">
              <a:avLst/>
            </a:prstGeom>
          </p:spPr>
          <p:txBody>
            <a:bodyPr anchor="ctr" rtlCol="false" tIns="0" lIns="0" bIns="0" rIns="0"/>
            <a:lstStyle/>
            <a:p>
              <a:pPr algn="l">
                <a:lnSpc>
                  <a:spcPts val="746"/>
                </a:lnSpc>
              </a:pPr>
              <a:r>
                <a:rPr lang="en-US" sz="585" b="true">
                  <a:solidFill>
                    <a:srgbClr val="A8A4A2"/>
                  </a:solidFill>
                  <a:latin typeface="TT Commons Pro Bold"/>
                  <a:ea typeface="TT Commons Pro Bold"/>
                  <a:cs typeface="TT Commons Pro Bold"/>
                  <a:sym typeface="TT Commons Pro Bold"/>
                </a:rPr>
                <a:t>Search for restaurants or cuisines</a:t>
              </a:r>
            </a:p>
          </p:txBody>
        </p:sp>
      </p:grpSp>
      <p:grpSp>
        <p:nvGrpSpPr>
          <p:cNvPr name="Group 158" id="158"/>
          <p:cNvGrpSpPr/>
          <p:nvPr/>
        </p:nvGrpSpPr>
        <p:grpSpPr>
          <a:xfrm rot="0">
            <a:off x="14911864" y="2902163"/>
            <a:ext cx="131254" cy="153162"/>
            <a:chOff x="0" y="0"/>
            <a:chExt cx="175006" cy="204216"/>
          </a:xfrm>
        </p:grpSpPr>
        <p:sp>
          <p:nvSpPr>
            <p:cNvPr name="Freeform 159" id="159" descr="preencoded.png"/>
            <p:cNvSpPr/>
            <p:nvPr/>
          </p:nvSpPr>
          <p:spPr>
            <a:xfrm flipH="false" flipV="false" rot="0">
              <a:off x="0" y="0"/>
              <a:ext cx="175006" cy="204216"/>
            </a:xfrm>
            <a:custGeom>
              <a:avLst/>
              <a:gdLst/>
              <a:ahLst/>
              <a:cxnLst/>
              <a:rect r="r" b="b" t="t" l="l"/>
              <a:pathLst>
                <a:path h="204216" w="175006">
                  <a:moveTo>
                    <a:pt x="0" y="0"/>
                  </a:moveTo>
                  <a:lnTo>
                    <a:pt x="175006" y="0"/>
                  </a:lnTo>
                  <a:lnTo>
                    <a:pt x="175006" y="204216"/>
                  </a:lnTo>
                  <a:lnTo>
                    <a:pt x="0" y="204216"/>
                  </a:lnTo>
                  <a:lnTo>
                    <a:pt x="0" y="0"/>
                  </a:lnTo>
                  <a:close/>
                </a:path>
              </a:pathLst>
            </a:custGeom>
            <a:blipFill>
              <a:blip r:embed="rId42"/>
              <a:stretch>
                <a:fillRect l="-1052" t="0" r="-1052" b="0"/>
              </a:stretch>
            </a:blipFill>
          </p:spPr>
        </p:sp>
      </p:grpSp>
      <p:grpSp>
        <p:nvGrpSpPr>
          <p:cNvPr name="Group 160" id="160"/>
          <p:cNvGrpSpPr/>
          <p:nvPr/>
        </p:nvGrpSpPr>
        <p:grpSpPr>
          <a:xfrm rot="0">
            <a:off x="14124346" y="3033417"/>
            <a:ext cx="72962" cy="51054"/>
            <a:chOff x="0" y="0"/>
            <a:chExt cx="97282" cy="68072"/>
          </a:xfrm>
        </p:grpSpPr>
        <p:sp>
          <p:nvSpPr>
            <p:cNvPr name="Freeform 161" id="161" descr="preencoded.png"/>
            <p:cNvSpPr/>
            <p:nvPr/>
          </p:nvSpPr>
          <p:spPr>
            <a:xfrm flipH="false" flipV="false" rot="0">
              <a:off x="0" y="0"/>
              <a:ext cx="97282" cy="68072"/>
            </a:xfrm>
            <a:custGeom>
              <a:avLst/>
              <a:gdLst/>
              <a:ahLst/>
              <a:cxnLst/>
              <a:rect r="r" b="b" t="t" l="l"/>
              <a:pathLst>
                <a:path h="68072" w="97282">
                  <a:moveTo>
                    <a:pt x="0" y="0"/>
                  </a:moveTo>
                  <a:lnTo>
                    <a:pt x="97282" y="0"/>
                  </a:lnTo>
                  <a:lnTo>
                    <a:pt x="97282" y="68072"/>
                  </a:lnTo>
                  <a:lnTo>
                    <a:pt x="0" y="68072"/>
                  </a:lnTo>
                  <a:lnTo>
                    <a:pt x="0" y="0"/>
                  </a:lnTo>
                  <a:close/>
                </a:path>
              </a:pathLst>
            </a:custGeom>
            <a:blipFill>
              <a:blip r:embed="rId43"/>
              <a:stretch>
                <a:fillRect l="-887" t="0" r="-887" b="0"/>
              </a:stretch>
            </a:blipFill>
          </p:spPr>
        </p:sp>
      </p:grpSp>
      <p:grpSp>
        <p:nvGrpSpPr>
          <p:cNvPr name="Group 162" id="162"/>
          <p:cNvGrpSpPr/>
          <p:nvPr/>
        </p:nvGrpSpPr>
        <p:grpSpPr>
          <a:xfrm rot="0">
            <a:off x="13417029" y="2479234"/>
            <a:ext cx="72962" cy="145828"/>
            <a:chOff x="0" y="0"/>
            <a:chExt cx="97282" cy="194437"/>
          </a:xfrm>
        </p:grpSpPr>
        <p:sp>
          <p:nvSpPr>
            <p:cNvPr name="Freeform 163" id="163" descr="preencoded.png"/>
            <p:cNvSpPr/>
            <p:nvPr/>
          </p:nvSpPr>
          <p:spPr>
            <a:xfrm flipH="false" flipV="false" rot="0">
              <a:off x="0" y="0"/>
              <a:ext cx="97282" cy="194437"/>
            </a:xfrm>
            <a:custGeom>
              <a:avLst/>
              <a:gdLst/>
              <a:ahLst/>
              <a:cxnLst/>
              <a:rect r="r" b="b" t="t" l="l"/>
              <a:pathLst>
                <a:path h="194437" w="97282">
                  <a:moveTo>
                    <a:pt x="0" y="0"/>
                  </a:moveTo>
                  <a:lnTo>
                    <a:pt x="97282" y="0"/>
                  </a:lnTo>
                  <a:lnTo>
                    <a:pt x="97282" y="194437"/>
                  </a:lnTo>
                  <a:lnTo>
                    <a:pt x="0" y="194437"/>
                  </a:lnTo>
                  <a:lnTo>
                    <a:pt x="0" y="0"/>
                  </a:lnTo>
                  <a:close/>
                </a:path>
              </a:pathLst>
            </a:custGeom>
            <a:blipFill>
              <a:blip r:embed="rId44"/>
              <a:stretch>
                <a:fillRect l="0" t="-32" r="0" b="-32"/>
              </a:stretch>
            </a:blipFill>
          </p:spPr>
        </p:sp>
      </p:grpSp>
      <p:grpSp>
        <p:nvGrpSpPr>
          <p:cNvPr name="Group 164" id="164"/>
          <p:cNvGrpSpPr/>
          <p:nvPr/>
        </p:nvGrpSpPr>
        <p:grpSpPr>
          <a:xfrm rot="0">
            <a:off x="14948325" y="2165680"/>
            <a:ext cx="109347" cy="58293"/>
            <a:chOff x="0" y="0"/>
            <a:chExt cx="145796" cy="77724"/>
          </a:xfrm>
        </p:grpSpPr>
        <p:sp>
          <p:nvSpPr>
            <p:cNvPr name="Freeform 165" id="165" descr="preencoded.png"/>
            <p:cNvSpPr/>
            <p:nvPr/>
          </p:nvSpPr>
          <p:spPr>
            <a:xfrm flipH="false" flipV="false" rot="0">
              <a:off x="0" y="0"/>
              <a:ext cx="145796" cy="77724"/>
            </a:xfrm>
            <a:custGeom>
              <a:avLst/>
              <a:gdLst/>
              <a:ahLst/>
              <a:cxnLst/>
              <a:rect r="r" b="b" t="t" l="l"/>
              <a:pathLst>
                <a:path h="77724" w="145796">
                  <a:moveTo>
                    <a:pt x="0" y="0"/>
                  </a:moveTo>
                  <a:lnTo>
                    <a:pt x="145796" y="0"/>
                  </a:lnTo>
                  <a:lnTo>
                    <a:pt x="145796" y="77724"/>
                  </a:lnTo>
                  <a:lnTo>
                    <a:pt x="0" y="77724"/>
                  </a:lnTo>
                  <a:lnTo>
                    <a:pt x="0" y="0"/>
                  </a:lnTo>
                  <a:close/>
                </a:path>
              </a:pathLst>
            </a:custGeom>
            <a:blipFill>
              <a:blip r:embed="rId45"/>
              <a:stretch>
                <a:fillRect l="0" t="-1160" r="0" b="-1160"/>
              </a:stretch>
            </a:blipFill>
          </p:spPr>
        </p:sp>
      </p:grpSp>
      <p:grpSp>
        <p:nvGrpSpPr>
          <p:cNvPr name="Group 166" id="166"/>
          <p:cNvGrpSpPr/>
          <p:nvPr/>
        </p:nvGrpSpPr>
        <p:grpSpPr>
          <a:xfrm rot="0">
            <a:off x="14846237" y="2158394"/>
            <a:ext cx="72962" cy="72962"/>
            <a:chOff x="0" y="0"/>
            <a:chExt cx="97282" cy="97282"/>
          </a:xfrm>
        </p:grpSpPr>
        <p:sp>
          <p:nvSpPr>
            <p:cNvPr name="Freeform 167" id="167" descr="preencoded.png"/>
            <p:cNvSpPr/>
            <p:nvPr/>
          </p:nvSpPr>
          <p:spPr>
            <a:xfrm flipH="false" flipV="false" rot="0">
              <a:off x="0" y="0"/>
              <a:ext cx="97282" cy="97282"/>
            </a:xfrm>
            <a:custGeom>
              <a:avLst/>
              <a:gdLst/>
              <a:ahLst/>
              <a:cxnLst/>
              <a:rect r="r" b="b" t="t" l="l"/>
              <a:pathLst>
                <a:path h="97282" w="97282">
                  <a:moveTo>
                    <a:pt x="0" y="0"/>
                  </a:moveTo>
                  <a:lnTo>
                    <a:pt x="97282" y="0"/>
                  </a:lnTo>
                  <a:lnTo>
                    <a:pt x="97282" y="97282"/>
                  </a:lnTo>
                  <a:lnTo>
                    <a:pt x="0" y="97282"/>
                  </a:lnTo>
                  <a:lnTo>
                    <a:pt x="0" y="0"/>
                  </a:lnTo>
                  <a:close/>
                </a:path>
              </a:pathLst>
            </a:custGeom>
            <a:blipFill>
              <a:blip r:embed="rId46"/>
              <a:stretch>
                <a:fillRect l="0" t="0" r="0" b="0"/>
              </a:stretch>
            </a:blipFill>
          </p:spPr>
        </p:sp>
      </p:grpSp>
      <p:grpSp>
        <p:nvGrpSpPr>
          <p:cNvPr name="Group 168" id="168"/>
          <p:cNvGrpSpPr/>
          <p:nvPr/>
        </p:nvGrpSpPr>
        <p:grpSpPr>
          <a:xfrm rot="0">
            <a:off x="14736861" y="2165680"/>
            <a:ext cx="94774" cy="65627"/>
            <a:chOff x="0" y="0"/>
            <a:chExt cx="126365" cy="87503"/>
          </a:xfrm>
        </p:grpSpPr>
        <p:sp>
          <p:nvSpPr>
            <p:cNvPr name="Freeform 169" id="169" descr="preencoded.png"/>
            <p:cNvSpPr/>
            <p:nvPr/>
          </p:nvSpPr>
          <p:spPr>
            <a:xfrm flipH="false" flipV="false" rot="0">
              <a:off x="0" y="0"/>
              <a:ext cx="126365" cy="87503"/>
            </a:xfrm>
            <a:custGeom>
              <a:avLst/>
              <a:gdLst/>
              <a:ahLst/>
              <a:cxnLst/>
              <a:rect r="r" b="b" t="t" l="l"/>
              <a:pathLst>
                <a:path h="87503" w="126365">
                  <a:moveTo>
                    <a:pt x="0" y="0"/>
                  </a:moveTo>
                  <a:lnTo>
                    <a:pt x="126365" y="0"/>
                  </a:lnTo>
                  <a:lnTo>
                    <a:pt x="126365" y="87503"/>
                  </a:lnTo>
                  <a:lnTo>
                    <a:pt x="0" y="87503"/>
                  </a:lnTo>
                  <a:lnTo>
                    <a:pt x="0" y="0"/>
                  </a:lnTo>
                  <a:close/>
                </a:path>
              </a:pathLst>
            </a:custGeom>
            <a:blipFill>
              <a:blip r:embed="rId47"/>
              <a:stretch>
                <a:fillRect l="0" t="-551" r="0" b="-537"/>
              </a:stretch>
            </a:blipFill>
          </p:spPr>
        </p:sp>
      </p:grpSp>
      <p:grpSp>
        <p:nvGrpSpPr>
          <p:cNvPr name="Group 170" id="170"/>
          <p:cNvGrpSpPr/>
          <p:nvPr/>
        </p:nvGrpSpPr>
        <p:grpSpPr>
          <a:xfrm rot="0">
            <a:off x="6249133" y="5570982"/>
            <a:ext cx="131254" cy="131254"/>
            <a:chOff x="0" y="0"/>
            <a:chExt cx="175006" cy="175006"/>
          </a:xfrm>
        </p:grpSpPr>
        <p:sp>
          <p:nvSpPr>
            <p:cNvPr name="Freeform 171" id="171" descr="preencoded.png"/>
            <p:cNvSpPr/>
            <p:nvPr/>
          </p:nvSpPr>
          <p:spPr>
            <a:xfrm flipH="false" flipV="false" rot="0">
              <a:off x="0" y="0"/>
              <a:ext cx="175006" cy="175006"/>
            </a:xfrm>
            <a:custGeom>
              <a:avLst/>
              <a:gdLst/>
              <a:ahLst/>
              <a:cxnLst/>
              <a:rect r="r" b="b" t="t" l="l"/>
              <a:pathLst>
                <a:path h="175006" w="175006">
                  <a:moveTo>
                    <a:pt x="0" y="0"/>
                  </a:moveTo>
                  <a:lnTo>
                    <a:pt x="175006" y="0"/>
                  </a:lnTo>
                  <a:lnTo>
                    <a:pt x="175006" y="175006"/>
                  </a:lnTo>
                  <a:lnTo>
                    <a:pt x="0" y="175006"/>
                  </a:lnTo>
                  <a:lnTo>
                    <a:pt x="0" y="0"/>
                  </a:lnTo>
                  <a:close/>
                </a:path>
              </a:pathLst>
            </a:custGeom>
            <a:blipFill>
              <a:blip r:embed="rId48"/>
              <a:stretch>
                <a:fillRect l="0" t="0" r="0" b="0"/>
              </a:stretch>
            </a:blipFill>
          </p:spPr>
        </p:sp>
      </p:grpSp>
      <p:grpSp>
        <p:nvGrpSpPr>
          <p:cNvPr name="Group 172" id="172"/>
          <p:cNvGrpSpPr/>
          <p:nvPr/>
        </p:nvGrpSpPr>
        <p:grpSpPr>
          <a:xfrm rot="0">
            <a:off x="6256420" y="5578278"/>
            <a:ext cx="116681" cy="116681"/>
            <a:chOff x="0" y="0"/>
            <a:chExt cx="155575" cy="155575"/>
          </a:xfrm>
        </p:grpSpPr>
        <p:sp>
          <p:nvSpPr>
            <p:cNvPr name="Freeform 173" id="173" descr="preencoded.png"/>
            <p:cNvSpPr/>
            <p:nvPr/>
          </p:nvSpPr>
          <p:spPr>
            <a:xfrm flipH="false" flipV="false" rot="0">
              <a:off x="0" y="0"/>
              <a:ext cx="155575" cy="155575"/>
            </a:xfrm>
            <a:custGeom>
              <a:avLst/>
              <a:gdLst/>
              <a:ahLst/>
              <a:cxnLst/>
              <a:rect r="r" b="b" t="t" l="l"/>
              <a:pathLst>
                <a:path h="155575" w="155575">
                  <a:moveTo>
                    <a:pt x="0" y="0"/>
                  </a:moveTo>
                  <a:lnTo>
                    <a:pt x="155575" y="0"/>
                  </a:lnTo>
                  <a:lnTo>
                    <a:pt x="155575" y="155575"/>
                  </a:lnTo>
                  <a:lnTo>
                    <a:pt x="0" y="155575"/>
                  </a:lnTo>
                  <a:lnTo>
                    <a:pt x="0" y="0"/>
                  </a:lnTo>
                  <a:close/>
                </a:path>
              </a:pathLst>
            </a:custGeom>
            <a:blipFill>
              <a:blip r:embed="rId49"/>
              <a:stretch>
                <a:fillRect l="0" t="0" r="0" b="0"/>
              </a:stretch>
            </a:blipFill>
          </p:spPr>
        </p:sp>
      </p:grpSp>
      <p:grpSp>
        <p:nvGrpSpPr>
          <p:cNvPr name="Group 174" id="174"/>
          <p:cNvGrpSpPr/>
          <p:nvPr/>
        </p:nvGrpSpPr>
        <p:grpSpPr>
          <a:xfrm rot="0">
            <a:off x="5622026" y="5585565"/>
            <a:ext cx="561499" cy="109347"/>
            <a:chOff x="0" y="0"/>
            <a:chExt cx="748665" cy="145796"/>
          </a:xfrm>
        </p:grpSpPr>
        <p:sp>
          <p:nvSpPr>
            <p:cNvPr name="Freeform 175" id="175" descr="preencoded.png"/>
            <p:cNvSpPr/>
            <p:nvPr/>
          </p:nvSpPr>
          <p:spPr>
            <a:xfrm flipH="false" flipV="false" rot="0">
              <a:off x="0" y="0"/>
              <a:ext cx="748665" cy="145796"/>
            </a:xfrm>
            <a:custGeom>
              <a:avLst/>
              <a:gdLst/>
              <a:ahLst/>
              <a:cxnLst/>
              <a:rect r="r" b="b" t="t" l="l"/>
              <a:pathLst>
                <a:path h="145796" w="748665">
                  <a:moveTo>
                    <a:pt x="0" y="0"/>
                  </a:moveTo>
                  <a:lnTo>
                    <a:pt x="748665" y="0"/>
                  </a:lnTo>
                  <a:lnTo>
                    <a:pt x="748665" y="145796"/>
                  </a:lnTo>
                  <a:lnTo>
                    <a:pt x="0" y="145796"/>
                  </a:lnTo>
                  <a:lnTo>
                    <a:pt x="0" y="0"/>
                  </a:lnTo>
                  <a:close/>
                </a:path>
              </a:pathLst>
            </a:custGeom>
            <a:blipFill>
              <a:blip r:embed="rId50"/>
              <a:stretch>
                <a:fillRect l="0" t="-1350" r="0" b="-1350"/>
              </a:stretch>
            </a:blipFill>
          </p:spPr>
        </p:sp>
      </p:grpSp>
      <p:grpSp>
        <p:nvGrpSpPr>
          <p:cNvPr name="Group 176" id="176"/>
          <p:cNvGrpSpPr/>
          <p:nvPr/>
        </p:nvGrpSpPr>
        <p:grpSpPr>
          <a:xfrm rot="0">
            <a:off x="5651192" y="5622026"/>
            <a:ext cx="503110" cy="29146"/>
            <a:chOff x="0" y="0"/>
            <a:chExt cx="670814" cy="38862"/>
          </a:xfrm>
        </p:grpSpPr>
        <p:sp>
          <p:nvSpPr>
            <p:cNvPr name="Freeform 177" id="177" descr="preencoded.png"/>
            <p:cNvSpPr/>
            <p:nvPr/>
          </p:nvSpPr>
          <p:spPr>
            <a:xfrm flipH="false" flipV="false" rot="0">
              <a:off x="0" y="0"/>
              <a:ext cx="670814" cy="38862"/>
            </a:xfrm>
            <a:custGeom>
              <a:avLst/>
              <a:gdLst/>
              <a:ahLst/>
              <a:cxnLst/>
              <a:rect r="r" b="b" t="t" l="l"/>
              <a:pathLst>
                <a:path h="38862" w="670814">
                  <a:moveTo>
                    <a:pt x="0" y="0"/>
                  </a:moveTo>
                  <a:lnTo>
                    <a:pt x="670814" y="0"/>
                  </a:lnTo>
                  <a:lnTo>
                    <a:pt x="670814" y="38862"/>
                  </a:lnTo>
                  <a:lnTo>
                    <a:pt x="0" y="38862"/>
                  </a:lnTo>
                  <a:lnTo>
                    <a:pt x="0" y="0"/>
                  </a:lnTo>
                  <a:close/>
                </a:path>
              </a:pathLst>
            </a:custGeom>
            <a:blipFill>
              <a:blip r:embed="rId51"/>
              <a:stretch>
                <a:fillRect l="-2624" t="0" r="-2622" b="0"/>
              </a:stretch>
            </a:blipFill>
          </p:spPr>
        </p:sp>
      </p:grpSp>
      <p:grpSp>
        <p:nvGrpSpPr>
          <p:cNvPr name="Group 178" id="178"/>
          <p:cNvGrpSpPr/>
          <p:nvPr/>
        </p:nvGrpSpPr>
        <p:grpSpPr>
          <a:xfrm rot="0">
            <a:off x="9559633" y="4841796"/>
            <a:ext cx="2734437" cy="29146"/>
            <a:chOff x="0" y="0"/>
            <a:chExt cx="3645916" cy="38862"/>
          </a:xfrm>
        </p:grpSpPr>
        <p:sp>
          <p:nvSpPr>
            <p:cNvPr name="Freeform 179" id="179" descr="preencoded.png"/>
            <p:cNvSpPr/>
            <p:nvPr/>
          </p:nvSpPr>
          <p:spPr>
            <a:xfrm flipH="false" flipV="false" rot="0">
              <a:off x="0" y="0"/>
              <a:ext cx="3645916" cy="38862"/>
            </a:xfrm>
            <a:custGeom>
              <a:avLst/>
              <a:gdLst/>
              <a:ahLst/>
              <a:cxnLst/>
              <a:rect r="r" b="b" t="t" l="l"/>
              <a:pathLst>
                <a:path h="38862" w="3645916">
                  <a:moveTo>
                    <a:pt x="0" y="0"/>
                  </a:moveTo>
                  <a:lnTo>
                    <a:pt x="3645916" y="0"/>
                  </a:lnTo>
                  <a:lnTo>
                    <a:pt x="3645916" y="38862"/>
                  </a:lnTo>
                  <a:lnTo>
                    <a:pt x="0" y="38862"/>
                  </a:lnTo>
                  <a:lnTo>
                    <a:pt x="0" y="0"/>
                  </a:lnTo>
                  <a:close/>
                </a:path>
              </a:pathLst>
            </a:custGeom>
            <a:blipFill>
              <a:blip r:embed="rId52"/>
              <a:stretch>
                <a:fillRect l="0" t="-5522" r="0" b="-5490"/>
              </a:stretch>
            </a:blipFill>
          </p:spPr>
        </p:sp>
      </p:grpSp>
      <p:grpSp>
        <p:nvGrpSpPr>
          <p:cNvPr name="Group 180" id="180"/>
          <p:cNvGrpSpPr/>
          <p:nvPr/>
        </p:nvGrpSpPr>
        <p:grpSpPr>
          <a:xfrm rot="0">
            <a:off x="8721071" y="4528252"/>
            <a:ext cx="670846" cy="685419"/>
            <a:chOff x="0" y="0"/>
            <a:chExt cx="894461" cy="913892"/>
          </a:xfrm>
        </p:grpSpPr>
        <p:sp>
          <p:nvSpPr>
            <p:cNvPr name="Freeform 181" id="181" descr="preencoded.png"/>
            <p:cNvSpPr/>
            <p:nvPr/>
          </p:nvSpPr>
          <p:spPr>
            <a:xfrm flipH="false" flipV="false" rot="0">
              <a:off x="0" y="0"/>
              <a:ext cx="894461" cy="913892"/>
            </a:xfrm>
            <a:custGeom>
              <a:avLst/>
              <a:gdLst/>
              <a:ahLst/>
              <a:cxnLst/>
              <a:rect r="r" b="b" t="t" l="l"/>
              <a:pathLst>
                <a:path h="913892" w="894461">
                  <a:moveTo>
                    <a:pt x="0" y="0"/>
                  </a:moveTo>
                  <a:lnTo>
                    <a:pt x="894461" y="0"/>
                  </a:lnTo>
                  <a:lnTo>
                    <a:pt x="894461" y="913892"/>
                  </a:lnTo>
                  <a:lnTo>
                    <a:pt x="0" y="913892"/>
                  </a:lnTo>
                  <a:lnTo>
                    <a:pt x="0" y="0"/>
                  </a:lnTo>
                  <a:close/>
                </a:path>
              </a:pathLst>
            </a:custGeom>
            <a:blipFill>
              <a:blip r:embed="rId53"/>
              <a:stretch>
                <a:fillRect l="-174" t="0" r="-173" b="0"/>
              </a:stretch>
            </a:blipFill>
          </p:spPr>
        </p:sp>
      </p:grpSp>
      <p:grpSp>
        <p:nvGrpSpPr>
          <p:cNvPr name="Group 182" id="182"/>
          <p:cNvGrpSpPr/>
          <p:nvPr/>
        </p:nvGrpSpPr>
        <p:grpSpPr>
          <a:xfrm rot="0">
            <a:off x="5738698" y="4834509"/>
            <a:ext cx="2807398" cy="36481"/>
            <a:chOff x="0" y="0"/>
            <a:chExt cx="3743198" cy="48641"/>
          </a:xfrm>
        </p:grpSpPr>
        <p:sp>
          <p:nvSpPr>
            <p:cNvPr name="Freeform 183" id="183" descr="preencoded.png"/>
            <p:cNvSpPr/>
            <p:nvPr/>
          </p:nvSpPr>
          <p:spPr>
            <a:xfrm flipH="false" flipV="false" rot="0">
              <a:off x="0" y="0"/>
              <a:ext cx="3743198" cy="48641"/>
            </a:xfrm>
            <a:custGeom>
              <a:avLst/>
              <a:gdLst/>
              <a:ahLst/>
              <a:cxnLst/>
              <a:rect r="r" b="b" t="t" l="l"/>
              <a:pathLst>
                <a:path h="48641" w="3743198">
                  <a:moveTo>
                    <a:pt x="0" y="0"/>
                  </a:moveTo>
                  <a:lnTo>
                    <a:pt x="3743198" y="0"/>
                  </a:lnTo>
                  <a:lnTo>
                    <a:pt x="3743198" y="48641"/>
                  </a:lnTo>
                  <a:lnTo>
                    <a:pt x="0" y="48641"/>
                  </a:lnTo>
                  <a:lnTo>
                    <a:pt x="0" y="0"/>
                  </a:lnTo>
                  <a:close/>
                </a:path>
              </a:pathLst>
            </a:custGeom>
            <a:blipFill>
              <a:blip r:embed="rId54"/>
              <a:stretch>
                <a:fillRect l="0" t="-5430" r="0" b="-5456"/>
              </a:stretch>
            </a:blipFill>
          </p:spPr>
        </p:sp>
      </p:grpSp>
      <p:grpSp>
        <p:nvGrpSpPr>
          <p:cNvPr name="Group 184" id="184"/>
          <p:cNvGrpSpPr/>
          <p:nvPr/>
        </p:nvGrpSpPr>
        <p:grpSpPr>
          <a:xfrm rot="0">
            <a:off x="11395872" y="1776698"/>
            <a:ext cx="1101090" cy="29146"/>
            <a:chOff x="0" y="0"/>
            <a:chExt cx="1468120" cy="38862"/>
          </a:xfrm>
        </p:grpSpPr>
        <p:sp>
          <p:nvSpPr>
            <p:cNvPr name="Freeform 185" id="185" descr="preencoded.png"/>
            <p:cNvSpPr/>
            <p:nvPr/>
          </p:nvSpPr>
          <p:spPr>
            <a:xfrm flipH="false" flipV="false" rot="0">
              <a:off x="0" y="0"/>
              <a:ext cx="1468120" cy="38862"/>
            </a:xfrm>
            <a:custGeom>
              <a:avLst/>
              <a:gdLst/>
              <a:ahLst/>
              <a:cxnLst/>
              <a:rect r="r" b="b" t="t" l="l"/>
              <a:pathLst>
                <a:path h="38862" w="1468120">
                  <a:moveTo>
                    <a:pt x="0" y="0"/>
                  </a:moveTo>
                  <a:lnTo>
                    <a:pt x="1468120" y="0"/>
                  </a:lnTo>
                  <a:lnTo>
                    <a:pt x="1468120" y="38862"/>
                  </a:lnTo>
                  <a:lnTo>
                    <a:pt x="0" y="38862"/>
                  </a:lnTo>
                  <a:lnTo>
                    <a:pt x="0" y="0"/>
                  </a:lnTo>
                  <a:close/>
                </a:path>
              </a:pathLst>
            </a:custGeom>
            <a:blipFill>
              <a:blip r:embed="rId55"/>
              <a:stretch>
                <a:fillRect l="0" t="-5555" r="0" b="-5555"/>
              </a:stretch>
            </a:blipFill>
          </p:spPr>
        </p:sp>
      </p:grpSp>
      <p:grpSp>
        <p:nvGrpSpPr>
          <p:cNvPr name="Group 186" id="186"/>
          <p:cNvGrpSpPr/>
          <p:nvPr/>
        </p:nvGrpSpPr>
        <p:grpSpPr>
          <a:xfrm rot="0">
            <a:off x="5829852" y="1766573"/>
            <a:ext cx="1101090" cy="49378"/>
            <a:chOff x="0" y="0"/>
            <a:chExt cx="1468120" cy="65837"/>
          </a:xfrm>
        </p:grpSpPr>
        <p:sp>
          <p:nvSpPr>
            <p:cNvPr name="Freeform 187" id="187" descr="preencoded.png"/>
            <p:cNvSpPr/>
            <p:nvPr/>
          </p:nvSpPr>
          <p:spPr>
            <a:xfrm flipH="false" flipV="false" rot="0">
              <a:off x="0" y="0"/>
              <a:ext cx="1468120" cy="65786"/>
            </a:xfrm>
            <a:custGeom>
              <a:avLst/>
              <a:gdLst/>
              <a:ahLst/>
              <a:cxnLst/>
              <a:rect r="r" b="b" t="t" l="l"/>
              <a:pathLst>
                <a:path h="65786" w="1468120">
                  <a:moveTo>
                    <a:pt x="0" y="0"/>
                  </a:moveTo>
                  <a:lnTo>
                    <a:pt x="1468120" y="0"/>
                  </a:lnTo>
                  <a:lnTo>
                    <a:pt x="1468120" y="65786"/>
                  </a:lnTo>
                  <a:lnTo>
                    <a:pt x="0" y="65786"/>
                  </a:lnTo>
                  <a:lnTo>
                    <a:pt x="0" y="0"/>
                  </a:lnTo>
                  <a:close/>
                </a:path>
              </a:pathLst>
            </a:custGeom>
            <a:blipFill>
              <a:blip r:embed="rId56"/>
              <a:stretch>
                <a:fillRect l="-34635" t="0" r="-34635" b="-77"/>
              </a:stretch>
            </a:blipFill>
          </p:spPr>
        </p:sp>
      </p:grpSp>
      <p:grpSp>
        <p:nvGrpSpPr>
          <p:cNvPr name="Group 188" id="188"/>
          <p:cNvGrpSpPr/>
          <p:nvPr/>
        </p:nvGrpSpPr>
        <p:grpSpPr>
          <a:xfrm rot="0">
            <a:off x="13825376" y="619811"/>
            <a:ext cx="452056" cy="692753"/>
            <a:chOff x="0" y="0"/>
            <a:chExt cx="602742" cy="923671"/>
          </a:xfrm>
        </p:grpSpPr>
        <p:sp>
          <p:nvSpPr>
            <p:cNvPr name="Freeform 189" id="189" descr="preencoded.png"/>
            <p:cNvSpPr/>
            <p:nvPr/>
          </p:nvSpPr>
          <p:spPr>
            <a:xfrm flipH="false" flipV="false" rot="0">
              <a:off x="0" y="0"/>
              <a:ext cx="602742" cy="923671"/>
            </a:xfrm>
            <a:custGeom>
              <a:avLst/>
              <a:gdLst/>
              <a:ahLst/>
              <a:cxnLst/>
              <a:rect r="r" b="b" t="t" l="l"/>
              <a:pathLst>
                <a:path h="923671" w="602742">
                  <a:moveTo>
                    <a:pt x="0" y="0"/>
                  </a:moveTo>
                  <a:lnTo>
                    <a:pt x="602742" y="0"/>
                  </a:lnTo>
                  <a:lnTo>
                    <a:pt x="602742" y="923671"/>
                  </a:lnTo>
                  <a:lnTo>
                    <a:pt x="0" y="923671"/>
                  </a:lnTo>
                  <a:lnTo>
                    <a:pt x="0" y="0"/>
                  </a:lnTo>
                  <a:close/>
                </a:path>
              </a:pathLst>
            </a:custGeom>
            <a:blipFill>
              <a:blip r:embed="rId57"/>
              <a:stretch>
                <a:fillRect l="-408" t="0" r="-410" b="0"/>
              </a:stretch>
            </a:blipFill>
          </p:spPr>
        </p:sp>
      </p:grpSp>
      <p:grpSp>
        <p:nvGrpSpPr>
          <p:cNvPr name="Group 190" id="190"/>
          <p:cNvGrpSpPr/>
          <p:nvPr/>
        </p:nvGrpSpPr>
        <p:grpSpPr>
          <a:xfrm rot="0">
            <a:off x="8750236" y="0"/>
            <a:ext cx="1152144" cy="991648"/>
            <a:chOff x="0" y="0"/>
            <a:chExt cx="1536192" cy="1322197"/>
          </a:xfrm>
        </p:grpSpPr>
        <p:sp>
          <p:nvSpPr>
            <p:cNvPr name="Freeform 191" id="191" descr="preencoded.png"/>
            <p:cNvSpPr/>
            <p:nvPr/>
          </p:nvSpPr>
          <p:spPr>
            <a:xfrm flipH="false" flipV="false" rot="0">
              <a:off x="0" y="0"/>
              <a:ext cx="1536192" cy="1322197"/>
            </a:xfrm>
            <a:custGeom>
              <a:avLst/>
              <a:gdLst/>
              <a:ahLst/>
              <a:cxnLst/>
              <a:rect r="r" b="b" t="t" l="l"/>
              <a:pathLst>
                <a:path h="1322197" w="1536192">
                  <a:moveTo>
                    <a:pt x="0" y="0"/>
                  </a:moveTo>
                  <a:lnTo>
                    <a:pt x="1536192" y="0"/>
                  </a:lnTo>
                  <a:lnTo>
                    <a:pt x="1536192" y="1322197"/>
                  </a:lnTo>
                  <a:lnTo>
                    <a:pt x="0" y="1322197"/>
                  </a:lnTo>
                  <a:lnTo>
                    <a:pt x="0" y="0"/>
                  </a:lnTo>
                  <a:close/>
                </a:path>
              </a:pathLst>
            </a:custGeom>
            <a:blipFill>
              <a:blip r:embed="rId58"/>
              <a:stretch>
                <a:fillRect l="-32" t="0" r="-32" b="0"/>
              </a:stretch>
            </a:blipFill>
          </p:spPr>
        </p:sp>
      </p:grpSp>
      <p:grpSp>
        <p:nvGrpSpPr>
          <p:cNvPr name="Group 192" id="192"/>
          <p:cNvGrpSpPr/>
          <p:nvPr/>
        </p:nvGrpSpPr>
        <p:grpSpPr>
          <a:xfrm rot="0">
            <a:off x="8859622" y="315773"/>
            <a:ext cx="933355" cy="888997"/>
            <a:chOff x="0" y="0"/>
            <a:chExt cx="1244473" cy="1185329"/>
          </a:xfrm>
        </p:grpSpPr>
        <p:sp>
          <p:nvSpPr>
            <p:cNvPr name="Freeform 193" id="193"/>
            <p:cNvSpPr/>
            <p:nvPr/>
          </p:nvSpPr>
          <p:spPr>
            <a:xfrm flipH="false" flipV="false" rot="0">
              <a:off x="0" y="0"/>
              <a:ext cx="1244473" cy="1185291"/>
            </a:xfrm>
            <a:custGeom>
              <a:avLst/>
              <a:gdLst/>
              <a:ahLst/>
              <a:cxnLst/>
              <a:rect r="r" b="b" t="t" l="l"/>
              <a:pathLst>
                <a:path h="1185291" w="1244473">
                  <a:moveTo>
                    <a:pt x="0" y="0"/>
                  </a:moveTo>
                  <a:lnTo>
                    <a:pt x="1244473" y="0"/>
                  </a:lnTo>
                  <a:lnTo>
                    <a:pt x="1244473" y="1185291"/>
                  </a:lnTo>
                  <a:lnTo>
                    <a:pt x="0" y="1185291"/>
                  </a:lnTo>
                  <a:close/>
                </a:path>
              </a:pathLst>
            </a:custGeom>
            <a:blipFill>
              <a:blip r:embed="rId12">
                <a:alphaModFix amt="0"/>
              </a:blip>
              <a:stretch>
                <a:fillRect l="-72291" t="0" r="-72291" b="-3"/>
              </a:stretch>
            </a:blipFill>
          </p:spPr>
        </p:sp>
      </p:grpSp>
      <p:grpSp>
        <p:nvGrpSpPr>
          <p:cNvPr name="Group 194" id="194"/>
          <p:cNvGrpSpPr/>
          <p:nvPr/>
        </p:nvGrpSpPr>
        <p:grpSpPr>
          <a:xfrm rot="0">
            <a:off x="8859622" y="444360"/>
            <a:ext cx="933355" cy="760409"/>
            <a:chOff x="0" y="0"/>
            <a:chExt cx="1244473" cy="1013879"/>
          </a:xfrm>
        </p:grpSpPr>
        <p:sp>
          <p:nvSpPr>
            <p:cNvPr name="Freeform 195" id="195"/>
            <p:cNvSpPr/>
            <p:nvPr/>
          </p:nvSpPr>
          <p:spPr>
            <a:xfrm flipH="false" flipV="false" rot="0">
              <a:off x="0" y="0"/>
              <a:ext cx="1244473" cy="1013878"/>
            </a:xfrm>
            <a:custGeom>
              <a:avLst/>
              <a:gdLst/>
              <a:ahLst/>
              <a:cxnLst/>
              <a:rect r="r" b="b" t="t" l="l"/>
              <a:pathLst>
                <a:path h="1013878" w="1244473">
                  <a:moveTo>
                    <a:pt x="0" y="0"/>
                  </a:moveTo>
                  <a:lnTo>
                    <a:pt x="1244473" y="0"/>
                  </a:lnTo>
                  <a:lnTo>
                    <a:pt x="1244473" y="1013878"/>
                  </a:lnTo>
                  <a:lnTo>
                    <a:pt x="0" y="1013878"/>
                  </a:lnTo>
                  <a:close/>
                </a:path>
              </a:pathLst>
            </a:custGeom>
            <a:blipFill>
              <a:blip r:embed="rId13">
                <a:alphaModFix amt="0"/>
              </a:blip>
              <a:stretch>
                <a:fillRect l="-54529" t="0" r="-54529" b="0"/>
              </a:stretch>
            </a:blipFill>
          </p:spPr>
        </p:sp>
        <p:sp>
          <p:nvSpPr>
            <p:cNvPr name="TextBox 196" id="196"/>
            <p:cNvSpPr txBox="true"/>
            <p:nvPr/>
          </p:nvSpPr>
          <p:spPr>
            <a:xfrm>
              <a:off x="0" y="171450"/>
              <a:ext cx="1244473" cy="842429"/>
            </a:xfrm>
            <a:prstGeom prst="rect">
              <a:avLst/>
            </a:prstGeom>
          </p:spPr>
          <p:txBody>
            <a:bodyPr anchor="ctr" rtlCol="false" tIns="0" lIns="0" bIns="0" rIns="0"/>
            <a:lstStyle/>
            <a:p>
              <a:pPr algn="l">
                <a:lnSpc>
                  <a:spcPts val="3124"/>
                </a:lnSpc>
              </a:pPr>
              <a:r>
                <a:rPr lang="en-US" sz="4132" b="true">
                  <a:solidFill>
                    <a:srgbClr val="D6D6D7"/>
                  </a:solidFill>
                  <a:latin typeface="TT Commons Pro Bold"/>
                  <a:ea typeface="TT Commons Pro Bold"/>
                  <a:cs typeface="TT Commons Pro Bold"/>
                  <a:sym typeface="TT Commons Pro Bold"/>
                </a:rPr>
                <a:t>VS</a:t>
              </a:r>
            </a:p>
          </p:txBody>
        </p:sp>
      </p:grpSp>
      <p:grpSp>
        <p:nvGrpSpPr>
          <p:cNvPr name="Group 197" id="197"/>
          <p:cNvGrpSpPr/>
          <p:nvPr/>
        </p:nvGrpSpPr>
        <p:grpSpPr>
          <a:xfrm rot="0">
            <a:off x="131254" y="0"/>
            <a:ext cx="5060537" cy="8750236"/>
            <a:chOff x="0" y="0"/>
            <a:chExt cx="6747383" cy="11666982"/>
          </a:xfrm>
        </p:grpSpPr>
        <p:sp>
          <p:nvSpPr>
            <p:cNvPr name="Freeform 198" id="198" descr="preencoded.png"/>
            <p:cNvSpPr/>
            <p:nvPr/>
          </p:nvSpPr>
          <p:spPr>
            <a:xfrm flipH="false" flipV="false" rot="0">
              <a:off x="0" y="0"/>
              <a:ext cx="6747383" cy="11666982"/>
            </a:xfrm>
            <a:custGeom>
              <a:avLst/>
              <a:gdLst/>
              <a:ahLst/>
              <a:cxnLst/>
              <a:rect r="r" b="b" t="t" l="l"/>
              <a:pathLst>
                <a:path h="11666982" w="6747383">
                  <a:moveTo>
                    <a:pt x="0" y="0"/>
                  </a:moveTo>
                  <a:lnTo>
                    <a:pt x="6747383" y="0"/>
                  </a:lnTo>
                  <a:lnTo>
                    <a:pt x="6747383" y="11666982"/>
                  </a:lnTo>
                  <a:lnTo>
                    <a:pt x="0" y="11666982"/>
                  </a:lnTo>
                  <a:lnTo>
                    <a:pt x="0" y="0"/>
                  </a:lnTo>
                  <a:close/>
                </a:path>
              </a:pathLst>
            </a:custGeom>
            <a:blipFill>
              <a:blip r:embed="rId59"/>
              <a:stretch>
                <a:fillRect l="-32" t="0" r="-32" b="0"/>
              </a:stretch>
            </a:blipFill>
          </p:spPr>
        </p:sp>
      </p:grpSp>
      <p:grpSp>
        <p:nvGrpSpPr>
          <p:cNvPr name="Group 199" id="199"/>
          <p:cNvGrpSpPr/>
          <p:nvPr/>
        </p:nvGrpSpPr>
        <p:grpSpPr>
          <a:xfrm rot="0">
            <a:off x="4316787" y="6642887"/>
            <a:ext cx="422910" cy="678180"/>
            <a:chOff x="0" y="0"/>
            <a:chExt cx="563880" cy="904240"/>
          </a:xfrm>
        </p:grpSpPr>
        <p:sp>
          <p:nvSpPr>
            <p:cNvPr name="Freeform 200" id="200" descr="preencoded.png"/>
            <p:cNvSpPr/>
            <p:nvPr/>
          </p:nvSpPr>
          <p:spPr>
            <a:xfrm flipH="false" flipV="false" rot="0">
              <a:off x="0" y="0"/>
              <a:ext cx="563880" cy="904240"/>
            </a:xfrm>
            <a:custGeom>
              <a:avLst/>
              <a:gdLst/>
              <a:ahLst/>
              <a:cxnLst/>
              <a:rect r="r" b="b" t="t" l="l"/>
              <a:pathLst>
                <a:path h="904240" w="563880">
                  <a:moveTo>
                    <a:pt x="0" y="0"/>
                  </a:moveTo>
                  <a:lnTo>
                    <a:pt x="563880" y="0"/>
                  </a:lnTo>
                  <a:lnTo>
                    <a:pt x="563880" y="904240"/>
                  </a:lnTo>
                  <a:lnTo>
                    <a:pt x="0" y="904240"/>
                  </a:lnTo>
                  <a:lnTo>
                    <a:pt x="0" y="0"/>
                  </a:lnTo>
                  <a:close/>
                </a:path>
              </a:pathLst>
            </a:custGeom>
            <a:blipFill>
              <a:blip r:embed="rId60"/>
              <a:stretch>
                <a:fillRect l="-112" t="0" r="-112" b="0"/>
              </a:stretch>
            </a:blipFill>
          </p:spPr>
        </p:sp>
      </p:grpSp>
      <p:grpSp>
        <p:nvGrpSpPr>
          <p:cNvPr name="Group 201" id="201"/>
          <p:cNvGrpSpPr/>
          <p:nvPr/>
        </p:nvGrpSpPr>
        <p:grpSpPr>
          <a:xfrm rot="0">
            <a:off x="612515" y="5045974"/>
            <a:ext cx="357283" cy="619792"/>
            <a:chOff x="0" y="0"/>
            <a:chExt cx="476377" cy="826389"/>
          </a:xfrm>
        </p:grpSpPr>
        <p:sp>
          <p:nvSpPr>
            <p:cNvPr name="Freeform 202" id="202" descr="preencoded.png"/>
            <p:cNvSpPr/>
            <p:nvPr/>
          </p:nvSpPr>
          <p:spPr>
            <a:xfrm flipH="false" flipV="false" rot="0">
              <a:off x="0" y="0"/>
              <a:ext cx="476377" cy="826389"/>
            </a:xfrm>
            <a:custGeom>
              <a:avLst/>
              <a:gdLst/>
              <a:ahLst/>
              <a:cxnLst/>
              <a:rect r="r" b="b" t="t" l="l"/>
              <a:pathLst>
                <a:path h="826389" w="476377">
                  <a:moveTo>
                    <a:pt x="0" y="0"/>
                  </a:moveTo>
                  <a:lnTo>
                    <a:pt x="476377" y="0"/>
                  </a:lnTo>
                  <a:lnTo>
                    <a:pt x="476377" y="826389"/>
                  </a:lnTo>
                  <a:lnTo>
                    <a:pt x="0" y="826389"/>
                  </a:lnTo>
                  <a:lnTo>
                    <a:pt x="0" y="0"/>
                  </a:lnTo>
                  <a:close/>
                </a:path>
              </a:pathLst>
            </a:custGeom>
            <a:blipFill>
              <a:blip r:embed="rId61"/>
              <a:stretch>
                <a:fillRect l="-170" t="0" r="-173" b="0"/>
              </a:stretch>
            </a:blipFill>
          </p:spPr>
        </p:sp>
      </p:grpSp>
      <p:grpSp>
        <p:nvGrpSpPr>
          <p:cNvPr name="Group 203" id="203"/>
          <p:cNvGrpSpPr/>
          <p:nvPr/>
        </p:nvGrpSpPr>
        <p:grpSpPr>
          <a:xfrm rot="0">
            <a:off x="4900127" y="0"/>
            <a:ext cx="758380" cy="991648"/>
            <a:chOff x="0" y="0"/>
            <a:chExt cx="1011174" cy="1322197"/>
          </a:xfrm>
        </p:grpSpPr>
        <p:sp>
          <p:nvSpPr>
            <p:cNvPr name="Freeform 204" id="204" descr="preencoded.png"/>
            <p:cNvSpPr/>
            <p:nvPr/>
          </p:nvSpPr>
          <p:spPr>
            <a:xfrm flipH="false" flipV="false" rot="0">
              <a:off x="0" y="0"/>
              <a:ext cx="1011174" cy="1322197"/>
            </a:xfrm>
            <a:custGeom>
              <a:avLst/>
              <a:gdLst/>
              <a:ahLst/>
              <a:cxnLst/>
              <a:rect r="r" b="b" t="t" l="l"/>
              <a:pathLst>
                <a:path h="1322197" w="1011174">
                  <a:moveTo>
                    <a:pt x="0" y="0"/>
                  </a:moveTo>
                  <a:lnTo>
                    <a:pt x="1011174" y="0"/>
                  </a:lnTo>
                  <a:lnTo>
                    <a:pt x="1011174" y="1322197"/>
                  </a:lnTo>
                  <a:lnTo>
                    <a:pt x="0" y="1322197"/>
                  </a:lnTo>
                  <a:lnTo>
                    <a:pt x="0" y="0"/>
                  </a:lnTo>
                  <a:close/>
                </a:path>
              </a:pathLst>
            </a:custGeom>
            <a:blipFill>
              <a:blip r:embed="rId62"/>
              <a:stretch>
                <a:fillRect l="0" t="-35" r="0" b="-35"/>
              </a:stretch>
            </a:blipFill>
          </p:spPr>
        </p:sp>
      </p:grpSp>
      <p:grpSp>
        <p:nvGrpSpPr>
          <p:cNvPr name="Group 205" id="205"/>
          <p:cNvGrpSpPr/>
          <p:nvPr/>
        </p:nvGrpSpPr>
        <p:grpSpPr>
          <a:xfrm rot="0">
            <a:off x="3755307" y="503139"/>
            <a:ext cx="532352" cy="714566"/>
            <a:chOff x="0" y="0"/>
            <a:chExt cx="709803" cy="952754"/>
          </a:xfrm>
        </p:grpSpPr>
        <p:sp>
          <p:nvSpPr>
            <p:cNvPr name="Freeform 206" id="206" descr="preencoded.png"/>
            <p:cNvSpPr/>
            <p:nvPr/>
          </p:nvSpPr>
          <p:spPr>
            <a:xfrm flipH="false" flipV="false" rot="0">
              <a:off x="0" y="0"/>
              <a:ext cx="709803" cy="952754"/>
            </a:xfrm>
            <a:custGeom>
              <a:avLst/>
              <a:gdLst/>
              <a:ahLst/>
              <a:cxnLst/>
              <a:rect r="r" b="b" t="t" l="l"/>
              <a:pathLst>
                <a:path h="952754" w="709803">
                  <a:moveTo>
                    <a:pt x="0" y="0"/>
                  </a:moveTo>
                  <a:lnTo>
                    <a:pt x="709803" y="0"/>
                  </a:lnTo>
                  <a:lnTo>
                    <a:pt x="709803" y="952754"/>
                  </a:lnTo>
                  <a:lnTo>
                    <a:pt x="0" y="952754"/>
                  </a:lnTo>
                  <a:lnTo>
                    <a:pt x="0" y="0"/>
                  </a:lnTo>
                  <a:close/>
                </a:path>
              </a:pathLst>
            </a:custGeom>
            <a:blipFill>
              <a:blip r:embed="rId63"/>
              <a:stretch>
                <a:fillRect l="-51" t="0" r="-50" b="0"/>
              </a:stretch>
            </a:blipFill>
          </p:spPr>
        </p:sp>
      </p:grpSp>
      <p:grpSp>
        <p:nvGrpSpPr>
          <p:cNvPr name="Group 207" id="207"/>
          <p:cNvGrpSpPr/>
          <p:nvPr/>
        </p:nvGrpSpPr>
        <p:grpSpPr>
          <a:xfrm rot="0">
            <a:off x="2821953" y="65627"/>
            <a:ext cx="933355" cy="262509"/>
            <a:chOff x="0" y="0"/>
            <a:chExt cx="1244473" cy="350012"/>
          </a:xfrm>
        </p:grpSpPr>
        <p:sp>
          <p:nvSpPr>
            <p:cNvPr name="Freeform 208" id="208" descr="preencoded.png"/>
            <p:cNvSpPr/>
            <p:nvPr/>
          </p:nvSpPr>
          <p:spPr>
            <a:xfrm flipH="false" flipV="false" rot="0">
              <a:off x="0" y="0"/>
              <a:ext cx="1244473" cy="350012"/>
            </a:xfrm>
            <a:custGeom>
              <a:avLst/>
              <a:gdLst/>
              <a:ahLst/>
              <a:cxnLst/>
              <a:rect r="r" b="b" t="t" l="l"/>
              <a:pathLst>
                <a:path h="350012" w="1244473">
                  <a:moveTo>
                    <a:pt x="0" y="0"/>
                  </a:moveTo>
                  <a:lnTo>
                    <a:pt x="1244473" y="0"/>
                  </a:lnTo>
                  <a:lnTo>
                    <a:pt x="1244473" y="350012"/>
                  </a:lnTo>
                  <a:lnTo>
                    <a:pt x="0" y="350012"/>
                  </a:lnTo>
                  <a:lnTo>
                    <a:pt x="0" y="0"/>
                  </a:lnTo>
                  <a:close/>
                </a:path>
              </a:pathLst>
            </a:custGeom>
            <a:blipFill>
              <a:blip r:embed="rId64"/>
              <a:stretch>
                <a:fillRect l="0" t="-573" r="0" b="-573"/>
              </a:stretch>
            </a:blipFill>
          </p:spPr>
        </p:sp>
      </p:grpSp>
      <p:grpSp>
        <p:nvGrpSpPr>
          <p:cNvPr name="Group 209" id="209"/>
          <p:cNvGrpSpPr/>
          <p:nvPr/>
        </p:nvGrpSpPr>
        <p:grpSpPr>
          <a:xfrm rot="0">
            <a:off x="904189" y="0"/>
            <a:ext cx="692753" cy="546926"/>
            <a:chOff x="0" y="0"/>
            <a:chExt cx="923671" cy="729234"/>
          </a:xfrm>
        </p:grpSpPr>
        <p:sp>
          <p:nvSpPr>
            <p:cNvPr name="Freeform 210" id="210" descr="preencoded.png"/>
            <p:cNvSpPr/>
            <p:nvPr/>
          </p:nvSpPr>
          <p:spPr>
            <a:xfrm flipH="false" flipV="false" rot="0">
              <a:off x="0" y="0"/>
              <a:ext cx="923671" cy="729234"/>
            </a:xfrm>
            <a:custGeom>
              <a:avLst/>
              <a:gdLst/>
              <a:ahLst/>
              <a:cxnLst/>
              <a:rect r="r" b="b" t="t" l="l"/>
              <a:pathLst>
                <a:path h="729234" w="923671">
                  <a:moveTo>
                    <a:pt x="0" y="0"/>
                  </a:moveTo>
                  <a:lnTo>
                    <a:pt x="923671" y="0"/>
                  </a:lnTo>
                  <a:lnTo>
                    <a:pt x="923671" y="729234"/>
                  </a:lnTo>
                  <a:lnTo>
                    <a:pt x="0" y="729234"/>
                  </a:lnTo>
                  <a:lnTo>
                    <a:pt x="0" y="0"/>
                  </a:lnTo>
                  <a:close/>
                </a:path>
              </a:pathLst>
            </a:custGeom>
            <a:blipFill>
              <a:blip r:embed="rId65"/>
              <a:stretch>
                <a:fillRect l="-1" t="0" r="-1" b="0"/>
              </a:stretch>
            </a:blipFill>
          </p:spPr>
        </p:sp>
      </p:grpSp>
      <p:grpSp>
        <p:nvGrpSpPr>
          <p:cNvPr name="Group 211" id="211"/>
          <p:cNvGrpSpPr/>
          <p:nvPr/>
        </p:nvGrpSpPr>
        <p:grpSpPr>
          <a:xfrm rot="0">
            <a:off x="12043515" y="6981958"/>
            <a:ext cx="1115654" cy="453514"/>
            <a:chOff x="0" y="0"/>
            <a:chExt cx="1487538" cy="604685"/>
          </a:xfrm>
        </p:grpSpPr>
        <p:sp>
          <p:nvSpPr>
            <p:cNvPr name="Freeform 212" id="212"/>
            <p:cNvSpPr/>
            <p:nvPr/>
          </p:nvSpPr>
          <p:spPr>
            <a:xfrm flipH="false" flipV="false" rot="0">
              <a:off x="0" y="0"/>
              <a:ext cx="1487551" cy="604647"/>
            </a:xfrm>
            <a:custGeom>
              <a:avLst/>
              <a:gdLst/>
              <a:ahLst/>
              <a:cxnLst/>
              <a:rect r="r" b="b" t="t" l="l"/>
              <a:pathLst>
                <a:path h="604647" w="1487551">
                  <a:moveTo>
                    <a:pt x="0" y="0"/>
                  </a:moveTo>
                  <a:lnTo>
                    <a:pt x="1487551" y="0"/>
                  </a:lnTo>
                  <a:lnTo>
                    <a:pt x="1487551" y="604647"/>
                  </a:lnTo>
                  <a:lnTo>
                    <a:pt x="0" y="604647"/>
                  </a:lnTo>
                  <a:close/>
                </a:path>
              </a:pathLst>
            </a:custGeom>
            <a:blipFill>
              <a:blip r:embed="rId12">
                <a:alphaModFix amt="0"/>
              </a:blip>
              <a:stretch>
                <a:fillRect l="-2192" t="0" r="-2190" b="-6"/>
              </a:stretch>
            </a:blipFill>
          </p:spPr>
        </p:sp>
      </p:grpSp>
      <p:grpSp>
        <p:nvGrpSpPr>
          <p:cNvPr name="Group 213" id="213"/>
          <p:cNvGrpSpPr/>
          <p:nvPr/>
        </p:nvGrpSpPr>
        <p:grpSpPr>
          <a:xfrm rot="0">
            <a:off x="12043515" y="7046252"/>
            <a:ext cx="1115654" cy="389230"/>
            <a:chOff x="0" y="0"/>
            <a:chExt cx="1487538" cy="518973"/>
          </a:xfrm>
        </p:grpSpPr>
        <p:sp>
          <p:nvSpPr>
            <p:cNvPr name="Freeform 214" id="214"/>
            <p:cNvSpPr/>
            <p:nvPr/>
          </p:nvSpPr>
          <p:spPr>
            <a:xfrm flipH="false" flipV="false" rot="0">
              <a:off x="0" y="0"/>
              <a:ext cx="1487539" cy="518967"/>
            </a:xfrm>
            <a:custGeom>
              <a:avLst/>
              <a:gdLst/>
              <a:ahLst/>
              <a:cxnLst/>
              <a:rect r="r" b="b" t="t" l="l"/>
              <a:pathLst>
                <a:path h="518967" w="1487539">
                  <a:moveTo>
                    <a:pt x="0" y="0"/>
                  </a:moveTo>
                  <a:lnTo>
                    <a:pt x="1487539" y="0"/>
                  </a:lnTo>
                  <a:lnTo>
                    <a:pt x="1487539" y="518967"/>
                  </a:lnTo>
                  <a:lnTo>
                    <a:pt x="0" y="518967"/>
                  </a:lnTo>
                  <a:close/>
                </a:path>
              </a:pathLst>
            </a:custGeom>
            <a:blipFill>
              <a:blip r:embed="rId13">
                <a:alphaModFix amt="0"/>
              </a:blip>
              <a:stretch>
                <a:fillRect l="0" t="-5850" r="0" b="-5851"/>
              </a:stretch>
            </a:blipFill>
          </p:spPr>
        </p:sp>
        <p:sp>
          <p:nvSpPr>
            <p:cNvPr name="TextBox 215" id="215"/>
            <p:cNvSpPr txBox="true"/>
            <p:nvPr/>
          </p:nvSpPr>
          <p:spPr>
            <a:xfrm>
              <a:off x="0" y="85725"/>
              <a:ext cx="1487538" cy="433248"/>
            </a:xfrm>
            <a:prstGeom prst="rect">
              <a:avLst/>
            </a:prstGeom>
          </p:spPr>
          <p:txBody>
            <a:bodyPr anchor="ctr" rtlCol="false" tIns="0" lIns="0" bIns="0" rIns="0"/>
            <a:lstStyle/>
            <a:p>
              <a:pPr algn="l">
                <a:lnSpc>
                  <a:spcPts val="1512"/>
                </a:lnSpc>
              </a:pPr>
              <a:r>
                <a:rPr lang="en-US" sz="2100" b="true">
                  <a:solidFill>
                    <a:srgbClr val="E7BCBB"/>
                  </a:solidFill>
                  <a:latin typeface="TT Commons Pro Bold"/>
                  <a:ea typeface="TT Commons Pro Bold"/>
                  <a:cs typeface="TT Commons Pro Bold"/>
                  <a:sym typeface="TT Commons Pro Bold"/>
                </a:rPr>
                <a:t>zomato</a:t>
              </a:r>
            </a:p>
          </p:txBody>
        </p:sp>
      </p:grpSp>
      <p:grpSp>
        <p:nvGrpSpPr>
          <p:cNvPr name="Group 216" id="216"/>
          <p:cNvGrpSpPr/>
          <p:nvPr/>
        </p:nvGrpSpPr>
        <p:grpSpPr>
          <a:xfrm rot="0">
            <a:off x="16841429" y="6062643"/>
            <a:ext cx="1173918" cy="452076"/>
            <a:chOff x="0" y="0"/>
            <a:chExt cx="1565224" cy="602767"/>
          </a:xfrm>
        </p:grpSpPr>
        <p:sp>
          <p:nvSpPr>
            <p:cNvPr name="Freeform 217" id="217"/>
            <p:cNvSpPr/>
            <p:nvPr/>
          </p:nvSpPr>
          <p:spPr>
            <a:xfrm flipH="false" flipV="false" rot="0">
              <a:off x="0" y="0"/>
              <a:ext cx="1565275" cy="602742"/>
            </a:xfrm>
            <a:custGeom>
              <a:avLst/>
              <a:gdLst/>
              <a:ahLst/>
              <a:cxnLst/>
              <a:rect r="r" b="b" t="t" l="l"/>
              <a:pathLst>
                <a:path h="602742" w="1565275">
                  <a:moveTo>
                    <a:pt x="0" y="0"/>
                  </a:moveTo>
                  <a:lnTo>
                    <a:pt x="1565275" y="0"/>
                  </a:lnTo>
                  <a:lnTo>
                    <a:pt x="1565275" y="602742"/>
                  </a:lnTo>
                  <a:lnTo>
                    <a:pt x="0" y="602742"/>
                  </a:lnTo>
                  <a:close/>
                </a:path>
              </a:pathLst>
            </a:custGeom>
            <a:blipFill>
              <a:blip r:embed="rId12">
                <a:alphaModFix amt="0"/>
              </a:blip>
              <a:stretch>
                <a:fillRect l="0" t="-562" r="3" b="-566"/>
              </a:stretch>
            </a:blipFill>
          </p:spPr>
        </p:sp>
      </p:grpSp>
      <p:grpSp>
        <p:nvGrpSpPr>
          <p:cNvPr name="Group 218" id="218"/>
          <p:cNvGrpSpPr/>
          <p:nvPr/>
        </p:nvGrpSpPr>
        <p:grpSpPr>
          <a:xfrm rot="0">
            <a:off x="16841429" y="6105506"/>
            <a:ext cx="1173918" cy="409213"/>
            <a:chOff x="0" y="0"/>
            <a:chExt cx="1565224" cy="545617"/>
          </a:xfrm>
        </p:grpSpPr>
        <p:sp>
          <p:nvSpPr>
            <p:cNvPr name="Freeform 219" id="219"/>
            <p:cNvSpPr/>
            <p:nvPr/>
          </p:nvSpPr>
          <p:spPr>
            <a:xfrm flipH="false" flipV="false" rot="0">
              <a:off x="0" y="0"/>
              <a:ext cx="1565227" cy="545615"/>
            </a:xfrm>
            <a:custGeom>
              <a:avLst/>
              <a:gdLst/>
              <a:ahLst/>
              <a:cxnLst/>
              <a:rect r="r" b="b" t="t" l="l"/>
              <a:pathLst>
                <a:path h="545615" w="1565227">
                  <a:moveTo>
                    <a:pt x="0" y="0"/>
                  </a:moveTo>
                  <a:lnTo>
                    <a:pt x="1565227" y="0"/>
                  </a:lnTo>
                  <a:lnTo>
                    <a:pt x="1565227" y="545615"/>
                  </a:lnTo>
                  <a:lnTo>
                    <a:pt x="0" y="545615"/>
                  </a:lnTo>
                  <a:close/>
                </a:path>
              </a:pathLst>
            </a:custGeom>
            <a:blipFill>
              <a:blip r:embed="rId13">
                <a:alphaModFix amt="0"/>
              </a:blip>
              <a:stretch>
                <a:fillRect l="0" t="-5897" r="0" b="-5897"/>
              </a:stretch>
            </a:blipFill>
          </p:spPr>
        </p:sp>
        <p:sp>
          <p:nvSpPr>
            <p:cNvPr name="TextBox 220" id="220"/>
            <p:cNvSpPr txBox="true"/>
            <p:nvPr/>
          </p:nvSpPr>
          <p:spPr>
            <a:xfrm>
              <a:off x="0" y="57150"/>
              <a:ext cx="1565224" cy="488467"/>
            </a:xfrm>
            <a:prstGeom prst="rect">
              <a:avLst/>
            </a:prstGeom>
          </p:spPr>
          <p:txBody>
            <a:bodyPr anchor="ctr" rtlCol="false" tIns="0" lIns="0" bIns="0" rIns="0"/>
            <a:lstStyle/>
            <a:p>
              <a:pPr algn="l">
                <a:lnSpc>
                  <a:spcPts val="1942"/>
                </a:lnSpc>
              </a:pPr>
              <a:r>
                <a:rPr lang="en-US" b="true" sz="2125" i="true">
                  <a:solidFill>
                    <a:srgbClr val="E9BCBD"/>
                  </a:solidFill>
                  <a:latin typeface="TT Commons Pro Bold Italics"/>
                  <a:ea typeface="TT Commons Pro Bold Italics"/>
                  <a:cs typeface="TT Commons Pro Bold Italics"/>
                  <a:sym typeface="TT Commons Pro Bold Italics"/>
                </a:rPr>
                <a:t>zomato</a:t>
              </a:r>
            </a:p>
          </p:txBody>
        </p:sp>
      </p:grpSp>
      <p:grpSp>
        <p:nvGrpSpPr>
          <p:cNvPr name="Group 221" id="221"/>
          <p:cNvGrpSpPr/>
          <p:nvPr/>
        </p:nvGrpSpPr>
        <p:grpSpPr>
          <a:xfrm rot="0">
            <a:off x="13876420" y="4207402"/>
            <a:ext cx="247926" cy="128083"/>
            <a:chOff x="0" y="0"/>
            <a:chExt cx="330568" cy="170777"/>
          </a:xfrm>
        </p:grpSpPr>
        <p:sp>
          <p:nvSpPr>
            <p:cNvPr name="Freeform 222" id="222"/>
            <p:cNvSpPr/>
            <p:nvPr/>
          </p:nvSpPr>
          <p:spPr>
            <a:xfrm flipH="false" flipV="false" rot="0">
              <a:off x="0" y="0"/>
              <a:ext cx="330581" cy="170815"/>
            </a:xfrm>
            <a:custGeom>
              <a:avLst/>
              <a:gdLst/>
              <a:ahLst/>
              <a:cxnLst/>
              <a:rect r="r" b="b" t="t" l="l"/>
              <a:pathLst>
                <a:path h="170815" w="330581">
                  <a:moveTo>
                    <a:pt x="0" y="0"/>
                  </a:moveTo>
                  <a:lnTo>
                    <a:pt x="330581" y="0"/>
                  </a:lnTo>
                  <a:lnTo>
                    <a:pt x="330581" y="170815"/>
                  </a:lnTo>
                  <a:lnTo>
                    <a:pt x="0" y="170815"/>
                  </a:lnTo>
                  <a:close/>
                </a:path>
              </a:pathLst>
            </a:custGeom>
            <a:blipFill>
              <a:blip r:embed="rId12">
                <a:alphaModFix amt="0"/>
              </a:blip>
              <a:stretch>
                <a:fillRect l="-16327" t="0" r="-16327" b="22"/>
              </a:stretch>
            </a:blipFill>
          </p:spPr>
        </p:sp>
      </p:grpSp>
      <p:grpSp>
        <p:nvGrpSpPr>
          <p:cNvPr name="Group 223" id="223"/>
          <p:cNvGrpSpPr/>
          <p:nvPr/>
        </p:nvGrpSpPr>
        <p:grpSpPr>
          <a:xfrm rot="0">
            <a:off x="13876420" y="4221690"/>
            <a:ext cx="247926" cy="113795"/>
            <a:chOff x="0" y="0"/>
            <a:chExt cx="330568" cy="151727"/>
          </a:xfrm>
        </p:grpSpPr>
        <p:sp>
          <p:nvSpPr>
            <p:cNvPr name="Freeform 224" id="224"/>
            <p:cNvSpPr/>
            <p:nvPr/>
          </p:nvSpPr>
          <p:spPr>
            <a:xfrm flipH="false" flipV="false" rot="0">
              <a:off x="0" y="0"/>
              <a:ext cx="330568" cy="151729"/>
            </a:xfrm>
            <a:custGeom>
              <a:avLst/>
              <a:gdLst/>
              <a:ahLst/>
              <a:cxnLst/>
              <a:rect r="r" b="b" t="t" l="l"/>
              <a:pathLst>
                <a:path h="151729" w="330568">
                  <a:moveTo>
                    <a:pt x="0" y="0"/>
                  </a:moveTo>
                  <a:lnTo>
                    <a:pt x="330568" y="0"/>
                  </a:lnTo>
                  <a:lnTo>
                    <a:pt x="330568" y="151729"/>
                  </a:lnTo>
                  <a:lnTo>
                    <a:pt x="0" y="151729"/>
                  </a:lnTo>
                  <a:close/>
                </a:path>
              </a:pathLst>
            </a:custGeom>
            <a:blipFill>
              <a:blip r:embed="rId13">
                <a:alphaModFix amt="0"/>
              </a:blip>
              <a:stretch>
                <a:fillRect l="-8889" t="0" r="-8889" b="1"/>
              </a:stretch>
            </a:blipFill>
          </p:spPr>
        </p:sp>
        <p:sp>
          <p:nvSpPr>
            <p:cNvPr name="TextBox 225" id="225"/>
            <p:cNvSpPr txBox="true"/>
            <p:nvPr/>
          </p:nvSpPr>
          <p:spPr>
            <a:xfrm>
              <a:off x="0" y="19050"/>
              <a:ext cx="330568" cy="132677"/>
            </a:xfrm>
            <a:prstGeom prst="rect">
              <a:avLst/>
            </a:prstGeom>
          </p:spPr>
          <p:txBody>
            <a:bodyPr anchor="ctr" rtlCol="false" tIns="0" lIns="0" bIns="0" rIns="0"/>
            <a:lstStyle/>
            <a:p>
              <a:pPr algn="l">
                <a:lnSpc>
                  <a:spcPts val="544"/>
                </a:lnSpc>
              </a:pPr>
              <a:r>
                <a:rPr lang="en-US" sz="602" b="true">
                  <a:solidFill>
                    <a:srgbClr val="8D8889"/>
                  </a:solidFill>
                  <a:latin typeface="TT Commons Pro Bold"/>
                  <a:ea typeface="TT Commons Pro Bold"/>
                  <a:cs typeface="TT Commons Pro Bold"/>
                  <a:sym typeface="TT Commons Pro Bold"/>
                </a:rPr>
                <a:t>Dining</a:t>
              </a:r>
            </a:p>
          </p:txBody>
        </p:sp>
      </p:grpSp>
      <p:grpSp>
        <p:nvGrpSpPr>
          <p:cNvPr name="Group 226" id="226"/>
          <p:cNvGrpSpPr/>
          <p:nvPr/>
        </p:nvGrpSpPr>
        <p:grpSpPr>
          <a:xfrm rot="0">
            <a:off x="13460778" y="4203563"/>
            <a:ext cx="393764" cy="128226"/>
            <a:chOff x="0" y="0"/>
            <a:chExt cx="525018" cy="170967"/>
          </a:xfrm>
        </p:grpSpPr>
        <p:sp>
          <p:nvSpPr>
            <p:cNvPr name="Freeform 227" id="227"/>
            <p:cNvSpPr/>
            <p:nvPr/>
          </p:nvSpPr>
          <p:spPr>
            <a:xfrm flipH="false" flipV="false" rot="0">
              <a:off x="0" y="0"/>
              <a:ext cx="525018" cy="170942"/>
            </a:xfrm>
            <a:custGeom>
              <a:avLst/>
              <a:gdLst/>
              <a:ahLst/>
              <a:cxnLst/>
              <a:rect r="r" b="b" t="t" l="l"/>
              <a:pathLst>
                <a:path h="170942" w="525018">
                  <a:moveTo>
                    <a:pt x="0" y="0"/>
                  </a:moveTo>
                  <a:lnTo>
                    <a:pt x="525018" y="0"/>
                  </a:lnTo>
                  <a:lnTo>
                    <a:pt x="525018" y="170942"/>
                  </a:lnTo>
                  <a:lnTo>
                    <a:pt x="0" y="170942"/>
                  </a:lnTo>
                  <a:close/>
                </a:path>
              </a:pathLst>
            </a:custGeom>
            <a:blipFill>
              <a:blip r:embed="rId12">
                <a:alphaModFix amt="0"/>
              </a:blip>
              <a:stretch>
                <a:fillRect l="0" t="-9791" r="0" b="-9814"/>
              </a:stretch>
            </a:blipFill>
          </p:spPr>
        </p:sp>
      </p:grpSp>
      <p:grpSp>
        <p:nvGrpSpPr>
          <p:cNvPr name="Group 228" id="228"/>
          <p:cNvGrpSpPr/>
          <p:nvPr/>
        </p:nvGrpSpPr>
        <p:grpSpPr>
          <a:xfrm rot="0">
            <a:off x="13460778" y="4217851"/>
            <a:ext cx="393764" cy="113948"/>
            <a:chOff x="0" y="0"/>
            <a:chExt cx="525018" cy="151930"/>
          </a:xfrm>
        </p:grpSpPr>
        <p:sp>
          <p:nvSpPr>
            <p:cNvPr name="Freeform 229" id="229"/>
            <p:cNvSpPr/>
            <p:nvPr/>
          </p:nvSpPr>
          <p:spPr>
            <a:xfrm flipH="false" flipV="false" rot="0">
              <a:off x="0" y="0"/>
              <a:ext cx="525019" cy="151929"/>
            </a:xfrm>
            <a:custGeom>
              <a:avLst/>
              <a:gdLst/>
              <a:ahLst/>
              <a:cxnLst/>
              <a:rect r="r" b="b" t="t" l="l"/>
              <a:pathLst>
                <a:path h="151929" w="525019">
                  <a:moveTo>
                    <a:pt x="0" y="0"/>
                  </a:moveTo>
                  <a:lnTo>
                    <a:pt x="525019" y="0"/>
                  </a:lnTo>
                  <a:lnTo>
                    <a:pt x="525019" y="151929"/>
                  </a:lnTo>
                  <a:lnTo>
                    <a:pt x="0" y="151929"/>
                  </a:lnTo>
                  <a:close/>
                </a:path>
              </a:pathLst>
            </a:custGeom>
            <a:blipFill>
              <a:blip r:embed="rId13">
                <a:alphaModFix amt="0"/>
              </a:blip>
              <a:stretch>
                <a:fillRect l="0" t="-17333" r="0" b="-17334"/>
              </a:stretch>
            </a:blipFill>
          </p:spPr>
        </p:sp>
        <p:sp>
          <p:nvSpPr>
            <p:cNvPr name="TextBox 230" id="230"/>
            <p:cNvSpPr txBox="true"/>
            <p:nvPr/>
          </p:nvSpPr>
          <p:spPr>
            <a:xfrm>
              <a:off x="0" y="19050"/>
              <a:ext cx="525018" cy="132880"/>
            </a:xfrm>
            <a:prstGeom prst="rect">
              <a:avLst/>
            </a:prstGeom>
          </p:spPr>
          <p:txBody>
            <a:bodyPr anchor="ctr" rtlCol="false" tIns="0" lIns="0" bIns="0" rIns="0"/>
            <a:lstStyle/>
            <a:p>
              <a:pPr algn="l">
                <a:lnSpc>
                  <a:spcPts val="594"/>
                </a:lnSpc>
              </a:pPr>
              <a:r>
                <a:rPr lang="en-US" sz="631" b="true">
                  <a:solidFill>
                    <a:srgbClr val="8F8D8C"/>
                  </a:solidFill>
                  <a:latin typeface="TT Commons Pro Bold"/>
                  <a:ea typeface="TT Commons Pro Bold"/>
                  <a:cs typeface="TT Commons Pro Bold"/>
                  <a:sym typeface="TT Commons Pro Bold"/>
                </a:rPr>
                <a:t>Food</a:t>
              </a:r>
            </a:p>
          </p:txBody>
        </p:sp>
      </p:grpSp>
      <p:grpSp>
        <p:nvGrpSpPr>
          <p:cNvPr name="Group 231" id="231"/>
          <p:cNvGrpSpPr/>
          <p:nvPr/>
        </p:nvGrpSpPr>
        <p:grpSpPr>
          <a:xfrm rot="0">
            <a:off x="13358689" y="2984944"/>
            <a:ext cx="743779" cy="164706"/>
            <a:chOff x="0" y="0"/>
            <a:chExt cx="991705" cy="219608"/>
          </a:xfrm>
        </p:grpSpPr>
        <p:sp>
          <p:nvSpPr>
            <p:cNvPr name="Freeform 232" id="232"/>
            <p:cNvSpPr/>
            <p:nvPr/>
          </p:nvSpPr>
          <p:spPr>
            <a:xfrm flipH="false" flipV="false" rot="0">
              <a:off x="0" y="0"/>
              <a:ext cx="991743" cy="219583"/>
            </a:xfrm>
            <a:custGeom>
              <a:avLst/>
              <a:gdLst/>
              <a:ahLst/>
              <a:cxnLst/>
              <a:rect r="r" b="b" t="t" l="l"/>
              <a:pathLst>
                <a:path h="219583" w="991743">
                  <a:moveTo>
                    <a:pt x="0" y="0"/>
                  </a:moveTo>
                  <a:lnTo>
                    <a:pt x="991743" y="0"/>
                  </a:lnTo>
                  <a:lnTo>
                    <a:pt x="991743" y="219583"/>
                  </a:lnTo>
                  <a:lnTo>
                    <a:pt x="0" y="219583"/>
                  </a:lnTo>
                  <a:close/>
                </a:path>
              </a:pathLst>
            </a:custGeom>
            <a:blipFill>
              <a:blip r:embed="rId12">
                <a:alphaModFix amt="0"/>
              </a:blip>
              <a:stretch>
                <a:fillRect l="0" t="-37935" r="3" b="-37946"/>
              </a:stretch>
            </a:blipFill>
          </p:spPr>
        </p:sp>
      </p:grpSp>
      <p:grpSp>
        <p:nvGrpSpPr>
          <p:cNvPr name="Group 233" id="233"/>
          <p:cNvGrpSpPr/>
          <p:nvPr/>
        </p:nvGrpSpPr>
        <p:grpSpPr>
          <a:xfrm rot="0">
            <a:off x="13358689" y="2999232"/>
            <a:ext cx="743779" cy="150419"/>
            <a:chOff x="0" y="0"/>
            <a:chExt cx="991705" cy="200558"/>
          </a:xfrm>
        </p:grpSpPr>
        <p:sp>
          <p:nvSpPr>
            <p:cNvPr name="Freeform 234" id="234"/>
            <p:cNvSpPr/>
            <p:nvPr/>
          </p:nvSpPr>
          <p:spPr>
            <a:xfrm flipH="false" flipV="false" rot="0">
              <a:off x="0" y="0"/>
              <a:ext cx="991705" cy="200555"/>
            </a:xfrm>
            <a:custGeom>
              <a:avLst/>
              <a:gdLst/>
              <a:ahLst/>
              <a:cxnLst/>
              <a:rect r="r" b="b" t="t" l="l"/>
              <a:pathLst>
                <a:path h="200555" w="991705">
                  <a:moveTo>
                    <a:pt x="0" y="0"/>
                  </a:moveTo>
                  <a:lnTo>
                    <a:pt x="991705" y="0"/>
                  </a:lnTo>
                  <a:lnTo>
                    <a:pt x="991705" y="200555"/>
                  </a:lnTo>
                  <a:lnTo>
                    <a:pt x="0" y="200555"/>
                  </a:lnTo>
                  <a:close/>
                </a:path>
              </a:pathLst>
            </a:custGeom>
            <a:blipFill>
              <a:blip r:embed="rId13">
                <a:alphaModFix amt="0"/>
              </a:blip>
              <a:stretch>
                <a:fillRect l="0" t="-46348" r="0" b="-46350"/>
              </a:stretch>
            </a:blipFill>
          </p:spPr>
        </p:sp>
        <p:sp>
          <p:nvSpPr>
            <p:cNvPr name="TextBox 235" id="235"/>
            <p:cNvSpPr txBox="true"/>
            <p:nvPr/>
          </p:nvSpPr>
          <p:spPr>
            <a:xfrm>
              <a:off x="0" y="19050"/>
              <a:ext cx="991705" cy="181508"/>
            </a:xfrm>
            <a:prstGeom prst="rect">
              <a:avLst/>
            </a:prstGeom>
          </p:spPr>
          <p:txBody>
            <a:bodyPr anchor="ctr" rtlCol="false" tIns="0" lIns="0" bIns="0" rIns="0"/>
            <a:lstStyle/>
            <a:p>
              <a:pPr algn="l">
                <a:lnSpc>
                  <a:spcPts val="652"/>
                </a:lnSpc>
              </a:pPr>
              <a:r>
                <a:rPr lang="en-US" sz="790" b="true">
                  <a:solidFill>
                    <a:srgbClr val="D17B7B"/>
                  </a:solidFill>
                  <a:latin typeface="TT Commons Pro Bold"/>
                  <a:ea typeface="TT Commons Pro Bold"/>
                  <a:cs typeface="TT Commons Pro Bold"/>
                  <a:sym typeface="TT Commons Pro Bold"/>
                </a:rPr>
                <a:t>Your Location</a:t>
              </a:r>
            </a:p>
          </p:txBody>
        </p:sp>
      </p:grpSp>
      <p:grpSp>
        <p:nvGrpSpPr>
          <p:cNvPr name="Group 236" id="236"/>
          <p:cNvGrpSpPr/>
          <p:nvPr/>
        </p:nvGrpSpPr>
        <p:grpSpPr>
          <a:xfrm rot="0">
            <a:off x="13373281" y="2832887"/>
            <a:ext cx="481270" cy="152848"/>
            <a:chOff x="0" y="0"/>
            <a:chExt cx="641693" cy="203797"/>
          </a:xfrm>
        </p:grpSpPr>
        <p:sp>
          <p:nvSpPr>
            <p:cNvPr name="Freeform 237" id="237"/>
            <p:cNvSpPr/>
            <p:nvPr/>
          </p:nvSpPr>
          <p:spPr>
            <a:xfrm flipH="false" flipV="false" rot="0">
              <a:off x="0" y="0"/>
              <a:ext cx="641731" cy="203835"/>
            </a:xfrm>
            <a:custGeom>
              <a:avLst/>
              <a:gdLst/>
              <a:ahLst/>
              <a:cxnLst/>
              <a:rect r="r" b="b" t="t" l="l"/>
              <a:pathLst>
                <a:path h="203835" w="641731">
                  <a:moveTo>
                    <a:pt x="0" y="0"/>
                  </a:moveTo>
                  <a:lnTo>
                    <a:pt x="641731" y="0"/>
                  </a:lnTo>
                  <a:lnTo>
                    <a:pt x="641731" y="203835"/>
                  </a:lnTo>
                  <a:lnTo>
                    <a:pt x="0" y="203835"/>
                  </a:lnTo>
                  <a:close/>
                </a:path>
              </a:pathLst>
            </a:custGeom>
            <a:blipFill>
              <a:blip r:embed="rId12">
                <a:alphaModFix amt="0"/>
              </a:blip>
              <a:stretch>
                <a:fillRect l="0" t="-11308" r="5" b="-11289"/>
              </a:stretch>
            </a:blipFill>
          </p:spPr>
        </p:sp>
      </p:grpSp>
      <p:grpSp>
        <p:nvGrpSpPr>
          <p:cNvPr name="Group 238" id="238"/>
          <p:cNvGrpSpPr/>
          <p:nvPr/>
        </p:nvGrpSpPr>
        <p:grpSpPr>
          <a:xfrm rot="0">
            <a:off x="13373281" y="2854319"/>
            <a:ext cx="481270" cy="131407"/>
            <a:chOff x="0" y="0"/>
            <a:chExt cx="641693" cy="175209"/>
          </a:xfrm>
        </p:grpSpPr>
        <p:sp>
          <p:nvSpPr>
            <p:cNvPr name="Freeform 239" id="239"/>
            <p:cNvSpPr/>
            <p:nvPr/>
          </p:nvSpPr>
          <p:spPr>
            <a:xfrm flipH="false" flipV="false" rot="0">
              <a:off x="0" y="0"/>
              <a:ext cx="641687" cy="175210"/>
            </a:xfrm>
            <a:custGeom>
              <a:avLst/>
              <a:gdLst/>
              <a:ahLst/>
              <a:cxnLst/>
              <a:rect r="r" b="b" t="t" l="l"/>
              <a:pathLst>
                <a:path h="175210" w="641687">
                  <a:moveTo>
                    <a:pt x="0" y="0"/>
                  </a:moveTo>
                  <a:lnTo>
                    <a:pt x="641687" y="0"/>
                  </a:lnTo>
                  <a:lnTo>
                    <a:pt x="641687" y="175210"/>
                  </a:lnTo>
                  <a:lnTo>
                    <a:pt x="0" y="175210"/>
                  </a:lnTo>
                  <a:close/>
                </a:path>
              </a:pathLst>
            </a:custGeom>
            <a:blipFill>
              <a:blip r:embed="rId13">
                <a:alphaModFix amt="0"/>
              </a:blip>
              <a:stretch>
                <a:fillRect l="0" t="-21362" r="0" b="-21361"/>
              </a:stretch>
            </a:blipFill>
          </p:spPr>
        </p:sp>
        <p:sp>
          <p:nvSpPr>
            <p:cNvPr name="TextBox 240" id="240"/>
            <p:cNvSpPr txBox="true"/>
            <p:nvPr/>
          </p:nvSpPr>
          <p:spPr>
            <a:xfrm>
              <a:off x="0" y="28575"/>
              <a:ext cx="641693" cy="146634"/>
            </a:xfrm>
            <a:prstGeom prst="rect">
              <a:avLst/>
            </a:prstGeom>
          </p:spPr>
          <p:txBody>
            <a:bodyPr anchor="ctr" rtlCol="false" tIns="0" lIns="0" bIns="0" rIns="0"/>
            <a:lstStyle/>
            <a:p>
              <a:pPr algn="l">
                <a:lnSpc>
                  <a:spcPts val="568"/>
                </a:lnSpc>
              </a:pPr>
              <a:r>
                <a:rPr lang="en-US" sz="731" b="true">
                  <a:solidFill>
                    <a:srgbClr val="CC6F73"/>
                  </a:solidFill>
                  <a:latin typeface="TT Commons Pro Bold"/>
                  <a:ea typeface="TT Commons Pro Bold"/>
                  <a:cs typeface="TT Commons Pro Bold"/>
                  <a:sym typeface="TT Commons Pro Bold"/>
                </a:rPr>
                <a:t>Deliver to</a:t>
              </a:r>
            </a:p>
          </p:txBody>
        </p:sp>
      </p:grpSp>
      <p:grpSp>
        <p:nvGrpSpPr>
          <p:cNvPr name="Group 241" id="241"/>
          <p:cNvGrpSpPr/>
          <p:nvPr/>
        </p:nvGrpSpPr>
        <p:grpSpPr>
          <a:xfrm rot="0">
            <a:off x="13839968" y="2355952"/>
            <a:ext cx="1028148" cy="397192"/>
            <a:chOff x="0" y="0"/>
            <a:chExt cx="1370863" cy="529590"/>
          </a:xfrm>
        </p:grpSpPr>
        <p:sp>
          <p:nvSpPr>
            <p:cNvPr name="Freeform 242" id="242"/>
            <p:cNvSpPr/>
            <p:nvPr/>
          </p:nvSpPr>
          <p:spPr>
            <a:xfrm flipH="false" flipV="false" rot="0">
              <a:off x="0" y="0"/>
              <a:ext cx="1370838" cy="529590"/>
            </a:xfrm>
            <a:custGeom>
              <a:avLst/>
              <a:gdLst/>
              <a:ahLst/>
              <a:cxnLst/>
              <a:rect r="r" b="b" t="t" l="l"/>
              <a:pathLst>
                <a:path h="529590" w="1370838">
                  <a:moveTo>
                    <a:pt x="0" y="0"/>
                  </a:moveTo>
                  <a:lnTo>
                    <a:pt x="1370838" y="0"/>
                  </a:lnTo>
                  <a:lnTo>
                    <a:pt x="1370838" y="529590"/>
                  </a:lnTo>
                  <a:lnTo>
                    <a:pt x="0" y="529590"/>
                  </a:lnTo>
                  <a:close/>
                </a:path>
              </a:pathLst>
            </a:custGeom>
            <a:blipFill>
              <a:blip r:embed="rId12">
                <a:alphaModFix amt="0"/>
              </a:blip>
              <a:stretch>
                <a:fillRect l="0" t="-402" r="-1" b="-402"/>
              </a:stretch>
            </a:blipFill>
          </p:spPr>
        </p:sp>
      </p:grpSp>
      <p:grpSp>
        <p:nvGrpSpPr>
          <p:cNvPr name="Group 243" id="243"/>
          <p:cNvGrpSpPr/>
          <p:nvPr/>
        </p:nvGrpSpPr>
        <p:grpSpPr>
          <a:xfrm rot="0">
            <a:off x="13839968" y="2413102"/>
            <a:ext cx="1028148" cy="340033"/>
            <a:chOff x="0" y="0"/>
            <a:chExt cx="1370863" cy="453377"/>
          </a:xfrm>
        </p:grpSpPr>
        <p:sp>
          <p:nvSpPr>
            <p:cNvPr name="Freeform 244" id="244"/>
            <p:cNvSpPr/>
            <p:nvPr/>
          </p:nvSpPr>
          <p:spPr>
            <a:xfrm flipH="false" flipV="false" rot="0">
              <a:off x="0" y="0"/>
              <a:ext cx="1370864" cy="453380"/>
            </a:xfrm>
            <a:custGeom>
              <a:avLst/>
              <a:gdLst/>
              <a:ahLst/>
              <a:cxnLst/>
              <a:rect r="r" b="b" t="t" l="l"/>
              <a:pathLst>
                <a:path h="453380" w="1370864">
                  <a:moveTo>
                    <a:pt x="0" y="0"/>
                  </a:moveTo>
                  <a:lnTo>
                    <a:pt x="1370864" y="0"/>
                  </a:lnTo>
                  <a:lnTo>
                    <a:pt x="1370864" y="453380"/>
                  </a:lnTo>
                  <a:lnTo>
                    <a:pt x="0" y="453380"/>
                  </a:lnTo>
                  <a:close/>
                </a:path>
              </a:pathLst>
            </a:custGeom>
            <a:blipFill>
              <a:blip r:embed="rId13">
                <a:alphaModFix amt="0"/>
              </a:blip>
              <a:stretch>
                <a:fillRect l="0" t="-8916" r="0" b="-8915"/>
              </a:stretch>
            </a:blipFill>
          </p:spPr>
        </p:sp>
        <p:sp>
          <p:nvSpPr>
            <p:cNvPr name="TextBox 245" id="245"/>
            <p:cNvSpPr txBox="true"/>
            <p:nvPr/>
          </p:nvSpPr>
          <p:spPr>
            <a:xfrm>
              <a:off x="0" y="76200"/>
              <a:ext cx="1370863" cy="377177"/>
            </a:xfrm>
            <a:prstGeom prst="rect">
              <a:avLst/>
            </a:prstGeom>
          </p:spPr>
          <p:txBody>
            <a:bodyPr anchor="ctr" rtlCol="false" tIns="0" lIns="0" bIns="0" rIns="0"/>
            <a:lstStyle/>
            <a:p>
              <a:pPr algn="l">
                <a:lnSpc>
                  <a:spcPts val="1434"/>
                </a:lnSpc>
              </a:pPr>
              <a:r>
                <a:rPr lang="en-US" b="true" sz="1838" i="true">
                  <a:solidFill>
                    <a:srgbClr val="EBB9B9"/>
                  </a:solidFill>
                  <a:latin typeface="TT Commons Pro Bold Italics"/>
                  <a:ea typeface="TT Commons Pro Bold Italics"/>
                  <a:cs typeface="TT Commons Pro Bold Italics"/>
                  <a:sym typeface="TT Commons Pro Bold Italics"/>
                </a:rPr>
                <a:t>zomato</a:t>
              </a:r>
            </a:p>
          </p:txBody>
        </p:sp>
      </p:grpSp>
      <p:grpSp>
        <p:nvGrpSpPr>
          <p:cNvPr name="Group 246" id="246"/>
          <p:cNvGrpSpPr/>
          <p:nvPr/>
        </p:nvGrpSpPr>
        <p:grpSpPr>
          <a:xfrm rot="0">
            <a:off x="13453491" y="2158394"/>
            <a:ext cx="189586" cy="164011"/>
            <a:chOff x="0" y="0"/>
            <a:chExt cx="252781" cy="218681"/>
          </a:xfrm>
        </p:grpSpPr>
        <p:sp>
          <p:nvSpPr>
            <p:cNvPr name="Freeform 247" id="247"/>
            <p:cNvSpPr/>
            <p:nvPr/>
          </p:nvSpPr>
          <p:spPr>
            <a:xfrm flipH="false" flipV="false" rot="0">
              <a:off x="0" y="0"/>
              <a:ext cx="252730" cy="218694"/>
            </a:xfrm>
            <a:custGeom>
              <a:avLst/>
              <a:gdLst/>
              <a:ahLst/>
              <a:cxnLst/>
              <a:rect r="r" b="b" t="t" l="l"/>
              <a:pathLst>
                <a:path h="218694" w="252730">
                  <a:moveTo>
                    <a:pt x="0" y="0"/>
                  </a:moveTo>
                  <a:lnTo>
                    <a:pt x="252730" y="0"/>
                  </a:lnTo>
                  <a:lnTo>
                    <a:pt x="252730" y="218694"/>
                  </a:lnTo>
                  <a:lnTo>
                    <a:pt x="0" y="218694"/>
                  </a:lnTo>
                  <a:close/>
                </a:path>
              </a:pathLst>
            </a:custGeom>
            <a:blipFill>
              <a:blip r:embed="rId12">
                <a:alphaModFix amt="0"/>
              </a:blip>
              <a:stretch>
                <a:fillRect l="-61080" t="0" r="-61105" b="5"/>
              </a:stretch>
            </a:blipFill>
          </p:spPr>
        </p:sp>
      </p:grpSp>
      <p:grpSp>
        <p:nvGrpSpPr>
          <p:cNvPr name="Group 248" id="248"/>
          <p:cNvGrpSpPr/>
          <p:nvPr/>
        </p:nvGrpSpPr>
        <p:grpSpPr>
          <a:xfrm rot="0">
            <a:off x="13453491" y="2172681"/>
            <a:ext cx="189586" cy="149723"/>
            <a:chOff x="0" y="0"/>
            <a:chExt cx="252781" cy="199631"/>
          </a:xfrm>
        </p:grpSpPr>
        <p:sp>
          <p:nvSpPr>
            <p:cNvPr name="Freeform 249" id="249"/>
            <p:cNvSpPr/>
            <p:nvPr/>
          </p:nvSpPr>
          <p:spPr>
            <a:xfrm flipH="false" flipV="false" rot="0">
              <a:off x="0" y="0"/>
              <a:ext cx="252781" cy="199631"/>
            </a:xfrm>
            <a:custGeom>
              <a:avLst/>
              <a:gdLst/>
              <a:ahLst/>
              <a:cxnLst/>
              <a:rect r="r" b="b" t="t" l="l"/>
              <a:pathLst>
                <a:path h="199631" w="252781">
                  <a:moveTo>
                    <a:pt x="0" y="0"/>
                  </a:moveTo>
                  <a:lnTo>
                    <a:pt x="252781" y="0"/>
                  </a:lnTo>
                  <a:lnTo>
                    <a:pt x="252781" y="199631"/>
                  </a:lnTo>
                  <a:lnTo>
                    <a:pt x="0" y="199631"/>
                  </a:lnTo>
                  <a:close/>
                </a:path>
              </a:pathLst>
            </a:custGeom>
            <a:blipFill>
              <a:blip r:embed="rId13">
                <a:alphaModFix amt="0"/>
              </a:blip>
              <a:stretch>
                <a:fillRect l="-51326" t="0" r="-51326" b="0"/>
              </a:stretch>
            </a:blipFill>
          </p:spPr>
        </p:sp>
        <p:sp>
          <p:nvSpPr>
            <p:cNvPr name="TextBox 250" id="250"/>
            <p:cNvSpPr txBox="true"/>
            <p:nvPr/>
          </p:nvSpPr>
          <p:spPr>
            <a:xfrm>
              <a:off x="0" y="19050"/>
              <a:ext cx="252781" cy="180581"/>
            </a:xfrm>
            <a:prstGeom prst="rect">
              <a:avLst/>
            </a:prstGeom>
          </p:spPr>
          <p:txBody>
            <a:bodyPr anchor="ctr" rtlCol="false" tIns="0" lIns="0" bIns="0" rIns="0"/>
            <a:lstStyle/>
            <a:p>
              <a:pPr algn="l">
                <a:lnSpc>
                  <a:spcPts val="631"/>
                </a:lnSpc>
              </a:pPr>
              <a:r>
                <a:rPr lang="en-US" sz="774" b="true">
                  <a:solidFill>
                    <a:srgbClr val="CF7173"/>
                  </a:solidFill>
                  <a:latin typeface="TT Commons Pro Bold"/>
                  <a:ea typeface="TT Commons Pro Bold"/>
                  <a:cs typeface="TT Commons Pro Bold"/>
                  <a:sym typeface="TT Commons Pro Bold"/>
                </a:rPr>
                <a:t>981</a:t>
              </a:r>
            </a:p>
          </p:txBody>
        </p:sp>
      </p:grpSp>
      <p:grpSp>
        <p:nvGrpSpPr>
          <p:cNvPr name="Group 251" id="251"/>
          <p:cNvGrpSpPr/>
          <p:nvPr/>
        </p:nvGrpSpPr>
        <p:grpSpPr>
          <a:xfrm rot="0">
            <a:off x="16103184" y="5220976"/>
            <a:ext cx="687219" cy="288569"/>
            <a:chOff x="0" y="0"/>
            <a:chExt cx="916292" cy="384759"/>
          </a:xfrm>
        </p:grpSpPr>
        <p:sp>
          <p:nvSpPr>
            <p:cNvPr name="Freeform 252" id="252"/>
            <p:cNvSpPr/>
            <p:nvPr/>
          </p:nvSpPr>
          <p:spPr>
            <a:xfrm flipH="false" flipV="false" rot="0">
              <a:off x="0" y="0"/>
              <a:ext cx="916305" cy="384810"/>
            </a:xfrm>
            <a:custGeom>
              <a:avLst/>
              <a:gdLst/>
              <a:ahLst/>
              <a:cxnLst/>
              <a:rect r="r" b="b" t="t" l="l"/>
              <a:pathLst>
                <a:path h="384810" w="916305">
                  <a:moveTo>
                    <a:pt x="0" y="0"/>
                  </a:moveTo>
                  <a:lnTo>
                    <a:pt x="916305" y="0"/>
                  </a:lnTo>
                  <a:lnTo>
                    <a:pt x="916305" y="384810"/>
                  </a:lnTo>
                  <a:lnTo>
                    <a:pt x="0" y="384810"/>
                  </a:lnTo>
                  <a:close/>
                </a:path>
              </a:pathLst>
            </a:custGeom>
            <a:blipFill>
              <a:blip r:embed="rId12">
                <a:alphaModFix amt="0"/>
              </a:blip>
              <a:stretch>
                <a:fillRect l="-3912" t="0" r="-3911" b="13"/>
              </a:stretch>
            </a:blipFill>
          </p:spPr>
        </p:sp>
      </p:grpSp>
      <p:grpSp>
        <p:nvGrpSpPr>
          <p:cNvPr name="Group 253" id="253"/>
          <p:cNvGrpSpPr/>
          <p:nvPr/>
        </p:nvGrpSpPr>
        <p:grpSpPr>
          <a:xfrm rot="0">
            <a:off x="16103184" y="5263839"/>
            <a:ext cx="687219" cy="245707"/>
            <a:chOff x="0" y="0"/>
            <a:chExt cx="916292" cy="327609"/>
          </a:xfrm>
        </p:grpSpPr>
        <p:sp>
          <p:nvSpPr>
            <p:cNvPr name="Freeform 254" id="254"/>
            <p:cNvSpPr/>
            <p:nvPr/>
          </p:nvSpPr>
          <p:spPr>
            <a:xfrm flipH="false" flipV="false" rot="0">
              <a:off x="0" y="0"/>
              <a:ext cx="916295" cy="327610"/>
            </a:xfrm>
            <a:custGeom>
              <a:avLst/>
              <a:gdLst/>
              <a:ahLst/>
              <a:cxnLst/>
              <a:rect r="r" b="b" t="t" l="l"/>
              <a:pathLst>
                <a:path h="327610" w="916295">
                  <a:moveTo>
                    <a:pt x="0" y="0"/>
                  </a:moveTo>
                  <a:lnTo>
                    <a:pt x="916295" y="0"/>
                  </a:lnTo>
                  <a:lnTo>
                    <a:pt x="916295" y="327610"/>
                  </a:lnTo>
                  <a:lnTo>
                    <a:pt x="0" y="327610"/>
                  </a:lnTo>
                  <a:close/>
                </a:path>
              </a:pathLst>
            </a:custGeom>
            <a:blipFill>
              <a:blip r:embed="rId13">
                <a:alphaModFix amt="0"/>
              </a:blip>
              <a:stretch>
                <a:fillRect l="0" t="-4497" r="0" b="-4497"/>
              </a:stretch>
            </a:blipFill>
          </p:spPr>
        </p:sp>
        <p:sp>
          <p:nvSpPr>
            <p:cNvPr name="TextBox 255" id="255"/>
            <p:cNvSpPr txBox="true"/>
            <p:nvPr/>
          </p:nvSpPr>
          <p:spPr>
            <a:xfrm>
              <a:off x="0" y="57150"/>
              <a:ext cx="916292" cy="270459"/>
            </a:xfrm>
            <a:prstGeom prst="rect">
              <a:avLst/>
            </a:prstGeom>
          </p:spPr>
          <p:txBody>
            <a:bodyPr anchor="ctr" rtlCol="false" tIns="0" lIns="0" bIns="0" rIns="0"/>
            <a:lstStyle/>
            <a:p>
              <a:pPr algn="l">
                <a:lnSpc>
                  <a:spcPts val="1084"/>
                </a:lnSpc>
              </a:pPr>
              <a:r>
                <a:rPr lang="en-US" sz="1351" b="true">
                  <a:solidFill>
                    <a:srgbClr val="E0A9A5"/>
                  </a:solidFill>
                  <a:latin typeface="TT Commons Pro Bold"/>
                  <a:ea typeface="TT Commons Pro Bold"/>
                  <a:cs typeface="TT Commons Pro Bold"/>
                  <a:sym typeface="TT Commons Pro Bold"/>
                </a:rPr>
                <a:t>zomato</a:t>
              </a:r>
            </a:p>
          </p:txBody>
        </p:sp>
      </p:grpSp>
      <p:grpSp>
        <p:nvGrpSpPr>
          <p:cNvPr name="Group 256" id="256"/>
          <p:cNvGrpSpPr/>
          <p:nvPr/>
        </p:nvGrpSpPr>
        <p:grpSpPr>
          <a:xfrm rot="0">
            <a:off x="6507956" y="5378129"/>
            <a:ext cx="4965811" cy="669931"/>
            <a:chOff x="0" y="0"/>
            <a:chExt cx="6621082" cy="893242"/>
          </a:xfrm>
        </p:grpSpPr>
        <p:sp>
          <p:nvSpPr>
            <p:cNvPr name="Freeform 257" id="257"/>
            <p:cNvSpPr/>
            <p:nvPr/>
          </p:nvSpPr>
          <p:spPr>
            <a:xfrm flipH="false" flipV="false" rot="0">
              <a:off x="0" y="0"/>
              <a:ext cx="6621145" cy="893191"/>
            </a:xfrm>
            <a:custGeom>
              <a:avLst/>
              <a:gdLst/>
              <a:ahLst/>
              <a:cxnLst/>
              <a:rect r="r" b="b" t="t" l="l"/>
              <a:pathLst>
                <a:path h="893191" w="6621145">
                  <a:moveTo>
                    <a:pt x="0" y="0"/>
                  </a:moveTo>
                  <a:lnTo>
                    <a:pt x="6621145" y="0"/>
                  </a:lnTo>
                  <a:lnTo>
                    <a:pt x="6621145" y="893191"/>
                  </a:lnTo>
                  <a:lnTo>
                    <a:pt x="0" y="893191"/>
                  </a:lnTo>
                  <a:close/>
                </a:path>
              </a:pathLst>
            </a:custGeom>
            <a:blipFill>
              <a:blip r:embed="rId12">
                <a:alphaModFix amt="0"/>
              </a:blip>
              <a:stretch>
                <a:fillRect l="0" t="-94335" r="0" b="-94342"/>
              </a:stretch>
            </a:blipFill>
          </p:spPr>
        </p:sp>
      </p:grpSp>
      <p:grpSp>
        <p:nvGrpSpPr>
          <p:cNvPr name="Group 258" id="258"/>
          <p:cNvGrpSpPr/>
          <p:nvPr/>
        </p:nvGrpSpPr>
        <p:grpSpPr>
          <a:xfrm rot="0">
            <a:off x="6507956" y="5428136"/>
            <a:ext cx="4965811" cy="619925"/>
            <a:chOff x="0" y="0"/>
            <a:chExt cx="6621082" cy="826567"/>
          </a:xfrm>
        </p:grpSpPr>
        <p:sp>
          <p:nvSpPr>
            <p:cNvPr name="Freeform 259" id="259"/>
            <p:cNvSpPr/>
            <p:nvPr/>
          </p:nvSpPr>
          <p:spPr>
            <a:xfrm flipH="false" flipV="false" rot="0">
              <a:off x="0" y="0"/>
              <a:ext cx="6621081" cy="826573"/>
            </a:xfrm>
            <a:custGeom>
              <a:avLst/>
              <a:gdLst/>
              <a:ahLst/>
              <a:cxnLst/>
              <a:rect r="r" b="b" t="t" l="l"/>
              <a:pathLst>
                <a:path h="826573" w="6621081">
                  <a:moveTo>
                    <a:pt x="0" y="0"/>
                  </a:moveTo>
                  <a:lnTo>
                    <a:pt x="6621081" y="0"/>
                  </a:lnTo>
                  <a:lnTo>
                    <a:pt x="6621081" y="826573"/>
                  </a:lnTo>
                  <a:lnTo>
                    <a:pt x="0" y="826573"/>
                  </a:lnTo>
                  <a:close/>
                </a:path>
              </a:pathLst>
            </a:custGeom>
            <a:blipFill>
              <a:blip r:embed="rId13">
                <a:alphaModFix amt="0"/>
              </a:blip>
              <a:stretch>
                <a:fillRect l="0" t="-106080" r="0" b="-106080"/>
              </a:stretch>
            </a:blipFill>
          </p:spPr>
        </p:sp>
        <p:sp>
          <p:nvSpPr>
            <p:cNvPr name="TextBox 260" id="260"/>
            <p:cNvSpPr txBox="true"/>
            <p:nvPr/>
          </p:nvSpPr>
          <p:spPr>
            <a:xfrm>
              <a:off x="0" y="66675"/>
              <a:ext cx="6621082" cy="759892"/>
            </a:xfrm>
            <a:prstGeom prst="rect">
              <a:avLst/>
            </a:prstGeom>
          </p:spPr>
          <p:txBody>
            <a:bodyPr anchor="ctr" rtlCol="false" tIns="0" lIns="0" bIns="0" rIns="0"/>
            <a:lstStyle/>
            <a:p>
              <a:pPr algn="l">
                <a:lnSpc>
                  <a:spcPts val="3043"/>
                </a:lnSpc>
              </a:pPr>
              <a:r>
                <a:rPr lang="en-US" sz="3117">
                  <a:solidFill>
                    <a:srgbClr val="BABABA"/>
                  </a:solidFill>
                  <a:latin typeface="TT Commons Pro"/>
                  <a:ea typeface="TT Commons Pro"/>
                  <a:cs typeface="TT Commons Pro"/>
                  <a:sym typeface="TT Commons Pro"/>
                </a:rPr>
                <a:t>Questions &amp; Discussion</a:t>
              </a:r>
            </a:p>
          </p:txBody>
        </p:sp>
      </p:grpSp>
      <p:grpSp>
        <p:nvGrpSpPr>
          <p:cNvPr name="Group 261" id="261"/>
          <p:cNvGrpSpPr/>
          <p:nvPr/>
        </p:nvGrpSpPr>
        <p:grpSpPr>
          <a:xfrm rot="0">
            <a:off x="15867097" y="2253186"/>
            <a:ext cx="1159412" cy="273196"/>
            <a:chOff x="0" y="0"/>
            <a:chExt cx="1545882" cy="364261"/>
          </a:xfrm>
        </p:grpSpPr>
        <p:sp>
          <p:nvSpPr>
            <p:cNvPr name="Freeform 262" id="262"/>
            <p:cNvSpPr/>
            <p:nvPr/>
          </p:nvSpPr>
          <p:spPr>
            <a:xfrm flipH="false" flipV="false" rot="0">
              <a:off x="0" y="0"/>
              <a:ext cx="1545844" cy="364236"/>
            </a:xfrm>
            <a:custGeom>
              <a:avLst/>
              <a:gdLst/>
              <a:ahLst/>
              <a:cxnLst/>
              <a:rect r="r" b="b" t="t" l="l"/>
              <a:pathLst>
                <a:path h="364236" w="1545844">
                  <a:moveTo>
                    <a:pt x="0" y="0"/>
                  </a:moveTo>
                  <a:lnTo>
                    <a:pt x="1545844" y="0"/>
                  </a:lnTo>
                  <a:lnTo>
                    <a:pt x="1545844" y="364236"/>
                  </a:lnTo>
                  <a:lnTo>
                    <a:pt x="0" y="364236"/>
                  </a:lnTo>
                  <a:close/>
                </a:path>
              </a:pathLst>
            </a:custGeom>
            <a:blipFill>
              <a:blip r:embed="rId12">
                <a:alphaModFix amt="0"/>
              </a:blip>
              <a:stretch>
                <a:fillRect l="0" t="-32635" r="-2" b="-32642"/>
              </a:stretch>
            </a:blipFill>
          </p:spPr>
        </p:sp>
      </p:grpSp>
      <p:grpSp>
        <p:nvGrpSpPr>
          <p:cNvPr name="Group 263" id="263"/>
          <p:cNvGrpSpPr/>
          <p:nvPr/>
        </p:nvGrpSpPr>
        <p:grpSpPr>
          <a:xfrm rot="0">
            <a:off x="15867097" y="2281761"/>
            <a:ext cx="1159402" cy="244621"/>
            <a:chOff x="0" y="0"/>
            <a:chExt cx="1545869" cy="326161"/>
          </a:xfrm>
        </p:grpSpPr>
        <p:sp>
          <p:nvSpPr>
            <p:cNvPr name="Freeform 264" id="264"/>
            <p:cNvSpPr/>
            <p:nvPr/>
          </p:nvSpPr>
          <p:spPr>
            <a:xfrm flipH="false" flipV="false" rot="0">
              <a:off x="0" y="0"/>
              <a:ext cx="1545869" cy="326161"/>
            </a:xfrm>
            <a:custGeom>
              <a:avLst/>
              <a:gdLst/>
              <a:ahLst/>
              <a:cxnLst/>
              <a:rect r="r" b="b" t="t" l="l"/>
              <a:pathLst>
                <a:path h="326161" w="1545869">
                  <a:moveTo>
                    <a:pt x="0" y="0"/>
                  </a:moveTo>
                  <a:lnTo>
                    <a:pt x="1545869" y="0"/>
                  </a:lnTo>
                  <a:lnTo>
                    <a:pt x="1545869" y="326161"/>
                  </a:lnTo>
                  <a:lnTo>
                    <a:pt x="0" y="326161"/>
                  </a:lnTo>
                  <a:close/>
                </a:path>
              </a:pathLst>
            </a:custGeom>
            <a:blipFill>
              <a:blip r:embed="rId13">
                <a:alphaModFix amt="0"/>
              </a:blip>
              <a:stretch>
                <a:fillRect l="0" t="-42350" r="0" b="-42351"/>
              </a:stretch>
            </a:blipFill>
          </p:spPr>
        </p:sp>
        <p:sp>
          <p:nvSpPr>
            <p:cNvPr name="TextBox 265" id="265"/>
            <p:cNvSpPr txBox="true"/>
            <p:nvPr/>
          </p:nvSpPr>
          <p:spPr>
            <a:xfrm>
              <a:off x="0" y="38100"/>
              <a:ext cx="1545869" cy="288061"/>
            </a:xfrm>
            <a:prstGeom prst="rect">
              <a:avLst/>
            </a:prstGeom>
          </p:spPr>
          <p:txBody>
            <a:bodyPr anchor="ctr" rtlCol="false" tIns="0" lIns="0" bIns="0" rIns="0"/>
            <a:lstStyle/>
            <a:p>
              <a:pPr algn="l">
                <a:lnSpc>
                  <a:spcPts val="1113"/>
                </a:lnSpc>
              </a:pPr>
              <a:r>
                <a:rPr lang="en-US" sz="1297" b="true">
                  <a:solidFill>
                    <a:srgbClr val="AB0B1F"/>
                  </a:solidFill>
                  <a:latin typeface="TT Commons Pro Bold"/>
                  <a:ea typeface="TT Commons Pro Bold"/>
                  <a:cs typeface="TT Commons Pro Bold"/>
                  <a:sym typeface="TT Commons Pro Bold"/>
                </a:rPr>
                <a:t>RESTAURANT</a:t>
              </a:r>
            </a:p>
          </p:txBody>
        </p:sp>
      </p:grpSp>
      <p:grpSp>
        <p:nvGrpSpPr>
          <p:cNvPr name="Group 266" id="266"/>
          <p:cNvGrpSpPr/>
          <p:nvPr/>
        </p:nvGrpSpPr>
        <p:grpSpPr>
          <a:xfrm rot="0">
            <a:off x="15648346" y="313553"/>
            <a:ext cx="2049018" cy="940651"/>
            <a:chOff x="0" y="0"/>
            <a:chExt cx="2732024" cy="1254201"/>
          </a:xfrm>
        </p:grpSpPr>
        <p:sp>
          <p:nvSpPr>
            <p:cNvPr name="Freeform 267" id="267"/>
            <p:cNvSpPr/>
            <p:nvPr/>
          </p:nvSpPr>
          <p:spPr>
            <a:xfrm flipH="false" flipV="false" rot="0">
              <a:off x="0" y="0"/>
              <a:ext cx="2732024" cy="1254252"/>
            </a:xfrm>
            <a:custGeom>
              <a:avLst/>
              <a:gdLst/>
              <a:ahLst/>
              <a:cxnLst/>
              <a:rect r="r" b="b" t="t" l="l"/>
              <a:pathLst>
                <a:path h="1254252" w="2732024">
                  <a:moveTo>
                    <a:pt x="0" y="0"/>
                  </a:moveTo>
                  <a:lnTo>
                    <a:pt x="2732024" y="0"/>
                  </a:lnTo>
                  <a:lnTo>
                    <a:pt x="2732024" y="1254252"/>
                  </a:lnTo>
                  <a:lnTo>
                    <a:pt x="0" y="1254252"/>
                  </a:lnTo>
                  <a:close/>
                </a:path>
              </a:pathLst>
            </a:custGeom>
            <a:blipFill>
              <a:blip r:embed="rId12">
                <a:alphaModFix amt="0"/>
              </a:blip>
              <a:stretch>
                <a:fillRect l="-8941" t="0" r="-8941" b="4"/>
              </a:stretch>
            </a:blipFill>
          </p:spPr>
        </p:sp>
      </p:grpSp>
      <p:grpSp>
        <p:nvGrpSpPr>
          <p:cNvPr name="Group 268" id="268"/>
          <p:cNvGrpSpPr/>
          <p:nvPr/>
        </p:nvGrpSpPr>
        <p:grpSpPr>
          <a:xfrm rot="0">
            <a:off x="15648346" y="270691"/>
            <a:ext cx="2049018" cy="983513"/>
            <a:chOff x="0" y="0"/>
            <a:chExt cx="2732024" cy="1311351"/>
          </a:xfrm>
        </p:grpSpPr>
        <p:sp>
          <p:nvSpPr>
            <p:cNvPr name="Freeform 269" id="269"/>
            <p:cNvSpPr/>
            <p:nvPr/>
          </p:nvSpPr>
          <p:spPr>
            <a:xfrm flipH="false" flipV="false" rot="0">
              <a:off x="0" y="0"/>
              <a:ext cx="2732024" cy="1311351"/>
            </a:xfrm>
            <a:custGeom>
              <a:avLst/>
              <a:gdLst/>
              <a:ahLst/>
              <a:cxnLst/>
              <a:rect r="r" b="b" t="t" l="l"/>
              <a:pathLst>
                <a:path h="1311351" w="2732024">
                  <a:moveTo>
                    <a:pt x="0" y="0"/>
                  </a:moveTo>
                  <a:lnTo>
                    <a:pt x="2732024" y="0"/>
                  </a:lnTo>
                  <a:lnTo>
                    <a:pt x="2732024" y="1311351"/>
                  </a:lnTo>
                  <a:lnTo>
                    <a:pt x="0" y="1311351"/>
                  </a:lnTo>
                  <a:close/>
                </a:path>
              </a:pathLst>
            </a:custGeom>
            <a:blipFill>
              <a:blip r:embed="rId13">
                <a:alphaModFix amt="0"/>
              </a:blip>
              <a:stretch>
                <a:fillRect l="-11584" t="0" r="-11584" b="0"/>
              </a:stretch>
            </a:blipFill>
          </p:spPr>
        </p:sp>
        <p:sp>
          <p:nvSpPr>
            <p:cNvPr name="TextBox 270" id="270"/>
            <p:cNvSpPr txBox="true"/>
            <p:nvPr/>
          </p:nvSpPr>
          <p:spPr>
            <a:xfrm>
              <a:off x="0" y="-57150"/>
              <a:ext cx="2732024" cy="1368501"/>
            </a:xfrm>
            <a:prstGeom prst="rect">
              <a:avLst/>
            </a:prstGeom>
          </p:spPr>
          <p:txBody>
            <a:bodyPr anchor="ctr" rtlCol="false" tIns="0" lIns="0" bIns="0" rIns="0"/>
            <a:lstStyle/>
            <a:p>
              <a:pPr algn="r">
                <a:lnSpc>
                  <a:spcPts val="2377"/>
                </a:lnSpc>
              </a:pPr>
              <a:r>
                <a:rPr lang="en-US" sz="1491">
                  <a:solidFill>
                    <a:srgbClr val="B18C8B"/>
                  </a:solidFill>
                  <a:latin typeface="TT Commons Pro"/>
                  <a:ea typeface="TT Commons Pro"/>
                  <a:cs typeface="TT Commons Pro"/>
                  <a:sym typeface="TT Commons Pro"/>
                </a:rPr>
                <a:t>Discover more places.</a:t>
              </a:r>
            </a:p>
            <a:p>
              <a:pPr algn="r">
                <a:lnSpc>
                  <a:spcPts val="2377"/>
                </a:lnSpc>
              </a:pPr>
              <a:r>
                <a:rPr lang="en-US" sz="1491">
                  <a:solidFill>
                    <a:srgbClr val="B18C8B"/>
                  </a:solidFill>
                  <a:latin typeface="TT Commons Pro"/>
                  <a:ea typeface="TT Commons Pro"/>
                  <a:cs typeface="TT Commons Pro"/>
                  <a:sym typeface="TT Commons Pro"/>
                </a:rPr>
                <a:t>More food.</a:t>
              </a:r>
            </a:p>
          </p:txBody>
        </p:sp>
      </p:grpSp>
      <p:grpSp>
        <p:nvGrpSpPr>
          <p:cNvPr name="Group 271" id="271"/>
          <p:cNvGrpSpPr/>
          <p:nvPr/>
        </p:nvGrpSpPr>
        <p:grpSpPr>
          <a:xfrm rot="0">
            <a:off x="6956441" y="1626632"/>
            <a:ext cx="4258456" cy="474621"/>
            <a:chOff x="0" y="0"/>
            <a:chExt cx="5677941" cy="632828"/>
          </a:xfrm>
        </p:grpSpPr>
        <p:sp>
          <p:nvSpPr>
            <p:cNvPr name="Freeform 272" id="272"/>
            <p:cNvSpPr/>
            <p:nvPr/>
          </p:nvSpPr>
          <p:spPr>
            <a:xfrm flipH="false" flipV="false" rot="0">
              <a:off x="0" y="0"/>
              <a:ext cx="5677916" cy="632841"/>
            </a:xfrm>
            <a:custGeom>
              <a:avLst/>
              <a:gdLst/>
              <a:ahLst/>
              <a:cxnLst/>
              <a:rect r="r" b="b" t="t" l="l"/>
              <a:pathLst>
                <a:path h="632841" w="5677916">
                  <a:moveTo>
                    <a:pt x="0" y="0"/>
                  </a:moveTo>
                  <a:lnTo>
                    <a:pt x="5677916" y="0"/>
                  </a:lnTo>
                  <a:lnTo>
                    <a:pt x="5677916" y="632841"/>
                  </a:lnTo>
                  <a:lnTo>
                    <a:pt x="0" y="632841"/>
                  </a:lnTo>
                  <a:close/>
                </a:path>
              </a:pathLst>
            </a:custGeom>
            <a:blipFill>
              <a:blip r:embed="rId12">
                <a:alphaModFix amt="0"/>
              </a:blip>
              <a:stretch>
                <a:fillRect l="0" t="-124701" r="0" b="-124699"/>
              </a:stretch>
            </a:blipFill>
          </p:spPr>
        </p:sp>
      </p:grpSp>
      <p:grpSp>
        <p:nvGrpSpPr>
          <p:cNvPr name="Group 273" id="273"/>
          <p:cNvGrpSpPr/>
          <p:nvPr/>
        </p:nvGrpSpPr>
        <p:grpSpPr>
          <a:xfrm rot="0">
            <a:off x="6956441" y="1690926"/>
            <a:ext cx="4258456" cy="410327"/>
            <a:chOff x="0" y="0"/>
            <a:chExt cx="5677941" cy="547103"/>
          </a:xfrm>
        </p:grpSpPr>
        <p:sp>
          <p:nvSpPr>
            <p:cNvPr name="Freeform 274" id="274"/>
            <p:cNvSpPr/>
            <p:nvPr/>
          </p:nvSpPr>
          <p:spPr>
            <a:xfrm flipH="false" flipV="false" rot="0">
              <a:off x="0" y="0"/>
              <a:ext cx="5677941" cy="547099"/>
            </a:xfrm>
            <a:custGeom>
              <a:avLst/>
              <a:gdLst/>
              <a:ahLst/>
              <a:cxnLst/>
              <a:rect r="r" b="b" t="t" l="l"/>
              <a:pathLst>
                <a:path h="547099" w="5677941">
                  <a:moveTo>
                    <a:pt x="0" y="0"/>
                  </a:moveTo>
                  <a:lnTo>
                    <a:pt x="5677941" y="0"/>
                  </a:lnTo>
                  <a:lnTo>
                    <a:pt x="5677941" y="547099"/>
                  </a:lnTo>
                  <a:lnTo>
                    <a:pt x="0" y="547099"/>
                  </a:lnTo>
                  <a:close/>
                </a:path>
              </a:pathLst>
            </a:custGeom>
            <a:blipFill>
              <a:blip r:embed="rId13">
                <a:alphaModFix amt="0"/>
              </a:blip>
              <a:stretch>
                <a:fillRect l="0" t="-152220" r="0" b="-152221"/>
              </a:stretch>
            </a:blipFill>
          </p:spPr>
        </p:sp>
        <p:sp>
          <p:nvSpPr>
            <p:cNvPr name="TextBox 275" id="275"/>
            <p:cNvSpPr txBox="true"/>
            <p:nvPr/>
          </p:nvSpPr>
          <p:spPr>
            <a:xfrm>
              <a:off x="0" y="85725"/>
              <a:ext cx="5677941" cy="461378"/>
            </a:xfrm>
            <a:prstGeom prst="rect">
              <a:avLst/>
            </a:prstGeom>
          </p:spPr>
          <p:txBody>
            <a:bodyPr anchor="ctr" rtlCol="false" tIns="0" lIns="0" bIns="0" rIns="0"/>
            <a:lstStyle/>
            <a:p>
              <a:pPr algn="l">
                <a:lnSpc>
                  <a:spcPts val="1665"/>
                </a:lnSpc>
              </a:pPr>
              <a:r>
                <a:rPr lang="en-US" sz="2199">
                  <a:solidFill>
                    <a:srgbClr val="A1A1A2"/>
                  </a:solidFill>
                  <a:latin typeface="TT Commons Pro"/>
                  <a:ea typeface="TT Commons Pro"/>
                  <a:cs typeface="TT Commons Pro"/>
                  <a:sym typeface="TT Commons Pro"/>
                </a:rPr>
                <a:t>     PLATFORM  COMPARISON</a:t>
              </a:r>
            </a:p>
          </p:txBody>
        </p:sp>
      </p:grpSp>
      <p:grpSp>
        <p:nvGrpSpPr>
          <p:cNvPr name="Group 276" id="276"/>
          <p:cNvGrpSpPr/>
          <p:nvPr/>
        </p:nvGrpSpPr>
        <p:grpSpPr>
          <a:xfrm rot="0">
            <a:off x="15655633" y="0"/>
            <a:ext cx="2027139" cy="358692"/>
            <a:chOff x="0" y="0"/>
            <a:chExt cx="2702852" cy="478257"/>
          </a:xfrm>
        </p:grpSpPr>
        <p:sp>
          <p:nvSpPr>
            <p:cNvPr name="Freeform 277" id="277"/>
            <p:cNvSpPr/>
            <p:nvPr/>
          </p:nvSpPr>
          <p:spPr>
            <a:xfrm flipH="false" flipV="false" rot="0">
              <a:off x="0" y="0"/>
              <a:ext cx="2702814" cy="478282"/>
            </a:xfrm>
            <a:custGeom>
              <a:avLst/>
              <a:gdLst/>
              <a:ahLst/>
              <a:cxnLst/>
              <a:rect r="r" b="b" t="t" l="l"/>
              <a:pathLst>
                <a:path h="478282" w="2702814">
                  <a:moveTo>
                    <a:pt x="0" y="0"/>
                  </a:moveTo>
                  <a:lnTo>
                    <a:pt x="2702814" y="0"/>
                  </a:lnTo>
                  <a:lnTo>
                    <a:pt x="2702814" y="478282"/>
                  </a:lnTo>
                  <a:lnTo>
                    <a:pt x="0" y="478282"/>
                  </a:lnTo>
                  <a:close/>
                </a:path>
              </a:pathLst>
            </a:custGeom>
            <a:blipFill>
              <a:blip r:embed="rId12">
                <a:alphaModFix amt="0"/>
              </a:blip>
              <a:stretch>
                <a:fillRect l="0" t="-60039" r="-1" b="-60034"/>
              </a:stretch>
            </a:blipFill>
          </p:spPr>
        </p:sp>
      </p:grpSp>
      <p:grpSp>
        <p:nvGrpSpPr>
          <p:cNvPr name="Group 278" id="278"/>
          <p:cNvGrpSpPr/>
          <p:nvPr/>
        </p:nvGrpSpPr>
        <p:grpSpPr>
          <a:xfrm rot="0">
            <a:off x="15655633" y="57150"/>
            <a:ext cx="2027139" cy="301552"/>
            <a:chOff x="0" y="0"/>
            <a:chExt cx="2702852" cy="402069"/>
          </a:xfrm>
        </p:grpSpPr>
        <p:sp>
          <p:nvSpPr>
            <p:cNvPr name="Freeform 279" id="279"/>
            <p:cNvSpPr/>
            <p:nvPr/>
          </p:nvSpPr>
          <p:spPr>
            <a:xfrm flipH="false" flipV="false" rot="0">
              <a:off x="0" y="0"/>
              <a:ext cx="2702852" cy="402069"/>
            </a:xfrm>
            <a:custGeom>
              <a:avLst/>
              <a:gdLst/>
              <a:ahLst/>
              <a:cxnLst/>
              <a:rect r="r" b="b" t="t" l="l"/>
              <a:pathLst>
                <a:path h="402069" w="2702852">
                  <a:moveTo>
                    <a:pt x="0" y="0"/>
                  </a:moveTo>
                  <a:lnTo>
                    <a:pt x="2702852" y="0"/>
                  </a:lnTo>
                  <a:lnTo>
                    <a:pt x="2702852" y="402069"/>
                  </a:lnTo>
                  <a:lnTo>
                    <a:pt x="0" y="402069"/>
                  </a:lnTo>
                  <a:close/>
                </a:path>
              </a:pathLst>
            </a:custGeom>
            <a:blipFill>
              <a:blip r:embed="rId13">
                <a:alphaModFix amt="0"/>
              </a:blip>
              <a:stretch>
                <a:fillRect l="0" t="-80985" r="0" b="-80985"/>
              </a:stretch>
            </a:blipFill>
          </p:spPr>
        </p:sp>
        <p:sp>
          <p:nvSpPr>
            <p:cNvPr name="TextBox 280" id="280"/>
            <p:cNvSpPr txBox="true"/>
            <p:nvPr/>
          </p:nvSpPr>
          <p:spPr>
            <a:xfrm>
              <a:off x="0" y="76200"/>
              <a:ext cx="2702852" cy="325869"/>
            </a:xfrm>
            <a:prstGeom prst="rect">
              <a:avLst/>
            </a:prstGeom>
          </p:spPr>
          <p:txBody>
            <a:bodyPr anchor="ctr" rtlCol="false" tIns="0" lIns="0" bIns="0" rIns="0"/>
            <a:lstStyle/>
            <a:p>
              <a:pPr algn="l">
                <a:lnSpc>
                  <a:spcPts val="1205"/>
                </a:lnSpc>
              </a:pPr>
              <a:r>
                <a:rPr lang="en-US" sz="1658" b="true">
                  <a:solidFill>
                    <a:srgbClr val="DDCECE"/>
                  </a:solidFill>
                  <a:latin typeface="TT Commons Pro Bold"/>
                  <a:ea typeface="TT Commons Pro Bold"/>
                  <a:cs typeface="TT Commons Pro Bold"/>
                  <a:sym typeface="TT Commons Pro Bold"/>
                </a:rPr>
                <a:t>zomato</a:t>
              </a:r>
            </a:p>
          </p:txBody>
        </p:sp>
      </p:grpSp>
      <p:grpSp>
        <p:nvGrpSpPr>
          <p:cNvPr name="Group 281" id="281"/>
          <p:cNvGrpSpPr/>
          <p:nvPr/>
        </p:nvGrpSpPr>
        <p:grpSpPr>
          <a:xfrm rot="0">
            <a:off x="10004431" y="48844"/>
            <a:ext cx="3033417" cy="1359903"/>
            <a:chOff x="0" y="0"/>
            <a:chExt cx="4044556" cy="1813204"/>
          </a:xfrm>
        </p:grpSpPr>
        <p:sp>
          <p:nvSpPr>
            <p:cNvPr name="Freeform 282" id="282"/>
            <p:cNvSpPr/>
            <p:nvPr/>
          </p:nvSpPr>
          <p:spPr>
            <a:xfrm flipH="false" flipV="false" rot="0">
              <a:off x="0" y="0"/>
              <a:ext cx="4044569" cy="1813179"/>
            </a:xfrm>
            <a:custGeom>
              <a:avLst/>
              <a:gdLst/>
              <a:ahLst/>
              <a:cxnLst/>
              <a:rect r="r" b="b" t="t" l="l"/>
              <a:pathLst>
                <a:path h="1813179" w="4044569">
                  <a:moveTo>
                    <a:pt x="0" y="0"/>
                  </a:moveTo>
                  <a:lnTo>
                    <a:pt x="4044569" y="0"/>
                  </a:lnTo>
                  <a:lnTo>
                    <a:pt x="4044569" y="1813179"/>
                  </a:lnTo>
                  <a:lnTo>
                    <a:pt x="0" y="1813179"/>
                  </a:lnTo>
                  <a:close/>
                </a:path>
              </a:pathLst>
            </a:custGeom>
            <a:blipFill>
              <a:blip r:embed="rId12">
                <a:alphaModFix amt="0"/>
              </a:blip>
              <a:stretch>
                <a:fillRect l="-7559" t="0" r="-7559" b="-1"/>
              </a:stretch>
            </a:blipFill>
          </p:spPr>
        </p:sp>
      </p:grpSp>
      <p:grpSp>
        <p:nvGrpSpPr>
          <p:cNvPr name="Group 283" id="283"/>
          <p:cNvGrpSpPr/>
          <p:nvPr/>
        </p:nvGrpSpPr>
        <p:grpSpPr>
          <a:xfrm rot="0">
            <a:off x="10004431" y="220294"/>
            <a:ext cx="3033417" cy="1188453"/>
            <a:chOff x="0" y="0"/>
            <a:chExt cx="4044556" cy="1584604"/>
          </a:xfrm>
        </p:grpSpPr>
        <p:sp>
          <p:nvSpPr>
            <p:cNvPr name="Freeform 284" id="284"/>
            <p:cNvSpPr/>
            <p:nvPr/>
          </p:nvSpPr>
          <p:spPr>
            <a:xfrm flipH="false" flipV="false" rot="0">
              <a:off x="0" y="0"/>
              <a:ext cx="4044556" cy="1584608"/>
            </a:xfrm>
            <a:custGeom>
              <a:avLst/>
              <a:gdLst/>
              <a:ahLst/>
              <a:cxnLst/>
              <a:rect r="r" b="b" t="t" l="l"/>
              <a:pathLst>
                <a:path h="1584608" w="4044556">
                  <a:moveTo>
                    <a:pt x="0" y="0"/>
                  </a:moveTo>
                  <a:lnTo>
                    <a:pt x="4044556" y="0"/>
                  </a:lnTo>
                  <a:lnTo>
                    <a:pt x="4044556" y="1584608"/>
                  </a:lnTo>
                  <a:lnTo>
                    <a:pt x="0" y="1584608"/>
                  </a:lnTo>
                  <a:close/>
                </a:path>
              </a:pathLst>
            </a:custGeom>
            <a:blipFill>
              <a:blip r:embed="rId13">
                <a:alphaModFix amt="0"/>
              </a:blip>
              <a:stretch>
                <a:fillRect l="-267" t="0" r="-267" b="0"/>
              </a:stretch>
            </a:blipFill>
          </p:spPr>
        </p:sp>
        <p:sp>
          <p:nvSpPr>
            <p:cNvPr name="TextBox 285" id="285"/>
            <p:cNvSpPr txBox="true"/>
            <p:nvPr/>
          </p:nvSpPr>
          <p:spPr>
            <a:xfrm>
              <a:off x="0" y="228600"/>
              <a:ext cx="4044556" cy="1356004"/>
            </a:xfrm>
            <a:prstGeom prst="rect">
              <a:avLst/>
            </a:prstGeom>
          </p:spPr>
          <p:txBody>
            <a:bodyPr anchor="ctr" rtlCol="false" tIns="0" lIns="0" bIns="0" rIns="0"/>
            <a:lstStyle/>
            <a:p>
              <a:pPr algn="l">
                <a:lnSpc>
                  <a:spcPts val="5052"/>
                </a:lnSpc>
              </a:pPr>
              <a:r>
                <a:rPr lang="en-US" b="true" sz="6292" i="true">
                  <a:solidFill>
                    <a:srgbClr val="CF0B23"/>
                  </a:solidFill>
                  <a:latin typeface="TT Commons Pro Bold Italics"/>
                  <a:ea typeface="TT Commons Pro Bold Italics"/>
                  <a:cs typeface="TT Commons Pro Bold Italics"/>
                  <a:sym typeface="TT Commons Pro Bold Italics"/>
                </a:rPr>
                <a:t>zomato</a:t>
              </a:r>
            </a:p>
          </p:txBody>
        </p:sp>
      </p:grpSp>
      <p:grpSp>
        <p:nvGrpSpPr>
          <p:cNvPr name="Group 286" id="286"/>
          <p:cNvGrpSpPr/>
          <p:nvPr/>
        </p:nvGrpSpPr>
        <p:grpSpPr>
          <a:xfrm rot="0">
            <a:off x="5924645" y="273444"/>
            <a:ext cx="2825591" cy="987123"/>
            <a:chOff x="0" y="0"/>
            <a:chExt cx="3767455" cy="1316164"/>
          </a:xfrm>
        </p:grpSpPr>
        <p:sp>
          <p:nvSpPr>
            <p:cNvPr name="Freeform 287" id="287"/>
            <p:cNvSpPr/>
            <p:nvPr/>
          </p:nvSpPr>
          <p:spPr>
            <a:xfrm flipH="false" flipV="false" rot="0">
              <a:off x="0" y="0"/>
              <a:ext cx="3767455" cy="1316101"/>
            </a:xfrm>
            <a:custGeom>
              <a:avLst/>
              <a:gdLst/>
              <a:ahLst/>
              <a:cxnLst/>
              <a:rect r="r" b="b" t="t" l="l"/>
              <a:pathLst>
                <a:path h="1316101" w="3767455">
                  <a:moveTo>
                    <a:pt x="0" y="0"/>
                  </a:moveTo>
                  <a:lnTo>
                    <a:pt x="3767455" y="0"/>
                  </a:lnTo>
                  <a:lnTo>
                    <a:pt x="3767455" y="1316101"/>
                  </a:lnTo>
                  <a:lnTo>
                    <a:pt x="0" y="1316101"/>
                  </a:lnTo>
                  <a:close/>
                </a:path>
              </a:pathLst>
            </a:custGeom>
            <a:blipFill>
              <a:blip r:embed="rId12">
                <a:alphaModFix amt="0"/>
              </a:blip>
              <a:stretch>
                <a:fillRect l="0" t="-5736" r="0" b="-5740"/>
              </a:stretch>
            </a:blipFill>
          </p:spPr>
        </p:sp>
      </p:grpSp>
      <p:grpSp>
        <p:nvGrpSpPr>
          <p:cNvPr name="Group 288" id="288"/>
          <p:cNvGrpSpPr/>
          <p:nvPr/>
        </p:nvGrpSpPr>
        <p:grpSpPr>
          <a:xfrm rot="0">
            <a:off x="5924645" y="409175"/>
            <a:ext cx="2825591" cy="851392"/>
            <a:chOff x="0" y="0"/>
            <a:chExt cx="3767455" cy="1135190"/>
          </a:xfrm>
        </p:grpSpPr>
        <p:sp>
          <p:nvSpPr>
            <p:cNvPr name="Freeform 289" id="289"/>
            <p:cNvSpPr/>
            <p:nvPr/>
          </p:nvSpPr>
          <p:spPr>
            <a:xfrm flipH="false" flipV="false" rot="0">
              <a:off x="0" y="0"/>
              <a:ext cx="3767455" cy="1135190"/>
            </a:xfrm>
            <a:custGeom>
              <a:avLst/>
              <a:gdLst/>
              <a:ahLst/>
              <a:cxnLst/>
              <a:rect r="r" b="b" t="t" l="l"/>
              <a:pathLst>
                <a:path h="1135190" w="3767455">
                  <a:moveTo>
                    <a:pt x="0" y="0"/>
                  </a:moveTo>
                  <a:lnTo>
                    <a:pt x="3767455" y="0"/>
                  </a:lnTo>
                  <a:lnTo>
                    <a:pt x="3767455" y="1135190"/>
                  </a:lnTo>
                  <a:lnTo>
                    <a:pt x="0" y="1135190"/>
                  </a:lnTo>
                  <a:close/>
                </a:path>
              </a:pathLst>
            </a:custGeom>
            <a:blipFill>
              <a:blip r:embed="rId13">
                <a:alphaModFix amt="0"/>
              </a:blip>
              <a:stretch>
                <a:fillRect l="0" t="-14666" r="0" b="-14666"/>
              </a:stretch>
            </a:blipFill>
          </p:spPr>
        </p:sp>
        <p:sp>
          <p:nvSpPr>
            <p:cNvPr name="TextBox 290" id="290"/>
            <p:cNvSpPr txBox="true"/>
            <p:nvPr/>
          </p:nvSpPr>
          <p:spPr>
            <a:xfrm>
              <a:off x="0" y="180975"/>
              <a:ext cx="3767455" cy="954215"/>
            </a:xfrm>
            <a:prstGeom prst="rect">
              <a:avLst/>
            </a:prstGeom>
          </p:spPr>
          <p:txBody>
            <a:bodyPr anchor="ctr" rtlCol="false" tIns="0" lIns="0" bIns="0" rIns="0"/>
            <a:lstStyle/>
            <a:p>
              <a:pPr algn="l">
                <a:lnSpc>
                  <a:spcPts val="3559"/>
                </a:lnSpc>
              </a:pPr>
              <a:r>
                <a:rPr lang="en-US" sz="4576" b="true">
                  <a:solidFill>
                    <a:srgbClr val="CE5107"/>
                  </a:solidFill>
                  <a:latin typeface="TT Commons Pro Bold"/>
                  <a:ea typeface="TT Commons Pro Bold"/>
                  <a:cs typeface="TT Commons Pro Bold"/>
                  <a:sym typeface="TT Commons Pro Bold"/>
                </a:rPr>
                <a:t>SWIGGY</a:t>
              </a:r>
            </a:p>
          </p:txBody>
        </p:sp>
      </p:grpSp>
      <p:grpSp>
        <p:nvGrpSpPr>
          <p:cNvPr name="Group 291" id="291"/>
          <p:cNvGrpSpPr/>
          <p:nvPr/>
        </p:nvGrpSpPr>
        <p:grpSpPr>
          <a:xfrm rot="0">
            <a:off x="4156367" y="7455570"/>
            <a:ext cx="1035444" cy="337995"/>
            <a:chOff x="0" y="0"/>
            <a:chExt cx="1380592" cy="450660"/>
          </a:xfrm>
        </p:grpSpPr>
        <p:sp>
          <p:nvSpPr>
            <p:cNvPr name="Freeform 292" id="292"/>
            <p:cNvSpPr/>
            <p:nvPr/>
          </p:nvSpPr>
          <p:spPr>
            <a:xfrm flipH="false" flipV="false" rot="0">
              <a:off x="0" y="0"/>
              <a:ext cx="1380617" cy="450723"/>
            </a:xfrm>
            <a:custGeom>
              <a:avLst/>
              <a:gdLst/>
              <a:ahLst/>
              <a:cxnLst/>
              <a:rect r="r" b="b" t="t" l="l"/>
              <a:pathLst>
                <a:path h="450723" w="1380617">
                  <a:moveTo>
                    <a:pt x="0" y="0"/>
                  </a:moveTo>
                  <a:lnTo>
                    <a:pt x="1380617" y="0"/>
                  </a:lnTo>
                  <a:lnTo>
                    <a:pt x="1380617" y="450723"/>
                  </a:lnTo>
                  <a:lnTo>
                    <a:pt x="0" y="450723"/>
                  </a:lnTo>
                  <a:close/>
                </a:path>
              </a:pathLst>
            </a:custGeom>
            <a:blipFill>
              <a:blip r:embed="rId12">
                <a:alphaModFix amt="0"/>
              </a:blip>
              <a:stretch>
                <a:fillRect l="0" t="-9650" r="1" b="-9633"/>
              </a:stretch>
            </a:blipFill>
          </p:spPr>
        </p:sp>
      </p:grpSp>
      <p:grpSp>
        <p:nvGrpSpPr>
          <p:cNvPr name="Group 293" id="293"/>
          <p:cNvGrpSpPr/>
          <p:nvPr/>
        </p:nvGrpSpPr>
        <p:grpSpPr>
          <a:xfrm rot="0">
            <a:off x="4156367" y="7498432"/>
            <a:ext cx="1035444" cy="295132"/>
            <a:chOff x="0" y="0"/>
            <a:chExt cx="1380592" cy="393510"/>
          </a:xfrm>
        </p:grpSpPr>
        <p:sp>
          <p:nvSpPr>
            <p:cNvPr name="Freeform 294" id="294"/>
            <p:cNvSpPr/>
            <p:nvPr/>
          </p:nvSpPr>
          <p:spPr>
            <a:xfrm flipH="false" flipV="false" rot="0">
              <a:off x="0" y="0"/>
              <a:ext cx="1380592" cy="393513"/>
            </a:xfrm>
            <a:custGeom>
              <a:avLst/>
              <a:gdLst/>
              <a:ahLst/>
              <a:cxnLst/>
              <a:rect r="r" b="b" t="t" l="l"/>
              <a:pathLst>
                <a:path h="393513" w="1380592">
                  <a:moveTo>
                    <a:pt x="0" y="0"/>
                  </a:moveTo>
                  <a:lnTo>
                    <a:pt x="1380592" y="0"/>
                  </a:lnTo>
                  <a:lnTo>
                    <a:pt x="1380592" y="393513"/>
                  </a:lnTo>
                  <a:lnTo>
                    <a:pt x="0" y="393513"/>
                  </a:lnTo>
                  <a:close/>
                </a:path>
              </a:pathLst>
            </a:custGeom>
            <a:blipFill>
              <a:blip r:embed="rId13">
                <a:alphaModFix amt="0"/>
              </a:blip>
              <a:stretch>
                <a:fillRect l="0" t="-18361" r="0" b="-18360"/>
              </a:stretch>
            </a:blipFill>
          </p:spPr>
        </p:sp>
        <p:sp>
          <p:nvSpPr>
            <p:cNvPr name="TextBox 295" id="295"/>
            <p:cNvSpPr txBox="true"/>
            <p:nvPr/>
          </p:nvSpPr>
          <p:spPr>
            <a:xfrm>
              <a:off x="0" y="57150"/>
              <a:ext cx="1380592" cy="336360"/>
            </a:xfrm>
            <a:prstGeom prst="rect">
              <a:avLst/>
            </a:prstGeom>
          </p:spPr>
          <p:txBody>
            <a:bodyPr anchor="ctr" rtlCol="false" tIns="0" lIns="0" bIns="0" rIns="0"/>
            <a:lstStyle/>
            <a:p>
              <a:pPr algn="l">
                <a:lnSpc>
                  <a:spcPts val="1226"/>
                </a:lnSpc>
              </a:pPr>
              <a:r>
                <a:rPr lang="en-US" sz="1575" b="true">
                  <a:solidFill>
                    <a:srgbClr val="DBB195"/>
                  </a:solidFill>
                  <a:latin typeface="TT Commons Pro Bold"/>
                  <a:ea typeface="TT Commons Pro Bold"/>
                  <a:cs typeface="TT Commons Pro Bold"/>
                  <a:sym typeface="TT Commons Pro Bold"/>
                </a:rPr>
                <a:t>SWIGGY</a:t>
              </a:r>
            </a:p>
          </p:txBody>
        </p:sp>
      </p:grpSp>
      <p:grpSp>
        <p:nvGrpSpPr>
          <p:cNvPr name="Group 296" id="296"/>
          <p:cNvGrpSpPr/>
          <p:nvPr/>
        </p:nvGrpSpPr>
        <p:grpSpPr>
          <a:xfrm rot="0">
            <a:off x="4792428" y="2734580"/>
            <a:ext cx="8139160" cy="2578160"/>
            <a:chOff x="0" y="0"/>
            <a:chExt cx="10852214" cy="3437547"/>
          </a:xfrm>
        </p:grpSpPr>
        <p:sp>
          <p:nvSpPr>
            <p:cNvPr name="Freeform 297" id="297"/>
            <p:cNvSpPr/>
            <p:nvPr/>
          </p:nvSpPr>
          <p:spPr>
            <a:xfrm flipH="false" flipV="false" rot="0">
              <a:off x="0" y="0"/>
              <a:ext cx="10852150" cy="3437509"/>
            </a:xfrm>
            <a:custGeom>
              <a:avLst/>
              <a:gdLst/>
              <a:ahLst/>
              <a:cxnLst/>
              <a:rect r="r" b="b" t="t" l="l"/>
              <a:pathLst>
                <a:path h="3437509" w="10852150">
                  <a:moveTo>
                    <a:pt x="0" y="0"/>
                  </a:moveTo>
                  <a:lnTo>
                    <a:pt x="10852150" y="0"/>
                  </a:lnTo>
                  <a:lnTo>
                    <a:pt x="10852150" y="3437509"/>
                  </a:lnTo>
                  <a:lnTo>
                    <a:pt x="0" y="3437509"/>
                  </a:lnTo>
                  <a:close/>
                </a:path>
              </a:pathLst>
            </a:custGeom>
            <a:blipFill>
              <a:blip r:embed="rId12">
                <a:alphaModFix amt="0"/>
              </a:blip>
              <a:stretch>
                <a:fillRect l="0" t="-11470" r="0" b="-11472"/>
              </a:stretch>
            </a:blipFill>
          </p:spPr>
        </p:sp>
      </p:grpSp>
      <p:grpSp>
        <p:nvGrpSpPr>
          <p:cNvPr name="Group 298" id="298"/>
          <p:cNvGrpSpPr/>
          <p:nvPr/>
        </p:nvGrpSpPr>
        <p:grpSpPr>
          <a:xfrm rot="0">
            <a:off x="4792428" y="3070336"/>
            <a:ext cx="8139151" cy="2242414"/>
            <a:chOff x="0" y="0"/>
            <a:chExt cx="10852201" cy="2989885"/>
          </a:xfrm>
        </p:grpSpPr>
        <p:sp>
          <p:nvSpPr>
            <p:cNvPr name="Freeform 299" id="299"/>
            <p:cNvSpPr/>
            <p:nvPr/>
          </p:nvSpPr>
          <p:spPr>
            <a:xfrm flipH="false" flipV="false" rot="0">
              <a:off x="0" y="0"/>
              <a:ext cx="10852207" cy="2989885"/>
            </a:xfrm>
            <a:custGeom>
              <a:avLst/>
              <a:gdLst/>
              <a:ahLst/>
              <a:cxnLst/>
              <a:rect r="r" b="b" t="t" l="l"/>
              <a:pathLst>
                <a:path h="2989885" w="10852207">
                  <a:moveTo>
                    <a:pt x="0" y="0"/>
                  </a:moveTo>
                  <a:lnTo>
                    <a:pt x="10852207" y="0"/>
                  </a:lnTo>
                  <a:lnTo>
                    <a:pt x="10852207" y="2989885"/>
                  </a:lnTo>
                  <a:lnTo>
                    <a:pt x="0" y="2989885"/>
                  </a:lnTo>
                  <a:close/>
                </a:path>
              </a:pathLst>
            </a:custGeom>
            <a:blipFill>
              <a:blip r:embed="rId13">
                <a:alphaModFix amt="0"/>
              </a:blip>
              <a:stretch>
                <a:fillRect l="0" t="-20723" r="0" b="-20723"/>
              </a:stretch>
            </a:blipFill>
          </p:spPr>
        </p:sp>
        <p:sp>
          <p:nvSpPr>
            <p:cNvPr name="TextBox 300" id="300"/>
            <p:cNvSpPr txBox="true"/>
            <p:nvPr/>
          </p:nvSpPr>
          <p:spPr>
            <a:xfrm>
              <a:off x="0" y="447675"/>
              <a:ext cx="10852201" cy="2542210"/>
            </a:xfrm>
            <a:prstGeom prst="rect">
              <a:avLst/>
            </a:prstGeom>
          </p:spPr>
          <p:txBody>
            <a:bodyPr anchor="ctr" rtlCol="false" tIns="0" lIns="0" bIns="0" rIns="0"/>
            <a:lstStyle/>
            <a:p>
              <a:pPr algn="l">
                <a:lnSpc>
                  <a:spcPts val="9629"/>
                </a:lnSpc>
              </a:pPr>
              <a:r>
                <a:rPr lang="en-US" sz="11916" b="true">
                  <a:solidFill>
                    <a:srgbClr val="F5F4F4"/>
                  </a:solidFill>
                  <a:latin typeface="TT Commons Pro Bold"/>
                  <a:ea typeface="TT Commons Pro Bold"/>
                  <a:cs typeface="TT Commons Pro Bold"/>
                  <a:sym typeface="TT Commons Pro Bold"/>
                </a:rPr>
                <a:t>Thank You</a:t>
              </a:r>
            </a:p>
          </p:txBody>
        </p:sp>
      </p:grpSp>
      <p:grpSp>
        <p:nvGrpSpPr>
          <p:cNvPr name="Group 301" id="301"/>
          <p:cNvGrpSpPr/>
          <p:nvPr/>
        </p:nvGrpSpPr>
        <p:grpSpPr>
          <a:xfrm rot="0">
            <a:off x="422929" y="1217743"/>
            <a:ext cx="2107349" cy="619811"/>
            <a:chOff x="0" y="0"/>
            <a:chExt cx="2809799" cy="826414"/>
          </a:xfrm>
        </p:grpSpPr>
        <p:sp>
          <p:nvSpPr>
            <p:cNvPr name="Freeform 302" id="302"/>
            <p:cNvSpPr/>
            <p:nvPr/>
          </p:nvSpPr>
          <p:spPr>
            <a:xfrm flipH="false" flipV="false" rot="0">
              <a:off x="0" y="0"/>
              <a:ext cx="2809748" cy="826389"/>
            </a:xfrm>
            <a:custGeom>
              <a:avLst/>
              <a:gdLst/>
              <a:ahLst/>
              <a:cxnLst/>
              <a:rect r="r" b="b" t="t" l="l"/>
              <a:pathLst>
                <a:path h="826389" w="2809748">
                  <a:moveTo>
                    <a:pt x="0" y="0"/>
                  </a:moveTo>
                  <a:lnTo>
                    <a:pt x="2809748" y="0"/>
                  </a:lnTo>
                  <a:lnTo>
                    <a:pt x="2809748" y="826389"/>
                  </a:lnTo>
                  <a:lnTo>
                    <a:pt x="0" y="826389"/>
                  </a:lnTo>
                  <a:close/>
                </a:path>
              </a:pathLst>
            </a:custGeom>
            <a:blipFill>
              <a:blip r:embed="rId12">
                <a:alphaModFix amt="0"/>
              </a:blip>
              <a:stretch>
                <a:fillRect l="0" t="-16204" r="-1" b="-16205"/>
              </a:stretch>
            </a:blipFill>
          </p:spPr>
        </p:sp>
      </p:grpSp>
      <p:grpSp>
        <p:nvGrpSpPr>
          <p:cNvPr name="Group 303" id="303"/>
          <p:cNvGrpSpPr/>
          <p:nvPr/>
        </p:nvGrpSpPr>
        <p:grpSpPr>
          <a:xfrm rot="0">
            <a:off x="422929" y="1224886"/>
            <a:ext cx="2107349" cy="612667"/>
            <a:chOff x="0" y="0"/>
            <a:chExt cx="2809799" cy="816889"/>
          </a:xfrm>
        </p:grpSpPr>
        <p:sp>
          <p:nvSpPr>
            <p:cNvPr name="Freeform 304" id="304"/>
            <p:cNvSpPr/>
            <p:nvPr/>
          </p:nvSpPr>
          <p:spPr>
            <a:xfrm flipH="false" flipV="false" rot="0">
              <a:off x="0" y="0"/>
              <a:ext cx="2809799" cy="816887"/>
            </a:xfrm>
            <a:custGeom>
              <a:avLst/>
              <a:gdLst/>
              <a:ahLst/>
              <a:cxnLst/>
              <a:rect r="r" b="b" t="t" l="l"/>
              <a:pathLst>
                <a:path h="816887" w="2809799">
                  <a:moveTo>
                    <a:pt x="0" y="0"/>
                  </a:moveTo>
                  <a:lnTo>
                    <a:pt x="2809799" y="0"/>
                  </a:lnTo>
                  <a:lnTo>
                    <a:pt x="2809799" y="816887"/>
                  </a:lnTo>
                  <a:lnTo>
                    <a:pt x="0" y="816887"/>
                  </a:lnTo>
                  <a:close/>
                </a:path>
              </a:pathLst>
            </a:custGeom>
            <a:blipFill>
              <a:blip r:embed="rId13">
                <a:alphaModFix amt="0"/>
              </a:blip>
              <a:stretch>
                <a:fillRect l="0" t="-17021" r="0" b="-17021"/>
              </a:stretch>
            </a:blipFill>
          </p:spPr>
        </p:sp>
        <p:sp>
          <p:nvSpPr>
            <p:cNvPr name="TextBox 305" id="305"/>
            <p:cNvSpPr txBox="true"/>
            <p:nvPr/>
          </p:nvSpPr>
          <p:spPr>
            <a:xfrm>
              <a:off x="0" y="9525"/>
              <a:ext cx="2809799" cy="807364"/>
            </a:xfrm>
            <a:prstGeom prst="rect">
              <a:avLst/>
            </a:prstGeom>
          </p:spPr>
          <p:txBody>
            <a:bodyPr anchor="ctr" rtlCol="false" tIns="0" lIns="0" bIns="0" rIns="0"/>
            <a:lstStyle/>
            <a:p>
              <a:pPr algn="l">
                <a:lnSpc>
                  <a:spcPts val="1989"/>
                </a:lnSpc>
              </a:pPr>
              <a:r>
                <a:rPr lang="en-US" sz="1680">
                  <a:solidFill>
                    <a:srgbClr val="B79688"/>
                  </a:solidFill>
                  <a:latin typeface="TT Commons Pro"/>
                  <a:ea typeface="TT Commons Pro"/>
                  <a:cs typeface="TT Commons Pro"/>
                  <a:sym typeface="TT Commons Pro"/>
                </a:rPr>
                <a:t>Food you love,</a:t>
              </a:r>
            </a:p>
            <a:p>
              <a:pPr algn="l">
                <a:lnSpc>
                  <a:spcPts val="1989"/>
                </a:lnSpc>
              </a:pPr>
              <a:r>
                <a:rPr lang="en-US" sz="1680">
                  <a:solidFill>
                    <a:srgbClr val="B79688"/>
                  </a:solidFill>
                  <a:latin typeface="TT Commons Pro"/>
                  <a:ea typeface="TT Commons Pro"/>
                  <a:cs typeface="TT Commons Pro"/>
                  <a:sym typeface="TT Commons Pro"/>
                </a:rPr>
                <a:t>delivered fast.</a:t>
              </a:r>
            </a:p>
          </p:txBody>
        </p:sp>
      </p:grpSp>
      <p:grpSp>
        <p:nvGrpSpPr>
          <p:cNvPr name="Group 306" id="306"/>
          <p:cNvGrpSpPr/>
          <p:nvPr/>
        </p:nvGrpSpPr>
        <p:grpSpPr>
          <a:xfrm rot="0">
            <a:off x="546887" y="641680"/>
            <a:ext cx="1480252" cy="547259"/>
            <a:chOff x="0" y="0"/>
            <a:chExt cx="1973669" cy="729678"/>
          </a:xfrm>
        </p:grpSpPr>
        <p:sp>
          <p:nvSpPr>
            <p:cNvPr name="Freeform 307" id="307"/>
            <p:cNvSpPr/>
            <p:nvPr/>
          </p:nvSpPr>
          <p:spPr>
            <a:xfrm flipH="false" flipV="false" rot="0">
              <a:off x="0" y="0"/>
              <a:ext cx="1973707" cy="729615"/>
            </a:xfrm>
            <a:custGeom>
              <a:avLst/>
              <a:gdLst/>
              <a:ahLst/>
              <a:cxnLst/>
              <a:rect r="r" b="b" t="t" l="l"/>
              <a:pathLst>
                <a:path h="729615" w="1973707">
                  <a:moveTo>
                    <a:pt x="0" y="0"/>
                  </a:moveTo>
                  <a:lnTo>
                    <a:pt x="1973707" y="0"/>
                  </a:lnTo>
                  <a:lnTo>
                    <a:pt x="1973707" y="729615"/>
                  </a:lnTo>
                  <a:lnTo>
                    <a:pt x="0" y="729615"/>
                  </a:lnTo>
                  <a:close/>
                </a:path>
              </a:pathLst>
            </a:custGeom>
            <a:blipFill>
              <a:blip r:embed="rId12">
                <a:alphaModFix amt="0"/>
              </a:blip>
              <a:stretch>
                <a:fillRect l="0" t="-2668" r="1" b="-2675"/>
              </a:stretch>
            </a:blipFill>
          </p:spPr>
        </p:sp>
      </p:grpSp>
      <p:grpSp>
        <p:nvGrpSpPr>
          <p:cNvPr name="Group 308" id="308"/>
          <p:cNvGrpSpPr/>
          <p:nvPr/>
        </p:nvGrpSpPr>
        <p:grpSpPr>
          <a:xfrm rot="0">
            <a:off x="546887" y="713118"/>
            <a:ext cx="1480252" cy="475821"/>
            <a:chOff x="0" y="0"/>
            <a:chExt cx="1973669" cy="634428"/>
          </a:xfrm>
        </p:grpSpPr>
        <p:sp>
          <p:nvSpPr>
            <p:cNvPr name="Freeform 309" id="309"/>
            <p:cNvSpPr/>
            <p:nvPr/>
          </p:nvSpPr>
          <p:spPr>
            <a:xfrm flipH="false" flipV="false" rot="0">
              <a:off x="0" y="0"/>
              <a:ext cx="1973669" cy="634423"/>
            </a:xfrm>
            <a:custGeom>
              <a:avLst/>
              <a:gdLst/>
              <a:ahLst/>
              <a:cxnLst/>
              <a:rect r="r" b="b" t="t" l="l"/>
              <a:pathLst>
                <a:path h="634423" w="1973669">
                  <a:moveTo>
                    <a:pt x="0" y="0"/>
                  </a:moveTo>
                  <a:lnTo>
                    <a:pt x="1973669" y="0"/>
                  </a:lnTo>
                  <a:lnTo>
                    <a:pt x="1973669" y="634423"/>
                  </a:lnTo>
                  <a:lnTo>
                    <a:pt x="0" y="634423"/>
                  </a:lnTo>
                  <a:close/>
                </a:path>
              </a:pathLst>
            </a:custGeom>
            <a:blipFill>
              <a:blip r:embed="rId13">
                <a:alphaModFix amt="0"/>
              </a:blip>
              <a:stretch>
                <a:fillRect l="0" t="-10616" r="0" b="-10617"/>
              </a:stretch>
            </a:blipFill>
          </p:spPr>
        </p:sp>
        <p:sp>
          <p:nvSpPr>
            <p:cNvPr name="TextBox 310" id="310"/>
            <p:cNvSpPr txBox="true"/>
            <p:nvPr/>
          </p:nvSpPr>
          <p:spPr>
            <a:xfrm>
              <a:off x="0" y="95250"/>
              <a:ext cx="1973669" cy="539178"/>
            </a:xfrm>
            <a:prstGeom prst="rect">
              <a:avLst/>
            </a:prstGeom>
          </p:spPr>
          <p:txBody>
            <a:bodyPr anchor="ctr" rtlCol="false" tIns="0" lIns="0" bIns="0" rIns="0"/>
            <a:lstStyle/>
            <a:p>
              <a:pPr algn="l">
                <a:lnSpc>
                  <a:spcPts val="2009"/>
                </a:lnSpc>
              </a:pPr>
              <a:r>
                <a:rPr lang="en-US" sz="2560" b="true">
                  <a:solidFill>
                    <a:srgbClr val="D35D07"/>
                  </a:solidFill>
                  <a:latin typeface="TT Commons Pro Bold"/>
                  <a:ea typeface="TT Commons Pro Bold"/>
                  <a:cs typeface="TT Commons Pro Bold"/>
                  <a:sym typeface="TT Commons Pro Bold"/>
                </a:rPr>
                <a:t>SWIGGY</a:t>
              </a:r>
            </a:p>
          </p:txBody>
        </p:sp>
      </p:grpSp>
      <p:grpSp>
        <p:nvGrpSpPr>
          <p:cNvPr name="Group 311" id="311"/>
          <p:cNvGrpSpPr/>
          <p:nvPr/>
        </p:nvGrpSpPr>
        <p:grpSpPr>
          <a:xfrm rot="0">
            <a:off x="14714982" y="4178236"/>
            <a:ext cx="503139" cy="189586"/>
            <a:chOff x="0" y="0"/>
            <a:chExt cx="670852" cy="252781"/>
          </a:xfrm>
        </p:grpSpPr>
        <p:sp>
          <p:nvSpPr>
            <p:cNvPr name="Freeform 312" id="312"/>
            <p:cNvSpPr/>
            <p:nvPr/>
          </p:nvSpPr>
          <p:spPr>
            <a:xfrm flipH="false" flipV="false" rot="0">
              <a:off x="0" y="0"/>
              <a:ext cx="670814" cy="252730"/>
            </a:xfrm>
            <a:custGeom>
              <a:avLst/>
              <a:gdLst/>
              <a:ahLst/>
              <a:cxnLst/>
              <a:rect r="r" b="b" t="t" l="l"/>
              <a:pathLst>
                <a:path h="252730" w="670814">
                  <a:moveTo>
                    <a:pt x="0" y="0"/>
                  </a:moveTo>
                  <a:lnTo>
                    <a:pt x="670814" y="0"/>
                  </a:lnTo>
                  <a:lnTo>
                    <a:pt x="670814" y="252730"/>
                  </a:lnTo>
                  <a:lnTo>
                    <a:pt x="0" y="252730"/>
                  </a:lnTo>
                  <a:close/>
                </a:path>
              </a:pathLst>
            </a:custGeom>
            <a:blipFill>
              <a:blip r:embed="rId12">
                <a:alphaModFix amt="0"/>
              </a:blip>
              <a:stretch>
                <a:fillRect l="0" t="-1678" r="-5" b="-1693"/>
              </a:stretch>
            </a:blipFill>
          </p:spPr>
        </p:sp>
      </p:grpSp>
      <p:grpSp>
        <p:nvGrpSpPr>
          <p:cNvPr name="Group 313" id="313"/>
          <p:cNvGrpSpPr/>
          <p:nvPr/>
        </p:nvGrpSpPr>
        <p:grpSpPr>
          <a:xfrm rot="0">
            <a:off x="14714982" y="4178236"/>
            <a:ext cx="503139" cy="189586"/>
            <a:chOff x="0" y="0"/>
            <a:chExt cx="670852" cy="252781"/>
          </a:xfrm>
        </p:grpSpPr>
        <p:sp>
          <p:nvSpPr>
            <p:cNvPr name="Freeform 314" id="314"/>
            <p:cNvSpPr/>
            <p:nvPr/>
          </p:nvSpPr>
          <p:spPr>
            <a:xfrm flipH="false" flipV="false" rot="0">
              <a:off x="0" y="0"/>
              <a:ext cx="670852" cy="252781"/>
            </a:xfrm>
            <a:custGeom>
              <a:avLst/>
              <a:gdLst/>
              <a:ahLst/>
              <a:cxnLst/>
              <a:rect r="r" b="b" t="t" l="l"/>
              <a:pathLst>
                <a:path h="252781" w="670852">
                  <a:moveTo>
                    <a:pt x="0" y="0"/>
                  </a:moveTo>
                  <a:lnTo>
                    <a:pt x="670852" y="0"/>
                  </a:lnTo>
                  <a:lnTo>
                    <a:pt x="670852" y="252781"/>
                  </a:lnTo>
                  <a:lnTo>
                    <a:pt x="0" y="252781"/>
                  </a:lnTo>
                  <a:close/>
                </a:path>
              </a:pathLst>
            </a:custGeom>
            <a:blipFill>
              <a:blip r:embed="rId13">
                <a:alphaModFix amt="0"/>
              </a:blip>
              <a:stretch>
                <a:fillRect l="0" t="-1711" r="0" b="-1710"/>
              </a:stretch>
            </a:blipFill>
          </p:spPr>
        </p:sp>
        <p:sp>
          <p:nvSpPr>
            <p:cNvPr name="TextBox 315" id="315"/>
            <p:cNvSpPr txBox="true"/>
            <p:nvPr/>
          </p:nvSpPr>
          <p:spPr>
            <a:xfrm>
              <a:off x="0" y="0"/>
              <a:ext cx="670852" cy="252781"/>
            </a:xfrm>
            <a:prstGeom prst="rect">
              <a:avLst/>
            </a:prstGeom>
          </p:spPr>
          <p:txBody>
            <a:bodyPr anchor="ctr" rtlCol="false" tIns="0" lIns="0" bIns="0" rIns="0"/>
            <a:lstStyle/>
            <a:p>
              <a:pPr algn="l">
                <a:lnSpc>
                  <a:spcPts val="706"/>
                </a:lnSpc>
              </a:pPr>
              <a:r>
                <a:rPr lang="en-US" sz="600" b="true">
                  <a:solidFill>
                    <a:srgbClr val="8E8A8C"/>
                  </a:solidFill>
                  <a:latin typeface="TT Commons Pro Bold"/>
                  <a:ea typeface="TT Commons Pro Bold"/>
                  <a:cs typeface="TT Commons Pro Bold"/>
                  <a:sym typeface="TT Commons Pro Bold"/>
                </a:rPr>
                <a:t>Hot-meal</a:t>
              </a:r>
            </a:p>
          </p:txBody>
        </p:sp>
      </p:grpSp>
      <p:grpSp>
        <p:nvGrpSpPr>
          <p:cNvPr name="Group 316" id="316"/>
          <p:cNvGrpSpPr/>
          <p:nvPr/>
        </p:nvGrpSpPr>
        <p:grpSpPr>
          <a:xfrm rot="0">
            <a:off x="14312627" y="6788725"/>
            <a:ext cx="51826" cy="58341"/>
            <a:chOff x="0" y="0"/>
            <a:chExt cx="69101" cy="77788"/>
          </a:xfrm>
        </p:grpSpPr>
        <p:sp>
          <p:nvSpPr>
            <p:cNvPr name="Freeform 317" id="317" descr="preencoded.png"/>
            <p:cNvSpPr/>
            <p:nvPr/>
          </p:nvSpPr>
          <p:spPr>
            <a:xfrm flipH="false" flipV="false" rot="0">
              <a:off x="0" y="0"/>
              <a:ext cx="69088" cy="77851"/>
            </a:xfrm>
            <a:custGeom>
              <a:avLst/>
              <a:gdLst/>
              <a:ahLst/>
              <a:cxnLst/>
              <a:rect r="r" b="b" t="t" l="l"/>
              <a:pathLst>
                <a:path h="77851" w="69088">
                  <a:moveTo>
                    <a:pt x="0" y="0"/>
                  </a:moveTo>
                  <a:lnTo>
                    <a:pt x="69088" y="0"/>
                  </a:lnTo>
                  <a:lnTo>
                    <a:pt x="69088" y="77851"/>
                  </a:lnTo>
                  <a:lnTo>
                    <a:pt x="0" y="77851"/>
                  </a:lnTo>
                  <a:lnTo>
                    <a:pt x="0" y="0"/>
                  </a:lnTo>
                  <a:close/>
                </a:path>
              </a:pathLst>
            </a:custGeom>
            <a:blipFill>
              <a:blip r:embed="rId31"/>
              <a:stretch>
                <a:fillRect l="0" t="-1810" r="-18" b="-1729"/>
              </a:stretch>
            </a:blipFill>
          </p:spPr>
        </p:sp>
      </p:grpSp>
      <p:grpSp>
        <p:nvGrpSpPr>
          <p:cNvPr name="Group 318" id="318"/>
          <p:cNvGrpSpPr/>
          <p:nvPr/>
        </p:nvGrpSpPr>
        <p:grpSpPr>
          <a:xfrm rot="0">
            <a:off x="7295512" y="7816882"/>
            <a:ext cx="882320" cy="561480"/>
            <a:chOff x="0" y="0"/>
            <a:chExt cx="1176426" cy="748640"/>
          </a:xfrm>
        </p:grpSpPr>
        <p:sp>
          <p:nvSpPr>
            <p:cNvPr name="Freeform 319" id="319"/>
            <p:cNvSpPr/>
            <p:nvPr/>
          </p:nvSpPr>
          <p:spPr>
            <a:xfrm flipH="false" flipV="false" rot="0">
              <a:off x="0" y="0"/>
              <a:ext cx="1176401" cy="748665"/>
            </a:xfrm>
            <a:custGeom>
              <a:avLst/>
              <a:gdLst/>
              <a:ahLst/>
              <a:cxnLst/>
              <a:rect r="r" b="b" t="t" l="l"/>
              <a:pathLst>
                <a:path h="748665" w="1176401">
                  <a:moveTo>
                    <a:pt x="0" y="0"/>
                  </a:moveTo>
                  <a:lnTo>
                    <a:pt x="1176401" y="0"/>
                  </a:lnTo>
                  <a:lnTo>
                    <a:pt x="1176401" y="748665"/>
                  </a:lnTo>
                  <a:lnTo>
                    <a:pt x="0" y="748665"/>
                  </a:lnTo>
                  <a:close/>
                </a:path>
              </a:pathLst>
            </a:custGeom>
            <a:blipFill>
              <a:blip r:embed="rId12">
                <a:alphaModFix amt="0"/>
              </a:blip>
              <a:stretch>
                <a:fillRect l="-31705" t="0" r="-31706" b="3"/>
              </a:stretch>
            </a:blipFill>
          </p:spPr>
        </p:sp>
      </p:grpSp>
      <p:grpSp>
        <p:nvGrpSpPr>
          <p:cNvPr name="Group 320" id="320"/>
          <p:cNvGrpSpPr/>
          <p:nvPr/>
        </p:nvGrpSpPr>
        <p:grpSpPr>
          <a:xfrm rot="0">
            <a:off x="7295512" y="7824025"/>
            <a:ext cx="882320" cy="554326"/>
            <a:chOff x="0" y="0"/>
            <a:chExt cx="1176426" cy="739102"/>
          </a:xfrm>
        </p:grpSpPr>
        <p:sp>
          <p:nvSpPr>
            <p:cNvPr name="Freeform 321" id="321"/>
            <p:cNvSpPr/>
            <p:nvPr/>
          </p:nvSpPr>
          <p:spPr>
            <a:xfrm flipH="false" flipV="false" rot="0">
              <a:off x="0" y="0"/>
              <a:ext cx="1176427" cy="739107"/>
            </a:xfrm>
            <a:custGeom>
              <a:avLst/>
              <a:gdLst/>
              <a:ahLst/>
              <a:cxnLst/>
              <a:rect r="r" b="b" t="t" l="l"/>
              <a:pathLst>
                <a:path h="739107" w="1176427">
                  <a:moveTo>
                    <a:pt x="0" y="0"/>
                  </a:moveTo>
                  <a:lnTo>
                    <a:pt x="1176427" y="0"/>
                  </a:lnTo>
                  <a:lnTo>
                    <a:pt x="1176427" y="739107"/>
                  </a:lnTo>
                  <a:lnTo>
                    <a:pt x="0" y="739107"/>
                  </a:lnTo>
                  <a:close/>
                </a:path>
              </a:pathLst>
            </a:custGeom>
            <a:blipFill>
              <a:blip r:embed="rId13">
                <a:alphaModFix amt="0"/>
              </a:blip>
              <a:stretch>
                <a:fillRect l="-30608" t="0" r="-30608" b="0"/>
              </a:stretch>
            </a:blipFill>
          </p:spPr>
        </p:sp>
        <p:sp>
          <p:nvSpPr>
            <p:cNvPr name="TextBox 322" id="322"/>
            <p:cNvSpPr txBox="true"/>
            <p:nvPr/>
          </p:nvSpPr>
          <p:spPr>
            <a:xfrm>
              <a:off x="0" y="9525"/>
              <a:ext cx="1176426" cy="729577"/>
            </a:xfrm>
            <a:prstGeom prst="rect">
              <a:avLst/>
            </a:prstGeom>
          </p:spPr>
          <p:txBody>
            <a:bodyPr anchor="ctr" rtlCol="false" tIns="0" lIns="0" bIns="0" rIns="0"/>
            <a:lstStyle/>
            <a:p>
              <a:pPr algn="ctr">
                <a:lnSpc>
                  <a:spcPts val="1466"/>
                </a:lnSpc>
              </a:pPr>
              <a:r>
                <a:rPr lang="en-US" sz="1200">
                  <a:solidFill>
                    <a:srgbClr val="ACACAC"/>
                  </a:solidFill>
                  <a:latin typeface="TT Commons Pro"/>
                  <a:ea typeface="TT Commons Pro"/>
                  <a:cs typeface="TT Commons Pro"/>
                  <a:sym typeface="TT Commons Pro"/>
                </a:rPr>
                <a:t>WIDER</a:t>
              </a:r>
            </a:p>
            <a:p>
              <a:pPr algn="ctr">
                <a:lnSpc>
                  <a:spcPts val="1467"/>
                </a:lnSpc>
              </a:pPr>
              <a:r>
                <a:rPr lang="en-US" sz="1200">
                  <a:solidFill>
                    <a:srgbClr val="ACACAC"/>
                  </a:solidFill>
                  <a:latin typeface="TT Commons Pro"/>
                  <a:ea typeface="TT Commons Pro"/>
                  <a:cs typeface="TT Commons Pro"/>
                  <a:sym typeface="TT Commons Pro"/>
                </a:rPr>
                <a:t>CHOICE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DAHRrmAZSmk</dc:identifier>
  <dcterms:modified xsi:type="dcterms:W3CDTF">2011-08-01T06:04:30Z</dcterms:modified>
  <cp:revision>1</cp:revision>
  <dc:title>parneet_ppt.pptx (1).pptx</dc:title>
</cp:coreProperties>
</file>